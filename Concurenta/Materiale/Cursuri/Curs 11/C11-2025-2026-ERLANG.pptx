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84" r:id="rId2"/>
    <p:sldId id="286" r:id="rId3"/>
    <p:sldId id="332" r:id="rId4"/>
    <p:sldId id="334" r:id="rId5"/>
    <p:sldId id="370" r:id="rId6"/>
    <p:sldId id="369" r:id="rId7"/>
    <p:sldId id="362" r:id="rId8"/>
    <p:sldId id="368" r:id="rId9"/>
    <p:sldId id="339" r:id="rId10"/>
    <p:sldId id="340" r:id="rId11"/>
    <p:sldId id="341" r:id="rId12"/>
    <p:sldId id="342" r:id="rId13"/>
    <p:sldId id="343" r:id="rId14"/>
    <p:sldId id="344" r:id="rId15"/>
    <p:sldId id="345" r:id="rId16"/>
    <p:sldId id="322" r:id="rId17"/>
    <p:sldId id="377" r:id="rId18"/>
    <p:sldId id="324" r:id="rId19"/>
    <p:sldId id="326" r:id="rId20"/>
    <p:sldId id="383" r:id="rId21"/>
    <p:sldId id="384" r:id="rId22"/>
    <p:sldId id="328" r:id="rId23"/>
    <p:sldId id="390" r:id="rId24"/>
    <p:sldId id="325" r:id="rId25"/>
    <p:sldId id="380" r:id="rId26"/>
    <p:sldId id="329" r:id="rId27"/>
    <p:sldId id="330" r:id="rId28"/>
    <p:sldId id="381" r:id="rId29"/>
    <p:sldId id="392" r:id="rId30"/>
    <p:sldId id="395" r:id="rId31"/>
    <p:sldId id="394" r:id="rId32"/>
    <p:sldId id="396" r:id="rId33"/>
    <p:sldId id="385" r:id="rId34"/>
    <p:sldId id="333" r:id="rId35"/>
    <p:sldId id="386" r:id="rId36"/>
    <p:sldId id="378" r:id="rId37"/>
    <p:sldId id="338" r:id="rId38"/>
    <p:sldId id="391" r:id="rId39"/>
    <p:sldId id="379" r:id="rId40"/>
    <p:sldId id="393" r:id="rId41"/>
    <p:sldId id="387" r:id="rId42"/>
    <p:sldId id="388" r:id="rId43"/>
    <p:sldId id="389"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A14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38" autoAdjust="0"/>
    <p:restoredTop sz="94660"/>
  </p:normalViewPr>
  <p:slideViewPr>
    <p:cSldViewPr snapToGrid="0">
      <p:cViewPr varScale="1">
        <p:scale>
          <a:sx n="63" d="100"/>
          <a:sy n="63" d="100"/>
        </p:scale>
        <p:origin x="73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erlang.org/docs"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12/12/2025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12/12/2025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12/12/2025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7" name="Date Placeholder 6"/>
          <p:cNvSpPr>
            <a:spLocks noGrp="1"/>
          </p:cNvSpPr>
          <p:nvPr>
            <p:ph type="dt" sz="half" idx="10"/>
          </p:nvPr>
        </p:nvSpPr>
        <p:spPr/>
        <p:txBody>
          <a:bodyPr/>
          <a:lstStyle/>
          <a:p>
            <a:fld id="{4D94136C-8742-45B2-AF27-D93DF72833A9}" type="datetimeFigureOut">
              <a:rPr lang="en-US" dirty="0"/>
              <a:t>12/12/2025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
        <p:nvSpPr>
          <p:cNvPr id="3" name="TextBox 2"/>
          <p:cNvSpPr txBox="1"/>
          <p:nvPr userDrawn="1"/>
        </p:nvSpPr>
        <p:spPr>
          <a:xfrm>
            <a:off x="4550173" y="6439790"/>
            <a:ext cx="2843599" cy="369332"/>
          </a:xfrm>
          <a:prstGeom prst="rect">
            <a:avLst/>
          </a:prstGeom>
          <a:noFill/>
        </p:spPr>
        <p:txBody>
          <a:bodyPr wrap="none" rtlCol="0">
            <a:spAutoFit/>
          </a:bodyPr>
          <a:lstStyle/>
          <a:p>
            <a:r>
              <a:rPr lang="en-US" dirty="0">
                <a:hlinkClick r:id="rId2"/>
              </a:rPr>
              <a:t>http://www.erlang.org/docs</a:t>
            </a:r>
            <a:endParaRPr lang="en-US" dirty="0"/>
          </a:p>
        </p:txBody>
      </p:sp>
      <p:pic>
        <p:nvPicPr>
          <p:cNvPr id="1026" name="Picture 2" descr="http://erlang.org/doc/erlang-logo.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82381" y="6391223"/>
            <a:ext cx="482905" cy="4178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12/12/2025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12/12/2025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12/12/2025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erlang.org/" TargetMode="External"/><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hyperlink" Target="http://learnyousomeerlang.com/"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learnyousomeerlang.com/introduction#what-is-erlang" TargetMode="External"/><Relationship Id="rId2" Type="http://schemas.openxmlformats.org/officeDocument/2006/relationships/hyperlink" Target="https://youtu.be/7erJ1DV_Tlo" TargetMode="External"/><Relationship Id="rId1" Type="http://schemas.openxmlformats.org/officeDocument/2006/relationships/slideLayout" Target="../slideLayouts/slideLayout8.xml"/><Relationship Id="rId5" Type="http://schemas.openxmlformats.org/officeDocument/2006/relationships/hyperlink" Target="http://learnyousomeerlang.com/"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learnyousomeerlang.com/finite-state-machines#what-are-they"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hyperlink" Target="http://learnyousomeerlang.com/finite-state-machines#what-are-they"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http://learnyousomeerlang.com/what-is-otp#its-the-open-telecom-platform"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www.erlang.org/docs/20/man/shell.html" TargetMode="External"/><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hyperlink" Target="http://learnyousomeerlang.com/errors-and-processes" TargetMode="Externa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hyperlink" Target="http://learnyousomeerlang.com/errors-and-processes" TargetMode="Externa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2" Type="http://schemas.openxmlformats.org/officeDocument/2006/relationships/hyperlink" Target="http://learnyousomeerlang.com/errors-and-processes"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hyperlink" Target="http://learnyousomeerlang.com/errors-and-processes" TargetMode="Externa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learnyousomeerlang.com/errors-and-processes" TargetMode="Externa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hyperlink" Target="http://erlang.org/doc/reference_manual/data_types.html#id67845" TargetMode="External"/><Relationship Id="rId2" Type="http://schemas.openxmlformats.org/officeDocument/2006/relationships/hyperlink" Target="http://learnyousomeerlang.com/errors-and-processes" TargetMode="Externa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hyperlink" Target="http://learnyousomeerlang.com/errors-and-processes" TargetMode="Externa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200" dirty="0"/>
              <a:t>IMPLEMENTAREA</a:t>
            </a:r>
            <a:br>
              <a:rPr lang="en-US" sz="3200" dirty="0"/>
            </a:br>
            <a:r>
              <a:rPr lang="en-US" sz="3200" dirty="0"/>
              <a:t>CONCURENTEI</a:t>
            </a:r>
            <a:br>
              <a:rPr lang="en-US" sz="3200" dirty="0"/>
            </a:br>
            <a:r>
              <a:rPr lang="en-US" sz="3200" dirty="0"/>
              <a:t>IN LIMBAJE DE</a:t>
            </a:r>
            <a:br>
              <a:rPr lang="en-US" sz="3200" dirty="0"/>
            </a:br>
            <a:r>
              <a:rPr lang="en-US" sz="3200" dirty="0"/>
              <a:t>PROGRAMARE</a:t>
            </a:r>
            <a:br>
              <a:rPr lang="en-US" sz="3200" dirty="0"/>
            </a:br>
            <a:endParaRPr lang="en-US" sz="3200" dirty="0"/>
          </a:p>
        </p:txBody>
      </p:sp>
      <p:sp>
        <p:nvSpPr>
          <p:cNvPr id="6" name="Text Placeholder 5"/>
          <p:cNvSpPr>
            <a:spLocks noGrp="1"/>
          </p:cNvSpPr>
          <p:nvPr>
            <p:ph type="body" sz="half" idx="2"/>
          </p:nvPr>
        </p:nvSpPr>
        <p:spPr/>
        <p:txBody>
          <a:bodyPr>
            <a:normAutofit/>
          </a:bodyPr>
          <a:lstStyle/>
          <a:p>
            <a:r>
              <a:rPr lang="en-US" sz="2400" dirty="0"/>
              <a:t>Ioana Leustean</a:t>
            </a:r>
          </a:p>
          <a:p>
            <a:endParaRPr lang="en-US" sz="2400" dirty="0"/>
          </a:p>
          <a:p>
            <a:r>
              <a:rPr lang="en-US" sz="2400" dirty="0"/>
              <a:t>INTRODUCERE IN</a:t>
            </a:r>
          </a:p>
          <a:p>
            <a:r>
              <a:rPr lang="en-US" sz="2400" dirty="0"/>
              <a:t>ERLANG</a:t>
            </a:r>
          </a:p>
        </p:txBody>
      </p:sp>
      <p:sp>
        <p:nvSpPr>
          <p:cNvPr id="2" name="AutoShape 2" descr="Imagini pentru Erla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4" descr="Imagini pentru Erla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0" name="Picture 6" descr="http://erlang.org/doc/erlang-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4811" y="1159624"/>
            <a:ext cx="3342822" cy="289282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139213" y="4987636"/>
            <a:ext cx="4094018" cy="523220"/>
          </a:xfrm>
          <a:prstGeom prst="rect">
            <a:avLst/>
          </a:prstGeom>
          <a:noFill/>
        </p:spPr>
        <p:txBody>
          <a:bodyPr wrap="square" rtlCol="0">
            <a:spAutoFit/>
          </a:bodyPr>
          <a:lstStyle/>
          <a:p>
            <a:r>
              <a:rPr lang="en-US" sz="2800" dirty="0">
                <a:hlinkClick r:id="rId3"/>
              </a:rPr>
              <a:t>http://www.erlang.org/</a:t>
            </a:r>
            <a:endParaRPr lang="en-US" sz="2800" dirty="0"/>
          </a:p>
        </p:txBody>
      </p:sp>
    </p:spTree>
    <p:extLst>
      <p:ext uri="{BB962C8B-B14F-4D97-AF65-F5344CB8AC3E}">
        <p14:creationId xmlns:p14="http://schemas.microsoft.com/office/powerpoint/2010/main" val="36809707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52243" y="624049"/>
            <a:ext cx="2395592" cy="584775"/>
          </a:xfrm>
          <a:prstGeom prst="rect">
            <a:avLst/>
          </a:prstGeom>
          <a:noFill/>
        </p:spPr>
        <p:txBody>
          <a:bodyPr wrap="none" rtlCol="0">
            <a:spAutoFit/>
          </a:bodyPr>
          <a:lstStyle/>
          <a:p>
            <a:pPr marL="285750" indent="-285750">
              <a:buFont typeface="Wingdings" panose="05000000000000000000" pitchFamily="2" charset="2"/>
              <a:buChar char="Ø"/>
            </a:pPr>
            <a:r>
              <a:rPr lang="en-US" sz="3200" dirty="0" err="1"/>
              <a:t>Bibliografie</a:t>
            </a:r>
            <a:endParaRPr lang="en-US" sz="3200" dirty="0"/>
          </a:p>
        </p:txBody>
      </p:sp>
      <p:sp>
        <p:nvSpPr>
          <p:cNvPr id="6" name="TextBox 5"/>
          <p:cNvSpPr txBox="1"/>
          <p:nvPr/>
        </p:nvSpPr>
        <p:spPr>
          <a:xfrm>
            <a:off x="8788260" y="3253718"/>
            <a:ext cx="1654492" cy="369332"/>
          </a:xfrm>
          <a:prstGeom prst="rect">
            <a:avLst/>
          </a:prstGeom>
          <a:noFill/>
        </p:spPr>
        <p:txBody>
          <a:bodyPr wrap="none" rtlCol="0">
            <a:spAutoFit/>
          </a:bodyPr>
          <a:lstStyle/>
          <a:p>
            <a:r>
              <a:rPr lang="en-US" dirty="0" err="1">
                <a:hlinkClick r:id="rId2"/>
              </a:rPr>
              <a:t>Varianta</a:t>
            </a:r>
            <a:r>
              <a:rPr lang="en-US" dirty="0">
                <a:hlinkClick r:id="rId2"/>
              </a:rPr>
              <a:t> online </a:t>
            </a:r>
            <a:endParaRPr lang="en-US" dirty="0"/>
          </a:p>
        </p:txBody>
      </p:sp>
      <p:sp>
        <p:nvSpPr>
          <p:cNvPr id="7" name="TextBox 6"/>
          <p:cNvSpPr txBox="1"/>
          <p:nvPr/>
        </p:nvSpPr>
        <p:spPr>
          <a:xfrm>
            <a:off x="459985" y="1914890"/>
            <a:ext cx="9961830" cy="3046988"/>
          </a:xfrm>
          <a:prstGeom prst="rect">
            <a:avLst/>
          </a:prstGeom>
          <a:noFill/>
        </p:spPr>
        <p:txBody>
          <a:bodyPr wrap="none" rtlCol="0">
            <a:spAutoFit/>
          </a:bodyPr>
          <a:lstStyle/>
          <a:p>
            <a:r>
              <a:rPr lang="en-US" sz="3200" dirty="0"/>
              <a:t> </a:t>
            </a:r>
          </a:p>
          <a:p>
            <a:r>
              <a:rPr lang="en-US" sz="3200" dirty="0"/>
              <a:t>Joe Armstrong, Programming </a:t>
            </a:r>
            <a:r>
              <a:rPr lang="en-US" sz="3200" dirty="0" err="1"/>
              <a:t>Erlang</a:t>
            </a:r>
            <a:r>
              <a:rPr lang="en-US" sz="3200" dirty="0"/>
              <a:t>, Second Edition 2013</a:t>
            </a:r>
          </a:p>
          <a:p>
            <a:endParaRPr lang="en-US" sz="3200" dirty="0">
              <a:solidFill>
                <a:schemeClr val="bg1"/>
              </a:solidFill>
            </a:endParaRPr>
          </a:p>
          <a:p>
            <a:r>
              <a:rPr lang="en-US" sz="3200" dirty="0">
                <a:solidFill>
                  <a:schemeClr val="bg1"/>
                </a:solidFill>
              </a:rPr>
              <a:t> </a:t>
            </a:r>
            <a:r>
              <a:rPr lang="en-US" sz="3200" dirty="0"/>
              <a:t>Fred Hébert, Learn You Some </a:t>
            </a:r>
            <a:r>
              <a:rPr lang="en-US" sz="3200" dirty="0" err="1"/>
              <a:t>Erlang</a:t>
            </a:r>
            <a:r>
              <a:rPr lang="en-US" sz="3200" dirty="0"/>
              <a:t> For Great Good, 2013</a:t>
            </a:r>
          </a:p>
          <a:p>
            <a:endParaRPr lang="en-US" sz="3200" dirty="0"/>
          </a:p>
          <a:p>
            <a:r>
              <a:rPr lang="en-US" sz="3200" dirty="0"/>
              <a:t> </a:t>
            </a:r>
          </a:p>
        </p:txBody>
      </p:sp>
      <p:sp>
        <p:nvSpPr>
          <p:cNvPr id="2" name="TextBox 1"/>
          <p:cNvSpPr txBox="1"/>
          <p:nvPr/>
        </p:nvSpPr>
        <p:spPr>
          <a:xfrm>
            <a:off x="850739" y="4543063"/>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164687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1546" y="1846621"/>
            <a:ext cx="3200400" cy="2286000"/>
          </a:xfrm>
        </p:spPr>
        <p:txBody>
          <a:bodyPr>
            <a:normAutofit fontScale="90000"/>
          </a:bodyPr>
          <a:lstStyle/>
          <a:p>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r>
              <a:rPr lang="en-US" sz="3200" dirty="0">
                <a:hlinkClick r:id="rId2"/>
              </a:rPr>
              <a:t>ACTOR MODEL</a:t>
            </a:r>
            <a:br>
              <a:rPr lang="en-US" sz="3200" dirty="0">
                <a:hlinkClick r:id="rId2"/>
              </a:rPr>
            </a:br>
            <a:br>
              <a:rPr lang="en-US" sz="3200" dirty="0"/>
            </a:br>
            <a:endParaRPr lang="en-US" sz="3200" dirty="0"/>
          </a:p>
        </p:txBody>
      </p:sp>
      <p:sp>
        <p:nvSpPr>
          <p:cNvPr id="6" name="Text Placeholder 5"/>
          <p:cNvSpPr>
            <a:spLocks noGrp="1"/>
          </p:cNvSpPr>
          <p:nvPr>
            <p:ph type="body" sz="half" idx="2"/>
          </p:nvPr>
        </p:nvSpPr>
        <p:spPr>
          <a:xfrm>
            <a:off x="4233343" y="412095"/>
            <a:ext cx="5603774" cy="5943600"/>
          </a:xfrm>
        </p:spPr>
        <p:style>
          <a:lnRef idx="3">
            <a:schemeClr val="lt1"/>
          </a:lnRef>
          <a:fillRef idx="1">
            <a:schemeClr val="accent1"/>
          </a:fillRef>
          <a:effectRef idx="1">
            <a:schemeClr val="accent1"/>
          </a:effectRef>
          <a:fontRef idx="minor">
            <a:schemeClr val="lt1"/>
          </a:fontRef>
        </p:style>
        <p:txBody>
          <a:bodyPr>
            <a:normAutofit/>
          </a:bodyPr>
          <a:lstStyle/>
          <a:p>
            <a:endParaRPr lang="en-US" dirty="0"/>
          </a:p>
          <a:p>
            <a:pPr algn="just"/>
            <a:r>
              <a:rPr lang="en-US" sz="2000" dirty="0">
                <a:solidFill>
                  <a:schemeClr val="bg1"/>
                </a:solidFill>
              </a:rPr>
              <a:t>"</a:t>
            </a:r>
            <a:r>
              <a:rPr lang="en-US" sz="2000" dirty="0" err="1"/>
              <a:t>Erlang's</a:t>
            </a:r>
            <a:r>
              <a:rPr lang="en-US" sz="2000" dirty="0"/>
              <a:t> actor model can be imagined as a world where everyone is sitting alone in their own room and can perform a few distinct tasks. Everyone communicates strictly by writing letters and that's it. While it sounds like a boring life (and a new age for the postal service), it means you can ask many people to perform very specific tasks for you, and none of them will ever do something wrong or make mistakes which will have repercussions on the work of others; they may not even know the existence of people other than you (and that's great).</a:t>
            </a:r>
          </a:p>
          <a:p>
            <a:pPr algn="just"/>
            <a:r>
              <a:rPr lang="en-US" sz="2000" dirty="0"/>
              <a:t>To escape this analogy, </a:t>
            </a:r>
            <a:r>
              <a:rPr lang="en-US" sz="2000" dirty="0" err="1"/>
              <a:t>Erlang</a:t>
            </a:r>
            <a:r>
              <a:rPr lang="en-US" sz="2000" dirty="0"/>
              <a:t> forces you to write actors (processes) that will share no information with other bits of code unless they pass messages to each other. Every communication is explicit, traceable and safe."</a:t>
            </a:r>
          </a:p>
          <a:p>
            <a:pPr lvl="0" defTabSz="457200">
              <a:lnSpc>
                <a:spcPct val="100000"/>
              </a:lnSpc>
              <a:spcBef>
                <a:spcPts val="0"/>
              </a:spcBef>
              <a:spcAft>
                <a:spcPts val="0"/>
              </a:spcAft>
              <a:buClrTx/>
              <a:buSzTx/>
            </a:pPr>
            <a:endParaRPr lang="en-US" sz="2000" dirty="0">
              <a:solidFill>
                <a:schemeClr val="bg1"/>
              </a:solidFill>
            </a:endParaRPr>
          </a:p>
        </p:txBody>
      </p:sp>
      <p:sp>
        <p:nvSpPr>
          <p:cNvPr id="2" name="Rectangle 1"/>
          <p:cNvSpPr/>
          <p:nvPr/>
        </p:nvSpPr>
        <p:spPr>
          <a:xfrm>
            <a:off x="4408331" y="6355695"/>
            <a:ext cx="5428786" cy="338554"/>
          </a:xfrm>
          <a:prstGeom prst="rect">
            <a:avLst/>
          </a:prstGeom>
        </p:spPr>
        <p:txBody>
          <a:bodyPr wrap="square">
            <a:spAutoFit/>
          </a:bodyPr>
          <a:lstStyle/>
          <a:p>
            <a:r>
              <a:rPr lang="en-US" sz="1600" dirty="0">
                <a:hlinkClick r:id="rId3"/>
              </a:rPr>
              <a:t>http://learnyousomeerlang.com/introduction#what-is-erlang</a:t>
            </a:r>
            <a:endParaRPr lang="en-US" sz="1600" dirty="0"/>
          </a:p>
        </p:txBody>
      </p:sp>
      <p:sp>
        <p:nvSpPr>
          <p:cNvPr id="3" name="TextBox 2"/>
          <p:cNvSpPr txBox="1"/>
          <p:nvPr/>
        </p:nvSpPr>
        <p:spPr>
          <a:xfrm>
            <a:off x="4408331" y="5807650"/>
            <a:ext cx="5118333" cy="369332"/>
          </a:xfrm>
          <a:prstGeom prst="rect">
            <a:avLst/>
          </a:prstGeom>
          <a:noFill/>
        </p:spPr>
        <p:txBody>
          <a:bodyPr wrap="square" rtlCol="0">
            <a:spAutoFit/>
          </a:bodyPr>
          <a:lstStyle/>
          <a:p>
            <a:r>
              <a:rPr lang="en-US" dirty="0">
                <a:solidFill>
                  <a:schemeClr val="bg1"/>
                </a:solidFill>
              </a:rPr>
              <a:t>Fred Hébert, Learn You Some </a:t>
            </a:r>
            <a:r>
              <a:rPr lang="en-US" dirty="0" err="1">
                <a:solidFill>
                  <a:schemeClr val="bg1"/>
                </a:solidFill>
              </a:rPr>
              <a:t>Erlang</a:t>
            </a:r>
            <a:r>
              <a:rPr lang="en-US" dirty="0">
                <a:solidFill>
                  <a:schemeClr val="bg1"/>
                </a:solidFill>
              </a:rPr>
              <a:t> For Great Good </a:t>
            </a:r>
          </a:p>
        </p:txBody>
      </p:sp>
      <p:pic>
        <p:nvPicPr>
          <p:cNvPr id="7" name="Picture 4" descr="https://www.nostarch.com/sites/default/files/imagecache/product_full/erlang_newsmall.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6734" y="1717047"/>
            <a:ext cx="1971863" cy="2609232"/>
          </a:xfrm>
          <a:prstGeom prst="rect">
            <a:avLst/>
          </a:prstGeom>
        </p:spPr>
        <p:style>
          <a:lnRef idx="2">
            <a:schemeClr val="dk1"/>
          </a:lnRef>
          <a:fillRef idx="1">
            <a:schemeClr val="lt1"/>
          </a:fillRef>
          <a:effectRef idx="0">
            <a:schemeClr val="dk1"/>
          </a:effectRef>
          <a:fontRef idx="minor">
            <a:schemeClr val="dk1"/>
          </a:fontRef>
        </p:style>
      </p:pic>
      <p:sp>
        <p:nvSpPr>
          <p:cNvPr id="8" name="TextBox 7"/>
          <p:cNvSpPr txBox="1"/>
          <p:nvPr/>
        </p:nvSpPr>
        <p:spPr>
          <a:xfrm>
            <a:off x="10324105" y="4333252"/>
            <a:ext cx="1654492" cy="369332"/>
          </a:xfrm>
          <a:prstGeom prst="rect">
            <a:avLst/>
          </a:prstGeom>
          <a:noFill/>
        </p:spPr>
        <p:txBody>
          <a:bodyPr wrap="none" rtlCol="0">
            <a:spAutoFit/>
          </a:bodyPr>
          <a:lstStyle/>
          <a:p>
            <a:r>
              <a:rPr lang="en-US" dirty="0" err="1">
                <a:hlinkClick r:id="rId5"/>
              </a:rPr>
              <a:t>Varianta</a:t>
            </a:r>
            <a:r>
              <a:rPr lang="en-US" dirty="0">
                <a:hlinkClick r:id="rId5"/>
              </a:rPr>
              <a:t> online </a:t>
            </a:r>
            <a:endParaRPr lang="en-US" dirty="0"/>
          </a:p>
        </p:txBody>
      </p:sp>
    </p:spTree>
    <p:extLst>
      <p:ext uri="{BB962C8B-B14F-4D97-AF65-F5344CB8AC3E}">
        <p14:creationId xmlns:p14="http://schemas.microsoft.com/office/powerpoint/2010/main" val="2627854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545E82-E527-73AE-C665-F2EFFC4CEE40}"/>
              </a:ext>
            </a:extLst>
          </p:cNvPr>
          <p:cNvSpPr txBox="1"/>
          <p:nvPr/>
        </p:nvSpPr>
        <p:spPr>
          <a:xfrm>
            <a:off x="303122" y="132080"/>
            <a:ext cx="2644955"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err="1"/>
              <a:t>Modelul</a:t>
            </a:r>
            <a:r>
              <a:rPr lang="en-US" sz="2800" dirty="0"/>
              <a:t> </a:t>
            </a:r>
            <a:r>
              <a:rPr lang="en-US" sz="2800" dirty="0" err="1"/>
              <a:t>Actori</a:t>
            </a:r>
            <a:endParaRPr lang="en-GB" sz="2800" dirty="0"/>
          </a:p>
        </p:txBody>
      </p:sp>
      <p:sp>
        <p:nvSpPr>
          <p:cNvPr id="3" name="TextBox 2">
            <a:extLst>
              <a:ext uri="{FF2B5EF4-FFF2-40B4-BE49-F238E27FC236}">
                <a16:creationId xmlns:a16="http://schemas.microsoft.com/office/drawing/2014/main" id="{0303CC37-C82F-9524-9823-79B6E9D4C37C}"/>
              </a:ext>
            </a:extLst>
          </p:cNvPr>
          <p:cNvSpPr txBox="1"/>
          <p:nvPr/>
        </p:nvSpPr>
        <p:spPr>
          <a:xfrm>
            <a:off x="1808480" y="1536174"/>
            <a:ext cx="8126520" cy="3785652"/>
          </a:xfrm>
          <a:prstGeom prst="rect">
            <a:avLst/>
          </a:prstGeom>
          <a:noFill/>
        </p:spPr>
        <p:txBody>
          <a:bodyPr wrap="none" rtlCol="0">
            <a:spAutoFit/>
          </a:bodyPr>
          <a:lstStyle/>
          <a:p>
            <a:pPr marL="285750" indent="-285750">
              <a:buFont typeface="Arial" panose="020B0604020202020204" pitchFamily="34" charset="0"/>
              <a:buChar char="•"/>
            </a:pPr>
            <a:r>
              <a:rPr lang="en-US" sz="2400" dirty="0" err="1"/>
              <a:t>Introdus</a:t>
            </a:r>
            <a:r>
              <a:rPr lang="en-US" sz="2400" dirty="0"/>
              <a:t> de Carl Hewitt in 1973</a:t>
            </a:r>
          </a:p>
          <a:p>
            <a:pPr marL="285750" indent="-285750">
              <a:buFont typeface="Arial" panose="020B0604020202020204" pitchFamily="34" charset="0"/>
              <a:buChar char="•"/>
            </a:pPr>
            <a:r>
              <a:rPr lang="en-US" sz="2400" dirty="0" err="1"/>
              <a:t>Actorii</a:t>
            </a:r>
            <a:r>
              <a:rPr lang="en-US" sz="2400" dirty="0"/>
              <a:t> sunt o </a:t>
            </a:r>
            <a:r>
              <a:rPr lang="en-US" sz="2400" dirty="0" err="1"/>
              <a:t>notiune</a:t>
            </a:r>
            <a:r>
              <a:rPr lang="en-US" sz="2400" dirty="0"/>
              <a:t> abstracta (</a:t>
            </a:r>
            <a:r>
              <a:rPr lang="en-US" sz="2400" dirty="0" err="1"/>
              <a:t>corespunzatoare</a:t>
            </a:r>
            <a:r>
              <a:rPr lang="en-US" sz="2400" dirty="0"/>
              <a:t> </a:t>
            </a:r>
            <a:r>
              <a:rPr lang="en-US" sz="2400" dirty="0" err="1"/>
              <a:t>proceselor</a:t>
            </a:r>
            <a:r>
              <a:rPr lang="en-US" sz="2400" dirty="0"/>
              <a:t>)</a:t>
            </a:r>
          </a:p>
          <a:p>
            <a:pPr marL="285750" indent="-285750">
              <a:buFont typeface="Arial" panose="020B0604020202020204" pitchFamily="34" charset="0"/>
              <a:buChar char="•"/>
            </a:pPr>
            <a:r>
              <a:rPr lang="en-US" sz="2400" dirty="0" err="1"/>
              <a:t>Actorii</a:t>
            </a:r>
            <a:r>
              <a:rPr lang="en-US" sz="2400" dirty="0"/>
              <a:t> au </a:t>
            </a:r>
            <a:r>
              <a:rPr lang="en-US" sz="2400" dirty="0" err="1"/>
              <a:t>memorie</a:t>
            </a:r>
            <a:r>
              <a:rPr lang="en-US" sz="2400" dirty="0"/>
              <a:t> </a:t>
            </a:r>
            <a:r>
              <a:rPr lang="en-US" sz="2400" dirty="0" err="1"/>
              <a:t>proprie</a:t>
            </a:r>
            <a:r>
              <a:rPr lang="en-US" sz="2400" dirty="0"/>
              <a:t>, NU au </a:t>
            </a:r>
            <a:r>
              <a:rPr lang="en-US" sz="2400" dirty="0" err="1"/>
              <a:t>memorie</a:t>
            </a:r>
            <a:r>
              <a:rPr lang="en-US" sz="2400" dirty="0"/>
              <a:t> </a:t>
            </a:r>
            <a:r>
              <a:rPr lang="en-US" sz="2400" dirty="0" err="1"/>
              <a:t>partajata</a:t>
            </a:r>
            <a:endParaRPr lang="en-US" sz="2400" dirty="0"/>
          </a:p>
          <a:p>
            <a:pPr marL="285750" indent="-285750">
              <a:buFont typeface="Arial" panose="020B0604020202020204" pitchFamily="34" charset="0"/>
              <a:buChar char="•"/>
            </a:pPr>
            <a:r>
              <a:rPr lang="en-US" sz="2400" dirty="0" err="1"/>
              <a:t>Actorii</a:t>
            </a:r>
            <a:r>
              <a:rPr lang="en-US" sz="2400" dirty="0"/>
              <a:t> </a:t>
            </a:r>
            <a:r>
              <a:rPr lang="en-US" sz="2400" dirty="0" err="1"/>
              <a:t>comunica</a:t>
            </a:r>
            <a:r>
              <a:rPr lang="en-US" sz="2400" dirty="0"/>
              <a:t> </a:t>
            </a:r>
            <a:r>
              <a:rPr lang="en-US" sz="2400" dirty="0" err="1"/>
              <a:t>prin</a:t>
            </a:r>
            <a:r>
              <a:rPr lang="en-US" sz="2400" dirty="0"/>
              <a:t> </a:t>
            </a:r>
            <a:r>
              <a:rPr lang="en-US" sz="2400" dirty="0" err="1"/>
              <a:t>mesaje</a:t>
            </a:r>
            <a:endParaRPr lang="en-US" sz="2400" dirty="0"/>
          </a:p>
          <a:p>
            <a:pPr marL="285750" indent="-285750">
              <a:buFont typeface="Arial" panose="020B0604020202020204" pitchFamily="34" charset="0"/>
              <a:buChar char="•"/>
            </a:pPr>
            <a:r>
              <a:rPr lang="en-US" sz="2400" dirty="0"/>
              <a:t>Un actor </a:t>
            </a:r>
            <a:r>
              <a:rPr lang="en-US" sz="2400" dirty="0" err="1"/>
              <a:t>este</a:t>
            </a:r>
            <a:r>
              <a:rPr lang="en-US" sz="2400" dirty="0"/>
              <a:t> </a:t>
            </a:r>
            <a:r>
              <a:rPr lang="en-US" sz="2400" dirty="0" err="1"/>
              <a:t>capabil</a:t>
            </a:r>
            <a:r>
              <a:rPr lang="en-US" sz="2400" dirty="0"/>
              <a:t> </a:t>
            </a:r>
            <a:r>
              <a:rPr lang="en-US" sz="2400" dirty="0" err="1"/>
              <a:t>sa</a:t>
            </a:r>
            <a:r>
              <a:rPr lang="en-US" sz="2400" dirty="0"/>
              <a:t>:</a:t>
            </a:r>
          </a:p>
          <a:p>
            <a:pPr marL="1200150" lvl="2" indent="-285750">
              <a:buFont typeface="Courier New" panose="02070309020205020404" pitchFamily="49" charset="0"/>
              <a:buChar char="o"/>
            </a:pPr>
            <a:r>
              <a:rPr lang="en-US" sz="2400" dirty="0"/>
              <a:t>       </a:t>
            </a:r>
            <a:r>
              <a:rPr lang="en-US" sz="2400" dirty="0" err="1"/>
              <a:t>trimita</a:t>
            </a:r>
            <a:r>
              <a:rPr lang="en-US" sz="2400" dirty="0"/>
              <a:t> </a:t>
            </a:r>
            <a:r>
              <a:rPr lang="en-US" sz="2400" dirty="0" err="1"/>
              <a:t>mesaje</a:t>
            </a:r>
            <a:r>
              <a:rPr lang="en-US" sz="2400" dirty="0"/>
              <a:t> </a:t>
            </a:r>
            <a:r>
              <a:rPr lang="en-US" sz="2400" dirty="0" err="1"/>
              <a:t>actorilor</a:t>
            </a:r>
            <a:r>
              <a:rPr lang="en-US" sz="2400" dirty="0"/>
              <a:t> pe care ii </a:t>
            </a:r>
            <a:r>
              <a:rPr lang="en-US" sz="2400" dirty="0" err="1"/>
              <a:t>cunoaste</a:t>
            </a:r>
            <a:endParaRPr lang="en-US" sz="2400" dirty="0"/>
          </a:p>
          <a:p>
            <a:pPr marL="1200150" lvl="2" indent="-285750">
              <a:buFont typeface="Courier New" panose="02070309020205020404" pitchFamily="49" charset="0"/>
              <a:buChar char="o"/>
            </a:pPr>
            <a:r>
              <a:rPr lang="en-US" sz="2400" dirty="0"/>
              <a:t>       </a:t>
            </a:r>
            <a:r>
              <a:rPr lang="en-US" sz="2400" dirty="0" err="1"/>
              <a:t>creeze</a:t>
            </a:r>
            <a:r>
              <a:rPr lang="en-US" sz="2400" dirty="0"/>
              <a:t> </a:t>
            </a:r>
            <a:r>
              <a:rPr lang="en-US" sz="2400" dirty="0" err="1"/>
              <a:t>noi</a:t>
            </a:r>
            <a:r>
              <a:rPr lang="en-US" sz="2400" dirty="0"/>
              <a:t> </a:t>
            </a:r>
            <a:r>
              <a:rPr lang="en-US" sz="2400" dirty="0" err="1"/>
              <a:t>actori</a:t>
            </a:r>
            <a:endParaRPr lang="en-US" sz="2400" dirty="0"/>
          </a:p>
          <a:p>
            <a:pPr marL="1200150" lvl="2" indent="-285750">
              <a:buFont typeface="Courier New" panose="02070309020205020404" pitchFamily="49" charset="0"/>
              <a:buChar char="o"/>
            </a:pPr>
            <a:r>
              <a:rPr lang="en-US" sz="2400" dirty="0"/>
              <a:t>       </a:t>
            </a:r>
            <a:r>
              <a:rPr lang="en-US" sz="2400" dirty="0" err="1"/>
              <a:t>raspunda</a:t>
            </a:r>
            <a:r>
              <a:rPr lang="en-US" sz="2400" dirty="0"/>
              <a:t> </a:t>
            </a:r>
            <a:r>
              <a:rPr lang="en-US" sz="2400" dirty="0" err="1"/>
              <a:t>mesajelor</a:t>
            </a:r>
            <a:r>
              <a:rPr lang="en-US" sz="2400" dirty="0"/>
              <a:t> pe care le </a:t>
            </a:r>
            <a:r>
              <a:rPr lang="en-US" sz="2400" dirty="0" err="1"/>
              <a:t>primeste</a:t>
            </a:r>
            <a:r>
              <a:rPr lang="en-US" sz="2400" dirty="0"/>
              <a:t> </a:t>
            </a:r>
          </a:p>
          <a:p>
            <a:pPr marL="285750" indent="-285750">
              <a:buFont typeface="Arial" panose="020B0604020202020204" pitchFamily="34" charset="0"/>
              <a:buChar char="•"/>
            </a:pPr>
            <a:r>
              <a:rPr lang="en-US" sz="2400" dirty="0" err="1"/>
              <a:t>Mesajele</a:t>
            </a:r>
            <a:r>
              <a:rPr lang="en-US" sz="2400" dirty="0"/>
              <a:t> </a:t>
            </a:r>
            <a:r>
              <a:rPr lang="en-US" sz="2400" dirty="0" err="1"/>
              <a:t>contin</a:t>
            </a:r>
            <a:r>
              <a:rPr lang="en-US" sz="2400" dirty="0"/>
              <a:t> un </a:t>
            </a:r>
            <a:r>
              <a:rPr lang="en-US" sz="2400" dirty="0" err="1"/>
              <a:t>destinatar</a:t>
            </a:r>
            <a:r>
              <a:rPr lang="en-US" sz="2400" dirty="0"/>
              <a:t> </a:t>
            </a:r>
            <a:r>
              <a:rPr lang="en-US" sz="2400" dirty="0" err="1"/>
              <a:t>si</a:t>
            </a:r>
            <a:r>
              <a:rPr lang="en-US" sz="2400" dirty="0"/>
              <a:t> un </a:t>
            </a:r>
            <a:r>
              <a:rPr lang="en-US" sz="2400" dirty="0" err="1"/>
              <a:t>continut</a:t>
            </a:r>
            <a:endParaRPr lang="en-US" sz="2400" dirty="0"/>
          </a:p>
          <a:p>
            <a:pPr marL="285750" indent="-285750">
              <a:buFont typeface="Arial" panose="020B0604020202020204" pitchFamily="34" charset="0"/>
              <a:buChar char="•"/>
            </a:pPr>
            <a:r>
              <a:rPr lang="en-US" sz="2400" dirty="0" err="1"/>
              <a:t>Trimiterea</a:t>
            </a:r>
            <a:r>
              <a:rPr lang="en-US" sz="2400" dirty="0"/>
              <a:t> </a:t>
            </a:r>
            <a:r>
              <a:rPr lang="en-US" sz="2400" dirty="0" err="1"/>
              <a:t>mesajelor</a:t>
            </a:r>
            <a:r>
              <a:rPr lang="en-US" sz="2400" dirty="0"/>
              <a:t> </a:t>
            </a:r>
            <a:r>
              <a:rPr lang="en-US" sz="2400" dirty="0" err="1"/>
              <a:t>este</a:t>
            </a:r>
            <a:r>
              <a:rPr lang="en-US" sz="2400" dirty="0"/>
              <a:t> </a:t>
            </a:r>
            <a:r>
              <a:rPr lang="en-US" sz="2400" dirty="0" err="1"/>
              <a:t>asincrona</a:t>
            </a:r>
            <a:endParaRPr lang="en-GB" sz="2400" dirty="0"/>
          </a:p>
        </p:txBody>
      </p:sp>
    </p:spTree>
    <p:extLst>
      <p:ext uri="{BB962C8B-B14F-4D97-AF65-F5344CB8AC3E}">
        <p14:creationId xmlns:p14="http://schemas.microsoft.com/office/powerpoint/2010/main" val="1829134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62746" y="1413164"/>
            <a:ext cx="5304786" cy="4524315"/>
          </a:xfrm>
          <a:prstGeom prst="rect">
            <a:avLst/>
          </a:prstGeom>
          <a:solidFill>
            <a:srgbClr val="CA1421"/>
          </a:solidFill>
        </p:spPr>
        <p:txBody>
          <a:bodyPr wrap="none" rtlCol="0">
            <a:spAutoFit/>
          </a:bodyPr>
          <a:lstStyle/>
          <a:p>
            <a:endParaRPr lang="en-US" sz="3200" dirty="0">
              <a:solidFill>
                <a:schemeClr val="bg1"/>
              </a:solidFill>
            </a:endParaRPr>
          </a:p>
          <a:p>
            <a:r>
              <a:rPr lang="en-US" sz="3200" dirty="0" err="1">
                <a:solidFill>
                  <a:schemeClr val="bg1"/>
                </a:solidFill>
              </a:rPr>
              <a:t>Pid</a:t>
            </a:r>
            <a:r>
              <a:rPr lang="en-US" sz="3200" dirty="0">
                <a:solidFill>
                  <a:schemeClr val="bg1"/>
                </a:solidFill>
              </a:rPr>
              <a:t> = spawn (fun)</a:t>
            </a:r>
          </a:p>
          <a:p>
            <a:endParaRPr lang="en-US" sz="3200" dirty="0">
              <a:solidFill>
                <a:schemeClr val="bg1"/>
              </a:solidFill>
            </a:endParaRPr>
          </a:p>
          <a:p>
            <a:r>
              <a:rPr lang="en-US" sz="3200" dirty="0" err="1">
                <a:solidFill>
                  <a:schemeClr val="bg1"/>
                </a:solidFill>
              </a:rPr>
              <a:t>Pid</a:t>
            </a:r>
            <a:r>
              <a:rPr lang="en-US" sz="3200" dirty="0">
                <a:solidFill>
                  <a:schemeClr val="bg1"/>
                </a:solidFill>
              </a:rPr>
              <a:t> = spawn (module, </a:t>
            </a:r>
            <a:r>
              <a:rPr lang="en-US" sz="3200" dirty="0" err="1">
                <a:solidFill>
                  <a:schemeClr val="bg1"/>
                </a:solidFill>
              </a:rPr>
              <a:t>fct</a:t>
            </a:r>
            <a:r>
              <a:rPr lang="en-US" sz="3200" dirty="0">
                <a:solidFill>
                  <a:schemeClr val="bg1"/>
                </a:solidFill>
              </a:rPr>
              <a:t>, </a:t>
            </a:r>
            <a:r>
              <a:rPr lang="en-US" sz="3200" dirty="0" err="1">
                <a:solidFill>
                  <a:schemeClr val="bg1"/>
                </a:solidFill>
              </a:rPr>
              <a:t>args</a:t>
            </a:r>
            <a:r>
              <a:rPr lang="en-US" sz="3200" dirty="0">
                <a:solidFill>
                  <a:schemeClr val="bg1"/>
                </a:solidFill>
              </a:rPr>
              <a:t>)</a:t>
            </a:r>
          </a:p>
          <a:p>
            <a:endParaRPr lang="en-US" sz="3200" dirty="0">
              <a:solidFill>
                <a:schemeClr val="bg1"/>
              </a:solidFill>
            </a:endParaRPr>
          </a:p>
          <a:p>
            <a:r>
              <a:rPr lang="en-US" sz="3200" dirty="0" err="1">
                <a:solidFill>
                  <a:schemeClr val="bg1"/>
                </a:solidFill>
              </a:rPr>
              <a:t>Pid</a:t>
            </a:r>
            <a:r>
              <a:rPr lang="en-US" sz="3200" dirty="0">
                <a:solidFill>
                  <a:schemeClr val="bg1"/>
                </a:solidFill>
              </a:rPr>
              <a:t> ! Message</a:t>
            </a:r>
          </a:p>
          <a:p>
            <a:endParaRPr lang="en-US" sz="3200" dirty="0">
              <a:solidFill>
                <a:schemeClr val="bg1"/>
              </a:solidFill>
            </a:endParaRPr>
          </a:p>
          <a:p>
            <a:r>
              <a:rPr lang="en-US" sz="3200" dirty="0">
                <a:solidFill>
                  <a:schemeClr val="bg1"/>
                </a:solidFill>
              </a:rPr>
              <a:t>receive … end</a:t>
            </a:r>
          </a:p>
          <a:p>
            <a:r>
              <a:rPr lang="en-US" sz="3200" dirty="0">
                <a:solidFill>
                  <a:schemeClr val="bg1"/>
                </a:solidFill>
              </a:rPr>
              <a:t>receive … after … end</a:t>
            </a:r>
          </a:p>
        </p:txBody>
      </p:sp>
      <p:sp>
        <p:nvSpPr>
          <p:cNvPr id="3" name="TextBox 2"/>
          <p:cNvSpPr txBox="1"/>
          <p:nvPr/>
        </p:nvSpPr>
        <p:spPr>
          <a:xfrm>
            <a:off x="498765" y="374073"/>
            <a:ext cx="11961796" cy="523220"/>
          </a:xfrm>
          <a:prstGeom prst="rect">
            <a:avLst/>
          </a:prstGeom>
          <a:noFill/>
        </p:spPr>
        <p:txBody>
          <a:bodyPr wrap="square" rtlCol="0">
            <a:spAutoFit/>
          </a:bodyPr>
          <a:lstStyle/>
          <a:p>
            <a:pPr marL="285750" indent="-285750">
              <a:buFont typeface="Wingdings" panose="05000000000000000000" pitchFamily="2" charset="2"/>
              <a:buChar char="Ø"/>
            </a:pPr>
            <a:r>
              <a:rPr lang="en-US" sz="2800" dirty="0"/>
              <a:t> </a:t>
            </a:r>
            <a:r>
              <a:rPr lang="en-US" sz="2800" dirty="0" err="1"/>
              <a:t>Concurenta</a:t>
            </a:r>
            <a:r>
              <a:rPr lang="en-US" sz="2800" dirty="0"/>
              <a:t> in </a:t>
            </a:r>
            <a:r>
              <a:rPr lang="en-US" sz="2800" dirty="0" err="1"/>
              <a:t>Erlang</a:t>
            </a:r>
            <a:r>
              <a:rPr lang="en-US" sz="2800" dirty="0"/>
              <a:t> </a:t>
            </a:r>
            <a:r>
              <a:rPr lang="en-US" sz="2800" dirty="0" err="1"/>
              <a:t>este</a:t>
            </a:r>
            <a:r>
              <a:rPr lang="en-US" sz="2800" dirty="0"/>
              <a:t>  </a:t>
            </a:r>
            <a:r>
              <a:rPr lang="en-US" sz="2800" dirty="0" err="1"/>
              <a:t>implementata</a:t>
            </a:r>
            <a:r>
              <a:rPr lang="en-US" sz="2800" dirty="0"/>
              <a:t> </a:t>
            </a:r>
            <a:r>
              <a:rPr lang="en-US" sz="2800" dirty="0" err="1"/>
              <a:t>folosind</a:t>
            </a:r>
            <a:r>
              <a:rPr lang="en-US" sz="2800" dirty="0"/>
              <a:t> </a:t>
            </a:r>
            <a:r>
              <a:rPr lang="en-US" sz="2800" dirty="0" err="1"/>
              <a:t>urmatoarele</a:t>
            </a:r>
            <a:r>
              <a:rPr lang="en-US" sz="2800" dirty="0"/>
              <a:t> primitive:</a:t>
            </a:r>
          </a:p>
        </p:txBody>
      </p:sp>
    </p:spTree>
    <p:extLst>
      <p:ext uri="{BB962C8B-B14F-4D97-AF65-F5344CB8AC3E}">
        <p14:creationId xmlns:p14="http://schemas.microsoft.com/office/powerpoint/2010/main" val="1096123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04157" y="1523419"/>
            <a:ext cx="4279761" cy="3046988"/>
          </a:xfrm>
          <a:prstGeom prst="rect">
            <a:avLst/>
          </a:prstGeom>
          <a:noFill/>
          <a:ln>
            <a:solidFill>
              <a:srgbClr val="C00000"/>
            </a:solidFill>
          </a:ln>
        </p:spPr>
        <p:txBody>
          <a:bodyPr wrap="none" rtlCol="0">
            <a:spAutoFit/>
          </a:bodyPr>
          <a:lstStyle/>
          <a:p>
            <a:r>
              <a:rPr lang="en-US" sz="2400" dirty="0"/>
              <a:t>receive</a:t>
            </a:r>
          </a:p>
          <a:p>
            <a:r>
              <a:rPr lang="en-US" sz="2400" dirty="0"/>
              <a:t>Pattern1 </a:t>
            </a:r>
            <a:r>
              <a:rPr lang="en-US" sz="2400" b="1" dirty="0"/>
              <a:t>when </a:t>
            </a:r>
            <a:r>
              <a:rPr lang="en-US" sz="2400" dirty="0"/>
              <a:t>Guard1 -&gt; Expr1;</a:t>
            </a:r>
          </a:p>
          <a:p>
            <a:r>
              <a:rPr lang="en-US" sz="2400" dirty="0"/>
              <a:t>Pattern2  </a:t>
            </a:r>
            <a:r>
              <a:rPr lang="en-US" sz="2400" b="1" dirty="0"/>
              <a:t>when</a:t>
            </a:r>
            <a:r>
              <a:rPr lang="en-US" sz="2400" dirty="0"/>
              <a:t> Guard2 -&gt; Expr2;</a:t>
            </a:r>
          </a:p>
          <a:p>
            <a:r>
              <a:rPr lang="en-US" sz="2400" dirty="0"/>
              <a:t>Pattern3 -&gt; Expr3</a:t>
            </a:r>
          </a:p>
          <a:p>
            <a:r>
              <a:rPr lang="en-US" sz="2400" dirty="0"/>
              <a:t>…</a:t>
            </a:r>
          </a:p>
          <a:p>
            <a:r>
              <a:rPr lang="en-US" sz="2400" dirty="0"/>
              <a:t>after T -&gt;</a:t>
            </a:r>
          </a:p>
          <a:p>
            <a:r>
              <a:rPr lang="en-US" sz="2400" dirty="0"/>
              <a:t>        </a:t>
            </a:r>
            <a:r>
              <a:rPr lang="en-US" sz="2400" dirty="0" err="1"/>
              <a:t>ExpressionT</a:t>
            </a:r>
            <a:endParaRPr lang="en-US" sz="2400" dirty="0"/>
          </a:p>
          <a:p>
            <a:r>
              <a:rPr lang="en-US" sz="2400" dirty="0"/>
              <a:t>end</a:t>
            </a:r>
          </a:p>
        </p:txBody>
      </p:sp>
      <p:sp>
        <p:nvSpPr>
          <p:cNvPr id="7" name="TextBox 6"/>
          <p:cNvSpPr txBox="1"/>
          <p:nvPr/>
        </p:nvSpPr>
        <p:spPr>
          <a:xfrm>
            <a:off x="5283020" y="526727"/>
            <a:ext cx="5638953" cy="6247864"/>
          </a:xfrm>
          <a:prstGeom prst="rect">
            <a:avLst/>
          </a:prstGeom>
          <a:noFill/>
        </p:spPr>
        <p:txBody>
          <a:bodyPr wrap="square" rtlCol="0">
            <a:spAutoFit/>
          </a:bodyPr>
          <a:lstStyle/>
          <a:p>
            <a:pPr marL="342900" indent="-342900">
              <a:buFont typeface="Arial" panose="020B0604020202020204" pitchFamily="34" charset="0"/>
              <a:buChar char="•"/>
            </a:pPr>
            <a:r>
              <a:rPr lang="en-US" sz="2000" dirty="0"/>
              <a:t>La </a:t>
            </a:r>
            <a:r>
              <a:rPr lang="en-US" sz="2000" dirty="0" err="1"/>
              <a:t>intrarea</a:t>
            </a:r>
            <a:r>
              <a:rPr lang="en-US" sz="2000" dirty="0"/>
              <a:t> in </a:t>
            </a:r>
            <a:r>
              <a:rPr lang="en-US" sz="2000" b="1" dirty="0"/>
              <a:t>receive</a:t>
            </a:r>
            <a:r>
              <a:rPr lang="en-US" sz="2000" dirty="0"/>
              <a:t>, </a:t>
            </a:r>
            <a:r>
              <a:rPr lang="en-US" sz="2000" dirty="0" err="1"/>
              <a:t>daca</a:t>
            </a:r>
            <a:r>
              <a:rPr lang="en-US" sz="2000" dirty="0"/>
              <a:t> </a:t>
            </a:r>
            <a:r>
              <a:rPr lang="en-US" sz="2000" dirty="0" err="1"/>
              <a:t>exista</a:t>
            </a:r>
            <a:r>
              <a:rPr lang="en-US" sz="2000" dirty="0"/>
              <a:t> un  </a:t>
            </a:r>
            <a:r>
              <a:rPr lang="en-US" sz="2000" b="1" dirty="0"/>
              <a:t>after</a:t>
            </a:r>
            <a:r>
              <a:rPr lang="en-US" sz="2000" dirty="0"/>
              <a:t>,  se </a:t>
            </a:r>
            <a:r>
              <a:rPr lang="en-US" sz="2000" dirty="0" err="1"/>
              <a:t>porneste</a:t>
            </a:r>
            <a:r>
              <a:rPr lang="en-US" sz="2000" dirty="0"/>
              <a:t> un timer.</a:t>
            </a:r>
          </a:p>
          <a:p>
            <a:pPr marL="342900" indent="-342900">
              <a:buFont typeface="Arial" panose="020B0604020202020204" pitchFamily="34" charset="0"/>
              <a:buChar char="•"/>
            </a:pPr>
            <a:r>
              <a:rPr lang="en-US" sz="2000" dirty="0" err="1"/>
              <a:t>Mesajele</a:t>
            </a:r>
            <a:r>
              <a:rPr lang="en-US" sz="2000" dirty="0"/>
              <a:t> din </a:t>
            </a:r>
            <a:r>
              <a:rPr lang="en-US" sz="2000" dirty="0" err="1"/>
              <a:t>coada</a:t>
            </a:r>
            <a:r>
              <a:rPr lang="en-US" sz="2000" dirty="0"/>
              <a:t> </a:t>
            </a:r>
            <a:r>
              <a:rPr lang="en-US" sz="2000" dirty="0" err="1"/>
              <a:t>sunt</a:t>
            </a:r>
            <a:r>
              <a:rPr lang="en-US" sz="2000" dirty="0"/>
              <a:t> investigate in </a:t>
            </a:r>
            <a:r>
              <a:rPr lang="en-US" sz="2000" dirty="0" err="1"/>
              <a:t>ordinea</a:t>
            </a:r>
            <a:r>
              <a:rPr lang="en-US" sz="2000" dirty="0"/>
              <a:t> </a:t>
            </a:r>
            <a:r>
              <a:rPr lang="en-US" sz="2000" dirty="0" err="1"/>
              <a:t>sosirii</a:t>
            </a:r>
            <a:r>
              <a:rPr lang="en-US" sz="2000" dirty="0"/>
              <a:t>; </a:t>
            </a:r>
            <a:r>
              <a:rPr lang="en-US" sz="2000" dirty="0" err="1"/>
              <a:t>daca</a:t>
            </a:r>
            <a:r>
              <a:rPr lang="en-US" sz="2000" dirty="0"/>
              <a:t> un </a:t>
            </a:r>
            <a:r>
              <a:rPr lang="en-US" sz="2000" dirty="0" err="1"/>
              <a:t>mesaj</a:t>
            </a:r>
            <a:r>
              <a:rPr lang="en-US" sz="2000" dirty="0"/>
              <a:t> se </a:t>
            </a:r>
            <a:r>
              <a:rPr lang="en-US" sz="2000" dirty="0" err="1"/>
              <a:t>potriveste</a:t>
            </a:r>
            <a:r>
              <a:rPr lang="en-US" sz="2000" dirty="0"/>
              <a:t> cu un pattern </a:t>
            </a:r>
            <a:r>
              <a:rPr lang="en-US" sz="2000" dirty="0" err="1"/>
              <a:t>atunci</a:t>
            </a:r>
            <a:r>
              <a:rPr lang="en-US" sz="2000" dirty="0"/>
              <a:t> </a:t>
            </a:r>
            <a:r>
              <a:rPr lang="en-US" sz="2000" dirty="0" err="1"/>
              <a:t>expresia</a:t>
            </a:r>
            <a:r>
              <a:rPr lang="en-US" sz="2000" dirty="0"/>
              <a:t> </a:t>
            </a:r>
            <a:r>
              <a:rPr lang="en-US" sz="2000" dirty="0" err="1"/>
              <a:t>corespunzatoare</a:t>
            </a:r>
            <a:r>
              <a:rPr lang="en-US" sz="2000" dirty="0"/>
              <a:t> </a:t>
            </a:r>
            <a:r>
              <a:rPr lang="en-US" sz="2000" dirty="0" err="1"/>
              <a:t>este</a:t>
            </a:r>
            <a:r>
              <a:rPr lang="en-US" sz="2000" dirty="0"/>
              <a:t> </a:t>
            </a:r>
            <a:r>
              <a:rPr lang="en-US" sz="2000" dirty="0" err="1"/>
              <a:t>prelucrata</a:t>
            </a:r>
            <a:r>
              <a:rPr lang="en-US" sz="2000" dirty="0"/>
              <a:t>.</a:t>
            </a:r>
          </a:p>
          <a:p>
            <a:pPr marL="342900" indent="-342900">
              <a:buFont typeface="Arial" panose="020B0604020202020204" pitchFamily="34" charset="0"/>
              <a:buChar char="•"/>
            </a:pPr>
            <a:r>
              <a:rPr lang="en-US" sz="2000" dirty="0" err="1"/>
              <a:t>Mesajele</a:t>
            </a:r>
            <a:r>
              <a:rPr lang="en-US" sz="2000" dirty="0"/>
              <a:t> care nu se </a:t>
            </a:r>
            <a:r>
              <a:rPr lang="en-US" sz="2000" dirty="0" err="1"/>
              <a:t>potrivesc</a:t>
            </a:r>
            <a:r>
              <a:rPr lang="en-US" sz="2000" dirty="0"/>
              <a:t> cu </a:t>
            </a:r>
            <a:r>
              <a:rPr lang="en-US" sz="2000" dirty="0" err="1"/>
              <a:t>nici</a:t>
            </a:r>
            <a:r>
              <a:rPr lang="en-US" sz="2000" dirty="0"/>
              <a:t> un pattern </a:t>
            </a:r>
            <a:r>
              <a:rPr lang="en-US" sz="2000" dirty="0" err="1"/>
              <a:t>sunt</a:t>
            </a:r>
            <a:r>
              <a:rPr lang="en-US" sz="2000" dirty="0"/>
              <a:t> </a:t>
            </a:r>
            <a:r>
              <a:rPr lang="en-US" sz="2000" dirty="0" err="1"/>
              <a:t>puse</a:t>
            </a:r>
            <a:r>
              <a:rPr lang="en-US" sz="2000" dirty="0"/>
              <a:t> </a:t>
            </a:r>
            <a:r>
              <a:rPr lang="en-US" sz="2000" dirty="0" err="1"/>
              <a:t>intr</a:t>
            </a:r>
            <a:r>
              <a:rPr lang="en-US" sz="2000" dirty="0"/>
              <a:t>-o </a:t>
            </a:r>
            <a:r>
              <a:rPr lang="en-US" sz="2000" dirty="0" err="1"/>
              <a:t>coada</a:t>
            </a:r>
            <a:r>
              <a:rPr lang="en-US" sz="2000" dirty="0"/>
              <a:t> separate (</a:t>
            </a:r>
            <a:r>
              <a:rPr lang="en-US" sz="2000" i="1" dirty="0"/>
              <a:t>save queue</a:t>
            </a:r>
            <a:r>
              <a:rPr lang="en-US" sz="2000" dirty="0"/>
              <a:t>).</a:t>
            </a:r>
          </a:p>
          <a:p>
            <a:pPr marL="342900" indent="-342900">
              <a:buFont typeface="Arial" panose="020B0604020202020204" pitchFamily="34" charset="0"/>
              <a:buChar char="•"/>
            </a:pPr>
            <a:r>
              <a:rPr lang="en-US" sz="2000" dirty="0" err="1"/>
              <a:t>Daca</a:t>
            </a:r>
            <a:r>
              <a:rPr lang="en-US" sz="2000" dirty="0"/>
              <a:t> nu </a:t>
            </a:r>
            <a:r>
              <a:rPr lang="en-US" sz="2000" dirty="0" err="1"/>
              <a:t>mai</a:t>
            </a:r>
            <a:r>
              <a:rPr lang="en-US" sz="2000" dirty="0"/>
              <a:t> </a:t>
            </a:r>
            <a:r>
              <a:rPr lang="en-US" sz="2000" dirty="0" err="1"/>
              <a:t>sunt</a:t>
            </a:r>
            <a:r>
              <a:rPr lang="en-US" sz="2000" dirty="0"/>
              <a:t> </a:t>
            </a:r>
            <a:r>
              <a:rPr lang="en-US" sz="2000" dirty="0" err="1"/>
              <a:t>mesaje</a:t>
            </a:r>
            <a:r>
              <a:rPr lang="en-US" sz="2000" dirty="0"/>
              <a:t> in </a:t>
            </a:r>
            <a:r>
              <a:rPr lang="en-US" sz="2000" dirty="0" err="1"/>
              <a:t>coada</a:t>
            </a:r>
            <a:r>
              <a:rPr lang="en-US" sz="2000" dirty="0"/>
              <a:t> </a:t>
            </a:r>
            <a:r>
              <a:rPr lang="en-US" sz="2000" dirty="0" err="1"/>
              <a:t>procesul</a:t>
            </a:r>
            <a:r>
              <a:rPr lang="en-US" sz="2000" dirty="0"/>
              <a:t> se </a:t>
            </a:r>
            <a:r>
              <a:rPr lang="en-US" sz="2000" dirty="0" err="1"/>
              <a:t>suspenda</a:t>
            </a:r>
            <a:r>
              <a:rPr lang="en-US" sz="2000" dirty="0"/>
              <a:t> </a:t>
            </a:r>
            <a:r>
              <a:rPr lang="en-US" sz="2000" dirty="0" err="1"/>
              <a:t>si</a:t>
            </a:r>
            <a:r>
              <a:rPr lang="en-US" sz="2000" dirty="0"/>
              <a:t> </a:t>
            </a:r>
            <a:r>
              <a:rPr lang="en-US" sz="2000" dirty="0" err="1"/>
              <a:t>asteapta</a:t>
            </a:r>
            <a:r>
              <a:rPr lang="en-US" sz="2000" dirty="0"/>
              <a:t> </a:t>
            </a:r>
            <a:r>
              <a:rPr lang="en-US" sz="2000" dirty="0" err="1"/>
              <a:t>venirea</a:t>
            </a:r>
            <a:r>
              <a:rPr lang="en-US" sz="2000" dirty="0"/>
              <a:t> </a:t>
            </a:r>
            <a:r>
              <a:rPr lang="en-US" sz="2000" dirty="0" err="1"/>
              <a:t>unui</a:t>
            </a:r>
            <a:r>
              <a:rPr lang="en-US" sz="2000" dirty="0"/>
              <a:t> </a:t>
            </a:r>
            <a:r>
              <a:rPr lang="en-US" sz="2000" dirty="0" err="1"/>
              <a:t>nou</a:t>
            </a:r>
            <a:r>
              <a:rPr lang="en-US" sz="2000" dirty="0"/>
              <a:t> </a:t>
            </a:r>
            <a:r>
              <a:rPr lang="en-US" sz="2000" dirty="0" err="1"/>
              <a:t>mesaj</a:t>
            </a:r>
            <a:r>
              <a:rPr lang="en-US" sz="2000" dirty="0"/>
              <a:t>; la </a:t>
            </a:r>
            <a:r>
              <a:rPr lang="en-US" sz="2000" dirty="0" err="1"/>
              <a:t>venirea</a:t>
            </a:r>
            <a:r>
              <a:rPr lang="en-US" sz="2000" dirty="0"/>
              <a:t> </a:t>
            </a:r>
            <a:r>
              <a:rPr lang="en-US" sz="2000" dirty="0" err="1"/>
              <a:t>acestuia</a:t>
            </a:r>
            <a:r>
              <a:rPr lang="en-US" sz="2000" dirty="0"/>
              <a:t>, </a:t>
            </a:r>
            <a:r>
              <a:rPr lang="en-US" sz="2000" dirty="0" err="1"/>
              <a:t>numai</a:t>
            </a:r>
            <a:r>
              <a:rPr lang="en-US" sz="2000" dirty="0"/>
              <a:t> el </a:t>
            </a:r>
            <a:r>
              <a:rPr lang="en-US" sz="2000" dirty="0" err="1"/>
              <a:t>este</a:t>
            </a:r>
            <a:r>
              <a:rPr lang="en-US" sz="2000" dirty="0"/>
              <a:t> </a:t>
            </a:r>
            <a:r>
              <a:rPr lang="en-US" sz="2000" dirty="0" err="1"/>
              <a:t>prelucrat</a:t>
            </a:r>
            <a:r>
              <a:rPr lang="en-US" sz="2000" dirty="0"/>
              <a:t>, nu </a:t>
            </a:r>
            <a:r>
              <a:rPr lang="en-US" sz="2000" dirty="0" err="1"/>
              <a:t>si</a:t>
            </a:r>
            <a:r>
              <a:rPr lang="en-US" sz="2000" dirty="0"/>
              <a:t> </a:t>
            </a:r>
            <a:r>
              <a:rPr lang="en-US" sz="2000" dirty="0" err="1"/>
              <a:t>mesajele</a:t>
            </a:r>
            <a:r>
              <a:rPr lang="en-US" sz="2000" dirty="0"/>
              <a:t> din </a:t>
            </a:r>
            <a:r>
              <a:rPr lang="en-US" sz="2000" i="1" dirty="0"/>
              <a:t>save queue.</a:t>
            </a:r>
          </a:p>
          <a:p>
            <a:pPr marL="342900" indent="-342900">
              <a:buFont typeface="Arial" panose="020B0604020202020204" pitchFamily="34" charset="0"/>
              <a:buChar char="•"/>
            </a:pPr>
            <a:r>
              <a:rPr lang="en-US" sz="2000" dirty="0" err="1"/>
              <a:t>Cand</a:t>
            </a:r>
            <a:r>
              <a:rPr lang="en-US" sz="2000" dirty="0"/>
              <a:t> un </a:t>
            </a:r>
            <a:r>
              <a:rPr lang="en-US" sz="2000" dirty="0" err="1"/>
              <a:t>mesaj</a:t>
            </a:r>
            <a:r>
              <a:rPr lang="en-US" sz="2000" dirty="0"/>
              <a:t> se </a:t>
            </a:r>
            <a:r>
              <a:rPr lang="en-US" sz="2000" dirty="0" err="1"/>
              <a:t>potriveste</a:t>
            </a:r>
            <a:r>
              <a:rPr lang="en-US" sz="2000" dirty="0"/>
              <a:t> cu un pattern, </a:t>
            </a:r>
            <a:r>
              <a:rPr lang="en-US" sz="2000" dirty="0" err="1"/>
              <a:t>mesajele</a:t>
            </a:r>
            <a:r>
              <a:rPr lang="en-US" sz="2000" dirty="0"/>
              <a:t> din </a:t>
            </a:r>
            <a:r>
              <a:rPr lang="en-US" sz="2000" i="1" dirty="0"/>
              <a:t>save queue </a:t>
            </a:r>
            <a:r>
              <a:rPr lang="en-US" sz="2000" dirty="0" err="1"/>
              <a:t>sunt</a:t>
            </a:r>
            <a:r>
              <a:rPr lang="en-US" sz="2000" dirty="0"/>
              <a:t> </a:t>
            </a:r>
            <a:r>
              <a:rPr lang="en-US" sz="2000" dirty="0" err="1"/>
              <a:t>puse</a:t>
            </a:r>
            <a:r>
              <a:rPr lang="en-US" sz="2000" dirty="0"/>
              <a:t> la </a:t>
            </a:r>
            <a:r>
              <a:rPr lang="en-US" sz="2000" dirty="0" err="1"/>
              <a:t>loc</a:t>
            </a:r>
            <a:r>
              <a:rPr lang="en-US" sz="2000" dirty="0"/>
              <a:t> in </a:t>
            </a:r>
            <a:r>
              <a:rPr lang="en-US" sz="2000" dirty="0" err="1"/>
              <a:t>coada</a:t>
            </a:r>
            <a:r>
              <a:rPr lang="en-US" sz="2000" dirty="0"/>
              <a:t> </a:t>
            </a:r>
            <a:r>
              <a:rPr lang="en-US" sz="2000" dirty="0" err="1"/>
              <a:t>si</a:t>
            </a:r>
            <a:r>
              <a:rPr lang="en-US" sz="2000" dirty="0"/>
              <a:t> </a:t>
            </a:r>
            <a:r>
              <a:rPr lang="en-US" sz="2000" dirty="0" err="1"/>
              <a:t>timerul</a:t>
            </a:r>
            <a:r>
              <a:rPr lang="en-US" sz="2000" dirty="0"/>
              <a:t> se </a:t>
            </a:r>
            <a:r>
              <a:rPr lang="en-US" sz="2000" dirty="0" err="1"/>
              <a:t>sterge</a:t>
            </a:r>
            <a:r>
              <a:rPr lang="en-US" sz="2000" dirty="0"/>
              <a:t>.</a:t>
            </a:r>
          </a:p>
          <a:p>
            <a:pPr marL="342900" indent="-342900">
              <a:buFont typeface="Arial" panose="020B0604020202020204" pitchFamily="34" charset="0"/>
              <a:buChar char="•"/>
            </a:pPr>
            <a:r>
              <a:rPr lang="en-US" sz="2000" dirty="0" err="1"/>
              <a:t>Daca</a:t>
            </a:r>
            <a:r>
              <a:rPr lang="en-US" sz="2000" dirty="0"/>
              <a:t> </a:t>
            </a:r>
            <a:r>
              <a:rPr lang="en-US" sz="2000" dirty="0" err="1"/>
              <a:t>timpul</a:t>
            </a:r>
            <a:r>
              <a:rPr lang="en-US" sz="2000" dirty="0"/>
              <a:t> T s-a </a:t>
            </a:r>
            <a:r>
              <a:rPr lang="en-US" sz="2000" dirty="0" err="1"/>
              <a:t>scurs</a:t>
            </a:r>
            <a:r>
              <a:rPr lang="en-US" sz="2000" dirty="0"/>
              <a:t> </a:t>
            </a:r>
            <a:r>
              <a:rPr lang="en-US" sz="2000" dirty="0" err="1"/>
              <a:t>fara</a:t>
            </a:r>
            <a:r>
              <a:rPr lang="en-US" sz="2000" dirty="0"/>
              <a:t> ca un </a:t>
            </a:r>
            <a:r>
              <a:rPr lang="en-US" sz="2000" dirty="0" err="1"/>
              <a:t>mesaj</a:t>
            </a:r>
            <a:r>
              <a:rPr lang="en-US" sz="2000" dirty="0"/>
              <a:t> </a:t>
            </a:r>
            <a:r>
              <a:rPr lang="en-US" sz="2000" dirty="0" err="1"/>
              <a:t>sa</a:t>
            </a:r>
            <a:r>
              <a:rPr lang="en-US" sz="2000" dirty="0"/>
              <a:t> se </a:t>
            </a:r>
            <a:r>
              <a:rPr lang="en-US" sz="2000" dirty="0" err="1"/>
              <a:t>potriveasca</a:t>
            </a:r>
            <a:r>
              <a:rPr lang="en-US" sz="2000" dirty="0"/>
              <a:t> </a:t>
            </a:r>
            <a:r>
              <a:rPr lang="en-US" sz="2000" dirty="0" err="1"/>
              <a:t>unui</a:t>
            </a:r>
            <a:r>
              <a:rPr lang="en-US" sz="2000" dirty="0"/>
              <a:t> pattern, </a:t>
            </a:r>
            <a:r>
              <a:rPr lang="en-US" sz="2000" dirty="0" err="1"/>
              <a:t>atunci</a:t>
            </a:r>
            <a:r>
              <a:rPr lang="en-US" sz="2000" dirty="0"/>
              <a:t> </a:t>
            </a:r>
            <a:r>
              <a:rPr lang="en-US" sz="2000" dirty="0" err="1"/>
              <a:t>ExpressionT</a:t>
            </a:r>
            <a:r>
              <a:rPr lang="en-US" sz="2000" dirty="0"/>
              <a:t> se </a:t>
            </a:r>
            <a:r>
              <a:rPr lang="en-US" sz="2000" dirty="0" err="1"/>
              <a:t>executa</a:t>
            </a:r>
            <a:r>
              <a:rPr lang="en-US" sz="2000" dirty="0"/>
              <a:t>, </a:t>
            </a:r>
            <a:r>
              <a:rPr lang="en-US" sz="2000" dirty="0" err="1"/>
              <a:t>iar</a:t>
            </a:r>
            <a:r>
              <a:rPr lang="en-US" sz="2000" dirty="0"/>
              <a:t> </a:t>
            </a:r>
            <a:r>
              <a:rPr lang="en-US" sz="2000" dirty="0" err="1"/>
              <a:t>mesajele</a:t>
            </a:r>
            <a:r>
              <a:rPr lang="en-US" sz="2000" dirty="0"/>
              <a:t> din </a:t>
            </a:r>
            <a:r>
              <a:rPr lang="en-US" sz="2000" i="1" dirty="0"/>
              <a:t>save queue </a:t>
            </a:r>
            <a:r>
              <a:rPr lang="en-US" sz="2000" dirty="0" err="1"/>
              <a:t>sunt</a:t>
            </a:r>
            <a:r>
              <a:rPr lang="en-US" sz="2000" dirty="0"/>
              <a:t> </a:t>
            </a:r>
            <a:r>
              <a:rPr lang="en-US" sz="2000" dirty="0" err="1"/>
              <a:t>puse</a:t>
            </a:r>
            <a:r>
              <a:rPr lang="en-US" sz="2000" dirty="0"/>
              <a:t> </a:t>
            </a:r>
            <a:r>
              <a:rPr lang="en-US" sz="2000" dirty="0" err="1"/>
              <a:t>inapoi</a:t>
            </a:r>
            <a:r>
              <a:rPr lang="en-US" sz="2000" dirty="0"/>
              <a:t> in </a:t>
            </a:r>
            <a:r>
              <a:rPr lang="en-US" sz="2000" dirty="0" err="1"/>
              <a:t>coada</a:t>
            </a:r>
            <a:r>
              <a:rPr lang="en-US" sz="2000" dirty="0"/>
              <a: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p:txBody>
      </p:sp>
      <p:sp>
        <p:nvSpPr>
          <p:cNvPr id="8" name="TextBox 7"/>
          <p:cNvSpPr txBox="1"/>
          <p:nvPr/>
        </p:nvSpPr>
        <p:spPr>
          <a:xfrm>
            <a:off x="758142" y="173620"/>
            <a:ext cx="3155672"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a:solidFill>
                  <a:srgbClr val="C00000"/>
                </a:solidFill>
              </a:rPr>
              <a:t>receive … after … end</a:t>
            </a:r>
          </a:p>
        </p:txBody>
      </p:sp>
    </p:spTree>
    <p:extLst>
      <p:ext uri="{BB962C8B-B14F-4D97-AF65-F5344CB8AC3E}">
        <p14:creationId xmlns:p14="http://schemas.microsoft.com/office/powerpoint/2010/main" val="3833944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177145" y="166255"/>
            <a:ext cx="184731" cy="369332"/>
          </a:xfrm>
          <a:prstGeom prst="rect">
            <a:avLst/>
          </a:prstGeom>
          <a:noFill/>
        </p:spPr>
        <p:txBody>
          <a:bodyPr wrap="none" rtlCol="0">
            <a:spAutoFit/>
          </a:bodyPr>
          <a:lstStyle/>
          <a:p>
            <a:endParaRPr lang="en-US" dirty="0"/>
          </a:p>
        </p:txBody>
      </p:sp>
      <p:sp>
        <p:nvSpPr>
          <p:cNvPr id="5" name="TextBox 4"/>
          <p:cNvSpPr txBox="1"/>
          <p:nvPr/>
        </p:nvSpPr>
        <p:spPr>
          <a:xfrm>
            <a:off x="570908" y="321554"/>
            <a:ext cx="8396273" cy="1200329"/>
          </a:xfrm>
          <a:prstGeom prst="rect">
            <a:avLst/>
          </a:prstGeom>
          <a:noFill/>
        </p:spPr>
        <p:txBody>
          <a:bodyPr wrap="none" rtlCol="0">
            <a:spAutoFit/>
          </a:bodyPr>
          <a:lstStyle/>
          <a:p>
            <a:pPr marL="342900" indent="-342900">
              <a:buFont typeface="Wingdings" panose="05000000000000000000" pitchFamily="2" charset="2"/>
              <a:buChar char="Ø"/>
            </a:pPr>
            <a:r>
              <a:rPr lang="en-US" sz="2400" dirty="0" err="1"/>
              <a:t>Modelul</a:t>
            </a:r>
            <a:r>
              <a:rPr lang="en-US" sz="2400" dirty="0"/>
              <a:t> client-server cu </a:t>
            </a:r>
            <a:r>
              <a:rPr lang="en-US" sz="2400" dirty="0" err="1"/>
              <a:t>transmiterea</a:t>
            </a:r>
            <a:r>
              <a:rPr lang="en-US" sz="2400" dirty="0"/>
              <a:t> </a:t>
            </a:r>
            <a:r>
              <a:rPr lang="en-US" sz="2400" dirty="0" err="1"/>
              <a:t>starii</a:t>
            </a:r>
            <a:endParaRPr lang="en-US" sz="2400" dirty="0"/>
          </a:p>
          <a:p>
            <a:pPr marL="800100" lvl="1" indent="-342900">
              <a:buFont typeface="Arial" panose="020B0604020202020204" pitchFamily="34" charset="0"/>
              <a:buChar char="•"/>
            </a:pPr>
            <a:r>
              <a:rPr lang="en-US" sz="2400" dirty="0" err="1"/>
              <a:t>Functia</a:t>
            </a:r>
            <a:r>
              <a:rPr lang="en-US" sz="2400" dirty="0"/>
              <a:t> </a:t>
            </a:r>
            <a:r>
              <a:rPr lang="en-US" sz="2400" b="1" dirty="0"/>
              <a:t>start(stare)</a:t>
            </a:r>
            <a:r>
              <a:rPr lang="en-US" sz="2400" dirty="0"/>
              <a:t> </a:t>
            </a:r>
            <a:r>
              <a:rPr lang="en-US" sz="2400" dirty="0" err="1"/>
              <a:t>porneste</a:t>
            </a:r>
            <a:r>
              <a:rPr lang="en-US" sz="2400" dirty="0"/>
              <a:t> </a:t>
            </a:r>
            <a:r>
              <a:rPr lang="en-US" sz="2400" dirty="0" err="1"/>
              <a:t>serverul</a:t>
            </a:r>
            <a:r>
              <a:rPr lang="en-US" sz="2400" dirty="0"/>
              <a:t> (</a:t>
            </a:r>
            <a:r>
              <a:rPr lang="en-US" sz="2400" dirty="0" err="1"/>
              <a:t>proces</a:t>
            </a:r>
            <a:r>
              <a:rPr lang="en-US" sz="2400" dirty="0"/>
              <a:t> </a:t>
            </a:r>
            <a:r>
              <a:rPr lang="en-US" sz="2400" dirty="0" err="1"/>
              <a:t>inregistrat</a:t>
            </a:r>
            <a:r>
              <a:rPr lang="en-US" sz="2400" dirty="0"/>
              <a:t>)     </a:t>
            </a:r>
          </a:p>
          <a:p>
            <a:pPr marL="800100" lvl="1" indent="-342900">
              <a:buFont typeface="Arial" panose="020B0604020202020204" pitchFamily="34" charset="0"/>
              <a:buChar char="•"/>
            </a:pPr>
            <a:r>
              <a:rPr lang="en-US" sz="2400" dirty="0" err="1"/>
              <a:t>Comenzile</a:t>
            </a:r>
            <a:r>
              <a:rPr lang="en-US" sz="2400" dirty="0"/>
              <a:t> client:  </a:t>
            </a:r>
            <a:r>
              <a:rPr lang="en-US" sz="2400" b="1" dirty="0"/>
              <a:t>store, take,  show, terminate </a:t>
            </a:r>
          </a:p>
        </p:txBody>
      </p:sp>
      <p:sp>
        <p:nvSpPr>
          <p:cNvPr id="6" name="Rectangle 5"/>
          <p:cNvSpPr/>
          <p:nvPr/>
        </p:nvSpPr>
        <p:spPr>
          <a:xfrm>
            <a:off x="293162" y="1663529"/>
            <a:ext cx="8953885" cy="3416320"/>
          </a:xfrm>
          <a:prstGeom prst="rect">
            <a:avLst/>
          </a:prstGeom>
          <a:ln w="28575">
            <a:solidFill>
              <a:srgbClr val="C00000"/>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en-US" sz="2400" dirty="0"/>
              <a:t>start(</a:t>
            </a:r>
            <a:r>
              <a:rPr lang="en-US" sz="2400" dirty="0" err="1"/>
              <a:t>FoodList</a:t>
            </a:r>
            <a:r>
              <a:rPr lang="en-US" sz="2400" dirty="0"/>
              <a:t>) -&gt; </a:t>
            </a:r>
            <a:r>
              <a:rPr lang="en-US" sz="2400" b="1" dirty="0"/>
              <a:t>register</a:t>
            </a:r>
            <a:r>
              <a:rPr lang="en-US" sz="2400" dirty="0"/>
              <a:t>(</a:t>
            </a:r>
            <a:r>
              <a:rPr lang="en-US" sz="2400" b="1" dirty="0"/>
              <a:t>fridge</a:t>
            </a:r>
            <a:r>
              <a:rPr lang="en-US" sz="2400" dirty="0"/>
              <a:t>, spawn(fun()-&gt; </a:t>
            </a:r>
            <a:r>
              <a:rPr lang="en-US" sz="2400" dirty="0" err="1"/>
              <a:t>fridgef</a:t>
            </a:r>
            <a:r>
              <a:rPr lang="en-US" sz="2400" dirty="0"/>
              <a:t>(</a:t>
            </a:r>
            <a:r>
              <a:rPr lang="en-US" sz="2400" dirty="0" err="1"/>
              <a:t>FoodList</a:t>
            </a:r>
            <a:r>
              <a:rPr lang="en-US" sz="2400" dirty="0"/>
              <a:t>) end)).</a:t>
            </a:r>
          </a:p>
          <a:p>
            <a:r>
              <a:rPr lang="en-US" sz="2400" dirty="0" err="1"/>
              <a:t>fridgef</a:t>
            </a:r>
            <a:r>
              <a:rPr lang="en-US" sz="2400" dirty="0"/>
              <a:t>(</a:t>
            </a:r>
            <a:r>
              <a:rPr lang="en-US" sz="2400" b="1" dirty="0" err="1"/>
              <a:t>FoodList</a:t>
            </a:r>
            <a:r>
              <a:rPr lang="en-US" sz="2400" dirty="0"/>
              <a:t>) -&gt;    </a:t>
            </a:r>
          </a:p>
          <a:p>
            <a:r>
              <a:rPr lang="en-US" sz="2400" dirty="0"/>
              <a:t>                   receive </a:t>
            </a:r>
          </a:p>
          <a:p>
            <a:r>
              <a:rPr lang="en-US" sz="2400" dirty="0"/>
              <a:t>                     </a:t>
            </a:r>
            <a:r>
              <a:rPr lang="en-US" sz="2400" dirty="0">
                <a:solidFill>
                  <a:srgbClr val="000000"/>
                </a:solidFill>
              </a:rPr>
              <a:t>{From, {store, Food}} -&gt; …</a:t>
            </a:r>
            <a:endParaRPr lang="en-US" sz="2400" dirty="0"/>
          </a:p>
          <a:p>
            <a:r>
              <a:rPr lang="en-US" sz="2400" dirty="0"/>
              <a:t>                          % </a:t>
            </a:r>
            <a:r>
              <a:rPr lang="en-US" sz="2400" dirty="0" err="1"/>
              <a:t>comanda</a:t>
            </a:r>
            <a:r>
              <a:rPr lang="en-US" sz="2400" dirty="0"/>
              <a:t> store</a:t>
            </a:r>
          </a:p>
          <a:p>
            <a:r>
              <a:rPr lang="en-US" sz="2400" dirty="0"/>
              <a:t>                     </a:t>
            </a:r>
            <a:r>
              <a:rPr lang="en-US" sz="2400" dirty="0">
                <a:solidFill>
                  <a:srgbClr val="000000"/>
                </a:solidFill>
              </a:rPr>
              <a:t>{From, {take, Food}} -&gt; …</a:t>
            </a:r>
            <a:r>
              <a:rPr lang="en-US" sz="2400" dirty="0"/>
              <a:t> </a:t>
            </a:r>
          </a:p>
          <a:p>
            <a:r>
              <a:rPr lang="en-US" sz="2400" dirty="0"/>
              <a:t>                         % </a:t>
            </a:r>
            <a:r>
              <a:rPr lang="en-US" sz="2400" dirty="0" err="1"/>
              <a:t>comanda</a:t>
            </a:r>
            <a:r>
              <a:rPr lang="en-US" sz="2400" dirty="0"/>
              <a:t> take</a:t>
            </a:r>
          </a:p>
          <a:p>
            <a:r>
              <a:rPr lang="en-US" sz="2400" dirty="0"/>
              <a:t>                      ….               </a:t>
            </a:r>
          </a:p>
          <a:p>
            <a:r>
              <a:rPr lang="en-US" sz="2400" dirty="0"/>
              <a:t>                    end.    </a:t>
            </a:r>
          </a:p>
        </p:txBody>
      </p:sp>
      <p:sp>
        <p:nvSpPr>
          <p:cNvPr id="2" name="TextBox 1"/>
          <p:cNvSpPr txBox="1"/>
          <p:nvPr/>
        </p:nvSpPr>
        <p:spPr>
          <a:xfrm>
            <a:off x="5345781" y="2463748"/>
            <a:ext cx="3368230" cy="3754874"/>
          </a:xfrm>
          <a:prstGeom prst="rect">
            <a:avLst/>
          </a:prstGeom>
          <a:ln w="28575">
            <a:solidFill>
              <a:srgbClr val="C00000"/>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US" sz="2000" b="1" dirty="0"/>
              <a:t>store(Food) </a:t>
            </a:r>
            <a:r>
              <a:rPr lang="en-US" sz="2000" dirty="0"/>
              <a:t>-&gt;</a:t>
            </a:r>
          </a:p>
          <a:p>
            <a:r>
              <a:rPr lang="en-US" sz="2000" dirty="0"/>
              <a:t>    fridge! {self(), {store, Food}},</a:t>
            </a:r>
          </a:p>
          <a:p>
            <a:r>
              <a:rPr lang="en-US" sz="2000" dirty="0"/>
              <a:t>    receive</a:t>
            </a:r>
          </a:p>
          <a:p>
            <a:r>
              <a:rPr lang="en-US" sz="2000" dirty="0"/>
              <a:t>        {fridge, </a:t>
            </a:r>
            <a:r>
              <a:rPr lang="en-US" sz="2000" dirty="0" err="1"/>
              <a:t>Msg</a:t>
            </a:r>
            <a:r>
              <a:rPr lang="en-US" sz="2000" dirty="0"/>
              <a:t>} -&gt; </a:t>
            </a:r>
            <a:r>
              <a:rPr lang="en-US" sz="2000" dirty="0" err="1"/>
              <a:t>Msg</a:t>
            </a:r>
            <a:endParaRPr lang="en-US" sz="2000" dirty="0"/>
          </a:p>
          <a:p>
            <a:r>
              <a:rPr lang="en-US" sz="2000" dirty="0"/>
              <a:t>    end.</a:t>
            </a:r>
          </a:p>
          <a:p>
            <a:r>
              <a:rPr lang="en-US" sz="2000" dirty="0"/>
              <a:t> </a:t>
            </a:r>
          </a:p>
          <a:p>
            <a:r>
              <a:rPr lang="en-US" sz="2000" b="1" dirty="0"/>
              <a:t>take( Food) </a:t>
            </a:r>
            <a:r>
              <a:rPr lang="en-US" sz="2000" dirty="0"/>
              <a:t>-&gt;</a:t>
            </a:r>
          </a:p>
          <a:p>
            <a:r>
              <a:rPr lang="en-US" sz="2000" dirty="0"/>
              <a:t>    fridge ! {self(), {take, Food}},</a:t>
            </a:r>
          </a:p>
          <a:p>
            <a:r>
              <a:rPr lang="en-US" sz="2000" dirty="0"/>
              <a:t>    receive</a:t>
            </a:r>
          </a:p>
          <a:p>
            <a:r>
              <a:rPr lang="en-US" sz="2000" dirty="0"/>
              <a:t>        {fridge, </a:t>
            </a:r>
            <a:r>
              <a:rPr lang="en-US" sz="2000" dirty="0" err="1"/>
              <a:t>Msg</a:t>
            </a:r>
            <a:r>
              <a:rPr lang="en-US" sz="2000" dirty="0"/>
              <a:t>} -&gt; </a:t>
            </a:r>
            <a:r>
              <a:rPr lang="en-US" sz="2000" dirty="0" err="1"/>
              <a:t>Msg</a:t>
            </a:r>
            <a:endParaRPr lang="en-US" sz="2000" dirty="0"/>
          </a:p>
          <a:p>
            <a:r>
              <a:rPr lang="en-US" sz="2000" dirty="0"/>
              <a:t>    end.</a:t>
            </a:r>
          </a:p>
          <a:p>
            <a:endParaRPr lang="en-US" dirty="0"/>
          </a:p>
        </p:txBody>
      </p:sp>
      <p:sp>
        <p:nvSpPr>
          <p:cNvPr id="3" name="Rectangle 2"/>
          <p:cNvSpPr/>
          <p:nvPr/>
        </p:nvSpPr>
        <p:spPr>
          <a:xfrm>
            <a:off x="8714011" y="2463748"/>
            <a:ext cx="3368231" cy="3477875"/>
          </a:xfrm>
          <a:prstGeom prst="rect">
            <a:avLst/>
          </a:prstGeom>
          <a:ln w="28575">
            <a:solidFill>
              <a:srgbClr val="C00000"/>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en-US" sz="2000" b="1" dirty="0"/>
              <a:t>show()</a:t>
            </a:r>
            <a:r>
              <a:rPr lang="en-US" sz="2000" dirty="0"/>
              <a:t> -&gt; </a:t>
            </a:r>
          </a:p>
          <a:p>
            <a:r>
              <a:rPr lang="en-US" sz="2000" dirty="0"/>
              <a:t>    fridge ! {self(), show},</a:t>
            </a:r>
          </a:p>
          <a:p>
            <a:r>
              <a:rPr lang="en-US" sz="2000" dirty="0"/>
              <a:t>    receive</a:t>
            </a:r>
          </a:p>
          <a:p>
            <a:r>
              <a:rPr lang="en-US" sz="2000" dirty="0"/>
              <a:t>        {fridge, </a:t>
            </a:r>
            <a:r>
              <a:rPr lang="en-US" sz="2000" dirty="0" err="1"/>
              <a:t>Msg</a:t>
            </a:r>
            <a:r>
              <a:rPr lang="en-US" sz="2000" dirty="0"/>
              <a:t>} -&gt; </a:t>
            </a:r>
            <a:r>
              <a:rPr lang="en-US" sz="2000" dirty="0" err="1"/>
              <a:t>Msg</a:t>
            </a:r>
            <a:endParaRPr lang="en-US" sz="2000" dirty="0"/>
          </a:p>
          <a:p>
            <a:r>
              <a:rPr lang="en-US" sz="2000" dirty="0"/>
              <a:t>    end.</a:t>
            </a:r>
          </a:p>
          <a:p>
            <a:endParaRPr lang="en-US" sz="2000" dirty="0"/>
          </a:p>
          <a:p>
            <a:r>
              <a:rPr lang="en-US" sz="2000" b="1" dirty="0"/>
              <a:t>terminate() </a:t>
            </a:r>
            <a:r>
              <a:rPr lang="en-US" sz="2000" dirty="0"/>
              <a:t>-&gt; </a:t>
            </a:r>
          </a:p>
          <a:p>
            <a:r>
              <a:rPr lang="en-US" sz="2000" dirty="0"/>
              <a:t>        fridge ! {self(), terminate},</a:t>
            </a:r>
          </a:p>
          <a:p>
            <a:r>
              <a:rPr lang="en-US" sz="2000" dirty="0"/>
              <a:t>        receive</a:t>
            </a:r>
          </a:p>
          <a:p>
            <a:r>
              <a:rPr lang="en-US" sz="2000" dirty="0"/>
              <a:t>           {fridge, </a:t>
            </a:r>
            <a:r>
              <a:rPr lang="en-US" sz="2000" dirty="0" err="1"/>
              <a:t>Msg</a:t>
            </a:r>
            <a:r>
              <a:rPr lang="en-US" sz="2000" dirty="0"/>
              <a:t>} -&gt; </a:t>
            </a:r>
            <a:r>
              <a:rPr lang="en-US" sz="2000" dirty="0" err="1"/>
              <a:t>Msg</a:t>
            </a:r>
            <a:endParaRPr lang="en-US" sz="2000" dirty="0"/>
          </a:p>
          <a:p>
            <a:r>
              <a:rPr lang="en-US" sz="2000" dirty="0"/>
              <a:t>        end.</a:t>
            </a:r>
          </a:p>
        </p:txBody>
      </p:sp>
    </p:spTree>
    <p:extLst>
      <p:ext uri="{BB962C8B-B14F-4D97-AF65-F5344CB8AC3E}">
        <p14:creationId xmlns:p14="http://schemas.microsoft.com/office/powerpoint/2010/main" val="1311552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720928" y="40713"/>
            <a:ext cx="2487091" cy="369332"/>
          </a:xfrm>
          <a:prstGeom prst="rect">
            <a:avLst/>
          </a:prstGeom>
          <a:noFill/>
        </p:spPr>
        <p:txBody>
          <a:bodyPr wrap="none" rtlCol="0">
            <a:spAutoFit/>
          </a:bodyPr>
          <a:lstStyle/>
          <a:p>
            <a:pPr marL="285750" indent="-285750">
              <a:buFont typeface="Wingdings" panose="05000000000000000000" pitchFamily="2" charset="2"/>
              <a:buChar char="Ø"/>
            </a:pPr>
            <a:r>
              <a:rPr lang="en-US" dirty="0"/>
              <a:t>receive … after … end</a:t>
            </a:r>
          </a:p>
        </p:txBody>
      </p:sp>
      <p:sp>
        <p:nvSpPr>
          <p:cNvPr id="2" name="Rectangle 1"/>
          <p:cNvSpPr/>
          <p:nvPr/>
        </p:nvSpPr>
        <p:spPr>
          <a:xfrm>
            <a:off x="560797" y="754348"/>
            <a:ext cx="6096000" cy="5355312"/>
          </a:xfrm>
          <a:prstGeom prst="rect">
            <a:avLst/>
          </a:prstGeom>
          <a:ln w="28575">
            <a:solidFill>
              <a:srgbClr val="CA1421"/>
            </a:solidFill>
          </a:ln>
        </p:spPr>
        <p:txBody>
          <a:bodyPr>
            <a:spAutoFit/>
          </a:bodyPr>
          <a:lstStyle/>
          <a:p>
            <a:pPr lvl="0"/>
            <a:r>
              <a:rPr lang="en-US" dirty="0" err="1">
                <a:solidFill>
                  <a:srgbClr val="000000"/>
                </a:solidFill>
              </a:rPr>
              <a:t>fridgef</a:t>
            </a:r>
            <a:r>
              <a:rPr lang="en-US" dirty="0">
                <a:solidFill>
                  <a:srgbClr val="000000"/>
                </a:solidFill>
              </a:rPr>
              <a:t>(</a:t>
            </a:r>
            <a:r>
              <a:rPr lang="en-US" dirty="0" err="1">
                <a:solidFill>
                  <a:srgbClr val="000000"/>
                </a:solidFill>
              </a:rPr>
              <a:t>FoodList</a:t>
            </a:r>
            <a:r>
              <a:rPr lang="en-US" dirty="0">
                <a:solidFill>
                  <a:srgbClr val="000000"/>
                </a:solidFill>
              </a:rPr>
              <a:t>) -&gt;</a:t>
            </a:r>
          </a:p>
          <a:p>
            <a:pPr lvl="0"/>
            <a:r>
              <a:rPr lang="en-US" dirty="0">
                <a:solidFill>
                  <a:srgbClr val="000000"/>
                </a:solidFill>
              </a:rPr>
              <a:t>  receive</a:t>
            </a:r>
          </a:p>
          <a:p>
            <a:pPr lvl="0"/>
            <a:r>
              <a:rPr lang="en-US" dirty="0">
                <a:solidFill>
                  <a:srgbClr val="000000"/>
                </a:solidFill>
              </a:rPr>
              <a:t>         {From, {store, Food}} -&gt; From ! {fridge, ok},</a:t>
            </a:r>
          </a:p>
          <a:p>
            <a:pPr lvl="0"/>
            <a:r>
              <a:rPr lang="en-US" dirty="0">
                <a:solidFill>
                  <a:srgbClr val="000000"/>
                </a:solidFill>
              </a:rPr>
              <a:t>                                                   </a:t>
            </a:r>
            <a:r>
              <a:rPr lang="en-US" dirty="0" err="1">
                <a:solidFill>
                  <a:srgbClr val="000000"/>
                </a:solidFill>
              </a:rPr>
              <a:t>fridgef</a:t>
            </a:r>
            <a:r>
              <a:rPr lang="en-US" dirty="0">
                <a:solidFill>
                  <a:srgbClr val="000000"/>
                </a:solidFill>
              </a:rPr>
              <a:t>([</a:t>
            </a:r>
            <a:r>
              <a:rPr lang="en-US" dirty="0" err="1">
                <a:solidFill>
                  <a:srgbClr val="000000"/>
                </a:solidFill>
              </a:rPr>
              <a:t>Food|FoodList</a:t>
            </a:r>
            <a:r>
              <a:rPr lang="en-US" dirty="0">
                <a:solidFill>
                  <a:srgbClr val="000000"/>
                </a:solidFill>
              </a:rPr>
              <a:t>]);</a:t>
            </a:r>
          </a:p>
          <a:p>
            <a:pPr lvl="0"/>
            <a:r>
              <a:rPr lang="en-US" dirty="0">
                <a:solidFill>
                  <a:srgbClr val="000000"/>
                </a:solidFill>
              </a:rPr>
              <a:t>         {From, {take, Food}} -&gt; </a:t>
            </a:r>
          </a:p>
          <a:p>
            <a:pPr lvl="0"/>
            <a:r>
              <a:rPr lang="en-US" dirty="0">
                <a:solidFill>
                  <a:srgbClr val="000000"/>
                </a:solidFill>
              </a:rPr>
              <a:t>                           case </a:t>
            </a:r>
            <a:r>
              <a:rPr lang="en-US" dirty="0" err="1">
                <a:solidFill>
                  <a:srgbClr val="000000"/>
                </a:solidFill>
              </a:rPr>
              <a:t>lists:member</a:t>
            </a:r>
            <a:r>
              <a:rPr lang="en-US" dirty="0">
                <a:solidFill>
                  <a:srgbClr val="000000"/>
                </a:solidFill>
              </a:rPr>
              <a:t>(Food, </a:t>
            </a:r>
            <a:r>
              <a:rPr lang="en-US" dirty="0" err="1">
                <a:solidFill>
                  <a:srgbClr val="000000"/>
                </a:solidFill>
              </a:rPr>
              <a:t>FoodList</a:t>
            </a:r>
            <a:r>
              <a:rPr lang="en-US" dirty="0">
                <a:solidFill>
                  <a:srgbClr val="000000"/>
                </a:solidFill>
              </a:rPr>
              <a:t>) of</a:t>
            </a:r>
          </a:p>
          <a:p>
            <a:pPr lvl="0"/>
            <a:r>
              <a:rPr lang="en-US" dirty="0">
                <a:solidFill>
                  <a:srgbClr val="000000"/>
                </a:solidFill>
              </a:rPr>
              <a:t>                               true -&gt;   From ! {fridge, {ok, Food}},</a:t>
            </a:r>
          </a:p>
          <a:p>
            <a:pPr lvl="0"/>
            <a:r>
              <a:rPr lang="en-US" dirty="0">
                <a:solidFill>
                  <a:srgbClr val="000000"/>
                </a:solidFill>
              </a:rPr>
              <a:t>                                               </a:t>
            </a:r>
            <a:r>
              <a:rPr lang="en-US" dirty="0" err="1">
                <a:solidFill>
                  <a:srgbClr val="000000"/>
                </a:solidFill>
              </a:rPr>
              <a:t>fridgef</a:t>
            </a:r>
            <a:r>
              <a:rPr lang="en-US" dirty="0">
                <a:solidFill>
                  <a:srgbClr val="000000"/>
                </a:solidFill>
              </a:rPr>
              <a:t>(</a:t>
            </a:r>
            <a:r>
              <a:rPr lang="en-US" dirty="0" err="1">
                <a:solidFill>
                  <a:srgbClr val="000000"/>
                </a:solidFill>
              </a:rPr>
              <a:t>lists:delete</a:t>
            </a:r>
            <a:r>
              <a:rPr lang="en-US" dirty="0">
                <a:solidFill>
                  <a:srgbClr val="000000"/>
                </a:solidFill>
              </a:rPr>
              <a:t>(Food, </a:t>
            </a:r>
            <a:r>
              <a:rPr lang="en-US" dirty="0" err="1">
                <a:solidFill>
                  <a:srgbClr val="000000"/>
                </a:solidFill>
              </a:rPr>
              <a:t>FoodList</a:t>
            </a:r>
            <a:r>
              <a:rPr lang="en-US" dirty="0">
                <a:solidFill>
                  <a:srgbClr val="000000"/>
                </a:solidFill>
              </a:rPr>
              <a:t>));</a:t>
            </a:r>
          </a:p>
          <a:p>
            <a:pPr lvl="0"/>
            <a:r>
              <a:rPr lang="en-US" dirty="0">
                <a:solidFill>
                  <a:srgbClr val="000000"/>
                </a:solidFill>
              </a:rPr>
              <a:t>                               false -&gt;  From ! {fridge, </a:t>
            </a:r>
            <a:r>
              <a:rPr lang="en-US" dirty="0" err="1">
                <a:solidFill>
                  <a:srgbClr val="000000"/>
                </a:solidFill>
              </a:rPr>
              <a:t>not_found</a:t>
            </a:r>
            <a:r>
              <a:rPr lang="en-US" dirty="0">
                <a:solidFill>
                  <a:srgbClr val="000000"/>
                </a:solidFill>
              </a:rPr>
              <a:t>},</a:t>
            </a:r>
          </a:p>
          <a:p>
            <a:pPr lvl="0"/>
            <a:r>
              <a:rPr lang="en-US" dirty="0">
                <a:solidFill>
                  <a:srgbClr val="000000"/>
                </a:solidFill>
              </a:rPr>
              <a:t>                                               </a:t>
            </a:r>
            <a:r>
              <a:rPr lang="en-US" dirty="0" err="1">
                <a:solidFill>
                  <a:srgbClr val="000000"/>
                </a:solidFill>
              </a:rPr>
              <a:t>fridgef</a:t>
            </a:r>
            <a:r>
              <a:rPr lang="en-US" dirty="0">
                <a:solidFill>
                  <a:srgbClr val="000000"/>
                </a:solidFill>
              </a:rPr>
              <a:t>(</a:t>
            </a:r>
            <a:r>
              <a:rPr lang="en-US" dirty="0" err="1">
                <a:solidFill>
                  <a:srgbClr val="000000"/>
                </a:solidFill>
              </a:rPr>
              <a:t>FoodList</a:t>
            </a:r>
            <a:r>
              <a:rPr lang="en-US" dirty="0">
                <a:solidFill>
                  <a:srgbClr val="000000"/>
                </a:solidFill>
              </a:rPr>
              <a:t>)</a:t>
            </a:r>
          </a:p>
          <a:p>
            <a:pPr lvl="0"/>
            <a:r>
              <a:rPr lang="en-US" dirty="0">
                <a:solidFill>
                  <a:srgbClr val="000000"/>
                </a:solidFill>
              </a:rPr>
              <a:t>                             end;</a:t>
            </a:r>
          </a:p>
          <a:p>
            <a:pPr lvl="0"/>
            <a:r>
              <a:rPr lang="en-US" dirty="0">
                <a:solidFill>
                  <a:srgbClr val="000000"/>
                </a:solidFill>
              </a:rPr>
              <a:t>          {</a:t>
            </a:r>
            <a:r>
              <a:rPr lang="en-US" dirty="0" err="1">
                <a:solidFill>
                  <a:srgbClr val="000000"/>
                </a:solidFill>
              </a:rPr>
              <a:t>From,show</a:t>
            </a:r>
            <a:r>
              <a:rPr lang="en-US" dirty="0">
                <a:solidFill>
                  <a:srgbClr val="000000"/>
                </a:solidFill>
              </a:rPr>
              <a:t>} -&gt;  From ! {fridge, </a:t>
            </a:r>
            <a:r>
              <a:rPr lang="en-US" dirty="0" err="1">
                <a:solidFill>
                  <a:srgbClr val="000000"/>
                </a:solidFill>
              </a:rPr>
              <a:t>FoodList</a:t>
            </a:r>
            <a:r>
              <a:rPr lang="en-US" dirty="0">
                <a:solidFill>
                  <a:srgbClr val="000000"/>
                </a:solidFill>
              </a:rPr>
              <a:t>},</a:t>
            </a:r>
          </a:p>
          <a:p>
            <a:pPr lvl="0"/>
            <a:r>
              <a:rPr lang="en-US" dirty="0">
                <a:solidFill>
                  <a:srgbClr val="000000"/>
                </a:solidFill>
              </a:rPr>
              <a:t>                                      </a:t>
            </a:r>
            <a:r>
              <a:rPr lang="en-US" dirty="0" err="1">
                <a:solidFill>
                  <a:srgbClr val="000000"/>
                </a:solidFill>
              </a:rPr>
              <a:t>fridgef</a:t>
            </a:r>
            <a:r>
              <a:rPr lang="en-US" dirty="0">
                <a:solidFill>
                  <a:srgbClr val="000000"/>
                </a:solidFill>
              </a:rPr>
              <a:t>(</a:t>
            </a:r>
            <a:r>
              <a:rPr lang="en-US" dirty="0" err="1">
                <a:solidFill>
                  <a:srgbClr val="000000"/>
                </a:solidFill>
              </a:rPr>
              <a:t>FoodList</a:t>
            </a:r>
            <a:r>
              <a:rPr lang="en-US" dirty="0">
                <a:solidFill>
                  <a:srgbClr val="000000"/>
                </a:solidFill>
              </a:rPr>
              <a:t>);</a:t>
            </a:r>
          </a:p>
          <a:p>
            <a:r>
              <a:rPr lang="en-US" dirty="0">
                <a:solidFill>
                  <a:srgbClr val="000000"/>
                </a:solidFill>
              </a:rPr>
              <a:t>         {</a:t>
            </a:r>
            <a:r>
              <a:rPr lang="en-US" dirty="0" err="1">
                <a:solidFill>
                  <a:srgbClr val="000000"/>
                </a:solidFill>
              </a:rPr>
              <a:t>From,terminate</a:t>
            </a:r>
            <a:r>
              <a:rPr lang="en-US" dirty="0">
                <a:solidFill>
                  <a:srgbClr val="000000"/>
                </a:solidFill>
              </a:rPr>
              <a:t>} -&gt; From ! {fridge, done}</a:t>
            </a:r>
          </a:p>
          <a:p>
            <a:pPr lvl="0"/>
            <a:r>
              <a:rPr lang="en-US" dirty="0">
                <a:solidFill>
                  <a:srgbClr val="000000"/>
                </a:solidFill>
              </a:rPr>
              <a:t>    </a:t>
            </a:r>
            <a:r>
              <a:rPr lang="en-US" dirty="0">
                <a:solidFill>
                  <a:srgbClr val="00B050"/>
                </a:solidFill>
              </a:rPr>
              <a:t>after 30000 -&gt;   timeout</a:t>
            </a:r>
          </a:p>
          <a:p>
            <a:pPr lvl="0"/>
            <a:r>
              <a:rPr lang="en-US" dirty="0">
                <a:solidFill>
                  <a:srgbClr val="000000"/>
                </a:solidFill>
              </a:rPr>
              <a:t>   end,</a:t>
            </a:r>
          </a:p>
          <a:p>
            <a:pPr lvl="0"/>
            <a:r>
              <a:rPr lang="en-US" b="1" dirty="0">
                <a:solidFill>
                  <a:srgbClr val="000000"/>
                </a:solidFill>
              </a:rPr>
              <a:t> receive</a:t>
            </a:r>
          </a:p>
          <a:p>
            <a:pPr lvl="0"/>
            <a:r>
              <a:rPr lang="en-US" b="1" dirty="0">
                <a:solidFill>
                  <a:srgbClr val="000000"/>
                </a:solidFill>
              </a:rPr>
              <a:t>      </a:t>
            </a:r>
            <a:r>
              <a:rPr lang="en-US" b="1" dirty="0" err="1">
                <a:solidFill>
                  <a:srgbClr val="000000"/>
                </a:solidFill>
              </a:rPr>
              <a:t>gata</a:t>
            </a:r>
            <a:r>
              <a:rPr lang="en-US" b="1" dirty="0">
                <a:solidFill>
                  <a:srgbClr val="000000"/>
                </a:solidFill>
              </a:rPr>
              <a:t> -&gt; </a:t>
            </a:r>
            <a:r>
              <a:rPr lang="en-US" b="1" dirty="0" err="1">
                <a:solidFill>
                  <a:srgbClr val="000000"/>
                </a:solidFill>
              </a:rPr>
              <a:t>io:format</a:t>
            </a:r>
            <a:r>
              <a:rPr lang="en-US" b="1" dirty="0">
                <a:solidFill>
                  <a:srgbClr val="000000"/>
                </a:solidFill>
              </a:rPr>
              <a:t>("</a:t>
            </a:r>
            <a:r>
              <a:rPr lang="en-US" b="1" dirty="0" err="1">
                <a:solidFill>
                  <a:srgbClr val="000000"/>
                </a:solidFill>
              </a:rPr>
              <a:t>Sunt</a:t>
            </a:r>
            <a:r>
              <a:rPr lang="en-US" b="1" dirty="0">
                <a:solidFill>
                  <a:srgbClr val="000000"/>
                </a:solidFill>
              </a:rPr>
              <a:t> </a:t>
            </a:r>
            <a:r>
              <a:rPr lang="en-US" b="1" dirty="0" err="1">
                <a:solidFill>
                  <a:srgbClr val="000000"/>
                </a:solidFill>
              </a:rPr>
              <a:t>gata~n</a:t>
            </a:r>
            <a:r>
              <a:rPr lang="en-US" b="1" dirty="0">
                <a:solidFill>
                  <a:srgbClr val="000000"/>
                </a:solidFill>
              </a:rPr>
              <a:t>")</a:t>
            </a:r>
          </a:p>
          <a:p>
            <a:pPr lvl="0"/>
            <a:r>
              <a:rPr lang="en-US" b="1" dirty="0">
                <a:solidFill>
                  <a:srgbClr val="000000"/>
                </a:solidFill>
              </a:rPr>
              <a:t> end.</a:t>
            </a:r>
          </a:p>
        </p:txBody>
      </p:sp>
      <p:pic>
        <p:nvPicPr>
          <p:cNvPr id="6" name="Picture 5"/>
          <p:cNvPicPr>
            <a:picLocks noChangeAspect="1"/>
          </p:cNvPicPr>
          <p:nvPr/>
        </p:nvPicPr>
        <p:blipFill>
          <a:blip r:embed="rId2"/>
          <a:stretch>
            <a:fillRect/>
          </a:stretch>
        </p:blipFill>
        <p:spPr>
          <a:xfrm>
            <a:off x="6867283" y="754348"/>
            <a:ext cx="4019934" cy="3295138"/>
          </a:xfrm>
          <a:prstGeom prst="rect">
            <a:avLst/>
          </a:prstGeom>
        </p:spPr>
        <p:style>
          <a:lnRef idx="2">
            <a:schemeClr val="dk1"/>
          </a:lnRef>
          <a:fillRef idx="1">
            <a:schemeClr val="lt1"/>
          </a:fillRef>
          <a:effectRef idx="0">
            <a:schemeClr val="dk1"/>
          </a:effectRef>
          <a:fontRef idx="minor">
            <a:schemeClr val="dk1"/>
          </a:fontRef>
        </p:style>
      </p:pic>
      <p:cxnSp>
        <p:nvCxnSpPr>
          <p:cNvPr id="17" name="Straight Arrow Connector 16"/>
          <p:cNvCxnSpPr>
            <a:cxnSpLocks/>
          </p:cNvCxnSpPr>
          <p:nvPr/>
        </p:nvCxnSpPr>
        <p:spPr>
          <a:xfrm flipH="1">
            <a:off x="8142514" y="1948543"/>
            <a:ext cx="1088571" cy="199208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816093" y="4257661"/>
            <a:ext cx="5136421" cy="1477328"/>
          </a:xfrm>
          <a:prstGeom prst="rect">
            <a:avLst/>
          </a:prstGeom>
          <a:noFill/>
        </p:spPr>
        <p:txBody>
          <a:bodyPr wrap="square" rtlCol="0">
            <a:spAutoFit/>
          </a:bodyPr>
          <a:lstStyle/>
          <a:p>
            <a:pPr marL="285750" indent="-285750">
              <a:buFont typeface="Arial" panose="020B0604020202020204" pitchFamily="34" charset="0"/>
              <a:buChar char="•"/>
            </a:pPr>
            <a:r>
              <a:rPr lang="en-US" dirty="0" err="1"/>
              <a:t>functia</a:t>
            </a:r>
            <a:r>
              <a:rPr lang="en-US" dirty="0"/>
              <a:t> </a:t>
            </a:r>
            <a:r>
              <a:rPr lang="en-US" dirty="0" err="1"/>
              <a:t>gata</a:t>
            </a:r>
            <a:r>
              <a:rPr lang="en-US" dirty="0"/>
              <a:t>() </a:t>
            </a:r>
            <a:r>
              <a:rPr lang="en-US" dirty="0" err="1"/>
              <a:t>intoarce</a:t>
            </a:r>
            <a:r>
              <a:rPr lang="en-US" dirty="0"/>
              <a:t> </a:t>
            </a:r>
            <a:r>
              <a:rPr lang="en-US" dirty="0" err="1"/>
              <a:t>imediat</a:t>
            </a:r>
            <a:r>
              <a:rPr lang="en-US" dirty="0"/>
              <a:t>, </a:t>
            </a:r>
          </a:p>
          <a:p>
            <a:r>
              <a:rPr lang="en-US" dirty="0"/>
              <a:t>     shell-</a:t>
            </a:r>
            <a:r>
              <a:rPr lang="en-US" dirty="0" err="1"/>
              <a:t>ul</a:t>
            </a:r>
            <a:r>
              <a:rPr lang="en-US" dirty="0"/>
              <a:t> nu </a:t>
            </a:r>
            <a:r>
              <a:rPr lang="en-US" dirty="0" err="1"/>
              <a:t>ramane</a:t>
            </a:r>
            <a:r>
              <a:rPr lang="en-US" dirty="0"/>
              <a:t> </a:t>
            </a:r>
            <a:r>
              <a:rPr lang="en-US" dirty="0" err="1"/>
              <a:t>blocat</a:t>
            </a:r>
            <a:endParaRPr lang="en-US" dirty="0"/>
          </a:p>
          <a:p>
            <a:pPr marL="285750" indent="-285750">
              <a:buFont typeface="Arial" panose="020B0604020202020204" pitchFamily="34" charset="0"/>
              <a:buChar char="•"/>
            </a:pPr>
            <a:r>
              <a:rPr lang="en-US" dirty="0"/>
              <a:t>se pot </a:t>
            </a:r>
            <a:r>
              <a:rPr lang="en-US" dirty="0" err="1"/>
              <a:t>trimite</a:t>
            </a:r>
            <a:r>
              <a:rPr lang="en-US" dirty="0"/>
              <a:t> </a:t>
            </a:r>
            <a:r>
              <a:rPr lang="en-US" dirty="0" err="1"/>
              <a:t>mesaje</a:t>
            </a:r>
            <a:r>
              <a:rPr lang="en-US" dirty="0"/>
              <a:t> </a:t>
            </a:r>
            <a:r>
              <a:rPr lang="en-US" dirty="0" err="1"/>
              <a:t>serverului</a:t>
            </a:r>
            <a:r>
              <a:rPr lang="en-US" dirty="0"/>
              <a:t> </a:t>
            </a:r>
          </a:p>
          <a:p>
            <a:pPr marL="285750" indent="-285750">
              <a:buFont typeface="Arial" panose="020B0604020202020204" pitchFamily="34" charset="0"/>
              <a:buChar char="•"/>
            </a:pPr>
            <a:r>
              <a:rPr lang="en-US" dirty="0" err="1"/>
              <a:t>mesajul</a:t>
            </a:r>
            <a:r>
              <a:rPr lang="en-US" dirty="0"/>
              <a:t> </a:t>
            </a:r>
            <a:r>
              <a:rPr lang="en-US" b="1" dirty="0" err="1"/>
              <a:t>gata</a:t>
            </a:r>
            <a:r>
              <a:rPr lang="en-US" b="1" dirty="0"/>
              <a:t> </a:t>
            </a:r>
            <a:r>
              <a:rPr lang="en-US" dirty="0" err="1"/>
              <a:t>este</a:t>
            </a:r>
            <a:r>
              <a:rPr lang="en-US" dirty="0"/>
              <a:t> </a:t>
            </a:r>
            <a:r>
              <a:rPr lang="en-US" dirty="0" err="1"/>
              <a:t>prelucrat</a:t>
            </a:r>
            <a:r>
              <a:rPr lang="en-US" dirty="0"/>
              <a:t> </a:t>
            </a:r>
            <a:r>
              <a:rPr lang="en-US" dirty="0" err="1"/>
              <a:t>dupa</a:t>
            </a:r>
            <a:r>
              <a:rPr lang="en-US" dirty="0"/>
              <a:t> </a:t>
            </a:r>
            <a:r>
              <a:rPr lang="en-US" dirty="0" err="1"/>
              <a:t>ce</a:t>
            </a:r>
            <a:r>
              <a:rPr lang="en-US" dirty="0"/>
              <a:t> au </a:t>
            </a:r>
            <a:r>
              <a:rPr lang="en-US" dirty="0" err="1"/>
              <a:t>trec</a:t>
            </a:r>
            <a:r>
              <a:rPr lang="en-US" dirty="0"/>
              <a:t> 30 sec </a:t>
            </a:r>
          </a:p>
          <a:p>
            <a:r>
              <a:rPr lang="en-US" dirty="0"/>
              <a:t>      </a:t>
            </a:r>
            <a:r>
              <a:rPr lang="en-US" dirty="0" err="1"/>
              <a:t>fara</a:t>
            </a:r>
            <a:r>
              <a:rPr lang="en-US" dirty="0"/>
              <a:t> o </a:t>
            </a:r>
            <a:r>
              <a:rPr lang="en-US" dirty="0" err="1"/>
              <a:t>comanda</a:t>
            </a:r>
            <a:r>
              <a:rPr lang="en-US" dirty="0"/>
              <a:t>  </a:t>
            </a:r>
            <a:r>
              <a:rPr lang="en-US" dirty="0" err="1"/>
              <a:t>prelucrata</a:t>
            </a:r>
            <a:r>
              <a:rPr lang="en-US" dirty="0"/>
              <a:t> de </a:t>
            </a:r>
            <a:r>
              <a:rPr lang="en-US" dirty="0" err="1"/>
              <a:t>primul</a:t>
            </a:r>
            <a:r>
              <a:rPr lang="en-US" dirty="0"/>
              <a:t> receive</a:t>
            </a:r>
          </a:p>
        </p:txBody>
      </p:sp>
      <p:sp>
        <p:nvSpPr>
          <p:cNvPr id="3" name="TextBox 2">
            <a:extLst>
              <a:ext uri="{FF2B5EF4-FFF2-40B4-BE49-F238E27FC236}">
                <a16:creationId xmlns:a16="http://schemas.microsoft.com/office/drawing/2014/main" id="{2C8EA4C2-54DA-6210-4F90-AC06362D090E}"/>
              </a:ext>
            </a:extLst>
          </p:cNvPr>
          <p:cNvSpPr txBox="1"/>
          <p:nvPr/>
        </p:nvSpPr>
        <p:spPr>
          <a:xfrm>
            <a:off x="3986916" y="4702629"/>
            <a:ext cx="2784673" cy="461665"/>
          </a:xfrm>
          <a:prstGeom prst="rect">
            <a:avLst/>
          </a:prstGeom>
          <a:ln w="28575">
            <a:solidFill>
              <a:srgbClr val="CA1421"/>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err="1"/>
              <a:t>gata</a:t>
            </a:r>
            <a:r>
              <a:rPr lang="en-US" sz="2400" dirty="0"/>
              <a:t>() -&gt; fridge ! </a:t>
            </a:r>
            <a:r>
              <a:rPr lang="en-US" sz="2400" dirty="0" err="1"/>
              <a:t>gata</a:t>
            </a:r>
            <a:endParaRPr lang="en-GB" sz="2400" dirty="0"/>
          </a:p>
        </p:txBody>
      </p:sp>
    </p:spTree>
    <p:extLst>
      <p:ext uri="{BB962C8B-B14F-4D97-AF65-F5344CB8AC3E}">
        <p14:creationId xmlns:p14="http://schemas.microsoft.com/office/powerpoint/2010/main" val="1058042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34135" y="381548"/>
            <a:ext cx="5424818" cy="954107"/>
          </a:xfrm>
          <a:prstGeom prst="rect">
            <a:avLst/>
          </a:prstGeom>
          <a:noFill/>
        </p:spPr>
        <p:txBody>
          <a:bodyPr wrap="none" rtlCol="0">
            <a:spAutoFit/>
          </a:bodyPr>
          <a:lstStyle/>
          <a:p>
            <a:pPr marL="285750" indent="-285750">
              <a:buFont typeface="Wingdings" panose="05000000000000000000" pitchFamily="2" charset="2"/>
              <a:buChar char="Ø"/>
            </a:pPr>
            <a:r>
              <a:rPr lang="en-US" sz="2800" dirty="0" err="1"/>
              <a:t>Implementarea</a:t>
            </a:r>
            <a:r>
              <a:rPr lang="en-US" sz="2800" dirty="0"/>
              <a:t> </a:t>
            </a:r>
            <a:r>
              <a:rPr lang="en-US" sz="2800" dirty="0" err="1"/>
              <a:t>unui</a:t>
            </a:r>
            <a:r>
              <a:rPr lang="en-US" sz="2800" dirty="0"/>
              <a:t> automat </a:t>
            </a:r>
            <a:r>
              <a:rPr lang="en-US" sz="2800" dirty="0" err="1"/>
              <a:t>finit</a:t>
            </a:r>
            <a:endParaRPr lang="en-US" sz="2800" dirty="0"/>
          </a:p>
          <a:p>
            <a:r>
              <a:rPr lang="en-US" sz="2800" dirty="0"/>
              <a:t>   (Finite-State Machine)</a:t>
            </a:r>
          </a:p>
        </p:txBody>
      </p:sp>
      <p:pic>
        <p:nvPicPr>
          <p:cNvPr id="3" name="Picture 2"/>
          <p:cNvPicPr>
            <a:picLocks noChangeAspect="1"/>
          </p:cNvPicPr>
          <p:nvPr/>
        </p:nvPicPr>
        <p:blipFill>
          <a:blip r:embed="rId2"/>
          <a:stretch>
            <a:fillRect/>
          </a:stretch>
        </p:blipFill>
        <p:spPr>
          <a:xfrm>
            <a:off x="58384" y="1651286"/>
            <a:ext cx="5044323" cy="2749676"/>
          </a:xfrm>
          <a:prstGeom prst="rect">
            <a:avLst/>
          </a:prstGeom>
        </p:spPr>
      </p:pic>
      <p:sp>
        <p:nvSpPr>
          <p:cNvPr id="4" name="TextBox 3"/>
          <p:cNvSpPr txBox="1"/>
          <p:nvPr/>
        </p:nvSpPr>
        <p:spPr>
          <a:xfrm>
            <a:off x="519694" y="4848294"/>
            <a:ext cx="8893910" cy="830997"/>
          </a:xfrm>
          <a:prstGeom prst="rect">
            <a:avLst/>
          </a:prstGeom>
          <a:noFill/>
        </p:spPr>
        <p:txBody>
          <a:bodyPr wrap="none" rtlCol="0">
            <a:spAutoFit/>
          </a:bodyPr>
          <a:lstStyle/>
          <a:p>
            <a:r>
              <a:rPr lang="en-US" sz="2400" dirty="0"/>
              <a:t>dog as a state-machine</a:t>
            </a:r>
          </a:p>
          <a:p>
            <a:r>
              <a:rPr lang="en-US" sz="2400" dirty="0">
                <a:hlinkClick r:id="rId3"/>
              </a:rPr>
              <a:t>http://learnyousomeerlang.com/finite-state-machines#what-are-they</a:t>
            </a:r>
            <a:endParaRPr lang="en-US" sz="2400" dirty="0"/>
          </a:p>
        </p:txBody>
      </p:sp>
      <p:sp>
        <p:nvSpPr>
          <p:cNvPr id="5" name="TextBox 4"/>
          <p:cNvSpPr txBox="1"/>
          <p:nvPr/>
        </p:nvSpPr>
        <p:spPr>
          <a:xfrm>
            <a:off x="5946890" y="1927476"/>
            <a:ext cx="5798126" cy="830997"/>
          </a:xfrm>
          <a:prstGeom prst="rect">
            <a:avLst/>
          </a:prstGeom>
          <a:noFill/>
        </p:spPr>
        <p:txBody>
          <a:bodyPr wrap="none" rtlCol="0">
            <a:spAutoFit/>
          </a:bodyPr>
          <a:lstStyle/>
          <a:p>
            <a:r>
              <a:rPr lang="en-US" sz="2400" dirty="0" err="1"/>
              <a:t>Starile</a:t>
            </a:r>
            <a:r>
              <a:rPr lang="en-US" sz="2400" dirty="0"/>
              <a:t> ={barks, sits, </a:t>
            </a:r>
            <a:r>
              <a:rPr lang="en-US" sz="2400" dirty="0" err="1"/>
              <a:t>wag_tail</a:t>
            </a:r>
            <a:r>
              <a:rPr lang="en-US" sz="2400" dirty="0"/>
              <a:t>}</a:t>
            </a:r>
          </a:p>
          <a:p>
            <a:r>
              <a:rPr lang="en-US" sz="2400" dirty="0" err="1"/>
              <a:t>Actiunile</a:t>
            </a:r>
            <a:r>
              <a:rPr lang="en-US" sz="2400" dirty="0"/>
              <a:t> ={</a:t>
            </a:r>
            <a:r>
              <a:rPr lang="en-US" sz="2400" dirty="0" err="1"/>
              <a:t>gets_petted</a:t>
            </a:r>
            <a:r>
              <a:rPr lang="en-US" sz="2400" dirty="0"/>
              <a:t>, </a:t>
            </a:r>
            <a:r>
              <a:rPr lang="en-US" sz="2400" dirty="0" err="1"/>
              <a:t>see_squirrels</a:t>
            </a:r>
            <a:r>
              <a:rPr lang="en-US" sz="2400" dirty="0"/>
              <a:t>, waits}</a:t>
            </a:r>
          </a:p>
        </p:txBody>
      </p:sp>
    </p:spTree>
    <p:extLst>
      <p:ext uri="{BB962C8B-B14F-4D97-AF65-F5344CB8AC3E}">
        <p14:creationId xmlns:p14="http://schemas.microsoft.com/office/powerpoint/2010/main" val="456438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9790" y="1432448"/>
            <a:ext cx="6543333" cy="3416320"/>
          </a:xfrm>
          <a:prstGeom prst="rect">
            <a:avLst/>
          </a:prstGeom>
          <a:ln w="28575">
            <a:solidFill>
              <a:srgbClr val="C00000"/>
            </a:solidFill>
          </a:ln>
        </p:spPr>
        <p:txBody>
          <a:bodyPr wrap="square">
            <a:spAutoFit/>
          </a:bodyPr>
          <a:lstStyle/>
          <a:p>
            <a:r>
              <a:rPr lang="en-US" sz="2400" dirty="0"/>
              <a:t>-module(</a:t>
            </a:r>
            <a:r>
              <a:rPr lang="en-US" sz="2400" dirty="0" err="1"/>
              <a:t>dog_fsm</a:t>
            </a:r>
            <a:r>
              <a:rPr lang="en-US" sz="2400" dirty="0"/>
              <a:t>).</a:t>
            </a:r>
          </a:p>
          <a:p>
            <a:r>
              <a:rPr lang="en-US" sz="2400" dirty="0"/>
              <a:t>-export([start/0, squirrel/1, pet/1]).</a:t>
            </a:r>
          </a:p>
          <a:p>
            <a:r>
              <a:rPr lang="en-US" sz="2400" dirty="0"/>
              <a:t> </a:t>
            </a:r>
          </a:p>
          <a:p>
            <a:endParaRPr lang="en-US" sz="2400" dirty="0"/>
          </a:p>
          <a:p>
            <a:r>
              <a:rPr lang="en-US" sz="2400" dirty="0"/>
              <a:t>%</a:t>
            </a:r>
            <a:r>
              <a:rPr lang="en-US" sz="2400" i="1" dirty="0" err="1"/>
              <a:t>actiunea</a:t>
            </a:r>
            <a:r>
              <a:rPr lang="en-US" sz="2400" i="1" dirty="0"/>
              <a:t>  </a:t>
            </a:r>
            <a:r>
              <a:rPr lang="en-US" sz="2400" i="1" dirty="0" err="1"/>
              <a:t>see_squirrels</a:t>
            </a:r>
            <a:endParaRPr lang="en-US" sz="2400" i="1" dirty="0"/>
          </a:p>
          <a:p>
            <a:r>
              <a:rPr lang="en-US" sz="2400" b="1" dirty="0">
                <a:solidFill>
                  <a:srgbClr val="0070C0"/>
                </a:solidFill>
              </a:rPr>
              <a:t>squirrel</a:t>
            </a:r>
            <a:r>
              <a:rPr lang="en-US" sz="2400" dirty="0"/>
              <a:t>(</a:t>
            </a:r>
            <a:r>
              <a:rPr lang="en-US" sz="2400" dirty="0" err="1"/>
              <a:t>Pid</a:t>
            </a:r>
            <a:r>
              <a:rPr lang="en-US" sz="2400" dirty="0"/>
              <a:t>) -&gt; </a:t>
            </a:r>
            <a:r>
              <a:rPr lang="en-US" sz="2400" dirty="0" err="1"/>
              <a:t>Pid</a:t>
            </a:r>
            <a:r>
              <a:rPr lang="en-US" sz="2400" dirty="0"/>
              <a:t> ! </a:t>
            </a:r>
            <a:r>
              <a:rPr lang="en-US" sz="2400" b="1" dirty="0">
                <a:solidFill>
                  <a:srgbClr val="0070C0"/>
                </a:solidFill>
              </a:rPr>
              <a:t>squirrel</a:t>
            </a:r>
            <a:r>
              <a:rPr lang="en-US" sz="2400" dirty="0"/>
              <a:t>. </a:t>
            </a:r>
          </a:p>
          <a:p>
            <a:r>
              <a:rPr lang="en-US" sz="2400" dirty="0"/>
              <a:t> </a:t>
            </a:r>
          </a:p>
          <a:p>
            <a:r>
              <a:rPr lang="en-US" sz="2400" dirty="0"/>
              <a:t>%</a:t>
            </a:r>
            <a:r>
              <a:rPr lang="en-US" sz="2400" i="1" dirty="0" err="1"/>
              <a:t>actiunea</a:t>
            </a:r>
            <a:r>
              <a:rPr lang="en-US" sz="2400" i="1" dirty="0"/>
              <a:t>  </a:t>
            </a:r>
            <a:r>
              <a:rPr lang="en-US" sz="2400" i="1" dirty="0" err="1"/>
              <a:t>gets_petted</a:t>
            </a:r>
            <a:r>
              <a:rPr lang="en-US" sz="2400" i="1" dirty="0"/>
              <a:t> </a:t>
            </a:r>
          </a:p>
          <a:p>
            <a:r>
              <a:rPr lang="en-US" sz="2400" b="1" dirty="0">
                <a:solidFill>
                  <a:srgbClr val="0070C0"/>
                </a:solidFill>
              </a:rPr>
              <a:t>pet</a:t>
            </a:r>
            <a:r>
              <a:rPr lang="en-US" sz="2400" dirty="0"/>
              <a:t>(</a:t>
            </a:r>
            <a:r>
              <a:rPr lang="en-US" sz="2400" dirty="0" err="1"/>
              <a:t>Pid</a:t>
            </a:r>
            <a:r>
              <a:rPr lang="en-US" sz="2400" dirty="0"/>
              <a:t>) -&gt; </a:t>
            </a:r>
            <a:r>
              <a:rPr lang="en-US" sz="2400" dirty="0" err="1"/>
              <a:t>Pid</a:t>
            </a:r>
            <a:r>
              <a:rPr lang="en-US" sz="2400" dirty="0"/>
              <a:t> ! </a:t>
            </a:r>
            <a:r>
              <a:rPr lang="en-US" sz="2400" b="1" dirty="0">
                <a:solidFill>
                  <a:srgbClr val="0070C0"/>
                </a:solidFill>
              </a:rPr>
              <a:t>pet</a:t>
            </a:r>
            <a:r>
              <a:rPr lang="en-US" dirty="0"/>
              <a:t>.</a:t>
            </a:r>
          </a:p>
        </p:txBody>
      </p:sp>
      <p:pic>
        <p:nvPicPr>
          <p:cNvPr id="3" name="Picture 2"/>
          <p:cNvPicPr>
            <a:picLocks noChangeAspect="1"/>
          </p:cNvPicPr>
          <p:nvPr/>
        </p:nvPicPr>
        <p:blipFill>
          <a:blip r:embed="rId2"/>
          <a:stretch>
            <a:fillRect/>
          </a:stretch>
        </p:blipFill>
        <p:spPr>
          <a:xfrm>
            <a:off x="7299658" y="1040062"/>
            <a:ext cx="4892342" cy="2668012"/>
          </a:xfrm>
          <a:prstGeom prst="rect">
            <a:avLst/>
          </a:prstGeom>
        </p:spPr>
      </p:pic>
      <p:sp>
        <p:nvSpPr>
          <p:cNvPr id="5" name="TextBox 4"/>
          <p:cNvSpPr txBox="1"/>
          <p:nvPr/>
        </p:nvSpPr>
        <p:spPr>
          <a:xfrm>
            <a:off x="1256478" y="276294"/>
            <a:ext cx="5506572"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Implementarea</a:t>
            </a:r>
            <a:r>
              <a:rPr lang="en-US" sz="2800" dirty="0"/>
              <a:t> </a:t>
            </a:r>
            <a:r>
              <a:rPr lang="en-US" sz="2800" dirty="0" err="1"/>
              <a:t>unui</a:t>
            </a:r>
            <a:r>
              <a:rPr lang="en-US" sz="2800" dirty="0"/>
              <a:t> automat </a:t>
            </a:r>
            <a:r>
              <a:rPr lang="en-US" sz="2800" dirty="0" err="1"/>
              <a:t>finit</a:t>
            </a:r>
            <a:endParaRPr lang="en-US" sz="2800" dirty="0"/>
          </a:p>
        </p:txBody>
      </p:sp>
      <p:sp>
        <p:nvSpPr>
          <p:cNvPr id="6" name="Oval 5"/>
          <p:cNvSpPr/>
          <p:nvPr/>
        </p:nvSpPr>
        <p:spPr>
          <a:xfrm>
            <a:off x="7644118" y="2627551"/>
            <a:ext cx="177618" cy="17103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a:off x="7772398" y="2798590"/>
            <a:ext cx="269715" cy="4539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662752" y="4472512"/>
            <a:ext cx="5619102" cy="830997"/>
          </a:xfrm>
          <a:prstGeom prst="rect">
            <a:avLst/>
          </a:prstGeom>
          <a:ln/>
        </p:spPr>
        <p:style>
          <a:lnRef idx="2">
            <a:schemeClr val="dk1"/>
          </a:lnRef>
          <a:fillRef idx="1">
            <a:schemeClr val="lt1"/>
          </a:fillRef>
          <a:effectRef idx="0">
            <a:schemeClr val="dk1"/>
          </a:effectRef>
          <a:fontRef idx="minor">
            <a:schemeClr val="dk1"/>
          </a:fontRef>
        </p:style>
        <p:txBody>
          <a:bodyPr wrap="none" rtlCol="0">
            <a:spAutoFit/>
          </a:bodyPr>
          <a:lstStyle/>
          <a:p>
            <a:r>
              <a:rPr lang="en-US" sz="2400" b="1" dirty="0" err="1"/>
              <a:t>Actiunile</a:t>
            </a:r>
            <a:r>
              <a:rPr lang="en-US" sz="2400" dirty="0"/>
              <a:t> sunt </a:t>
            </a:r>
            <a:r>
              <a:rPr lang="en-US" sz="2400" dirty="0" err="1"/>
              <a:t>implementate</a:t>
            </a:r>
            <a:r>
              <a:rPr lang="en-US" sz="2400" dirty="0"/>
              <a:t> </a:t>
            </a:r>
            <a:r>
              <a:rPr lang="en-US" sz="2400" dirty="0" err="1"/>
              <a:t>prin</a:t>
            </a:r>
            <a:r>
              <a:rPr lang="en-US" sz="2400" dirty="0"/>
              <a:t> </a:t>
            </a:r>
            <a:r>
              <a:rPr lang="en-US" sz="2400" dirty="0" err="1"/>
              <a:t>mesaje</a:t>
            </a:r>
            <a:r>
              <a:rPr lang="en-US" sz="2400" dirty="0"/>
              <a:t> </a:t>
            </a:r>
            <a:r>
              <a:rPr lang="en-US" sz="2400" dirty="0" err="1"/>
              <a:t>si</a:t>
            </a:r>
            <a:r>
              <a:rPr lang="en-US" sz="2400" dirty="0"/>
              <a:t> </a:t>
            </a:r>
          </a:p>
          <a:p>
            <a:r>
              <a:rPr lang="en-US" sz="2400" dirty="0" err="1"/>
              <a:t>sunt</a:t>
            </a:r>
            <a:r>
              <a:rPr lang="en-US" sz="2400" dirty="0"/>
              <a:t> </a:t>
            </a:r>
            <a:r>
              <a:rPr lang="en-US" sz="2400" dirty="0" err="1"/>
              <a:t>vizibile</a:t>
            </a:r>
            <a:r>
              <a:rPr lang="en-US" sz="2400" dirty="0"/>
              <a:t> in exterior</a:t>
            </a:r>
          </a:p>
        </p:txBody>
      </p:sp>
    </p:spTree>
    <p:extLst>
      <p:ext uri="{BB962C8B-B14F-4D97-AF65-F5344CB8AC3E}">
        <p14:creationId xmlns:p14="http://schemas.microsoft.com/office/powerpoint/2010/main" val="37743061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3801" y="1124032"/>
            <a:ext cx="6577442" cy="4893647"/>
          </a:xfrm>
          <a:prstGeom prst="rect">
            <a:avLst/>
          </a:prstGeom>
          <a:ln w="28575">
            <a:solidFill>
              <a:srgbClr val="C0000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400" b="1" dirty="0"/>
              <a:t>start() -&gt;</a:t>
            </a:r>
          </a:p>
          <a:p>
            <a:r>
              <a:rPr lang="en-US" sz="2400" b="1" dirty="0"/>
              <a:t>      spawn(fun() -&gt; bark() end).     % </a:t>
            </a:r>
            <a:r>
              <a:rPr lang="en-US" sz="2400" b="1" i="1" dirty="0" err="1"/>
              <a:t>starea</a:t>
            </a:r>
            <a:r>
              <a:rPr lang="en-US" sz="2400" b="1" i="1" dirty="0"/>
              <a:t> </a:t>
            </a:r>
            <a:r>
              <a:rPr lang="en-US" sz="2400" b="1" i="1" dirty="0" err="1"/>
              <a:t>initiala</a:t>
            </a:r>
            <a:r>
              <a:rPr lang="en-US" sz="2400" b="1" i="1" dirty="0"/>
              <a:t>  </a:t>
            </a:r>
          </a:p>
          <a:p>
            <a:endParaRPr lang="en-US" sz="2400" dirty="0"/>
          </a:p>
          <a:p>
            <a:r>
              <a:rPr lang="en-US" sz="2400" b="1" dirty="0"/>
              <a:t>bark() </a:t>
            </a:r>
            <a:r>
              <a:rPr lang="en-US" sz="2400" dirty="0"/>
              <a:t>-&gt;</a:t>
            </a:r>
          </a:p>
          <a:p>
            <a:r>
              <a:rPr lang="en-US" sz="2400" dirty="0"/>
              <a:t>     </a:t>
            </a:r>
            <a:r>
              <a:rPr lang="en-US" sz="2400" dirty="0" err="1"/>
              <a:t>io:format</a:t>
            </a:r>
            <a:r>
              <a:rPr lang="en-US" sz="2400" dirty="0"/>
              <a:t>("Dog says: BARK! BARK!~n"),</a:t>
            </a:r>
          </a:p>
          <a:p>
            <a:r>
              <a:rPr lang="en-US" sz="2400" dirty="0"/>
              <a:t>    receive</a:t>
            </a:r>
          </a:p>
          <a:p>
            <a:r>
              <a:rPr lang="en-US" sz="2400" dirty="0"/>
              <a:t>      </a:t>
            </a:r>
            <a:r>
              <a:rPr lang="en-US" sz="2400" b="1" dirty="0">
                <a:solidFill>
                  <a:srgbClr val="0070C0"/>
                </a:solidFill>
              </a:rPr>
              <a:t>pet</a:t>
            </a:r>
            <a:r>
              <a:rPr lang="en-US" sz="2400" dirty="0"/>
              <a:t> -&gt;  </a:t>
            </a:r>
            <a:r>
              <a:rPr lang="en-US" sz="2400" b="1" dirty="0" err="1"/>
              <a:t>wag_tail</a:t>
            </a:r>
            <a:r>
              <a:rPr lang="en-US" sz="2400" b="1" dirty="0"/>
              <a:t>();</a:t>
            </a:r>
          </a:p>
          <a:p>
            <a:endParaRPr lang="en-US" sz="2400" dirty="0"/>
          </a:p>
          <a:p>
            <a:r>
              <a:rPr lang="en-US" sz="2400" dirty="0"/>
              <a:t>        _ -&gt;  </a:t>
            </a:r>
            <a:r>
              <a:rPr lang="en-US" sz="2400" dirty="0" err="1"/>
              <a:t>io:format</a:t>
            </a:r>
            <a:r>
              <a:rPr lang="en-US" sz="2400" dirty="0"/>
              <a:t>("Dog is </a:t>
            </a:r>
            <a:r>
              <a:rPr lang="en-US" sz="2400" dirty="0" err="1"/>
              <a:t>confused~n</a:t>
            </a:r>
            <a:r>
              <a:rPr lang="en-US" sz="2400" dirty="0"/>
              <a:t>"),</a:t>
            </a:r>
          </a:p>
          <a:p>
            <a:r>
              <a:rPr lang="en-US" sz="2400" dirty="0"/>
              <a:t>                 bark()</a:t>
            </a:r>
          </a:p>
          <a:p>
            <a:endParaRPr lang="en-US" sz="2400" dirty="0"/>
          </a:p>
          <a:p>
            <a:r>
              <a:rPr lang="en-US" sz="2400" dirty="0"/>
              <a:t>   after 2000 -&gt;  bark()</a:t>
            </a:r>
          </a:p>
          <a:p>
            <a:r>
              <a:rPr lang="en-US" sz="2400" dirty="0"/>
              <a:t>end.</a:t>
            </a:r>
          </a:p>
        </p:txBody>
      </p:sp>
      <p:pic>
        <p:nvPicPr>
          <p:cNvPr id="6" name="Picture 5"/>
          <p:cNvPicPr>
            <a:picLocks noChangeAspect="1"/>
          </p:cNvPicPr>
          <p:nvPr/>
        </p:nvPicPr>
        <p:blipFill>
          <a:blip r:embed="rId2"/>
          <a:stretch>
            <a:fillRect/>
          </a:stretch>
        </p:blipFill>
        <p:spPr>
          <a:xfrm>
            <a:off x="7469688" y="2094994"/>
            <a:ext cx="4639513" cy="2668012"/>
          </a:xfrm>
          <a:prstGeom prst="rect">
            <a:avLst/>
          </a:prstGeom>
        </p:spPr>
      </p:pic>
      <p:sp>
        <p:nvSpPr>
          <p:cNvPr id="3" name="TextBox 2"/>
          <p:cNvSpPr txBox="1"/>
          <p:nvPr/>
        </p:nvSpPr>
        <p:spPr>
          <a:xfrm>
            <a:off x="947292" y="348656"/>
            <a:ext cx="5506572"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Implementarea</a:t>
            </a:r>
            <a:r>
              <a:rPr lang="en-US" sz="2800" dirty="0"/>
              <a:t> </a:t>
            </a:r>
            <a:r>
              <a:rPr lang="en-US" sz="2800" dirty="0" err="1"/>
              <a:t>unui</a:t>
            </a:r>
            <a:r>
              <a:rPr lang="en-US" sz="2800" dirty="0"/>
              <a:t> automat </a:t>
            </a:r>
            <a:r>
              <a:rPr lang="en-US" sz="2800" dirty="0" err="1"/>
              <a:t>finit</a:t>
            </a:r>
            <a:endParaRPr lang="en-US" sz="2800" dirty="0"/>
          </a:p>
        </p:txBody>
      </p:sp>
      <p:sp>
        <p:nvSpPr>
          <p:cNvPr id="4" name="TextBox 3">
            <a:extLst>
              <a:ext uri="{FF2B5EF4-FFF2-40B4-BE49-F238E27FC236}">
                <a16:creationId xmlns:a16="http://schemas.microsoft.com/office/drawing/2014/main" id="{0CCD2C78-FE05-F48E-9F4C-B43C02B9A903}"/>
              </a:ext>
            </a:extLst>
          </p:cNvPr>
          <p:cNvSpPr txBox="1"/>
          <p:nvPr/>
        </p:nvSpPr>
        <p:spPr>
          <a:xfrm>
            <a:off x="5815461" y="5318469"/>
            <a:ext cx="4176656" cy="83099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400" b="1" dirty="0" err="1"/>
              <a:t>Starile</a:t>
            </a:r>
            <a:r>
              <a:rPr lang="en-US" sz="2400" dirty="0"/>
              <a:t> sunt </a:t>
            </a:r>
            <a:r>
              <a:rPr lang="en-US" sz="2400" dirty="0" err="1"/>
              <a:t>definte</a:t>
            </a:r>
            <a:r>
              <a:rPr lang="en-US" sz="2400" dirty="0"/>
              <a:t> </a:t>
            </a:r>
            <a:r>
              <a:rPr lang="en-US" sz="2400" dirty="0" err="1"/>
              <a:t>prin</a:t>
            </a:r>
            <a:r>
              <a:rPr lang="en-US" sz="2400" dirty="0"/>
              <a:t> </a:t>
            </a:r>
            <a:r>
              <a:rPr lang="en-US" sz="2400" dirty="0" err="1"/>
              <a:t>expresii</a:t>
            </a:r>
            <a:endParaRPr lang="en-US" sz="2400" dirty="0"/>
          </a:p>
          <a:p>
            <a:r>
              <a:rPr lang="en-US" sz="2400" dirty="0"/>
              <a:t>    receive…end…after </a:t>
            </a:r>
            <a:endParaRPr lang="en-GB" sz="2400" dirty="0"/>
          </a:p>
        </p:txBody>
      </p:sp>
      <p:sp>
        <p:nvSpPr>
          <p:cNvPr id="5" name="TextBox 4">
            <a:extLst>
              <a:ext uri="{FF2B5EF4-FFF2-40B4-BE49-F238E27FC236}">
                <a16:creationId xmlns:a16="http://schemas.microsoft.com/office/drawing/2014/main" id="{95D504BC-BD1C-A0AE-A29D-0526DC8CE7AA}"/>
              </a:ext>
            </a:extLst>
          </p:cNvPr>
          <p:cNvSpPr txBox="1"/>
          <p:nvPr/>
        </p:nvSpPr>
        <p:spPr>
          <a:xfrm flipH="1">
            <a:off x="3749040" y="3352800"/>
            <a:ext cx="1526338" cy="46166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b="1" dirty="0" err="1"/>
              <a:t>Tranzitiile</a:t>
            </a:r>
            <a:endParaRPr lang="en-GB" sz="2400" b="1" dirty="0"/>
          </a:p>
        </p:txBody>
      </p:sp>
    </p:spTree>
    <p:extLst>
      <p:ext uri="{BB962C8B-B14F-4D97-AF65-F5344CB8AC3E}">
        <p14:creationId xmlns:p14="http://schemas.microsoft.com/office/powerpoint/2010/main" val="2355892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6326" y="1309568"/>
            <a:ext cx="6740686" cy="4524315"/>
          </a:xfrm>
          <a:prstGeom prst="rect">
            <a:avLst/>
          </a:prstGeom>
          <a:ln w="28575">
            <a:solidFill>
              <a:srgbClr val="C00000"/>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2400" dirty="0" err="1"/>
              <a:t>wag_tail</a:t>
            </a:r>
            <a:r>
              <a:rPr lang="en-US" sz="2400" dirty="0"/>
              <a:t>() -&gt;</a:t>
            </a:r>
          </a:p>
          <a:p>
            <a:r>
              <a:rPr lang="en-US" sz="2400" dirty="0"/>
              <a:t>         </a:t>
            </a:r>
            <a:r>
              <a:rPr lang="en-US" sz="2400" dirty="0" err="1"/>
              <a:t>io:format</a:t>
            </a:r>
            <a:r>
              <a:rPr lang="en-US" sz="2400" dirty="0"/>
              <a:t>("Dog wags its </a:t>
            </a:r>
            <a:r>
              <a:rPr lang="en-US" sz="2400" dirty="0" err="1"/>
              <a:t>tail~n</a:t>
            </a:r>
            <a:r>
              <a:rPr lang="en-US" sz="2400" dirty="0"/>
              <a:t>"),</a:t>
            </a:r>
          </a:p>
          <a:p>
            <a:r>
              <a:rPr lang="en-US" sz="2400" dirty="0"/>
              <a:t>         receive</a:t>
            </a:r>
          </a:p>
          <a:p>
            <a:r>
              <a:rPr lang="en-US" sz="2400" dirty="0"/>
              <a:t>               pet -&gt;  sit();</a:t>
            </a:r>
          </a:p>
          <a:p>
            <a:endParaRPr lang="en-US" sz="2400" dirty="0"/>
          </a:p>
          <a:p>
            <a:r>
              <a:rPr lang="en-US" sz="2400" dirty="0"/>
              <a:t>                _ -&gt;  </a:t>
            </a:r>
            <a:r>
              <a:rPr lang="en-US" sz="2400" dirty="0" err="1"/>
              <a:t>io:format</a:t>
            </a:r>
            <a:r>
              <a:rPr lang="en-US" sz="2400" dirty="0"/>
              <a:t>("Dog is </a:t>
            </a:r>
            <a:r>
              <a:rPr lang="en-US" sz="2400" dirty="0" err="1"/>
              <a:t>confused~n</a:t>
            </a:r>
            <a:r>
              <a:rPr lang="en-US" sz="2400" dirty="0"/>
              <a:t>"),</a:t>
            </a:r>
          </a:p>
          <a:p>
            <a:r>
              <a:rPr lang="en-US" sz="2400" dirty="0"/>
              <a:t>                         </a:t>
            </a:r>
            <a:r>
              <a:rPr lang="en-US" sz="2400" dirty="0" err="1"/>
              <a:t>wag_tail</a:t>
            </a:r>
            <a:r>
              <a:rPr lang="en-US" sz="2400" dirty="0"/>
              <a:t>()</a:t>
            </a:r>
          </a:p>
          <a:p>
            <a:r>
              <a:rPr lang="en-US" sz="2400" dirty="0"/>
              <a:t> </a:t>
            </a:r>
          </a:p>
          <a:p>
            <a:r>
              <a:rPr lang="en-US" sz="2400" dirty="0"/>
              <a:t>        after 30000 -&gt;</a:t>
            </a:r>
          </a:p>
          <a:p>
            <a:r>
              <a:rPr lang="en-US" sz="2400" dirty="0"/>
              <a:t>                            bark()      % </a:t>
            </a:r>
            <a:r>
              <a:rPr lang="en-US" sz="2400" i="1" dirty="0" err="1"/>
              <a:t>actiunea</a:t>
            </a:r>
            <a:r>
              <a:rPr lang="en-US" sz="2400" i="1" dirty="0"/>
              <a:t> waits</a:t>
            </a:r>
          </a:p>
          <a:p>
            <a:endParaRPr lang="en-US" sz="2400" dirty="0"/>
          </a:p>
          <a:p>
            <a:r>
              <a:rPr lang="en-US" sz="2400" dirty="0"/>
              <a:t>        end.</a:t>
            </a:r>
          </a:p>
        </p:txBody>
      </p:sp>
      <p:pic>
        <p:nvPicPr>
          <p:cNvPr id="6" name="Picture 5"/>
          <p:cNvPicPr>
            <a:picLocks noChangeAspect="1"/>
          </p:cNvPicPr>
          <p:nvPr/>
        </p:nvPicPr>
        <p:blipFill>
          <a:blip r:embed="rId2"/>
          <a:stretch>
            <a:fillRect/>
          </a:stretch>
        </p:blipFill>
        <p:spPr>
          <a:xfrm>
            <a:off x="7299658" y="2090885"/>
            <a:ext cx="4892342" cy="2668012"/>
          </a:xfrm>
          <a:prstGeom prst="rect">
            <a:avLst/>
          </a:prstGeom>
        </p:spPr>
      </p:pic>
      <p:sp>
        <p:nvSpPr>
          <p:cNvPr id="3" name="Rectangle 2"/>
          <p:cNvSpPr/>
          <p:nvPr/>
        </p:nvSpPr>
        <p:spPr>
          <a:xfrm>
            <a:off x="296107" y="330095"/>
            <a:ext cx="5161285" cy="523220"/>
          </a:xfrm>
          <a:prstGeom prst="rect">
            <a:avLst/>
          </a:prstGeom>
        </p:spPr>
        <p:txBody>
          <a:bodyPr wrap="none">
            <a:spAutoFit/>
          </a:bodyPr>
          <a:lstStyle/>
          <a:p>
            <a:pPr marL="285750" indent="-285750">
              <a:buFont typeface="Wingdings" panose="05000000000000000000" pitchFamily="2" charset="2"/>
              <a:buChar char="Ø"/>
            </a:pPr>
            <a:r>
              <a:rPr lang="en-US" sz="2800" dirty="0"/>
              <a:t> Automat </a:t>
            </a:r>
            <a:r>
              <a:rPr lang="en-US" sz="2800" dirty="0" err="1"/>
              <a:t>finit</a:t>
            </a:r>
            <a:r>
              <a:rPr lang="en-US" sz="2800" dirty="0"/>
              <a:t>: </a:t>
            </a:r>
            <a:r>
              <a:rPr lang="en-US" sz="2800" dirty="0" err="1"/>
              <a:t>definirea</a:t>
            </a:r>
            <a:r>
              <a:rPr lang="en-US" sz="2800" dirty="0"/>
              <a:t> </a:t>
            </a:r>
            <a:r>
              <a:rPr lang="en-US" sz="2800" dirty="0" err="1"/>
              <a:t>starilor</a:t>
            </a:r>
            <a:endParaRPr lang="en-US" sz="2800" dirty="0"/>
          </a:p>
        </p:txBody>
      </p:sp>
      <p:sp>
        <p:nvSpPr>
          <p:cNvPr id="7" name="TextBox 6"/>
          <p:cNvSpPr txBox="1"/>
          <p:nvPr/>
        </p:nvSpPr>
        <p:spPr>
          <a:xfrm>
            <a:off x="3144484" y="5649217"/>
            <a:ext cx="184731" cy="369332"/>
          </a:xfrm>
          <a:prstGeom prst="rect">
            <a:avLst/>
          </a:prstGeom>
          <a:noFill/>
          <a:ln>
            <a:solidFill>
              <a:schemeClr val="tx1"/>
            </a:solidFill>
          </a:ln>
        </p:spPr>
        <p:txBody>
          <a:bodyPr wrap="none" rtlCol="0">
            <a:spAutoFit/>
          </a:bodyPr>
          <a:lstStyle/>
          <a:p>
            <a:endParaRPr lang="en-US" i="1" dirty="0"/>
          </a:p>
        </p:txBody>
      </p:sp>
    </p:spTree>
    <p:extLst>
      <p:ext uri="{BB962C8B-B14F-4D97-AF65-F5344CB8AC3E}">
        <p14:creationId xmlns:p14="http://schemas.microsoft.com/office/powerpoint/2010/main" val="1495741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48278" y="1985036"/>
            <a:ext cx="6595960" cy="3046988"/>
          </a:xfrm>
          <a:prstGeom prst="rect">
            <a:avLst/>
          </a:prstGeom>
          <a:ln w="28575">
            <a:solidFill>
              <a:srgbClr val="C00000"/>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sz="2400" dirty="0"/>
              <a:t>sit() -&gt;</a:t>
            </a:r>
          </a:p>
          <a:p>
            <a:r>
              <a:rPr lang="en-US" sz="2400" dirty="0"/>
              <a:t>      </a:t>
            </a:r>
            <a:r>
              <a:rPr lang="en-US" sz="2400" dirty="0" err="1"/>
              <a:t>io:format</a:t>
            </a:r>
            <a:r>
              <a:rPr lang="en-US" sz="2400" dirty="0"/>
              <a:t>("Dog is sitting. </a:t>
            </a:r>
            <a:r>
              <a:rPr lang="en-US" sz="2400" dirty="0" err="1"/>
              <a:t>Gooooood</a:t>
            </a:r>
            <a:r>
              <a:rPr lang="en-US" sz="2400" dirty="0"/>
              <a:t> boy!~n"),</a:t>
            </a:r>
          </a:p>
          <a:p>
            <a:r>
              <a:rPr lang="en-US" sz="2400" dirty="0"/>
              <a:t>      receive</a:t>
            </a:r>
          </a:p>
          <a:p>
            <a:r>
              <a:rPr lang="en-US" sz="2400" dirty="0"/>
              <a:t>             squirrel -&gt; bark();</a:t>
            </a:r>
          </a:p>
          <a:p>
            <a:endParaRPr lang="en-US" sz="2400" dirty="0"/>
          </a:p>
          <a:p>
            <a:r>
              <a:rPr lang="en-US" sz="2400" dirty="0"/>
              <a:t>              _ -&gt;  </a:t>
            </a:r>
            <a:r>
              <a:rPr lang="en-US" sz="2400" dirty="0" err="1"/>
              <a:t>io:format</a:t>
            </a:r>
            <a:r>
              <a:rPr lang="en-US" sz="2400" dirty="0"/>
              <a:t>("Dog is </a:t>
            </a:r>
            <a:r>
              <a:rPr lang="en-US" sz="2400" dirty="0" err="1"/>
              <a:t>confused~n</a:t>
            </a:r>
            <a:r>
              <a:rPr lang="en-US" sz="2400" dirty="0"/>
              <a:t>"),</a:t>
            </a:r>
          </a:p>
          <a:p>
            <a:r>
              <a:rPr lang="en-US" sz="2400" dirty="0"/>
              <a:t>                       sit()</a:t>
            </a:r>
          </a:p>
          <a:p>
            <a:r>
              <a:rPr lang="en-US" sz="2400" dirty="0"/>
              <a:t>      end.   </a:t>
            </a:r>
          </a:p>
        </p:txBody>
      </p:sp>
      <p:pic>
        <p:nvPicPr>
          <p:cNvPr id="6" name="Picture 5"/>
          <p:cNvPicPr>
            <a:picLocks noChangeAspect="1"/>
          </p:cNvPicPr>
          <p:nvPr/>
        </p:nvPicPr>
        <p:blipFill>
          <a:blip r:embed="rId2"/>
          <a:stretch>
            <a:fillRect/>
          </a:stretch>
        </p:blipFill>
        <p:spPr>
          <a:xfrm>
            <a:off x="7299658" y="2094994"/>
            <a:ext cx="4892342" cy="2668012"/>
          </a:xfrm>
          <a:prstGeom prst="rect">
            <a:avLst/>
          </a:prstGeom>
        </p:spPr>
      </p:pic>
      <p:sp>
        <p:nvSpPr>
          <p:cNvPr id="3" name="Rectangle 2"/>
          <p:cNvSpPr/>
          <p:nvPr/>
        </p:nvSpPr>
        <p:spPr>
          <a:xfrm>
            <a:off x="526351" y="272831"/>
            <a:ext cx="5170903" cy="523220"/>
          </a:xfrm>
          <a:prstGeom prst="rect">
            <a:avLst/>
          </a:prstGeom>
        </p:spPr>
        <p:txBody>
          <a:bodyPr wrap="none">
            <a:spAutoFit/>
          </a:bodyPr>
          <a:lstStyle/>
          <a:p>
            <a:pPr marL="457200" indent="-457200">
              <a:buFont typeface="Wingdings" panose="05000000000000000000" pitchFamily="2" charset="2"/>
              <a:buChar char="Ø"/>
            </a:pPr>
            <a:r>
              <a:rPr lang="en-US" sz="2800" dirty="0"/>
              <a:t>Automat </a:t>
            </a:r>
            <a:r>
              <a:rPr lang="en-US" sz="2800" dirty="0" err="1"/>
              <a:t>finit</a:t>
            </a:r>
            <a:r>
              <a:rPr lang="en-US" sz="2800" dirty="0"/>
              <a:t>: </a:t>
            </a:r>
            <a:r>
              <a:rPr lang="en-US" sz="2800" dirty="0" err="1"/>
              <a:t>definirea</a:t>
            </a:r>
            <a:r>
              <a:rPr lang="en-US" sz="2800" dirty="0"/>
              <a:t> </a:t>
            </a:r>
            <a:r>
              <a:rPr lang="en-US" sz="2800" dirty="0" err="1"/>
              <a:t>starilor</a:t>
            </a:r>
            <a:endParaRPr lang="en-US" sz="2800" dirty="0"/>
          </a:p>
        </p:txBody>
      </p:sp>
    </p:spTree>
    <p:extLst>
      <p:ext uri="{BB962C8B-B14F-4D97-AF65-F5344CB8AC3E}">
        <p14:creationId xmlns:p14="http://schemas.microsoft.com/office/powerpoint/2010/main" val="1922511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6006094" y="1998787"/>
            <a:ext cx="4892342" cy="2668012"/>
          </a:xfrm>
          <a:prstGeom prst="rect">
            <a:avLst/>
          </a:prstGeom>
        </p:spPr>
      </p:pic>
      <p:pic>
        <p:nvPicPr>
          <p:cNvPr id="2" name="Picture 1"/>
          <p:cNvPicPr>
            <a:picLocks noChangeAspect="1"/>
          </p:cNvPicPr>
          <p:nvPr/>
        </p:nvPicPr>
        <p:blipFill>
          <a:blip r:embed="rId3"/>
          <a:stretch>
            <a:fillRect/>
          </a:stretch>
        </p:blipFill>
        <p:spPr>
          <a:xfrm>
            <a:off x="1482795" y="919350"/>
            <a:ext cx="3879865" cy="4826885"/>
          </a:xfrm>
          <a:prstGeom prst="rect">
            <a:avLst/>
          </a:prstGeom>
        </p:spPr>
        <p:style>
          <a:lnRef idx="2">
            <a:schemeClr val="dk1"/>
          </a:lnRef>
          <a:fillRef idx="1">
            <a:schemeClr val="lt1"/>
          </a:fillRef>
          <a:effectRef idx="0">
            <a:schemeClr val="dk1"/>
          </a:effectRef>
          <a:fontRef idx="minor">
            <a:schemeClr val="dk1"/>
          </a:fontRef>
        </p:style>
      </p:pic>
      <p:sp>
        <p:nvSpPr>
          <p:cNvPr id="4" name="Rectangle 3"/>
          <p:cNvSpPr/>
          <p:nvPr/>
        </p:nvSpPr>
        <p:spPr>
          <a:xfrm>
            <a:off x="2475677" y="5907418"/>
            <a:ext cx="7536673" cy="369332"/>
          </a:xfrm>
          <a:prstGeom prst="rect">
            <a:avLst/>
          </a:prstGeom>
        </p:spPr>
        <p:txBody>
          <a:bodyPr wrap="square">
            <a:spAutoFit/>
          </a:bodyPr>
          <a:lstStyle/>
          <a:p>
            <a:r>
              <a:rPr lang="en-US" dirty="0">
                <a:hlinkClick r:id="rId4"/>
              </a:rPr>
              <a:t>http://learnyousomeerlang.com/finite-state-machines#what-are-they</a:t>
            </a:r>
            <a:endParaRPr lang="en-US" dirty="0"/>
          </a:p>
        </p:txBody>
      </p:sp>
      <p:sp>
        <p:nvSpPr>
          <p:cNvPr id="7" name="TextBox 6"/>
          <p:cNvSpPr txBox="1"/>
          <p:nvPr/>
        </p:nvSpPr>
        <p:spPr>
          <a:xfrm>
            <a:off x="947292" y="124991"/>
            <a:ext cx="5506572"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Implementarea</a:t>
            </a:r>
            <a:r>
              <a:rPr lang="en-US" sz="2800" dirty="0"/>
              <a:t> </a:t>
            </a:r>
            <a:r>
              <a:rPr lang="en-US" sz="2800" dirty="0" err="1"/>
              <a:t>unui</a:t>
            </a:r>
            <a:r>
              <a:rPr lang="en-US" sz="2800" dirty="0"/>
              <a:t> automat </a:t>
            </a:r>
            <a:r>
              <a:rPr lang="en-US" sz="2800" dirty="0" err="1"/>
              <a:t>finit</a:t>
            </a:r>
            <a:endParaRPr lang="en-US" sz="2800" dirty="0"/>
          </a:p>
        </p:txBody>
      </p:sp>
    </p:spTree>
    <p:extLst>
      <p:ext uri="{BB962C8B-B14F-4D97-AF65-F5344CB8AC3E}">
        <p14:creationId xmlns:p14="http://schemas.microsoft.com/office/powerpoint/2010/main" val="3069631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81416" y="4172087"/>
            <a:ext cx="8872092" cy="1477328"/>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r>
              <a:rPr lang="en-US" dirty="0"/>
              <a:t>OTP stands for Open Telecom Platform, although it's not that much about telecom anymore (it's more about software that has the property of telecom applications, but yeah.) If half of </a:t>
            </a:r>
            <a:r>
              <a:rPr lang="en-US" dirty="0" err="1"/>
              <a:t>Erlang's</a:t>
            </a:r>
            <a:r>
              <a:rPr lang="en-US" dirty="0"/>
              <a:t> greatness comes from its concurrency and distribution and the other half comes from its error handling capabilities, then the OTP framework is the third half of it.</a:t>
            </a:r>
          </a:p>
          <a:p>
            <a:r>
              <a:rPr lang="en-US" dirty="0">
                <a:hlinkClick r:id="rId2"/>
              </a:rPr>
              <a:t>http://learnyousomeerlang.com/what-is-otp#its-the-open-telecom-platform</a:t>
            </a:r>
            <a:endParaRPr lang="en-US" dirty="0"/>
          </a:p>
        </p:txBody>
      </p:sp>
      <p:sp>
        <p:nvSpPr>
          <p:cNvPr id="4" name="TextBox 3"/>
          <p:cNvSpPr txBox="1"/>
          <p:nvPr/>
        </p:nvSpPr>
        <p:spPr>
          <a:xfrm>
            <a:off x="1128822" y="3534524"/>
            <a:ext cx="1157817"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b="1" dirty="0"/>
              <a:t>OTP</a:t>
            </a:r>
          </a:p>
        </p:txBody>
      </p:sp>
      <p:sp>
        <p:nvSpPr>
          <p:cNvPr id="6" name="TextBox 5">
            <a:extLst>
              <a:ext uri="{FF2B5EF4-FFF2-40B4-BE49-F238E27FC236}">
                <a16:creationId xmlns:a16="http://schemas.microsoft.com/office/drawing/2014/main" id="{9EDA8664-DD91-3B3D-E6F6-06A8E69EC096}"/>
              </a:ext>
            </a:extLst>
          </p:cNvPr>
          <p:cNvSpPr txBox="1"/>
          <p:nvPr/>
        </p:nvSpPr>
        <p:spPr>
          <a:xfrm>
            <a:off x="1197429" y="1176708"/>
            <a:ext cx="3087833" cy="800219"/>
          </a:xfrm>
          <a:prstGeom prst="rect">
            <a:avLst/>
          </a:prstGeom>
          <a:noFill/>
        </p:spPr>
        <p:txBody>
          <a:bodyPr wrap="none" rtlCol="0">
            <a:spAutoFit/>
          </a:bodyPr>
          <a:lstStyle/>
          <a:p>
            <a:pPr marL="457200" indent="-457200">
              <a:buFont typeface="Wingdings" panose="05000000000000000000" pitchFamily="2" charset="2"/>
              <a:buChar char="Ø"/>
            </a:pPr>
            <a:r>
              <a:rPr lang="en-US" sz="2800" b="1" dirty="0" err="1"/>
              <a:t>Tratarea</a:t>
            </a:r>
            <a:r>
              <a:rPr lang="en-US" sz="2800" b="1" dirty="0"/>
              <a:t> </a:t>
            </a:r>
            <a:r>
              <a:rPr lang="en-US" sz="2800" b="1" dirty="0" err="1"/>
              <a:t>erorilor</a:t>
            </a:r>
            <a:endParaRPr lang="en-US" sz="2800" b="1" dirty="0"/>
          </a:p>
          <a:p>
            <a:endParaRPr lang="en-GB" dirty="0"/>
          </a:p>
        </p:txBody>
      </p:sp>
      <p:sp>
        <p:nvSpPr>
          <p:cNvPr id="7" name="TextBox 6">
            <a:extLst>
              <a:ext uri="{FF2B5EF4-FFF2-40B4-BE49-F238E27FC236}">
                <a16:creationId xmlns:a16="http://schemas.microsoft.com/office/drawing/2014/main" id="{DFD0CB21-A7DF-7025-5673-4C66544A530D}"/>
              </a:ext>
            </a:extLst>
          </p:cNvPr>
          <p:cNvSpPr txBox="1"/>
          <p:nvPr/>
        </p:nvSpPr>
        <p:spPr>
          <a:xfrm>
            <a:off x="1707731" y="1783494"/>
            <a:ext cx="7310719" cy="2308324"/>
          </a:xfrm>
          <a:prstGeom prst="rect">
            <a:avLst/>
          </a:prstGeom>
          <a:noFill/>
        </p:spPr>
        <p:txBody>
          <a:bodyPr wrap="none" rtlCol="0">
            <a:spAutoFit/>
          </a:bodyPr>
          <a:lstStyle/>
          <a:p>
            <a:r>
              <a:rPr lang="en-US" sz="1800" dirty="0"/>
              <a:t>Error handling in concurrent Erlang programs is based on the idea of </a:t>
            </a:r>
            <a:r>
              <a:rPr lang="en-US" sz="1800" i="1" dirty="0"/>
              <a:t>remote</a:t>
            </a:r>
          </a:p>
          <a:p>
            <a:r>
              <a:rPr lang="en-US" sz="1800" i="1" dirty="0"/>
              <a:t>detection and handling of errors</a:t>
            </a:r>
            <a:r>
              <a:rPr lang="en-US" sz="1800" dirty="0"/>
              <a:t>. Instead of handling an error in the process</a:t>
            </a:r>
          </a:p>
          <a:p>
            <a:r>
              <a:rPr lang="en-US" sz="1800" dirty="0"/>
              <a:t>where the error occurs, we let the process die and correct the error in some</a:t>
            </a:r>
          </a:p>
          <a:p>
            <a:r>
              <a:rPr lang="en-US" sz="1800" dirty="0"/>
              <a:t>other process."</a:t>
            </a:r>
          </a:p>
          <a:p>
            <a:r>
              <a:rPr lang="en-US" sz="1800" dirty="0"/>
              <a:t>Joe Armstrong, Programming Erlang, Second Edition 2013</a:t>
            </a:r>
          </a:p>
          <a:p>
            <a:endParaRPr lang="en-US" sz="1800" dirty="0"/>
          </a:p>
          <a:p>
            <a:endParaRPr lang="en-US" sz="1800" dirty="0"/>
          </a:p>
          <a:p>
            <a:endParaRPr lang="en-GB" dirty="0"/>
          </a:p>
        </p:txBody>
      </p:sp>
    </p:spTree>
    <p:extLst>
      <p:ext uri="{BB962C8B-B14F-4D97-AF65-F5344CB8AC3E}">
        <p14:creationId xmlns:p14="http://schemas.microsoft.com/office/powerpoint/2010/main" val="684740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4645" y="1157802"/>
            <a:ext cx="9661491" cy="3416320"/>
          </a:xfrm>
          <a:prstGeom prst="rect">
            <a:avLst/>
          </a:prstGeom>
          <a:ln>
            <a:no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a:t>"Imagine a system with only one sequential process. If this process dies, we</a:t>
            </a:r>
          </a:p>
          <a:p>
            <a:r>
              <a:rPr lang="en-US" sz="2400" dirty="0"/>
              <a:t>might be in deep trouble since no other process can help. For this reason,</a:t>
            </a:r>
          </a:p>
          <a:p>
            <a:r>
              <a:rPr lang="en-US" sz="2400" dirty="0"/>
              <a:t>sequential languages have concentrated on the prevention of failure and an</a:t>
            </a:r>
          </a:p>
          <a:p>
            <a:r>
              <a:rPr lang="en-US" sz="2400" dirty="0"/>
              <a:t>emphasis on </a:t>
            </a:r>
            <a:r>
              <a:rPr lang="en-US" sz="2400" i="1" dirty="0"/>
              <a:t>defensive programming</a:t>
            </a:r>
            <a:r>
              <a:rPr lang="en-US" sz="2400" dirty="0"/>
              <a:t>.</a:t>
            </a:r>
          </a:p>
          <a:p>
            <a:endParaRPr lang="en-US" sz="2400" dirty="0"/>
          </a:p>
          <a:p>
            <a:r>
              <a:rPr lang="en-US" sz="2400" dirty="0"/>
              <a:t>Error handling in concurrent </a:t>
            </a:r>
            <a:r>
              <a:rPr lang="en-US" sz="2400" dirty="0" err="1"/>
              <a:t>Erlang</a:t>
            </a:r>
            <a:r>
              <a:rPr lang="en-US" sz="2400" dirty="0"/>
              <a:t> programs is based on the idea of </a:t>
            </a:r>
            <a:r>
              <a:rPr lang="en-US" sz="2400" i="1" dirty="0"/>
              <a:t>remote</a:t>
            </a:r>
          </a:p>
          <a:p>
            <a:r>
              <a:rPr lang="en-US" sz="2400" i="1" dirty="0"/>
              <a:t>detection and handling of errors</a:t>
            </a:r>
            <a:r>
              <a:rPr lang="en-US" sz="2400" dirty="0"/>
              <a:t>. Instead of handling an error in the process</a:t>
            </a:r>
          </a:p>
          <a:p>
            <a:r>
              <a:rPr lang="en-US" sz="2400" dirty="0"/>
              <a:t>where the error occurs, we let the process die and correct the error in some</a:t>
            </a:r>
          </a:p>
          <a:p>
            <a:r>
              <a:rPr lang="en-US" sz="2400" dirty="0"/>
              <a:t>other process."</a:t>
            </a:r>
          </a:p>
        </p:txBody>
      </p:sp>
      <p:sp>
        <p:nvSpPr>
          <p:cNvPr id="6" name="TextBox 5"/>
          <p:cNvSpPr txBox="1"/>
          <p:nvPr/>
        </p:nvSpPr>
        <p:spPr>
          <a:xfrm>
            <a:off x="513117" y="243401"/>
            <a:ext cx="5136471" cy="523220"/>
          </a:xfrm>
          <a:prstGeom prst="rect">
            <a:avLst/>
          </a:prstGeom>
          <a:noFill/>
        </p:spPr>
        <p:txBody>
          <a:bodyPr wrap="none" rtlCol="0">
            <a:spAutoFit/>
          </a:bodyPr>
          <a:lstStyle/>
          <a:p>
            <a:pPr marL="342900" indent="-342900">
              <a:buFont typeface="Wingdings" panose="05000000000000000000" pitchFamily="2" charset="2"/>
              <a:buChar char="Ø"/>
            </a:pPr>
            <a:r>
              <a:rPr lang="en-US" sz="2800" dirty="0" err="1"/>
              <a:t>Erori</a:t>
            </a:r>
            <a:r>
              <a:rPr lang="en-US" sz="2800" dirty="0"/>
              <a:t> in </a:t>
            </a:r>
            <a:r>
              <a:rPr lang="en-US" sz="2800" dirty="0" err="1"/>
              <a:t>progamarea</a:t>
            </a:r>
            <a:r>
              <a:rPr lang="en-US" sz="2800" dirty="0"/>
              <a:t> </a:t>
            </a:r>
            <a:r>
              <a:rPr lang="en-US" sz="2800" dirty="0" err="1"/>
              <a:t>concurenta</a:t>
            </a:r>
            <a:endParaRPr lang="en-US" sz="2800" dirty="0"/>
          </a:p>
        </p:txBody>
      </p:sp>
      <p:sp>
        <p:nvSpPr>
          <p:cNvPr id="7" name="TextBox 6"/>
          <p:cNvSpPr txBox="1"/>
          <p:nvPr/>
        </p:nvSpPr>
        <p:spPr>
          <a:xfrm>
            <a:off x="1092017" y="4894342"/>
            <a:ext cx="7364004" cy="738664"/>
          </a:xfrm>
          <a:prstGeom prst="rect">
            <a:avLst/>
          </a:prstGeom>
          <a:noFill/>
        </p:spPr>
        <p:txBody>
          <a:bodyPr wrap="none" rtlCol="0">
            <a:spAutoFit/>
          </a:bodyPr>
          <a:lstStyle/>
          <a:p>
            <a:r>
              <a:rPr lang="en-US" sz="2400" dirty="0"/>
              <a:t>Joe Armstrong, Programming </a:t>
            </a:r>
            <a:r>
              <a:rPr lang="en-US" sz="2400" dirty="0" err="1"/>
              <a:t>Erlang</a:t>
            </a:r>
            <a:r>
              <a:rPr lang="en-US" sz="2400" dirty="0"/>
              <a:t>, Second Edition 2013</a:t>
            </a:r>
          </a:p>
          <a:p>
            <a:endParaRPr lang="en-US" dirty="0"/>
          </a:p>
        </p:txBody>
      </p:sp>
    </p:spTree>
    <p:extLst>
      <p:ext uri="{BB962C8B-B14F-4D97-AF65-F5344CB8AC3E}">
        <p14:creationId xmlns:p14="http://schemas.microsoft.com/office/powerpoint/2010/main" val="2539269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86722" y="1341997"/>
            <a:ext cx="9683613" cy="2954655"/>
          </a:xfrm>
          <a:prstGeom prst="rect">
            <a:avLst/>
          </a:prstGeom>
          <a:noFill/>
        </p:spPr>
        <p:txBody>
          <a:bodyPr wrap="none" rtlCol="0">
            <a:spAutoFit/>
          </a:bodyPr>
          <a:lstStyle/>
          <a:p>
            <a:r>
              <a:rPr lang="en-US" sz="2400" dirty="0"/>
              <a:t>"When we design a fault-tolerant system, we assume that errors will occur,</a:t>
            </a:r>
          </a:p>
          <a:p>
            <a:r>
              <a:rPr lang="en-US" sz="2400" dirty="0"/>
              <a:t>that processes will crash, and that machines will fail. Our job is to detect the</a:t>
            </a:r>
          </a:p>
          <a:p>
            <a:r>
              <a:rPr lang="en-US" sz="2400" dirty="0"/>
              <a:t>errors after they have occurred and correct them if possible.</a:t>
            </a:r>
          </a:p>
          <a:p>
            <a:endParaRPr lang="en-US" sz="2400" dirty="0"/>
          </a:p>
          <a:p>
            <a:r>
              <a:rPr lang="en-US" sz="2400" dirty="0"/>
              <a:t>The </a:t>
            </a:r>
            <a:r>
              <a:rPr lang="en-US" sz="2400" dirty="0" err="1"/>
              <a:t>Erlang</a:t>
            </a:r>
            <a:r>
              <a:rPr lang="en-US" sz="2400" dirty="0"/>
              <a:t> philosophy for building fault-tolerant software can be summed</a:t>
            </a:r>
          </a:p>
          <a:p>
            <a:r>
              <a:rPr lang="en-US" sz="2400" dirty="0"/>
              <a:t>up in two easy-to-remember phrases: “Let some other process fix the error”</a:t>
            </a:r>
          </a:p>
          <a:p>
            <a:r>
              <a:rPr lang="en-US" sz="2400" dirty="0"/>
              <a:t>and “Let it crash.”</a:t>
            </a:r>
          </a:p>
          <a:p>
            <a:endParaRPr lang="en-US" dirty="0"/>
          </a:p>
        </p:txBody>
      </p:sp>
      <p:sp>
        <p:nvSpPr>
          <p:cNvPr id="6" name="TextBox 5"/>
          <p:cNvSpPr txBox="1"/>
          <p:nvPr/>
        </p:nvSpPr>
        <p:spPr>
          <a:xfrm>
            <a:off x="513117" y="243401"/>
            <a:ext cx="5136471" cy="523220"/>
          </a:xfrm>
          <a:prstGeom prst="rect">
            <a:avLst/>
          </a:prstGeom>
          <a:noFill/>
        </p:spPr>
        <p:txBody>
          <a:bodyPr wrap="none" rtlCol="0">
            <a:spAutoFit/>
          </a:bodyPr>
          <a:lstStyle/>
          <a:p>
            <a:pPr marL="342900" indent="-342900">
              <a:buFont typeface="Wingdings" panose="05000000000000000000" pitchFamily="2" charset="2"/>
              <a:buChar char="Ø"/>
            </a:pPr>
            <a:r>
              <a:rPr lang="en-US" sz="2800" dirty="0" err="1"/>
              <a:t>Erori</a:t>
            </a:r>
            <a:r>
              <a:rPr lang="en-US" sz="2800" dirty="0"/>
              <a:t> in </a:t>
            </a:r>
            <a:r>
              <a:rPr lang="en-US" sz="2800" dirty="0" err="1"/>
              <a:t>progamarea</a:t>
            </a:r>
            <a:r>
              <a:rPr lang="en-US" sz="2800" dirty="0"/>
              <a:t> </a:t>
            </a:r>
            <a:r>
              <a:rPr lang="en-US" sz="2800" dirty="0" err="1"/>
              <a:t>concurenta</a:t>
            </a:r>
            <a:endParaRPr lang="en-US" sz="2800" dirty="0"/>
          </a:p>
        </p:txBody>
      </p:sp>
      <p:sp>
        <p:nvSpPr>
          <p:cNvPr id="7" name="TextBox 6"/>
          <p:cNvSpPr txBox="1"/>
          <p:nvPr/>
        </p:nvSpPr>
        <p:spPr>
          <a:xfrm>
            <a:off x="1795908" y="4683833"/>
            <a:ext cx="7532288" cy="738664"/>
          </a:xfrm>
          <a:prstGeom prst="rect">
            <a:avLst/>
          </a:prstGeom>
          <a:noFill/>
        </p:spPr>
        <p:txBody>
          <a:bodyPr wrap="square" rtlCol="0">
            <a:spAutoFit/>
          </a:bodyPr>
          <a:lstStyle/>
          <a:p>
            <a:r>
              <a:rPr lang="en-US" sz="2400" dirty="0"/>
              <a:t>Joe Armstrong, Programming </a:t>
            </a:r>
            <a:r>
              <a:rPr lang="en-US" sz="2400" dirty="0" err="1"/>
              <a:t>Erlang</a:t>
            </a:r>
            <a:r>
              <a:rPr lang="en-US" sz="2400" dirty="0"/>
              <a:t>, Second Edition 2013</a:t>
            </a:r>
          </a:p>
          <a:p>
            <a:endParaRPr lang="en-US" dirty="0"/>
          </a:p>
        </p:txBody>
      </p:sp>
    </p:spTree>
    <p:extLst>
      <p:ext uri="{BB962C8B-B14F-4D97-AF65-F5344CB8AC3E}">
        <p14:creationId xmlns:p14="http://schemas.microsoft.com/office/powerpoint/2010/main" val="3947991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88046" y="460490"/>
            <a:ext cx="5284845"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a:t> </a:t>
            </a:r>
            <a:r>
              <a:rPr lang="en-US" sz="2800" dirty="0" err="1"/>
              <a:t>Erori</a:t>
            </a:r>
            <a:r>
              <a:rPr lang="en-US" sz="2800" dirty="0"/>
              <a:t> in </a:t>
            </a:r>
            <a:r>
              <a:rPr lang="en-US" sz="2800" dirty="0" err="1"/>
              <a:t>programarea</a:t>
            </a:r>
            <a:r>
              <a:rPr lang="en-US" sz="2800" dirty="0"/>
              <a:t> </a:t>
            </a:r>
            <a:r>
              <a:rPr lang="en-US" sz="2800" dirty="0" err="1"/>
              <a:t>concurenta</a:t>
            </a:r>
            <a:endParaRPr lang="en-US" sz="2800" dirty="0"/>
          </a:p>
        </p:txBody>
      </p:sp>
      <p:sp>
        <p:nvSpPr>
          <p:cNvPr id="3" name="TextBox 2"/>
          <p:cNvSpPr txBox="1"/>
          <p:nvPr/>
        </p:nvSpPr>
        <p:spPr>
          <a:xfrm>
            <a:off x="1164378" y="1263056"/>
            <a:ext cx="10275490" cy="1015663"/>
          </a:xfrm>
          <a:prstGeom prst="rect">
            <a:avLst/>
          </a:prstGeom>
          <a:noFill/>
        </p:spPr>
        <p:txBody>
          <a:bodyPr wrap="square" rtlCol="0">
            <a:spAutoFit/>
          </a:bodyPr>
          <a:lstStyle/>
          <a:p>
            <a:endParaRPr lang="en-US" sz="2400" dirty="0"/>
          </a:p>
          <a:p>
            <a:r>
              <a:rPr lang="en-US" dirty="0"/>
              <a:t>    </a:t>
            </a:r>
          </a:p>
          <a:p>
            <a:r>
              <a:rPr lang="en-US" dirty="0"/>
              <a:t>          </a:t>
            </a:r>
          </a:p>
        </p:txBody>
      </p:sp>
      <p:sp>
        <p:nvSpPr>
          <p:cNvPr id="4" name="TextBox 3"/>
          <p:cNvSpPr txBox="1"/>
          <p:nvPr/>
        </p:nvSpPr>
        <p:spPr>
          <a:xfrm>
            <a:off x="868350" y="1198916"/>
            <a:ext cx="9755793"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procesele</a:t>
            </a:r>
            <a:r>
              <a:rPr lang="en-US" sz="2400" dirty="0"/>
              <a:t> pot fi legate, </a:t>
            </a:r>
            <a:r>
              <a:rPr lang="en-US" sz="2400" dirty="0" err="1"/>
              <a:t>iar</a:t>
            </a:r>
            <a:r>
              <a:rPr lang="en-US" sz="2400" dirty="0"/>
              <a:t> </a:t>
            </a:r>
            <a:r>
              <a:rPr lang="en-US" sz="2400" dirty="0" err="1"/>
              <a:t>legatura</a:t>
            </a:r>
            <a:r>
              <a:rPr lang="en-US" sz="2400" dirty="0"/>
              <a:t> </a:t>
            </a:r>
            <a:r>
              <a:rPr lang="en-US" sz="2400" dirty="0" err="1"/>
              <a:t>intre</a:t>
            </a:r>
            <a:r>
              <a:rPr lang="en-US" sz="2400" dirty="0"/>
              <a:t> </a:t>
            </a:r>
            <a:r>
              <a:rPr lang="en-US" sz="2400" dirty="0" err="1"/>
              <a:t>procese</a:t>
            </a:r>
            <a:r>
              <a:rPr lang="en-US" sz="2400" dirty="0"/>
              <a:t> se </a:t>
            </a:r>
            <a:r>
              <a:rPr lang="en-US" sz="2400" dirty="0" err="1"/>
              <a:t>creaza</a:t>
            </a:r>
            <a:r>
              <a:rPr lang="en-US" sz="2400" dirty="0"/>
              <a:t> cu </a:t>
            </a:r>
            <a:r>
              <a:rPr lang="en-US" sz="2400" dirty="0" err="1"/>
              <a:t>functia</a:t>
            </a:r>
            <a:r>
              <a:rPr lang="en-US" sz="2400" dirty="0"/>
              <a:t>  	 									</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err="1"/>
              <a:t>legatura</a:t>
            </a:r>
            <a:r>
              <a:rPr lang="en-US" sz="2400" dirty="0"/>
              <a:t> create cu link </a:t>
            </a:r>
            <a:r>
              <a:rPr lang="en-US" sz="2400" dirty="0" err="1"/>
              <a:t>este</a:t>
            </a:r>
            <a:r>
              <a:rPr lang="en-US" sz="2400" dirty="0"/>
              <a:t> </a:t>
            </a:r>
            <a:r>
              <a:rPr lang="en-US" sz="2400" dirty="0" err="1"/>
              <a:t>bidirectionala</a:t>
            </a:r>
            <a:endParaRPr lang="en-US" sz="2400" dirty="0"/>
          </a:p>
          <a:p>
            <a:pPr marL="285750" indent="-285750">
              <a:buFont typeface="Arial" panose="020B0604020202020204" pitchFamily="34" charset="0"/>
              <a:buChar char="•"/>
            </a:pPr>
            <a:r>
              <a:rPr lang="en-US" sz="2400" dirty="0" err="1"/>
              <a:t>cand</a:t>
            </a:r>
            <a:r>
              <a:rPr lang="en-US" sz="2400" dirty="0"/>
              <a:t> un </a:t>
            </a:r>
            <a:r>
              <a:rPr lang="en-US" sz="2400" dirty="0" err="1"/>
              <a:t>proces</a:t>
            </a:r>
            <a:r>
              <a:rPr lang="en-US" sz="2400" dirty="0"/>
              <a:t> se </a:t>
            </a:r>
            <a:r>
              <a:rPr lang="en-US" sz="2400" dirty="0" err="1"/>
              <a:t>termina</a:t>
            </a:r>
            <a:r>
              <a:rPr lang="en-US" sz="2400" dirty="0"/>
              <a:t>, el </a:t>
            </a:r>
            <a:r>
              <a:rPr lang="en-US" sz="2400" dirty="0" err="1"/>
              <a:t>trimite</a:t>
            </a:r>
            <a:r>
              <a:rPr lang="en-US" sz="2400" dirty="0"/>
              <a:t> un </a:t>
            </a:r>
            <a:r>
              <a:rPr lang="en-US" sz="2400" dirty="0" err="1"/>
              <a:t>semnal</a:t>
            </a:r>
            <a:r>
              <a:rPr lang="en-US" sz="2400" dirty="0"/>
              <a:t> de </a:t>
            </a:r>
            <a:r>
              <a:rPr lang="en-US" sz="2400" dirty="0" err="1"/>
              <a:t>eroare</a:t>
            </a:r>
            <a:r>
              <a:rPr lang="en-US" sz="2400" dirty="0"/>
              <a:t> </a:t>
            </a:r>
          </a:p>
          <a:p>
            <a:r>
              <a:rPr lang="en-US" sz="2400" dirty="0"/>
              <a:t>     </a:t>
            </a:r>
            <a:r>
              <a:rPr lang="en-US" sz="2400" dirty="0" err="1"/>
              <a:t>tuturor</a:t>
            </a:r>
            <a:r>
              <a:rPr lang="en-US" sz="2400" dirty="0"/>
              <a:t> </a:t>
            </a:r>
            <a:r>
              <a:rPr lang="en-US" sz="2400" dirty="0" err="1"/>
              <a:t>proceselor</a:t>
            </a:r>
            <a:r>
              <a:rPr lang="en-US" sz="2400" dirty="0"/>
              <a:t> legate de el</a:t>
            </a:r>
          </a:p>
        </p:txBody>
      </p:sp>
      <p:pic>
        <p:nvPicPr>
          <p:cNvPr id="5" name="Picture 4"/>
          <p:cNvPicPr>
            <a:picLocks noChangeAspect="1"/>
          </p:cNvPicPr>
          <p:nvPr/>
        </p:nvPicPr>
        <p:blipFill>
          <a:blip r:embed="rId2"/>
          <a:stretch>
            <a:fillRect/>
          </a:stretch>
        </p:blipFill>
        <p:spPr>
          <a:xfrm>
            <a:off x="6740547" y="3189127"/>
            <a:ext cx="3731922" cy="2810389"/>
          </a:xfrm>
          <a:prstGeom prst="rect">
            <a:avLst/>
          </a:prstGeom>
        </p:spPr>
      </p:pic>
      <p:sp>
        <p:nvSpPr>
          <p:cNvPr id="6" name="TextBox 5"/>
          <p:cNvSpPr txBox="1"/>
          <p:nvPr/>
        </p:nvSpPr>
        <p:spPr>
          <a:xfrm>
            <a:off x="5097947" y="1726130"/>
            <a:ext cx="1204176" cy="461665"/>
          </a:xfrm>
          <a:prstGeom prst="rect">
            <a:avLst/>
          </a:prstGeom>
          <a:solidFill>
            <a:srgbClr val="C00000"/>
          </a:solidFill>
        </p:spPr>
        <p:txBody>
          <a:bodyPr wrap="none" rtlCol="0">
            <a:spAutoFit/>
          </a:bodyPr>
          <a:lstStyle/>
          <a:p>
            <a:r>
              <a:rPr lang="en-US" sz="2400" dirty="0">
                <a:solidFill>
                  <a:schemeClr val="bg1"/>
                </a:solidFill>
              </a:rPr>
              <a:t>link(</a:t>
            </a:r>
            <a:r>
              <a:rPr lang="en-US" sz="2400" dirty="0" err="1">
                <a:solidFill>
                  <a:schemeClr val="bg1"/>
                </a:solidFill>
              </a:rPr>
              <a:t>Pid</a:t>
            </a:r>
            <a:r>
              <a:rPr lang="en-US" sz="2400" dirty="0">
                <a:solidFill>
                  <a:schemeClr val="bg1"/>
                </a:solidFill>
              </a:rPr>
              <a:t>)</a:t>
            </a:r>
          </a:p>
        </p:txBody>
      </p:sp>
      <p:sp>
        <p:nvSpPr>
          <p:cNvPr id="7" name="TextBox 6"/>
          <p:cNvSpPr txBox="1"/>
          <p:nvPr/>
        </p:nvSpPr>
        <p:spPr>
          <a:xfrm>
            <a:off x="5650860" y="5999516"/>
            <a:ext cx="5583067" cy="923330"/>
          </a:xfrm>
          <a:prstGeom prst="rect">
            <a:avLst/>
          </a:prstGeom>
          <a:noFill/>
        </p:spPr>
        <p:txBody>
          <a:bodyPr wrap="none" rtlCol="0">
            <a:spAutoFit/>
          </a:bodyPr>
          <a:lstStyle/>
          <a:p>
            <a:r>
              <a:rPr lang="en-US" dirty="0"/>
              <a:t>Joe Armstrong, Programming </a:t>
            </a:r>
            <a:r>
              <a:rPr lang="en-US" dirty="0" err="1"/>
              <a:t>Erlang</a:t>
            </a:r>
            <a:r>
              <a:rPr lang="en-US" dirty="0"/>
              <a:t>, Second Edition 2013</a:t>
            </a:r>
          </a:p>
          <a:p>
            <a:endParaRPr lang="en-US" dirty="0"/>
          </a:p>
          <a:p>
            <a:endParaRPr lang="en-US" dirty="0"/>
          </a:p>
        </p:txBody>
      </p:sp>
    </p:spTree>
    <p:extLst>
      <p:ext uri="{BB962C8B-B14F-4D97-AF65-F5344CB8AC3E}">
        <p14:creationId xmlns:p14="http://schemas.microsoft.com/office/powerpoint/2010/main" val="3441918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0224" y="884146"/>
            <a:ext cx="11335856"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procesele</a:t>
            </a:r>
            <a:r>
              <a:rPr lang="en-US" sz="2400" dirty="0"/>
              <a:t> </a:t>
            </a:r>
            <a:r>
              <a:rPr lang="en-US" sz="2400" dirty="0" err="1"/>
              <a:t>comunica</a:t>
            </a:r>
            <a:r>
              <a:rPr lang="en-US" sz="2400" dirty="0"/>
              <a:t>  </a:t>
            </a:r>
            <a:r>
              <a:rPr lang="en-US" sz="2400" dirty="0" err="1"/>
              <a:t>prin</a:t>
            </a:r>
            <a:r>
              <a:rPr lang="en-US" sz="2400" dirty="0"/>
              <a:t> </a:t>
            </a:r>
            <a:r>
              <a:rPr lang="en-US" sz="2400" dirty="0" err="1"/>
              <a:t>mesaje</a:t>
            </a:r>
            <a:r>
              <a:rPr lang="en-US" sz="2400" dirty="0"/>
              <a:t> </a:t>
            </a:r>
            <a:r>
              <a:rPr lang="en-US" sz="2400" dirty="0" err="1"/>
              <a:t>si</a:t>
            </a:r>
            <a:r>
              <a:rPr lang="en-US" sz="2400" dirty="0"/>
              <a:t> </a:t>
            </a:r>
            <a:r>
              <a:rPr lang="en-US" sz="2400" dirty="0" err="1"/>
              <a:t>semnale</a:t>
            </a:r>
            <a:r>
              <a:rPr lang="en-US" sz="2400" dirty="0"/>
              <a:t> de </a:t>
            </a:r>
            <a:r>
              <a:rPr lang="en-US" sz="2400" dirty="0" err="1"/>
              <a:t>eroare</a:t>
            </a:r>
            <a:endParaRPr lang="en-US" sz="2400" dirty="0"/>
          </a:p>
          <a:p>
            <a:pPr marL="285750" indent="-285750">
              <a:buFont typeface="Arial" panose="020B0604020202020204" pitchFamily="34" charset="0"/>
              <a:buChar char="•"/>
            </a:pPr>
            <a:r>
              <a:rPr lang="en-US" sz="2400" dirty="0" err="1"/>
              <a:t>mesajele</a:t>
            </a:r>
            <a:r>
              <a:rPr lang="en-US" sz="2400" dirty="0"/>
              <a:t> sunt </a:t>
            </a:r>
            <a:r>
              <a:rPr lang="en-US" sz="2400" dirty="0" err="1"/>
              <a:t>trimise</a:t>
            </a:r>
            <a:r>
              <a:rPr lang="en-US" sz="2400" dirty="0"/>
              <a:t> cu </a:t>
            </a:r>
            <a:r>
              <a:rPr lang="en-US" sz="2400" b="1" dirty="0"/>
              <a:t>! </a:t>
            </a:r>
            <a:r>
              <a:rPr lang="en-US" sz="2400" dirty="0"/>
              <a:t>(send)</a:t>
            </a:r>
          </a:p>
          <a:p>
            <a:pPr marL="285750" indent="-285750">
              <a:buFont typeface="Arial" panose="020B0604020202020204" pitchFamily="34" charset="0"/>
              <a:buChar char="•"/>
            </a:pPr>
            <a:r>
              <a:rPr lang="en-US" sz="2400" dirty="0"/>
              <a:t>cand un process se termina, el </a:t>
            </a:r>
            <a:r>
              <a:rPr lang="en-US" sz="2400" dirty="0" err="1"/>
              <a:t>emite</a:t>
            </a:r>
            <a:r>
              <a:rPr lang="en-US" sz="2400" dirty="0"/>
              <a:t> un </a:t>
            </a:r>
            <a:r>
              <a:rPr lang="en-US" sz="2400" i="1" dirty="0"/>
              <a:t>exit reason</a:t>
            </a:r>
            <a:endParaRPr lang="en-US" sz="2400" dirty="0"/>
          </a:p>
          <a:p>
            <a:pPr marL="742950" lvl="1" indent="-285750">
              <a:buFont typeface="Arial" panose="020B0604020202020204" pitchFamily="34" charset="0"/>
              <a:buChar char="•"/>
            </a:pPr>
            <a:r>
              <a:rPr lang="en-US" sz="2400" dirty="0" err="1"/>
              <a:t>daca</a:t>
            </a:r>
            <a:r>
              <a:rPr lang="en-US" sz="2400" dirty="0"/>
              <a:t> un </a:t>
            </a:r>
            <a:r>
              <a:rPr lang="en-US" sz="2400" dirty="0" err="1"/>
              <a:t>proces</a:t>
            </a:r>
            <a:r>
              <a:rPr lang="en-US" sz="2400" dirty="0"/>
              <a:t> se termina normal,  </a:t>
            </a:r>
            <a:r>
              <a:rPr lang="en-US" sz="2400" i="1" dirty="0"/>
              <a:t>  reason </a:t>
            </a:r>
            <a:r>
              <a:rPr lang="en-US" sz="2400" dirty="0" err="1"/>
              <a:t>este</a:t>
            </a:r>
            <a:r>
              <a:rPr lang="en-US" sz="2400" dirty="0"/>
              <a:t> </a:t>
            </a:r>
            <a:r>
              <a:rPr lang="en-US" sz="2400" dirty="0" err="1"/>
              <a:t>atomul</a:t>
            </a:r>
            <a:r>
              <a:rPr lang="en-US" sz="2400" dirty="0"/>
              <a:t>  </a:t>
            </a:r>
            <a:r>
              <a:rPr lang="en-US" sz="2400" b="1" dirty="0"/>
              <a:t>normal</a:t>
            </a:r>
          </a:p>
          <a:p>
            <a:pPr marL="742950" lvl="1" indent="-285750">
              <a:buFont typeface="Arial" panose="020B0604020202020204" pitchFamily="34" charset="0"/>
              <a:buChar char="•"/>
            </a:pPr>
            <a:r>
              <a:rPr lang="en-US" sz="2400" dirty="0" err="1"/>
              <a:t>daca</a:t>
            </a:r>
            <a:r>
              <a:rPr lang="en-US" sz="2400" dirty="0"/>
              <a:t> un process se termina cu </a:t>
            </a:r>
            <a:r>
              <a:rPr lang="en-US" sz="2400" dirty="0" err="1"/>
              <a:t>eroare</a:t>
            </a:r>
            <a:r>
              <a:rPr lang="en-US" sz="2400" dirty="0"/>
              <a:t> (la runtime), </a:t>
            </a:r>
            <a:r>
              <a:rPr lang="en-US" sz="2400" i="1" dirty="0"/>
              <a:t>reason </a:t>
            </a:r>
            <a:r>
              <a:rPr lang="en-US" sz="2400" dirty="0" err="1"/>
              <a:t>este</a:t>
            </a:r>
            <a:r>
              <a:rPr lang="en-US" sz="2400" dirty="0"/>
              <a:t> {Reason, Stack}</a:t>
            </a:r>
          </a:p>
          <a:p>
            <a:pPr marL="742950" lvl="1" indent="-285750">
              <a:buFont typeface="Arial" panose="020B0604020202020204" pitchFamily="34" charset="0"/>
              <a:buChar char="•"/>
            </a:pPr>
            <a:r>
              <a:rPr lang="en-US" sz="2400" dirty="0"/>
              <a:t>un </a:t>
            </a:r>
            <a:r>
              <a:rPr lang="en-US" sz="2400" dirty="0" err="1"/>
              <a:t>proces</a:t>
            </a:r>
            <a:r>
              <a:rPr lang="en-US" sz="2400" dirty="0"/>
              <a:t> se </a:t>
            </a:r>
            <a:r>
              <a:rPr lang="en-US" sz="2400" dirty="0" err="1"/>
              <a:t>poate</a:t>
            </a:r>
            <a:r>
              <a:rPr lang="en-US" sz="2400" dirty="0"/>
              <a:t> termina </a:t>
            </a:r>
            <a:r>
              <a:rPr lang="en-US" sz="2400" dirty="0" err="1"/>
              <a:t>singur</a:t>
            </a:r>
            <a:r>
              <a:rPr lang="en-US" sz="2400" dirty="0"/>
              <a:t> </a:t>
            </a:r>
            <a:r>
              <a:rPr lang="en-US" sz="2400" dirty="0" err="1"/>
              <a:t>prin</a:t>
            </a:r>
            <a:r>
              <a:rPr lang="en-US" sz="2400" dirty="0"/>
              <a:t> </a:t>
            </a:r>
            <a:r>
              <a:rPr lang="en-US" sz="2400" dirty="0" err="1"/>
              <a:t>apelul</a:t>
            </a:r>
            <a:r>
              <a:rPr lang="en-US" sz="2400" dirty="0"/>
              <a:t> </a:t>
            </a:r>
            <a:r>
              <a:rPr lang="en-US" sz="2400" dirty="0" err="1"/>
              <a:t>functiei</a:t>
            </a:r>
            <a:r>
              <a:rPr lang="en-US" sz="2400" dirty="0"/>
              <a:t> </a:t>
            </a:r>
            <a:r>
              <a:rPr lang="en-US" sz="2400" i="1" dirty="0"/>
              <a:t>exit</a:t>
            </a:r>
          </a:p>
          <a:p>
            <a:pPr lvl="1"/>
            <a:endParaRPr lang="en-US" sz="2400" dirty="0"/>
          </a:p>
        </p:txBody>
      </p:sp>
      <p:sp>
        <p:nvSpPr>
          <p:cNvPr id="7" name="TextBox 6"/>
          <p:cNvSpPr txBox="1"/>
          <p:nvPr/>
        </p:nvSpPr>
        <p:spPr>
          <a:xfrm>
            <a:off x="480224" y="230244"/>
            <a:ext cx="4808432" cy="523220"/>
          </a:xfrm>
          <a:prstGeom prst="rect">
            <a:avLst/>
          </a:prstGeom>
          <a:noFill/>
        </p:spPr>
        <p:txBody>
          <a:bodyPr wrap="none" rtlCol="0">
            <a:spAutoFit/>
          </a:bodyPr>
          <a:lstStyle/>
          <a:p>
            <a:pPr marL="457200" indent="-457200">
              <a:buFont typeface="Wingdings" panose="05000000000000000000" pitchFamily="2" charset="2"/>
              <a:buChar char="Ø"/>
            </a:pPr>
            <a:r>
              <a:rPr lang="en-US" sz="2800" dirty="0" err="1"/>
              <a:t>Mesaje</a:t>
            </a:r>
            <a:r>
              <a:rPr lang="en-US" sz="2800" dirty="0"/>
              <a:t> </a:t>
            </a:r>
            <a:r>
              <a:rPr lang="en-US" sz="2800" dirty="0" err="1"/>
              <a:t>si</a:t>
            </a:r>
            <a:r>
              <a:rPr lang="en-US" sz="2800" dirty="0"/>
              <a:t> </a:t>
            </a:r>
            <a:r>
              <a:rPr lang="en-US" sz="2800" dirty="0" err="1"/>
              <a:t>semnale</a:t>
            </a:r>
            <a:r>
              <a:rPr lang="en-US" sz="2800" dirty="0"/>
              <a:t> de </a:t>
            </a:r>
            <a:r>
              <a:rPr lang="en-US" sz="2800" dirty="0" err="1"/>
              <a:t>eroare</a:t>
            </a:r>
            <a:endParaRPr lang="en-US" sz="2800" dirty="0"/>
          </a:p>
        </p:txBody>
      </p:sp>
      <p:sp>
        <p:nvSpPr>
          <p:cNvPr id="11" name="TextBox 10"/>
          <p:cNvSpPr txBox="1"/>
          <p:nvPr/>
        </p:nvSpPr>
        <p:spPr>
          <a:xfrm>
            <a:off x="480224" y="4192498"/>
            <a:ext cx="10834653" cy="83099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285750" indent="-285750">
              <a:buFont typeface="Arial" panose="020B0604020202020204" pitchFamily="34" charset="0"/>
              <a:buChar char="•"/>
            </a:pPr>
            <a:r>
              <a:rPr lang="en-US" sz="2400"/>
              <a:t>cand un proces se termina (normal sau cu eroarea) trimite automat</a:t>
            </a:r>
          </a:p>
          <a:p>
            <a:r>
              <a:rPr lang="en-US" sz="2400"/>
              <a:t>	un semnal tuturor proceselor de care este legat</a:t>
            </a:r>
            <a:endParaRPr lang="en-US" sz="2400" dirty="0"/>
          </a:p>
        </p:txBody>
      </p:sp>
    </p:spTree>
    <p:extLst>
      <p:ext uri="{BB962C8B-B14F-4D97-AF65-F5344CB8AC3E}">
        <p14:creationId xmlns:p14="http://schemas.microsoft.com/office/powerpoint/2010/main" val="972053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443E7-EA74-AE7B-8391-1EB282D3D1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AAC84E7-EEB8-F105-EFA6-B3F168B2C024}"/>
              </a:ext>
            </a:extLst>
          </p:cNvPr>
          <p:cNvSpPr txBox="1"/>
          <p:nvPr/>
        </p:nvSpPr>
        <p:spPr>
          <a:xfrm>
            <a:off x="480224" y="884146"/>
            <a:ext cx="9512393" cy="2215991"/>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procesele</a:t>
            </a:r>
            <a:r>
              <a:rPr lang="en-US" sz="2400" dirty="0"/>
              <a:t> </a:t>
            </a:r>
            <a:r>
              <a:rPr lang="en-US" sz="2400" dirty="0" err="1"/>
              <a:t>comunica</a:t>
            </a:r>
            <a:r>
              <a:rPr lang="en-US" sz="2400" dirty="0"/>
              <a:t>  </a:t>
            </a:r>
            <a:r>
              <a:rPr lang="en-US" sz="2400" dirty="0" err="1"/>
              <a:t>prin</a:t>
            </a:r>
            <a:r>
              <a:rPr lang="en-US" sz="2400" dirty="0"/>
              <a:t> </a:t>
            </a:r>
            <a:r>
              <a:rPr lang="en-US" sz="2400" dirty="0" err="1"/>
              <a:t>mesaje</a:t>
            </a:r>
            <a:r>
              <a:rPr lang="en-US" sz="2400" dirty="0"/>
              <a:t> </a:t>
            </a:r>
            <a:r>
              <a:rPr lang="en-US" sz="2400" dirty="0" err="1"/>
              <a:t>si</a:t>
            </a:r>
            <a:r>
              <a:rPr lang="en-US" sz="2400" dirty="0"/>
              <a:t> </a:t>
            </a:r>
            <a:r>
              <a:rPr lang="en-US" sz="2400" dirty="0" err="1"/>
              <a:t>semnale</a:t>
            </a:r>
            <a:r>
              <a:rPr lang="en-US" sz="2400" dirty="0"/>
              <a:t> de </a:t>
            </a:r>
            <a:r>
              <a:rPr lang="en-US" sz="2400" dirty="0" err="1"/>
              <a:t>eroare</a:t>
            </a:r>
            <a:endParaRPr lang="en-US" sz="2400" dirty="0"/>
          </a:p>
          <a:p>
            <a:pPr marL="285750" indent="-285750">
              <a:buFont typeface="Arial" panose="020B0604020202020204" pitchFamily="34" charset="0"/>
              <a:buChar char="•"/>
            </a:pPr>
            <a:r>
              <a:rPr lang="en-US" sz="2400" dirty="0" err="1"/>
              <a:t>mesajele</a:t>
            </a:r>
            <a:r>
              <a:rPr lang="en-US" sz="2400" dirty="0"/>
              <a:t> sunt </a:t>
            </a:r>
            <a:r>
              <a:rPr lang="en-US" sz="2400" dirty="0" err="1"/>
              <a:t>trimise</a:t>
            </a:r>
            <a:r>
              <a:rPr lang="en-US" sz="2400" dirty="0"/>
              <a:t> cu </a:t>
            </a:r>
            <a:r>
              <a:rPr lang="en-US" sz="2400" b="1" dirty="0"/>
              <a:t>!</a:t>
            </a:r>
          </a:p>
          <a:p>
            <a:pPr marL="285750" indent="-285750">
              <a:buFont typeface="Arial" panose="020B0604020202020204" pitchFamily="34" charset="0"/>
              <a:buChar char="•"/>
            </a:pPr>
            <a:r>
              <a:rPr lang="en-US" sz="2400" dirty="0"/>
              <a:t>cand un process se termina, el </a:t>
            </a:r>
            <a:r>
              <a:rPr lang="en-US" sz="2400" dirty="0" err="1"/>
              <a:t>emite</a:t>
            </a:r>
            <a:r>
              <a:rPr lang="en-US" sz="2400" dirty="0"/>
              <a:t> un </a:t>
            </a:r>
            <a:r>
              <a:rPr lang="en-US" sz="2400" i="1" dirty="0"/>
              <a:t>exit reason</a:t>
            </a:r>
            <a:endParaRPr lang="en-US" dirty="0"/>
          </a:p>
          <a:p>
            <a:pPr marL="285750" indent="-285750">
              <a:buFont typeface="Arial" panose="020B0604020202020204" pitchFamily="34" charset="0"/>
              <a:buChar char="•"/>
            </a:pPr>
            <a:r>
              <a:rPr lang="en-US" sz="2400" dirty="0"/>
              <a:t>cand un </a:t>
            </a:r>
            <a:r>
              <a:rPr lang="en-US" sz="2400" dirty="0" err="1"/>
              <a:t>proces</a:t>
            </a:r>
            <a:r>
              <a:rPr lang="en-US" sz="2400" dirty="0"/>
              <a:t> se termina (normal </a:t>
            </a:r>
            <a:r>
              <a:rPr lang="en-US" sz="2400" dirty="0" err="1"/>
              <a:t>sau</a:t>
            </a:r>
            <a:r>
              <a:rPr lang="en-US" sz="2400" dirty="0"/>
              <a:t> cu </a:t>
            </a:r>
            <a:r>
              <a:rPr lang="en-US" sz="2400" dirty="0" err="1"/>
              <a:t>eroarea</a:t>
            </a:r>
            <a:r>
              <a:rPr lang="en-US" sz="2400" dirty="0"/>
              <a:t>) </a:t>
            </a:r>
            <a:r>
              <a:rPr lang="en-US" sz="2400" dirty="0" err="1"/>
              <a:t>trimite</a:t>
            </a:r>
            <a:r>
              <a:rPr lang="en-US" sz="2400" dirty="0"/>
              <a:t> automat</a:t>
            </a:r>
          </a:p>
          <a:p>
            <a:pPr marL="285750" indent="-285750">
              <a:buFont typeface="Arial" panose="020B0604020202020204" pitchFamily="34" charset="0"/>
              <a:buChar char="•"/>
            </a:pPr>
            <a:r>
              <a:rPr lang="en-US" sz="2400" dirty="0"/>
              <a:t>	un </a:t>
            </a:r>
            <a:r>
              <a:rPr lang="en-US" sz="2400" dirty="0" err="1"/>
              <a:t>semnal</a:t>
            </a:r>
            <a:r>
              <a:rPr lang="en-US" sz="2400" dirty="0"/>
              <a:t> </a:t>
            </a:r>
            <a:r>
              <a:rPr lang="en-US" sz="2400" dirty="0" err="1"/>
              <a:t>tuturor</a:t>
            </a:r>
            <a:r>
              <a:rPr lang="en-US" sz="2400" dirty="0"/>
              <a:t> </a:t>
            </a:r>
            <a:r>
              <a:rPr lang="en-US" sz="2400" dirty="0" err="1"/>
              <a:t>proceselor</a:t>
            </a:r>
            <a:r>
              <a:rPr lang="en-US" sz="2400" dirty="0"/>
              <a:t> de care </a:t>
            </a:r>
            <a:r>
              <a:rPr lang="en-US" sz="2400" dirty="0" err="1"/>
              <a:t>este</a:t>
            </a:r>
            <a:r>
              <a:rPr lang="en-US" sz="2400" dirty="0"/>
              <a:t> </a:t>
            </a:r>
            <a:r>
              <a:rPr lang="en-US" sz="2400" dirty="0" err="1"/>
              <a:t>legat</a:t>
            </a:r>
            <a:endParaRPr lang="en-US" sz="2400" dirty="0"/>
          </a:p>
          <a:p>
            <a:endParaRPr lang="en-US" dirty="0"/>
          </a:p>
        </p:txBody>
      </p:sp>
      <p:sp>
        <p:nvSpPr>
          <p:cNvPr id="7" name="TextBox 6">
            <a:extLst>
              <a:ext uri="{FF2B5EF4-FFF2-40B4-BE49-F238E27FC236}">
                <a16:creationId xmlns:a16="http://schemas.microsoft.com/office/drawing/2014/main" id="{30D798E6-4E0C-E4FB-C824-C368CFAFF059}"/>
              </a:ext>
            </a:extLst>
          </p:cNvPr>
          <p:cNvSpPr txBox="1"/>
          <p:nvPr/>
        </p:nvSpPr>
        <p:spPr>
          <a:xfrm>
            <a:off x="480224" y="230244"/>
            <a:ext cx="4808432" cy="523220"/>
          </a:xfrm>
          <a:prstGeom prst="rect">
            <a:avLst/>
          </a:prstGeom>
          <a:noFill/>
        </p:spPr>
        <p:txBody>
          <a:bodyPr wrap="none" rtlCol="0">
            <a:spAutoFit/>
          </a:bodyPr>
          <a:lstStyle/>
          <a:p>
            <a:pPr marL="457200" indent="-457200">
              <a:buFont typeface="Wingdings" panose="05000000000000000000" pitchFamily="2" charset="2"/>
              <a:buChar char="Ø"/>
            </a:pPr>
            <a:r>
              <a:rPr lang="en-US" sz="2800" dirty="0" err="1"/>
              <a:t>Mesaje</a:t>
            </a:r>
            <a:r>
              <a:rPr lang="en-US" sz="2800" dirty="0"/>
              <a:t> </a:t>
            </a:r>
            <a:r>
              <a:rPr lang="en-US" sz="2800" dirty="0" err="1"/>
              <a:t>si</a:t>
            </a:r>
            <a:r>
              <a:rPr lang="en-US" sz="2800" dirty="0"/>
              <a:t> </a:t>
            </a:r>
            <a:r>
              <a:rPr lang="en-US" sz="2800" dirty="0" err="1"/>
              <a:t>semnale</a:t>
            </a:r>
            <a:r>
              <a:rPr lang="en-US" sz="2800" dirty="0"/>
              <a:t> de </a:t>
            </a:r>
            <a:r>
              <a:rPr lang="en-US" sz="2800" dirty="0" err="1"/>
              <a:t>eroare</a:t>
            </a:r>
            <a:endParaRPr lang="en-US" sz="2800" dirty="0"/>
          </a:p>
        </p:txBody>
      </p:sp>
      <p:sp>
        <p:nvSpPr>
          <p:cNvPr id="10" name="TextBox 9">
            <a:extLst>
              <a:ext uri="{FF2B5EF4-FFF2-40B4-BE49-F238E27FC236}">
                <a16:creationId xmlns:a16="http://schemas.microsoft.com/office/drawing/2014/main" id="{7877EC4F-1769-C5A0-2D1F-DB3A83CA6325}"/>
              </a:ext>
            </a:extLst>
          </p:cNvPr>
          <p:cNvSpPr txBox="1"/>
          <p:nvPr/>
        </p:nvSpPr>
        <p:spPr>
          <a:xfrm>
            <a:off x="568960" y="3184652"/>
            <a:ext cx="1814154" cy="461665"/>
          </a:xfrm>
          <a:prstGeom prst="rect">
            <a:avLst/>
          </a:prstGeom>
          <a:solidFill>
            <a:srgbClr val="C00000"/>
          </a:solidFill>
        </p:spPr>
        <p:txBody>
          <a:bodyPr wrap="square" rtlCol="0">
            <a:spAutoFit/>
          </a:bodyPr>
          <a:lstStyle/>
          <a:p>
            <a:r>
              <a:rPr lang="en-US" sz="2400" dirty="0">
                <a:solidFill>
                  <a:schemeClr val="bg1"/>
                </a:solidFill>
              </a:rPr>
              <a:t>exit/1 exit/2</a:t>
            </a:r>
          </a:p>
        </p:txBody>
      </p:sp>
      <p:sp>
        <p:nvSpPr>
          <p:cNvPr id="11" name="TextBox 10">
            <a:extLst>
              <a:ext uri="{FF2B5EF4-FFF2-40B4-BE49-F238E27FC236}">
                <a16:creationId xmlns:a16="http://schemas.microsoft.com/office/drawing/2014/main" id="{63A809E9-5B01-453F-6FC4-FC7A190E6110}"/>
              </a:ext>
            </a:extLst>
          </p:cNvPr>
          <p:cNvSpPr txBox="1"/>
          <p:nvPr/>
        </p:nvSpPr>
        <p:spPr>
          <a:xfrm>
            <a:off x="452448" y="3958818"/>
            <a:ext cx="10834653" cy="193899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marL="342900" indent="-342900">
              <a:buFont typeface="Arial" panose="020B0604020202020204" pitchFamily="34" charset="0"/>
              <a:buChar char="•"/>
            </a:pPr>
            <a:r>
              <a:rPr lang="en-US" sz="2400" dirty="0"/>
              <a:t>un process se </a:t>
            </a:r>
            <a:r>
              <a:rPr lang="en-US" sz="2400" dirty="0" err="1"/>
              <a:t>poate</a:t>
            </a:r>
            <a:r>
              <a:rPr lang="en-US" sz="2400" dirty="0"/>
              <a:t> </a:t>
            </a:r>
            <a:r>
              <a:rPr lang="en-US" sz="2400" dirty="0" err="1"/>
              <a:t>termina</a:t>
            </a:r>
            <a:r>
              <a:rPr lang="en-US" sz="2400" dirty="0"/>
              <a:t> </a:t>
            </a:r>
            <a:r>
              <a:rPr lang="en-US" sz="2400" dirty="0" err="1"/>
              <a:t>singur</a:t>
            </a:r>
            <a:r>
              <a:rPr lang="en-US" sz="2400" dirty="0"/>
              <a:t> </a:t>
            </a:r>
            <a:r>
              <a:rPr lang="en-US" sz="2400" dirty="0" err="1"/>
              <a:t>prin</a:t>
            </a:r>
            <a:r>
              <a:rPr lang="en-US" sz="2400" dirty="0"/>
              <a:t> </a:t>
            </a:r>
            <a:r>
              <a:rPr lang="en-US" sz="2400" dirty="0" err="1"/>
              <a:t>apelul</a:t>
            </a:r>
            <a:r>
              <a:rPr lang="en-US" sz="2400" dirty="0"/>
              <a:t> </a:t>
            </a:r>
            <a:r>
              <a:rPr lang="en-US" sz="2400" dirty="0" err="1"/>
              <a:t>functiei</a:t>
            </a:r>
            <a:r>
              <a:rPr lang="en-US" sz="2400" dirty="0"/>
              <a:t> </a:t>
            </a:r>
            <a:r>
              <a:rPr lang="en-US" sz="2400" b="1" dirty="0"/>
              <a:t>exit(reason)</a:t>
            </a:r>
            <a:r>
              <a:rPr lang="en-US" sz="2400" dirty="0"/>
              <a:t> ; in </a:t>
            </a:r>
            <a:r>
              <a:rPr lang="en-US" sz="2400" dirty="0" err="1"/>
              <a:t>acest</a:t>
            </a:r>
            <a:r>
              <a:rPr lang="en-US" sz="2400" dirty="0"/>
              <a:t> </a:t>
            </a:r>
            <a:r>
              <a:rPr lang="en-US" sz="2400" dirty="0" err="1"/>
              <a:t>caz</a:t>
            </a:r>
            <a:endParaRPr lang="en-US" sz="2400" dirty="0"/>
          </a:p>
          <a:p>
            <a:r>
              <a:rPr lang="en-US" sz="2400" dirty="0"/>
              <a:t>      el </a:t>
            </a:r>
            <a:r>
              <a:rPr lang="en-US" sz="2400" dirty="0" err="1"/>
              <a:t>va</a:t>
            </a:r>
            <a:r>
              <a:rPr lang="en-US" sz="2400" dirty="0"/>
              <a:t> </a:t>
            </a:r>
            <a:r>
              <a:rPr lang="en-US" sz="2400" dirty="0" err="1"/>
              <a:t>trimite</a:t>
            </a:r>
            <a:r>
              <a:rPr lang="en-US" sz="2400" dirty="0"/>
              <a:t> un </a:t>
            </a:r>
            <a:r>
              <a:rPr lang="en-US" sz="2400" dirty="0" err="1"/>
              <a:t>semnal</a:t>
            </a:r>
            <a:r>
              <a:rPr lang="en-US" sz="2400" dirty="0"/>
              <a:t> de </a:t>
            </a:r>
            <a:r>
              <a:rPr lang="en-US" sz="2400" dirty="0" err="1"/>
              <a:t>eroare</a:t>
            </a:r>
            <a:r>
              <a:rPr lang="en-US" sz="2400" dirty="0"/>
              <a:t> </a:t>
            </a:r>
            <a:r>
              <a:rPr lang="en-US" sz="2400" dirty="0" err="1"/>
              <a:t>tuturor</a:t>
            </a:r>
            <a:r>
              <a:rPr lang="en-US" sz="2400" dirty="0"/>
              <a:t> </a:t>
            </a:r>
            <a:r>
              <a:rPr lang="en-US" sz="2400" dirty="0" err="1"/>
              <a:t>mesajelor</a:t>
            </a:r>
            <a:r>
              <a:rPr lang="en-US" sz="2400" dirty="0"/>
              <a:t> de care </a:t>
            </a:r>
            <a:r>
              <a:rPr lang="en-US" sz="2400" dirty="0" err="1"/>
              <a:t>este</a:t>
            </a:r>
            <a:r>
              <a:rPr lang="en-US" sz="2400" dirty="0"/>
              <a:t> </a:t>
            </a:r>
            <a:r>
              <a:rPr lang="en-US" sz="2400" dirty="0" err="1"/>
              <a:t>legat</a:t>
            </a:r>
            <a:r>
              <a:rPr lang="en-US" sz="2400" dirty="0"/>
              <a:t> </a:t>
            </a:r>
          </a:p>
          <a:p>
            <a:pPr marL="342900" indent="-342900">
              <a:buFont typeface="Arial" panose="020B0604020202020204" pitchFamily="34" charset="0"/>
              <a:buChar char="•"/>
            </a:pPr>
            <a:r>
              <a:rPr lang="en-US" sz="2400" dirty="0"/>
              <a:t> un </a:t>
            </a:r>
            <a:r>
              <a:rPr lang="en-US" sz="2400" dirty="0" err="1"/>
              <a:t>proces</a:t>
            </a:r>
            <a:r>
              <a:rPr lang="en-US" sz="2400" dirty="0"/>
              <a:t> </a:t>
            </a:r>
            <a:r>
              <a:rPr lang="en-US" sz="2400" dirty="0" err="1"/>
              <a:t>poate</a:t>
            </a:r>
            <a:r>
              <a:rPr lang="en-US" sz="2400" dirty="0"/>
              <a:t> </a:t>
            </a:r>
            <a:r>
              <a:rPr lang="en-US" sz="2400" dirty="0" err="1"/>
              <a:t>trimite</a:t>
            </a:r>
            <a:r>
              <a:rPr lang="en-US" sz="2400" dirty="0"/>
              <a:t> un </a:t>
            </a:r>
            <a:r>
              <a:rPr lang="en-US" sz="2400" dirty="0" err="1"/>
              <a:t>semnal</a:t>
            </a:r>
            <a:r>
              <a:rPr lang="en-US" sz="2400" dirty="0"/>
              <a:t> de </a:t>
            </a:r>
            <a:r>
              <a:rPr lang="en-US" sz="2400" dirty="0" err="1"/>
              <a:t>eroare</a:t>
            </a:r>
            <a:r>
              <a:rPr lang="en-US" sz="2400" dirty="0"/>
              <a:t> </a:t>
            </a:r>
            <a:r>
              <a:rPr lang="en-US" sz="2400" dirty="0" err="1"/>
              <a:t>altui</a:t>
            </a:r>
            <a:r>
              <a:rPr lang="en-US" sz="2400" dirty="0"/>
              <a:t> </a:t>
            </a:r>
            <a:r>
              <a:rPr lang="en-US" sz="2400" dirty="0" err="1"/>
              <a:t>proces</a:t>
            </a:r>
            <a:r>
              <a:rPr lang="en-US" sz="2400" dirty="0"/>
              <a:t> </a:t>
            </a:r>
            <a:r>
              <a:rPr lang="en-US" sz="2400" dirty="0" err="1"/>
              <a:t>apeland</a:t>
            </a:r>
            <a:endParaRPr lang="en-US" sz="2400" dirty="0"/>
          </a:p>
          <a:p>
            <a:r>
              <a:rPr lang="en-US" sz="2400" dirty="0"/>
              <a:t>      </a:t>
            </a:r>
            <a:r>
              <a:rPr lang="en-US" sz="2400" b="1" dirty="0"/>
              <a:t>exit(</a:t>
            </a:r>
            <a:r>
              <a:rPr lang="en-US" sz="2400" b="1" dirty="0" err="1"/>
              <a:t>Pid</a:t>
            </a:r>
            <a:r>
              <a:rPr lang="en-US" sz="2400" b="1" dirty="0"/>
              <a:t>, Reason)</a:t>
            </a:r>
            <a:r>
              <a:rPr lang="en-US" sz="2400" dirty="0"/>
              <a:t>;  in </a:t>
            </a:r>
            <a:r>
              <a:rPr lang="en-US" sz="2400" dirty="0" err="1"/>
              <a:t>acest</a:t>
            </a:r>
            <a:r>
              <a:rPr lang="en-US" sz="2400" dirty="0"/>
              <a:t> </a:t>
            </a:r>
            <a:r>
              <a:rPr lang="en-US" sz="2400" dirty="0" err="1"/>
              <a:t>caz</a:t>
            </a:r>
            <a:r>
              <a:rPr lang="en-US" sz="2400" dirty="0"/>
              <a:t>, </a:t>
            </a:r>
            <a:r>
              <a:rPr lang="en-US" sz="2400" dirty="0" err="1"/>
              <a:t>Pid</a:t>
            </a:r>
            <a:r>
              <a:rPr lang="en-US" sz="2400" dirty="0"/>
              <a:t> </a:t>
            </a:r>
            <a:r>
              <a:rPr lang="en-US" sz="2400" dirty="0" err="1"/>
              <a:t>va</a:t>
            </a:r>
            <a:r>
              <a:rPr lang="en-US" sz="2400" dirty="0"/>
              <a:t> </a:t>
            </a:r>
            <a:r>
              <a:rPr lang="en-US" sz="2400" dirty="0" err="1"/>
              <a:t>primi</a:t>
            </a:r>
            <a:r>
              <a:rPr lang="en-US" sz="2400" dirty="0"/>
              <a:t> </a:t>
            </a:r>
            <a:r>
              <a:rPr lang="en-US" sz="2400" dirty="0" err="1"/>
              <a:t>semnalul</a:t>
            </a:r>
            <a:r>
              <a:rPr lang="en-US" sz="2400" dirty="0"/>
              <a:t> de </a:t>
            </a:r>
            <a:r>
              <a:rPr lang="en-US" sz="2400" dirty="0" err="1"/>
              <a:t>eroare</a:t>
            </a:r>
            <a:r>
              <a:rPr lang="en-US" sz="2400" dirty="0"/>
              <a:t> </a:t>
            </a:r>
            <a:r>
              <a:rPr lang="en-US" sz="2400" dirty="0" err="1"/>
              <a:t>dar</a:t>
            </a:r>
            <a:r>
              <a:rPr lang="en-US" sz="2400" dirty="0"/>
              <a:t> </a:t>
            </a:r>
            <a:r>
              <a:rPr lang="en-US" sz="2400" dirty="0" err="1"/>
              <a:t>procesul</a:t>
            </a:r>
            <a:r>
              <a:rPr lang="en-US" sz="2400" dirty="0"/>
              <a:t> initial    	</a:t>
            </a:r>
            <a:r>
              <a:rPr lang="en-US" sz="2400" dirty="0">
                <a:solidFill>
                  <a:srgbClr val="C00000"/>
                </a:solidFill>
              </a:rPr>
              <a:t>nu</a:t>
            </a:r>
            <a:r>
              <a:rPr lang="en-US" sz="2400" dirty="0"/>
              <a:t> se </a:t>
            </a:r>
            <a:r>
              <a:rPr lang="en-US" sz="2400" dirty="0" err="1"/>
              <a:t>termina</a:t>
            </a:r>
            <a:r>
              <a:rPr lang="en-US" sz="2400" dirty="0"/>
              <a:t>. </a:t>
            </a:r>
          </a:p>
        </p:txBody>
      </p:sp>
    </p:spTree>
    <p:extLst>
      <p:ext uri="{BB962C8B-B14F-4D97-AF65-F5344CB8AC3E}">
        <p14:creationId xmlns:p14="http://schemas.microsoft.com/office/powerpoint/2010/main" val="1283887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87232" y="145253"/>
            <a:ext cx="5475986"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err="1"/>
              <a:t>Procese</a:t>
            </a:r>
            <a:r>
              <a:rPr lang="en-US" sz="2800" dirty="0"/>
              <a:t> </a:t>
            </a:r>
            <a:r>
              <a:rPr lang="en-US" sz="2800" dirty="0" err="1"/>
              <a:t>normale</a:t>
            </a:r>
            <a:r>
              <a:rPr lang="en-US" sz="2800" dirty="0"/>
              <a:t> </a:t>
            </a:r>
            <a:r>
              <a:rPr lang="en-US" sz="2800" dirty="0" err="1"/>
              <a:t>si</a:t>
            </a:r>
            <a:r>
              <a:rPr lang="en-US" sz="2800" dirty="0"/>
              <a:t> </a:t>
            </a:r>
            <a:r>
              <a:rPr lang="en-US" sz="2800" dirty="0" err="1"/>
              <a:t>procese</a:t>
            </a:r>
            <a:r>
              <a:rPr lang="en-US" sz="2800" dirty="0"/>
              <a:t> </a:t>
            </a:r>
            <a:r>
              <a:rPr lang="en-US" sz="2800" dirty="0" err="1"/>
              <a:t>sistem</a:t>
            </a:r>
            <a:endParaRPr lang="en-US" sz="2800" dirty="0"/>
          </a:p>
        </p:txBody>
      </p:sp>
      <p:sp>
        <p:nvSpPr>
          <p:cNvPr id="6" name="TextBox 5"/>
          <p:cNvSpPr txBox="1"/>
          <p:nvPr/>
        </p:nvSpPr>
        <p:spPr>
          <a:xfrm>
            <a:off x="447333" y="3940472"/>
            <a:ext cx="5384050" cy="2308324"/>
          </a:xfrm>
          <a:prstGeom prst="rect">
            <a:avLst/>
          </a:prstGeom>
          <a:noFill/>
        </p:spPr>
        <p:txBody>
          <a:bodyPr wrap="square" rtlCol="0">
            <a:spAutoFit/>
          </a:bodyPr>
          <a:lstStyle/>
          <a:p>
            <a:r>
              <a:rPr lang="en-US" sz="2400" dirty="0"/>
              <a:t>Cand un </a:t>
            </a:r>
            <a:r>
              <a:rPr lang="en-US" sz="2400" b="1" dirty="0" err="1"/>
              <a:t>proces</a:t>
            </a:r>
            <a:r>
              <a:rPr lang="en-US" sz="2400" b="1" dirty="0"/>
              <a:t> normal</a:t>
            </a:r>
            <a:r>
              <a:rPr lang="en-US" sz="2400" dirty="0"/>
              <a:t> </a:t>
            </a:r>
            <a:r>
              <a:rPr lang="en-US" sz="2400" dirty="0" err="1"/>
              <a:t>primeste</a:t>
            </a:r>
            <a:r>
              <a:rPr lang="en-US" sz="2400" dirty="0"/>
              <a:t> un </a:t>
            </a:r>
            <a:r>
              <a:rPr lang="en-US" sz="2400" dirty="0" err="1"/>
              <a:t>semnal</a:t>
            </a:r>
            <a:r>
              <a:rPr lang="en-US" sz="2400" dirty="0"/>
              <a:t> de </a:t>
            </a:r>
            <a:r>
              <a:rPr lang="en-US" sz="2400" dirty="0" err="1"/>
              <a:t>eroare</a:t>
            </a:r>
            <a:r>
              <a:rPr lang="en-US" sz="2400" dirty="0"/>
              <a:t> </a:t>
            </a:r>
            <a:r>
              <a:rPr lang="en-US" sz="2400" dirty="0" err="1"/>
              <a:t>si</a:t>
            </a:r>
            <a:r>
              <a:rPr lang="en-US" sz="2400" dirty="0"/>
              <a:t> </a:t>
            </a:r>
            <a:r>
              <a:rPr lang="en-US" sz="2400" i="1" dirty="0"/>
              <a:t>exit reason </a:t>
            </a:r>
            <a:r>
              <a:rPr lang="en-US" sz="2400" dirty="0"/>
              <a:t>nu </a:t>
            </a:r>
            <a:r>
              <a:rPr lang="en-US" sz="2400" dirty="0" err="1"/>
              <a:t>este</a:t>
            </a:r>
            <a:r>
              <a:rPr lang="en-US" sz="2400" dirty="0"/>
              <a:t> </a:t>
            </a:r>
            <a:r>
              <a:rPr lang="en-US" sz="2400" i="1" dirty="0"/>
              <a:t>normal</a:t>
            </a:r>
            <a:r>
              <a:rPr lang="en-US" sz="2400" b="1" dirty="0"/>
              <a:t> </a:t>
            </a:r>
            <a:r>
              <a:rPr lang="en-US" sz="2400" dirty="0" err="1"/>
              <a:t>atunci</a:t>
            </a:r>
            <a:r>
              <a:rPr lang="en-US" sz="2400" dirty="0"/>
              <a:t> </a:t>
            </a:r>
            <a:r>
              <a:rPr lang="en-US" sz="2400" dirty="0" err="1"/>
              <a:t>procesul</a:t>
            </a:r>
            <a:r>
              <a:rPr lang="en-US" sz="2400" dirty="0"/>
              <a:t> se termina </a:t>
            </a:r>
            <a:r>
              <a:rPr lang="en-US" sz="2400" dirty="0" err="1"/>
              <a:t>si</a:t>
            </a:r>
            <a:r>
              <a:rPr lang="en-US" sz="2400" dirty="0"/>
              <a:t> </a:t>
            </a:r>
            <a:r>
              <a:rPr lang="en-US" sz="2400" dirty="0" err="1"/>
              <a:t>trimite</a:t>
            </a:r>
            <a:r>
              <a:rPr lang="en-US" sz="2400" dirty="0"/>
              <a:t> </a:t>
            </a:r>
            <a:r>
              <a:rPr lang="en-US" sz="2400" dirty="0" err="1"/>
              <a:t>semnalul</a:t>
            </a:r>
            <a:r>
              <a:rPr lang="en-US" sz="2400" dirty="0"/>
              <a:t> de </a:t>
            </a:r>
            <a:r>
              <a:rPr lang="en-US" sz="2400" dirty="0" err="1"/>
              <a:t>eroare</a:t>
            </a:r>
            <a:r>
              <a:rPr lang="en-US" sz="2400" dirty="0"/>
              <a:t> </a:t>
            </a:r>
            <a:r>
              <a:rPr lang="en-US" sz="2400" dirty="0" err="1"/>
              <a:t>proceselor</a:t>
            </a:r>
            <a:r>
              <a:rPr lang="en-US" sz="2400" dirty="0"/>
              <a:t> cu care </a:t>
            </a:r>
            <a:r>
              <a:rPr lang="en-US" sz="2400" dirty="0" err="1"/>
              <a:t>este</a:t>
            </a:r>
            <a:r>
              <a:rPr lang="en-US" sz="2400" dirty="0"/>
              <a:t> </a:t>
            </a:r>
            <a:r>
              <a:rPr lang="en-US" sz="2400" dirty="0" err="1"/>
              <a:t>legat</a:t>
            </a:r>
            <a:r>
              <a:rPr lang="en-US" sz="2400" dirty="0"/>
              <a:t>.</a:t>
            </a:r>
          </a:p>
          <a:p>
            <a:endParaRPr lang="en-US" sz="2400" dirty="0"/>
          </a:p>
        </p:txBody>
      </p:sp>
      <p:sp>
        <p:nvSpPr>
          <p:cNvPr id="8" name="TextBox 7"/>
          <p:cNvSpPr txBox="1"/>
          <p:nvPr/>
        </p:nvSpPr>
        <p:spPr>
          <a:xfrm>
            <a:off x="526274" y="3050153"/>
            <a:ext cx="4895058"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err="1"/>
              <a:t>Primirea</a:t>
            </a:r>
            <a:r>
              <a:rPr lang="en-US" sz="2800" dirty="0"/>
              <a:t> </a:t>
            </a:r>
            <a:r>
              <a:rPr lang="en-US" sz="2800" dirty="0" err="1"/>
              <a:t>semnalelor</a:t>
            </a:r>
            <a:r>
              <a:rPr lang="en-US" sz="2800" dirty="0"/>
              <a:t> de </a:t>
            </a:r>
            <a:r>
              <a:rPr lang="en-US" sz="2800" dirty="0" err="1"/>
              <a:t>eroare</a:t>
            </a:r>
            <a:endParaRPr lang="en-US" sz="2800" dirty="0"/>
          </a:p>
        </p:txBody>
      </p:sp>
      <p:pic>
        <p:nvPicPr>
          <p:cNvPr id="4" name="Picture 3"/>
          <p:cNvPicPr>
            <a:picLocks noChangeAspect="1"/>
          </p:cNvPicPr>
          <p:nvPr/>
        </p:nvPicPr>
        <p:blipFill>
          <a:blip r:embed="rId2"/>
          <a:stretch>
            <a:fillRect/>
          </a:stretch>
        </p:blipFill>
        <p:spPr>
          <a:xfrm>
            <a:off x="6018119" y="3835217"/>
            <a:ext cx="2589773" cy="2039400"/>
          </a:xfrm>
          <a:prstGeom prst="rect">
            <a:avLst/>
          </a:prstGeom>
        </p:spPr>
      </p:pic>
      <p:pic>
        <p:nvPicPr>
          <p:cNvPr id="10" name="Picture 9"/>
          <p:cNvPicPr>
            <a:picLocks noChangeAspect="1"/>
          </p:cNvPicPr>
          <p:nvPr/>
        </p:nvPicPr>
        <p:blipFill>
          <a:blip r:embed="rId3"/>
          <a:stretch>
            <a:fillRect/>
          </a:stretch>
        </p:blipFill>
        <p:spPr>
          <a:xfrm>
            <a:off x="9134747" y="3835217"/>
            <a:ext cx="2553390" cy="1904100"/>
          </a:xfrm>
          <a:prstGeom prst="rect">
            <a:avLst/>
          </a:prstGeom>
        </p:spPr>
      </p:pic>
      <p:sp>
        <p:nvSpPr>
          <p:cNvPr id="7" name="TextBox 6"/>
          <p:cNvSpPr txBox="1"/>
          <p:nvPr/>
        </p:nvSpPr>
        <p:spPr>
          <a:xfrm>
            <a:off x="670998" y="952489"/>
            <a:ext cx="8874096" cy="1477328"/>
          </a:xfrm>
          <a:prstGeom prst="rect">
            <a:avLst/>
          </a:prstGeom>
          <a:noFill/>
        </p:spPr>
        <p:txBody>
          <a:bodyPr wrap="none" rtlCol="0">
            <a:spAutoFit/>
          </a:bodyPr>
          <a:lstStyle/>
          <a:p>
            <a:pPr marL="285750" indent="-285750">
              <a:buFont typeface="Arial" panose="020B0604020202020204" pitchFamily="34" charset="0"/>
              <a:buChar char="•"/>
            </a:pPr>
            <a:r>
              <a:rPr lang="en-US" sz="2400" dirty="0" err="1"/>
              <a:t>exista</a:t>
            </a:r>
            <a:r>
              <a:rPr lang="en-US" sz="2400" dirty="0"/>
              <a:t> </a:t>
            </a:r>
            <a:r>
              <a:rPr lang="en-US" sz="2400" dirty="0" err="1"/>
              <a:t>doua</a:t>
            </a:r>
            <a:r>
              <a:rPr lang="en-US" sz="2400" dirty="0"/>
              <a:t> </a:t>
            </a:r>
            <a:r>
              <a:rPr lang="en-US" sz="2400" dirty="0" err="1"/>
              <a:t>tipuri</a:t>
            </a:r>
            <a:r>
              <a:rPr lang="en-US" sz="2400" dirty="0"/>
              <a:t> de </a:t>
            </a:r>
            <a:r>
              <a:rPr lang="en-US" sz="2400" dirty="0" err="1"/>
              <a:t>procese</a:t>
            </a:r>
            <a:r>
              <a:rPr lang="en-US" sz="2400" dirty="0"/>
              <a:t>: </a:t>
            </a:r>
            <a:r>
              <a:rPr lang="en-US" sz="2400" dirty="0" err="1"/>
              <a:t>procese</a:t>
            </a:r>
            <a:r>
              <a:rPr lang="en-US" sz="2400" dirty="0"/>
              <a:t> </a:t>
            </a:r>
            <a:r>
              <a:rPr lang="en-US" sz="2400" dirty="0" err="1"/>
              <a:t>normale</a:t>
            </a:r>
            <a:r>
              <a:rPr lang="en-US" sz="2400" dirty="0"/>
              <a:t> </a:t>
            </a:r>
            <a:r>
              <a:rPr lang="en-US" sz="2400" dirty="0" err="1"/>
              <a:t>si</a:t>
            </a:r>
            <a:r>
              <a:rPr lang="en-US" sz="2400" dirty="0"/>
              <a:t> </a:t>
            </a:r>
            <a:r>
              <a:rPr lang="en-US" sz="2400" dirty="0" err="1"/>
              <a:t>procese</a:t>
            </a:r>
            <a:r>
              <a:rPr lang="en-US" sz="2400" dirty="0"/>
              <a:t> system</a:t>
            </a:r>
          </a:p>
          <a:p>
            <a:pPr marL="285750" indent="-285750">
              <a:buFont typeface="Arial" panose="020B0604020202020204" pitchFamily="34" charset="0"/>
              <a:buChar char="•"/>
            </a:pPr>
            <a:r>
              <a:rPr lang="en-US" sz="2400" dirty="0"/>
              <a:t>un process </a:t>
            </a:r>
            <a:r>
              <a:rPr lang="en-US" sz="2400" dirty="0" err="1"/>
              <a:t>obisnuit</a:t>
            </a:r>
            <a:r>
              <a:rPr lang="en-US" sz="2400" dirty="0"/>
              <a:t> </a:t>
            </a:r>
            <a:r>
              <a:rPr lang="en-US" sz="2400" dirty="0" err="1"/>
              <a:t>devine</a:t>
            </a:r>
            <a:r>
              <a:rPr lang="en-US" sz="2400" dirty="0"/>
              <a:t> process system </a:t>
            </a:r>
            <a:r>
              <a:rPr lang="en-US" sz="2400" dirty="0" err="1"/>
              <a:t>prin</a:t>
            </a:r>
            <a:r>
              <a:rPr lang="en-US" sz="2400" dirty="0"/>
              <a:t> </a:t>
            </a:r>
            <a:r>
              <a:rPr lang="en-US" sz="2400" dirty="0" err="1"/>
              <a:t>evaluarea</a:t>
            </a:r>
            <a:r>
              <a:rPr lang="en-US" sz="2400" dirty="0"/>
              <a:t> </a:t>
            </a:r>
            <a:r>
              <a:rPr lang="en-US" sz="2400" dirty="0" err="1"/>
              <a:t>expresiei</a:t>
            </a:r>
            <a:r>
              <a:rPr lang="en-US" sz="2400" dirty="0"/>
              <a:t> </a:t>
            </a:r>
          </a:p>
          <a:p>
            <a:r>
              <a:rPr lang="en-US" sz="2400" dirty="0"/>
              <a:t>                            </a:t>
            </a:r>
            <a:endParaRPr lang="en-US" dirty="0"/>
          </a:p>
          <a:p>
            <a:pPr marL="285750" indent="-285750">
              <a:buFont typeface="Arial" panose="020B0604020202020204" pitchFamily="34" charset="0"/>
              <a:buChar char="•"/>
            </a:pPr>
            <a:endParaRPr lang="en-US" dirty="0"/>
          </a:p>
        </p:txBody>
      </p:sp>
      <p:sp>
        <p:nvSpPr>
          <p:cNvPr id="9" name="TextBox 8"/>
          <p:cNvSpPr txBox="1"/>
          <p:nvPr/>
        </p:nvSpPr>
        <p:spPr>
          <a:xfrm>
            <a:off x="4103336" y="1868767"/>
            <a:ext cx="3650423" cy="461665"/>
          </a:xfrm>
          <a:prstGeom prst="rect">
            <a:avLst/>
          </a:prstGeom>
          <a:solidFill>
            <a:srgbClr val="C00000"/>
          </a:solidFill>
        </p:spPr>
        <p:txBody>
          <a:bodyPr wrap="none" rtlCol="0">
            <a:spAutoFit/>
          </a:bodyPr>
          <a:lstStyle/>
          <a:p>
            <a:r>
              <a:rPr lang="en-US" sz="2400" dirty="0" err="1">
                <a:solidFill>
                  <a:schemeClr val="bg1"/>
                </a:solidFill>
              </a:rPr>
              <a:t>process_flag</a:t>
            </a:r>
            <a:r>
              <a:rPr lang="en-US" sz="2400" dirty="0">
                <a:solidFill>
                  <a:schemeClr val="bg1"/>
                </a:solidFill>
              </a:rPr>
              <a:t>(</a:t>
            </a:r>
            <a:r>
              <a:rPr lang="en-US" sz="2400" dirty="0" err="1">
                <a:solidFill>
                  <a:schemeClr val="bg1"/>
                </a:solidFill>
              </a:rPr>
              <a:t>trap_exit,true</a:t>
            </a:r>
            <a:r>
              <a:rPr lang="en-US" sz="2400" dirty="0">
                <a:solidFill>
                  <a:schemeClr val="bg1"/>
                </a:solidFill>
              </a:rPr>
              <a:t>)</a:t>
            </a:r>
          </a:p>
        </p:txBody>
      </p:sp>
      <p:sp>
        <p:nvSpPr>
          <p:cNvPr id="12" name="TextBox 11"/>
          <p:cNvSpPr txBox="1"/>
          <p:nvPr/>
        </p:nvSpPr>
        <p:spPr>
          <a:xfrm>
            <a:off x="6072894" y="5874617"/>
            <a:ext cx="5583067" cy="646331"/>
          </a:xfrm>
          <a:prstGeom prst="rect">
            <a:avLst/>
          </a:prstGeom>
          <a:noFill/>
        </p:spPr>
        <p:txBody>
          <a:bodyPr wrap="none" rtlCol="0">
            <a:spAutoFit/>
          </a:bodyPr>
          <a:lstStyle/>
          <a:p>
            <a:r>
              <a:rPr lang="en-US" dirty="0"/>
              <a:t>Joe Armstrong, Programming </a:t>
            </a:r>
            <a:r>
              <a:rPr lang="en-US" dirty="0" err="1"/>
              <a:t>Erlang</a:t>
            </a:r>
            <a:r>
              <a:rPr lang="en-US" dirty="0"/>
              <a:t>, Second Edition 2013</a:t>
            </a:r>
          </a:p>
          <a:p>
            <a:endParaRPr lang="en-US" dirty="0"/>
          </a:p>
        </p:txBody>
      </p:sp>
    </p:spTree>
    <p:extLst>
      <p:ext uri="{BB962C8B-B14F-4D97-AF65-F5344CB8AC3E}">
        <p14:creationId xmlns:p14="http://schemas.microsoft.com/office/powerpoint/2010/main" val="61912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3533" y="164461"/>
            <a:ext cx="4895058"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err="1"/>
              <a:t>Primirea</a:t>
            </a:r>
            <a:r>
              <a:rPr lang="en-US" sz="2800" dirty="0"/>
              <a:t> </a:t>
            </a:r>
            <a:r>
              <a:rPr lang="en-US" sz="2800" dirty="0" err="1"/>
              <a:t>semnalelor</a:t>
            </a:r>
            <a:r>
              <a:rPr lang="en-US" sz="2800" dirty="0"/>
              <a:t> de </a:t>
            </a:r>
            <a:r>
              <a:rPr lang="en-US" sz="2800" dirty="0" err="1"/>
              <a:t>eroare</a:t>
            </a:r>
            <a:endParaRPr lang="en-US" sz="2800" dirty="0"/>
          </a:p>
        </p:txBody>
      </p:sp>
      <p:sp>
        <p:nvSpPr>
          <p:cNvPr id="6" name="TextBox 5"/>
          <p:cNvSpPr txBox="1"/>
          <p:nvPr/>
        </p:nvSpPr>
        <p:spPr>
          <a:xfrm>
            <a:off x="848616" y="976520"/>
            <a:ext cx="6896181" cy="2308324"/>
          </a:xfrm>
          <a:prstGeom prst="rect">
            <a:avLst/>
          </a:prstGeom>
          <a:noFill/>
        </p:spPr>
        <p:txBody>
          <a:bodyPr wrap="square" rtlCol="0">
            <a:spAutoFit/>
          </a:bodyPr>
          <a:lstStyle/>
          <a:p>
            <a:pPr marL="285750" indent="-285750">
              <a:buFont typeface="Arial" panose="020B0604020202020204" pitchFamily="34" charset="0"/>
              <a:buChar char="•"/>
            </a:pPr>
            <a:r>
              <a:rPr lang="en-US" sz="2400" dirty="0" err="1"/>
              <a:t>Cand</a:t>
            </a:r>
            <a:r>
              <a:rPr lang="en-US" sz="2400" dirty="0"/>
              <a:t> un </a:t>
            </a:r>
            <a:r>
              <a:rPr lang="en-US" sz="2400" dirty="0" err="1"/>
              <a:t>proces</a:t>
            </a:r>
            <a:r>
              <a:rPr lang="en-US" sz="2400" dirty="0"/>
              <a:t>  </a:t>
            </a:r>
            <a:r>
              <a:rPr lang="en-US" sz="2400" dirty="0" err="1"/>
              <a:t>sistem</a:t>
            </a:r>
            <a:r>
              <a:rPr lang="en-US" sz="2400" dirty="0"/>
              <a:t> </a:t>
            </a:r>
            <a:r>
              <a:rPr lang="en-US" sz="2400" dirty="0" err="1"/>
              <a:t>primeste</a:t>
            </a:r>
            <a:r>
              <a:rPr lang="en-US" sz="2400" dirty="0"/>
              <a:t> un </a:t>
            </a:r>
            <a:r>
              <a:rPr lang="en-US" sz="2400" dirty="0" err="1"/>
              <a:t>semnal</a:t>
            </a:r>
            <a:r>
              <a:rPr lang="en-US" sz="2400" dirty="0"/>
              <a:t> de </a:t>
            </a:r>
            <a:r>
              <a:rPr lang="en-US" sz="2400" dirty="0" err="1"/>
              <a:t>eroare</a:t>
            </a:r>
            <a:r>
              <a:rPr lang="en-US" sz="2400" dirty="0"/>
              <a:t>, </a:t>
            </a:r>
            <a:r>
              <a:rPr lang="en-US" sz="2400" dirty="0" err="1"/>
              <a:t>il</a:t>
            </a:r>
            <a:r>
              <a:rPr lang="en-US" sz="2400" dirty="0"/>
              <a:t> </a:t>
            </a:r>
            <a:r>
              <a:rPr lang="en-US" sz="2400" dirty="0" err="1"/>
              <a:t>transforma</a:t>
            </a:r>
            <a:r>
              <a:rPr lang="en-US" sz="2400" dirty="0"/>
              <a:t> </a:t>
            </a:r>
            <a:r>
              <a:rPr lang="en-US" sz="2400" dirty="0" err="1"/>
              <a:t>intr</a:t>
            </a:r>
            <a:r>
              <a:rPr lang="en-US" sz="2400" dirty="0"/>
              <a:t>-un </a:t>
            </a:r>
            <a:r>
              <a:rPr lang="en-US" sz="2400" dirty="0" err="1"/>
              <a:t>mesaj</a:t>
            </a:r>
            <a:r>
              <a:rPr lang="en-US" sz="2400" dirty="0"/>
              <a:t> de forma </a:t>
            </a:r>
          </a:p>
          <a:p>
            <a:r>
              <a:rPr lang="en-US" sz="2400" dirty="0"/>
              <a:t>                    {'EXIT', </a:t>
            </a:r>
            <a:r>
              <a:rPr lang="en-US" sz="2400" dirty="0" err="1"/>
              <a:t>Pid</a:t>
            </a:r>
            <a:r>
              <a:rPr lang="en-US" sz="2400" dirty="0"/>
              <a:t>, Why} </a:t>
            </a:r>
          </a:p>
          <a:p>
            <a:r>
              <a:rPr lang="en-US" sz="2400" dirty="0" err="1"/>
              <a:t>Unde</a:t>
            </a:r>
            <a:r>
              <a:rPr lang="en-US" sz="2400" dirty="0"/>
              <a:t> </a:t>
            </a:r>
            <a:r>
              <a:rPr lang="en-US" sz="2400" dirty="0" err="1"/>
              <a:t>Pid</a:t>
            </a:r>
            <a:r>
              <a:rPr lang="en-US" sz="2400" dirty="0"/>
              <a:t> </a:t>
            </a:r>
            <a:r>
              <a:rPr lang="en-US" sz="2400" dirty="0" err="1"/>
              <a:t>este</a:t>
            </a:r>
            <a:r>
              <a:rPr lang="en-US" sz="2400" dirty="0"/>
              <a:t> </a:t>
            </a:r>
            <a:r>
              <a:rPr lang="en-US" sz="2400" dirty="0" err="1"/>
              <a:t>identitatea</a:t>
            </a:r>
            <a:r>
              <a:rPr lang="en-US" sz="2400" dirty="0"/>
              <a:t> </a:t>
            </a:r>
            <a:r>
              <a:rPr lang="en-US" sz="2400" dirty="0" err="1"/>
              <a:t>procesului</a:t>
            </a:r>
            <a:r>
              <a:rPr lang="en-US" sz="2400" dirty="0"/>
              <a:t> care s-a </a:t>
            </a:r>
            <a:r>
              <a:rPr lang="en-US" sz="2400" dirty="0" err="1"/>
              <a:t>terminat</a:t>
            </a:r>
            <a:r>
              <a:rPr lang="en-US" sz="2400" dirty="0"/>
              <a:t> </a:t>
            </a:r>
            <a:r>
              <a:rPr lang="en-US" sz="2400" dirty="0" err="1"/>
              <a:t>si</a:t>
            </a:r>
            <a:r>
              <a:rPr lang="en-US" sz="2400" dirty="0"/>
              <a:t> Why </a:t>
            </a:r>
            <a:r>
              <a:rPr lang="en-US" sz="2400" dirty="0" err="1"/>
              <a:t>este</a:t>
            </a:r>
            <a:r>
              <a:rPr lang="en-US" sz="2400" dirty="0"/>
              <a:t> </a:t>
            </a:r>
            <a:r>
              <a:rPr lang="en-US" sz="2400" i="1" dirty="0"/>
              <a:t>exit reason </a:t>
            </a:r>
            <a:r>
              <a:rPr lang="en-US" sz="2400" dirty="0"/>
              <a:t>(</a:t>
            </a:r>
            <a:r>
              <a:rPr lang="en-US" sz="2400" dirty="0" err="1"/>
              <a:t>cand</a:t>
            </a:r>
            <a:r>
              <a:rPr lang="en-US" sz="2400" dirty="0"/>
              <a:t> </a:t>
            </a:r>
            <a:r>
              <a:rPr lang="en-US" sz="2400" dirty="0" err="1"/>
              <a:t>procesul</a:t>
            </a:r>
            <a:r>
              <a:rPr lang="en-US" sz="2400" dirty="0"/>
              <a:t> nu se </a:t>
            </a:r>
            <a:r>
              <a:rPr lang="en-US" sz="2400" dirty="0" err="1"/>
              <a:t>termina</a:t>
            </a:r>
            <a:r>
              <a:rPr lang="en-US" sz="2400" dirty="0"/>
              <a:t> cu </a:t>
            </a:r>
            <a:r>
              <a:rPr lang="en-US" sz="2400" dirty="0" err="1"/>
              <a:t>eroare</a:t>
            </a:r>
            <a:r>
              <a:rPr lang="en-US" sz="2400" dirty="0"/>
              <a:t>, Why </a:t>
            </a:r>
            <a:r>
              <a:rPr lang="en-US" sz="2400" dirty="0" err="1"/>
              <a:t>este</a:t>
            </a:r>
            <a:r>
              <a:rPr lang="en-US" sz="2400" dirty="0"/>
              <a:t> </a:t>
            </a:r>
            <a:r>
              <a:rPr lang="en-US" sz="2400" b="1" dirty="0"/>
              <a:t>normal</a:t>
            </a:r>
            <a:r>
              <a:rPr lang="en-US" sz="2400" dirty="0"/>
              <a:t>) </a:t>
            </a:r>
          </a:p>
        </p:txBody>
      </p:sp>
      <p:sp>
        <p:nvSpPr>
          <p:cNvPr id="11" name="TextBox 10"/>
          <p:cNvSpPr txBox="1"/>
          <p:nvPr/>
        </p:nvSpPr>
        <p:spPr>
          <a:xfrm>
            <a:off x="8930208" y="167631"/>
            <a:ext cx="2785571" cy="646331"/>
          </a:xfrm>
          <a:prstGeom prst="rect">
            <a:avLst/>
          </a:prstGeom>
          <a:noFill/>
          <a:ln>
            <a:solidFill>
              <a:srgbClr val="CA1421"/>
            </a:solidFill>
          </a:ln>
        </p:spPr>
        <p:txBody>
          <a:bodyPr wrap="none" rtlCol="0">
            <a:spAutoFit/>
          </a:bodyPr>
          <a:lstStyle/>
          <a:p>
            <a:r>
              <a:rPr lang="en-US" dirty="0" err="1"/>
              <a:t>process_flag</a:t>
            </a:r>
            <a:r>
              <a:rPr lang="en-US" dirty="0"/>
              <a:t>(</a:t>
            </a:r>
            <a:r>
              <a:rPr lang="en-US" dirty="0" err="1"/>
              <a:t>trap_exit,true</a:t>
            </a:r>
            <a:r>
              <a:rPr lang="en-US" dirty="0"/>
              <a:t>)</a:t>
            </a:r>
          </a:p>
          <a:p>
            <a:r>
              <a:rPr lang="en-US" dirty="0"/>
              <a:t>-- trap the exit signals</a:t>
            </a:r>
          </a:p>
        </p:txBody>
      </p:sp>
      <p:pic>
        <p:nvPicPr>
          <p:cNvPr id="3" name="Picture 2"/>
          <p:cNvPicPr>
            <a:picLocks noChangeAspect="1"/>
          </p:cNvPicPr>
          <p:nvPr/>
        </p:nvPicPr>
        <p:blipFill>
          <a:blip r:embed="rId2"/>
          <a:stretch>
            <a:fillRect/>
          </a:stretch>
        </p:blipFill>
        <p:spPr>
          <a:xfrm>
            <a:off x="8149645" y="976520"/>
            <a:ext cx="2553390" cy="1933800"/>
          </a:xfrm>
          <a:prstGeom prst="rect">
            <a:avLst/>
          </a:prstGeom>
        </p:spPr>
      </p:pic>
      <p:pic>
        <p:nvPicPr>
          <p:cNvPr id="5" name="Picture 4"/>
          <p:cNvPicPr>
            <a:picLocks noChangeAspect="1"/>
          </p:cNvPicPr>
          <p:nvPr/>
        </p:nvPicPr>
        <p:blipFill>
          <a:blip r:embed="rId3"/>
          <a:stretch>
            <a:fillRect/>
          </a:stretch>
        </p:blipFill>
        <p:spPr>
          <a:xfrm>
            <a:off x="8199257" y="2910021"/>
            <a:ext cx="2503778" cy="1894200"/>
          </a:xfrm>
          <a:prstGeom prst="rect">
            <a:avLst/>
          </a:prstGeom>
        </p:spPr>
      </p:pic>
      <p:sp>
        <p:nvSpPr>
          <p:cNvPr id="7" name="TextBox 6"/>
          <p:cNvSpPr txBox="1"/>
          <p:nvPr/>
        </p:nvSpPr>
        <p:spPr>
          <a:xfrm>
            <a:off x="506538" y="3429000"/>
            <a:ext cx="7764305" cy="461665"/>
          </a:xfrm>
          <a:prstGeom prst="rect">
            <a:avLst/>
          </a:prstGeom>
          <a:noFill/>
        </p:spPr>
        <p:txBody>
          <a:bodyPr wrap="none" rtlCol="0">
            <a:spAutoFit/>
          </a:bodyPr>
          <a:lstStyle/>
          <a:p>
            <a:pPr marL="285750" indent="-285750">
              <a:buFont typeface="Arial" panose="020B0604020202020204" pitchFamily="34" charset="0"/>
              <a:buChar char="•"/>
            </a:pPr>
            <a:r>
              <a:rPr lang="en-US" sz="2400" dirty="0" err="1"/>
              <a:t>Procesele</a:t>
            </a:r>
            <a:r>
              <a:rPr lang="en-US" sz="2400" dirty="0"/>
              <a:t> </a:t>
            </a:r>
            <a:r>
              <a:rPr lang="en-US" sz="2400" dirty="0" err="1"/>
              <a:t>sistem</a:t>
            </a:r>
            <a:r>
              <a:rPr lang="en-US" sz="2400" dirty="0"/>
              <a:t> </a:t>
            </a:r>
            <a:r>
              <a:rPr lang="en-US" sz="2400" dirty="0" err="1"/>
              <a:t>opresc</a:t>
            </a:r>
            <a:r>
              <a:rPr lang="en-US" sz="2400" dirty="0"/>
              <a:t> </a:t>
            </a:r>
            <a:r>
              <a:rPr lang="en-US" sz="2400" dirty="0" err="1"/>
              <a:t>propagarea</a:t>
            </a:r>
            <a:r>
              <a:rPr lang="en-US" sz="2400" dirty="0"/>
              <a:t> </a:t>
            </a:r>
            <a:r>
              <a:rPr lang="en-US" sz="2400" dirty="0" err="1"/>
              <a:t>semnalelor</a:t>
            </a:r>
            <a:r>
              <a:rPr lang="en-US" sz="2400" dirty="0"/>
              <a:t> de </a:t>
            </a:r>
            <a:r>
              <a:rPr lang="en-US" sz="2400" dirty="0" err="1"/>
              <a:t>eroare</a:t>
            </a:r>
            <a:r>
              <a:rPr lang="en-US" sz="2400" dirty="0"/>
              <a:t>.</a:t>
            </a:r>
          </a:p>
        </p:txBody>
      </p:sp>
      <p:sp>
        <p:nvSpPr>
          <p:cNvPr id="9" name="TextBox 8"/>
          <p:cNvSpPr txBox="1"/>
          <p:nvPr/>
        </p:nvSpPr>
        <p:spPr>
          <a:xfrm>
            <a:off x="506538" y="4804221"/>
            <a:ext cx="6097415" cy="120032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Daca un </a:t>
            </a:r>
            <a:r>
              <a:rPr lang="en-US" sz="2400" dirty="0" err="1"/>
              <a:t>proces</a:t>
            </a:r>
            <a:r>
              <a:rPr lang="en-US" sz="2400" dirty="0"/>
              <a:t> system </a:t>
            </a:r>
            <a:r>
              <a:rPr lang="en-US" sz="2400" dirty="0" err="1"/>
              <a:t>primeste</a:t>
            </a:r>
            <a:r>
              <a:rPr lang="en-US" sz="2400" dirty="0"/>
              <a:t> </a:t>
            </a:r>
            <a:r>
              <a:rPr lang="en-US" sz="2400" dirty="0" err="1"/>
              <a:t>semnalul</a:t>
            </a:r>
            <a:r>
              <a:rPr lang="en-US" sz="2400" dirty="0"/>
              <a:t> </a:t>
            </a:r>
            <a:r>
              <a:rPr lang="en-US" sz="2400" b="1" dirty="0"/>
              <a:t>kill</a:t>
            </a:r>
            <a:r>
              <a:rPr lang="en-US" sz="2400" dirty="0"/>
              <a:t>  </a:t>
            </a:r>
            <a:r>
              <a:rPr lang="en-US" sz="2400" dirty="0" err="1"/>
              <a:t>atunci</a:t>
            </a:r>
            <a:r>
              <a:rPr lang="en-US" sz="2400" dirty="0"/>
              <a:t> se termina. </a:t>
            </a:r>
            <a:r>
              <a:rPr lang="en-US" sz="2400" dirty="0" err="1"/>
              <a:t>Mesajele</a:t>
            </a:r>
            <a:r>
              <a:rPr lang="en-US" sz="2400" dirty="0"/>
              <a:t> </a:t>
            </a:r>
            <a:r>
              <a:rPr lang="en-US" sz="2400" b="1" dirty="0"/>
              <a:t>kill</a:t>
            </a:r>
            <a:r>
              <a:rPr lang="en-US" sz="2400" dirty="0"/>
              <a:t> </a:t>
            </a:r>
            <a:r>
              <a:rPr lang="en-US" sz="2400" dirty="0" err="1"/>
              <a:t>sunt</a:t>
            </a:r>
            <a:r>
              <a:rPr lang="en-US" sz="2400" dirty="0"/>
              <a:t> generate </a:t>
            </a:r>
            <a:r>
              <a:rPr lang="en-US" sz="2400" dirty="0" err="1"/>
              <a:t>prin</a:t>
            </a:r>
            <a:r>
              <a:rPr lang="en-US" sz="2400" dirty="0"/>
              <a:t> </a:t>
            </a:r>
            <a:r>
              <a:rPr lang="en-US" sz="2400" dirty="0" err="1"/>
              <a:t>apeluri</a:t>
            </a:r>
            <a:r>
              <a:rPr lang="en-US" sz="2400" dirty="0"/>
              <a:t> </a:t>
            </a:r>
            <a:r>
              <a:rPr lang="en-US" sz="2400" b="1" dirty="0"/>
              <a:t>exit(</a:t>
            </a:r>
            <a:r>
              <a:rPr lang="en-US" sz="2400" b="1" dirty="0" err="1"/>
              <a:t>Pid</a:t>
            </a:r>
            <a:r>
              <a:rPr lang="en-US" sz="2400" b="1" dirty="0"/>
              <a:t>, kill) </a:t>
            </a:r>
          </a:p>
        </p:txBody>
      </p:sp>
      <p:sp>
        <p:nvSpPr>
          <p:cNvPr id="4" name="TextBox 3"/>
          <p:cNvSpPr txBox="1"/>
          <p:nvPr/>
        </p:nvSpPr>
        <p:spPr>
          <a:xfrm>
            <a:off x="8253629" y="4843821"/>
            <a:ext cx="3669594" cy="923330"/>
          </a:xfrm>
          <a:prstGeom prst="rect">
            <a:avLst/>
          </a:prstGeom>
          <a:noFill/>
        </p:spPr>
        <p:txBody>
          <a:bodyPr wrap="none" rtlCol="0">
            <a:spAutoFit/>
          </a:bodyPr>
          <a:lstStyle/>
          <a:p>
            <a:r>
              <a:rPr lang="en-US" dirty="0"/>
              <a:t>Joe Armstrong, Programming </a:t>
            </a:r>
            <a:r>
              <a:rPr lang="en-US" dirty="0" err="1"/>
              <a:t>Erlang</a:t>
            </a:r>
            <a:r>
              <a:rPr lang="en-US" dirty="0"/>
              <a:t>, </a:t>
            </a:r>
          </a:p>
          <a:p>
            <a:r>
              <a:rPr lang="en-US" dirty="0"/>
              <a:t>Second Edition 2013</a:t>
            </a:r>
          </a:p>
          <a:p>
            <a:endParaRPr lang="en-US" dirty="0"/>
          </a:p>
        </p:txBody>
      </p:sp>
      <p:cxnSp>
        <p:nvCxnSpPr>
          <p:cNvPr id="12" name="Straight Arrow Connector 11"/>
          <p:cNvCxnSpPr/>
          <p:nvPr/>
        </p:nvCxnSpPr>
        <p:spPr>
          <a:xfrm flipV="1">
            <a:off x="9749214" y="735165"/>
            <a:ext cx="197353" cy="482709"/>
          </a:xfrm>
          <a:prstGeom prst="straightConnector1">
            <a:avLst/>
          </a:prstGeom>
          <a:ln>
            <a:solidFill>
              <a:srgbClr val="CA142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3804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81649-C58E-3706-1B93-DDED7254524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145101-8D14-1B02-823D-43D7A44D4BD4}"/>
              </a:ext>
            </a:extLst>
          </p:cNvPr>
          <p:cNvSpPr txBox="1"/>
          <p:nvPr/>
        </p:nvSpPr>
        <p:spPr>
          <a:xfrm>
            <a:off x="703533" y="164461"/>
            <a:ext cx="4895058" cy="523220"/>
          </a:xfrm>
          <a:prstGeom prst="rect">
            <a:avLst/>
          </a:prstGeom>
          <a:noFill/>
        </p:spPr>
        <p:txBody>
          <a:bodyPr wrap="none" rtlCol="0">
            <a:spAutoFit/>
          </a:bodyPr>
          <a:lstStyle/>
          <a:p>
            <a:pPr marL="285750" indent="-285750">
              <a:buFont typeface="Wingdings" panose="05000000000000000000" pitchFamily="2" charset="2"/>
              <a:buChar char="Ø"/>
            </a:pPr>
            <a:r>
              <a:rPr lang="en-US" sz="2800" dirty="0" err="1"/>
              <a:t>Primirea</a:t>
            </a:r>
            <a:r>
              <a:rPr lang="en-US" sz="2800" dirty="0"/>
              <a:t> </a:t>
            </a:r>
            <a:r>
              <a:rPr lang="en-US" sz="2800" dirty="0" err="1"/>
              <a:t>semnalelor</a:t>
            </a:r>
            <a:r>
              <a:rPr lang="en-US" sz="2800" dirty="0"/>
              <a:t> de </a:t>
            </a:r>
            <a:r>
              <a:rPr lang="en-US" sz="2800" dirty="0" err="1"/>
              <a:t>eroare</a:t>
            </a:r>
            <a:endParaRPr lang="en-US" sz="2800" dirty="0"/>
          </a:p>
        </p:txBody>
      </p:sp>
      <p:sp>
        <p:nvSpPr>
          <p:cNvPr id="11" name="TextBox 10">
            <a:extLst>
              <a:ext uri="{FF2B5EF4-FFF2-40B4-BE49-F238E27FC236}">
                <a16:creationId xmlns:a16="http://schemas.microsoft.com/office/drawing/2014/main" id="{60AB9548-BF66-A83F-14BE-2C1BEC80A369}"/>
              </a:ext>
            </a:extLst>
          </p:cNvPr>
          <p:cNvSpPr txBox="1"/>
          <p:nvPr/>
        </p:nvSpPr>
        <p:spPr>
          <a:xfrm>
            <a:off x="8930208" y="167631"/>
            <a:ext cx="2785571" cy="646331"/>
          </a:xfrm>
          <a:prstGeom prst="rect">
            <a:avLst/>
          </a:prstGeom>
          <a:noFill/>
          <a:ln>
            <a:solidFill>
              <a:srgbClr val="CA1421"/>
            </a:solidFill>
          </a:ln>
        </p:spPr>
        <p:txBody>
          <a:bodyPr wrap="none" rtlCol="0">
            <a:spAutoFit/>
          </a:bodyPr>
          <a:lstStyle/>
          <a:p>
            <a:r>
              <a:rPr lang="en-US" dirty="0" err="1"/>
              <a:t>process_flag</a:t>
            </a:r>
            <a:r>
              <a:rPr lang="en-US" dirty="0"/>
              <a:t>(</a:t>
            </a:r>
            <a:r>
              <a:rPr lang="en-US" dirty="0" err="1"/>
              <a:t>trap_exit,true</a:t>
            </a:r>
            <a:r>
              <a:rPr lang="en-US" dirty="0"/>
              <a:t>)</a:t>
            </a:r>
          </a:p>
          <a:p>
            <a:r>
              <a:rPr lang="en-US" dirty="0"/>
              <a:t>-- trap the exit signals</a:t>
            </a:r>
          </a:p>
        </p:txBody>
      </p:sp>
      <p:pic>
        <p:nvPicPr>
          <p:cNvPr id="3" name="Picture 2">
            <a:extLst>
              <a:ext uri="{FF2B5EF4-FFF2-40B4-BE49-F238E27FC236}">
                <a16:creationId xmlns:a16="http://schemas.microsoft.com/office/drawing/2014/main" id="{A247906E-FA16-7F64-04E7-12DD7DD73CC5}"/>
              </a:ext>
            </a:extLst>
          </p:cNvPr>
          <p:cNvPicPr>
            <a:picLocks noChangeAspect="1"/>
          </p:cNvPicPr>
          <p:nvPr/>
        </p:nvPicPr>
        <p:blipFill>
          <a:blip r:embed="rId2"/>
          <a:stretch>
            <a:fillRect/>
          </a:stretch>
        </p:blipFill>
        <p:spPr>
          <a:xfrm>
            <a:off x="8149645" y="976520"/>
            <a:ext cx="2553390" cy="1933800"/>
          </a:xfrm>
          <a:prstGeom prst="rect">
            <a:avLst/>
          </a:prstGeom>
        </p:spPr>
      </p:pic>
      <p:pic>
        <p:nvPicPr>
          <p:cNvPr id="5" name="Picture 4">
            <a:extLst>
              <a:ext uri="{FF2B5EF4-FFF2-40B4-BE49-F238E27FC236}">
                <a16:creationId xmlns:a16="http://schemas.microsoft.com/office/drawing/2014/main" id="{FCCF1A1A-EEE7-C187-CFED-CB751F1487F9}"/>
              </a:ext>
            </a:extLst>
          </p:cNvPr>
          <p:cNvPicPr>
            <a:picLocks noChangeAspect="1"/>
          </p:cNvPicPr>
          <p:nvPr/>
        </p:nvPicPr>
        <p:blipFill>
          <a:blip r:embed="rId3"/>
          <a:stretch>
            <a:fillRect/>
          </a:stretch>
        </p:blipFill>
        <p:spPr>
          <a:xfrm>
            <a:off x="8199257" y="2910021"/>
            <a:ext cx="2503778" cy="1894200"/>
          </a:xfrm>
          <a:prstGeom prst="rect">
            <a:avLst/>
          </a:prstGeom>
        </p:spPr>
      </p:pic>
      <p:sp>
        <p:nvSpPr>
          <p:cNvPr id="9" name="TextBox 8">
            <a:extLst>
              <a:ext uri="{FF2B5EF4-FFF2-40B4-BE49-F238E27FC236}">
                <a16:creationId xmlns:a16="http://schemas.microsoft.com/office/drawing/2014/main" id="{68C53045-C30E-AB74-E77A-B14493277A8D}"/>
              </a:ext>
            </a:extLst>
          </p:cNvPr>
          <p:cNvSpPr txBox="1"/>
          <p:nvPr/>
        </p:nvSpPr>
        <p:spPr>
          <a:xfrm>
            <a:off x="703533" y="1351508"/>
            <a:ext cx="6097415" cy="4154984"/>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Daca un </a:t>
            </a:r>
            <a:r>
              <a:rPr lang="en-US" sz="2400" dirty="0" err="1"/>
              <a:t>proces</a:t>
            </a:r>
            <a:r>
              <a:rPr lang="en-US" sz="2400" dirty="0"/>
              <a:t> system </a:t>
            </a:r>
            <a:r>
              <a:rPr lang="en-US" sz="2400" dirty="0" err="1"/>
              <a:t>primeste</a:t>
            </a:r>
            <a:r>
              <a:rPr lang="en-US" sz="2400" dirty="0"/>
              <a:t> </a:t>
            </a:r>
            <a:r>
              <a:rPr lang="en-US" sz="2400" dirty="0" err="1"/>
              <a:t>semnalul</a:t>
            </a:r>
            <a:r>
              <a:rPr lang="en-US" sz="2400" dirty="0"/>
              <a:t>  </a:t>
            </a:r>
            <a:r>
              <a:rPr lang="en-US" sz="2400" b="1" dirty="0"/>
              <a:t>kill</a:t>
            </a:r>
            <a:r>
              <a:rPr lang="en-US" sz="2400" dirty="0"/>
              <a:t>  </a:t>
            </a:r>
            <a:r>
              <a:rPr lang="en-US" sz="2400" dirty="0" err="1"/>
              <a:t>atunci</a:t>
            </a:r>
            <a:r>
              <a:rPr lang="en-US" sz="2400" dirty="0"/>
              <a:t> se termina.  </a:t>
            </a:r>
            <a:r>
              <a:rPr lang="en-US" sz="2400" dirty="0" err="1"/>
              <a:t>Mesajele</a:t>
            </a:r>
            <a:r>
              <a:rPr lang="en-US" sz="2400" dirty="0"/>
              <a:t> </a:t>
            </a:r>
            <a:r>
              <a:rPr lang="en-US" sz="2400" b="1" dirty="0"/>
              <a:t>kill</a:t>
            </a:r>
            <a:r>
              <a:rPr lang="en-US" sz="2400" dirty="0"/>
              <a:t> sunt generate </a:t>
            </a:r>
            <a:r>
              <a:rPr lang="en-US" sz="2400" dirty="0" err="1"/>
              <a:t>prin</a:t>
            </a:r>
            <a:r>
              <a:rPr lang="en-US" sz="2400" dirty="0"/>
              <a:t> </a:t>
            </a:r>
            <a:r>
              <a:rPr lang="en-US" sz="2400" dirty="0" err="1"/>
              <a:t>apeluri</a:t>
            </a:r>
            <a:r>
              <a:rPr lang="en-US" sz="2400" dirty="0"/>
              <a:t> </a:t>
            </a:r>
            <a:r>
              <a:rPr lang="en-US" sz="2400" b="1" dirty="0"/>
              <a:t>exit(Pid, kill).</a:t>
            </a:r>
          </a:p>
          <a:p>
            <a:endParaRPr lang="en-US" sz="2400" b="1" dirty="0"/>
          </a:p>
          <a:p>
            <a:r>
              <a:rPr lang="en-US" sz="2400" b="1" dirty="0"/>
              <a:t>"</a:t>
            </a:r>
            <a:r>
              <a:rPr lang="en-US" sz="2400" i="1" dirty="0"/>
              <a:t>Untrappable exit signals. </a:t>
            </a:r>
          </a:p>
          <a:p>
            <a:r>
              <a:rPr lang="en-US" sz="2400" i="1" dirty="0"/>
              <a:t>The kill signal bypasses the normal error signal processing mechanism and is not converted into a message. The exit kill signal should be reserved for rogue  processes that refuse to die using any of the other error handling mechanism.  </a:t>
            </a:r>
            <a:r>
              <a:rPr lang="en-US" sz="2400" b="1" dirty="0"/>
              <a:t>"</a:t>
            </a:r>
          </a:p>
        </p:txBody>
      </p:sp>
      <p:sp>
        <p:nvSpPr>
          <p:cNvPr id="4" name="TextBox 3">
            <a:extLst>
              <a:ext uri="{FF2B5EF4-FFF2-40B4-BE49-F238E27FC236}">
                <a16:creationId xmlns:a16="http://schemas.microsoft.com/office/drawing/2014/main" id="{489DDF8C-A7A6-9CF8-CF9F-DF8D00694A2D}"/>
              </a:ext>
            </a:extLst>
          </p:cNvPr>
          <p:cNvSpPr txBox="1"/>
          <p:nvPr/>
        </p:nvSpPr>
        <p:spPr>
          <a:xfrm>
            <a:off x="8253629" y="4843821"/>
            <a:ext cx="3669594" cy="923330"/>
          </a:xfrm>
          <a:prstGeom prst="rect">
            <a:avLst/>
          </a:prstGeom>
          <a:noFill/>
        </p:spPr>
        <p:txBody>
          <a:bodyPr wrap="none" rtlCol="0">
            <a:spAutoFit/>
          </a:bodyPr>
          <a:lstStyle/>
          <a:p>
            <a:r>
              <a:rPr lang="en-US" dirty="0"/>
              <a:t>Joe Armstrong, Programming </a:t>
            </a:r>
            <a:r>
              <a:rPr lang="en-US" dirty="0" err="1"/>
              <a:t>Erlang</a:t>
            </a:r>
            <a:r>
              <a:rPr lang="en-US" dirty="0"/>
              <a:t>, </a:t>
            </a:r>
          </a:p>
          <a:p>
            <a:r>
              <a:rPr lang="en-US" dirty="0"/>
              <a:t>Second Edition 2013</a:t>
            </a:r>
          </a:p>
          <a:p>
            <a:endParaRPr lang="en-US" dirty="0"/>
          </a:p>
        </p:txBody>
      </p:sp>
      <p:cxnSp>
        <p:nvCxnSpPr>
          <p:cNvPr id="12" name="Straight Arrow Connector 11">
            <a:extLst>
              <a:ext uri="{FF2B5EF4-FFF2-40B4-BE49-F238E27FC236}">
                <a16:creationId xmlns:a16="http://schemas.microsoft.com/office/drawing/2014/main" id="{1D6691DF-563D-BA69-03A9-6E9A969E64DD}"/>
              </a:ext>
            </a:extLst>
          </p:cNvPr>
          <p:cNvCxnSpPr/>
          <p:nvPr/>
        </p:nvCxnSpPr>
        <p:spPr>
          <a:xfrm flipV="1">
            <a:off x="9749214" y="735165"/>
            <a:ext cx="197353" cy="482709"/>
          </a:xfrm>
          <a:prstGeom prst="straightConnector1">
            <a:avLst/>
          </a:prstGeom>
          <a:ln>
            <a:solidFill>
              <a:srgbClr val="CA142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7688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2852" y="1046436"/>
            <a:ext cx="2907660" cy="1200329"/>
          </a:xfrm>
          <a:prstGeom prst="rect">
            <a:avLst/>
          </a:prstGeom>
          <a:ln>
            <a:solidFill>
              <a:srgbClr val="C00000"/>
            </a:solidFill>
          </a:ln>
        </p:spPr>
        <p:txBody>
          <a:bodyPr wrap="square">
            <a:spAutoFit/>
          </a:bodyPr>
          <a:lstStyle/>
          <a:p>
            <a:r>
              <a:rPr lang="en-US" sz="2400" dirty="0" err="1"/>
              <a:t>myproc</a:t>
            </a:r>
            <a:r>
              <a:rPr lang="en-US" sz="2400" dirty="0"/>
              <a:t>() -&gt;</a:t>
            </a:r>
          </a:p>
          <a:p>
            <a:r>
              <a:rPr lang="en-US" sz="2400" dirty="0"/>
              <a:t>  </a:t>
            </a:r>
            <a:r>
              <a:rPr lang="en-US" sz="2400" dirty="0" err="1"/>
              <a:t>timer:sleep</a:t>
            </a:r>
            <a:r>
              <a:rPr lang="en-US" sz="2400" dirty="0"/>
              <a:t>(5000),</a:t>
            </a:r>
          </a:p>
          <a:p>
            <a:r>
              <a:rPr lang="en-US" sz="2400" dirty="0"/>
              <a:t>  exit(reason).</a:t>
            </a:r>
          </a:p>
        </p:txBody>
      </p:sp>
      <p:pic>
        <p:nvPicPr>
          <p:cNvPr id="6" name="Picture 5"/>
          <p:cNvPicPr>
            <a:picLocks noChangeAspect="1"/>
          </p:cNvPicPr>
          <p:nvPr/>
        </p:nvPicPr>
        <p:blipFill>
          <a:blip r:embed="rId2"/>
          <a:stretch>
            <a:fillRect/>
          </a:stretch>
        </p:blipFill>
        <p:spPr>
          <a:xfrm>
            <a:off x="268692" y="3095697"/>
            <a:ext cx="5654699" cy="2597743"/>
          </a:xfrm>
          <a:prstGeom prst="rect">
            <a:avLst/>
          </a:prstGeom>
        </p:spPr>
      </p:pic>
      <p:sp>
        <p:nvSpPr>
          <p:cNvPr id="7" name="TextBox 6"/>
          <p:cNvSpPr txBox="1"/>
          <p:nvPr/>
        </p:nvSpPr>
        <p:spPr>
          <a:xfrm>
            <a:off x="532852" y="5693440"/>
            <a:ext cx="4980338" cy="892552"/>
          </a:xfrm>
          <a:prstGeom prst="rect">
            <a:avLst/>
          </a:prstGeom>
          <a:noFill/>
        </p:spPr>
        <p:txBody>
          <a:bodyPr wrap="none" rtlCol="0">
            <a:spAutoFit/>
          </a:bodyPr>
          <a:lstStyle/>
          <a:p>
            <a:r>
              <a:rPr lang="en-US" sz="1600" dirty="0"/>
              <a:t>Joe Armstrong, Programming </a:t>
            </a:r>
            <a:r>
              <a:rPr lang="en-US" sz="1600" dirty="0" err="1"/>
              <a:t>Erlang</a:t>
            </a:r>
            <a:r>
              <a:rPr lang="en-US" sz="1600" dirty="0"/>
              <a:t>, Second Edition 2013</a:t>
            </a:r>
          </a:p>
          <a:p>
            <a:endParaRPr lang="en-US" dirty="0">
              <a:solidFill>
                <a:schemeClr val="bg1"/>
              </a:solidFill>
            </a:endParaRPr>
          </a:p>
          <a:p>
            <a:endParaRPr lang="en-US" dirty="0"/>
          </a:p>
        </p:txBody>
      </p:sp>
      <p:sp>
        <p:nvSpPr>
          <p:cNvPr id="9" name="TextBox 8"/>
          <p:cNvSpPr txBox="1"/>
          <p:nvPr/>
        </p:nvSpPr>
        <p:spPr>
          <a:xfrm>
            <a:off x="164461" y="138147"/>
            <a:ext cx="3107710" cy="461665"/>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a:t>link() </a:t>
            </a:r>
            <a:r>
              <a:rPr lang="en-US" sz="2400" b="1" dirty="0" err="1"/>
              <a:t>si</a:t>
            </a:r>
            <a:r>
              <a:rPr lang="en-US" sz="2400" b="1" dirty="0"/>
              <a:t> </a:t>
            </a:r>
            <a:r>
              <a:rPr lang="en-US" sz="2400" b="1" dirty="0" err="1"/>
              <a:t>spawn_link</a:t>
            </a:r>
            <a:r>
              <a:rPr lang="en-US" sz="2400" b="1" dirty="0"/>
              <a:t>()</a:t>
            </a:r>
          </a:p>
        </p:txBody>
      </p:sp>
      <p:pic>
        <p:nvPicPr>
          <p:cNvPr id="11" name="Picture 10">
            <a:extLst>
              <a:ext uri="{FF2B5EF4-FFF2-40B4-BE49-F238E27FC236}">
                <a16:creationId xmlns:a16="http://schemas.microsoft.com/office/drawing/2014/main" id="{BE457D11-BF6E-56B3-FCAA-527DEA5A4F06}"/>
              </a:ext>
            </a:extLst>
          </p:cNvPr>
          <p:cNvPicPr>
            <a:picLocks noChangeAspect="1"/>
          </p:cNvPicPr>
          <p:nvPr/>
        </p:nvPicPr>
        <p:blipFill>
          <a:blip r:embed="rId3"/>
          <a:stretch>
            <a:fillRect/>
          </a:stretch>
        </p:blipFill>
        <p:spPr>
          <a:xfrm>
            <a:off x="6457274" y="762032"/>
            <a:ext cx="5470591" cy="4846288"/>
          </a:xfrm>
          <a:prstGeom prst="rect">
            <a:avLst/>
          </a:prstGeom>
        </p:spPr>
      </p:pic>
      <p:sp>
        <p:nvSpPr>
          <p:cNvPr id="12" name="TextBox 11">
            <a:extLst>
              <a:ext uri="{FF2B5EF4-FFF2-40B4-BE49-F238E27FC236}">
                <a16:creationId xmlns:a16="http://schemas.microsoft.com/office/drawing/2014/main" id="{8759219C-6D0B-74FD-8682-5588DDB2D5E8}"/>
              </a:ext>
            </a:extLst>
          </p:cNvPr>
          <p:cNvSpPr txBox="1"/>
          <p:nvPr/>
        </p:nvSpPr>
        <p:spPr>
          <a:xfrm flipH="1">
            <a:off x="3942080" y="2214009"/>
            <a:ext cx="2611120" cy="646331"/>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dirty="0" err="1"/>
              <a:t>procesul</a:t>
            </a:r>
            <a:r>
              <a:rPr lang="en-US" dirty="0"/>
              <a:t> s-a </a:t>
            </a:r>
            <a:r>
              <a:rPr lang="en-US" dirty="0" err="1"/>
              <a:t>terminat</a:t>
            </a:r>
            <a:r>
              <a:rPr lang="en-US" dirty="0"/>
              <a:t> </a:t>
            </a:r>
            <a:r>
              <a:rPr lang="en-US" dirty="0" err="1"/>
              <a:t>inainte</a:t>
            </a:r>
            <a:r>
              <a:rPr lang="en-US" dirty="0"/>
              <a:t> de a face </a:t>
            </a:r>
            <a:r>
              <a:rPr lang="en-US" dirty="0" err="1"/>
              <a:t>legatura</a:t>
            </a:r>
            <a:endParaRPr lang="en-GB" dirty="0"/>
          </a:p>
        </p:txBody>
      </p:sp>
    </p:spTree>
    <p:extLst>
      <p:ext uri="{BB962C8B-B14F-4D97-AF65-F5344CB8AC3E}">
        <p14:creationId xmlns:p14="http://schemas.microsoft.com/office/powerpoint/2010/main" val="42248039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B3454-7248-717B-1A2B-FE1CE67DBDF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DD3F09B-DB37-6FB4-1F98-D5C483443658}"/>
              </a:ext>
            </a:extLst>
          </p:cNvPr>
          <p:cNvSpPr/>
          <p:nvPr/>
        </p:nvSpPr>
        <p:spPr>
          <a:xfrm>
            <a:off x="532852" y="1046436"/>
            <a:ext cx="2907660" cy="1200329"/>
          </a:xfrm>
          <a:prstGeom prst="rect">
            <a:avLst/>
          </a:prstGeom>
          <a:ln>
            <a:solidFill>
              <a:srgbClr val="C00000"/>
            </a:solidFill>
          </a:ln>
        </p:spPr>
        <p:txBody>
          <a:bodyPr wrap="square">
            <a:spAutoFit/>
          </a:bodyPr>
          <a:lstStyle/>
          <a:p>
            <a:r>
              <a:rPr lang="en-US" sz="2400" dirty="0" err="1"/>
              <a:t>myproc</a:t>
            </a:r>
            <a:r>
              <a:rPr lang="en-US" sz="2400" dirty="0"/>
              <a:t>() -&gt;</a:t>
            </a:r>
          </a:p>
          <a:p>
            <a:r>
              <a:rPr lang="en-US" sz="2400" dirty="0"/>
              <a:t>  </a:t>
            </a:r>
            <a:r>
              <a:rPr lang="en-US" sz="2400" dirty="0" err="1"/>
              <a:t>timer:sleep</a:t>
            </a:r>
            <a:r>
              <a:rPr lang="en-US" sz="2400" dirty="0"/>
              <a:t>(5000),</a:t>
            </a:r>
          </a:p>
          <a:p>
            <a:r>
              <a:rPr lang="en-US" sz="2400" dirty="0"/>
              <a:t>  exit(reason).</a:t>
            </a:r>
          </a:p>
        </p:txBody>
      </p:sp>
      <p:pic>
        <p:nvPicPr>
          <p:cNvPr id="6" name="Picture 5">
            <a:extLst>
              <a:ext uri="{FF2B5EF4-FFF2-40B4-BE49-F238E27FC236}">
                <a16:creationId xmlns:a16="http://schemas.microsoft.com/office/drawing/2014/main" id="{002AC837-71E9-37CB-B0B0-57A0010E2622}"/>
              </a:ext>
            </a:extLst>
          </p:cNvPr>
          <p:cNvPicPr>
            <a:picLocks noChangeAspect="1"/>
          </p:cNvPicPr>
          <p:nvPr/>
        </p:nvPicPr>
        <p:blipFill>
          <a:blip r:embed="rId2"/>
          <a:stretch>
            <a:fillRect/>
          </a:stretch>
        </p:blipFill>
        <p:spPr>
          <a:xfrm>
            <a:off x="5015116" y="368979"/>
            <a:ext cx="6741136" cy="3096847"/>
          </a:xfrm>
          <a:prstGeom prst="rect">
            <a:avLst/>
          </a:prstGeom>
        </p:spPr>
      </p:pic>
      <p:sp>
        <p:nvSpPr>
          <p:cNvPr id="7" name="TextBox 6">
            <a:extLst>
              <a:ext uri="{FF2B5EF4-FFF2-40B4-BE49-F238E27FC236}">
                <a16:creationId xmlns:a16="http://schemas.microsoft.com/office/drawing/2014/main" id="{33D45527-A78A-64E4-8759-D8390C00B29A}"/>
              </a:ext>
            </a:extLst>
          </p:cNvPr>
          <p:cNvSpPr txBox="1"/>
          <p:nvPr/>
        </p:nvSpPr>
        <p:spPr>
          <a:xfrm>
            <a:off x="6537326" y="3465826"/>
            <a:ext cx="4980338" cy="892552"/>
          </a:xfrm>
          <a:prstGeom prst="rect">
            <a:avLst/>
          </a:prstGeom>
          <a:noFill/>
        </p:spPr>
        <p:txBody>
          <a:bodyPr wrap="none" rtlCol="0">
            <a:spAutoFit/>
          </a:bodyPr>
          <a:lstStyle/>
          <a:p>
            <a:r>
              <a:rPr lang="en-US" sz="1600" dirty="0"/>
              <a:t>Joe Armstrong, Programming </a:t>
            </a:r>
            <a:r>
              <a:rPr lang="en-US" sz="1600" dirty="0" err="1"/>
              <a:t>Erlang</a:t>
            </a:r>
            <a:r>
              <a:rPr lang="en-US" sz="1600" dirty="0"/>
              <a:t>, Second Edition 2013</a:t>
            </a:r>
          </a:p>
          <a:p>
            <a:endParaRPr lang="en-US" dirty="0">
              <a:solidFill>
                <a:schemeClr val="bg1"/>
              </a:solidFill>
            </a:endParaRPr>
          </a:p>
          <a:p>
            <a:endParaRPr lang="en-US" dirty="0"/>
          </a:p>
        </p:txBody>
      </p:sp>
      <p:sp>
        <p:nvSpPr>
          <p:cNvPr id="8" name="TextBox 7">
            <a:extLst>
              <a:ext uri="{FF2B5EF4-FFF2-40B4-BE49-F238E27FC236}">
                <a16:creationId xmlns:a16="http://schemas.microsoft.com/office/drawing/2014/main" id="{7737A487-53A8-2D6A-37E5-CD68958E6C0B}"/>
              </a:ext>
            </a:extLst>
          </p:cNvPr>
          <p:cNvSpPr txBox="1"/>
          <p:nvPr/>
        </p:nvSpPr>
        <p:spPr>
          <a:xfrm>
            <a:off x="6183150" y="4920656"/>
            <a:ext cx="4894013" cy="400110"/>
          </a:xfrm>
          <a:prstGeom prst="rect">
            <a:avLst/>
          </a:prstGeom>
          <a:solidFill>
            <a:srgbClr val="C00000"/>
          </a:solidFill>
        </p:spPr>
        <p:style>
          <a:lnRef idx="3">
            <a:schemeClr val="lt1"/>
          </a:lnRef>
          <a:fillRef idx="1">
            <a:schemeClr val="accent1"/>
          </a:fillRef>
          <a:effectRef idx="1">
            <a:schemeClr val="accent1"/>
          </a:effectRef>
          <a:fontRef idx="minor">
            <a:schemeClr val="lt1"/>
          </a:fontRef>
        </p:style>
        <p:txBody>
          <a:bodyPr wrap="square" rtlCol="0">
            <a:spAutoFit/>
          </a:bodyPr>
          <a:lstStyle/>
          <a:p>
            <a:r>
              <a:rPr lang="en-US" sz="2000" dirty="0" err="1"/>
              <a:t>spawn_link</a:t>
            </a:r>
            <a:r>
              <a:rPr lang="en-US" sz="2000" dirty="0"/>
              <a:t> (Module, Function, [arguments])</a:t>
            </a:r>
          </a:p>
        </p:txBody>
      </p:sp>
      <p:sp>
        <p:nvSpPr>
          <p:cNvPr id="9" name="TextBox 8">
            <a:extLst>
              <a:ext uri="{FF2B5EF4-FFF2-40B4-BE49-F238E27FC236}">
                <a16:creationId xmlns:a16="http://schemas.microsoft.com/office/drawing/2014/main" id="{7B9C5194-DC17-67A6-2E55-C0FF38DC18DE}"/>
              </a:ext>
            </a:extLst>
          </p:cNvPr>
          <p:cNvSpPr txBox="1"/>
          <p:nvPr/>
        </p:nvSpPr>
        <p:spPr>
          <a:xfrm>
            <a:off x="164461" y="138147"/>
            <a:ext cx="3107710" cy="461665"/>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a:t>link() </a:t>
            </a:r>
            <a:r>
              <a:rPr lang="en-US" sz="2400" b="1" dirty="0" err="1"/>
              <a:t>si</a:t>
            </a:r>
            <a:r>
              <a:rPr lang="en-US" sz="2400" b="1" dirty="0"/>
              <a:t> </a:t>
            </a:r>
            <a:r>
              <a:rPr lang="en-US" sz="2400" b="1" dirty="0" err="1"/>
              <a:t>spawn_link</a:t>
            </a:r>
            <a:r>
              <a:rPr lang="en-US" sz="2400" b="1" dirty="0"/>
              <a:t>()</a:t>
            </a:r>
          </a:p>
        </p:txBody>
      </p:sp>
      <p:pic>
        <p:nvPicPr>
          <p:cNvPr id="3" name="Picture 2">
            <a:extLst>
              <a:ext uri="{FF2B5EF4-FFF2-40B4-BE49-F238E27FC236}">
                <a16:creationId xmlns:a16="http://schemas.microsoft.com/office/drawing/2014/main" id="{7239332B-3309-7DCD-DA4E-ECF1571839DF}"/>
              </a:ext>
            </a:extLst>
          </p:cNvPr>
          <p:cNvPicPr>
            <a:picLocks noChangeAspect="1"/>
          </p:cNvPicPr>
          <p:nvPr/>
        </p:nvPicPr>
        <p:blipFill>
          <a:blip r:embed="rId3"/>
          <a:stretch>
            <a:fillRect/>
          </a:stretch>
        </p:blipFill>
        <p:spPr>
          <a:xfrm>
            <a:off x="674336" y="2487054"/>
            <a:ext cx="4232944" cy="3792885"/>
          </a:xfrm>
          <a:prstGeom prst="rect">
            <a:avLst/>
          </a:prstGeom>
        </p:spPr>
      </p:pic>
    </p:spTree>
    <p:extLst>
      <p:ext uri="{BB962C8B-B14F-4D97-AF65-F5344CB8AC3E}">
        <p14:creationId xmlns:p14="http://schemas.microsoft.com/office/powerpoint/2010/main" val="3877427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75839" y="1043264"/>
            <a:ext cx="4465046" cy="4093428"/>
          </a:xfrm>
          <a:prstGeom prst="rect">
            <a:avLst/>
          </a:prstGeom>
          <a:ln>
            <a:solidFill>
              <a:srgbClr val="C00000"/>
            </a:solidFill>
          </a:ln>
        </p:spPr>
        <p:txBody>
          <a:bodyPr wrap="square">
            <a:spAutoFit/>
          </a:bodyPr>
          <a:lstStyle/>
          <a:p>
            <a:r>
              <a:rPr lang="en-US" sz="2000" dirty="0"/>
              <a:t>chain(0) -&gt;</a:t>
            </a:r>
          </a:p>
          <a:p>
            <a:r>
              <a:rPr lang="en-US" sz="2000" dirty="0"/>
              <a:t>receive</a:t>
            </a:r>
          </a:p>
          <a:p>
            <a:r>
              <a:rPr lang="en-US" sz="2000" dirty="0"/>
              <a:t>   _ -&gt; ok</a:t>
            </a:r>
          </a:p>
          <a:p>
            <a:r>
              <a:rPr lang="en-US" sz="2000" dirty="0"/>
              <a:t>after 2000 -&gt;</a:t>
            </a:r>
          </a:p>
          <a:p>
            <a:r>
              <a:rPr lang="en-US" sz="2000" dirty="0"/>
              <a:t>    exit("chain dies here")</a:t>
            </a:r>
          </a:p>
          <a:p>
            <a:r>
              <a:rPr lang="en-US" sz="2000" dirty="0"/>
              <a:t>end;</a:t>
            </a:r>
          </a:p>
          <a:p>
            <a:endParaRPr lang="en-US" sz="2000" dirty="0"/>
          </a:p>
          <a:p>
            <a:r>
              <a:rPr lang="en-US" sz="2000" dirty="0"/>
              <a:t>chain(N) -&gt;</a:t>
            </a:r>
          </a:p>
          <a:p>
            <a:r>
              <a:rPr lang="en-US" sz="2000" dirty="0" err="1"/>
              <a:t>Pid</a:t>
            </a:r>
            <a:r>
              <a:rPr lang="en-US" sz="2000" dirty="0"/>
              <a:t> = spawn(fun() -&gt; chain(N-1) end),</a:t>
            </a:r>
          </a:p>
          <a:p>
            <a:r>
              <a:rPr lang="en-US" sz="2000" dirty="0"/>
              <a:t>link(</a:t>
            </a:r>
            <a:r>
              <a:rPr lang="en-US" sz="2000" dirty="0" err="1"/>
              <a:t>Pid</a:t>
            </a:r>
            <a:r>
              <a:rPr lang="en-US" sz="2000" dirty="0"/>
              <a:t>),</a:t>
            </a:r>
          </a:p>
          <a:p>
            <a:r>
              <a:rPr lang="en-US" sz="2000" dirty="0"/>
              <a:t>receive</a:t>
            </a:r>
          </a:p>
          <a:p>
            <a:r>
              <a:rPr lang="en-US" sz="2000" dirty="0"/>
              <a:t>   _ -&gt; ok</a:t>
            </a:r>
          </a:p>
          <a:p>
            <a:r>
              <a:rPr lang="en-US" sz="2000" dirty="0"/>
              <a:t>end.</a:t>
            </a:r>
          </a:p>
        </p:txBody>
      </p:sp>
      <p:pic>
        <p:nvPicPr>
          <p:cNvPr id="3" name="Picture 2"/>
          <p:cNvPicPr>
            <a:picLocks noChangeAspect="1"/>
          </p:cNvPicPr>
          <p:nvPr/>
        </p:nvPicPr>
        <p:blipFill>
          <a:blip r:embed="rId2"/>
          <a:stretch>
            <a:fillRect/>
          </a:stretch>
        </p:blipFill>
        <p:spPr>
          <a:xfrm>
            <a:off x="4638504" y="1117753"/>
            <a:ext cx="6296750" cy="1510261"/>
          </a:xfrm>
          <a:prstGeom prst="rect">
            <a:avLst/>
          </a:prstGeom>
        </p:spPr>
        <p:style>
          <a:lnRef idx="2">
            <a:schemeClr val="dk1"/>
          </a:lnRef>
          <a:fillRef idx="1">
            <a:schemeClr val="lt1"/>
          </a:fillRef>
          <a:effectRef idx="0">
            <a:schemeClr val="dk1"/>
          </a:effectRef>
          <a:fontRef idx="minor">
            <a:schemeClr val="dk1"/>
          </a:fontRef>
        </p:style>
      </p:pic>
      <p:pic>
        <p:nvPicPr>
          <p:cNvPr id="4" name="Picture 3"/>
          <p:cNvPicPr>
            <a:picLocks noChangeAspect="1"/>
          </p:cNvPicPr>
          <p:nvPr/>
        </p:nvPicPr>
        <p:blipFill>
          <a:blip r:embed="rId3"/>
          <a:stretch>
            <a:fillRect/>
          </a:stretch>
        </p:blipFill>
        <p:spPr>
          <a:xfrm>
            <a:off x="4638504" y="3224180"/>
            <a:ext cx="7019925" cy="2190750"/>
          </a:xfrm>
          <a:prstGeom prst="rect">
            <a:avLst/>
          </a:prstGeom>
        </p:spPr>
        <p:style>
          <a:lnRef idx="2">
            <a:schemeClr val="dk1"/>
          </a:lnRef>
          <a:fillRef idx="1">
            <a:schemeClr val="lt1"/>
          </a:fillRef>
          <a:effectRef idx="0">
            <a:schemeClr val="dk1"/>
          </a:effectRef>
          <a:fontRef idx="minor">
            <a:schemeClr val="dk1"/>
          </a:fontRef>
        </p:style>
      </p:pic>
      <p:sp>
        <p:nvSpPr>
          <p:cNvPr id="5" name="TextBox 4"/>
          <p:cNvSpPr txBox="1"/>
          <p:nvPr/>
        </p:nvSpPr>
        <p:spPr>
          <a:xfrm>
            <a:off x="296028" y="5800587"/>
            <a:ext cx="5636800" cy="923330"/>
          </a:xfrm>
          <a:prstGeom prst="rect">
            <a:avLst/>
          </a:prstGeom>
          <a:noFill/>
        </p:spPr>
        <p:txBody>
          <a:bodyPr wrap="none" rtlCol="0">
            <a:spAutoFit/>
          </a:bodyPr>
          <a:lstStyle/>
          <a:p>
            <a:r>
              <a:rPr lang="en-US" dirty="0"/>
              <a:t>Fred Hébert, Learn You Some </a:t>
            </a:r>
            <a:r>
              <a:rPr lang="en-US" dirty="0" err="1"/>
              <a:t>Erlang</a:t>
            </a:r>
            <a:r>
              <a:rPr lang="en-US" dirty="0"/>
              <a:t> For Great Good, 2013</a:t>
            </a:r>
          </a:p>
          <a:p>
            <a:endParaRPr lang="en-US" dirty="0"/>
          </a:p>
          <a:p>
            <a:endParaRPr lang="en-US" dirty="0"/>
          </a:p>
        </p:txBody>
      </p:sp>
      <p:sp>
        <p:nvSpPr>
          <p:cNvPr id="6" name="TextBox 5"/>
          <p:cNvSpPr txBox="1"/>
          <p:nvPr/>
        </p:nvSpPr>
        <p:spPr>
          <a:xfrm>
            <a:off x="631527" y="257039"/>
            <a:ext cx="5085495" cy="461665"/>
          </a:xfrm>
          <a:prstGeom prst="rect">
            <a:avLst/>
          </a:prstGeom>
          <a:noFill/>
        </p:spPr>
        <p:txBody>
          <a:bodyPr wrap="none" rtlCol="0">
            <a:spAutoFit/>
          </a:bodyPr>
          <a:lstStyle/>
          <a:p>
            <a:r>
              <a:rPr lang="en-US" sz="2400" dirty="0"/>
              <a:t>Un </a:t>
            </a:r>
            <a:r>
              <a:rPr lang="en-US" sz="2400" dirty="0" err="1"/>
              <a:t>grup</a:t>
            </a:r>
            <a:r>
              <a:rPr lang="en-US" sz="2400" dirty="0"/>
              <a:t> de </a:t>
            </a:r>
            <a:r>
              <a:rPr lang="en-US" sz="2400" dirty="0" err="1"/>
              <a:t>procese</a:t>
            </a:r>
            <a:r>
              <a:rPr lang="en-US" sz="2400" dirty="0"/>
              <a:t> care </a:t>
            </a:r>
            <a:r>
              <a:rPr lang="en-US" sz="2400" dirty="0" err="1"/>
              <a:t>mor</a:t>
            </a:r>
            <a:r>
              <a:rPr lang="en-US" sz="2400" dirty="0"/>
              <a:t> </a:t>
            </a:r>
            <a:r>
              <a:rPr lang="en-US" sz="2400" dirty="0" err="1"/>
              <a:t>impreuna</a:t>
            </a:r>
            <a:endParaRPr lang="en-US" sz="2400" dirty="0"/>
          </a:p>
        </p:txBody>
      </p:sp>
    </p:spTree>
    <p:extLst>
      <p:ext uri="{BB962C8B-B14F-4D97-AF65-F5344CB8AC3E}">
        <p14:creationId xmlns:p14="http://schemas.microsoft.com/office/powerpoint/2010/main" val="1922932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34284" y="964046"/>
            <a:ext cx="7610475" cy="4772025"/>
          </a:xfrm>
          <a:prstGeom prst="rect">
            <a:avLst/>
          </a:prstGeom>
        </p:spPr>
        <p:style>
          <a:lnRef idx="2">
            <a:schemeClr val="dk1"/>
          </a:lnRef>
          <a:fillRef idx="1">
            <a:schemeClr val="lt1"/>
          </a:fillRef>
          <a:effectRef idx="0">
            <a:schemeClr val="dk1"/>
          </a:effectRef>
          <a:fontRef idx="minor">
            <a:schemeClr val="dk1"/>
          </a:fontRef>
        </p:style>
      </p:pic>
      <p:sp>
        <p:nvSpPr>
          <p:cNvPr id="3" name="TextBox 2"/>
          <p:cNvSpPr txBox="1"/>
          <p:nvPr/>
        </p:nvSpPr>
        <p:spPr>
          <a:xfrm>
            <a:off x="7900678" y="1019655"/>
            <a:ext cx="3596562" cy="461665"/>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a:t>Shell-</a:t>
            </a:r>
            <a:r>
              <a:rPr lang="en-US" sz="2400" dirty="0" err="1"/>
              <a:t>ul</a:t>
            </a:r>
            <a:r>
              <a:rPr lang="en-US" sz="2400" dirty="0"/>
              <a:t> </a:t>
            </a:r>
            <a:r>
              <a:rPr lang="en-US" sz="2400" dirty="0" err="1"/>
              <a:t>este</a:t>
            </a:r>
            <a:r>
              <a:rPr lang="en-US" sz="2400" dirty="0"/>
              <a:t> process </a:t>
            </a:r>
            <a:r>
              <a:rPr lang="en-US" sz="2400" dirty="0" err="1"/>
              <a:t>sistem</a:t>
            </a:r>
            <a:endParaRPr lang="en-US" sz="2400" dirty="0"/>
          </a:p>
        </p:txBody>
      </p:sp>
      <p:sp>
        <p:nvSpPr>
          <p:cNvPr id="5" name="TextBox 4"/>
          <p:cNvSpPr txBox="1"/>
          <p:nvPr/>
        </p:nvSpPr>
        <p:spPr>
          <a:xfrm>
            <a:off x="7986198" y="3888197"/>
            <a:ext cx="3989297" cy="461665"/>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400" dirty="0"/>
              <a:t>Shell-</a:t>
            </a:r>
            <a:r>
              <a:rPr lang="en-US" sz="2400" dirty="0" err="1"/>
              <a:t>ul</a:t>
            </a:r>
            <a:r>
              <a:rPr lang="en-US" sz="2400" dirty="0"/>
              <a:t> nu </a:t>
            </a:r>
            <a:r>
              <a:rPr lang="en-US" sz="2400" dirty="0" err="1"/>
              <a:t>este</a:t>
            </a:r>
            <a:r>
              <a:rPr lang="en-US" sz="2400" dirty="0"/>
              <a:t> process </a:t>
            </a:r>
            <a:r>
              <a:rPr lang="en-US" sz="2400" dirty="0" err="1"/>
              <a:t>sistem</a:t>
            </a:r>
            <a:endParaRPr lang="en-US" sz="2400" dirty="0"/>
          </a:p>
        </p:txBody>
      </p:sp>
      <p:sp>
        <p:nvSpPr>
          <p:cNvPr id="4" name="TextBox 3">
            <a:extLst>
              <a:ext uri="{FF2B5EF4-FFF2-40B4-BE49-F238E27FC236}">
                <a16:creationId xmlns:a16="http://schemas.microsoft.com/office/drawing/2014/main" id="{9196D1F5-BD18-0B74-7559-903086EF527E}"/>
              </a:ext>
            </a:extLst>
          </p:cNvPr>
          <p:cNvSpPr txBox="1"/>
          <p:nvPr/>
        </p:nvSpPr>
        <p:spPr>
          <a:xfrm>
            <a:off x="1361440" y="5505238"/>
            <a:ext cx="2608984" cy="461665"/>
          </a:xfrm>
          <a:prstGeom prst="rect">
            <a:avLst/>
          </a:prstGeom>
          <a:solidFill>
            <a:schemeClr val="bg1"/>
          </a:solidFill>
          <a:ln>
            <a:solidFill>
              <a:srgbClr val="FF0000"/>
            </a:solidFill>
          </a:ln>
        </p:spPr>
        <p:txBody>
          <a:bodyPr wrap="none" rtlCol="0">
            <a:spAutoFit/>
          </a:bodyPr>
          <a:lstStyle/>
          <a:p>
            <a:r>
              <a:rPr lang="en-US" sz="2400" dirty="0"/>
              <a:t>Shell-ul </a:t>
            </a:r>
            <a:r>
              <a:rPr lang="en-US" sz="2400" dirty="0" err="1"/>
              <a:t>este</a:t>
            </a:r>
            <a:r>
              <a:rPr lang="en-US" sz="2400" dirty="0"/>
              <a:t>  </a:t>
            </a:r>
            <a:r>
              <a:rPr lang="en-US" sz="2400" dirty="0" err="1"/>
              <a:t>blocat</a:t>
            </a:r>
            <a:endParaRPr lang="en-GB" sz="2400" dirty="0"/>
          </a:p>
        </p:txBody>
      </p:sp>
    </p:spTree>
    <p:extLst>
      <p:ext uri="{BB962C8B-B14F-4D97-AF65-F5344CB8AC3E}">
        <p14:creationId xmlns:p14="http://schemas.microsoft.com/office/powerpoint/2010/main" val="319971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029F59-D30A-C623-56C1-22C76121D7DF}"/>
              </a:ext>
            </a:extLst>
          </p:cNvPr>
          <p:cNvPicPr>
            <a:picLocks noChangeAspect="1"/>
          </p:cNvPicPr>
          <p:nvPr/>
        </p:nvPicPr>
        <p:blipFill>
          <a:blip r:embed="rId2"/>
          <a:stretch>
            <a:fillRect/>
          </a:stretch>
        </p:blipFill>
        <p:spPr>
          <a:xfrm>
            <a:off x="742856" y="91142"/>
            <a:ext cx="5353144" cy="6003289"/>
          </a:xfrm>
          <a:prstGeom prst="rect">
            <a:avLst/>
          </a:prstGeom>
        </p:spPr>
        <p:style>
          <a:lnRef idx="2">
            <a:schemeClr val="dk1"/>
          </a:lnRef>
          <a:fillRef idx="1">
            <a:schemeClr val="lt1"/>
          </a:fillRef>
          <a:effectRef idx="0">
            <a:schemeClr val="dk1"/>
          </a:effectRef>
          <a:fontRef idx="minor">
            <a:schemeClr val="dk1"/>
          </a:fontRef>
        </p:style>
      </p:pic>
      <p:sp>
        <p:nvSpPr>
          <p:cNvPr id="5" name="TextBox 4">
            <a:extLst>
              <a:ext uri="{FF2B5EF4-FFF2-40B4-BE49-F238E27FC236}">
                <a16:creationId xmlns:a16="http://schemas.microsoft.com/office/drawing/2014/main" id="{E43188D3-AF4A-0F2D-14BB-BD75987441D6}"/>
              </a:ext>
            </a:extLst>
          </p:cNvPr>
          <p:cNvSpPr txBox="1"/>
          <p:nvPr/>
        </p:nvSpPr>
        <p:spPr>
          <a:xfrm>
            <a:off x="7243730" y="3429000"/>
            <a:ext cx="1451038" cy="369332"/>
          </a:xfrm>
          <a:prstGeom prst="rect">
            <a:avLst/>
          </a:prstGeom>
          <a:noFill/>
        </p:spPr>
        <p:txBody>
          <a:bodyPr wrap="none" rtlCol="0">
            <a:spAutoFit/>
          </a:bodyPr>
          <a:lstStyle/>
          <a:p>
            <a:r>
              <a:rPr lang="en-GB" dirty="0">
                <a:hlinkClick r:id="rId3"/>
              </a:rPr>
              <a:t>Erlang -- shell</a:t>
            </a:r>
            <a:endParaRPr lang="en-GB" dirty="0"/>
          </a:p>
        </p:txBody>
      </p:sp>
      <p:sp>
        <p:nvSpPr>
          <p:cNvPr id="2" name="TextBox 1">
            <a:extLst>
              <a:ext uri="{FF2B5EF4-FFF2-40B4-BE49-F238E27FC236}">
                <a16:creationId xmlns:a16="http://schemas.microsoft.com/office/drawing/2014/main" id="{1CE14AA5-C7C5-B9DC-0A14-D0F5A5E7547B}"/>
              </a:ext>
            </a:extLst>
          </p:cNvPr>
          <p:cNvSpPr txBox="1"/>
          <p:nvPr/>
        </p:nvSpPr>
        <p:spPr>
          <a:xfrm>
            <a:off x="6542083" y="1490008"/>
            <a:ext cx="5870634" cy="1938992"/>
          </a:xfrm>
          <a:prstGeom prst="rect">
            <a:avLst/>
          </a:prstGeom>
          <a:noFill/>
        </p:spPr>
        <p:txBody>
          <a:bodyPr wrap="square" rtlCol="0">
            <a:spAutoFit/>
          </a:bodyPr>
          <a:lstStyle/>
          <a:p>
            <a:pPr marL="342900" indent="-342900">
              <a:buFont typeface="Arial" panose="020B0604020202020204" pitchFamily="34" charset="0"/>
              <a:buChar char="•"/>
            </a:pPr>
            <a:r>
              <a:rPr lang="en-US" sz="2000" dirty="0" err="1">
                <a:solidFill>
                  <a:srgbClr val="1A1A1A"/>
                </a:solidFill>
                <a:latin typeface="Arial" panose="020B0604020202020204" pitchFamily="34" charset="0"/>
              </a:rPr>
              <a:t>pentru</a:t>
            </a:r>
            <a:r>
              <a:rPr lang="en-US" sz="2000" dirty="0">
                <a:solidFill>
                  <a:srgbClr val="1A1A1A"/>
                </a:solidFill>
                <a:latin typeface="Arial" panose="020B0604020202020204" pitchFamily="34" charset="0"/>
              </a:rPr>
              <a:t> </a:t>
            </a:r>
            <a:r>
              <a:rPr lang="en-US" sz="2000" dirty="0" err="1">
                <a:solidFill>
                  <a:srgbClr val="1A1A1A"/>
                </a:solidFill>
                <a:latin typeface="Arial" panose="020B0604020202020204" pitchFamily="34" charset="0"/>
              </a:rPr>
              <a:t>efectuarea</a:t>
            </a:r>
            <a:r>
              <a:rPr lang="en-US" sz="2000" dirty="0">
                <a:solidFill>
                  <a:srgbClr val="1A1A1A"/>
                </a:solidFill>
                <a:latin typeface="Arial" panose="020B0604020202020204" pitchFamily="34" charset="0"/>
              </a:rPr>
              <a:t> </a:t>
            </a:r>
            <a:r>
              <a:rPr lang="en-US" sz="2000" dirty="0" err="1">
                <a:solidFill>
                  <a:srgbClr val="1A1A1A"/>
                </a:solidFill>
                <a:latin typeface="Arial" panose="020B0604020202020204" pitchFamily="34" charset="0"/>
              </a:rPr>
              <a:t>comenzilor</a:t>
            </a:r>
            <a:r>
              <a:rPr lang="en-US" sz="2000" dirty="0">
                <a:solidFill>
                  <a:srgbClr val="1A1A1A"/>
                </a:solidFill>
                <a:latin typeface="Arial" panose="020B0604020202020204" pitchFamily="34" charset="0"/>
              </a:rPr>
              <a:t>,  </a:t>
            </a:r>
          </a:p>
          <a:p>
            <a:r>
              <a:rPr lang="en-US" sz="2000" dirty="0">
                <a:solidFill>
                  <a:srgbClr val="1A1A1A"/>
                </a:solidFill>
                <a:latin typeface="Arial" panose="020B0604020202020204" pitchFamily="34" charset="0"/>
              </a:rPr>
              <a:t>      shell-</a:t>
            </a:r>
            <a:r>
              <a:rPr lang="en-US" sz="2000" dirty="0" err="1">
                <a:solidFill>
                  <a:srgbClr val="1A1A1A"/>
                </a:solidFill>
                <a:latin typeface="Arial" panose="020B0604020202020204" pitchFamily="34" charset="0"/>
              </a:rPr>
              <a:t>ul</a:t>
            </a:r>
            <a:r>
              <a:rPr lang="en-US" sz="2000" dirty="0">
                <a:solidFill>
                  <a:srgbClr val="1A1A1A"/>
                </a:solidFill>
                <a:latin typeface="Arial" panose="020B0604020202020204" pitchFamily="34" charset="0"/>
              </a:rPr>
              <a:t> </a:t>
            </a:r>
            <a:r>
              <a:rPr lang="en-US" sz="2000" dirty="0" err="1">
                <a:solidFill>
                  <a:srgbClr val="1A1A1A"/>
                </a:solidFill>
                <a:latin typeface="Arial" panose="020B0604020202020204" pitchFamily="34" charset="0"/>
              </a:rPr>
              <a:t>foloseste</a:t>
            </a:r>
            <a:r>
              <a:rPr lang="en-US" sz="2000" dirty="0">
                <a:solidFill>
                  <a:srgbClr val="1A1A1A"/>
                </a:solidFill>
                <a:latin typeface="Arial" panose="020B0604020202020204" pitchFamily="34" charset="0"/>
              </a:rPr>
              <a:t> un </a:t>
            </a:r>
            <a:r>
              <a:rPr lang="en-US" sz="2000" dirty="0" err="1">
                <a:solidFill>
                  <a:srgbClr val="1A1A1A"/>
                </a:solidFill>
                <a:latin typeface="Arial" panose="020B0604020202020204" pitchFamily="34" charset="0"/>
              </a:rPr>
              <a:t>proces</a:t>
            </a:r>
            <a:r>
              <a:rPr lang="en-US" sz="2000" dirty="0">
                <a:solidFill>
                  <a:srgbClr val="1A1A1A"/>
                </a:solidFill>
                <a:latin typeface="Arial" panose="020B0604020202020204" pitchFamily="34" charset="0"/>
              </a:rPr>
              <a:t> evaluator </a:t>
            </a:r>
          </a:p>
          <a:p>
            <a:endParaRPr lang="en-US" sz="2000" dirty="0">
              <a:solidFill>
                <a:srgbClr val="1A1A1A"/>
              </a:solidFill>
              <a:latin typeface="Arial" panose="020B0604020202020204" pitchFamily="34" charset="0"/>
            </a:endParaRPr>
          </a:p>
          <a:p>
            <a:pPr marL="342900" indent="-342900">
              <a:buFont typeface="Arial" panose="020B0604020202020204" pitchFamily="34" charset="0"/>
              <a:buChar char="•"/>
            </a:pPr>
            <a:r>
              <a:rPr lang="en-US" sz="2000" dirty="0">
                <a:solidFill>
                  <a:srgbClr val="1A1A1A"/>
                </a:solidFill>
                <a:latin typeface="Arial" panose="020B0604020202020204" pitchFamily="34" charset="0"/>
              </a:rPr>
              <a:t>la </a:t>
            </a:r>
            <a:r>
              <a:rPr lang="en-US" sz="2000" dirty="0" err="1">
                <a:solidFill>
                  <a:srgbClr val="1A1A1A"/>
                </a:solidFill>
                <a:latin typeface="Arial" panose="020B0604020202020204" pitchFamily="34" charset="0"/>
              </a:rPr>
              <a:t>aparitia</a:t>
            </a:r>
            <a:r>
              <a:rPr lang="en-US" sz="2000" dirty="0">
                <a:solidFill>
                  <a:srgbClr val="1A1A1A"/>
                </a:solidFill>
                <a:latin typeface="Arial" panose="020B0604020202020204" pitchFamily="34" charset="0"/>
              </a:rPr>
              <a:t> </a:t>
            </a:r>
            <a:r>
              <a:rPr lang="en-US" sz="2000" dirty="0" err="1">
                <a:solidFill>
                  <a:srgbClr val="1A1A1A"/>
                </a:solidFill>
                <a:latin typeface="Arial" panose="020B0604020202020204" pitchFamily="34" charset="0"/>
              </a:rPr>
              <a:t>unei</a:t>
            </a:r>
            <a:r>
              <a:rPr lang="en-US" sz="2000" dirty="0">
                <a:solidFill>
                  <a:srgbClr val="1A1A1A"/>
                </a:solidFill>
                <a:latin typeface="Arial" panose="020B0604020202020204" pitchFamily="34" charset="0"/>
              </a:rPr>
              <a:t> </a:t>
            </a:r>
            <a:r>
              <a:rPr lang="en-US" sz="2000" dirty="0" err="1">
                <a:solidFill>
                  <a:srgbClr val="1A1A1A"/>
                </a:solidFill>
                <a:latin typeface="Arial" panose="020B0604020202020204" pitchFamily="34" charset="0"/>
              </a:rPr>
              <a:t>exceptii</a:t>
            </a:r>
            <a:r>
              <a:rPr lang="en-US" sz="2000" dirty="0">
                <a:solidFill>
                  <a:srgbClr val="1A1A1A"/>
                </a:solidFill>
                <a:latin typeface="Arial" panose="020B0604020202020204" pitchFamily="34" charset="0"/>
              </a:rPr>
              <a:t>, </a:t>
            </a:r>
          </a:p>
          <a:p>
            <a:r>
              <a:rPr lang="en-US" sz="2000" dirty="0">
                <a:solidFill>
                  <a:srgbClr val="1A1A1A"/>
                </a:solidFill>
                <a:latin typeface="Arial" panose="020B0604020202020204" pitchFamily="34" charset="0"/>
              </a:rPr>
              <a:t>    </a:t>
            </a:r>
            <a:r>
              <a:rPr lang="en-US" sz="2000" dirty="0"/>
              <a:t> </a:t>
            </a:r>
            <a:r>
              <a:rPr lang="en-US" sz="2000" dirty="0" err="1">
                <a:solidFill>
                  <a:srgbClr val="1A1A1A"/>
                </a:solidFill>
                <a:latin typeface="Arial" panose="020B0604020202020204" pitchFamily="34" charset="0"/>
              </a:rPr>
              <a:t>procesul</a:t>
            </a:r>
            <a:r>
              <a:rPr lang="en-US" sz="2000" dirty="0">
                <a:solidFill>
                  <a:srgbClr val="1A1A1A"/>
                </a:solidFill>
                <a:latin typeface="Arial" panose="020B0604020202020204" pitchFamily="34" charset="0"/>
              </a:rPr>
              <a:t> evaluator </a:t>
            </a:r>
            <a:r>
              <a:rPr lang="en-US" sz="2000" dirty="0" err="1">
                <a:solidFill>
                  <a:srgbClr val="1A1A1A"/>
                </a:solidFill>
                <a:latin typeface="Arial" panose="020B0604020202020204" pitchFamily="34" charset="0"/>
              </a:rPr>
              <a:t>curent</a:t>
            </a:r>
            <a:r>
              <a:rPr lang="en-US" sz="2000" dirty="0">
                <a:solidFill>
                  <a:srgbClr val="1A1A1A"/>
                </a:solidFill>
                <a:latin typeface="Arial" panose="020B0604020202020204" pitchFamily="34" charset="0"/>
              </a:rPr>
              <a:t> se termina, </a:t>
            </a:r>
          </a:p>
          <a:p>
            <a:r>
              <a:rPr lang="en-US" sz="2000" dirty="0">
                <a:solidFill>
                  <a:srgbClr val="1A1A1A"/>
                </a:solidFill>
                <a:latin typeface="Arial" panose="020B0604020202020204" pitchFamily="34" charset="0"/>
              </a:rPr>
              <a:t>     </a:t>
            </a:r>
            <a:r>
              <a:rPr lang="en-US" sz="2000" dirty="0" err="1">
                <a:solidFill>
                  <a:srgbClr val="1A1A1A"/>
                </a:solidFill>
                <a:latin typeface="Arial" panose="020B0604020202020204" pitchFamily="34" charset="0"/>
              </a:rPr>
              <a:t>iar</a:t>
            </a:r>
            <a:r>
              <a:rPr lang="en-US" sz="2000" dirty="0">
                <a:solidFill>
                  <a:srgbClr val="1A1A1A"/>
                </a:solidFill>
                <a:latin typeface="Arial" panose="020B0604020202020204" pitchFamily="34" charset="0"/>
              </a:rPr>
              <a:t> shell-ul </a:t>
            </a:r>
            <a:r>
              <a:rPr lang="en-US" sz="2000" dirty="0" err="1">
                <a:solidFill>
                  <a:srgbClr val="1A1A1A"/>
                </a:solidFill>
                <a:latin typeface="Arial" panose="020B0604020202020204" pitchFamily="34" charset="0"/>
              </a:rPr>
              <a:t>creaza</a:t>
            </a:r>
            <a:r>
              <a:rPr lang="en-US" sz="2000" dirty="0">
                <a:solidFill>
                  <a:srgbClr val="1A1A1A"/>
                </a:solidFill>
                <a:latin typeface="Arial" panose="020B0604020202020204" pitchFamily="34" charset="0"/>
              </a:rPr>
              <a:t> un nou process evaluator</a:t>
            </a:r>
            <a:endParaRPr lang="en-GB" sz="2000" dirty="0">
              <a:solidFill>
                <a:srgbClr val="1A1A1A"/>
              </a:solidFill>
              <a:latin typeface="Arial" panose="020B0604020202020204" pitchFamily="34" charset="0"/>
            </a:endParaRPr>
          </a:p>
        </p:txBody>
      </p:sp>
      <p:sp>
        <p:nvSpPr>
          <p:cNvPr id="6" name="TextBox 5">
            <a:extLst>
              <a:ext uri="{FF2B5EF4-FFF2-40B4-BE49-F238E27FC236}">
                <a16:creationId xmlns:a16="http://schemas.microsoft.com/office/drawing/2014/main" id="{085C7894-BABC-133E-0B4C-8563F424B05B}"/>
              </a:ext>
            </a:extLst>
          </p:cNvPr>
          <p:cNvSpPr txBox="1"/>
          <p:nvPr/>
        </p:nvSpPr>
        <p:spPr>
          <a:xfrm>
            <a:off x="2499360" y="1757680"/>
            <a:ext cx="2494786" cy="369332"/>
          </a:xfrm>
          <a:prstGeom prst="rect">
            <a:avLst/>
          </a:prstGeom>
          <a:solidFill>
            <a:srgbClr val="FF0000"/>
          </a:solidFill>
        </p:spPr>
        <p:style>
          <a:lnRef idx="3">
            <a:schemeClr val="lt1"/>
          </a:lnRef>
          <a:fillRef idx="1">
            <a:schemeClr val="accent1"/>
          </a:fillRef>
          <a:effectRef idx="1">
            <a:schemeClr val="accent1"/>
          </a:effectRef>
          <a:fontRef idx="minor">
            <a:schemeClr val="lt1"/>
          </a:fontRef>
        </p:style>
        <p:txBody>
          <a:bodyPr wrap="none" rtlCol="0">
            <a:spAutoFit/>
          </a:bodyPr>
          <a:lstStyle/>
          <a:p>
            <a:r>
              <a:rPr lang="en-US" dirty="0" err="1"/>
              <a:t>procesul</a:t>
            </a:r>
            <a:r>
              <a:rPr lang="en-US" dirty="0"/>
              <a:t> evaluator initial</a:t>
            </a:r>
            <a:endParaRPr lang="en-GB" dirty="0"/>
          </a:p>
        </p:txBody>
      </p:sp>
      <p:sp>
        <p:nvSpPr>
          <p:cNvPr id="8" name="TextBox 7">
            <a:extLst>
              <a:ext uri="{FF2B5EF4-FFF2-40B4-BE49-F238E27FC236}">
                <a16:creationId xmlns:a16="http://schemas.microsoft.com/office/drawing/2014/main" id="{B0E3C040-F91C-E5F4-C919-6138257064CC}"/>
              </a:ext>
            </a:extLst>
          </p:cNvPr>
          <p:cNvSpPr txBox="1"/>
          <p:nvPr/>
        </p:nvSpPr>
        <p:spPr>
          <a:xfrm>
            <a:off x="3855720" y="3095228"/>
            <a:ext cx="2606040" cy="369332"/>
          </a:xfrm>
          <a:prstGeom prst="rect">
            <a:avLst/>
          </a:prstGeom>
          <a:solidFill>
            <a:srgbClr val="FF0000"/>
          </a:solidFill>
        </p:spPr>
        <p:style>
          <a:lnRef idx="3">
            <a:schemeClr val="lt1"/>
          </a:lnRef>
          <a:fillRef idx="1">
            <a:schemeClr val="accent1"/>
          </a:fillRef>
          <a:effectRef idx="1">
            <a:schemeClr val="accent1"/>
          </a:effectRef>
          <a:fontRef idx="minor">
            <a:schemeClr val="lt1"/>
          </a:fontRef>
        </p:style>
        <p:txBody>
          <a:bodyPr wrap="square">
            <a:spAutoFit/>
          </a:bodyPr>
          <a:lstStyle/>
          <a:p>
            <a:r>
              <a:rPr lang="en-US" dirty="0" err="1"/>
              <a:t>proces</a:t>
            </a:r>
            <a:r>
              <a:rPr lang="en-US" dirty="0"/>
              <a:t> evaluator </a:t>
            </a:r>
            <a:r>
              <a:rPr lang="en-US" dirty="0" err="1"/>
              <a:t>nou</a:t>
            </a:r>
            <a:endParaRPr lang="en-GB" dirty="0"/>
          </a:p>
        </p:txBody>
      </p:sp>
      <p:sp>
        <p:nvSpPr>
          <p:cNvPr id="10" name="TextBox 9">
            <a:extLst>
              <a:ext uri="{FF2B5EF4-FFF2-40B4-BE49-F238E27FC236}">
                <a16:creationId xmlns:a16="http://schemas.microsoft.com/office/drawing/2014/main" id="{3518C576-60A0-CF3A-9C23-A8D9FAA7A682}"/>
              </a:ext>
            </a:extLst>
          </p:cNvPr>
          <p:cNvSpPr txBox="1"/>
          <p:nvPr/>
        </p:nvSpPr>
        <p:spPr>
          <a:xfrm>
            <a:off x="5092525" y="2586443"/>
            <a:ext cx="1051560" cy="369332"/>
          </a:xfrm>
          <a:prstGeom prst="rect">
            <a:avLst/>
          </a:prstGeom>
          <a:solidFill>
            <a:srgbClr val="FF0000"/>
          </a:solidFill>
        </p:spPr>
        <p:style>
          <a:lnRef idx="3">
            <a:schemeClr val="lt1"/>
          </a:lnRef>
          <a:fillRef idx="1">
            <a:schemeClr val="accent1"/>
          </a:fillRef>
          <a:effectRef idx="1">
            <a:schemeClr val="accent1"/>
          </a:effectRef>
          <a:fontRef idx="minor">
            <a:schemeClr val="lt1"/>
          </a:fontRef>
        </p:style>
        <p:txBody>
          <a:bodyPr wrap="square">
            <a:spAutoFit/>
          </a:bodyPr>
          <a:lstStyle/>
          <a:p>
            <a:r>
              <a:rPr lang="en-US" dirty="0" err="1"/>
              <a:t>exceptie</a:t>
            </a:r>
            <a:endParaRPr lang="en-GB" dirty="0"/>
          </a:p>
        </p:txBody>
      </p:sp>
    </p:spTree>
    <p:extLst>
      <p:ext uri="{BB962C8B-B14F-4D97-AF65-F5344CB8AC3E}">
        <p14:creationId xmlns:p14="http://schemas.microsoft.com/office/powerpoint/2010/main" val="19313131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7EBD3-BBF0-4CA5-B2D1-5D534201F95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8CC7090-6216-0804-8AAB-CF1E783B3DF1}"/>
              </a:ext>
            </a:extLst>
          </p:cNvPr>
          <p:cNvSpPr/>
          <p:nvPr/>
        </p:nvSpPr>
        <p:spPr>
          <a:xfrm>
            <a:off x="532852" y="1046436"/>
            <a:ext cx="7016028" cy="4524315"/>
          </a:xfrm>
          <a:prstGeom prst="rect">
            <a:avLst/>
          </a:prstGeom>
          <a:ln>
            <a:solidFill>
              <a:srgbClr val="C00000"/>
            </a:solidFill>
          </a:ln>
        </p:spPr>
        <p:txBody>
          <a:bodyPr wrap="square">
            <a:spAutoFit/>
          </a:bodyPr>
          <a:lstStyle/>
          <a:p>
            <a:r>
              <a:rPr lang="en-US" sz="2400" dirty="0" err="1"/>
              <a:t>myproc</a:t>
            </a:r>
            <a:r>
              <a:rPr lang="en-US" sz="2400" dirty="0"/>
              <a:t>() -&gt;</a:t>
            </a:r>
          </a:p>
          <a:p>
            <a:r>
              <a:rPr lang="en-US" sz="2400" dirty="0"/>
              <a:t>  </a:t>
            </a:r>
            <a:r>
              <a:rPr lang="en-US" sz="2400" dirty="0" err="1"/>
              <a:t>timer:sleep</a:t>
            </a:r>
            <a:r>
              <a:rPr lang="en-US" sz="2400" dirty="0"/>
              <a:t>(5000),</a:t>
            </a:r>
          </a:p>
          <a:p>
            <a:r>
              <a:rPr lang="en-US" sz="2400" dirty="0"/>
              <a:t>  exit(reason).</a:t>
            </a:r>
          </a:p>
          <a:p>
            <a:endParaRPr lang="en-US" sz="2400" dirty="0"/>
          </a:p>
          <a:p>
            <a:r>
              <a:rPr lang="en-GB" sz="2400" dirty="0" err="1"/>
              <a:t>mytry</a:t>
            </a:r>
            <a:r>
              <a:rPr lang="en-GB" sz="2400" dirty="0"/>
              <a:t>(Reason) -&gt;</a:t>
            </a:r>
          </a:p>
          <a:p>
            <a:r>
              <a:rPr lang="en-GB" sz="2400" dirty="0"/>
              <a:t>    </a:t>
            </a:r>
            <a:r>
              <a:rPr lang="en-GB" sz="2400" b="1" dirty="0"/>
              <a:t>try</a:t>
            </a:r>
            <a:r>
              <a:rPr lang="en-GB" sz="2400" dirty="0"/>
              <a:t> </a:t>
            </a:r>
            <a:r>
              <a:rPr lang="en-GB" sz="2400" dirty="0" err="1"/>
              <a:t>myproc</a:t>
            </a:r>
            <a:r>
              <a:rPr lang="en-GB" sz="2400" dirty="0"/>
              <a:t>(Reason) of</a:t>
            </a:r>
          </a:p>
          <a:p>
            <a:r>
              <a:rPr lang="en-GB" sz="2400" dirty="0"/>
              <a:t>        _ -&gt; ok</a:t>
            </a:r>
          </a:p>
          <a:p>
            <a:r>
              <a:rPr lang="en-GB" sz="2400" dirty="0"/>
              <a:t>    </a:t>
            </a:r>
            <a:r>
              <a:rPr lang="en-GB" sz="2400" b="1" dirty="0"/>
              <a:t>catch</a:t>
            </a:r>
            <a:r>
              <a:rPr lang="en-GB" sz="2400" dirty="0"/>
              <a:t> </a:t>
            </a:r>
          </a:p>
          <a:p>
            <a:r>
              <a:rPr lang="en-GB" sz="2400" dirty="0"/>
              <a:t>        </a:t>
            </a:r>
            <a:r>
              <a:rPr lang="en-GB" sz="2400" dirty="0" err="1"/>
              <a:t>exit:Reason</a:t>
            </a:r>
            <a:r>
              <a:rPr lang="en-GB" sz="2400" dirty="0"/>
              <a:t> -&gt; </a:t>
            </a:r>
            <a:r>
              <a:rPr lang="en-GB" sz="2400" dirty="0" err="1"/>
              <a:t>io:format</a:t>
            </a:r>
            <a:r>
              <a:rPr lang="en-GB" sz="2400" dirty="0"/>
              <a:t>("caught ~</a:t>
            </a:r>
            <a:r>
              <a:rPr lang="en-GB" sz="2400" dirty="0" err="1"/>
              <a:t>p~n</a:t>
            </a:r>
            <a:r>
              <a:rPr lang="en-GB" sz="2400" dirty="0"/>
              <a:t>", [Reason]), </a:t>
            </a:r>
          </a:p>
          <a:p>
            <a:r>
              <a:rPr lang="en-GB" sz="2400" dirty="0"/>
              <a:t>                                  </a:t>
            </a:r>
            <a:r>
              <a:rPr lang="en-GB" sz="2400" dirty="0" err="1"/>
              <a:t>mytry</a:t>
            </a:r>
            <a:r>
              <a:rPr lang="en-GB" sz="2400" dirty="0"/>
              <a:t>(Reason)</a:t>
            </a:r>
          </a:p>
          <a:p>
            <a:r>
              <a:rPr lang="en-GB" sz="2400" dirty="0"/>
              <a:t>    </a:t>
            </a:r>
            <a:r>
              <a:rPr lang="en-GB" sz="2400" b="1" dirty="0"/>
              <a:t>end. </a:t>
            </a:r>
          </a:p>
          <a:p>
            <a:endParaRPr lang="en-US" sz="2400" dirty="0"/>
          </a:p>
        </p:txBody>
      </p:sp>
      <p:sp>
        <p:nvSpPr>
          <p:cNvPr id="9" name="TextBox 8">
            <a:extLst>
              <a:ext uri="{FF2B5EF4-FFF2-40B4-BE49-F238E27FC236}">
                <a16:creationId xmlns:a16="http://schemas.microsoft.com/office/drawing/2014/main" id="{24D94539-3F61-652C-DECD-0FFC453B03A4}"/>
              </a:ext>
            </a:extLst>
          </p:cNvPr>
          <p:cNvSpPr txBox="1"/>
          <p:nvPr/>
        </p:nvSpPr>
        <p:spPr>
          <a:xfrm>
            <a:off x="164461" y="138147"/>
            <a:ext cx="3582134" cy="461665"/>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a:t>exit(kill) vs exit(Pid, kill) </a:t>
            </a:r>
          </a:p>
        </p:txBody>
      </p:sp>
      <p:sp>
        <p:nvSpPr>
          <p:cNvPr id="2" name="TextBox 1">
            <a:extLst>
              <a:ext uri="{FF2B5EF4-FFF2-40B4-BE49-F238E27FC236}">
                <a16:creationId xmlns:a16="http://schemas.microsoft.com/office/drawing/2014/main" id="{F6AFF781-30A7-B2F6-E550-5BCE328AC5A9}"/>
              </a:ext>
            </a:extLst>
          </p:cNvPr>
          <p:cNvSpPr txBox="1"/>
          <p:nvPr/>
        </p:nvSpPr>
        <p:spPr>
          <a:xfrm>
            <a:off x="5181600" y="1449809"/>
            <a:ext cx="6257547" cy="2308324"/>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a:t>In Erlang, </a:t>
            </a:r>
            <a:r>
              <a:rPr lang="en-US" sz="2400" dirty="0" err="1"/>
              <a:t>exceptiile</a:t>
            </a:r>
            <a:r>
              <a:rPr lang="en-US" sz="2400" dirty="0"/>
              <a:t> </a:t>
            </a:r>
            <a:r>
              <a:rPr lang="en-US" sz="2400" b="1" dirty="0"/>
              <a:t>interne, locale </a:t>
            </a:r>
            <a:r>
              <a:rPr lang="en-US" sz="2400" b="1" dirty="0" err="1"/>
              <a:t>unui</a:t>
            </a:r>
            <a:r>
              <a:rPr lang="en-US" sz="2400" b="1" dirty="0"/>
              <a:t> process</a:t>
            </a:r>
            <a:r>
              <a:rPr lang="en-US" sz="2400" dirty="0"/>
              <a:t>,</a:t>
            </a:r>
          </a:p>
          <a:p>
            <a:r>
              <a:rPr lang="en-US" sz="2400" dirty="0"/>
              <a:t>pot fi </a:t>
            </a:r>
            <a:r>
              <a:rPr lang="en-US" sz="2400" dirty="0" err="1"/>
              <a:t>tratate</a:t>
            </a:r>
            <a:r>
              <a:rPr lang="en-US" sz="2400" dirty="0"/>
              <a:t> cu </a:t>
            </a:r>
          </a:p>
          <a:p>
            <a:endParaRPr lang="en-US" sz="2400" dirty="0"/>
          </a:p>
          <a:p>
            <a:r>
              <a:rPr lang="en-US" sz="2400" b="1" dirty="0"/>
              <a:t>try… catch … end.</a:t>
            </a:r>
          </a:p>
          <a:p>
            <a:endParaRPr lang="en-US" sz="2400" b="1" dirty="0"/>
          </a:p>
          <a:p>
            <a:r>
              <a:rPr lang="en-US" sz="2400" b="1" dirty="0"/>
              <a:t>exit(reason) </a:t>
            </a:r>
            <a:r>
              <a:rPr lang="en-US" sz="2400" dirty="0" err="1"/>
              <a:t>este</a:t>
            </a:r>
            <a:r>
              <a:rPr lang="en-US" sz="2400" dirty="0"/>
              <a:t> o </a:t>
            </a:r>
            <a:r>
              <a:rPr lang="en-US" sz="2400" dirty="0" err="1"/>
              <a:t>exceptie</a:t>
            </a:r>
            <a:r>
              <a:rPr lang="en-US" sz="2400" dirty="0"/>
              <a:t> </a:t>
            </a:r>
            <a:r>
              <a:rPr lang="en-US" sz="2400" b="1" dirty="0" err="1"/>
              <a:t>locala</a:t>
            </a:r>
            <a:r>
              <a:rPr lang="en-US" sz="2400" b="1" dirty="0"/>
              <a:t>!</a:t>
            </a:r>
            <a:endParaRPr lang="en-GB" sz="2400" b="1" dirty="0"/>
          </a:p>
        </p:txBody>
      </p:sp>
    </p:spTree>
    <p:extLst>
      <p:ext uri="{BB962C8B-B14F-4D97-AF65-F5344CB8AC3E}">
        <p14:creationId xmlns:p14="http://schemas.microsoft.com/office/powerpoint/2010/main" val="31542768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AC0C0-E88B-4566-CF17-44421993E49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DBA2C04-A456-4BE2-BD64-6CFD68844D0D}"/>
              </a:ext>
            </a:extLst>
          </p:cNvPr>
          <p:cNvSpPr/>
          <p:nvPr/>
        </p:nvSpPr>
        <p:spPr>
          <a:xfrm>
            <a:off x="532852" y="1046436"/>
            <a:ext cx="7016028" cy="4524315"/>
          </a:xfrm>
          <a:prstGeom prst="rect">
            <a:avLst/>
          </a:prstGeom>
          <a:ln>
            <a:solidFill>
              <a:srgbClr val="C00000"/>
            </a:solidFill>
          </a:ln>
        </p:spPr>
        <p:txBody>
          <a:bodyPr wrap="square">
            <a:spAutoFit/>
          </a:bodyPr>
          <a:lstStyle/>
          <a:p>
            <a:r>
              <a:rPr lang="en-US" sz="2400" dirty="0" err="1"/>
              <a:t>myproc</a:t>
            </a:r>
            <a:r>
              <a:rPr lang="en-US" sz="2400" dirty="0"/>
              <a:t>() -&gt;</a:t>
            </a:r>
          </a:p>
          <a:p>
            <a:r>
              <a:rPr lang="en-US" sz="2400" dirty="0"/>
              <a:t>  </a:t>
            </a:r>
            <a:r>
              <a:rPr lang="en-US" sz="2400" dirty="0" err="1"/>
              <a:t>timer:sleep</a:t>
            </a:r>
            <a:r>
              <a:rPr lang="en-US" sz="2400" dirty="0"/>
              <a:t>(5000),</a:t>
            </a:r>
          </a:p>
          <a:p>
            <a:r>
              <a:rPr lang="en-US" sz="2400" dirty="0"/>
              <a:t>  exit(reason).</a:t>
            </a:r>
          </a:p>
          <a:p>
            <a:endParaRPr lang="en-US" sz="2400" dirty="0"/>
          </a:p>
          <a:p>
            <a:r>
              <a:rPr lang="en-GB" sz="2400" dirty="0" err="1"/>
              <a:t>mytry</a:t>
            </a:r>
            <a:r>
              <a:rPr lang="en-GB" sz="2400" dirty="0"/>
              <a:t>(Reason) -&gt;</a:t>
            </a:r>
          </a:p>
          <a:p>
            <a:r>
              <a:rPr lang="en-GB" sz="2400" dirty="0"/>
              <a:t>    </a:t>
            </a:r>
            <a:r>
              <a:rPr lang="en-GB" sz="2400" b="1" dirty="0"/>
              <a:t>try</a:t>
            </a:r>
            <a:r>
              <a:rPr lang="en-GB" sz="2400" dirty="0"/>
              <a:t> </a:t>
            </a:r>
            <a:r>
              <a:rPr lang="en-GB" sz="2400" dirty="0" err="1"/>
              <a:t>myproc</a:t>
            </a:r>
            <a:r>
              <a:rPr lang="en-GB" sz="2400" dirty="0"/>
              <a:t>(Reason) of</a:t>
            </a:r>
          </a:p>
          <a:p>
            <a:r>
              <a:rPr lang="en-GB" sz="2400" dirty="0"/>
              <a:t>        _ -&gt; ok</a:t>
            </a:r>
          </a:p>
          <a:p>
            <a:r>
              <a:rPr lang="en-GB" sz="2400" dirty="0"/>
              <a:t>    </a:t>
            </a:r>
            <a:r>
              <a:rPr lang="en-GB" sz="2400" b="1" dirty="0"/>
              <a:t>catch</a:t>
            </a:r>
            <a:r>
              <a:rPr lang="en-GB" sz="2400" dirty="0"/>
              <a:t> </a:t>
            </a:r>
          </a:p>
          <a:p>
            <a:r>
              <a:rPr lang="en-GB" sz="2400" dirty="0"/>
              <a:t>        </a:t>
            </a:r>
            <a:r>
              <a:rPr lang="en-GB" sz="2400" dirty="0" err="1"/>
              <a:t>exit:Reason</a:t>
            </a:r>
            <a:r>
              <a:rPr lang="en-GB" sz="2400" dirty="0"/>
              <a:t> -&gt; </a:t>
            </a:r>
            <a:r>
              <a:rPr lang="en-GB" sz="2400" dirty="0" err="1"/>
              <a:t>io:format</a:t>
            </a:r>
            <a:r>
              <a:rPr lang="en-GB" sz="2400" dirty="0"/>
              <a:t>("caught ~</a:t>
            </a:r>
            <a:r>
              <a:rPr lang="en-GB" sz="2400" dirty="0" err="1"/>
              <a:t>p~n</a:t>
            </a:r>
            <a:r>
              <a:rPr lang="en-GB" sz="2400" dirty="0"/>
              <a:t>", [Reason]), </a:t>
            </a:r>
          </a:p>
          <a:p>
            <a:r>
              <a:rPr lang="en-GB" sz="2400" dirty="0"/>
              <a:t>                                  </a:t>
            </a:r>
            <a:r>
              <a:rPr lang="en-GB" sz="2400" dirty="0" err="1"/>
              <a:t>mytry</a:t>
            </a:r>
            <a:r>
              <a:rPr lang="en-GB" sz="2400" dirty="0"/>
              <a:t>(Reason)</a:t>
            </a:r>
          </a:p>
          <a:p>
            <a:r>
              <a:rPr lang="en-GB" sz="2400" dirty="0"/>
              <a:t>    </a:t>
            </a:r>
            <a:r>
              <a:rPr lang="en-GB" sz="2400" b="1" dirty="0"/>
              <a:t>end. </a:t>
            </a:r>
          </a:p>
          <a:p>
            <a:endParaRPr lang="en-US" sz="2400" dirty="0"/>
          </a:p>
        </p:txBody>
      </p:sp>
      <p:sp>
        <p:nvSpPr>
          <p:cNvPr id="9" name="TextBox 8">
            <a:extLst>
              <a:ext uri="{FF2B5EF4-FFF2-40B4-BE49-F238E27FC236}">
                <a16:creationId xmlns:a16="http://schemas.microsoft.com/office/drawing/2014/main" id="{9E8E1042-55E7-F8AA-FEFF-08C4B27EC6E7}"/>
              </a:ext>
            </a:extLst>
          </p:cNvPr>
          <p:cNvSpPr txBox="1"/>
          <p:nvPr/>
        </p:nvSpPr>
        <p:spPr>
          <a:xfrm>
            <a:off x="164461" y="138147"/>
            <a:ext cx="7218579" cy="461665"/>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a:t>exit(reason) </a:t>
            </a:r>
            <a:r>
              <a:rPr lang="en-US" sz="2400" dirty="0" err="1"/>
              <a:t>este</a:t>
            </a:r>
            <a:r>
              <a:rPr lang="en-US" sz="2400" dirty="0"/>
              <a:t> o </a:t>
            </a:r>
            <a:r>
              <a:rPr lang="en-US" sz="2400" dirty="0" err="1"/>
              <a:t>exceptie</a:t>
            </a:r>
            <a:r>
              <a:rPr lang="en-US" sz="2400" dirty="0"/>
              <a:t> </a:t>
            </a:r>
            <a:r>
              <a:rPr lang="en-US" sz="2400" dirty="0" err="1"/>
              <a:t>locala</a:t>
            </a:r>
            <a:r>
              <a:rPr lang="en-US" sz="2400" dirty="0"/>
              <a:t>, interna </a:t>
            </a:r>
            <a:r>
              <a:rPr lang="en-US" sz="2400" dirty="0" err="1"/>
              <a:t>procesului</a:t>
            </a:r>
            <a:r>
              <a:rPr lang="en-US" sz="2400" b="1" dirty="0"/>
              <a:t> </a:t>
            </a:r>
          </a:p>
        </p:txBody>
      </p:sp>
      <p:pic>
        <p:nvPicPr>
          <p:cNvPr id="5" name="Picture 4" descr="A screenshot of a computer screen&#10;&#10;AI-generated content may be incorrect.">
            <a:extLst>
              <a:ext uri="{FF2B5EF4-FFF2-40B4-BE49-F238E27FC236}">
                <a16:creationId xmlns:a16="http://schemas.microsoft.com/office/drawing/2014/main" id="{88134287-FA2F-3AE7-DBAA-86FC5D9AD948}"/>
              </a:ext>
            </a:extLst>
          </p:cNvPr>
          <p:cNvPicPr>
            <a:picLocks noChangeAspect="1"/>
          </p:cNvPicPr>
          <p:nvPr/>
        </p:nvPicPr>
        <p:blipFill>
          <a:blip r:embed="rId2"/>
          <a:stretch>
            <a:fillRect/>
          </a:stretch>
        </p:blipFill>
        <p:spPr>
          <a:xfrm>
            <a:off x="7773609" y="264160"/>
            <a:ext cx="4022151" cy="587515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707480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AA61E-159B-346F-6CD9-BFF4D8AB9BB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FB66FBA-382B-1FE4-F410-6AE697E80650}"/>
              </a:ext>
            </a:extLst>
          </p:cNvPr>
          <p:cNvSpPr/>
          <p:nvPr/>
        </p:nvSpPr>
        <p:spPr>
          <a:xfrm>
            <a:off x="370661" y="1505396"/>
            <a:ext cx="7016028" cy="3847207"/>
          </a:xfrm>
          <a:prstGeom prst="rect">
            <a:avLst/>
          </a:prstGeom>
          <a:ln>
            <a:solidFill>
              <a:srgbClr val="C00000"/>
            </a:solidFill>
          </a:ln>
        </p:spPr>
        <p:txBody>
          <a:bodyPr wrap="square">
            <a:spAutoFit/>
          </a:bodyPr>
          <a:lstStyle/>
          <a:p>
            <a:r>
              <a:rPr lang="en-US" sz="2000" dirty="0" err="1"/>
              <a:t>myproc</a:t>
            </a:r>
            <a:r>
              <a:rPr lang="en-US" sz="2000" dirty="0"/>
              <a:t>() -&gt;</a:t>
            </a:r>
          </a:p>
          <a:p>
            <a:r>
              <a:rPr lang="en-US" sz="2000" dirty="0"/>
              <a:t>  </a:t>
            </a:r>
            <a:r>
              <a:rPr lang="en-US" sz="2000" dirty="0" err="1"/>
              <a:t>timer:sleep</a:t>
            </a:r>
            <a:r>
              <a:rPr lang="en-US" sz="2000" dirty="0"/>
              <a:t>(5000),</a:t>
            </a:r>
          </a:p>
          <a:p>
            <a:r>
              <a:rPr lang="en-US" sz="2000" dirty="0"/>
              <a:t>  exit(reason).</a:t>
            </a:r>
          </a:p>
          <a:p>
            <a:endParaRPr lang="en-US" sz="2000" dirty="0"/>
          </a:p>
          <a:p>
            <a:r>
              <a:rPr lang="en-GB" sz="2000" dirty="0" err="1"/>
              <a:t>mytry</a:t>
            </a:r>
            <a:r>
              <a:rPr lang="en-GB" sz="2000" dirty="0"/>
              <a:t>(Reason) -&gt;</a:t>
            </a:r>
          </a:p>
          <a:p>
            <a:r>
              <a:rPr lang="en-GB" sz="2000" dirty="0"/>
              <a:t>    </a:t>
            </a:r>
            <a:r>
              <a:rPr lang="en-GB" sz="2000" b="1" dirty="0"/>
              <a:t>try</a:t>
            </a:r>
            <a:r>
              <a:rPr lang="en-GB" sz="2000" dirty="0"/>
              <a:t> </a:t>
            </a:r>
            <a:r>
              <a:rPr lang="en-GB" sz="2000" dirty="0" err="1"/>
              <a:t>myproc</a:t>
            </a:r>
            <a:r>
              <a:rPr lang="en-GB" sz="2000" dirty="0"/>
              <a:t>(Reason) of</a:t>
            </a:r>
          </a:p>
          <a:p>
            <a:r>
              <a:rPr lang="en-GB" sz="2000" dirty="0"/>
              <a:t>        _ -&gt; ok</a:t>
            </a:r>
          </a:p>
          <a:p>
            <a:r>
              <a:rPr lang="en-GB" sz="2000" dirty="0"/>
              <a:t>    </a:t>
            </a:r>
            <a:r>
              <a:rPr lang="en-GB" sz="2000" b="1" dirty="0"/>
              <a:t>catch</a:t>
            </a:r>
            <a:r>
              <a:rPr lang="en-GB" sz="2000" dirty="0"/>
              <a:t> </a:t>
            </a:r>
          </a:p>
          <a:p>
            <a:r>
              <a:rPr lang="en-GB" sz="2000" dirty="0"/>
              <a:t>        </a:t>
            </a:r>
            <a:r>
              <a:rPr lang="en-GB" sz="2000" dirty="0" err="1"/>
              <a:t>exit:Reason</a:t>
            </a:r>
            <a:r>
              <a:rPr lang="en-GB" sz="2000" dirty="0"/>
              <a:t> -&gt; </a:t>
            </a:r>
            <a:r>
              <a:rPr lang="en-GB" sz="2000" dirty="0" err="1"/>
              <a:t>io:format</a:t>
            </a:r>
            <a:r>
              <a:rPr lang="en-GB" sz="2000" dirty="0"/>
              <a:t>("caught ~</a:t>
            </a:r>
            <a:r>
              <a:rPr lang="en-GB" sz="2000" dirty="0" err="1"/>
              <a:t>p~n</a:t>
            </a:r>
            <a:r>
              <a:rPr lang="en-GB" sz="2000" dirty="0"/>
              <a:t>", [Reason]), </a:t>
            </a:r>
          </a:p>
          <a:p>
            <a:r>
              <a:rPr lang="en-GB" sz="2000" dirty="0"/>
              <a:t>                                  </a:t>
            </a:r>
            <a:r>
              <a:rPr lang="en-GB" sz="2000" dirty="0" err="1"/>
              <a:t>mytry</a:t>
            </a:r>
            <a:r>
              <a:rPr lang="en-GB" sz="2000" dirty="0"/>
              <a:t>(Reason)</a:t>
            </a:r>
          </a:p>
          <a:p>
            <a:r>
              <a:rPr lang="en-GB" sz="2000" dirty="0"/>
              <a:t>    </a:t>
            </a:r>
            <a:r>
              <a:rPr lang="en-GB" sz="2000" b="1" dirty="0"/>
              <a:t>end. </a:t>
            </a:r>
          </a:p>
          <a:p>
            <a:endParaRPr lang="en-US" sz="2400" dirty="0"/>
          </a:p>
        </p:txBody>
      </p:sp>
      <p:sp>
        <p:nvSpPr>
          <p:cNvPr id="9" name="TextBox 8">
            <a:extLst>
              <a:ext uri="{FF2B5EF4-FFF2-40B4-BE49-F238E27FC236}">
                <a16:creationId xmlns:a16="http://schemas.microsoft.com/office/drawing/2014/main" id="{AF4ADF22-D47E-7604-E4F2-12815EED83BC}"/>
              </a:ext>
            </a:extLst>
          </p:cNvPr>
          <p:cNvSpPr txBox="1"/>
          <p:nvPr/>
        </p:nvSpPr>
        <p:spPr>
          <a:xfrm>
            <a:off x="164461" y="138147"/>
            <a:ext cx="3582134" cy="461665"/>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a:t>exit(kill) vs exit(Pid, kill) </a:t>
            </a:r>
          </a:p>
        </p:txBody>
      </p:sp>
      <p:pic>
        <p:nvPicPr>
          <p:cNvPr id="5" name="Picture 4" descr="A screenshot of a computer program&#10;&#10;AI-generated content may be incorrect.">
            <a:extLst>
              <a:ext uri="{FF2B5EF4-FFF2-40B4-BE49-F238E27FC236}">
                <a16:creationId xmlns:a16="http://schemas.microsoft.com/office/drawing/2014/main" id="{97BB96C2-DF19-18BA-636A-606C49FC074E}"/>
              </a:ext>
            </a:extLst>
          </p:cNvPr>
          <p:cNvPicPr>
            <a:picLocks noChangeAspect="1"/>
          </p:cNvPicPr>
          <p:nvPr/>
        </p:nvPicPr>
        <p:blipFill>
          <a:blip r:embed="rId2"/>
          <a:stretch>
            <a:fillRect/>
          </a:stretch>
        </p:blipFill>
        <p:spPr>
          <a:xfrm>
            <a:off x="5524192" y="466026"/>
            <a:ext cx="6134956" cy="5458587"/>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482398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7DC22-8497-8E39-1BA9-FE100A553C0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113E7B8-DC75-3915-423B-1F88165CD81C}"/>
              </a:ext>
            </a:extLst>
          </p:cNvPr>
          <p:cNvSpPr/>
          <p:nvPr/>
        </p:nvSpPr>
        <p:spPr>
          <a:xfrm>
            <a:off x="238581" y="1615396"/>
            <a:ext cx="7016028" cy="3847207"/>
          </a:xfrm>
          <a:prstGeom prst="rect">
            <a:avLst/>
          </a:prstGeom>
          <a:ln>
            <a:solidFill>
              <a:srgbClr val="C00000"/>
            </a:solidFill>
          </a:ln>
        </p:spPr>
        <p:txBody>
          <a:bodyPr wrap="square">
            <a:spAutoFit/>
          </a:bodyPr>
          <a:lstStyle/>
          <a:p>
            <a:r>
              <a:rPr lang="en-US" sz="2000" dirty="0" err="1"/>
              <a:t>myproc</a:t>
            </a:r>
            <a:r>
              <a:rPr lang="en-US" sz="2000" dirty="0"/>
              <a:t>() -&gt;</a:t>
            </a:r>
          </a:p>
          <a:p>
            <a:r>
              <a:rPr lang="en-US" sz="2000" dirty="0"/>
              <a:t>  </a:t>
            </a:r>
            <a:r>
              <a:rPr lang="en-US" sz="2000" dirty="0" err="1"/>
              <a:t>timer:sleep</a:t>
            </a:r>
            <a:r>
              <a:rPr lang="en-US" sz="2000" dirty="0"/>
              <a:t>(5000),</a:t>
            </a:r>
          </a:p>
          <a:p>
            <a:r>
              <a:rPr lang="en-US" sz="2000" dirty="0"/>
              <a:t>  exit(reason).</a:t>
            </a:r>
          </a:p>
          <a:p>
            <a:endParaRPr lang="en-US" sz="2000" dirty="0"/>
          </a:p>
          <a:p>
            <a:r>
              <a:rPr lang="en-GB" sz="2000" dirty="0" err="1"/>
              <a:t>mytry</a:t>
            </a:r>
            <a:r>
              <a:rPr lang="en-GB" sz="2000" dirty="0"/>
              <a:t>(Reason) -&gt;</a:t>
            </a:r>
          </a:p>
          <a:p>
            <a:r>
              <a:rPr lang="en-GB" sz="2000" dirty="0"/>
              <a:t>    </a:t>
            </a:r>
            <a:r>
              <a:rPr lang="en-GB" sz="2000" b="1" dirty="0"/>
              <a:t>try</a:t>
            </a:r>
            <a:r>
              <a:rPr lang="en-GB" sz="2000" dirty="0"/>
              <a:t> </a:t>
            </a:r>
            <a:r>
              <a:rPr lang="en-GB" sz="2000" dirty="0" err="1"/>
              <a:t>myproc</a:t>
            </a:r>
            <a:r>
              <a:rPr lang="en-GB" sz="2000" dirty="0"/>
              <a:t>(Reason) of</a:t>
            </a:r>
          </a:p>
          <a:p>
            <a:r>
              <a:rPr lang="en-GB" sz="2000" dirty="0"/>
              <a:t>        _ -&gt; ok</a:t>
            </a:r>
          </a:p>
          <a:p>
            <a:r>
              <a:rPr lang="en-GB" sz="2000" dirty="0"/>
              <a:t>    </a:t>
            </a:r>
            <a:r>
              <a:rPr lang="en-GB" sz="2000" b="1" dirty="0"/>
              <a:t>catch</a:t>
            </a:r>
            <a:r>
              <a:rPr lang="en-GB" sz="2000" dirty="0"/>
              <a:t> </a:t>
            </a:r>
          </a:p>
          <a:p>
            <a:r>
              <a:rPr lang="en-GB" sz="2000" dirty="0"/>
              <a:t>        </a:t>
            </a:r>
            <a:r>
              <a:rPr lang="en-GB" sz="2000" dirty="0" err="1"/>
              <a:t>exit:Reason</a:t>
            </a:r>
            <a:r>
              <a:rPr lang="en-GB" sz="2000" dirty="0"/>
              <a:t> -&gt; </a:t>
            </a:r>
            <a:r>
              <a:rPr lang="en-GB" sz="2000" dirty="0" err="1"/>
              <a:t>io:format</a:t>
            </a:r>
            <a:r>
              <a:rPr lang="en-GB" sz="2000" dirty="0"/>
              <a:t>("caught ~</a:t>
            </a:r>
            <a:r>
              <a:rPr lang="en-GB" sz="2000" dirty="0" err="1"/>
              <a:t>p~n</a:t>
            </a:r>
            <a:r>
              <a:rPr lang="en-GB" sz="2000" dirty="0"/>
              <a:t>", [Reason]), </a:t>
            </a:r>
          </a:p>
          <a:p>
            <a:r>
              <a:rPr lang="en-GB" sz="2000" dirty="0"/>
              <a:t>                                  </a:t>
            </a:r>
            <a:r>
              <a:rPr lang="en-GB" sz="2000" dirty="0" err="1"/>
              <a:t>mytry</a:t>
            </a:r>
            <a:r>
              <a:rPr lang="en-GB" sz="2000" dirty="0"/>
              <a:t>(Reason)</a:t>
            </a:r>
          </a:p>
          <a:p>
            <a:r>
              <a:rPr lang="en-GB" sz="2000" dirty="0"/>
              <a:t>    </a:t>
            </a:r>
            <a:r>
              <a:rPr lang="en-GB" sz="2000" b="1" dirty="0"/>
              <a:t>end. </a:t>
            </a:r>
          </a:p>
          <a:p>
            <a:endParaRPr lang="en-US" sz="2400" dirty="0"/>
          </a:p>
        </p:txBody>
      </p:sp>
      <p:sp>
        <p:nvSpPr>
          <p:cNvPr id="9" name="TextBox 8">
            <a:extLst>
              <a:ext uri="{FF2B5EF4-FFF2-40B4-BE49-F238E27FC236}">
                <a16:creationId xmlns:a16="http://schemas.microsoft.com/office/drawing/2014/main" id="{B79D10EF-8360-E2E2-A189-BD091D601351}"/>
              </a:ext>
            </a:extLst>
          </p:cNvPr>
          <p:cNvSpPr txBox="1"/>
          <p:nvPr/>
        </p:nvSpPr>
        <p:spPr>
          <a:xfrm>
            <a:off x="164461" y="138147"/>
            <a:ext cx="3582134" cy="461665"/>
          </a:xfrm>
          <a:prstGeom prst="rect">
            <a:avLst/>
          </a:prstGeom>
          <a:noFill/>
        </p:spPr>
        <p:txBody>
          <a:bodyPr wrap="none" rtlCol="0">
            <a:spAutoFit/>
          </a:bodyPr>
          <a:lstStyle/>
          <a:p>
            <a:pPr marL="285750" indent="-285750">
              <a:buFont typeface="Wingdings" panose="05000000000000000000" pitchFamily="2" charset="2"/>
              <a:buChar char="Ø"/>
            </a:pPr>
            <a:r>
              <a:rPr lang="en-US" sz="2400" b="1" dirty="0"/>
              <a:t>exit(kill) vs exit(Pid, kill) </a:t>
            </a:r>
          </a:p>
        </p:txBody>
      </p:sp>
      <p:pic>
        <p:nvPicPr>
          <p:cNvPr id="5" name="Picture 4" descr="A screenshot of a computer program&#10;&#10;AI-generated content may be incorrect.">
            <a:extLst>
              <a:ext uri="{FF2B5EF4-FFF2-40B4-BE49-F238E27FC236}">
                <a16:creationId xmlns:a16="http://schemas.microsoft.com/office/drawing/2014/main" id="{984C477F-4F67-80AF-7107-2017ED44B089}"/>
              </a:ext>
            </a:extLst>
          </p:cNvPr>
          <p:cNvPicPr>
            <a:picLocks noChangeAspect="1"/>
          </p:cNvPicPr>
          <p:nvPr/>
        </p:nvPicPr>
        <p:blipFill>
          <a:blip r:embed="rId2"/>
          <a:stretch>
            <a:fillRect/>
          </a:stretch>
        </p:blipFill>
        <p:spPr>
          <a:xfrm>
            <a:off x="5524192" y="466026"/>
            <a:ext cx="6134956" cy="5458587"/>
          </a:xfrm>
          <a:prstGeom prst="rect">
            <a:avLst/>
          </a:prstGeom>
        </p:spPr>
        <p:style>
          <a:lnRef idx="2">
            <a:schemeClr val="dk1"/>
          </a:lnRef>
          <a:fillRef idx="1">
            <a:schemeClr val="lt1"/>
          </a:fillRef>
          <a:effectRef idx="0">
            <a:schemeClr val="dk1"/>
          </a:effectRef>
          <a:fontRef idx="minor">
            <a:schemeClr val="dk1"/>
          </a:fontRef>
        </p:style>
      </p:pic>
      <p:sp>
        <p:nvSpPr>
          <p:cNvPr id="6" name="TextBox 5">
            <a:extLst>
              <a:ext uri="{FF2B5EF4-FFF2-40B4-BE49-F238E27FC236}">
                <a16:creationId xmlns:a16="http://schemas.microsoft.com/office/drawing/2014/main" id="{9BC7655E-326D-30AC-6791-1FBCB0A741BD}"/>
              </a:ext>
            </a:extLst>
          </p:cNvPr>
          <p:cNvSpPr txBox="1"/>
          <p:nvPr/>
        </p:nvSpPr>
        <p:spPr>
          <a:xfrm>
            <a:off x="543012" y="3195319"/>
            <a:ext cx="10161051" cy="1569660"/>
          </a:xfrm>
          <a:prstGeom prst="rect">
            <a:avLst/>
          </a:prstGeom>
          <a:ln>
            <a:solidFill>
              <a:schemeClr val="bg2">
                <a:lumMod val="50000"/>
              </a:schemeClr>
            </a:solidFill>
          </a:ln>
        </p:spPr>
        <p:style>
          <a:lnRef idx="2">
            <a:schemeClr val="dk1"/>
          </a:lnRef>
          <a:fillRef idx="1">
            <a:schemeClr val="lt1"/>
          </a:fillRef>
          <a:effectRef idx="0">
            <a:schemeClr val="dk1"/>
          </a:effectRef>
          <a:fontRef idx="minor">
            <a:schemeClr val="dk1"/>
          </a:fontRef>
        </p:style>
        <p:txBody>
          <a:bodyPr wrap="none" rtlCol="0">
            <a:spAutoFit/>
          </a:bodyPr>
          <a:lstStyle/>
          <a:p>
            <a:r>
              <a:rPr lang="en-US" sz="2400" b="1" dirty="0"/>
              <a:t>exit(kill) </a:t>
            </a:r>
            <a:r>
              <a:rPr lang="en-US" sz="2400" dirty="0" err="1"/>
              <a:t>este</a:t>
            </a:r>
            <a:r>
              <a:rPr lang="en-US" sz="2400" dirty="0"/>
              <a:t> </a:t>
            </a:r>
            <a:r>
              <a:rPr lang="en-US" sz="2400" dirty="0" err="1"/>
              <a:t>exceptie</a:t>
            </a:r>
            <a:r>
              <a:rPr lang="en-US" sz="2400" dirty="0"/>
              <a:t> </a:t>
            </a:r>
            <a:r>
              <a:rPr lang="en-US" sz="2400" dirty="0" err="1"/>
              <a:t>locala</a:t>
            </a:r>
            <a:r>
              <a:rPr lang="en-US" sz="2400" dirty="0"/>
              <a:t>, interna </a:t>
            </a:r>
            <a:r>
              <a:rPr lang="en-US" sz="2400" dirty="0" err="1"/>
              <a:t>procesului</a:t>
            </a:r>
            <a:r>
              <a:rPr lang="en-US" sz="2400" dirty="0"/>
              <a:t>;</a:t>
            </a:r>
          </a:p>
          <a:p>
            <a:r>
              <a:rPr lang="en-US" sz="2400" b="1" dirty="0"/>
              <a:t>exit(Pid, kill) </a:t>
            </a:r>
            <a:r>
              <a:rPr lang="en-US" sz="2400" dirty="0" err="1"/>
              <a:t>este</a:t>
            </a:r>
            <a:r>
              <a:rPr lang="en-US" sz="2400" dirty="0"/>
              <a:t> un mechanism care </a:t>
            </a:r>
            <a:r>
              <a:rPr lang="en-US" sz="2400" dirty="0" err="1"/>
              <a:t>influenteaza</a:t>
            </a:r>
            <a:r>
              <a:rPr lang="en-US" sz="2400" dirty="0"/>
              <a:t> </a:t>
            </a:r>
            <a:r>
              <a:rPr lang="en-US" sz="2400" dirty="0" err="1"/>
              <a:t>comunicarea</a:t>
            </a:r>
            <a:r>
              <a:rPr lang="en-US" sz="2400" dirty="0"/>
              <a:t> </a:t>
            </a:r>
            <a:r>
              <a:rPr lang="en-US" sz="2400" dirty="0" err="1"/>
              <a:t>interprocese</a:t>
            </a:r>
            <a:r>
              <a:rPr lang="en-US" sz="2400" dirty="0"/>
              <a:t> </a:t>
            </a:r>
          </a:p>
          <a:p>
            <a:r>
              <a:rPr lang="en-US" sz="2400" dirty="0"/>
              <a:t>                        </a:t>
            </a:r>
            <a:r>
              <a:rPr lang="en-US" sz="2400" dirty="0" err="1"/>
              <a:t>si</a:t>
            </a:r>
            <a:r>
              <a:rPr lang="en-US" sz="2400" dirty="0"/>
              <a:t> </a:t>
            </a:r>
            <a:r>
              <a:rPr lang="en-US" sz="2400" dirty="0" err="1"/>
              <a:t>provoaca</a:t>
            </a:r>
            <a:r>
              <a:rPr lang="en-US" sz="2400" dirty="0"/>
              <a:t> </a:t>
            </a:r>
            <a:r>
              <a:rPr lang="en-US" sz="2400" dirty="0" err="1"/>
              <a:t>oprirea</a:t>
            </a:r>
            <a:r>
              <a:rPr lang="en-US" sz="2400" dirty="0"/>
              <a:t>  </a:t>
            </a:r>
            <a:r>
              <a:rPr lang="en-US" sz="2400" dirty="0" err="1"/>
              <a:t>imediata</a:t>
            </a:r>
            <a:r>
              <a:rPr lang="en-US" sz="2400" dirty="0"/>
              <a:t>  a </a:t>
            </a:r>
            <a:r>
              <a:rPr lang="en-US" sz="2400" dirty="0" err="1"/>
              <a:t>procesului</a:t>
            </a:r>
            <a:r>
              <a:rPr lang="en-US" sz="2400" dirty="0"/>
              <a:t> care </a:t>
            </a:r>
            <a:r>
              <a:rPr lang="en-US" sz="2400" dirty="0" err="1"/>
              <a:t>primeste</a:t>
            </a:r>
            <a:r>
              <a:rPr lang="en-US" sz="2400" dirty="0"/>
              <a:t> </a:t>
            </a:r>
            <a:r>
              <a:rPr lang="en-US" sz="2400" dirty="0" err="1"/>
              <a:t>semnalul</a:t>
            </a:r>
            <a:r>
              <a:rPr lang="en-US" sz="2400" dirty="0"/>
              <a:t>;</a:t>
            </a:r>
          </a:p>
          <a:p>
            <a:r>
              <a:rPr lang="en-US" sz="2400" dirty="0"/>
              <a:t>                        nu </a:t>
            </a:r>
            <a:r>
              <a:rPr lang="en-US" sz="2400" dirty="0" err="1"/>
              <a:t>poate</a:t>
            </a:r>
            <a:r>
              <a:rPr lang="en-US" sz="2400" dirty="0"/>
              <a:t> fi </a:t>
            </a:r>
            <a:r>
              <a:rPr lang="en-US" sz="2400" dirty="0" err="1"/>
              <a:t>controlat</a:t>
            </a:r>
            <a:r>
              <a:rPr lang="en-US" sz="2400" dirty="0"/>
              <a:t> cu try…catch…end </a:t>
            </a:r>
            <a:endParaRPr lang="en-GB" sz="2400" dirty="0"/>
          </a:p>
        </p:txBody>
      </p:sp>
    </p:spTree>
    <p:extLst>
      <p:ext uri="{BB962C8B-B14F-4D97-AF65-F5344CB8AC3E}">
        <p14:creationId xmlns:p14="http://schemas.microsoft.com/office/powerpoint/2010/main" val="1544732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7691" y="882087"/>
            <a:ext cx="7615615" cy="470898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dirty="0" err="1"/>
              <a:t>start_critic</a:t>
            </a:r>
            <a:r>
              <a:rPr lang="en-US" sz="2000" dirty="0"/>
              <a:t>() -&gt;</a:t>
            </a:r>
          </a:p>
          <a:p>
            <a:r>
              <a:rPr lang="en-US" sz="2000" dirty="0"/>
              <a:t>spawn(?MODULE, critic, []).</a:t>
            </a:r>
          </a:p>
          <a:p>
            <a:r>
              <a:rPr lang="en-US" sz="2000" dirty="0"/>
              <a:t> </a:t>
            </a:r>
          </a:p>
          <a:p>
            <a:r>
              <a:rPr lang="en-US" sz="2000" b="1" dirty="0"/>
              <a:t>critic() </a:t>
            </a:r>
            <a:r>
              <a:rPr lang="en-US" sz="2000" dirty="0"/>
              <a:t>-&gt;</a:t>
            </a:r>
          </a:p>
          <a:p>
            <a:r>
              <a:rPr lang="en-US" sz="2000" dirty="0"/>
              <a:t>receive</a:t>
            </a:r>
          </a:p>
          <a:p>
            <a:r>
              <a:rPr lang="en-US" sz="2000" dirty="0"/>
              <a:t> {From, {"Rage Against the Turing Machine", "Unit Testify"}} -&gt;</a:t>
            </a:r>
          </a:p>
          <a:p>
            <a:r>
              <a:rPr lang="en-US" sz="2000" dirty="0"/>
              <a:t>                From ! {self(), "They are great!"};</a:t>
            </a:r>
          </a:p>
          <a:p>
            <a:r>
              <a:rPr lang="en-US" sz="2000" dirty="0"/>
              <a:t> {From, {"System of a Downtime", "</a:t>
            </a:r>
            <a:r>
              <a:rPr lang="en-US" sz="2000" dirty="0" err="1"/>
              <a:t>Memoize</a:t>
            </a:r>
            <a:r>
              <a:rPr lang="en-US" sz="2000" dirty="0"/>
              <a:t>"}} -&gt;</a:t>
            </a:r>
          </a:p>
          <a:p>
            <a:r>
              <a:rPr lang="en-US" sz="2000" dirty="0"/>
              <a:t>                From ! {self(), "They're not Johnny Crash but they're good."};</a:t>
            </a:r>
          </a:p>
          <a:p>
            <a:r>
              <a:rPr lang="en-US" sz="2000" dirty="0"/>
              <a:t> {From, {"Johnny Crash", "The Token Ring of Fire"}} -&gt;</a:t>
            </a:r>
          </a:p>
          <a:p>
            <a:r>
              <a:rPr lang="en-US" sz="2000" dirty="0"/>
              <a:t>                From ! {self(), "Simply incredible."};</a:t>
            </a:r>
          </a:p>
          <a:p>
            <a:r>
              <a:rPr lang="en-US" sz="2000" dirty="0"/>
              <a:t> {From, {_Band, _Album}} -&gt;</a:t>
            </a:r>
          </a:p>
          <a:p>
            <a:r>
              <a:rPr lang="en-US" sz="2000" dirty="0"/>
              <a:t>                From ! {self(), "They are terrible!"}</a:t>
            </a:r>
          </a:p>
          <a:p>
            <a:r>
              <a:rPr lang="en-US" sz="2000" dirty="0"/>
              <a:t>end,</a:t>
            </a:r>
          </a:p>
          <a:p>
            <a:r>
              <a:rPr lang="en-US" sz="2000" b="1" dirty="0"/>
              <a:t>critic()</a:t>
            </a:r>
            <a:r>
              <a:rPr lang="en-US" sz="2000" dirty="0"/>
              <a:t>.</a:t>
            </a:r>
          </a:p>
        </p:txBody>
      </p:sp>
      <p:sp>
        <p:nvSpPr>
          <p:cNvPr id="3" name="TextBox 2"/>
          <p:cNvSpPr txBox="1"/>
          <p:nvPr/>
        </p:nvSpPr>
        <p:spPr>
          <a:xfrm>
            <a:off x="8450610" y="1460409"/>
            <a:ext cx="3215945" cy="193899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000" dirty="0"/>
              <a:t>judge(</a:t>
            </a:r>
            <a:r>
              <a:rPr lang="en-US" sz="2000" dirty="0" err="1"/>
              <a:t>Pid</a:t>
            </a:r>
            <a:r>
              <a:rPr lang="en-US" sz="2000" dirty="0"/>
              <a:t>, Band, Album) -&gt;</a:t>
            </a:r>
          </a:p>
          <a:p>
            <a:r>
              <a:rPr lang="en-US" sz="2000" dirty="0" err="1"/>
              <a:t>Pid</a:t>
            </a:r>
            <a:r>
              <a:rPr lang="en-US" sz="2000" dirty="0"/>
              <a:t> ! {self(), {Band, Album}},</a:t>
            </a:r>
          </a:p>
          <a:p>
            <a:r>
              <a:rPr lang="en-US" sz="2000" dirty="0"/>
              <a:t>receive</a:t>
            </a:r>
          </a:p>
          <a:p>
            <a:r>
              <a:rPr lang="en-US" sz="2000" dirty="0"/>
              <a:t>     {</a:t>
            </a:r>
            <a:r>
              <a:rPr lang="en-US" sz="2000" dirty="0" err="1"/>
              <a:t>Pid</a:t>
            </a:r>
            <a:r>
              <a:rPr lang="en-US" sz="2000" dirty="0"/>
              <a:t>, Criticism} -&gt; Criticism</a:t>
            </a:r>
          </a:p>
          <a:p>
            <a:r>
              <a:rPr lang="en-US" sz="2000" dirty="0"/>
              <a:t>after 2000 -&gt; timeout</a:t>
            </a:r>
          </a:p>
          <a:p>
            <a:r>
              <a:rPr lang="en-US" sz="2000" dirty="0"/>
              <a:t>end.</a:t>
            </a:r>
          </a:p>
        </p:txBody>
      </p:sp>
      <p:sp>
        <p:nvSpPr>
          <p:cNvPr id="4" name="TextBox 3"/>
          <p:cNvSpPr txBox="1"/>
          <p:nvPr/>
        </p:nvSpPr>
        <p:spPr>
          <a:xfrm>
            <a:off x="0" y="5710066"/>
            <a:ext cx="5260351" cy="646331"/>
          </a:xfrm>
          <a:prstGeom prst="rect">
            <a:avLst/>
          </a:prstGeom>
          <a:noFill/>
        </p:spPr>
        <p:txBody>
          <a:bodyPr wrap="none" rtlCol="0">
            <a:spAutoFit/>
          </a:bodyPr>
          <a:lstStyle/>
          <a:p>
            <a:r>
              <a:rPr lang="en-US" dirty="0" err="1"/>
              <a:t>linkmon.erl</a:t>
            </a:r>
            <a:endParaRPr lang="en-US" dirty="0"/>
          </a:p>
          <a:p>
            <a:r>
              <a:rPr lang="en-US" dirty="0">
                <a:hlinkClick r:id="rId2"/>
              </a:rPr>
              <a:t>http://learnyousomeerlang.com/errors-and-processes</a:t>
            </a:r>
            <a:endParaRPr lang="en-US" dirty="0"/>
          </a:p>
        </p:txBody>
      </p:sp>
      <p:sp>
        <p:nvSpPr>
          <p:cNvPr id="5" name="TextBox 4"/>
          <p:cNvSpPr txBox="1"/>
          <p:nvPr/>
        </p:nvSpPr>
        <p:spPr>
          <a:xfrm>
            <a:off x="337690" y="476614"/>
            <a:ext cx="2628459" cy="461665"/>
          </a:xfrm>
          <a:prstGeom prst="rect">
            <a:avLst/>
          </a:prstGeom>
          <a:noFill/>
        </p:spPr>
        <p:txBody>
          <a:bodyPr wrap="square" rtlCol="0">
            <a:spAutoFit/>
          </a:bodyPr>
          <a:lstStyle/>
          <a:p>
            <a:r>
              <a:rPr lang="en-US" sz="2400" dirty="0"/>
              <a:t>server (critic)</a:t>
            </a:r>
          </a:p>
        </p:txBody>
      </p:sp>
      <p:sp>
        <p:nvSpPr>
          <p:cNvPr id="6" name="TextBox 5"/>
          <p:cNvSpPr txBox="1"/>
          <p:nvPr/>
        </p:nvSpPr>
        <p:spPr>
          <a:xfrm>
            <a:off x="8450610" y="882087"/>
            <a:ext cx="3405226" cy="461665"/>
          </a:xfrm>
          <a:prstGeom prst="rect">
            <a:avLst/>
          </a:prstGeom>
          <a:noFill/>
        </p:spPr>
        <p:txBody>
          <a:bodyPr wrap="square" rtlCol="0">
            <a:spAutoFit/>
          </a:bodyPr>
          <a:lstStyle/>
          <a:p>
            <a:r>
              <a:rPr lang="en-US" sz="2400" dirty="0"/>
              <a:t>client (judge commands)</a:t>
            </a:r>
          </a:p>
        </p:txBody>
      </p:sp>
      <p:pic>
        <p:nvPicPr>
          <p:cNvPr id="7" name="Picture 6"/>
          <p:cNvPicPr>
            <a:picLocks noChangeAspect="1"/>
          </p:cNvPicPr>
          <p:nvPr/>
        </p:nvPicPr>
        <p:blipFill>
          <a:blip r:embed="rId3"/>
          <a:stretch>
            <a:fillRect/>
          </a:stretch>
        </p:blipFill>
        <p:spPr>
          <a:xfrm>
            <a:off x="4203226" y="4318790"/>
            <a:ext cx="7500159" cy="1677751"/>
          </a:xfrm>
          <a:prstGeom prst="rect">
            <a:avLst/>
          </a:prstGeom>
        </p:spPr>
        <p:style>
          <a:lnRef idx="2">
            <a:schemeClr val="dk1"/>
          </a:lnRef>
          <a:fillRef idx="1">
            <a:schemeClr val="lt1"/>
          </a:fillRef>
          <a:effectRef idx="0">
            <a:schemeClr val="dk1"/>
          </a:effectRef>
          <a:fontRef idx="minor">
            <a:schemeClr val="dk1"/>
          </a:fontRef>
        </p:style>
      </p:pic>
      <p:sp>
        <p:nvSpPr>
          <p:cNvPr id="8" name="TextBox 7"/>
          <p:cNvSpPr txBox="1"/>
          <p:nvPr/>
        </p:nvSpPr>
        <p:spPr>
          <a:xfrm>
            <a:off x="467068" y="72363"/>
            <a:ext cx="3174331" cy="461665"/>
          </a:xfrm>
          <a:prstGeom prst="rect">
            <a:avLst/>
          </a:prstGeom>
          <a:noFill/>
        </p:spPr>
        <p:txBody>
          <a:bodyPr wrap="none" rtlCol="0">
            <a:spAutoFit/>
          </a:bodyPr>
          <a:lstStyle/>
          <a:p>
            <a:pPr marL="285750" indent="-285750">
              <a:buFont typeface="Wingdings" panose="05000000000000000000" pitchFamily="2" charset="2"/>
              <a:buChar char="Ø"/>
            </a:pPr>
            <a:r>
              <a:rPr lang="en-US" sz="2400" dirty="0" err="1"/>
              <a:t>Exemplu</a:t>
            </a:r>
            <a:r>
              <a:rPr lang="en-US" sz="2400" dirty="0"/>
              <a:t> server-client</a:t>
            </a:r>
          </a:p>
        </p:txBody>
      </p:sp>
    </p:spTree>
    <p:extLst>
      <p:ext uri="{BB962C8B-B14F-4D97-AF65-F5344CB8AC3E}">
        <p14:creationId xmlns:p14="http://schemas.microsoft.com/office/powerpoint/2010/main" val="3646900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5710066"/>
            <a:ext cx="5260351" cy="646331"/>
          </a:xfrm>
          <a:prstGeom prst="rect">
            <a:avLst/>
          </a:prstGeom>
          <a:noFill/>
        </p:spPr>
        <p:txBody>
          <a:bodyPr wrap="none" rtlCol="0">
            <a:spAutoFit/>
          </a:bodyPr>
          <a:lstStyle/>
          <a:p>
            <a:r>
              <a:rPr lang="en-US" dirty="0" err="1"/>
              <a:t>linkmon.erl</a:t>
            </a:r>
            <a:endParaRPr lang="en-US" dirty="0"/>
          </a:p>
          <a:p>
            <a:r>
              <a:rPr lang="en-US" dirty="0">
                <a:hlinkClick r:id="rId2"/>
              </a:rPr>
              <a:t>http://learnyousomeerlang.com/errors-and-processes</a:t>
            </a:r>
            <a:endParaRPr lang="en-US" dirty="0"/>
          </a:p>
        </p:txBody>
      </p:sp>
      <p:pic>
        <p:nvPicPr>
          <p:cNvPr id="7" name="Picture 6"/>
          <p:cNvPicPr>
            <a:picLocks noChangeAspect="1"/>
          </p:cNvPicPr>
          <p:nvPr/>
        </p:nvPicPr>
        <p:blipFill>
          <a:blip r:embed="rId3"/>
          <a:stretch>
            <a:fillRect/>
          </a:stretch>
        </p:blipFill>
        <p:spPr>
          <a:xfrm>
            <a:off x="1541340" y="697717"/>
            <a:ext cx="9349910" cy="2091532"/>
          </a:xfrm>
          <a:prstGeom prst="rect">
            <a:avLst/>
          </a:prstGeom>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p:nvPicPr>
        <p:blipFill>
          <a:blip r:embed="rId4"/>
          <a:stretch>
            <a:fillRect/>
          </a:stretch>
        </p:blipFill>
        <p:spPr>
          <a:xfrm>
            <a:off x="1161769" y="3139963"/>
            <a:ext cx="10109051" cy="1178768"/>
          </a:xfrm>
          <a:prstGeom prst="rect">
            <a:avLst/>
          </a:prstGeom>
        </p:spPr>
        <p:style>
          <a:lnRef idx="2">
            <a:schemeClr val="dk1"/>
          </a:lnRef>
          <a:fillRef idx="1">
            <a:schemeClr val="lt1"/>
          </a:fillRef>
          <a:effectRef idx="0">
            <a:schemeClr val="dk1"/>
          </a:effectRef>
          <a:fontRef idx="minor">
            <a:schemeClr val="dk1"/>
          </a:fontRef>
        </p:style>
      </p:pic>
      <p:sp>
        <p:nvSpPr>
          <p:cNvPr id="9" name="Rectangle 8"/>
          <p:cNvSpPr/>
          <p:nvPr/>
        </p:nvSpPr>
        <p:spPr>
          <a:xfrm>
            <a:off x="8231793" y="4205137"/>
            <a:ext cx="3800132" cy="1754326"/>
          </a:xfrm>
          <a:prstGeom prst="rect">
            <a:avLst/>
          </a:prstGeom>
          <a:ln>
            <a:solidFill>
              <a:srgbClr val="C00000"/>
            </a:solidFill>
          </a:ln>
        </p:spPr>
        <p:style>
          <a:lnRef idx="2">
            <a:schemeClr val="dk1"/>
          </a:lnRef>
          <a:fillRef idx="1">
            <a:schemeClr val="lt1"/>
          </a:fillRef>
          <a:effectRef idx="0">
            <a:schemeClr val="dk1"/>
          </a:effectRef>
          <a:fontRef idx="minor">
            <a:schemeClr val="dk1"/>
          </a:fontRef>
        </p:style>
        <p:txBody>
          <a:bodyPr wrap="square">
            <a:spAutoFit/>
          </a:bodyPr>
          <a:lstStyle/>
          <a:p>
            <a:pPr lvl="0"/>
            <a:r>
              <a:rPr lang="en-US" dirty="0">
                <a:solidFill>
                  <a:srgbClr val="000000"/>
                </a:solidFill>
              </a:rPr>
              <a:t>judge(</a:t>
            </a:r>
            <a:r>
              <a:rPr lang="en-US" dirty="0" err="1">
                <a:solidFill>
                  <a:srgbClr val="000000"/>
                </a:solidFill>
              </a:rPr>
              <a:t>Pid</a:t>
            </a:r>
            <a:r>
              <a:rPr lang="en-US" dirty="0">
                <a:solidFill>
                  <a:srgbClr val="000000"/>
                </a:solidFill>
              </a:rPr>
              <a:t>, Band, Album) -&gt;</a:t>
            </a:r>
          </a:p>
          <a:p>
            <a:pPr lvl="0"/>
            <a:r>
              <a:rPr lang="en-US" dirty="0" err="1">
                <a:solidFill>
                  <a:srgbClr val="000000"/>
                </a:solidFill>
              </a:rPr>
              <a:t>Pid</a:t>
            </a:r>
            <a:r>
              <a:rPr lang="en-US" dirty="0">
                <a:solidFill>
                  <a:srgbClr val="000000"/>
                </a:solidFill>
              </a:rPr>
              <a:t> ! {self(), {Band, Album}},</a:t>
            </a:r>
          </a:p>
          <a:p>
            <a:pPr lvl="0"/>
            <a:r>
              <a:rPr lang="en-US" dirty="0">
                <a:solidFill>
                  <a:srgbClr val="000000"/>
                </a:solidFill>
              </a:rPr>
              <a:t>receive</a:t>
            </a:r>
          </a:p>
          <a:p>
            <a:pPr lvl="0"/>
            <a:r>
              <a:rPr lang="en-US" dirty="0">
                <a:solidFill>
                  <a:srgbClr val="000000"/>
                </a:solidFill>
              </a:rPr>
              <a:t>{</a:t>
            </a:r>
            <a:r>
              <a:rPr lang="en-US" dirty="0" err="1">
                <a:solidFill>
                  <a:srgbClr val="000000"/>
                </a:solidFill>
              </a:rPr>
              <a:t>Pid</a:t>
            </a:r>
            <a:r>
              <a:rPr lang="en-US" dirty="0">
                <a:solidFill>
                  <a:srgbClr val="000000"/>
                </a:solidFill>
              </a:rPr>
              <a:t>, Criticism} -&gt; Criticism</a:t>
            </a:r>
          </a:p>
          <a:p>
            <a:pPr lvl="0"/>
            <a:r>
              <a:rPr lang="en-US" dirty="0">
                <a:solidFill>
                  <a:srgbClr val="000000"/>
                </a:solidFill>
              </a:rPr>
              <a:t>after 2000 -&gt;    timeout</a:t>
            </a:r>
          </a:p>
          <a:p>
            <a:pPr lvl="0"/>
            <a:r>
              <a:rPr lang="en-US" dirty="0">
                <a:solidFill>
                  <a:srgbClr val="000000"/>
                </a:solidFill>
              </a:rPr>
              <a:t>end.</a:t>
            </a:r>
          </a:p>
        </p:txBody>
      </p:sp>
      <p:cxnSp>
        <p:nvCxnSpPr>
          <p:cNvPr id="11" name="Straight Arrow Connector 10"/>
          <p:cNvCxnSpPr/>
          <p:nvPr/>
        </p:nvCxnSpPr>
        <p:spPr>
          <a:xfrm>
            <a:off x="2207965" y="4221699"/>
            <a:ext cx="6104771" cy="158539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41000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83291" y="718099"/>
            <a:ext cx="6529768" cy="563231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400" dirty="0"/>
              <a:t>start_critic1() -&gt;</a:t>
            </a:r>
          </a:p>
          <a:p>
            <a:r>
              <a:rPr lang="en-US" sz="2400" dirty="0"/>
              <a:t>spawn(?MODULE, restarter, []).</a:t>
            </a:r>
          </a:p>
          <a:p>
            <a:endParaRPr lang="en-US" sz="2400" dirty="0"/>
          </a:p>
          <a:p>
            <a:r>
              <a:rPr lang="en-US" sz="2400" dirty="0"/>
              <a:t>restarter() -&gt;</a:t>
            </a:r>
          </a:p>
          <a:p>
            <a:r>
              <a:rPr lang="en-US" sz="2400" dirty="0"/>
              <a:t>   </a:t>
            </a:r>
            <a:r>
              <a:rPr lang="en-US" sz="2400" dirty="0" err="1"/>
              <a:t>process_flag</a:t>
            </a:r>
            <a:r>
              <a:rPr lang="en-US" sz="2400" dirty="0"/>
              <a:t>(</a:t>
            </a:r>
            <a:r>
              <a:rPr lang="en-US" sz="2400" dirty="0" err="1"/>
              <a:t>trap_exit</a:t>
            </a:r>
            <a:r>
              <a:rPr lang="en-US" sz="2400" dirty="0"/>
              <a:t>, true),</a:t>
            </a:r>
          </a:p>
          <a:p>
            <a:r>
              <a:rPr lang="en-US" sz="2400" dirty="0"/>
              <a:t>   </a:t>
            </a:r>
            <a:r>
              <a:rPr lang="en-US" sz="2400" dirty="0" err="1"/>
              <a:t>Pid</a:t>
            </a:r>
            <a:r>
              <a:rPr lang="en-US" sz="2400" dirty="0"/>
              <a:t> = </a:t>
            </a:r>
            <a:r>
              <a:rPr lang="en-US" sz="2400" dirty="0" err="1"/>
              <a:t>spawn_link</a:t>
            </a:r>
            <a:r>
              <a:rPr lang="en-US" sz="2400" dirty="0"/>
              <a:t>(?MODULE, critic, []),</a:t>
            </a:r>
          </a:p>
          <a:p>
            <a:r>
              <a:rPr lang="en-US" sz="2400" dirty="0"/>
              <a:t>   register(critic, </a:t>
            </a:r>
            <a:r>
              <a:rPr lang="en-US" sz="2400" dirty="0" err="1"/>
              <a:t>Pid</a:t>
            </a:r>
            <a:r>
              <a:rPr lang="en-US" sz="2400" dirty="0"/>
              <a:t>),</a:t>
            </a:r>
          </a:p>
          <a:p>
            <a:r>
              <a:rPr lang="en-US" sz="2400" dirty="0"/>
              <a:t>   receive</a:t>
            </a:r>
          </a:p>
          <a:p>
            <a:r>
              <a:rPr lang="en-US" sz="2400" dirty="0"/>
              <a:t>     {'EXIT', </a:t>
            </a:r>
            <a:r>
              <a:rPr lang="en-US" sz="2400" dirty="0" err="1"/>
              <a:t>Pid</a:t>
            </a:r>
            <a:r>
              <a:rPr lang="en-US" sz="2400" dirty="0"/>
              <a:t>, normal} -&gt; % not a crash</a:t>
            </a:r>
          </a:p>
          <a:p>
            <a:r>
              <a:rPr lang="en-US" sz="2400" dirty="0"/>
              <a:t>                                    ok;</a:t>
            </a:r>
          </a:p>
          <a:p>
            <a:r>
              <a:rPr lang="en-US" sz="2400" dirty="0"/>
              <a:t>     {'EXIT', </a:t>
            </a:r>
            <a:r>
              <a:rPr lang="en-US" sz="2400" dirty="0" err="1"/>
              <a:t>Pid</a:t>
            </a:r>
            <a:r>
              <a:rPr lang="en-US" sz="2400" dirty="0"/>
              <a:t>, shutdown} -&gt; % manual termination</a:t>
            </a:r>
          </a:p>
          <a:p>
            <a:r>
              <a:rPr lang="en-US" sz="2400" dirty="0"/>
              <a:t>                                     ok;</a:t>
            </a:r>
          </a:p>
          <a:p>
            <a:r>
              <a:rPr lang="en-US" sz="2400" dirty="0"/>
              <a:t>     {'EXIT', </a:t>
            </a:r>
            <a:r>
              <a:rPr lang="en-US" sz="2400" dirty="0" err="1"/>
              <a:t>Pid</a:t>
            </a:r>
            <a:r>
              <a:rPr lang="en-US" sz="2400" dirty="0"/>
              <a:t>, _} -&gt;</a:t>
            </a:r>
          </a:p>
          <a:p>
            <a:r>
              <a:rPr lang="en-US" sz="2400" dirty="0"/>
              <a:t>                               restarter()</a:t>
            </a:r>
          </a:p>
          <a:p>
            <a:r>
              <a:rPr lang="en-US" sz="2400" dirty="0"/>
              <a:t>end.</a:t>
            </a:r>
          </a:p>
        </p:txBody>
      </p:sp>
      <p:sp>
        <p:nvSpPr>
          <p:cNvPr id="3" name="TextBox 2"/>
          <p:cNvSpPr txBox="1"/>
          <p:nvPr/>
        </p:nvSpPr>
        <p:spPr>
          <a:xfrm>
            <a:off x="288823" y="2914579"/>
            <a:ext cx="3868367" cy="3046988"/>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a:t>judge1(Band, Album) -&gt;</a:t>
            </a:r>
          </a:p>
          <a:p>
            <a:r>
              <a:rPr lang="en-US" sz="2400" dirty="0"/>
              <a:t>critic ! {self(), {Band, Album}},</a:t>
            </a:r>
          </a:p>
          <a:p>
            <a:r>
              <a:rPr lang="en-US" sz="2400" dirty="0" err="1"/>
              <a:t>Pid</a:t>
            </a:r>
            <a:r>
              <a:rPr lang="en-US" sz="2400" dirty="0"/>
              <a:t> = </a:t>
            </a:r>
            <a:r>
              <a:rPr lang="en-US" sz="2400" dirty="0" err="1"/>
              <a:t>whereis</a:t>
            </a:r>
            <a:r>
              <a:rPr lang="en-US" sz="2400" dirty="0"/>
              <a:t>(critic),</a:t>
            </a:r>
          </a:p>
          <a:p>
            <a:r>
              <a:rPr lang="en-US" sz="2400" dirty="0"/>
              <a:t>receive</a:t>
            </a:r>
          </a:p>
          <a:p>
            <a:r>
              <a:rPr lang="en-US" sz="2400" dirty="0"/>
              <a:t>{</a:t>
            </a:r>
            <a:r>
              <a:rPr lang="en-US" sz="2400" dirty="0" err="1"/>
              <a:t>Pid</a:t>
            </a:r>
            <a:r>
              <a:rPr lang="en-US" sz="2400" dirty="0"/>
              <a:t>, Criticism} -&gt; Criticism</a:t>
            </a:r>
          </a:p>
          <a:p>
            <a:r>
              <a:rPr lang="en-US" sz="2400" dirty="0"/>
              <a:t>after 2000 -&gt;</a:t>
            </a:r>
          </a:p>
          <a:p>
            <a:r>
              <a:rPr lang="en-US" sz="2400" dirty="0"/>
              <a:t>timeout</a:t>
            </a:r>
          </a:p>
          <a:p>
            <a:r>
              <a:rPr lang="en-US" sz="2400" dirty="0"/>
              <a:t>end.</a:t>
            </a:r>
          </a:p>
        </p:txBody>
      </p:sp>
      <p:sp>
        <p:nvSpPr>
          <p:cNvPr id="4" name="TextBox 3"/>
          <p:cNvSpPr txBox="1"/>
          <p:nvPr/>
        </p:nvSpPr>
        <p:spPr>
          <a:xfrm>
            <a:off x="171039" y="5909777"/>
            <a:ext cx="5260351" cy="369332"/>
          </a:xfrm>
          <a:prstGeom prst="rect">
            <a:avLst/>
          </a:prstGeom>
          <a:noFill/>
        </p:spPr>
        <p:txBody>
          <a:bodyPr wrap="none" rtlCol="0">
            <a:spAutoFit/>
          </a:bodyPr>
          <a:lstStyle/>
          <a:p>
            <a:r>
              <a:rPr lang="en-US" dirty="0">
                <a:hlinkClick r:id="rId2"/>
              </a:rPr>
              <a:t>http://learnyousomeerlang.com/errors-and-processes</a:t>
            </a:r>
            <a:endParaRPr lang="en-US" dirty="0"/>
          </a:p>
        </p:txBody>
      </p:sp>
      <p:sp>
        <p:nvSpPr>
          <p:cNvPr id="5" name="TextBox 4"/>
          <p:cNvSpPr txBox="1"/>
          <p:nvPr/>
        </p:nvSpPr>
        <p:spPr>
          <a:xfrm>
            <a:off x="423210" y="947756"/>
            <a:ext cx="966803" cy="461665"/>
          </a:xfrm>
          <a:prstGeom prst="rect">
            <a:avLst/>
          </a:prstGeom>
          <a:noFill/>
        </p:spPr>
        <p:txBody>
          <a:bodyPr wrap="none" rtlCol="0">
            <a:spAutoFit/>
          </a:bodyPr>
          <a:lstStyle/>
          <a:p>
            <a:r>
              <a:rPr lang="en-US" sz="2400" dirty="0"/>
              <a:t>server</a:t>
            </a:r>
          </a:p>
        </p:txBody>
      </p:sp>
      <p:sp>
        <p:nvSpPr>
          <p:cNvPr id="6" name="TextBox 5"/>
          <p:cNvSpPr txBox="1"/>
          <p:nvPr/>
        </p:nvSpPr>
        <p:spPr>
          <a:xfrm>
            <a:off x="288823" y="2495686"/>
            <a:ext cx="871072" cy="461665"/>
          </a:xfrm>
          <a:prstGeom prst="rect">
            <a:avLst/>
          </a:prstGeom>
          <a:noFill/>
        </p:spPr>
        <p:txBody>
          <a:bodyPr wrap="none" rtlCol="0">
            <a:spAutoFit/>
          </a:bodyPr>
          <a:lstStyle/>
          <a:p>
            <a:r>
              <a:rPr lang="en-US" sz="2400" dirty="0"/>
              <a:t>client</a:t>
            </a:r>
          </a:p>
        </p:txBody>
      </p:sp>
      <p:sp>
        <p:nvSpPr>
          <p:cNvPr id="10" name="TextBox 9"/>
          <p:cNvSpPr txBox="1"/>
          <p:nvPr/>
        </p:nvSpPr>
        <p:spPr>
          <a:xfrm>
            <a:off x="456102" y="1403309"/>
            <a:ext cx="1367682" cy="738664"/>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a:t>critic() -&gt; </a:t>
            </a:r>
          </a:p>
          <a:p>
            <a:r>
              <a:rPr lang="en-US" dirty="0"/>
              <a:t>  …..</a:t>
            </a:r>
          </a:p>
        </p:txBody>
      </p:sp>
      <p:sp>
        <p:nvSpPr>
          <p:cNvPr id="11" name="TextBox 10"/>
          <p:cNvSpPr txBox="1"/>
          <p:nvPr/>
        </p:nvSpPr>
        <p:spPr>
          <a:xfrm>
            <a:off x="8324300" y="159516"/>
            <a:ext cx="2688300" cy="461665"/>
          </a:xfrm>
          <a:prstGeom prst="rect">
            <a:avLst/>
          </a:prstGeom>
          <a:noFill/>
        </p:spPr>
        <p:txBody>
          <a:bodyPr wrap="none" rtlCol="0">
            <a:spAutoFit/>
          </a:bodyPr>
          <a:lstStyle/>
          <a:p>
            <a:r>
              <a:rPr lang="en-US" sz="2400" dirty="0"/>
              <a:t>restarter/</a:t>
            </a:r>
            <a:r>
              <a:rPr lang="en-US" sz="2400" dirty="0" err="1"/>
              <a:t>supervizor</a:t>
            </a:r>
            <a:endParaRPr lang="en-US" sz="2400" dirty="0"/>
          </a:p>
        </p:txBody>
      </p:sp>
      <p:sp>
        <p:nvSpPr>
          <p:cNvPr id="12" name="TextBox 11"/>
          <p:cNvSpPr txBox="1"/>
          <p:nvPr/>
        </p:nvSpPr>
        <p:spPr>
          <a:xfrm>
            <a:off x="427597" y="128739"/>
            <a:ext cx="5692520" cy="523220"/>
          </a:xfrm>
          <a:prstGeom prst="rect">
            <a:avLst/>
          </a:prstGeom>
          <a:noFill/>
        </p:spPr>
        <p:txBody>
          <a:bodyPr wrap="none" rtlCol="0">
            <a:spAutoFit/>
          </a:bodyPr>
          <a:lstStyle/>
          <a:p>
            <a:pPr marL="342900" indent="-342900">
              <a:buFont typeface="Wingdings" panose="05000000000000000000" pitchFamily="2" charset="2"/>
              <a:buChar char="Ø"/>
            </a:pPr>
            <a:r>
              <a:rPr lang="en-US" sz="2800" dirty="0" err="1"/>
              <a:t>Proces</a:t>
            </a:r>
            <a:r>
              <a:rPr lang="en-US" sz="2800" dirty="0"/>
              <a:t> </a:t>
            </a:r>
            <a:r>
              <a:rPr lang="en-US" sz="2800" dirty="0" err="1"/>
              <a:t>sistem</a:t>
            </a:r>
            <a:r>
              <a:rPr lang="en-US" sz="2800" dirty="0"/>
              <a:t> supervisor (restarter)</a:t>
            </a:r>
          </a:p>
        </p:txBody>
      </p:sp>
      <p:cxnSp>
        <p:nvCxnSpPr>
          <p:cNvPr id="14" name="Straight Arrow Connector 13"/>
          <p:cNvCxnSpPr/>
          <p:nvPr/>
        </p:nvCxnSpPr>
        <p:spPr>
          <a:xfrm flipV="1">
            <a:off x="3032650" y="3197111"/>
            <a:ext cx="2776092" cy="638106"/>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55659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6418" y="3547886"/>
            <a:ext cx="3586944" cy="230832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endParaRPr lang="en-US" dirty="0"/>
          </a:p>
          <a:p>
            <a:r>
              <a:rPr lang="en-US" dirty="0"/>
              <a:t>start_critic1() -&gt;</a:t>
            </a:r>
          </a:p>
          <a:p>
            <a:r>
              <a:rPr lang="en-US" dirty="0"/>
              <a:t>spawn(?MODULE, restarter, []).</a:t>
            </a:r>
          </a:p>
          <a:p>
            <a:endParaRPr lang="en-US" dirty="0"/>
          </a:p>
          <a:p>
            <a:r>
              <a:rPr lang="en-US" dirty="0"/>
              <a:t>restarter() -&gt;</a:t>
            </a:r>
          </a:p>
          <a:p>
            <a:r>
              <a:rPr lang="en-US" dirty="0" err="1"/>
              <a:t>process_flag</a:t>
            </a:r>
            <a:r>
              <a:rPr lang="en-US" dirty="0"/>
              <a:t>(</a:t>
            </a:r>
            <a:r>
              <a:rPr lang="en-US" dirty="0" err="1"/>
              <a:t>trap_exit</a:t>
            </a:r>
            <a:r>
              <a:rPr lang="en-US" dirty="0"/>
              <a:t>, true),</a:t>
            </a:r>
          </a:p>
          <a:p>
            <a:r>
              <a:rPr lang="en-US" dirty="0"/>
              <a:t>…..</a:t>
            </a:r>
          </a:p>
          <a:p>
            <a:r>
              <a:rPr lang="en-US" dirty="0"/>
              <a:t>end.</a:t>
            </a:r>
          </a:p>
        </p:txBody>
      </p:sp>
      <p:sp>
        <p:nvSpPr>
          <p:cNvPr id="3" name="TextBox 2"/>
          <p:cNvSpPr txBox="1"/>
          <p:nvPr/>
        </p:nvSpPr>
        <p:spPr>
          <a:xfrm>
            <a:off x="326418" y="2247821"/>
            <a:ext cx="2406108"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judge1(Band, Album) -&gt;</a:t>
            </a:r>
          </a:p>
          <a:p>
            <a:r>
              <a:rPr lang="en-US" dirty="0"/>
              <a:t>……</a:t>
            </a:r>
          </a:p>
        </p:txBody>
      </p:sp>
      <p:sp>
        <p:nvSpPr>
          <p:cNvPr id="5" name="TextBox 4"/>
          <p:cNvSpPr txBox="1"/>
          <p:nvPr/>
        </p:nvSpPr>
        <p:spPr>
          <a:xfrm>
            <a:off x="535043" y="524856"/>
            <a:ext cx="769634" cy="369332"/>
          </a:xfrm>
          <a:prstGeom prst="rect">
            <a:avLst/>
          </a:prstGeom>
          <a:noFill/>
        </p:spPr>
        <p:txBody>
          <a:bodyPr wrap="none" rtlCol="0">
            <a:spAutoFit/>
          </a:bodyPr>
          <a:lstStyle/>
          <a:p>
            <a:r>
              <a:rPr lang="en-US" dirty="0"/>
              <a:t>server</a:t>
            </a:r>
          </a:p>
        </p:txBody>
      </p:sp>
      <p:sp>
        <p:nvSpPr>
          <p:cNvPr id="6" name="TextBox 5"/>
          <p:cNvSpPr txBox="1"/>
          <p:nvPr/>
        </p:nvSpPr>
        <p:spPr>
          <a:xfrm>
            <a:off x="535043" y="1847127"/>
            <a:ext cx="700320" cy="369332"/>
          </a:xfrm>
          <a:prstGeom prst="rect">
            <a:avLst/>
          </a:prstGeom>
          <a:noFill/>
        </p:spPr>
        <p:txBody>
          <a:bodyPr wrap="none" rtlCol="0">
            <a:spAutoFit/>
          </a:bodyPr>
          <a:lstStyle/>
          <a:p>
            <a:r>
              <a:rPr lang="en-US" dirty="0"/>
              <a:t>client</a:t>
            </a:r>
          </a:p>
        </p:txBody>
      </p:sp>
      <p:sp>
        <p:nvSpPr>
          <p:cNvPr id="10" name="TextBox 9"/>
          <p:cNvSpPr txBox="1"/>
          <p:nvPr/>
        </p:nvSpPr>
        <p:spPr>
          <a:xfrm>
            <a:off x="560125" y="947756"/>
            <a:ext cx="1075936" cy="646331"/>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critic() -&gt; </a:t>
            </a:r>
          </a:p>
          <a:p>
            <a:r>
              <a:rPr lang="en-US" dirty="0"/>
              <a:t>  …..</a:t>
            </a:r>
          </a:p>
        </p:txBody>
      </p:sp>
      <p:sp>
        <p:nvSpPr>
          <p:cNvPr id="11" name="TextBox 10"/>
          <p:cNvSpPr txBox="1"/>
          <p:nvPr/>
        </p:nvSpPr>
        <p:spPr>
          <a:xfrm>
            <a:off x="272375" y="3178554"/>
            <a:ext cx="1161152" cy="369332"/>
          </a:xfrm>
          <a:prstGeom prst="rect">
            <a:avLst/>
          </a:prstGeom>
          <a:noFill/>
        </p:spPr>
        <p:txBody>
          <a:bodyPr wrap="none" rtlCol="0">
            <a:spAutoFit/>
          </a:bodyPr>
          <a:lstStyle/>
          <a:p>
            <a:r>
              <a:rPr lang="en-US" dirty="0" err="1"/>
              <a:t>supervizor</a:t>
            </a:r>
            <a:endParaRPr lang="en-US" dirty="0"/>
          </a:p>
        </p:txBody>
      </p:sp>
      <p:pic>
        <p:nvPicPr>
          <p:cNvPr id="7" name="Picture 6"/>
          <p:cNvPicPr>
            <a:picLocks noChangeAspect="1"/>
          </p:cNvPicPr>
          <p:nvPr/>
        </p:nvPicPr>
        <p:blipFill>
          <a:blip r:embed="rId2"/>
          <a:stretch>
            <a:fillRect/>
          </a:stretch>
        </p:blipFill>
        <p:spPr>
          <a:xfrm>
            <a:off x="4162549" y="827227"/>
            <a:ext cx="6124575" cy="4133850"/>
          </a:xfrm>
          <a:prstGeom prst="rect">
            <a:avLst/>
          </a:prstGeom>
        </p:spPr>
        <p:style>
          <a:lnRef idx="2">
            <a:schemeClr val="dk1"/>
          </a:lnRef>
          <a:fillRef idx="1">
            <a:schemeClr val="lt1"/>
          </a:fillRef>
          <a:effectRef idx="0">
            <a:schemeClr val="dk1"/>
          </a:effectRef>
          <a:fontRef idx="minor">
            <a:schemeClr val="dk1"/>
          </a:fontRef>
        </p:style>
      </p:pic>
      <p:sp>
        <p:nvSpPr>
          <p:cNvPr id="8" name="TextBox 7"/>
          <p:cNvSpPr txBox="1"/>
          <p:nvPr/>
        </p:nvSpPr>
        <p:spPr>
          <a:xfrm>
            <a:off x="9944033" y="3455318"/>
            <a:ext cx="1606594" cy="369332"/>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err="1"/>
              <a:t>serverul</a:t>
            </a:r>
            <a:r>
              <a:rPr lang="en-US" dirty="0"/>
              <a:t> </a:t>
            </a:r>
            <a:r>
              <a:rPr lang="en-US" dirty="0" err="1"/>
              <a:t>moare</a:t>
            </a:r>
            <a:endParaRPr lang="en-US" dirty="0"/>
          </a:p>
        </p:txBody>
      </p:sp>
      <p:sp>
        <p:nvSpPr>
          <p:cNvPr id="9" name="TextBox 8"/>
          <p:cNvSpPr txBox="1"/>
          <p:nvPr/>
        </p:nvSpPr>
        <p:spPr>
          <a:xfrm>
            <a:off x="5194851" y="348656"/>
            <a:ext cx="2226700" cy="369332"/>
          </a:xfrm>
          <a:prstGeom prst="rect">
            <a:avLst/>
          </a:prstGeom>
          <a:noFill/>
        </p:spPr>
        <p:txBody>
          <a:bodyPr wrap="none" rtlCol="0">
            <a:spAutoFit/>
          </a:bodyPr>
          <a:lstStyle/>
          <a:p>
            <a:r>
              <a:rPr lang="en-US" dirty="0" err="1"/>
              <a:t>Serverul</a:t>
            </a:r>
            <a:r>
              <a:rPr lang="en-US" dirty="0"/>
              <a:t> </a:t>
            </a:r>
            <a:r>
              <a:rPr lang="en-US" dirty="0" err="1"/>
              <a:t>este</a:t>
            </a:r>
            <a:r>
              <a:rPr lang="en-US" dirty="0"/>
              <a:t> </a:t>
            </a:r>
            <a:r>
              <a:rPr lang="en-US" dirty="0" err="1"/>
              <a:t>repornit</a:t>
            </a:r>
            <a:endParaRPr lang="en-US" dirty="0"/>
          </a:p>
        </p:txBody>
      </p:sp>
      <p:sp>
        <p:nvSpPr>
          <p:cNvPr id="12" name="TextBox 11"/>
          <p:cNvSpPr txBox="1"/>
          <p:nvPr/>
        </p:nvSpPr>
        <p:spPr>
          <a:xfrm>
            <a:off x="8170920" y="4700984"/>
            <a:ext cx="3546227" cy="369332"/>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err="1"/>
              <a:t>serverul</a:t>
            </a:r>
            <a:r>
              <a:rPr lang="en-US" dirty="0"/>
              <a:t> </a:t>
            </a:r>
            <a:r>
              <a:rPr lang="en-US" dirty="0" err="1"/>
              <a:t>este</a:t>
            </a:r>
            <a:r>
              <a:rPr lang="en-US" dirty="0"/>
              <a:t> </a:t>
            </a:r>
            <a:r>
              <a:rPr lang="en-US" dirty="0" err="1"/>
              <a:t>repornit</a:t>
            </a:r>
            <a:r>
              <a:rPr lang="en-US" dirty="0"/>
              <a:t> de </a:t>
            </a:r>
            <a:r>
              <a:rPr lang="en-US" dirty="0" err="1"/>
              <a:t>supervizor</a:t>
            </a:r>
            <a:endParaRPr lang="en-US" dirty="0"/>
          </a:p>
        </p:txBody>
      </p:sp>
    </p:spTree>
    <p:extLst>
      <p:ext uri="{BB962C8B-B14F-4D97-AF65-F5344CB8AC3E}">
        <p14:creationId xmlns:p14="http://schemas.microsoft.com/office/powerpoint/2010/main" val="41419537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25864" y="1084842"/>
            <a:ext cx="6516612" cy="4247317"/>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endParaRPr lang="en-US" dirty="0"/>
          </a:p>
          <a:p>
            <a:r>
              <a:rPr lang="en-US" dirty="0"/>
              <a:t>start_critic1() -&gt;</a:t>
            </a:r>
          </a:p>
          <a:p>
            <a:r>
              <a:rPr lang="en-US" dirty="0"/>
              <a:t>spawn(?MODULE, restarter, []).</a:t>
            </a:r>
          </a:p>
          <a:p>
            <a:endParaRPr lang="en-US" dirty="0"/>
          </a:p>
          <a:p>
            <a:r>
              <a:rPr lang="en-US" dirty="0"/>
              <a:t>restarter() -&gt;</a:t>
            </a:r>
          </a:p>
          <a:p>
            <a:r>
              <a:rPr lang="en-US" dirty="0" err="1"/>
              <a:t>process_flag</a:t>
            </a:r>
            <a:r>
              <a:rPr lang="en-US" dirty="0"/>
              <a:t>(</a:t>
            </a:r>
            <a:r>
              <a:rPr lang="en-US" dirty="0" err="1"/>
              <a:t>trap_exit</a:t>
            </a:r>
            <a:r>
              <a:rPr lang="en-US" dirty="0"/>
              <a:t>, true),</a:t>
            </a:r>
          </a:p>
          <a:p>
            <a:r>
              <a:rPr lang="en-US" dirty="0" err="1"/>
              <a:t>Pid</a:t>
            </a:r>
            <a:r>
              <a:rPr lang="en-US" dirty="0"/>
              <a:t> = </a:t>
            </a:r>
            <a:r>
              <a:rPr lang="en-US" dirty="0" err="1"/>
              <a:t>spawn_link</a:t>
            </a:r>
            <a:r>
              <a:rPr lang="en-US" dirty="0"/>
              <a:t>(?MODULE, critic, []),</a:t>
            </a:r>
          </a:p>
          <a:p>
            <a:r>
              <a:rPr lang="en-US" dirty="0"/>
              <a:t>register(critic, </a:t>
            </a:r>
            <a:r>
              <a:rPr lang="en-US" dirty="0" err="1"/>
              <a:t>Pid</a:t>
            </a:r>
            <a:r>
              <a:rPr lang="en-US" dirty="0"/>
              <a:t>),</a:t>
            </a:r>
          </a:p>
          <a:p>
            <a:r>
              <a:rPr lang="en-US" dirty="0"/>
              <a:t>receive</a:t>
            </a:r>
          </a:p>
          <a:p>
            <a:r>
              <a:rPr lang="en-US" dirty="0"/>
              <a:t>     {'EXIT', Pid, normal} -&gt;  ok;      % not a crash</a:t>
            </a:r>
          </a:p>
          <a:p>
            <a:r>
              <a:rPr lang="en-US" dirty="0"/>
              <a:t>                                       </a:t>
            </a:r>
          </a:p>
          <a:p>
            <a:r>
              <a:rPr lang="en-US" dirty="0"/>
              <a:t>     {'EXIT', Pid, shutdown} -&gt; ok; % manual termination, not a crash                       </a:t>
            </a:r>
          </a:p>
          <a:p>
            <a:r>
              <a:rPr lang="en-US" dirty="0"/>
              <a:t>                                             </a:t>
            </a:r>
          </a:p>
          <a:p>
            <a:r>
              <a:rPr lang="en-US" dirty="0"/>
              <a:t>     {'EXIT', Pid, _} -&gt;  restarter()</a:t>
            </a:r>
          </a:p>
          <a:p>
            <a:r>
              <a:rPr lang="en-US" dirty="0"/>
              <a:t>end.</a:t>
            </a:r>
          </a:p>
        </p:txBody>
      </p:sp>
      <p:sp>
        <p:nvSpPr>
          <p:cNvPr id="3" name="TextBox 2"/>
          <p:cNvSpPr txBox="1"/>
          <p:nvPr/>
        </p:nvSpPr>
        <p:spPr>
          <a:xfrm>
            <a:off x="367534" y="2393251"/>
            <a:ext cx="3868367" cy="341632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a:t>judge1(Band, Album) -&gt;</a:t>
            </a:r>
          </a:p>
          <a:p>
            <a:r>
              <a:rPr lang="en-US" sz="2400" dirty="0"/>
              <a:t>critic ! {self(), {Band, Album}},</a:t>
            </a:r>
          </a:p>
          <a:p>
            <a:endParaRPr lang="en-US" sz="2400" dirty="0"/>
          </a:p>
          <a:p>
            <a:r>
              <a:rPr lang="en-US" sz="2400" dirty="0" err="1"/>
              <a:t>Pid</a:t>
            </a:r>
            <a:r>
              <a:rPr lang="en-US" sz="2400" dirty="0"/>
              <a:t> = </a:t>
            </a:r>
            <a:r>
              <a:rPr lang="en-US" sz="2400" dirty="0" err="1"/>
              <a:t>whereis</a:t>
            </a:r>
            <a:r>
              <a:rPr lang="en-US" sz="2400" dirty="0"/>
              <a:t>(critic),</a:t>
            </a:r>
          </a:p>
          <a:p>
            <a:r>
              <a:rPr lang="en-US" sz="2400" dirty="0"/>
              <a:t>receive</a:t>
            </a:r>
          </a:p>
          <a:p>
            <a:r>
              <a:rPr lang="en-US" sz="2400" dirty="0"/>
              <a:t>{</a:t>
            </a:r>
            <a:r>
              <a:rPr lang="en-US" sz="2400" dirty="0" err="1"/>
              <a:t>Pid</a:t>
            </a:r>
            <a:r>
              <a:rPr lang="en-US" sz="2400" dirty="0"/>
              <a:t>, Criticism} -&gt; Criticism</a:t>
            </a:r>
          </a:p>
          <a:p>
            <a:r>
              <a:rPr lang="en-US" sz="2400" dirty="0"/>
              <a:t>after 2000 -&gt;</a:t>
            </a:r>
          </a:p>
          <a:p>
            <a:r>
              <a:rPr lang="en-US" sz="2400" dirty="0"/>
              <a:t>timeout</a:t>
            </a:r>
          </a:p>
          <a:p>
            <a:r>
              <a:rPr lang="en-US" sz="2400" dirty="0"/>
              <a:t>end.</a:t>
            </a:r>
          </a:p>
        </p:txBody>
      </p:sp>
      <p:sp>
        <p:nvSpPr>
          <p:cNvPr id="4" name="TextBox 3"/>
          <p:cNvSpPr txBox="1"/>
          <p:nvPr/>
        </p:nvSpPr>
        <p:spPr>
          <a:xfrm>
            <a:off x="171039" y="5909777"/>
            <a:ext cx="5260351" cy="369332"/>
          </a:xfrm>
          <a:prstGeom prst="rect">
            <a:avLst/>
          </a:prstGeom>
          <a:noFill/>
        </p:spPr>
        <p:txBody>
          <a:bodyPr wrap="none" rtlCol="0">
            <a:spAutoFit/>
          </a:bodyPr>
          <a:lstStyle/>
          <a:p>
            <a:r>
              <a:rPr lang="en-US" dirty="0">
                <a:hlinkClick r:id="rId2"/>
              </a:rPr>
              <a:t>http://learnyousomeerlang.com/errors-and-processes</a:t>
            </a:r>
            <a:endParaRPr lang="en-US" dirty="0"/>
          </a:p>
        </p:txBody>
      </p:sp>
      <p:sp>
        <p:nvSpPr>
          <p:cNvPr id="5" name="TextBox 4"/>
          <p:cNvSpPr txBox="1"/>
          <p:nvPr/>
        </p:nvSpPr>
        <p:spPr>
          <a:xfrm>
            <a:off x="475838" y="374433"/>
            <a:ext cx="1093376" cy="523220"/>
          </a:xfrm>
          <a:prstGeom prst="rect">
            <a:avLst/>
          </a:prstGeom>
          <a:noFill/>
        </p:spPr>
        <p:txBody>
          <a:bodyPr wrap="none" rtlCol="0">
            <a:spAutoFit/>
          </a:bodyPr>
          <a:lstStyle/>
          <a:p>
            <a:r>
              <a:rPr lang="en-US" sz="2800" dirty="0"/>
              <a:t>server</a:t>
            </a:r>
          </a:p>
        </p:txBody>
      </p:sp>
      <p:sp>
        <p:nvSpPr>
          <p:cNvPr id="6" name="TextBox 5"/>
          <p:cNvSpPr txBox="1"/>
          <p:nvPr/>
        </p:nvSpPr>
        <p:spPr>
          <a:xfrm>
            <a:off x="367534" y="1960830"/>
            <a:ext cx="984437" cy="523220"/>
          </a:xfrm>
          <a:prstGeom prst="rect">
            <a:avLst/>
          </a:prstGeom>
          <a:noFill/>
        </p:spPr>
        <p:txBody>
          <a:bodyPr wrap="none" rtlCol="0">
            <a:spAutoFit/>
          </a:bodyPr>
          <a:lstStyle/>
          <a:p>
            <a:r>
              <a:rPr lang="en-US" sz="2800" dirty="0"/>
              <a:t>client</a:t>
            </a:r>
          </a:p>
        </p:txBody>
      </p:sp>
      <p:sp>
        <p:nvSpPr>
          <p:cNvPr id="10" name="TextBox 9"/>
          <p:cNvSpPr txBox="1"/>
          <p:nvPr/>
        </p:nvSpPr>
        <p:spPr>
          <a:xfrm>
            <a:off x="367534" y="878852"/>
            <a:ext cx="1367682" cy="83099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a:t>critic() -&gt; </a:t>
            </a:r>
          </a:p>
          <a:p>
            <a:r>
              <a:rPr lang="en-US" sz="2400" dirty="0"/>
              <a:t>  …..</a:t>
            </a:r>
          </a:p>
        </p:txBody>
      </p:sp>
      <p:sp>
        <p:nvSpPr>
          <p:cNvPr id="11" name="TextBox 10"/>
          <p:cNvSpPr txBox="1"/>
          <p:nvPr/>
        </p:nvSpPr>
        <p:spPr>
          <a:xfrm>
            <a:off x="5225864" y="461416"/>
            <a:ext cx="1701363" cy="523220"/>
          </a:xfrm>
          <a:prstGeom prst="rect">
            <a:avLst/>
          </a:prstGeom>
          <a:noFill/>
        </p:spPr>
        <p:txBody>
          <a:bodyPr wrap="none" rtlCol="0">
            <a:spAutoFit/>
          </a:bodyPr>
          <a:lstStyle/>
          <a:p>
            <a:r>
              <a:rPr lang="en-US" sz="2800" dirty="0" err="1"/>
              <a:t>supervizor</a:t>
            </a:r>
            <a:endParaRPr lang="en-US" sz="2800" dirty="0"/>
          </a:p>
        </p:txBody>
      </p:sp>
      <p:sp>
        <p:nvSpPr>
          <p:cNvPr id="7" name="TextBox 6"/>
          <p:cNvSpPr txBox="1"/>
          <p:nvPr/>
        </p:nvSpPr>
        <p:spPr>
          <a:xfrm>
            <a:off x="908039" y="3167452"/>
            <a:ext cx="1439689" cy="461665"/>
          </a:xfrm>
          <a:prstGeom prst="rect">
            <a:avLst/>
          </a:prstGeom>
          <a:solidFill>
            <a:srgbClr val="FF0000"/>
          </a:solidFill>
        </p:spPr>
        <p:txBody>
          <a:bodyPr wrap="none" rtlCol="0">
            <a:spAutoFit/>
          </a:bodyPr>
          <a:lstStyle/>
          <a:p>
            <a:r>
              <a:rPr lang="en-US" sz="2400" dirty="0">
                <a:solidFill>
                  <a:schemeClr val="bg1"/>
                </a:solidFill>
              </a:rPr>
              <a:t>data race!</a:t>
            </a:r>
          </a:p>
        </p:txBody>
      </p:sp>
    </p:spTree>
    <p:extLst>
      <p:ext uri="{BB962C8B-B14F-4D97-AF65-F5344CB8AC3E}">
        <p14:creationId xmlns:p14="http://schemas.microsoft.com/office/powerpoint/2010/main" val="9531846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C0061-B5EF-2924-C56F-39EC00CECC9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43E06AD-F188-73B8-211E-B9CC5E5E9821}"/>
              </a:ext>
            </a:extLst>
          </p:cNvPr>
          <p:cNvSpPr txBox="1"/>
          <p:nvPr/>
        </p:nvSpPr>
        <p:spPr>
          <a:xfrm>
            <a:off x="367534" y="2393251"/>
            <a:ext cx="3868367" cy="341632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a:t>judge1(Band, Album) -&gt;</a:t>
            </a:r>
          </a:p>
          <a:p>
            <a:r>
              <a:rPr lang="en-US" sz="2400" dirty="0"/>
              <a:t>critic ! {self(), {Band, Album}},</a:t>
            </a:r>
          </a:p>
          <a:p>
            <a:endParaRPr lang="en-US" sz="2400" dirty="0"/>
          </a:p>
          <a:p>
            <a:r>
              <a:rPr lang="en-US" sz="2400" dirty="0" err="1"/>
              <a:t>Pid</a:t>
            </a:r>
            <a:r>
              <a:rPr lang="en-US" sz="2400" dirty="0"/>
              <a:t> = </a:t>
            </a:r>
            <a:r>
              <a:rPr lang="en-US" sz="2400" dirty="0" err="1"/>
              <a:t>whereis</a:t>
            </a:r>
            <a:r>
              <a:rPr lang="en-US" sz="2400" dirty="0"/>
              <a:t>(critic),</a:t>
            </a:r>
          </a:p>
          <a:p>
            <a:r>
              <a:rPr lang="en-US" sz="2400" dirty="0"/>
              <a:t>receive</a:t>
            </a:r>
          </a:p>
          <a:p>
            <a:r>
              <a:rPr lang="en-US" sz="2400" dirty="0"/>
              <a:t>{</a:t>
            </a:r>
            <a:r>
              <a:rPr lang="en-US" sz="2400" dirty="0" err="1"/>
              <a:t>Pid</a:t>
            </a:r>
            <a:r>
              <a:rPr lang="en-US" sz="2400" dirty="0"/>
              <a:t>, Criticism} -&gt; Criticism</a:t>
            </a:r>
          </a:p>
          <a:p>
            <a:r>
              <a:rPr lang="en-US" sz="2400" dirty="0"/>
              <a:t>after 2000 -&gt;</a:t>
            </a:r>
          </a:p>
          <a:p>
            <a:r>
              <a:rPr lang="en-US" sz="2400" dirty="0"/>
              <a:t>timeout</a:t>
            </a:r>
          </a:p>
          <a:p>
            <a:r>
              <a:rPr lang="en-US" sz="2400" dirty="0"/>
              <a:t>end.</a:t>
            </a:r>
          </a:p>
        </p:txBody>
      </p:sp>
      <p:sp>
        <p:nvSpPr>
          <p:cNvPr id="4" name="TextBox 3">
            <a:extLst>
              <a:ext uri="{FF2B5EF4-FFF2-40B4-BE49-F238E27FC236}">
                <a16:creationId xmlns:a16="http://schemas.microsoft.com/office/drawing/2014/main" id="{FC23B77E-3548-ABCF-DCF7-659DF014B3CA}"/>
              </a:ext>
            </a:extLst>
          </p:cNvPr>
          <p:cNvSpPr txBox="1"/>
          <p:nvPr/>
        </p:nvSpPr>
        <p:spPr>
          <a:xfrm>
            <a:off x="171039" y="5909777"/>
            <a:ext cx="5260351" cy="369332"/>
          </a:xfrm>
          <a:prstGeom prst="rect">
            <a:avLst/>
          </a:prstGeom>
          <a:noFill/>
        </p:spPr>
        <p:txBody>
          <a:bodyPr wrap="none" rtlCol="0">
            <a:spAutoFit/>
          </a:bodyPr>
          <a:lstStyle/>
          <a:p>
            <a:r>
              <a:rPr lang="en-US" dirty="0">
                <a:hlinkClick r:id="rId2"/>
              </a:rPr>
              <a:t>http://learnyousomeerlang.com/errors-and-processes</a:t>
            </a:r>
            <a:endParaRPr lang="en-US" dirty="0"/>
          </a:p>
        </p:txBody>
      </p:sp>
      <p:sp>
        <p:nvSpPr>
          <p:cNvPr id="5" name="TextBox 4">
            <a:extLst>
              <a:ext uri="{FF2B5EF4-FFF2-40B4-BE49-F238E27FC236}">
                <a16:creationId xmlns:a16="http://schemas.microsoft.com/office/drawing/2014/main" id="{D424B793-DE73-46EE-3F9E-681EF98CBB53}"/>
              </a:ext>
            </a:extLst>
          </p:cNvPr>
          <p:cNvSpPr txBox="1"/>
          <p:nvPr/>
        </p:nvSpPr>
        <p:spPr>
          <a:xfrm>
            <a:off x="475838" y="374433"/>
            <a:ext cx="1093376" cy="523220"/>
          </a:xfrm>
          <a:prstGeom prst="rect">
            <a:avLst/>
          </a:prstGeom>
          <a:noFill/>
        </p:spPr>
        <p:txBody>
          <a:bodyPr wrap="none" rtlCol="0">
            <a:spAutoFit/>
          </a:bodyPr>
          <a:lstStyle/>
          <a:p>
            <a:r>
              <a:rPr lang="en-US" sz="2800" dirty="0"/>
              <a:t>server</a:t>
            </a:r>
          </a:p>
        </p:txBody>
      </p:sp>
      <p:sp>
        <p:nvSpPr>
          <p:cNvPr id="6" name="TextBox 5">
            <a:extLst>
              <a:ext uri="{FF2B5EF4-FFF2-40B4-BE49-F238E27FC236}">
                <a16:creationId xmlns:a16="http://schemas.microsoft.com/office/drawing/2014/main" id="{C88ACF2D-C79F-F8DF-C7AF-58B4DC5BF736}"/>
              </a:ext>
            </a:extLst>
          </p:cNvPr>
          <p:cNvSpPr txBox="1"/>
          <p:nvPr/>
        </p:nvSpPr>
        <p:spPr>
          <a:xfrm>
            <a:off x="367534" y="1960830"/>
            <a:ext cx="984437" cy="523220"/>
          </a:xfrm>
          <a:prstGeom prst="rect">
            <a:avLst/>
          </a:prstGeom>
          <a:noFill/>
        </p:spPr>
        <p:txBody>
          <a:bodyPr wrap="none" rtlCol="0">
            <a:spAutoFit/>
          </a:bodyPr>
          <a:lstStyle/>
          <a:p>
            <a:r>
              <a:rPr lang="en-US" sz="2800" dirty="0"/>
              <a:t>client</a:t>
            </a:r>
          </a:p>
        </p:txBody>
      </p:sp>
      <p:sp>
        <p:nvSpPr>
          <p:cNvPr id="10" name="TextBox 9">
            <a:extLst>
              <a:ext uri="{FF2B5EF4-FFF2-40B4-BE49-F238E27FC236}">
                <a16:creationId xmlns:a16="http://schemas.microsoft.com/office/drawing/2014/main" id="{7BD928E3-E9B9-2711-B0A0-5E2991E3A5AF}"/>
              </a:ext>
            </a:extLst>
          </p:cNvPr>
          <p:cNvSpPr txBox="1"/>
          <p:nvPr/>
        </p:nvSpPr>
        <p:spPr>
          <a:xfrm>
            <a:off x="367534" y="878852"/>
            <a:ext cx="1367682" cy="830997"/>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sz="2400" dirty="0"/>
              <a:t>critic() -&gt; </a:t>
            </a:r>
          </a:p>
          <a:p>
            <a:r>
              <a:rPr lang="en-US" sz="2400" dirty="0"/>
              <a:t>  …..</a:t>
            </a:r>
          </a:p>
        </p:txBody>
      </p:sp>
      <p:sp>
        <p:nvSpPr>
          <p:cNvPr id="7" name="TextBox 6">
            <a:extLst>
              <a:ext uri="{FF2B5EF4-FFF2-40B4-BE49-F238E27FC236}">
                <a16:creationId xmlns:a16="http://schemas.microsoft.com/office/drawing/2014/main" id="{65EB1297-13DE-A626-1ED0-CBDE7B524A14}"/>
              </a:ext>
            </a:extLst>
          </p:cNvPr>
          <p:cNvSpPr txBox="1"/>
          <p:nvPr/>
        </p:nvSpPr>
        <p:spPr>
          <a:xfrm>
            <a:off x="908039" y="3167452"/>
            <a:ext cx="1439689" cy="461665"/>
          </a:xfrm>
          <a:prstGeom prst="rect">
            <a:avLst/>
          </a:prstGeom>
          <a:solidFill>
            <a:srgbClr val="FF0000"/>
          </a:solidFill>
        </p:spPr>
        <p:txBody>
          <a:bodyPr wrap="none" rtlCol="0">
            <a:spAutoFit/>
          </a:bodyPr>
          <a:lstStyle/>
          <a:p>
            <a:r>
              <a:rPr lang="en-US" sz="2400" dirty="0">
                <a:solidFill>
                  <a:schemeClr val="bg1"/>
                </a:solidFill>
              </a:rPr>
              <a:t>data race!</a:t>
            </a:r>
          </a:p>
        </p:txBody>
      </p:sp>
      <p:pic>
        <p:nvPicPr>
          <p:cNvPr id="12" name="Picture 11" descr="A white background with black text&#10;&#10;AI-generated content may be incorrect.">
            <a:extLst>
              <a:ext uri="{FF2B5EF4-FFF2-40B4-BE49-F238E27FC236}">
                <a16:creationId xmlns:a16="http://schemas.microsoft.com/office/drawing/2014/main" id="{542D8412-C83E-D0C3-162A-D451887B45F4}"/>
              </a:ext>
            </a:extLst>
          </p:cNvPr>
          <p:cNvPicPr>
            <a:picLocks noChangeAspect="1"/>
          </p:cNvPicPr>
          <p:nvPr/>
        </p:nvPicPr>
        <p:blipFill>
          <a:blip r:embed="rId3"/>
          <a:stretch>
            <a:fillRect/>
          </a:stretch>
        </p:blipFill>
        <p:spPr>
          <a:xfrm>
            <a:off x="4794147" y="509520"/>
            <a:ext cx="7226814" cy="5400257"/>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pic>
      <p:cxnSp>
        <p:nvCxnSpPr>
          <p:cNvPr id="14" name="Straight Arrow Connector 13">
            <a:extLst>
              <a:ext uri="{FF2B5EF4-FFF2-40B4-BE49-F238E27FC236}">
                <a16:creationId xmlns:a16="http://schemas.microsoft.com/office/drawing/2014/main" id="{B12D10A9-4A1D-A29E-08D2-C6C81AE98BB3}"/>
              </a:ext>
            </a:extLst>
          </p:cNvPr>
          <p:cNvCxnSpPr>
            <a:cxnSpLocks/>
          </p:cNvCxnSpPr>
          <p:nvPr/>
        </p:nvCxnSpPr>
        <p:spPr>
          <a:xfrm>
            <a:off x="2347728" y="3398284"/>
            <a:ext cx="242867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68519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79246" y="1131835"/>
            <a:ext cx="4254043" cy="283154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dirty="0"/>
              <a:t>judge2(Band, Album) -&gt;</a:t>
            </a:r>
          </a:p>
          <a:p>
            <a:r>
              <a:rPr lang="en-US" sz="2000" b="1" dirty="0">
                <a:solidFill>
                  <a:srgbClr val="0070C0"/>
                </a:solidFill>
              </a:rPr>
              <a:t>Ref = </a:t>
            </a:r>
            <a:r>
              <a:rPr lang="en-US" sz="2000" b="1" dirty="0" err="1">
                <a:solidFill>
                  <a:srgbClr val="0070C0"/>
                </a:solidFill>
              </a:rPr>
              <a:t>make_ref</a:t>
            </a:r>
            <a:r>
              <a:rPr lang="en-US" sz="2000" b="1" dirty="0">
                <a:solidFill>
                  <a:srgbClr val="0070C0"/>
                </a:solidFill>
              </a:rPr>
              <a:t>(),</a:t>
            </a:r>
          </a:p>
          <a:p>
            <a:r>
              <a:rPr lang="en-US" sz="2000" dirty="0"/>
              <a:t>    critic ! {self(), Ref, {Band, Album}},</a:t>
            </a:r>
          </a:p>
          <a:p>
            <a:r>
              <a:rPr lang="en-US" sz="2000" dirty="0"/>
              <a:t>    receive</a:t>
            </a:r>
          </a:p>
          <a:p>
            <a:r>
              <a:rPr lang="en-US" sz="2000" dirty="0"/>
              <a:t>         {Ref, Criticism} -&gt; Criticism</a:t>
            </a:r>
          </a:p>
          <a:p>
            <a:r>
              <a:rPr lang="en-US" sz="2000" dirty="0"/>
              <a:t>     after 2000 -&gt;</a:t>
            </a:r>
          </a:p>
          <a:p>
            <a:r>
              <a:rPr lang="en-US" sz="2000" dirty="0"/>
              <a:t>                  timeout</a:t>
            </a:r>
          </a:p>
          <a:p>
            <a:r>
              <a:rPr lang="en-US" sz="2000" dirty="0"/>
              <a:t>    end.</a:t>
            </a:r>
          </a:p>
          <a:p>
            <a:r>
              <a:rPr lang="en-US" dirty="0"/>
              <a:t> </a:t>
            </a:r>
          </a:p>
        </p:txBody>
      </p:sp>
      <p:sp>
        <p:nvSpPr>
          <p:cNvPr id="3" name="Rectangle 2"/>
          <p:cNvSpPr/>
          <p:nvPr/>
        </p:nvSpPr>
        <p:spPr>
          <a:xfrm>
            <a:off x="153497" y="435107"/>
            <a:ext cx="6096000" cy="4401205"/>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en-US" sz="2000" dirty="0"/>
              <a:t>critic2() -&gt;</a:t>
            </a:r>
          </a:p>
          <a:p>
            <a:r>
              <a:rPr lang="en-US" sz="2000" dirty="0"/>
              <a:t>receive</a:t>
            </a:r>
          </a:p>
          <a:p>
            <a:r>
              <a:rPr lang="en-US" sz="2000" dirty="0"/>
              <a:t>{From, </a:t>
            </a:r>
            <a:r>
              <a:rPr lang="en-US" sz="2000" b="1" dirty="0">
                <a:solidFill>
                  <a:srgbClr val="0070C0"/>
                </a:solidFill>
              </a:rPr>
              <a:t>Ref</a:t>
            </a:r>
            <a:r>
              <a:rPr lang="en-US" sz="2000" dirty="0"/>
              <a:t>, {"Rage Against the Turing Machine", "Unit Testify"}} -&gt;</a:t>
            </a:r>
          </a:p>
          <a:p>
            <a:r>
              <a:rPr lang="en-US" sz="2000" dirty="0"/>
              <a:t>From ! {Ref, "They are great!"};</a:t>
            </a:r>
          </a:p>
          <a:p>
            <a:r>
              <a:rPr lang="en-US" sz="2000" dirty="0"/>
              <a:t>{From, Ref, {"System of a Downtime", "</a:t>
            </a:r>
            <a:r>
              <a:rPr lang="en-US" sz="2000" dirty="0" err="1"/>
              <a:t>Memoize</a:t>
            </a:r>
            <a:r>
              <a:rPr lang="en-US" sz="2000" dirty="0"/>
              <a:t>"}} -&gt;</a:t>
            </a:r>
          </a:p>
          <a:p>
            <a:r>
              <a:rPr lang="en-US" sz="2000" dirty="0"/>
              <a:t>From ! {Ref, "They're not Johnny Crash but they're good."};</a:t>
            </a:r>
          </a:p>
          <a:p>
            <a:r>
              <a:rPr lang="en-US" sz="2000" dirty="0"/>
              <a:t>{From, Ref, {"Johnny Crash", "The Token Ring of Fire"}} -&gt;</a:t>
            </a:r>
          </a:p>
          <a:p>
            <a:r>
              <a:rPr lang="en-US" sz="2000" dirty="0"/>
              <a:t>From ! {Ref, "Simply incredible."};</a:t>
            </a:r>
          </a:p>
          <a:p>
            <a:r>
              <a:rPr lang="en-US" sz="2000" dirty="0"/>
              <a:t>{From, Ref, {_Band, _Album}} -&gt;</a:t>
            </a:r>
          </a:p>
          <a:p>
            <a:r>
              <a:rPr lang="en-US" sz="2000" dirty="0"/>
              <a:t>From ! {Ref, "They are terrible!"}</a:t>
            </a:r>
          </a:p>
          <a:p>
            <a:r>
              <a:rPr lang="en-US" sz="2000" dirty="0"/>
              <a:t>end,</a:t>
            </a:r>
          </a:p>
          <a:p>
            <a:r>
              <a:rPr lang="en-US" sz="2000" dirty="0"/>
              <a:t>critic2().</a:t>
            </a:r>
          </a:p>
        </p:txBody>
      </p:sp>
      <p:sp>
        <p:nvSpPr>
          <p:cNvPr id="5" name="TextBox 4"/>
          <p:cNvSpPr txBox="1"/>
          <p:nvPr/>
        </p:nvSpPr>
        <p:spPr>
          <a:xfrm>
            <a:off x="94291" y="5709245"/>
            <a:ext cx="5260351" cy="923330"/>
          </a:xfrm>
          <a:prstGeom prst="rect">
            <a:avLst/>
          </a:prstGeom>
          <a:noFill/>
        </p:spPr>
        <p:txBody>
          <a:bodyPr wrap="none" rtlCol="0">
            <a:spAutoFit/>
          </a:bodyPr>
          <a:lstStyle/>
          <a:p>
            <a:r>
              <a:rPr lang="en-US" dirty="0" err="1"/>
              <a:t>linkmon.erl</a:t>
            </a:r>
            <a:endParaRPr lang="en-US" dirty="0"/>
          </a:p>
          <a:p>
            <a:r>
              <a:rPr lang="en-US" dirty="0">
                <a:hlinkClick r:id="rId2"/>
              </a:rPr>
              <a:t>http://learnyousomeerlang.com/errors-and-processes</a:t>
            </a:r>
            <a:endParaRPr lang="en-US" dirty="0"/>
          </a:p>
          <a:p>
            <a:endParaRPr lang="en-US" dirty="0"/>
          </a:p>
        </p:txBody>
      </p:sp>
      <p:sp>
        <p:nvSpPr>
          <p:cNvPr id="7" name="TextBox 6"/>
          <p:cNvSpPr txBox="1"/>
          <p:nvPr/>
        </p:nvSpPr>
        <p:spPr>
          <a:xfrm>
            <a:off x="8782186" y="4282549"/>
            <a:ext cx="2740366" cy="461665"/>
          </a:xfrm>
          <a:prstGeom prst="rect">
            <a:avLst/>
          </a:prstGeom>
          <a:noFill/>
        </p:spPr>
        <p:txBody>
          <a:bodyPr wrap="none" rtlCol="0">
            <a:spAutoFit/>
          </a:bodyPr>
          <a:lstStyle/>
          <a:p>
            <a:r>
              <a:rPr lang="en-US" sz="2400" dirty="0"/>
              <a:t>Data type: reference</a:t>
            </a:r>
          </a:p>
        </p:txBody>
      </p:sp>
      <p:sp>
        <p:nvSpPr>
          <p:cNvPr id="6" name="TextBox 5"/>
          <p:cNvSpPr txBox="1"/>
          <p:nvPr/>
        </p:nvSpPr>
        <p:spPr>
          <a:xfrm>
            <a:off x="3836756" y="4744214"/>
            <a:ext cx="8243411" cy="1107996"/>
          </a:xfrm>
          <a:prstGeom prst="rect">
            <a:avLst/>
          </a:prstGeom>
          <a:ln>
            <a:solidFill>
              <a:schemeClr val="bg2">
                <a:lumMod val="50000"/>
              </a:schemeClr>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2400" dirty="0"/>
              <a:t>A reference is a term that is unique in an </a:t>
            </a:r>
            <a:r>
              <a:rPr lang="en-US" sz="2400" dirty="0" err="1"/>
              <a:t>Erlang</a:t>
            </a:r>
            <a:r>
              <a:rPr lang="en-US" sz="2400" dirty="0"/>
              <a:t> runtime system, </a:t>
            </a:r>
          </a:p>
          <a:p>
            <a:r>
              <a:rPr lang="en-US" sz="2400" dirty="0"/>
              <a:t>created by calling </a:t>
            </a:r>
            <a:r>
              <a:rPr lang="en-US" sz="2400" b="1" dirty="0" err="1"/>
              <a:t>make_ref</a:t>
            </a:r>
            <a:r>
              <a:rPr lang="en-US" sz="2400" b="1" dirty="0"/>
              <a:t>/0</a:t>
            </a:r>
            <a:r>
              <a:rPr lang="en-US" sz="2400" dirty="0"/>
              <a:t>.</a:t>
            </a:r>
          </a:p>
          <a:p>
            <a:r>
              <a:rPr lang="en-US" dirty="0">
                <a:hlinkClick r:id="rId3"/>
              </a:rPr>
              <a:t>http://erlang.org/doc/reference_manual/data_types.html#id67845</a:t>
            </a:r>
            <a:endParaRPr lang="en-US" dirty="0"/>
          </a:p>
        </p:txBody>
      </p:sp>
    </p:spTree>
    <p:extLst>
      <p:ext uri="{BB962C8B-B14F-4D97-AF65-F5344CB8AC3E}">
        <p14:creationId xmlns:p14="http://schemas.microsoft.com/office/powerpoint/2010/main" val="29276921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B0C9F-68DD-9524-771E-19DCFA912FA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86CDCEE-ED9B-A4E6-A50C-D6AFD1A204F3}"/>
              </a:ext>
            </a:extLst>
          </p:cNvPr>
          <p:cNvSpPr/>
          <p:nvPr/>
        </p:nvSpPr>
        <p:spPr>
          <a:xfrm>
            <a:off x="7179246" y="1131835"/>
            <a:ext cx="4254043" cy="283154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2000" dirty="0"/>
              <a:t>judge2(Band, Album) -&gt;</a:t>
            </a:r>
          </a:p>
          <a:p>
            <a:r>
              <a:rPr lang="en-US" sz="2000" b="1" dirty="0">
                <a:solidFill>
                  <a:srgbClr val="0070C0"/>
                </a:solidFill>
              </a:rPr>
              <a:t>Ref = </a:t>
            </a:r>
            <a:r>
              <a:rPr lang="en-US" sz="2000" b="1" dirty="0" err="1">
                <a:solidFill>
                  <a:srgbClr val="0070C0"/>
                </a:solidFill>
              </a:rPr>
              <a:t>make_ref</a:t>
            </a:r>
            <a:r>
              <a:rPr lang="en-US" sz="2000" b="1" dirty="0">
                <a:solidFill>
                  <a:srgbClr val="0070C0"/>
                </a:solidFill>
              </a:rPr>
              <a:t>(),</a:t>
            </a:r>
          </a:p>
          <a:p>
            <a:r>
              <a:rPr lang="en-US" sz="2000" dirty="0"/>
              <a:t>    critic ! {self(), Ref, {Band, Album}},</a:t>
            </a:r>
          </a:p>
          <a:p>
            <a:r>
              <a:rPr lang="en-US" sz="2000" dirty="0"/>
              <a:t>    receive</a:t>
            </a:r>
          </a:p>
          <a:p>
            <a:r>
              <a:rPr lang="en-US" sz="2000" dirty="0"/>
              <a:t>         {Ref, Criticism} -&gt; Criticism</a:t>
            </a:r>
          </a:p>
          <a:p>
            <a:r>
              <a:rPr lang="en-US" sz="2000" dirty="0"/>
              <a:t>     after 2000 -&gt;</a:t>
            </a:r>
          </a:p>
          <a:p>
            <a:r>
              <a:rPr lang="en-US" sz="2000" dirty="0"/>
              <a:t>                  timeout</a:t>
            </a:r>
          </a:p>
          <a:p>
            <a:r>
              <a:rPr lang="en-US" sz="2000" dirty="0"/>
              <a:t>    end.</a:t>
            </a:r>
          </a:p>
          <a:p>
            <a:r>
              <a:rPr lang="en-US" dirty="0"/>
              <a:t> </a:t>
            </a:r>
          </a:p>
        </p:txBody>
      </p:sp>
      <p:sp>
        <p:nvSpPr>
          <p:cNvPr id="3" name="Rectangle 2">
            <a:extLst>
              <a:ext uri="{FF2B5EF4-FFF2-40B4-BE49-F238E27FC236}">
                <a16:creationId xmlns:a16="http://schemas.microsoft.com/office/drawing/2014/main" id="{DE1DC2AD-AAD3-8F19-FEC4-B185CD4DF502}"/>
              </a:ext>
            </a:extLst>
          </p:cNvPr>
          <p:cNvSpPr/>
          <p:nvPr/>
        </p:nvSpPr>
        <p:spPr>
          <a:xfrm>
            <a:off x="153497" y="435107"/>
            <a:ext cx="6096000" cy="4401205"/>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r>
              <a:rPr lang="en-US" sz="2000" dirty="0"/>
              <a:t>critic2() -&gt;</a:t>
            </a:r>
          </a:p>
          <a:p>
            <a:r>
              <a:rPr lang="en-US" sz="2000" dirty="0"/>
              <a:t>receive</a:t>
            </a:r>
          </a:p>
          <a:p>
            <a:r>
              <a:rPr lang="en-US" sz="2000" dirty="0"/>
              <a:t>{From, </a:t>
            </a:r>
            <a:r>
              <a:rPr lang="en-US" sz="2000" b="1" dirty="0">
                <a:solidFill>
                  <a:srgbClr val="0070C0"/>
                </a:solidFill>
              </a:rPr>
              <a:t>Ref</a:t>
            </a:r>
            <a:r>
              <a:rPr lang="en-US" sz="2000" dirty="0"/>
              <a:t>, {"Rage Against the Turing Machine", "Unit Testify"}} -&gt;</a:t>
            </a:r>
          </a:p>
          <a:p>
            <a:r>
              <a:rPr lang="en-US" sz="2000" dirty="0"/>
              <a:t>From ! {Ref, "They are great!"};</a:t>
            </a:r>
          </a:p>
          <a:p>
            <a:r>
              <a:rPr lang="en-US" sz="2000" dirty="0"/>
              <a:t>{From, Ref, {"System of a Downtime", "</a:t>
            </a:r>
            <a:r>
              <a:rPr lang="en-US" sz="2000" dirty="0" err="1"/>
              <a:t>Memoize</a:t>
            </a:r>
            <a:r>
              <a:rPr lang="en-US" sz="2000" dirty="0"/>
              <a:t>"}} -&gt;</a:t>
            </a:r>
          </a:p>
          <a:p>
            <a:r>
              <a:rPr lang="en-US" sz="2000" dirty="0"/>
              <a:t>From ! {Ref, "They're not Johnny Crash but they're good."};</a:t>
            </a:r>
          </a:p>
          <a:p>
            <a:r>
              <a:rPr lang="en-US" sz="2000" dirty="0"/>
              <a:t>{From, Ref, {"Johnny Crash", "The Token Ring of Fire"}} -&gt;</a:t>
            </a:r>
          </a:p>
          <a:p>
            <a:r>
              <a:rPr lang="en-US" sz="2000" dirty="0"/>
              <a:t>From ! {Ref, "Simply incredible."};</a:t>
            </a:r>
          </a:p>
          <a:p>
            <a:r>
              <a:rPr lang="en-US" sz="2000" dirty="0"/>
              <a:t>{From, Ref, {_Band, _Album}} -&gt;</a:t>
            </a:r>
          </a:p>
          <a:p>
            <a:r>
              <a:rPr lang="en-US" sz="2000" dirty="0"/>
              <a:t>From ! {Ref, "They are terrible!"}</a:t>
            </a:r>
          </a:p>
          <a:p>
            <a:r>
              <a:rPr lang="en-US" sz="2000" dirty="0"/>
              <a:t>end,</a:t>
            </a:r>
          </a:p>
          <a:p>
            <a:r>
              <a:rPr lang="en-US" sz="2000" dirty="0"/>
              <a:t>critic2().</a:t>
            </a:r>
          </a:p>
        </p:txBody>
      </p:sp>
      <p:sp>
        <p:nvSpPr>
          <p:cNvPr id="5" name="TextBox 4">
            <a:extLst>
              <a:ext uri="{FF2B5EF4-FFF2-40B4-BE49-F238E27FC236}">
                <a16:creationId xmlns:a16="http://schemas.microsoft.com/office/drawing/2014/main" id="{57AE9CBB-ED77-2801-655B-A5ABC71B29F3}"/>
              </a:ext>
            </a:extLst>
          </p:cNvPr>
          <p:cNvSpPr txBox="1"/>
          <p:nvPr/>
        </p:nvSpPr>
        <p:spPr>
          <a:xfrm>
            <a:off x="94291" y="5709245"/>
            <a:ext cx="5260351" cy="923330"/>
          </a:xfrm>
          <a:prstGeom prst="rect">
            <a:avLst/>
          </a:prstGeom>
          <a:noFill/>
        </p:spPr>
        <p:txBody>
          <a:bodyPr wrap="none" rtlCol="0">
            <a:spAutoFit/>
          </a:bodyPr>
          <a:lstStyle/>
          <a:p>
            <a:r>
              <a:rPr lang="en-US" dirty="0" err="1"/>
              <a:t>linkmon.erl</a:t>
            </a:r>
            <a:endParaRPr lang="en-US" dirty="0"/>
          </a:p>
          <a:p>
            <a:r>
              <a:rPr lang="en-US" dirty="0">
                <a:hlinkClick r:id="rId2"/>
              </a:rPr>
              <a:t>http://learnyousomeerlang.com/errors-and-processes</a:t>
            </a:r>
            <a:endParaRPr lang="en-US" dirty="0"/>
          </a:p>
          <a:p>
            <a:endParaRPr lang="en-US" dirty="0"/>
          </a:p>
        </p:txBody>
      </p:sp>
      <p:sp>
        <p:nvSpPr>
          <p:cNvPr id="7" name="TextBox 6">
            <a:extLst>
              <a:ext uri="{FF2B5EF4-FFF2-40B4-BE49-F238E27FC236}">
                <a16:creationId xmlns:a16="http://schemas.microsoft.com/office/drawing/2014/main" id="{371224CF-41D3-6A7F-74A6-5DA495A6F438}"/>
              </a:ext>
            </a:extLst>
          </p:cNvPr>
          <p:cNvSpPr txBox="1"/>
          <p:nvPr/>
        </p:nvSpPr>
        <p:spPr>
          <a:xfrm>
            <a:off x="8782186" y="4282549"/>
            <a:ext cx="2740366" cy="461665"/>
          </a:xfrm>
          <a:prstGeom prst="rect">
            <a:avLst/>
          </a:prstGeom>
          <a:noFill/>
        </p:spPr>
        <p:txBody>
          <a:bodyPr wrap="none" rtlCol="0">
            <a:spAutoFit/>
          </a:bodyPr>
          <a:lstStyle/>
          <a:p>
            <a:r>
              <a:rPr lang="en-US" sz="2400" dirty="0"/>
              <a:t>Data type: reference</a:t>
            </a:r>
          </a:p>
        </p:txBody>
      </p:sp>
      <p:sp>
        <p:nvSpPr>
          <p:cNvPr id="6" name="TextBox 5">
            <a:extLst>
              <a:ext uri="{FF2B5EF4-FFF2-40B4-BE49-F238E27FC236}">
                <a16:creationId xmlns:a16="http://schemas.microsoft.com/office/drawing/2014/main" id="{206CDA51-9AB7-137E-3B48-D784896C4EA7}"/>
              </a:ext>
            </a:extLst>
          </p:cNvPr>
          <p:cNvSpPr txBox="1"/>
          <p:nvPr/>
        </p:nvSpPr>
        <p:spPr>
          <a:xfrm>
            <a:off x="3826596" y="5155482"/>
            <a:ext cx="7802329" cy="369332"/>
          </a:xfrm>
          <a:prstGeom prst="rect">
            <a:avLst/>
          </a:prstGeom>
          <a:ln>
            <a:solidFill>
              <a:schemeClr val="bg2">
                <a:lumMod val="50000"/>
              </a:schemeClr>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err="1"/>
              <a:t>Folosind</a:t>
            </a:r>
            <a:r>
              <a:rPr lang="en-US" dirty="0"/>
              <a:t> </a:t>
            </a:r>
            <a:r>
              <a:rPr lang="en-US" dirty="0" err="1"/>
              <a:t>referinta</a:t>
            </a:r>
            <a:r>
              <a:rPr lang="en-US" dirty="0"/>
              <a:t> Ref ne </a:t>
            </a:r>
            <a:r>
              <a:rPr lang="en-US" dirty="0" err="1"/>
              <a:t>asiguram</a:t>
            </a:r>
            <a:r>
              <a:rPr lang="en-US" dirty="0"/>
              <a:t> ca </a:t>
            </a:r>
            <a:r>
              <a:rPr lang="en-US" dirty="0" err="1"/>
              <a:t>primim</a:t>
            </a:r>
            <a:r>
              <a:rPr lang="en-US" dirty="0"/>
              <a:t> </a:t>
            </a:r>
            <a:r>
              <a:rPr lang="en-US" dirty="0" err="1"/>
              <a:t>raspunsul</a:t>
            </a:r>
            <a:r>
              <a:rPr lang="en-US" dirty="0"/>
              <a:t> </a:t>
            </a:r>
            <a:r>
              <a:rPr lang="en-US" dirty="0" err="1"/>
              <a:t>corect</a:t>
            </a:r>
            <a:r>
              <a:rPr lang="en-US" dirty="0"/>
              <a:t> de la </a:t>
            </a:r>
            <a:r>
              <a:rPr lang="en-US" dirty="0" err="1"/>
              <a:t>criticul</a:t>
            </a:r>
            <a:r>
              <a:rPr lang="en-US" dirty="0"/>
              <a:t> </a:t>
            </a:r>
            <a:r>
              <a:rPr lang="en-US" dirty="0" err="1"/>
              <a:t>corect</a:t>
            </a:r>
            <a:r>
              <a:rPr lang="en-US" dirty="0"/>
              <a:t>!</a:t>
            </a:r>
          </a:p>
        </p:txBody>
      </p:sp>
    </p:spTree>
    <p:extLst>
      <p:ext uri="{BB962C8B-B14F-4D97-AF65-F5344CB8AC3E}">
        <p14:creationId xmlns:p14="http://schemas.microsoft.com/office/powerpoint/2010/main" val="16174172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8392" y="914400"/>
            <a:ext cx="6016391" cy="4524315"/>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lang="en-US" dirty="0"/>
              <a:t>start_critic2() -&gt;</a:t>
            </a:r>
          </a:p>
          <a:p>
            <a:r>
              <a:rPr lang="en-US" dirty="0"/>
              <a:t>spawn(?MODULE, restarter, []).</a:t>
            </a:r>
          </a:p>
          <a:p>
            <a:endParaRPr lang="en-US" dirty="0"/>
          </a:p>
          <a:p>
            <a:r>
              <a:rPr lang="en-US" dirty="0"/>
              <a:t>restarter() -&gt;</a:t>
            </a:r>
          </a:p>
          <a:p>
            <a:r>
              <a:rPr lang="en-US" dirty="0" err="1"/>
              <a:t>process_flag</a:t>
            </a:r>
            <a:r>
              <a:rPr lang="en-US" dirty="0"/>
              <a:t>(</a:t>
            </a:r>
            <a:r>
              <a:rPr lang="en-US" dirty="0" err="1"/>
              <a:t>trap_exit</a:t>
            </a:r>
            <a:r>
              <a:rPr lang="en-US" dirty="0"/>
              <a:t>, true),</a:t>
            </a:r>
          </a:p>
          <a:p>
            <a:r>
              <a:rPr lang="en-US" dirty="0" err="1"/>
              <a:t>Pid</a:t>
            </a:r>
            <a:r>
              <a:rPr lang="en-US" dirty="0"/>
              <a:t> = </a:t>
            </a:r>
            <a:r>
              <a:rPr lang="en-US" dirty="0" err="1"/>
              <a:t>spawn_link</a:t>
            </a:r>
            <a:r>
              <a:rPr lang="en-US" dirty="0"/>
              <a:t>(?MODULE, critic2, []),</a:t>
            </a:r>
          </a:p>
          <a:p>
            <a:r>
              <a:rPr lang="en-US" dirty="0"/>
              <a:t>register(critic, </a:t>
            </a:r>
            <a:r>
              <a:rPr lang="en-US" dirty="0" err="1"/>
              <a:t>Pid</a:t>
            </a:r>
            <a:r>
              <a:rPr lang="en-US" dirty="0"/>
              <a:t>),</a:t>
            </a:r>
          </a:p>
          <a:p>
            <a:r>
              <a:rPr lang="en-US" dirty="0"/>
              <a:t>receive</a:t>
            </a:r>
          </a:p>
          <a:p>
            <a:r>
              <a:rPr lang="en-US" dirty="0"/>
              <a:t>     {'EXIT', Pid, normal} -&gt; % not a crash</a:t>
            </a:r>
          </a:p>
          <a:p>
            <a:r>
              <a:rPr lang="en-US" dirty="0"/>
              <a:t>                                              ok;</a:t>
            </a:r>
          </a:p>
          <a:p>
            <a:r>
              <a:rPr lang="en-US" dirty="0"/>
              <a:t>    {'EXIT', Pid, shutdown} -&gt; % manual termination, not a crash</a:t>
            </a:r>
          </a:p>
          <a:p>
            <a:r>
              <a:rPr lang="en-US" dirty="0"/>
              <a:t>                                                  ok;</a:t>
            </a:r>
          </a:p>
          <a:p>
            <a:r>
              <a:rPr lang="en-US" dirty="0"/>
              <a:t>     {'EXIT', Pid, _} -&gt;</a:t>
            </a:r>
          </a:p>
          <a:p>
            <a:r>
              <a:rPr lang="en-US" dirty="0"/>
              <a:t>                                    restarter()</a:t>
            </a:r>
          </a:p>
          <a:p>
            <a:r>
              <a:rPr lang="en-US" dirty="0"/>
              <a:t>end.</a:t>
            </a:r>
          </a:p>
          <a:p>
            <a:endParaRPr lang="en-US" dirty="0"/>
          </a:p>
        </p:txBody>
      </p:sp>
      <p:pic>
        <p:nvPicPr>
          <p:cNvPr id="4" name="Picture 3"/>
          <p:cNvPicPr>
            <a:picLocks noChangeAspect="1"/>
          </p:cNvPicPr>
          <p:nvPr/>
        </p:nvPicPr>
        <p:blipFill>
          <a:blip r:embed="rId2"/>
          <a:stretch>
            <a:fillRect/>
          </a:stretch>
        </p:blipFill>
        <p:spPr>
          <a:xfrm>
            <a:off x="6503280" y="1116021"/>
            <a:ext cx="5420730" cy="4121071"/>
          </a:xfrm>
          <a:prstGeom prst="rect">
            <a:avLst/>
          </a:prstGeom>
        </p:spPr>
        <p:style>
          <a:lnRef idx="2">
            <a:schemeClr val="dk1"/>
          </a:lnRef>
          <a:fillRef idx="1">
            <a:schemeClr val="lt1"/>
          </a:fillRef>
          <a:effectRef idx="0">
            <a:schemeClr val="dk1"/>
          </a:effectRef>
          <a:fontRef idx="minor">
            <a:schemeClr val="dk1"/>
          </a:fontRef>
        </p:style>
      </p:pic>
      <p:cxnSp>
        <p:nvCxnSpPr>
          <p:cNvPr id="5" name="Straight Connector 4">
            <a:extLst>
              <a:ext uri="{FF2B5EF4-FFF2-40B4-BE49-F238E27FC236}">
                <a16:creationId xmlns:a16="http://schemas.microsoft.com/office/drawing/2014/main" id="{1C4D4238-2CAC-E9C2-247C-A36C2B268024}"/>
              </a:ext>
            </a:extLst>
          </p:cNvPr>
          <p:cNvCxnSpPr/>
          <p:nvPr/>
        </p:nvCxnSpPr>
        <p:spPr>
          <a:xfrm>
            <a:off x="7924800" y="3657600"/>
            <a:ext cx="2296160"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F103BBE-1496-A4C0-1950-8CABE0ED561E}"/>
              </a:ext>
            </a:extLst>
          </p:cNvPr>
          <p:cNvCxnSpPr>
            <a:cxnSpLocks/>
          </p:cNvCxnSpPr>
          <p:nvPr/>
        </p:nvCxnSpPr>
        <p:spPr>
          <a:xfrm flipH="1">
            <a:off x="5688721" y="3718560"/>
            <a:ext cx="3414639" cy="1992936"/>
          </a:xfrm>
          <a:prstGeom prst="straightConnector1">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C734756-9636-2CA2-141A-94CD6474A10A}"/>
              </a:ext>
            </a:extLst>
          </p:cNvPr>
          <p:cNvSpPr txBox="1"/>
          <p:nvPr/>
        </p:nvSpPr>
        <p:spPr>
          <a:xfrm>
            <a:off x="4157487" y="5784400"/>
            <a:ext cx="4880119" cy="369332"/>
          </a:xfrm>
          <a:prstGeom prst="rect">
            <a:avLst/>
          </a:prstGeom>
          <a:ln>
            <a:solidFill>
              <a:schemeClr val="bg2">
                <a:lumMod val="50000"/>
              </a:schemeClr>
            </a:solidFill>
          </a:ln>
        </p:spPr>
        <p:style>
          <a:lnRef idx="2">
            <a:schemeClr val="accent1"/>
          </a:lnRef>
          <a:fillRef idx="1">
            <a:schemeClr val="lt1"/>
          </a:fillRef>
          <a:effectRef idx="0">
            <a:schemeClr val="accent1"/>
          </a:effectRef>
          <a:fontRef idx="minor">
            <a:schemeClr val="dk1"/>
          </a:fontRef>
        </p:style>
        <p:txBody>
          <a:bodyPr wrap="none" rtlCol="0">
            <a:spAutoFit/>
          </a:bodyPr>
          <a:lstStyle/>
          <a:p>
            <a:r>
              <a:rPr lang="en-US" dirty="0" err="1"/>
              <a:t>Detaliile</a:t>
            </a:r>
            <a:r>
              <a:rPr lang="en-US" dirty="0"/>
              <a:t> </a:t>
            </a:r>
            <a:r>
              <a:rPr lang="en-US" dirty="0" err="1"/>
              <a:t>privind</a:t>
            </a:r>
            <a:r>
              <a:rPr lang="en-US" dirty="0"/>
              <a:t> ID-urile </a:t>
            </a:r>
            <a:r>
              <a:rPr lang="en-US" dirty="0" err="1"/>
              <a:t>proceselor</a:t>
            </a:r>
            <a:r>
              <a:rPr lang="en-US" dirty="0"/>
              <a:t> pot fi </a:t>
            </a:r>
            <a:r>
              <a:rPr lang="en-US" dirty="0" err="1"/>
              <a:t>ascunse</a:t>
            </a:r>
            <a:r>
              <a:rPr lang="en-US" dirty="0"/>
              <a:t>!</a:t>
            </a:r>
            <a:endParaRPr lang="en-GB" dirty="0"/>
          </a:p>
        </p:txBody>
      </p:sp>
    </p:spTree>
    <p:extLst>
      <p:ext uri="{BB962C8B-B14F-4D97-AF65-F5344CB8AC3E}">
        <p14:creationId xmlns:p14="http://schemas.microsoft.com/office/powerpoint/2010/main" val="2809795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76685" y="749994"/>
            <a:ext cx="7838630" cy="4580761"/>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42082425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364701" y="422526"/>
            <a:ext cx="7440107" cy="5353325"/>
          </a:xfrm>
          <a:prstGeom prst="rect">
            <a:avLst/>
          </a:prstGeom>
        </p:spPr>
        <p:style>
          <a:lnRef idx="2">
            <a:schemeClr val="dk1"/>
          </a:lnRef>
          <a:fillRef idx="1">
            <a:schemeClr val="lt1"/>
          </a:fillRef>
          <a:effectRef idx="0">
            <a:schemeClr val="dk1"/>
          </a:effectRef>
          <a:fontRef idx="minor">
            <a:schemeClr val="dk1"/>
          </a:fontRef>
        </p:style>
      </p:pic>
      <p:sp>
        <p:nvSpPr>
          <p:cNvPr id="4" name="TextBox 3"/>
          <p:cNvSpPr txBox="1"/>
          <p:nvPr/>
        </p:nvSpPr>
        <p:spPr>
          <a:xfrm>
            <a:off x="8057855" y="2295868"/>
            <a:ext cx="3493905" cy="1200329"/>
          </a:xfrm>
          <a:prstGeom prst="rect">
            <a:avLst/>
          </a:prstGeom>
          <a:solidFill>
            <a:srgbClr val="C00000"/>
          </a:solidFill>
          <a:ln>
            <a:solidFill>
              <a:srgbClr val="C00000"/>
            </a:solidFill>
          </a:ln>
        </p:spPr>
        <p:txBody>
          <a:bodyPr wrap="none" rtlCol="0">
            <a:spAutoFit/>
          </a:bodyPr>
          <a:lstStyle/>
          <a:p>
            <a:r>
              <a:rPr lang="en-US" dirty="0" err="1">
                <a:solidFill>
                  <a:schemeClr val="bg1"/>
                </a:solidFill>
              </a:rPr>
              <a:t>process_info</a:t>
            </a:r>
            <a:r>
              <a:rPr lang="en-US" dirty="0">
                <a:solidFill>
                  <a:schemeClr val="bg1"/>
                </a:solidFill>
              </a:rPr>
              <a:t> (</a:t>
            </a:r>
            <a:r>
              <a:rPr lang="en-US" dirty="0" err="1">
                <a:solidFill>
                  <a:schemeClr val="bg1"/>
                </a:solidFill>
              </a:rPr>
              <a:t>Pid</a:t>
            </a:r>
            <a:r>
              <a:rPr lang="en-US" dirty="0">
                <a:solidFill>
                  <a:schemeClr val="bg1"/>
                </a:solidFill>
              </a:rPr>
              <a:t>)</a:t>
            </a:r>
          </a:p>
          <a:p>
            <a:endParaRPr lang="en-US" dirty="0">
              <a:solidFill>
                <a:schemeClr val="bg1"/>
              </a:solidFill>
            </a:endParaRPr>
          </a:p>
          <a:p>
            <a:r>
              <a:rPr lang="en-US" dirty="0" err="1">
                <a:solidFill>
                  <a:schemeClr val="bg1"/>
                </a:solidFill>
              </a:rPr>
              <a:t>returneaza</a:t>
            </a:r>
            <a:r>
              <a:rPr lang="en-US" dirty="0">
                <a:solidFill>
                  <a:schemeClr val="bg1"/>
                </a:solidFill>
              </a:rPr>
              <a:t> o </a:t>
            </a:r>
            <a:r>
              <a:rPr lang="en-US" dirty="0" err="1">
                <a:solidFill>
                  <a:schemeClr val="bg1"/>
                </a:solidFill>
              </a:rPr>
              <a:t>lista</a:t>
            </a:r>
            <a:r>
              <a:rPr lang="en-US" dirty="0">
                <a:solidFill>
                  <a:schemeClr val="bg1"/>
                </a:solidFill>
              </a:rPr>
              <a:t> de </a:t>
            </a:r>
            <a:r>
              <a:rPr lang="en-US" dirty="0" err="1">
                <a:solidFill>
                  <a:schemeClr val="bg1"/>
                </a:solidFill>
              </a:rPr>
              <a:t>informatii</a:t>
            </a:r>
            <a:r>
              <a:rPr lang="en-US" dirty="0">
                <a:solidFill>
                  <a:schemeClr val="bg1"/>
                </a:solidFill>
              </a:rPr>
              <a:t> </a:t>
            </a:r>
            <a:r>
              <a:rPr lang="en-US" dirty="0" err="1">
                <a:solidFill>
                  <a:schemeClr val="bg1"/>
                </a:solidFill>
              </a:rPr>
              <a:t>sau</a:t>
            </a:r>
            <a:r>
              <a:rPr lang="en-US" dirty="0">
                <a:solidFill>
                  <a:schemeClr val="bg1"/>
                </a:solidFill>
              </a:rPr>
              <a:t> </a:t>
            </a:r>
          </a:p>
          <a:p>
            <a:r>
              <a:rPr lang="en-US" dirty="0">
                <a:solidFill>
                  <a:schemeClr val="bg1"/>
                </a:solidFill>
              </a:rPr>
              <a:t>undefined </a:t>
            </a:r>
            <a:r>
              <a:rPr lang="en-US" dirty="0" err="1">
                <a:solidFill>
                  <a:schemeClr val="bg1"/>
                </a:solidFill>
              </a:rPr>
              <a:t>daca</a:t>
            </a:r>
            <a:r>
              <a:rPr lang="en-US" dirty="0">
                <a:solidFill>
                  <a:schemeClr val="bg1"/>
                </a:solidFill>
              </a:rPr>
              <a:t> </a:t>
            </a:r>
            <a:r>
              <a:rPr lang="en-US" dirty="0" err="1">
                <a:solidFill>
                  <a:schemeClr val="bg1"/>
                </a:solidFill>
              </a:rPr>
              <a:t>procesul</a:t>
            </a:r>
            <a:r>
              <a:rPr lang="en-US" dirty="0">
                <a:solidFill>
                  <a:schemeClr val="bg1"/>
                </a:solidFill>
              </a:rPr>
              <a:t> nu </a:t>
            </a:r>
            <a:r>
              <a:rPr lang="en-US" dirty="0" err="1">
                <a:solidFill>
                  <a:schemeClr val="bg1"/>
                </a:solidFill>
              </a:rPr>
              <a:t>exista</a:t>
            </a:r>
            <a:endParaRPr lang="en-US" dirty="0">
              <a:solidFill>
                <a:schemeClr val="bg1"/>
              </a:solidFill>
            </a:endParaRPr>
          </a:p>
        </p:txBody>
      </p:sp>
    </p:spTree>
    <p:extLst>
      <p:ext uri="{BB962C8B-B14F-4D97-AF65-F5344CB8AC3E}">
        <p14:creationId xmlns:p14="http://schemas.microsoft.com/office/powerpoint/2010/main" val="149823928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5228</TotalTime>
  <Words>3834</Words>
  <Application>Microsoft Office PowerPoint</Application>
  <PresentationFormat>Widescreen</PresentationFormat>
  <Paragraphs>562</Paragraphs>
  <Slides>43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Calibri Light</vt:lpstr>
      <vt:lpstr>Courier New</vt:lpstr>
      <vt:lpstr>Wingdings</vt:lpstr>
      <vt:lpstr>Retrospect</vt:lpstr>
      <vt:lpstr>IMPLEMENTAREA CONCURENTEI IN LIMBAJE DE PROGRAMARE </vt:lpstr>
      <vt:lpstr>PowerPoint Presentation</vt:lpstr>
      <vt:lpstr>                         ACTOR MODEL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Ioana Leustean</dc:creator>
  <cp:lastModifiedBy>IOANA GABRIELA LEUSTEAN</cp:lastModifiedBy>
  <cp:revision>206</cp:revision>
  <dcterms:created xsi:type="dcterms:W3CDTF">2015-03-31T05:03:29Z</dcterms:created>
  <dcterms:modified xsi:type="dcterms:W3CDTF">2025-12-12T05:16:30Z</dcterms:modified>
</cp:coreProperties>
</file>