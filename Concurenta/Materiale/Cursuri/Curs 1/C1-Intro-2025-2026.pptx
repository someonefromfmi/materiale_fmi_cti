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1" r:id="rId2"/>
  </p:sldMasterIdLst>
  <p:sldIdLst>
    <p:sldId id="284" r:id="rId3"/>
    <p:sldId id="318" r:id="rId4"/>
    <p:sldId id="316" r:id="rId5"/>
    <p:sldId id="314" r:id="rId6"/>
    <p:sldId id="307" r:id="rId7"/>
    <p:sldId id="311" r:id="rId8"/>
    <p:sldId id="312" r:id="rId9"/>
    <p:sldId id="305" r:id="rId10"/>
    <p:sldId id="306" r:id="rId11"/>
    <p:sldId id="313" r:id="rId12"/>
    <p:sldId id="290" r:id="rId13"/>
    <p:sldId id="309" r:id="rId14"/>
    <p:sldId id="317" r:id="rId15"/>
    <p:sldId id="30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78" autoAdjust="0"/>
    <p:restoredTop sz="94660"/>
  </p:normalViewPr>
  <p:slideViewPr>
    <p:cSldViewPr snapToGrid="0">
      <p:cViewPr varScale="1">
        <p:scale>
          <a:sx n="63" d="100"/>
          <a:sy n="63" d="100"/>
        </p:scale>
        <p:origin x="812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skell.org/hoogle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10/3/2025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10/3/2025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10/3/2025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10/3/2025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10/3/2025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10/3/2025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10/3/2025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47" y="6292850"/>
            <a:ext cx="673100" cy="673100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4550173" y="6439790"/>
            <a:ext cx="3283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https://www.haskell.org/hoogle/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10/3/2025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10/3/2025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10/3/2025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10/3/2025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pPr/>
              <a:t>10/3/2025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8652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pPr/>
              <a:t>10/3/2025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312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pPr/>
              <a:t>10/3/2025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1149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pPr/>
              <a:t>10/3/2025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8191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pPr/>
              <a:t>10/3/2025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094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pPr/>
              <a:t>10/3/2025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3197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pPr/>
              <a:t>10/3/2025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0291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pPr/>
              <a:t>10/3/2025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>
              <a:solidFill>
                <a:srgbClr val="63705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>
                <a:solidFill>
                  <a:srgbClr val="637052"/>
                </a:solidFill>
              </a:rPr>
              <a:pPr/>
              <a:t>‹#›</a:t>
            </a:fld>
            <a:endParaRPr lang="en-US" dirty="0">
              <a:solidFill>
                <a:srgbClr val="63705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122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pPr/>
              <a:t>10/3/2025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550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pPr/>
              <a:t>10/3/2025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453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pPr/>
              <a:t>10/3/2025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64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10/3/2025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pPr/>
              <a:t>10/3/2025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269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en.wikipedia.org/wiki/Functional_programming" TargetMode="Externa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chimera.labs.oreilly.com/books/1230000000929/pt02.html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/>
              <a:t>IMPLEMENTAREA</a:t>
            </a:r>
            <a:br>
              <a:rPr lang="en-US" sz="3200" dirty="0"/>
            </a:br>
            <a:r>
              <a:rPr lang="en-US" sz="3200" dirty="0"/>
              <a:t>CONCURENTEI</a:t>
            </a:r>
            <a:br>
              <a:rPr lang="en-US" sz="3200" dirty="0"/>
            </a:br>
            <a:r>
              <a:rPr lang="en-US" sz="3200" dirty="0"/>
              <a:t>IN LIMBAJE DE</a:t>
            </a:r>
            <a:br>
              <a:rPr lang="en-US" sz="3200" dirty="0"/>
            </a:br>
            <a:r>
              <a:rPr lang="en-US" sz="3200" dirty="0"/>
              <a:t>PROGRAMARE</a:t>
            </a:r>
            <a:br>
              <a:rPr lang="en-US" sz="3200" dirty="0"/>
            </a:br>
            <a:r>
              <a:rPr lang="en-US" sz="3200" dirty="0"/>
              <a:t>2025-2026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/>
              <a:t>Curs:</a:t>
            </a:r>
          </a:p>
          <a:p>
            <a:r>
              <a:rPr lang="en-US" dirty="0"/>
              <a:t>Ioana Leustean</a:t>
            </a:r>
          </a:p>
          <a:p>
            <a:r>
              <a:rPr lang="en-US" dirty="0"/>
              <a:t>ioana.leustean@unibuc.ro</a:t>
            </a:r>
          </a:p>
          <a:p>
            <a:endParaRPr lang="en-US" dirty="0"/>
          </a:p>
          <a:p>
            <a:r>
              <a:rPr lang="en-US" b="1" dirty="0" err="1"/>
              <a:t>Laborator</a:t>
            </a:r>
            <a:r>
              <a:rPr lang="en-US" b="1" dirty="0"/>
              <a:t>:</a:t>
            </a:r>
          </a:p>
          <a:p>
            <a:r>
              <a:rPr lang="en-US" dirty="0"/>
              <a:t>Bogdan Macovei</a:t>
            </a:r>
          </a:p>
          <a:p>
            <a:r>
              <a:rPr lang="en-US" dirty="0"/>
              <a:t>bogdan.macovei@unibuc.ro</a:t>
            </a:r>
          </a:p>
        </p:txBody>
      </p:sp>
      <p:sp>
        <p:nvSpPr>
          <p:cNvPr id="7" name="Oval 6"/>
          <p:cNvSpPr/>
          <p:nvPr/>
        </p:nvSpPr>
        <p:spPr>
          <a:xfrm>
            <a:off x="5640947" y="246888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7946264" y="700225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597203" y="4843261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9308206" y="4843261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0058400" y="246888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>
            <a:off x="6390361" y="1374632"/>
            <a:ext cx="824248" cy="859021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6042123" y="3853734"/>
            <a:ext cx="1201598" cy="476331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9601200" y="1334251"/>
            <a:ext cx="914400" cy="70511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10183004" y="4105583"/>
            <a:ext cx="1189041" cy="26722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8628844" y="4843261"/>
            <a:ext cx="0" cy="116891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7678" y="2085079"/>
            <a:ext cx="2205964" cy="228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970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flipH="1">
            <a:off x="1426518" y="650377"/>
            <a:ext cx="9627561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err="1"/>
              <a:t>Resurse</a:t>
            </a:r>
            <a:r>
              <a:rPr lang="en-US" sz="2000" dirty="0"/>
              <a:t>:  </a:t>
            </a:r>
            <a:r>
              <a:rPr lang="en-US" sz="2000" dirty="0" err="1"/>
              <a:t>MSTeams</a:t>
            </a: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err="1"/>
              <a:t>Sistem</a:t>
            </a:r>
            <a:r>
              <a:rPr lang="en-US" sz="2000" dirty="0"/>
              <a:t> de </a:t>
            </a:r>
            <a:r>
              <a:rPr lang="en-US" sz="2000" dirty="0" err="1"/>
              <a:t>notare</a:t>
            </a:r>
            <a:r>
              <a:rPr lang="en-US" sz="2000" dirty="0"/>
              <a:t>: </a:t>
            </a:r>
            <a:r>
              <a:rPr lang="en-US" sz="2000" b="1" dirty="0"/>
              <a:t>examen in </a:t>
            </a:r>
            <a:r>
              <a:rPr lang="en-US" sz="2000" b="1" dirty="0" err="1"/>
              <a:t>sesiune</a:t>
            </a:r>
            <a:r>
              <a:rPr lang="en-US" sz="2000" b="1" dirty="0"/>
              <a:t> </a:t>
            </a:r>
            <a:r>
              <a:rPr lang="en-US" sz="2000" dirty="0"/>
              <a:t>(</a:t>
            </a:r>
            <a:r>
              <a:rPr lang="en-US" sz="2000" dirty="0" err="1"/>
              <a:t>obligatoriu</a:t>
            </a:r>
            <a:r>
              <a:rPr lang="en-US" sz="2000" dirty="0"/>
              <a:t>, maxim 10 </a:t>
            </a:r>
            <a:r>
              <a:rPr lang="en-US" sz="2000" dirty="0" err="1"/>
              <a:t>puncte</a:t>
            </a:r>
            <a:r>
              <a:rPr lang="en-US" sz="2000" dirty="0"/>
              <a:t>)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</a:p>
          <a:p>
            <a:r>
              <a:rPr lang="en-US" sz="2000" b="1" dirty="0"/>
              <a:t>                                      </a:t>
            </a:r>
            <a:r>
              <a:rPr lang="en-US" sz="2000" b="1" dirty="0" err="1"/>
              <a:t>proiect</a:t>
            </a:r>
            <a:r>
              <a:rPr lang="en-US" sz="2000" b="1" dirty="0"/>
              <a:t> </a:t>
            </a:r>
            <a:r>
              <a:rPr lang="en-US" sz="2000" dirty="0"/>
              <a:t> (optional, maxim 10 </a:t>
            </a:r>
            <a:r>
              <a:rPr lang="en-US" sz="2000" dirty="0" err="1"/>
              <a:t>puncte</a:t>
            </a:r>
            <a:r>
              <a:rPr lang="en-US" sz="2000" dirty="0"/>
              <a:t>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b="1" dirty="0"/>
          </a:p>
          <a:p>
            <a:r>
              <a:rPr lang="en-US" sz="2000" b="1" dirty="0" err="1"/>
              <a:t>Proiect</a:t>
            </a:r>
            <a:endParaRPr lang="en-US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echipe</a:t>
            </a:r>
            <a:r>
              <a:rPr lang="en-US" sz="2000" dirty="0"/>
              <a:t> cu maxim 2 </a:t>
            </a:r>
            <a:r>
              <a:rPr lang="en-US" sz="2000" dirty="0" err="1"/>
              <a:t>membri</a:t>
            </a: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prezentare</a:t>
            </a:r>
            <a:r>
              <a:rPr lang="en-US" sz="2000" dirty="0"/>
              <a:t> pe </a:t>
            </a:r>
            <a:r>
              <a:rPr lang="en-US" sz="2000" dirty="0" err="1"/>
              <a:t>slideuri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referat</a:t>
            </a: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dirty="0"/>
              <a:t>Examen in </a:t>
            </a:r>
            <a:r>
              <a:rPr lang="en-US" sz="2000" b="1" dirty="0" err="1"/>
              <a:t>sesiune</a:t>
            </a:r>
            <a:endParaRPr lang="en-US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r>
              <a:rPr lang="en-US" sz="2000" dirty="0" err="1"/>
              <a:t>probleme</a:t>
            </a:r>
            <a:r>
              <a:rPr lang="en-US" sz="2000" dirty="0"/>
              <a:t> </a:t>
            </a:r>
            <a:r>
              <a:rPr lang="en-US" sz="2000" dirty="0" err="1"/>
              <a:t>asemanatoare</a:t>
            </a:r>
            <a:r>
              <a:rPr lang="en-US" sz="2000" dirty="0"/>
              <a:t> </a:t>
            </a:r>
            <a:r>
              <a:rPr lang="en-US" sz="2000" dirty="0" err="1"/>
              <a:t>celor</a:t>
            </a:r>
            <a:r>
              <a:rPr lang="en-US" sz="2000" dirty="0"/>
              <a:t> din curs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laborator</a:t>
            </a: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 se  </a:t>
            </a:r>
            <a:r>
              <a:rPr lang="en-US" sz="2000" dirty="0" err="1"/>
              <a:t>va</a:t>
            </a:r>
            <a:r>
              <a:rPr lang="en-US" sz="2000" dirty="0"/>
              <a:t> </a:t>
            </a:r>
            <a:r>
              <a:rPr lang="en-US" sz="2000" dirty="0" err="1"/>
              <a:t>impune</a:t>
            </a:r>
            <a:r>
              <a:rPr lang="en-US" sz="2000" dirty="0"/>
              <a:t> un </a:t>
            </a:r>
            <a:r>
              <a:rPr lang="en-US" sz="2000" dirty="0" err="1"/>
              <a:t>limbaj</a:t>
            </a:r>
            <a:r>
              <a:rPr lang="en-US" sz="2000" dirty="0"/>
              <a:t> </a:t>
            </a:r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err="1"/>
              <a:t>rezolvarea</a:t>
            </a:r>
            <a:r>
              <a:rPr lang="en-US" sz="2000" dirty="0"/>
              <a:t> </a:t>
            </a:r>
            <a:r>
              <a:rPr lang="en-US" sz="2000" dirty="0" err="1"/>
              <a:t>unei</a:t>
            </a:r>
            <a:r>
              <a:rPr lang="en-US" sz="2000" dirty="0"/>
              <a:t> </a:t>
            </a:r>
            <a:r>
              <a:rPr lang="en-US" sz="2000" dirty="0" err="1"/>
              <a:t>probleme</a:t>
            </a: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 </a:t>
            </a:r>
            <a:r>
              <a:rPr lang="en-US" sz="2000" b="1" dirty="0" err="1"/>
              <a:t>Promovare</a:t>
            </a:r>
            <a:r>
              <a:rPr lang="en-US" sz="2000" b="1" dirty="0"/>
              <a:t>:  </a:t>
            </a:r>
            <a:r>
              <a:rPr lang="en-US" sz="2000" dirty="0" err="1"/>
              <a:t>punctaj</a:t>
            </a:r>
            <a:r>
              <a:rPr lang="en-US" sz="2000" dirty="0"/>
              <a:t> examen &gt;=5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Nota </a:t>
            </a:r>
            <a:r>
              <a:rPr lang="en-US" sz="2000" b="1" dirty="0" err="1"/>
              <a:t>finala</a:t>
            </a:r>
            <a:r>
              <a:rPr lang="en-US" sz="2000" b="1" dirty="0"/>
              <a:t>: max(</a:t>
            </a:r>
            <a:r>
              <a:rPr lang="en-US" sz="2000" dirty="0"/>
              <a:t>nota examen</a:t>
            </a:r>
            <a:r>
              <a:rPr lang="en-US" sz="2000" b="1" dirty="0"/>
              <a:t>, </a:t>
            </a:r>
            <a:r>
              <a:rPr lang="en-US" sz="2000" dirty="0"/>
              <a:t>1 + (nota </a:t>
            </a:r>
            <a:r>
              <a:rPr lang="en-US" sz="2000" dirty="0" err="1"/>
              <a:t>proiect</a:t>
            </a:r>
            <a:r>
              <a:rPr lang="en-US" sz="2000" dirty="0"/>
              <a:t> + nota examen)/2)</a:t>
            </a:r>
          </a:p>
          <a:p>
            <a:r>
              <a:rPr lang="en-US" sz="2000" dirty="0"/>
              <a:t>   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err="1"/>
              <a:t>Puncte</a:t>
            </a:r>
            <a:r>
              <a:rPr lang="en-US" sz="2000" dirty="0"/>
              <a:t> </a:t>
            </a:r>
            <a:r>
              <a:rPr lang="en-US" sz="2000" dirty="0" err="1"/>
              <a:t>suplimentare</a:t>
            </a:r>
            <a:r>
              <a:rPr lang="en-US" sz="2000" dirty="0"/>
              <a:t> </a:t>
            </a:r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err="1"/>
              <a:t>activitatea</a:t>
            </a:r>
            <a:r>
              <a:rPr lang="en-US" sz="2000" dirty="0"/>
              <a:t> din </a:t>
            </a:r>
            <a:r>
              <a:rPr lang="en-US" sz="2000" dirty="0" err="1"/>
              <a:t>timpul</a:t>
            </a:r>
            <a:r>
              <a:rPr lang="en-US" sz="2000" dirty="0"/>
              <a:t> </a:t>
            </a:r>
            <a:r>
              <a:rPr lang="en-US" sz="2000" dirty="0" err="1"/>
              <a:t>semestrului</a:t>
            </a:r>
            <a:r>
              <a:rPr lang="en-US" sz="2000" dirty="0"/>
              <a:t> (maxim 2 </a:t>
            </a:r>
            <a:r>
              <a:rPr lang="en-US" sz="2000" dirty="0" err="1"/>
              <a:t>puncte</a:t>
            </a:r>
            <a:r>
              <a:rPr lang="en-US" sz="2000" dirty="0"/>
              <a:t>)</a:t>
            </a:r>
          </a:p>
          <a:p>
            <a:r>
              <a:rPr lang="en-US" dirty="0"/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4152432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1AE027-4F38-98B0-670A-9029FDC345D7}"/>
              </a:ext>
            </a:extLst>
          </p:cNvPr>
          <p:cNvSpPr txBox="1"/>
          <p:nvPr/>
        </p:nvSpPr>
        <p:spPr>
          <a:xfrm>
            <a:off x="1676400" y="1870392"/>
            <a:ext cx="938784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"Concurrency is an interesting word because it means different things to different </a:t>
            </a:r>
            <a:r>
              <a:rPr lang="en-GB" sz="2000" dirty="0" err="1"/>
              <a:t>peo</a:t>
            </a:r>
            <a:r>
              <a:rPr lang="en-GB" sz="2000" dirty="0"/>
              <a:t>‐</a:t>
            </a:r>
          </a:p>
          <a:p>
            <a:r>
              <a:rPr lang="en-GB" sz="2000" dirty="0" err="1"/>
              <a:t>ple</a:t>
            </a:r>
            <a:r>
              <a:rPr lang="en-GB" sz="2000" dirty="0"/>
              <a:t> in our field. In addition to “concurrency,” you may have heard the words, “</a:t>
            </a:r>
            <a:r>
              <a:rPr lang="en-GB" sz="2000" dirty="0" err="1"/>
              <a:t>asyn</a:t>
            </a:r>
            <a:r>
              <a:rPr lang="en-GB" sz="2000" dirty="0"/>
              <a:t>‐</a:t>
            </a:r>
          </a:p>
          <a:p>
            <a:r>
              <a:rPr lang="en-GB" sz="2000" dirty="0" err="1"/>
              <a:t>chronous</a:t>
            </a:r>
            <a:r>
              <a:rPr lang="en-GB" sz="2000" dirty="0"/>
              <a:t>,” “parallel,” or “threaded” bandied about. Some people take these words to</a:t>
            </a:r>
          </a:p>
          <a:p>
            <a:r>
              <a:rPr lang="en-GB" sz="2000" dirty="0"/>
              <a:t>mean the same thing, and other people very specifically delineate between each of</a:t>
            </a:r>
          </a:p>
          <a:p>
            <a:r>
              <a:rPr lang="en-GB" sz="2000" dirty="0"/>
              <a:t>those words."</a:t>
            </a:r>
          </a:p>
          <a:p>
            <a:endParaRPr lang="en-GB" sz="2000" dirty="0"/>
          </a:p>
          <a:p>
            <a:r>
              <a:rPr lang="en-GB" sz="2000" dirty="0"/>
              <a:t>Katherine Cox-</a:t>
            </a:r>
            <a:r>
              <a:rPr lang="en-GB" sz="2000" dirty="0" err="1"/>
              <a:t>Buday</a:t>
            </a:r>
            <a:r>
              <a:rPr lang="en-GB" sz="2000" dirty="0"/>
              <a:t>, Concurrency in Go,  O'Reilly, 2017</a:t>
            </a:r>
          </a:p>
        </p:txBody>
      </p:sp>
    </p:spTree>
    <p:extLst>
      <p:ext uri="{BB962C8B-B14F-4D97-AF65-F5344CB8AC3E}">
        <p14:creationId xmlns:p14="http://schemas.microsoft.com/office/powerpoint/2010/main" val="1115677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8627" y="1163759"/>
            <a:ext cx="1033436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"In the computer world, when we talk about </a:t>
            </a:r>
            <a:r>
              <a:rPr lang="en-US" b="1" dirty="0"/>
              <a:t>concurrency, </a:t>
            </a:r>
            <a:r>
              <a:rPr lang="en-US" dirty="0"/>
              <a:t>we refer to a series of independent and unrelated tasks that run simultaneously on a computer. This simultaneity can be real if the computer has more than one processor or a multi-core processor, or it can be apparent if the computer has only one core processor.</a:t>
            </a:r>
          </a:p>
          <a:p>
            <a:endParaRPr lang="en-US" dirty="0"/>
          </a:p>
          <a:p>
            <a:r>
              <a:rPr lang="en-US" dirty="0"/>
              <a:t>Another concept related to concurrency is </a:t>
            </a:r>
            <a:r>
              <a:rPr lang="en-US" b="1" dirty="0"/>
              <a:t>parallelism</a:t>
            </a:r>
            <a:r>
              <a:rPr lang="en-US" dirty="0"/>
              <a:t>. There are different definitions and relations with the concurrency concept. Some authors talk about concurrency when you execute your application with multiple threads in a single-core processor. With this, you can see when your program execution is apparent. They talk about parallelism when you execute your application with multiple threads in a multi-core processor or in a computer with more than one processor […]"</a:t>
            </a:r>
          </a:p>
          <a:p>
            <a:endParaRPr lang="en-US" dirty="0"/>
          </a:p>
          <a:p>
            <a:r>
              <a:rPr lang="en-US" dirty="0"/>
              <a:t>Gonzalez, Javier Fernandez. Java 9 Concurrency Cookbook - Second Edition  </a:t>
            </a:r>
            <a:r>
              <a:rPr lang="en-US" dirty="0" err="1"/>
              <a:t>Packt</a:t>
            </a:r>
            <a:r>
              <a:rPr lang="en-US" dirty="0"/>
              <a:t> Publishing. 2017 </a:t>
            </a:r>
          </a:p>
          <a:p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60940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339" y="331961"/>
            <a:ext cx="7655607" cy="5955006"/>
          </a:xfrm>
          <a:prstGeom prst="rect">
            <a:avLst/>
          </a:prstGeom>
        </p:spPr>
      </p:pic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9368A16D-052E-4AFB-A107-48EFA03C4B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2998574"/>
              </p:ext>
            </p:extLst>
          </p:nvPr>
        </p:nvGraphicFramePr>
        <p:xfrm>
          <a:off x="82302" y="184666"/>
          <a:ext cx="2526672" cy="21369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4775040" imgH="4038480" progId="Paint.Picture">
                  <p:embed/>
                </p:oleObj>
              </mc:Choice>
              <mc:Fallback>
                <p:oleObj name="Bitmap Image" r:id="rId3" imgW="4775040" imgH="403848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302" y="184666"/>
                        <a:ext cx="2526672" cy="21369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F60BB01-098F-4EAF-A410-8F45E33A9AF1}"/>
              </a:ext>
            </a:extLst>
          </p:cNvPr>
          <p:cNvSpPr txBox="1"/>
          <p:nvPr/>
        </p:nvSpPr>
        <p:spPr>
          <a:xfrm>
            <a:off x="4907280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Dining Philosophers Problem</a:t>
            </a:r>
          </a:p>
        </p:txBody>
      </p:sp>
    </p:spTree>
    <p:extLst>
      <p:ext uri="{BB962C8B-B14F-4D97-AF65-F5344CB8AC3E}">
        <p14:creationId xmlns:p14="http://schemas.microsoft.com/office/powerpoint/2010/main" val="2934866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34530" y="1546791"/>
            <a:ext cx="1011155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err="1"/>
              <a:t>Scopul</a:t>
            </a:r>
            <a:r>
              <a:rPr lang="en-US" sz="2000" dirty="0"/>
              <a:t> </a:t>
            </a:r>
            <a:r>
              <a:rPr lang="en-US" sz="2000" dirty="0" err="1"/>
              <a:t>programarii</a:t>
            </a:r>
            <a:r>
              <a:rPr lang="en-US" sz="2000" dirty="0"/>
              <a:t> </a:t>
            </a:r>
            <a:r>
              <a:rPr lang="en-US" sz="2000" dirty="0" err="1"/>
              <a:t>concurente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de a </a:t>
            </a:r>
            <a:r>
              <a:rPr lang="en-US" sz="2000" dirty="0" err="1"/>
              <a:t>descrie</a:t>
            </a:r>
            <a:r>
              <a:rPr lang="en-US" sz="2000" dirty="0"/>
              <a:t> </a:t>
            </a:r>
            <a:r>
              <a:rPr lang="en-US" sz="2000" dirty="0" err="1"/>
              <a:t>programe</a:t>
            </a:r>
            <a:r>
              <a:rPr lang="en-US" sz="2000" dirty="0"/>
              <a:t> cu  </a:t>
            </a:r>
            <a:r>
              <a:rPr lang="en-US" sz="2000" dirty="0" err="1"/>
              <a:t>multe</a:t>
            </a:r>
            <a:r>
              <a:rPr lang="en-US" sz="2000" dirty="0"/>
              <a:t> </a:t>
            </a:r>
            <a:r>
              <a:rPr lang="en-US" sz="2000" dirty="0" err="1"/>
              <a:t>interactiuni</a:t>
            </a:r>
            <a:r>
              <a:rPr lang="en-US" sz="2000" dirty="0"/>
              <a:t>:</a:t>
            </a:r>
          </a:p>
          <a:p>
            <a:r>
              <a:rPr lang="en-US" sz="2000" dirty="0"/>
              <a:t>      </a:t>
            </a:r>
            <a:r>
              <a:rPr lang="en-US" sz="2000" dirty="0" err="1"/>
              <a:t>intre</a:t>
            </a:r>
            <a:r>
              <a:rPr lang="en-US" sz="2000" dirty="0"/>
              <a:t> </a:t>
            </a:r>
            <a:r>
              <a:rPr lang="en-US" sz="2000" dirty="0" err="1"/>
              <a:t>utilizatorii</a:t>
            </a:r>
            <a:r>
              <a:rPr lang="en-US" sz="2000" dirty="0"/>
              <a:t> </a:t>
            </a:r>
            <a:r>
              <a:rPr lang="en-US" sz="2000" dirty="0" err="1"/>
              <a:t>aceleiasi</a:t>
            </a:r>
            <a:r>
              <a:rPr lang="en-US" sz="2000" dirty="0"/>
              <a:t> </a:t>
            </a:r>
            <a:r>
              <a:rPr lang="en-US" sz="2000" dirty="0" err="1"/>
              <a:t>interfete</a:t>
            </a:r>
            <a:r>
              <a:rPr lang="en-US" sz="2000" dirty="0"/>
              <a:t>, </a:t>
            </a:r>
            <a:r>
              <a:rPr lang="en-US" sz="2000" dirty="0" err="1"/>
              <a:t>intre</a:t>
            </a:r>
            <a:r>
              <a:rPr lang="en-US" sz="2000" dirty="0"/>
              <a:t> </a:t>
            </a:r>
            <a:r>
              <a:rPr lang="en-US" sz="2000" dirty="0" err="1"/>
              <a:t>subsistemele</a:t>
            </a:r>
            <a:r>
              <a:rPr lang="en-US" sz="2000" dirty="0"/>
              <a:t> </a:t>
            </a:r>
            <a:r>
              <a:rPr lang="en-US" sz="2000" dirty="0" err="1"/>
              <a:t>aceluiasi</a:t>
            </a:r>
            <a:r>
              <a:rPr lang="en-US" sz="2000" dirty="0"/>
              <a:t> </a:t>
            </a:r>
            <a:r>
              <a:rPr lang="en-US" sz="2000" dirty="0" err="1"/>
              <a:t>sistem</a:t>
            </a:r>
            <a:r>
              <a:rPr lang="en-US" sz="2000" dirty="0"/>
              <a:t>, </a:t>
            </a:r>
            <a:r>
              <a:rPr lang="en-US" sz="2000" dirty="0" err="1"/>
              <a:t>intre</a:t>
            </a:r>
            <a:r>
              <a:rPr lang="en-US" sz="2000" dirty="0"/>
              <a:t> </a:t>
            </a:r>
            <a:r>
              <a:rPr lang="en-US" sz="2000" dirty="0" err="1"/>
              <a:t>sisteme</a:t>
            </a:r>
            <a:r>
              <a:rPr lang="en-US" sz="2000" dirty="0"/>
              <a:t> </a:t>
            </a:r>
            <a:r>
              <a:rPr lang="en-US" sz="2000" dirty="0" err="1"/>
              <a:t>diferite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Un </a:t>
            </a:r>
            <a:r>
              <a:rPr lang="en-US" sz="2000" dirty="0" err="1"/>
              <a:t>limbaj</a:t>
            </a:r>
            <a:r>
              <a:rPr lang="en-US" sz="2000" dirty="0"/>
              <a:t> de </a:t>
            </a:r>
            <a:r>
              <a:rPr lang="en-US" sz="2000" dirty="0" err="1"/>
              <a:t>programare</a:t>
            </a:r>
            <a:r>
              <a:rPr lang="en-US" sz="2000" dirty="0"/>
              <a:t> </a:t>
            </a:r>
            <a:r>
              <a:rPr lang="en-US" sz="2000" dirty="0" err="1"/>
              <a:t>concurent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un </a:t>
            </a:r>
            <a:r>
              <a:rPr lang="en-US" sz="2000" dirty="0" err="1"/>
              <a:t>limbaj</a:t>
            </a:r>
            <a:r>
              <a:rPr lang="en-US" sz="2000" dirty="0"/>
              <a:t> care </a:t>
            </a:r>
            <a:r>
              <a:rPr lang="en-US" sz="2000" dirty="0" err="1"/>
              <a:t>ofera</a:t>
            </a:r>
            <a:r>
              <a:rPr lang="en-US" sz="2000" dirty="0"/>
              <a:t> </a:t>
            </a:r>
            <a:r>
              <a:rPr lang="en-US" sz="2000" dirty="0" err="1"/>
              <a:t>constructii</a:t>
            </a:r>
            <a:r>
              <a:rPr lang="en-US" sz="2000" dirty="0"/>
              <a:t> </a:t>
            </a:r>
            <a:r>
              <a:rPr lang="en-US" sz="2000" dirty="0" err="1"/>
              <a:t>sintactice</a:t>
            </a:r>
            <a:r>
              <a:rPr lang="en-US" sz="2000" dirty="0"/>
              <a:t> </a:t>
            </a:r>
            <a:r>
              <a:rPr lang="en-US" sz="2000" dirty="0" err="1"/>
              <a:t>explicite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en-US" sz="2000" dirty="0" err="1"/>
              <a:t>prin</a:t>
            </a:r>
            <a:r>
              <a:rPr lang="en-US" sz="2000" dirty="0"/>
              <a:t>  care se pot </a:t>
            </a:r>
            <a:r>
              <a:rPr lang="en-US" sz="2000" dirty="0" err="1"/>
              <a:t>descrie</a:t>
            </a:r>
            <a:r>
              <a:rPr lang="en-US" sz="2000" dirty="0"/>
              <a:t> </a:t>
            </a:r>
            <a:r>
              <a:rPr lang="en-US" sz="2000" dirty="0" err="1"/>
              <a:t>aceste</a:t>
            </a:r>
            <a:r>
              <a:rPr lang="en-US" sz="2000" dirty="0"/>
              <a:t> </a:t>
            </a:r>
            <a:r>
              <a:rPr lang="en-US" sz="2000" dirty="0" err="1"/>
              <a:t>interactiuni</a:t>
            </a:r>
            <a:r>
              <a:rPr lang="en-US" sz="2000" dirty="0"/>
              <a:t>. 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Un program concurrent </a:t>
            </a:r>
            <a:r>
              <a:rPr lang="en-US" sz="2000" dirty="0" err="1"/>
              <a:t>este</a:t>
            </a:r>
            <a:r>
              <a:rPr lang="en-US" sz="2000" dirty="0"/>
              <a:t> un program </a:t>
            </a:r>
            <a:r>
              <a:rPr lang="en-US" sz="2000" dirty="0" err="1"/>
              <a:t>scris</a:t>
            </a:r>
            <a:r>
              <a:rPr lang="en-US" sz="2000" dirty="0"/>
              <a:t> </a:t>
            </a:r>
            <a:r>
              <a:rPr lang="en-US" sz="2000" dirty="0" err="1"/>
              <a:t>intr</a:t>
            </a:r>
            <a:r>
              <a:rPr lang="en-US" sz="2000" dirty="0"/>
              <a:t>-un </a:t>
            </a:r>
            <a:r>
              <a:rPr lang="en-US" sz="2000" dirty="0" err="1"/>
              <a:t>limbaj</a:t>
            </a:r>
            <a:r>
              <a:rPr lang="en-US" sz="2000" dirty="0"/>
              <a:t> de </a:t>
            </a:r>
            <a:r>
              <a:rPr lang="en-US" sz="2000" dirty="0" err="1"/>
              <a:t>programare</a:t>
            </a:r>
            <a:r>
              <a:rPr lang="en-US" sz="2000" dirty="0"/>
              <a:t> concurrent.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err="1"/>
              <a:t>Comportamentul</a:t>
            </a:r>
            <a:r>
              <a:rPr lang="en-US" sz="2000" dirty="0"/>
              <a:t> </a:t>
            </a:r>
            <a:r>
              <a:rPr lang="en-US" sz="2000" dirty="0" err="1"/>
              <a:t>unui</a:t>
            </a:r>
            <a:r>
              <a:rPr lang="en-US" sz="2000" dirty="0"/>
              <a:t> program </a:t>
            </a:r>
            <a:r>
              <a:rPr lang="en-US" sz="2000" dirty="0" err="1"/>
              <a:t>concurent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independent de </a:t>
            </a:r>
            <a:r>
              <a:rPr lang="en-US" sz="2000" dirty="0" err="1"/>
              <a:t>sistemul</a:t>
            </a:r>
            <a:r>
              <a:rPr lang="en-US" sz="2000" dirty="0"/>
              <a:t> de </a:t>
            </a:r>
            <a:r>
              <a:rPr lang="en-US" sz="2000" dirty="0" err="1"/>
              <a:t>operare</a:t>
            </a:r>
            <a:r>
              <a:rPr lang="en-US" sz="2000" dirty="0"/>
              <a:t>. </a:t>
            </a:r>
          </a:p>
          <a:p>
            <a:r>
              <a:rPr lang="en-US" sz="2000" dirty="0"/>
              <a:t>      </a:t>
            </a:r>
          </a:p>
          <a:p>
            <a:endParaRPr lang="en-US" sz="2000" dirty="0"/>
          </a:p>
          <a:p>
            <a:r>
              <a:rPr lang="en-US" sz="2000" dirty="0"/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4530" y="426308"/>
            <a:ext cx="26484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Limbaje</a:t>
            </a:r>
            <a:r>
              <a:rPr lang="en-US" sz="2400" dirty="0"/>
              <a:t> </a:t>
            </a:r>
            <a:r>
              <a:rPr lang="en-US" sz="2400" dirty="0" err="1"/>
              <a:t>concurente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34073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38516" y="1625080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Thread-</a:t>
            </a:r>
            <a:r>
              <a:rPr lang="en-US" sz="2400" dirty="0" err="1"/>
              <a:t>uri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 err="1"/>
              <a:t>memorie</a:t>
            </a:r>
            <a:r>
              <a:rPr lang="en-US" sz="2400" dirty="0"/>
              <a:t> </a:t>
            </a:r>
            <a:r>
              <a:rPr lang="en-US" sz="2400" dirty="0" err="1"/>
              <a:t>partajata</a:t>
            </a:r>
            <a:endParaRPr lang="en-US" sz="2400" dirty="0"/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Software Transactional Memory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err="1"/>
              <a:t>Modelul</a:t>
            </a:r>
            <a:r>
              <a:rPr lang="en-US" sz="2400" dirty="0"/>
              <a:t> cu </a:t>
            </a:r>
            <a:r>
              <a:rPr lang="en-US" sz="2400" dirty="0" err="1"/>
              <a:t>Actori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525163"/>
            <a:ext cx="51626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Metode</a:t>
            </a:r>
            <a:r>
              <a:rPr lang="en-US" sz="2400" dirty="0"/>
              <a:t> de </a:t>
            </a:r>
            <a:r>
              <a:rPr lang="en-US" sz="2400" dirty="0" err="1"/>
              <a:t>implementare</a:t>
            </a:r>
            <a:r>
              <a:rPr lang="en-US" sz="2400" dirty="0"/>
              <a:t> a </a:t>
            </a:r>
            <a:r>
              <a:rPr lang="en-US" sz="2400" dirty="0" err="1"/>
              <a:t>concurentei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2613528" y="4170406"/>
            <a:ext cx="62129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In </a:t>
            </a:r>
            <a:r>
              <a:rPr lang="en-US" sz="2400" dirty="0" err="1">
                <a:solidFill>
                  <a:srgbClr val="0070C0"/>
                </a:solidFill>
              </a:rPr>
              <a:t>acest</a:t>
            </a:r>
            <a:r>
              <a:rPr lang="en-US" sz="2400" dirty="0">
                <a:solidFill>
                  <a:srgbClr val="0070C0"/>
                </a:solidFill>
              </a:rPr>
              <a:t> curs </a:t>
            </a:r>
            <a:r>
              <a:rPr lang="en-US" sz="2400" dirty="0" err="1">
                <a:solidFill>
                  <a:srgbClr val="0070C0"/>
                </a:solidFill>
              </a:rPr>
              <a:t>vom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analiza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toate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aceste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metode</a:t>
            </a:r>
            <a:r>
              <a:rPr lang="en-US" sz="2400" dirty="0">
                <a:solidFill>
                  <a:srgbClr val="0070C0"/>
                </a:solidFill>
              </a:rPr>
              <a:t> 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4588" y="5399903"/>
            <a:ext cx="65389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Limbajele</a:t>
            </a:r>
            <a:r>
              <a:rPr lang="en-US" sz="2400" dirty="0"/>
              <a:t> </a:t>
            </a:r>
            <a:r>
              <a:rPr lang="en-US" sz="2400" dirty="0" err="1"/>
              <a:t>studiate</a:t>
            </a:r>
            <a:r>
              <a:rPr lang="en-US" sz="2400" dirty="0"/>
              <a:t> la curs:  Java, Go, Haskell, Erlang</a:t>
            </a:r>
          </a:p>
        </p:txBody>
      </p:sp>
    </p:spTree>
    <p:extLst>
      <p:ext uri="{BB962C8B-B14F-4D97-AF65-F5344CB8AC3E}">
        <p14:creationId xmlns:p14="http://schemas.microsoft.com/office/powerpoint/2010/main" val="2149299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33589" y="858070"/>
            <a:ext cx="6096000" cy="517064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Un </a:t>
            </a:r>
            <a:r>
              <a:rPr lang="en-US" sz="2400" b="1" dirty="0"/>
              <a:t>thread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o </a:t>
            </a:r>
            <a:r>
              <a:rPr lang="en-US" sz="2400" dirty="0" err="1"/>
              <a:t>secventa</a:t>
            </a:r>
            <a:r>
              <a:rPr lang="en-US" sz="2400" dirty="0"/>
              <a:t> de </a:t>
            </a:r>
            <a:r>
              <a:rPr lang="en-US" sz="2400" dirty="0" err="1"/>
              <a:t>instructiuni</a:t>
            </a:r>
            <a:r>
              <a:rPr lang="en-US" sz="2400" dirty="0"/>
              <a:t> in </a:t>
            </a:r>
            <a:r>
              <a:rPr lang="en-US" sz="2400" dirty="0" err="1"/>
              <a:t>interiorul</a:t>
            </a:r>
            <a:r>
              <a:rPr lang="en-US" sz="2400" dirty="0"/>
              <a:t> </a:t>
            </a:r>
            <a:r>
              <a:rPr lang="en-US" sz="2400" dirty="0" err="1"/>
              <a:t>unei</a:t>
            </a:r>
            <a:r>
              <a:rPr lang="en-US" sz="2400" dirty="0"/>
              <a:t> </a:t>
            </a:r>
            <a:r>
              <a:rPr lang="en-US" sz="2400" dirty="0" err="1"/>
              <a:t>aplicatii</a:t>
            </a:r>
            <a:r>
              <a:rPr lang="en-US" sz="2400" dirty="0"/>
              <a:t>/</a:t>
            </a:r>
            <a:r>
              <a:rPr lang="en-US" sz="2400" dirty="0" err="1"/>
              <a:t>unui</a:t>
            </a:r>
            <a:r>
              <a:rPr lang="en-US" sz="2400" dirty="0"/>
              <a:t> </a:t>
            </a:r>
            <a:r>
              <a:rPr lang="en-US" sz="2400" dirty="0" err="1"/>
              <a:t>proces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O </a:t>
            </a:r>
            <a:r>
              <a:rPr lang="en-US" sz="2400" dirty="0" err="1"/>
              <a:t>aplicatie</a:t>
            </a:r>
            <a:r>
              <a:rPr lang="en-US" sz="2400" dirty="0"/>
              <a:t> </a:t>
            </a:r>
            <a:r>
              <a:rPr lang="en-US" sz="2400" dirty="0" err="1"/>
              <a:t>poate</a:t>
            </a:r>
            <a:r>
              <a:rPr lang="en-US" sz="2400" dirty="0"/>
              <a:t> </a:t>
            </a:r>
            <a:r>
              <a:rPr lang="en-US" sz="2400" dirty="0" err="1"/>
              <a:t>contine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multe</a:t>
            </a:r>
            <a:r>
              <a:rPr lang="en-US" sz="2400" dirty="0"/>
              <a:t> thread-</a:t>
            </a:r>
            <a:r>
              <a:rPr lang="en-US" sz="2400" dirty="0" err="1"/>
              <a:t>uri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 err="1"/>
              <a:t>Threadurile</a:t>
            </a:r>
            <a:r>
              <a:rPr lang="en-US" sz="2400" dirty="0"/>
              <a:t> pot fi </a:t>
            </a:r>
            <a:r>
              <a:rPr lang="en-US" sz="2400" dirty="0" err="1"/>
              <a:t>executate</a:t>
            </a:r>
            <a:r>
              <a:rPr lang="en-US" sz="2400" dirty="0"/>
              <a:t> in parallel, </a:t>
            </a:r>
            <a:r>
              <a:rPr lang="en-US" sz="2400" dirty="0" err="1"/>
              <a:t>dar</a:t>
            </a:r>
            <a:r>
              <a:rPr lang="en-US" sz="2400" dirty="0"/>
              <a:t> in </a:t>
            </a:r>
            <a:r>
              <a:rPr lang="en-US" sz="2400" dirty="0" err="1"/>
              <a:t>interiorul</a:t>
            </a:r>
            <a:r>
              <a:rPr lang="en-US" sz="2400" dirty="0"/>
              <a:t> </a:t>
            </a:r>
            <a:r>
              <a:rPr lang="en-US" sz="2400" dirty="0" err="1"/>
              <a:t>fiecarui</a:t>
            </a:r>
            <a:r>
              <a:rPr lang="en-US" sz="2400" dirty="0"/>
              <a:t>  thread </a:t>
            </a:r>
            <a:r>
              <a:rPr lang="en-US" sz="2400" dirty="0" err="1"/>
              <a:t>operatiile</a:t>
            </a:r>
            <a:r>
              <a:rPr lang="en-US" sz="2400" dirty="0"/>
              <a:t> </a:t>
            </a:r>
            <a:r>
              <a:rPr lang="en-US" sz="2400" dirty="0" err="1"/>
              <a:t>sunt</a:t>
            </a:r>
            <a:r>
              <a:rPr lang="en-US" sz="2400" dirty="0"/>
              <a:t> </a:t>
            </a:r>
            <a:r>
              <a:rPr lang="en-US" sz="2400" dirty="0" err="1"/>
              <a:t>secventiale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Thread-</a:t>
            </a:r>
            <a:r>
              <a:rPr lang="en-US" sz="2400" dirty="0" err="1"/>
              <a:t>urile</a:t>
            </a:r>
            <a:r>
              <a:rPr lang="en-US" sz="2400" dirty="0"/>
              <a:t> </a:t>
            </a:r>
            <a:r>
              <a:rPr lang="en-US" sz="2400" dirty="0" err="1"/>
              <a:t>isi</a:t>
            </a:r>
            <a:r>
              <a:rPr lang="en-US" sz="2400" dirty="0"/>
              <a:t> impart </a:t>
            </a:r>
            <a:r>
              <a:rPr lang="en-US" sz="2400" dirty="0" err="1"/>
              <a:t>resursele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 err="1"/>
              <a:t>comunica</a:t>
            </a:r>
            <a:r>
              <a:rPr lang="en-US" sz="2400" dirty="0"/>
              <a:t> </a:t>
            </a:r>
            <a:r>
              <a:rPr lang="en-US" sz="2400" dirty="0" err="1"/>
              <a:t>intre</a:t>
            </a:r>
            <a:r>
              <a:rPr lang="en-US" sz="2400" dirty="0"/>
              <a:t> </a:t>
            </a:r>
            <a:r>
              <a:rPr lang="en-US" sz="2400" dirty="0" err="1"/>
              <a:t>ele</a:t>
            </a:r>
            <a:r>
              <a:rPr lang="en-US" sz="2400" dirty="0"/>
              <a:t>.  </a:t>
            </a:r>
          </a:p>
          <a:p>
            <a:endParaRPr lang="en-US" sz="2400" dirty="0"/>
          </a:p>
          <a:p>
            <a:r>
              <a:rPr lang="en-US" sz="2400" dirty="0" err="1"/>
              <a:t>Comunicarea</a:t>
            </a:r>
            <a:r>
              <a:rPr lang="en-US" sz="2400" dirty="0"/>
              <a:t> </a:t>
            </a:r>
            <a:r>
              <a:rPr lang="en-US" sz="2400" dirty="0" err="1"/>
              <a:t>pote</a:t>
            </a:r>
            <a:r>
              <a:rPr lang="en-US" sz="2400" dirty="0"/>
              <a:t> fi </a:t>
            </a:r>
            <a:r>
              <a:rPr lang="en-US" sz="2400" dirty="0" err="1"/>
              <a:t>sincrona</a:t>
            </a:r>
            <a:r>
              <a:rPr lang="en-US" sz="2400" dirty="0"/>
              <a:t>  </a:t>
            </a:r>
            <a:r>
              <a:rPr lang="en-US" sz="2400" dirty="0" err="1"/>
              <a:t>sau</a:t>
            </a:r>
            <a:r>
              <a:rPr lang="en-US" sz="2400" dirty="0"/>
              <a:t> </a:t>
            </a:r>
            <a:r>
              <a:rPr lang="en-US" sz="2400" dirty="0" err="1"/>
              <a:t>asincrona</a:t>
            </a:r>
            <a:r>
              <a:rPr lang="en-US" sz="2400" dirty="0"/>
              <a:t>.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08338" y="154546"/>
            <a:ext cx="20025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Thread-</a:t>
            </a:r>
            <a:r>
              <a:rPr lang="en-US" sz="2800" dirty="0" err="1"/>
              <a:t>uri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7624293" y="677766"/>
            <a:ext cx="1688924" cy="22467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 err="1"/>
              <a:t>Probleme</a:t>
            </a:r>
            <a:r>
              <a:rPr lang="en-US" sz="2800" dirty="0"/>
              <a:t>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Deadlock</a:t>
            </a:r>
          </a:p>
          <a:p>
            <a:r>
              <a:rPr lang="en-US" sz="2800" dirty="0">
                <a:solidFill>
                  <a:srgbClr val="FF0000"/>
                </a:solidFill>
              </a:rPr>
              <a:t>Date Race</a:t>
            </a:r>
          </a:p>
          <a:p>
            <a:r>
              <a:rPr lang="en-US" sz="2800" dirty="0">
                <a:solidFill>
                  <a:srgbClr val="FF0000"/>
                </a:solidFill>
              </a:rPr>
              <a:t>Starvation</a:t>
            </a:r>
          </a:p>
          <a:p>
            <a:r>
              <a:rPr lang="en-US" sz="2800" dirty="0" err="1">
                <a:solidFill>
                  <a:srgbClr val="FF0000"/>
                </a:solidFill>
              </a:rPr>
              <a:t>Livelock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2566" y="3644721"/>
            <a:ext cx="3984074" cy="193899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err="1"/>
              <a:t>Metode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controlul</a:t>
            </a:r>
            <a:r>
              <a:rPr lang="en-US" sz="2400" dirty="0"/>
              <a:t> </a:t>
            </a:r>
          </a:p>
          <a:p>
            <a:r>
              <a:rPr lang="en-US" sz="2400" dirty="0" err="1"/>
              <a:t>accesului</a:t>
            </a:r>
            <a:r>
              <a:rPr lang="en-US" sz="2400" dirty="0"/>
              <a:t> la </a:t>
            </a:r>
            <a:r>
              <a:rPr lang="en-US" sz="2400" dirty="0" err="1"/>
              <a:t>resurse</a:t>
            </a:r>
            <a:r>
              <a:rPr lang="en-US" sz="2400" dirty="0"/>
              <a:t>: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 err="1">
                <a:solidFill>
                  <a:srgbClr val="0070C0"/>
                </a:solidFill>
              </a:rPr>
              <a:t>sincronizare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 err="1">
                <a:solidFill>
                  <a:srgbClr val="0070C0"/>
                </a:solidFill>
              </a:rPr>
              <a:t>Semafoare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 err="1">
                <a:solidFill>
                  <a:srgbClr val="0070C0"/>
                </a:solidFill>
              </a:rPr>
              <a:t>Monitore</a:t>
            </a:r>
            <a:endParaRPr lang="en-US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190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589003" y="3144776"/>
            <a:ext cx="487947" cy="5060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267" y="2924525"/>
            <a:ext cx="73417" cy="11104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5011" y="988058"/>
            <a:ext cx="76779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Data Race =  </a:t>
            </a:r>
            <a:r>
              <a:rPr lang="en-US" sz="2000" dirty="0" err="1"/>
              <a:t>apare</a:t>
            </a:r>
            <a:r>
              <a:rPr lang="en-US" sz="2000" dirty="0"/>
              <a:t> </a:t>
            </a:r>
            <a:r>
              <a:rPr lang="en-US" sz="2000" dirty="0" err="1"/>
              <a:t>cand</a:t>
            </a:r>
            <a:r>
              <a:rPr lang="en-US" sz="2000" dirty="0"/>
              <a:t> </a:t>
            </a:r>
            <a:r>
              <a:rPr lang="en-US" sz="2000" dirty="0" err="1"/>
              <a:t>mai</a:t>
            </a:r>
            <a:r>
              <a:rPr lang="en-US" sz="2000" dirty="0"/>
              <a:t> </a:t>
            </a:r>
            <a:r>
              <a:rPr lang="en-US" sz="2000" dirty="0" err="1"/>
              <a:t>multe</a:t>
            </a:r>
            <a:r>
              <a:rPr lang="en-US" sz="2000" dirty="0"/>
              <a:t> </a:t>
            </a:r>
            <a:r>
              <a:rPr lang="en-US" sz="2000" dirty="0" err="1"/>
              <a:t>threaduri</a:t>
            </a:r>
            <a:r>
              <a:rPr lang="en-US" sz="2000" dirty="0"/>
              <a:t> </a:t>
            </a:r>
            <a:r>
              <a:rPr lang="en-US" sz="2000" dirty="0" err="1"/>
              <a:t>acceseaza</a:t>
            </a:r>
            <a:r>
              <a:rPr lang="en-US" sz="2000" dirty="0"/>
              <a:t> concurrent             	               </a:t>
            </a:r>
            <a:r>
              <a:rPr lang="en-US" sz="2000" dirty="0" err="1"/>
              <a:t>aceeasi</a:t>
            </a:r>
            <a:r>
              <a:rPr lang="en-US" sz="2000" dirty="0"/>
              <a:t> </a:t>
            </a:r>
            <a:r>
              <a:rPr lang="en-US" sz="2000" dirty="0" err="1"/>
              <a:t>locatie</a:t>
            </a:r>
            <a:r>
              <a:rPr lang="en-US" sz="2000" dirty="0"/>
              <a:t> de </a:t>
            </a:r>
            <a:r>
              <a:rPr lang="en-US" sz="2000" dirty="0" err="1"/>
              <a:t>memorie</a:t>
            </a:r>
            <a:r>
              <a:rPr lang="en-US" sz="2000" dirty="0"/>
              <a:t> </a:t>
            </a:r>
            <a:r>
              <a:rPr lang="en-US" sz="2000" dirty="0" err="1"/>
              <a:t>fara</a:t>
            </a:r>
            <a:r>
              <a:rPr lang="en-US" sz="2000" dirty="0"/>
              <a:t> </a:t>
            </a:r>
            <a:r>
              <a:rPr lang="en-US" sz="2000" dirty="0" err="1"/>
              <a:t>mecanisme</a:t>
            </a:r>
            <a:r>
              <a:rPr lang="en-US" sz="2000" dirty="0"/>
              <a:t> de </a:t>
            </a:r>
            <a:r>
              <a:rPr lang="en-US" sz="2000" dirty="0" err="1"/>
              <a:t>sincronizare</a:t>
            </a:r>
            <a:r>
              <a:rPr lang="en-US" sz="2000" dirty="0"/>
              <a:t>            	               </a:t>
            </a:r>
            <a:r>
              <a:rPr lang="en-US" sz="2000" dirty="0" err="1"/>
              <a:t>adecvate</a:t>
            </a:r>
            <a:r>
              <a:rPr lang="en-US" sz="2000" dirty="0"/>
              <a:t>; </a:t>
            </a:r>
            <a:r>
              <a:rPr lang="en-US" sz="2000" dirty="0" err="1"/>
              <a:t>codul</a:t>
            </a:r>
            <a:r>
              <a:rPr lang="en-US" sz="2000" dirty="0"/>
              <a:t> </a:t>
            </a:r>
            <a:r>
              <a:rPr lang="en-US" sz="2000" dirty="0" err="1"/>
              <a:t>poate</a:t>
            </a:r>
            <a:r>
              <a:rPr lang="en-US" sz="2000" dirty="0"/>
              <a:t> </a:t>
            </a:r>
            <a:r>
              <a:rPr lang="en-US" sz="2000" dirty="0" err="1"/>
              <a:t>functiona</a:t>
            </a:r>
            <a:r>
              <a:rPr lang="en-US" sz="2000" dirty="0"/>
              <a:t> </a:t>
            </a:r>
            <a:r>
              <a:rPr lang="en-US" sz="2000" dirty="0" err="1"/>
              <a:t>corect</a:t>
            </a:r>
            <a:r>
              <a:rPr lang="en-US" sz="2000" dirty="0"/>
              <a:t> in </a:t>
            </a:r>
            <a:r>
              <a:rPr lang="en-US" sz="2000" dirty="0" err="1"/>
              <a:t>unele</a:t>
            </a:r>
            <a:r>
              <a:rPr lang="en-US" sz="2000" dirty="0"/>
              <a:t> </a:t>
            </a:r>
            <a:r>
              <a:rPr lang="en-US" sz="2000" dirty="0" err="1"/>
              <a:t>situatii</a:t>
            </a:r>
            <a:r>
              <a:rPr lang="en-US" sz="2000" dirty="0"/>
              <a:t> </a:t>
            </a:r>
            <a:r>
              <a:rPr lang="en-US" sz="2000" dirty="0" err="1"/>
              <a:t>dar</a:t>
            </a:r>
            <a:r>
              <a:rPr lang="en-US" sz="2000" dirty="0"/>
              <a:t>  	               </a:t>
            </a:r>
            <a:r>
              <a:rPr lang="en-US" sz="2000" dirty="0" err="1"/>
              <a:t>eronat</a:t>
            </a:r>
            <a:r>
              <a:rPr lang="en-US" sz="2000" dirty="0"/>
              <a:t> in </a:t>
            </a:r>
            <a:r>
              <a:rPr lang="en-US" sz="2000" dirty="0" err="1"/>
              <a:t>altele</a:t>
            </a:r>
            <a:r>
              <a:rPr lang="en-US" sz="2000" dirty="0"/>
              <a:t>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5011" y="3125801"/>
            <a:ext cx="70962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Deadlock = </a:t>
            </a:r>
            <a:r>
              <a:rPr lang="en-US" sz="2000" dirty="0" err="1"/>
              <a:t>apare</a:t>
            </a:r>
            <a:r>
              <a:rPr lang="en-US" sz="2000" dirty="0"/>
              <a:t> </a:t>
            </a:r>
            <a:r>
              <a:rPr lang="en-US" sz="2000" dirty="0" err="1"/>
              <a:t>cand</a:t>
            </a:r>
            <a:r>
              <a:rPr lang="en-US" sz="2000" dirty="0"/>
              <a:t> </a:t>
            </a:r>
            <a:r>
              <a:rPr lang="en-US" sz="2000" dirty="0" err="1"/>
              <a:t>doua</a:t>
            </a:r>
            <a:r>
              <a:rPr lang="en-US" sz="2000" dirty="0"/>
              <a:t> </a:t>
            </a:r>
            <a:r>
              <a:rPr lang="en-US" sz="2000" dirty="0" err="1"/>
              <a:t>sau</a:t>
            </a:r>
            <a:r>
              <a:rPr lang="en-US" sz="2000" dirty="0"/>
              <a:t> </a:t>
            </a:r>
            <a:r>
              <a:rPr lang="en-US" sz="2000" dirty="0" err="1"/>
              <a:t>mai</a:t>
            </a:r>
            <a:r>
              <a:rPr lang="en-US" sz="2000" dirty="0"/>
              <a:t> </a:t>
            </a:r>
            <a:r>
              <a:rPr lang="en-US" sz="2000" dirty="0" err="1"/>
              <a:t>multe</a:t>
            </a:r>
            <a:r>
              <a:rPr lang="en-US" sz="2000" dirty="0"/>
              <a:t> </a:t>
            </a:r>
            <a:r>
              <a:rPr lang="en-US" sz="2000" dirty="0" err="1"/>
              <a:t>threaduri</a:t>
            </a:r>
            <a:r>
              <a:rPr lang="en-US" sz="2000" dirty="0"/>
              <a:t> se </a:t>
            </a:r>
            <a:r>
              <a:rPr lang="en-US" sz="2000" dirty="0" err="1"/>
              <a:t>asteapta</a:t>
            </a:r>
            <a:endParaRPr lang="en-US" sz="2000" dirty="0"/>
          </a:p>
          <a:p>
            <a:r>
              <a:rPr lang="en-US" sz="2000" dirty="0"/>
              <a:t>                     </a:t>
            </a:r>
            <a:r>
              <a:rPr lang="en-US" sz="2000" dirty="0" err="1"/>
              <a:t>unul</a:t>
            </a:r>
            <a:r>
              <a:rPr lang="en-US" sz="2000" dirty="0"/>
              <a:t> </a:t>
            </a:r>
            <a:r>
              <a:rPr lang="en-US" sz="2000" dirty="0" err="1"/>
              <a:t>pe</a:t>
            </a:r>
            <a:r>
              <a:rPr lang="en-US" sz="2000" dirty="0"/>
              <a:t> </a:t>
            </a:r>
            <a:r>
              <a:rPr lang="en-US" sz="2000" dirty="0" err="1"/>
              <a:t>celalalt</a:t>
            </a:r>
            <a:r>
              <a:rPr lang="en-US" sz="2000" dirty="0"/>
              <a:t> </a:t>
            </a:r>
            <a:r>
              <a:rPr lang="en-US" sz="2000" dirty="0" err="1"/>
              <a:t>pentru</a:t>
            </a:r>
            <a:r>
              <a:rPr lang="en-US" sz="2000" dirty="0"/>
              <a:t> a </a:t>
            </a:r>
            <a:r>
              <a:rPr lang="en-US" sz="2000" dirty="0" err="1"/>
              <a:t>elibera</a:t>
            </a:r>
            <a:r>
              <a:rPr lang="en-US" sz="2000" dirty="0"/>
              <a:t> </a:t>
            </a:r>
            <a:r>
              <a:rPr lang="en-US" sz="2000" dirty="0" err="1"/>
              <a:t>accesul</a:t>
            </a:r>
            <a:r>
              <a:rPr lang="en-US" sz="2000" dirty="0"/>
              <a:t> la </a:t>
            </a:r>
            <a:r>
              <a:rPr lang="en-US" sz="2000" dirty="0" err="1"/>
              <a:t>resurse</a:t>
            </a:r>
            <a:r>
              <a:rPr lang="en-US" sz="2000" dirty="0"/>
              <a:t> </a:t>
            </a:r>
          </a:p>
        </p:txBody>
      </p:sp>
      <p:sp>
        <p:nvSpPr>
          <p:cNvPr id="6" name="Oval 5"/>
          <p:cNvSpPr/>
          <p:nvPr/>
        </p:nvSpPr>
        <p:spPr>
          <a:xfrm>
            <a:off x="9374216" y="3099070"/>
            <a:ext cx="546273" cy="5442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7049" y="2837518"/>
            <a:ext cx="45719" cy="11104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1911" y="4546503"/>
            <a:ext cx="78940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Starvation = </a:t>
            </a:r>
            <a:r>
              <a:rPr lang="en-US" sz="2000" dirty="0" err="1"/>
              <a:t>apare</a:t>
            </a:r>
            <a:r>
              <a:rPr lang="en-US" sz="2000" dirty="0"/>
              <a:t> </a:t>
            </a:r>
            <a:r>
              <a:rPr lang="en-US" sz="2000" dirty="0" err="1"/>
              <a:t>cand</a:t>
            </a:r>
            <a:r>
              <a:rPr lang="en-US" sz="2000" dirty="0"/>
              <a:t> </a:t>
            </a:r>
            <a:r>
              <a:rPr lang="en-US" sz="2000" dirty="0" err="1"/>
              <a:t>unui</a:t>
            </a:r>
            <a:r>
              <a:rPr lang="en-US" sz="2000" dirty="0"/>
              <a:t> thread </a:t>
            </a:r>
            <a:r>
              <a:rPr lang="en-US" sz="2000" dirty="0" err="1"/>
              <a:t>i</a:t>
            </a:r>
            <a:r>
              <a:rPr lang="en-US" sz="2000" dirty="0"/>
              <a:t> se </a:t>
            </a:r>
            <a:r>
              <a:rPr lang="en-US" sz="2000" dirty="0" err="1"/>
              <a:t>refuza</a:t>
            </a:r>
            <a:r>
              <a:rPr lang="en-US" sz="2000" dirty="0"/>
              <a:t> </a:t>
            </a:r>
            <a:r>
              <a:rPr lang="en-US" sz="2000" dirty="0" err="1"/>
              <a:t>continuu</a:t>
            </a:r>
            <a:r>
              <a:rPr lang="en-US" sz="2000" dirty="0"/>
              <a:t> </a:t>
            </a:r>
            <a:r>
              <a:rPr lang="en-US" sz="2000" dirty="0" err="1"/>
              <a:t>accesul</a:t>
            </a:r>
            <a:r>
              <a:rPr lang="en-US" sz="2000" dirty="0"/>
              <a:t> la </a:t>
            </a:r>
            <a:r>
              <a:rPr lang="en-US" sz="2000" dirty="0" err="1"/>
              <a:t>resurse</a:t>
            </a:r>
            <a:endParaRPr lang="en-US" sz="2000" dirty="0"/>
          </a:p>
        </p:txBody>
      </p:sp>
      <p:sp>
        <p:nvSpPr>
          <p:cNvPr id="9" name="Oval 8"/>
          <p:cNvSpPr/>
          <p:nvPr/>
        </p:nvSpPr>
        <p:spPr>
          <a:xfrm>
            <a:off x="8605764" y="4487517"/>
            <a:ext cx="546273" cy="5442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9363912" y="4497344"/>
            <a:ext cx="546273" cy="5442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861" y="4259322"/>
            <a:ext cx="73417" cy="111043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3643" y="4285386"/>
            <a:ext cx="73417" cy="111043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1947" y="3479744"/>
            <a:ext cx="1502720" cy="13357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4" name="TextBox 13"/>
          <p:cNvSpPr txBox="1"/>
          <p:nvPr/>
        </p:nvSpPr>
        <p:spPr>
          <a:xfrm>
            <a:off x="10351687" y="2837518"/>
            <a:ext cx="1613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Dining Philosophers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75" y="349777"/>
            <a:ext cx="3186876" cy="17904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5" name="TextBox 14"/>
          <p:cNvSpPr txBox="1"/>
          <p:nvPr/>
        </p:nvSpPr>
        <p:spPr>
          <a:xfrm>
            <a:off x="415011" y="5407727"/>
            <a:ext cx="98366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Livelock</a:t>
            </a:r>
            <a:r>
              <a:rPr lang="en-US" sz="2000" dirty="0"/>
              <a:t>  = </a:t>
            </a:r>
            <a:r>
              <a:rPr lang="en-US" sz="2000" dirty="0" err="1"/>
              <a:t>apare</a:t>
            </a:r>
            <a:r>
              <a:rPr lang="en-US" sz="2000" dirty="0"/>
              <a:t> </a:t>
            </a:r>
            <a:r>
              <a:rPr lang="en-US" sz="2000" dirty="0" err="1"/>
              <a:t>cand</a:t>
            </a:r>
            <a:r>
              <a:rPr lang="en-US" sz="2000" dirty="0"/>
              <a:t> </a:t>
            </a:r>
            <a:r>
              <a:rPr lang="en-US" sz="2000" dirty="0" err="1"/>
              <a:t>doua</a:t>
            </a:r>
            <a:r>
              <a:rPr lang="en-US" sz="2000" dirty="0"/>
              <a:t> </a:t>
            </a:r>
            <a:r>
              <a:rPr lang="en-US" sz="2000" dirty="0" err="1"/>
              <a:t>sau</a:t>
            </a:r>
            <a:r>
              <a:rPr lang="en-US" sz="2000" dirty="0"/>
              <a:t> </a:t>
            </a:r>
            <a:r>
              <a:rPr lang="en-US" sz="2000" dirty="0" err="1"/>
              <a:t>mai</a:t>
            </a:r>
            <a:r>
              <a:rPr lang="en-US" sz="2000" dirty="0"/>
              <a:t> </a:t>
            </a:r>
            <a:r>
              <a:rPr lang="en-US" sz="2000" dirty="0" err="1"/>
              <a:t>multe</a:t>
            </a:r>
            <a:r>
              <a:rPr lang="en-US" sz="2000" dirty="0"/>
              <a:t> </a:t>
            </a:r>
            <a:r>
              <a:rPr lang="en-US" sz="2000" dirty="0" err="1"/>
              <a:t>threaduri</a:t>
            </a:r>
            <a:r>
              <a:rPr lang="en-US" sz="2000" dirty="0"/>
              <a:t> </a:t>
            </a:r>
            <a:r>
              <a:rPr lang="en-US" sz="2000" dirty="0" err="1"/>
              <a:t>actioneaza</a:t>
            </a:r>
            <a:r>
              <a:rPr lang="en-US" sz="2000" dirty="0"/>
              <a:t>, </a:t>
            </a:r>
            <a:r>
              <a:rPr lang="en-US" sz="2000" dirty="0" err="1"/>
              <a:t>blocandu</a:t>
            </a:r>
            <a:r>
              <a:rPr lang="en-US" sz="2000" dirty="0"/>
              <a:t>-se </a:t>
            </a:r>
            <a:r>
              <a:rPr lang="en-US" sz="2000" dirty="0" err="1"/>
              <a:t>unul</a:t>
            </a:r>
            <a:r>
              <a:rPr lang="en-US" sz="2000" dirty="0"/>
              <a:t> </a:t>
            </a:r>
            <a:r>
              <a:rPr lang="en-US" sz="2000" dirty="0" err="1"/>
              <a:t>pe</a:t>
            </a:r>
            <a:r>
              <a:rPr lang="en-US" sz="2000" dirty="0"/>
              <a:t> </a:t>
            </a:r>
            <a:r>
              <a:rPr lang="en-US" sz="2000" dirty="0" err="1"/>
              <a:t>celalalt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142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029" y="1507686"/>
            <a:ext cx="2836762" cy="349680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6966" y="903647"/>
            <a:ext cx="6096000" cy="523220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/>
              <a:t>"When you work with a computer, you can do several things at once. You can listen to music while you edit a document in a word processor and read your e-mails. This can be done because your operating system allows the concurrency of tasks. Concurrent programming is about the elements and mechanisms a platform offers to have multiple tasks or programs running at once and communicating with each other, to exchange data or to synchronize with each other. </a:t>
            </a:r>
            <a:r>
              <a:rPr lang="en-US" sz="2000" b="1" dirty="0"/>
              <a:t>Java is a concurrent platform</a:t>
            </a:r>
            <a:r>
              <a:rPr lang="en-US" sz="2000" dirty="0"/>
              <a:t>, and it offers a lot of classes to execute concurrent tasks inside a Java program. With each version, Java increases the functionalities offered to programmers to facilitate the development of concurrent programs."</a:t>
            </a:r>
          </a:p>
          <a:p>
            <a:endParaRPr lang="en-US" dirty="0"/>
          </a:p>
          <a:p>
            <a:r>
              <a:rPr lang="en-US" dirty="0"/>
              <a:t>Gonzalez, Javier Fernandez. Java 9 Concurrency Cookbook - Second Edition, </a:t>
            </a:r>
            <a:r>
              <a:rPr lang="en-US" dirty="0" err="1"/>
              <a:t>Packt</a:t>
            </a:r>
            <a:r>
              <a:rPr lang="en-US" dirty="0"/>
              <a:t> Publishing. 2017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6966" y="240957"/>
            <a:ext cx="3169907" cy="369332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Thread-</a:t>
            </a:r>
            <a:r>
              <a:rPr lang="en-US" dirty="0" err="1">
                <a:solidFill>
                  <a:srgbClr val="FF0000"/>
                </a:solidFill>
              </a:rPr>
              <a:t>uri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memorie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partajata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301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73110" y="3610445"/>
            <a:ext cx="3200400" cy="2286000"/>
          </a:xfrm>
        </p:spPr>
        <p:txBody>
          <a:bodyPr>
            <a:normAutofit fontScale="90000"/>
          </a:bodyPr>
          <a:lstStyle/>
          <a:p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endParaRPr lang="en-US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4932608" y="865395"/>
            <a:ext cx="5274221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000000"/>
                </a:solidFill>
              </a:rPr>
              <a:t>Tratarea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concurentei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este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ingreunata</a:t>
            </a:r>
            <a:r>
              <a:rPr lang="en-US" sz="2400" dirty="0">
                <a:solidFill>
                  <a:srgbClr val="000000"/>
                </a:solidFill>
              </a:rPr>
              <a:t> 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   </a:t>
            </a:r>
            <a:r>
              <a:rPr lang="en-US" sz="2400" dirty="0" err="1">
                <a:solidFill>
                  <a:srgbClr val="000000"/>
                </a:solidFill>
              </a:rPr>
              <a:t>sincronizarea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accesului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resurse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   </a:t>
            </a:r>
            <a:r>
              <a:rPr lang="en-US" sz="2400" dirty="0" err="1">
                <a:solidFill>
                  <a:srgbClr val="000000"/>
                </a:solidFill>
              </a:rPr>
              <a:t>efectele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laterale</a:t>
            </a:r>
            <a:endParaRPr lang="en-US" sz="240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   </a:t>
            </a:r>
            <a:r>
              <a:rPr lang="en-US" sz="2400" dirty="0" err="1">
                <a:solidFill>
                  <a:srgbClr val="000000"/>
                </a:solidFill>
              </a:rPr>
              <a:t>nedeterminism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12836" y="3442766"/>
            <a:ext cx="6947608" cy="2308324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In </a:t>
            </a:r>
            <a:r>
              <a:rPr lang="en-US" sz="2400" dirty="0" err="1">
                <a:solidFill>
                  <a:srgbClr val="000000"/>
                </a:solidFill>
                <a:hlinkClick r:id="rId2"/>
              </a:rPr>
              <a:t>programarea</a:t>
            </a:r>
            <a:r>
              <a:rPr lang="en-US" sz="2400" dirty="0">
                <a:solidFill>
                  <a:srgbClr val="000000"/>
                </a:solidFill>
                <a:hlinkClick r:id="rId2"/>
              </a:rPr>
              <a:t> </a:t>
            </a:r>
            <a:r>
              <a:rPr lang="en-US" sz="2400" dirty="0" err="1">
                <a:solidFill>
                  <a:srgbClr val="000000"/>
                </a:solidFill>
                <a:hlinkClick r:id="rId2"/>
              </a:rPr>
              <a:t>functionala</a:t>
            </a:r>
            <a:r>
              <a:rPr lang="en-US" sz="2400" dirty="0">
                <a:solidFill>
                  <a:srgbClr val="000000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datele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sunt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imuabile</a:t>
            </a:r>
            <a:endParaRPr lang="en-US" sz="240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 o </a:t>
            </a:r>
            <a:r>
              <a:rPr lang="en-US" sz="2400" dirty="0" err="1">
                <a:solidFill>
                  <a:srgbClr val="000000"/>
                </a:solidFill>
              </a:rPr>
              <a:t>expresie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poate</a:t>
            </a:r>
            <a:r>
              <a:rPr lang="en-US" sz="2400" dirty="0">
                <a:solidFill>
                  <a:srgbClr val="000000"/>
                </a:solidFill>
              </a:rPr>
              <a:t> fi </a:t>
            </a:r>
            <a:r>
              <a:rPr lang="en-US" sz="2400" dirty="0" err="1">
                <a:solidFill>
                  <a:srgbClr val="000000"/>
                </a:solidFill>
              </a:rPr>
              <a:t>inlocuita</a:t>
            </a:r>
            <a:r>
              <a:rPr lang="en-US" sz="2400" dirty="0">
                <a:solidFill>
                  <a:srgbClr val="000000"/>
                </a:solidFill>
              </a:rPr>
              <a:t> cu </a:t>
            </a:r>
            <a:r>
              <a:rPr lang="en-US" sz="2400" dirty="0" err="1">
                <a:solidFill>
                  <a:srgbClr val="000000"/>
                </a:solidFill>
              </a:rPr>
              <a:t>valoarea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ei</a:t>
            </a:r>
            <a:endParaRPr lang="en-US" sz="24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functiile</a:t>
            </a:r>
            <a:r>
              <a:rPr lang="en-US" sz="2400" dirty="0">
                <a:solidFill>
                  <a:srgbClr val="000000"/>
                </a:solidFill>
              </a:rPr>
              <a:t> nu au </a:t>
            </a:r>
            <a:r>
              <a:rPr lang="en-US" sz="2400" dirty="0" err="1">
                <a:solidFill>
                  <a:srgbClr val="000000"/>
                </a:solidFill>
              </a:rPr>
              <a:t>efecte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laterale</a:t>
            </a:r>
            <a:endParaRPr lang="en-US" sz="240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  </a:t>
            </a:r>
            <a:r>
              <a:rPr lang="en-US" sz="2400" dirty="0" err="1">
                <a:solidFill>
                  <a:srgbClr val="000000"/>
                </a:solidFill>
              </a:rPr>
              <a:t>valoarea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calculata</a:t>
            </a:r>
            <a:r>
              <a:rPr lang="en-US" sz="2400" dirty="0">
                <a:solidFill>
                  <a:srgbClr val="000000"/>
                </a:solidFill>
              </a:rPr>
              <a:t> de o </a:t>
            </a:r>
            <a:r>
              <a:rPr lang="en-US" sz="2400" dirty="0" err="1">
                <a:solidFill>
                  <a:srgbClr val="000000"/>
                </a:solidFill>
              </a:rPr>
              <a:t>functie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depinde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numai</a:t>
            </a:r>
            <a:r>
              <a:rPr lang="en-US" sz="2400" dirty="0">
                <a:solidFill>
                  <a:srgbClr val="000000"/>
                </a:solidFill>
              </a:rPr>
              <a:t> de </a:t>
            </a:r>
          </a:p>
          <a:p>
            <a:r>
              <a:rPr lang="en-US" sz="2400" dirty="0">
                <a:solidFill>
                  <a:srgbClr val="000000"/>
                </a:solidFill>
              </a:rPr>
              <a:t>      </a:t>
            </a:r>
            <a:r>
              <a:rPr lang="en-US" sz="2400" dirty="0" err="1">
                <a:solidFill>
                  <a:srgbClr val="000000"/>
                </a:solidFill>
              </a:rPr>
              <a:t>valorile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argumentelor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4248" y="865395"/>
            <a:ext cx="2433102" cy="156966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Atribuire</a:t>
            </a:r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(assignment) </a:t>
            </a:r>
          </a:p>
          <a:p>
            <a:r>
              <a:rPr lang="en-US" sz="3200" dirty="0">
                <a:solidFill>
                  <a:schemeClr val="bg1"/>
                </a:solidFill>
              </a:rPr>
              <a:t>x:= 2 +3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5159" y="3610445"/>
            <a:ext cx="2034862" cy="156966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Legatura</a:t>
            </a:r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(binding)</a:t>
            </a:r>
          </a:p>
          <a:p>
            <a:r>
              <a:rPr lang="en-US" sz="3200" dirty="0">
                <a:solidFill>
                  <a:schemeClr val="bg1"/>
                </a:solidFill>
              </a:rPr>
              <a:t>x= 2+3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5778" y="5974914"/>
            <a:ext cx="1374479" cy="369332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immutability</a:t>
            </a:r>
            <a:endParaRPr lang="ro-RO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855901" y="5974914"/>
            <a:ext cx="2517356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referential </a:t>
            </a:r>
            <a:r>
              <a:rPr lang="en-US" dirty="0" err="1">
                <a:solidFill>
                  <a:srgbClr val="0070C0"/>
                </a:solidFill>
              </a:rPr>
              <a:t>transparrency</a:t>
            </a:r>
            <a:endParaRPr lang="ro-RO" dirty="0">
              <a:solidFill>
                <a:srgbClr val="0070C0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6150279" y="5751090"/>
            <a:ext cx="137787" cy="223824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9419573" y="5751090"/>
            <a:ext cx="100208" cy="223824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5155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794" y="437257"/>
            <a:ext cx="4048095" cy="529788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53076" y="1472810"/>
            <a:ext cx="6096000" cy="44012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/>
              <a:t>"Haskell does not take a stance on which </a:t>
            </a:r>
          </a:p>
          <a:p>
            <a:r>
              <a:rPr lang="en-US" sz="2000" dirty="0"/>
              <a:t>concurrent programming model is best: </a:t>
            </a:r>
          </a:p>
          <a:p>
            <a:r>
              <a:rPr lang="en-US" sz="2000" b="1" dirty="0"/>
              <a:t>actors, shared memory, and transactions </a:t>
            </a:r>
            <a:r>
              <a:rPr lang="en-US" sz="2000" dirty="0"/>
              <a:t>are all supported, for example."</a:t>
            </a:r>
          </a:p>
          <a:p>
            <a:r>
              <a:rPr lang="en-US" sz="2000" dirty="0"/>
              <a:t> </a:t>
            </a:r>
          </a:p>
          <a:p>
            <a:r>
              <a:rPr lang="en-US" sz="2000" dirty="0"/>
              <a:t>"Haskell provides all of these concurrent programming models and more - but this flexibility is a double-edged sword. </a:t>
            </a:r>
          </a:p>
          <a:p>
            <a:endParaRPr lang="en-US" sz="2000" dirty="0"/>
          </a:p>
          <a:p>
            <a:r>
              <a:rPr lang="en-US" sz="2000" dirty="0"/>
              <a:t>The advantage is that you can choose from a wide range of tools and  pick the one best suited to the task at hand, </a:t>
            </a:r>
          </a:p>
          <a:p>
            <a:r>
              <a:rPr lang="en-US" sz="2000" dirty="0"/>
              <a:t>but the disadvantage is that it can be hard to decide </a:t>
            </a:r>
          </a:p>
          <a:p>
            <a:r>
              <a:rPr lang="en-US" sz="2000" dirty="0"/>
              <a:t>which tool is best for the job." </a:t>
            </a:r>
          </a:p>
          <a:p>
            <a:r>
              <a:rPr lang="en-US" sz="2000" i="1" dirty="0">
                <a:hlinkClick r:id="rId3"/>
              </a:rPr>
              <a:t>S. Marlow</a:t>
            </a:r>
            <a:endParaRPr lang="en-US" sz="2000" i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3CDA83-8C3E-4EA1-8166-DAC6DC142157}"/>
              </a:ext>
            </a:extLst>
          </p:cNvPr>
          <p:cNvSpPr/>
          <p:nvPr/>
        </p:nvSpPr>
        <p:spPr>
          <a:xfrm>
            <a:off x="854676" y="509024"/>
            <a:ext cx="3767955" cy="369332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STM (Software Transactional Memory)</a:t>
            </a:r>
          </a:p>
        </p:txBody>
      </p:sp>
    </p:spTree>
    <p:extLst>
      <p:ext uri="{BB962C8B-B14F-4D97-AF65-F5344CB8AC3E}">
        <p14:creationId xmlns:p14="http://schemas.microsoft.com/office/powerpoint/2010/main" val="100463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5ABB3-EC7C-41E8-E6D7-C20F02E93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6AFC00C-33AF-3A8E-DBC5-3338A2A712C2}"/>
              </a:ext>
            </a:extLst>
          </p:cNvPr>
          <p:cNvSpPr/>
          <p:nvPr/>
        </p:nvSpPr>
        <p:spPr>
          <a:xfrm>
            <a:off x="570196" y="997565"/>
            <a:ext cx="6673884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000" i="1" dirty="0"/>
              <a:t>"</a:t>
            </a:r>
            <a:r>
              <a:rPr lang="en-GB" sz="1800" b="0" i="0" u="none" strike="noStrike" baseline="0" dirty="0">
                <a:latin typeface="MinionPro-Regular"/>
              </a:rPr>
              <a:t>Before Go was first revealed to the public, this was where the chain of abstraction ended for most of the popular programming languages. If you wanted to write concurrent </a:t>
            </a:r>
            <a:r>
              <a:rPr lang="en-GB" dirty="0">
                <a:latin typeface="MinionPro-Regular"/>
              </a:rPr>
              <a:t>c</a:t>
            </a:r>
            <a:r>
              <a:rPr lang="en-GB" sz="1800" b="0" i="0" u="none" strike="noStrike" baseline="0" dirty="0">
                <a:latin typeface="MinionPro-Regular"/>
              </a:rPr>
              <a:t>ode, you would model your program in terms of threads and synchronize the access to the memory between them. If you had a lot of things you had to model</a:t>
            </a:r>
          </a:p>
          <a:p>
            <a:pPr algn="l"/>
            <a:r>
              <a:rPr lang="en-GB" sz="1800" b="0" i="0" u="none" strike="noStrike" baseline="0" dirty="0">
                <a:latin typeface="MinionPro-Regular"/>
              </a:rPr>
              <a:t>concurrently and your machine couldn’t handle that many threads, you created a </a:t>
            </a:r>
            <a:r>
              <a:rPr lang="en-GB" sz="1800" b="0" i="1" u="none" strike="noStrike" baseline="0" dirty="0">
                <a:latin typeface="MinionPro-It"/>
              </a:rPr>
              <a:t>thread pool </a:t>
            </a:r>
            <a:r>
              <a:rPr lang="en-GB" sz="1800" b="0" i="0" u="none" strike="noStrike" baseline="0" dirty="0">
                <a:latin typeface="MinionPro-Regular"/>
              </a:rPr>
              <a:t>and multiplexed your operations onto the thread pool.</a:t>
            </a:r>
          </a:p>
          <a:p>
            <a:pPr algn="l"/>
            <a:endParaRPr lang="en-GB" sz="1800" b="0" i="0" u="none" strike="noStrike" baseline="0" dirty="0">
              <a:latin typeface="MinionPro-Regular"/>
            </a:endParaRPr>
          </a:p>
          <a:p>
            <a:pPr algn="l"/>
            <a:r>
              <a:rPr lang="en-GB" sz="1800" b="0" i="0" u="none" strike="noStrike" baseline="0" dirty="0">
                <a:latin typeface="MinionPro-Regular"/>
              </a:rPr>
              <a:t>Go has added another link in that chain: the </a:t>
            </a:r>
            <a:r>
              <a:rPr lang="en-GB" sz="1800" b="0" i="1" u="none" strike="noStrike" baseline="0" dirty="0">
                <a:latin typeface="MinionPro-It"/>
              </a:rPr>
              <a:t>goroutine</a:t>
            </a:r>
            <a:r>
              <a:rPr lang="en-GB" sz="1800" b="0" i="0" u="none" strike="noStrike" baseline="0" dirty="0">
                <a:latin typeface="MinionPro-Regular"/>
              </a:rPr>
              <a:t>. In addition, Go has borrowed several concepts from the work of famed computer scientist Tony Hoare, and introduced new primitives for us to use, namely </a:t>
            </a:r>
            <a:r>
              <a:rPr lang="en-GB" sz="1800" b="0" i="1" u="none" strike="noStrike" baseline="0" dirty="0">
                <a:latin typeface="MinionPro-It"/>
              </a:rPr>
              <a:t>channels</a:t>
            </a:r>
            <a:r>
              <a:rPr lang="en-GB" sz="1800" b="0" i="0" u="none" strike="noStrike" baseline="0" dirty="0">
                <a:latin typeface="MinionPro-Regular"/>
              </a:rPr>
              <a:t>.</a:t>
            </a:r>
          </a:p>
          <a:p>
            <a:pPr algn="l"/>
            <a:r>
              <a:rPr lang="en-GB" dirty="0">
                <a:latin typeface="MinionPro-Regular"/>
              </a:rPr>
              <a:t>…</a:t>
            </a:r>
          </a:p>
          <a:p>
            <a:pPr algn="l"/>
            <a:r>
              <a:rPr lang="en-GB" sz="1800" b="0" i="0" u="none" strike="noStrike" baseline="0" dirty="0">
                <a:latin typeface="MinionPro-Regular"/>
              </a:rPr>
              <a:t>Threads are still there, of course, but we find that we rarely have to think about our</a:t>
            </a:r>
            <a:r>
              <a:rPr lang="en-GB" dirty="0">
                <a:latin typeface="MinionPro-Regular"/>
              </a:rPr>
              <a:t> </a:t>
            </a:r>
            <a:r>
              <a:rPr lang="en-GB" sz="1800" b="0" i="0" u="none" strike="noStrike" baseline="0" dirty="0">
                <a:latin typeface="MinionPro-Regular"/>
              </a:rPr>
              <a:t>problem space in terms of OS threads. Instead, we model things in goroutines and channels, and occasionally shared memory.</a:t>
            </a:r>
            <a:r>
              <a:rPr lang="en-US" sz="2000" i="1" dirty="0"/>
              <a:t>"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A3458E-BAE5-6222-962D-076777355E9C}"/>
              </a:ext>
            </a:extLst>
          </p:cNvPr>
          <p:cNvSpPr/>
          <p:nvPr/>
        </p:nvSpPr>
        <p:spPr>
          <a:xfrm>
            <a:off x="834356" y="437904"/>
            <a:ext cx="2521331" cy="369332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Goroutines and channels</a:t>
            </a:r>
          </a:p>
        </p:txBody>
      </p:sp>
      <p:pic>
        <p:nvPicPr>
          <p:cNvPr id="6" name="Picture 5" descr="A cover of a book&#10;&#10;Description automatically generated">
            <a:extLst>
              <a:ext uri="{FF2B5EF4-FFF2-40B4-BE49-F238E27FC236}">
                <a16:creationId xmlns:a16="http://schemas.microsoft.com/office/drawing/2014/main" id="{3F551FC0-E6D3-86F8-17CA-104A21843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663" y="509024"/>
            <a:ext cx="4017625" cy="5276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839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9985" y="1914890"/>
            <a:ext cx="2776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416979" y="478544"/>
            <a:ext cx="1854354" cy="369332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Modelul</a:t>
            </a:r>
            <a:r>
              <a:rPr lang="en-US" dirty="0">
                <a:solidFill>
                  <a:srgbClr val="FF0000"/>
                </a:solidFill>
              </a:rPr>
              <a:t> cu </a:t>
            </a:r>
            <a:r>
              <a:rPr lang="en-US" dirty="0" err="1">
                <a:solidFill>
                  <a:srgbClr val="FF0000"/>
                </a:solidFill>
              </a:rPr>
              <a:t>Actori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2274" y="1326658"/>
            <a:ext cx="8440131" cy="3416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"</a:t>
            </a:r>
            <a:r>
              <a:rPr lang="en-US" sz="2000" b="1" dirty="0" err="1"/>
              <a:t>Erlang</a:t>
            </a:r>
            <a:r>
              <a:rPr lang="en-US" sz="2000" b="1" dirty="0"/>
              <a:t> was designed from the bottom up to program concurrent, distributed,</a:t>
            </a:r>
          </a:p>
          <a:p>
            <a:r>
              <a:rPr lang="en-US" sz="2000" b="1" dirty="0"/>
              <a:t>fault-tolerant, scalable, soft, real-time systems</a:t>
            </a:r>
            <a:r>
              <a:rPr lang="en-US" sz="2000" dirty="0"/>
              <a:t>. […]</a:t>
            </a:r>
          </a:p>
          <a:p>
            <a:r>
              <a:rPr lang="en-US" sz="2000" dirty="0"/>
              <a:t>If your problem is concurrent, if you are building a multiuser system, or if</a:t>
            </a:r>
          </a:p>
          <a:p>
            <a:r>
              <a:rPr lang="en-US" sz="2000" dirty="0"/>
              <a:t>you are building a system that evolves with time, then using </a:t>
            </a:r>
            <a:r>
              <a:rPr lang="en-US" sz="2000" dirty="0" err="1"/>
              <a:t>Erlang</a:t>
            </a:r>
            <a:r>
              <a:rPr lang="en-US" sz="2000" dirty="0"/>
              <a:t> might</a:t>
            </a:r>
          </a:p>
          <a:p>
            <a:r>
              <a:rPr lang="en-US" sz="2000" dirty="0"/>
              <a:t>save you a lot of work, since </a:t>
            </a:r>
            <a:r>
              <a:rPr lang="en-US" sz="2000" dirty="0" err="1"/>
              <a:t>Erlang</a:t>
            </a:r>
            <a:r>
              <a:rPr lang="en-US" sz="2000" dirty="0"/>
              <a:t> was explicitly designed for building such</a:t>
            </a:r>
          </a:p>
          <a:p>
            <a:r>
              <a:rPr lang="en-US" sz="2000" dirty="0"/>
              <a:t>systems. […]</a:t>
            </a:r>
          </a:p>
          <a:p>
            <a:r>
              <a:rPr lang="en-US" sz="2000" dirty="0"/>
              <a:t>Processes interact by one method, and one method only, by exchanging</a:t>
            </a:r>
          </a:p>
          <a:p>
            <a:r>
              <a:rPr lang="en-US" sz="2000" dirty="0"/>
              <a:t>messages. Processes share no data with other processes. This is the reason</a:t>
            </a:r>
          </a:p>
          <a:p>
            <a:r>
              <a:rPr lang="en-US" sz="2000" dirty="0"/>
              <a:t>why we can easily distribute </a:t>
            </a:r>
            <a:r>
              <a:rPr lang="en-US" sz="2000" dirty="0" err="1"/>
              <a:t>Erlang</a:t>
            </a:r>
            <a:r>
              <a:rPr lang="en-US" sz="2000" dirty="0"/>
              <a:t> programs over multicores or networks. "</a:t>
            </a:r>
          </a:p>
          <a:p>
            <a:endParaRPr lang="en-US" dirty="0"/>
          </a:p>
          <a:p>
            <a:r>
              <a:rPr lang="en-US" i="1" dirty="0"/>
              <a:t>Joe Armstrong, Programming </a:t>
            </a:r>
            <a:r>
              <a:rPr lang="en-US" i="1" dirty="0" err="1"/>
              <a:t>Erlang</a:t>
            </a:r>
            <a:r>
              <a:rPr lang="en-US" i="1" dirty="0"/>
              <a:t>, Second Edition 2013</a:t>
            </a:r>
          </a:p>
        </p:txBody>
      </p:sp>
      <p:pic>
        <p:nvPicPr>
          <p:cNvPr id="9" name="Picture 4" descr="Imagini pentru Programming Erlang Software for a concurrent worl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6063" y="4183763"/>
            <a:ext cx="1584177" cy="19010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0" name="Picture 12" descr="Imagine similar&amp;abreve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3889" y="1026407"/>
            <a:ext cx="2813974" cy="37165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45579403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1_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4105</TotalTime>
  <Words>1298</Words>
  <Application>Microsoft Office PowerPoint</Application>
  <PresentationFormat>Widescreen</PresentationFormat>
  <Paragraphs>143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Calibri</vt:lpstr>
      <vt:lpstr>Calibri Light</vt:lpstr>
      <vt:lpstr>MinionPro-It</vt:lpstr>
      <vt:lpstr>MinionPro-Regular</vt:lpstr>
      <vt:lpstr>Wingdings</vt:lpstr>
      <vt:lpstr>Retrospect</vt:lpstr>
      <vt:lpstr>1_Retrospect</vt:lpstr>
      <vt:lpstr>Bitmap Image</vt:lpstr>
      <vt:lpstr>IMPLEMENTAREA CONCURENTEI IN LIMBAJE DE PROGRAMARE 2025-2026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         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Ioana Leustean</dc:creator>
  <cp:lastModifiedBy>IOANA GABRIELA LEUSTEAN</cp:lastModifiedBy>
  <cp:revision>160</cp:revision>
  <dcterms:created xsi:type="dcterms:W3CDTF">2015-03-31T05:03:29Z</dcterms:created>
  <dcterms:modified xsi:type="dcterms:W3CDTF">2025-10-03T18:42:46Z</dcterms:modified>
</cp:coreProperties>
</file>