
<file path=[Content_Types].xml><?xml version="1.0" encoding="utf-8"?>
<Types xmlns="http://schemas.openxmlformats.org/package/2006/content-types">
  <Default Extension="bin" ContentType="application/vnd.openxmlformats-officedocument.oleObject"/>
  <Default Extension="jpeg" ContentType="image/jpeg"/>
  <Default Extension="png" ContentType="image/png"/>
  <Default Extension="rels" ContentType="application/vnd.openxmlformats-package.relationships+xml"/>
  <Default Extension="wmf" ContentType="image/x-wmf"/>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slides/slide22.xml" ContentType="application/vnd.openxmlformats-officedocument.presentationml.slide+xml"/>
  <Override PartName="/ppt/slides/slide23.xml" ContentType="application/vnd.openxmlformats-officedocument.presentationml.slide+xml"/>
  <Override PartName="/ppt/slides/slide24.xml" ContentType="application/vnd.openxmlformats-officedocument.presentationml.slide+xml"/>
  <Override PartName="/ppt/slides/slide25.xml" ContentType="application/vnd.openxmlformats-officedocument.presentationml.slide+xml"/>
  <Override PartName="/ppt/slides/slide26.xml" ContentType="application/vnd.openxmlformats-officedocument.presentationml.slide+xml"/>
  <Override PartName="/ppt/slides/slide27.xml" ContentType="application/vnd.openxmlformats-officedocument.presentationml.slide+xml"/>
  <Override PartName="/ppt/slides/slide28.xml" ContentType="application/vnd.openxmlformats-officedocument.presentationml.slide+xml"/>
  <Override PartName="/ppt/slides/slide29.xml" ContentType="application/vnd.openxmlformats-officedocument.presentationml.slide+xml"/>
  <Override PartName="/ppt/slides/slide30.xml" ContentType="application/vnd.openxmlformats-officedocument.presentationml.slide+xml"/>
  <Override PartName="/ppt/slides/slide31.xml" ContentType="application/vnd.openxmlformats-officedocument.presentationml.slide+xml"/>
  <Override PartName="/ppt/slides/slide32.xml" ContentType="application/vnd.openxmlformats-officedocument.presentationml.slide+xml"/>
  <Override PartName="/ppt/slides/slide33.xml" ContentType="application/vnd.openxmlformats-officedocument.presentationml.slide+xml"/>
  <Override PartName="/ppt/slides/slide34.xml" ContentType="application/vnd.openxmlformats-officedocument.presentationml.slide+xml"/>
  <Override PartName="/ppt/slides/slide35.xml" ContentType="application/vnd.openxmlformats-officedocument.presentationml.slide+xml"/>
  <Override PartName="/ppt/slides/slide36.xml" ContentType="application/vnd.openxmlformats-officedocument.presentationml.slide+xml"/>
  <Override PartName="/ppt/slides/slide37.xml" ContentType="application/vnd.openxmlformats-officedocument.presentationml.slide+xml"/>
  <Override PartName="/ppt/slides/slide38.xml" ContentType="application/vnd.openxmlformats-officedocument.presentationml.slide+xml"/>
  <Override PartName="/ppt/slides/slide39.xml" ContentType="application/vnd.openxmlformats-officedocument.presentationml.slide+xml"/>
  <Override PartName="/ppt/slides/slide40.xml" ContentType="application/vnd.openxmlformats-officedocument.presentationml.slide+xml"/>
  <Override PartName="/ppt/slides/slide41.xml" ContentType="application/vnd.openxmlformats-officedocument.presentationml.slide+xml"/>
  <Override PartName="/ppt/slides/slide42.xml" ContentType="application/vnd.openxmlformats-officedocument.presentationml.slide+xml"/>
  <Override PartName="/ppt/slides/slide43.xml" ContentType="application/vnd.openxmlformats-officedocument.presentationml.slide+xml"/>
  <Override PartName="/ppt/slides/slide44.xml" ContentType="application/vnd.openxmlformats-officedocument.presentationml.slide+xml"/>
  <Override PartName="/ppt/slides/slide45.xml" ContentType="application/vnd.openxmlformats-officedocument.presentationml.slide+xml"/>
  <Override PartName="/ppt/slides/slide46.xml" ContentType="application/vnd.openxmlformats-officedocument.presentationml.slide+xml"/>
  <Override PartName="/ppt/slides/slide47.xml" ContentType="application/vnd.openxmlformats-officedocument.presentationml.slide+xml"/>
  <Override PartName="/ppt/slides/slide48.xml" ContentType="application/vnd.openxmlformats-officedocument.presentationml.slide+xml"/>
  <Override PartName="/ppt/commentAuthors.xml" ContentType="application/vnd.openxmlformats-officedocument.presentationml.commentAuthors+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autoCompressPictures="0">
  <p:sldMasterIdLst>
    <p:sldMasterId id="2147483648" r:id="rId1"/>
  </p:sldMasterIdLst>
  <p:sldIdLst>
    <p:sldId id="392" r:id="rId2"/>
    <p:sldId id="398" r:id="rId3"/>
    <p:sldId id="538" r:id="rId4"/>
    <p:sldId id="540" r:id="rId5"/>
    <p:sldId id="518" r:id="rId6"/>
    <p:sldId id="457" r:id="rId7"/>
    <p:sldId id="396" r:id="rId8"/>
    <p:sldId id="477" r:id="rId9"/>
    <p:sldId id="395" r:id="rId10"/>
    <p:sldId id="476" r:id="rId11"/>
    <p:sldId id="456" r:id="rId12"/>
    <p:sldId id="478" r:id="rId13"/>
    <p:sldId id="461" r:id="rId14"/>
    <p:sldId id="474" r:id="rId15"/>
    <p:sldId id="480" r:id="rId16"/>
    <p:sldId id="539" r:id="rId17"/>
    <p:sldId id="482" r:id="rId18"/>
    <p:sldId id="481" r:id="rId19"/>
    <p:sldId id="483" r:id="rId20"/>
    <p:sldId id="397" r:id="rId21"/>
    <p:sldId id="401" r:id="rId22"/>
    <p:sldId id="467" r:id="rId23"/>
    <p:sldId id="485" r:id="rId24"/>
    <p:sldId id="404" r:id="rId25"/>
    <p:sldId id="489" r:id="rId26"/>
    <p:sldId id="490" r:id="rId27"/>
    <p:sldId id="491" r:id="rId28"/>
    <p:sldId id="488" r:id="rId29"/>
    <p:sldId id="486" r:id="rId30"/>
    <p:sldId id="487" r:id="rId31"/>
    <p:sldId id="406" r:id="rId32"/>
    <p:sldId id="408" r:id="rId33"/>
    <p:sldId id="494" r:id="rId34"/>
    <p:sldId id="492" r:id="rId35"/>
    <p:sldId id="502" r:id="rId36"/>
    <p:sldId id="503" r:id="rId37"/>
    <p:sldId id="504" r:id="rId38"/>
    <p:sldId id="505" r:id="rId39"/>
    <p:sldId id="496" r:id="rId40"/>
    <p:sldId id="507" r:id="rId41"/>
    <p:sldId id="519" r:id="rId42"/>
    <p:sldId id="516" r:id="rId43"/>
    <p:sldId id="517" r:id="rId44"/>
    <p:sldId id="500" r:id="rId45"/>
    <p:sldId id="441" r:id="rId46"/>
    <p:sldId id="514" r:id="rId47"/>
    <p:sldId id="515" r:id="rId48"/>
    <p:sldId id="508" r:id="rId49"/>
  </p:sldIdLst>
  <p:sldSz cx="12192000" cy="6858000"/>
  <p:notesSz cx="6858000" cy="9144000"/>
  <p:defaultText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defaultTextStyle>
  <p:extLst>
    <p:ext uri="{521415D9-36F7-43E2-AB2F-B90AF26B5E84}">
      <p14:sectionLst xmlns:p14="http://schemas.microsoft.com/office/powerpoint/2010/main">
        <p14:section name="Default Section" id="{EBA9AD1C-34FB-41D5-8BCF-C8E5DBBFE9B3}">
          <p14:sldIdLst>
            <p14:sldId id="392"/>
            <p14:sldId id="398"/>
            <p14:sldId id="538"/>
            <p14:sldId id="540"/>
            <p14:sldId id="518"/>
            <p14:sldId id="457"/>
            <p14:sldId id="396"/>
            <p14:sldId id="477"/>
            <p14:sldId id="395"/>
            <p14:sldId id="476"/>
            <p14:sldId id="456"/>
            <p14:sldId id="478"/>
            <p14:sldId id="461"/>
            <p14:sldId id="474"/>
            <p14:sldId id="480"/>
            <p14:sldId id="539"/>
            <p14:sldId id="482"/>
            <p14:sldId id="481"/>
            <p14:sldId id="483"/>
            <p14:sldId id="397"/>
            <p14:sldId id="401"/>
            <p14:sldId id="467"/>
            <p14:sldId id="485"/>
            <p14:sldId id="404"/>
            <p14:sldId id="489"/>
            <p14:sldId id="490"/>
            <p14:sldId id="491"/>
            <p14:sldId id="488"/>
            <p14:sldId id="486"/>
            <p14:sldId id="487"/>
            <p14:sldId id="406"/>
            <p14:sldId id="408"/>
            <p14:sldId id="494"/>
            <p14:sldId id="492"/>
            <p14:sldId id="502"/>
            <p14:sldId id="503"/>
            <p14:sldId id="504"/>
            <p14:sldId id="505"/>
            <p14:sldId id="496"/>
            <p14:sldId id="507"/>
            <p14:sldId id="519"/>
            <p14:sldId id="516"/>
            <p14:sldId id="517"/>
            <p14:sldId id="500"/>
            <p14:sldId id="441"/>
            <p14:sldId id="514"/>
            <p14:sldId id="515"/>
            <p14:sldId id="508"/>
          </p14:sldIdLst>
        </p14:section>
      </p14:sectionLst>
    </p:ext>
    <p:ext uri="{EFAFB233-063F-42B5-8137-9DF3F51BA10A}">
      <p15:sldGuideLst xmlns:p15="http://schemas.microsoft.com/office/powerpoint/2012/main">
        <p15:guide id="1" orient="horz" pos="2160">
          <p15:clr>
            <a:srgbClr val="A4A3A4"/>
          </p15:clr>
        </p15:guide>
        <p15:guide id="2" pos="3840">
          <p15:clr>
            <a:srgbClr val="A4A3A4"/>
          </p15:clr>
        </p15:guide>
      </p15:sldGuideLst>
    </p:ext>
  </p:extLst>
</p:presentation>
</file>

<file path=ppt/commentAuthors.xml><?xml version="1.0" encoding="utf-8"?>
<p:cmAuthorLst xmlns:a="http://schemas.openxmlformats.org/drawingml/2006/main" xmlns:r="http://schemas.openxmlformats.org/officeDocument/2006/relationships" xmlns:p="http://schemas.openxmlformats.org/presentationml/2006/main">
  <p:cmAuthor id="1" name="Ioana Leustean" initials="IL" lastIdx="2" clrIdx="0"/>
</p:cmAuthorLst>
</file>

<file path=ppt/presProps.xml><?xml version="1.0" encoding="utf-8"?>
<p:presentationPr xmlns:a="http://schemas.openxmlformats.org/drawingml/2006/main" xmlns:r="http://schemas.openxmlformats.org/officeDocument/2006/relationships" xmlns:p="http://schemas.openxmlformats.org/presentationml/2006/main">
  <p:clrMru>
    <a:srgbClr val="17DFD5"/>
  </p:clrMru>
  <p:extLst>
    <p:ext uri="{E76CE94A-603C-4142-B9EB-6D1370010A27}">
      <p14:discardImageEditData xmlns:p14="http://schemas.microsoft.com/office/powerpoint/2010/main" val="0"/>
    </p:ext>
    <p:ext uri="{D31A062A-798A-4329-ABDD-BBA856620510}">
      <p14:defaultImageDpi xmlns:p14="http://schemas.microsoft.com/office/powerpoint/2010/main" val="220"/>
    </p:ext>
    <p:ext uri="{FD5EFAAD-0ECE-453E-9831-46B23BE46B34}">
      <p15:chartTrackingRefBased xmlns:p15="http://schemas.microsoft.com/office/powerpoint/2012/main" val="1"/>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lastView="sldThumbnailView">
  <p:normalViewPr horzBarState="maximized">
    <p:restoredLeft sz="12426" autoAdjust="0"/>
    <p:restoredTop sz="94660"/>
  </p:normalViewPr>
  <p:slideViewPr>
    <p:cSldViewPr snapToGrid="0">
      <p:cViewPr varScale="1">
        <p:scale>
          <a:sx n="63" d="100"/>
          <a:sy n="63" d="100"/>
        </p:scale>
        <p:origin x="900" y="56"/>
      </p:cViewPr>
      <p:guideLst>
        <p:guide orient="horz" pos="2160"/>
        <p:guide pos="3840"/>
      </p:guideLst>
    </p:cSldViewPr>
  </p:slideViewPr>
  <p:notesTextViewPr>
    <p:cViewPr>
      <p:scale>
        <a:sx n="1" d="1"/>
        <a:sy n="1" d="1"/>
      </p:scale>
      <p:origin x="0" y="0"/>
    </p:cViewPr>
  </p:notesTextViewPr>
  <p:gridSpacing cx="76200" cy="76200"/>
</p:viewPr>
</file>

<file path=ppt/_rels/presentation.xml.rels><?xml version="1.0" encoding="UTF-8" standalone="yes"?>
<Relationships xmlns="http://schemas.openxmlformats.org/package/2006/relationships"><Relationship Id="rId13" Type="http://schemas.openxmlformats.org/officeDocument/2006/relationships/slide" Target="slides/slide12.xml"/><Relationship Id="rId18" Type="http://schemas.openxmlformats.org/officeDocument/2006/relationships/slide" Target="slides/slide17.xml"/><Relationship Id="rId26" Type="http://schemas.openxmlformats.org/officeDocument/2006/relationships/slide" Target="slides/slide25.xml"/><Relationship Id="rId39" Type="http://schemas.openxmlformats.org/officeDocument/2006/relationships/slide" Target="slides/slide38.xml"/><Relationship Id="rId21" Type="http://schemas.openxmlformats.org/officeDocument/2006/relationships/slide" Target="slides/slide20.xml"/><Relationship Id="rId34" Type="http://schemas.openxmlformats.org/officeDocument/2006/relationships/slide" Target="slides/slide33.xml"/><Relationship Id="rId42" Type="http://schemas.openxmlformats.org/officeDocument/2006/relationships/slide" Target="slides/slide41.xml"/><Relationship Id="rId47" Type="http://schemas.openxmlformats.org/officeDocument/2006/relationships/slide" Target="slides/slide46.xml"/><Relationship Id="rId50" Type="http://schemas.openxmlformats.org/officeDocument/2006/relationships/commentAuthors" Target="commentAuthors.xml"/><Relationship Id="rId7" Type="http://schemas.openxmlformats.org/officeDocument/2006/relationships/slide" Target="slides/slide6.xml"/><Relationship Id="rId2" Type="http://schemas.openxmlformats.org/officeDocument/2006/relationships/slide" Target="slides/slide1.xml"/><Relationship Id="rId16" Type="http://schemas.openxmlformats.org/officeDocument/2006/relationships/slide" Target="slides/slide15.xml"/><Relationship Id="rId29" Type="http://schemas.openxmlformats.org/officeDocument/2006/relationships/slide" Target="slides/slide28.xml"/><Relationship Id="rId11" Type="http://schemas.openxmlformats.org/officeDocument/2006/relationships/slide" Target="slides/slide10.xml"/><Relationship Id="rId24" Type="http://schemas.openxmlformats.org/officeDocument/2006/relationships/slide" Target="slides/slide23.xml"/><Relationship Id="rId32" Type="http://schemas.openxmlformats.org/officeDocument/2006/relationships/slide" Target="slides/slide31.xml"/><Relationship Id="rId37" Type="http://schemas.openxmlformats.org/officeDocument/2006/relationships/slide" Target="slides/slide36.xml"/><Relationship Id="rId40" Type="http://schemas.openxmlformats.org/officeDocument/2006/relationships/slide" Target="slides/slide39.xml"/><Relationship Id="rId45" Type="http://schemas.openxmlformats.org/officeDocument/2006/relationships/slide" Target="slides/slide44.xml"/><Relationship Id="rId53" Type="http://schemas.openxmlformats.org/officeDocument/2006/relationships/theme" Target="theme/theme1.xml"/><Relationship Id="rId5" Type="http://schemas.openxmlformats.org/officeDocument/2006/relationships/slide" Target="slides/slide4.xml"/><Relationship Id="rId10" Type="http://schemas.openxmlformats.org/officeDocument/2006/relationships/slide" Target="slides/slide9.xml"/><Relationship Id="rId19" Type="http://schemas.openxmlformats.org/officeDocument/2006/relationships/slide" Target="slides/slide18.xml"/><Relationship Id="rId31" Type="http://schemas.openxmlformats.org/officeDocument/2006/relationships/slide" Target="slides/slide30.xml"/><Relationship Id="rId44" Type="http://schemas.openxmlformats.org/officeDocument/2006/relationships/slide" Target="slides/slide43.xml"/><Relationship Id="rId52" Type="http://schemas.openxmlformats.org/officeDocument/2006/relationships/viewProps" Target="viewProps.xml"/><Relationship Id="rId4" Type="http://schemas.openxmlformats.org/officeDocument/2006/relationships/slide" Target="slides/slide3.xml"/><Relationship Id="rId9" Type="http://schemas.openxmlformats.org/officeDocument/2006/relationships/slide" Target="slides/slide8.xml"/><Relationship Id="rId14" Type="http://schemas.openxmlformats.org/officeDocument/2006/relationships/slide" Target="slides/slide13.xml"/><Relationship Id="rId22" Type="http://schemas.openxmlformats.org/officeDocument/2006/relationships/slide" Target="slides/slide21.xml"/><Relationship Id="rId27" Type="http://schemas.openxmlformats.org/officeDocument/2006/relationships/slide" Target="slides/slide26.xml"/><Relationship Id="rId30" Type="http://schemas.openxmlformats.org/officeDocument/2006/relationships/slide" Target="slides/slide29.xml"/><Relationship Id="rId35" Type="http://schemas.openxmlformats.org/officeDocument/2006/relationships/slide" Target="slides/slide34.xml"/><Relationship Id="rId43" Type="http://schemas.openxmlformats.org/officeDocument/2006/relationships/slide" Target="slides/slide42.xml"/><Relationship Id="rId48" Type="http://schemas.openxmlformats.org/officeDocument/2006/relationships/slide" Target="slides/slide47.xml"/><Relationship Id="rId8" Type="http://schemas.openxmlformats.org/officeDocument/2006/relationships/slide" Target="slides/slide7.xml"/><Relationship Id="rId51" Type="http://schemas.openxmlformats.org/officeDocument/2006/relationships/presProps" Target="presProps.xml"/><Relationship Id="rId3" Type="http://schemas.openxmlformats.org/officeDocument/2006/relationships/slide" Target="slides/slide2.xml"/><Relationship Id="rId12" Type="http://schemas.openxmlformats.org/officeDocument/2006/relationships/slide" Target="slides/slide11.xml"/><Relationship Id="rId17" Type="http://schemas.openxmlformats.org/officeDocument/2006/relationships/slide" Target="slides/slide16.xml"/><Relationship Id="rId25" Type="http://schemas.openxmlformats.org/officeDocument/2006/relationships/slide" Target="slides/slide24.xml"/><Relationship Id="rId33" Type="http://schemas.openxmlformats.org/officeDocument/2006/relationships/slide" Target="slides/slide32.xml"/><Relationship Id="rId38" Type="http://schemas.openxmlformats.org/officeDocument/2006/relationships/slide" Target="slides/slide37.xml"/><Relationship Id="rId46" Type="http://schemas.openxmlformats.org/officeDocument/2006/relationships/slide" Target="slides/slide45.xml"/><Relationship Id="rId20" Type="http://schemas.openxmlformats.org/officeDocument/2006/relationships/slide" Target="slides/slide19.xml"/><Relationship Id="rId41" Type="http://schemas.openxmlformats.org/officeDocument/2006/relationships/slide" Target="slides/slide40.xml"/><Relationship Id="rId54" Type="http://schemas.openxmlformats.org/officeDocument/2006/relationships/tableStyles" Target="tableStyles.xml"/><Relationship Id="rId1" Type="http://schemas.openxmlformats.org/officeDocument/2006/relationships/slideMaster" Target="slideMasters/slideMaster1.xml"/><Relationship Id="rId6" Type="http://schemas.openxmlformats.org/officeDocument/2006/relationships/slide" Target="slides/slide5.xml"/><Relationship Id="rId15" Type="http://schemas.openxmlformats.org/officeDocument/2006/relationships/slide" Target="slides/slide14.xml"/><Relationship Id="rId23" Type="http://schemas.openxmlformats.org/officeDocument/2006/relationships/slide" Target="slides/slide22.xml"/><Relationship Id="rId28" Type="http://schemas.openxmlformats.org/officeDocument/2006/relationships/slide" Target="slides/slide27.xml"/><Relationship Id="rId36" Type="http://schemas.openxmlformats.org/officeDocument/2006/relationships/slide" Target="slides/slide35.xml"/><Relationship Id="rId49" Type="http://schemas.openxmlformats.org/officeDocument/2006/relationships/slide" Target="slides/slide48.xml"/></Relationship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hyperlink" Target="https://docs.oracle.com/javase/tutorial/essential/concurrency" TargetMode="External"/><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showMasterSp="0" type="title" preserve="1">
  <p:cSld name="Title Slide">
    <p:spTree>
      <p:nvGrpSpPr>
        <p:cNvPr id="1" name=""/>
        <p:cNvGrpSpPr/>
        <p:nvPr/>
      </p:nvGrpSpPr>
      <p:grpSpPr>
        <a:xfrm>
          <a:off x="0" y="0"/>
          <a:ext cx="0" cy="0"/>
          <a:chOff x="0" y="0"/>
          <a:chExt cx="0" cy="0"/>
        </a:xfrm>
      </p:grpSpPr>
      <p:sp>
        <p:nvSpPr>
          <p:cNvPr id="7" name="Rectangle 6"/>
          <p:cNvSpPr/>
          <p:nvPr/>
        </p:nvSpPr>
        <p:spPr>
          <a:xfrm>
            <a:off x="3175" y="6400800"/>
            <a:ext cx="12188825" cy="457200"/>
          </a:xfrm>
          <a:prstGeom prst="rect">
            <a:avLst/>
          </a:prstGeom>
          <a:solidFill>
            <a:schemeClr val="accent2"/>
          </a:solidFill>
          <a:ln>
            <a:noFill/>
          </a:ln>
        </p:spPr>
        <p:style>
          <a:lnRef idx="2">
            <a:schemeClr val="accent1">
              <a:shade val="50000"/>
            </a:schemeClr>
          </a:lnRef>
          <a:fillRef idx="1">
            <a:schemeClr val="accent1"/>
          </a:fillRef>
          <a:effectRef idx="0">
            <a:schemeClr val="accent1"/>
          </a:effectRef>
          <a:fontRef idx="minor">
            <a:schemeClr val="lt1"/>
          </a:fontRef>
        </p:style>
      </p:sp>
      <p:sp>
        <p:nvSpPr>
          <p:cNvPr id="8" name="Rectangle 7"/>
          <p:cNvSpPr/>
          <p:nvPr/>
        </p:nvSpPr>
        <p:spPr>
          <a:xfrm>
            <a:off x="15" y="6334316"/>
            <a:ext cx="12188825" cy="64008"/>
          </a:xfrm>
          <a:prstGeom prst="rect">
            <a:avLst/>
          </a:prstGeom>
          <a:solidFill>
            <a:schemeClr val="accent1"/>
          </a:solidFill>
          <a:ln>
            <a:noFill/>
          </a:ln>
        </p:spPr>
        <p:style>
          <a:lnRef idx="2">
            <a:schemeClr val="accent1">
              <a:shade val="50000"/>
            </a:schemeClr>
          </a:lnRef>
          <a:fillRef idx="1">
            <a:schemeClr val="accent1"/>
          </a:fillRef>
          <a:effectRef idx="0">
            <a:schemeClr val="accent1"/>
          </a:effectRef>
          <a:fontRef idx="minor">
            <a:schemeClr val="lt1"/>
          </a:fontRef>
        </p:style>
      </p:sp>
      <p:sp>
        <p:nvSpPr>
          <p:cNvPr id="2" name="Title 1"/>
          <p:cNvSpPr>
            <a:spLocks noGrp="1"/>
          </p:cNvSpPr>
          <p:nvPr>
            <p:ph type="ctrTitle"/>
          </p:nvPr>
        </p:nvSpPr>
        <p:spPr>
          <a:xfrm>
            <a:off x="1097280" y="758952"/>
            <a:ext cx="10058400" cy="3566160"/>
          </a:xfrm>
        </p:spPr>
        <p:txBody>
          <a:bodyPr anchor="b">
            <a:normAutofit/>
          </a:bodyPr>
          <a:lstStyle>
            <a:lvl1pPr algn="l">
              <a:lnSpc>
                <a:spcPct val="85000"/>
              </a:lnSpc>
              <a:defRPr sz="8000" spc="-50" baseline="0">
                <a:solidFill>
                  <a:schemeClr val="tx1">
                    <a:lumMod val="85000"/>
                    <a:lumOff val="15000"/>
                  </a:schemeClr>
                </a:solidFill>
              </a:defRPr>
            </a:lvl1pPr>
          </a:lstStyle>
          <a:p>
            <a:r>
              <a:rPr lang="en-US"/>
              <a:t>Click to edit Master title style</a:t>
            </a:r>
            <a:endParaRPr lang="en-US" dirty="0"/>
          </a:p>
        </p:txBody>
      </p:sp>
      <p:sp>
        <p:nvSpPr>
          <p:cNvPr id="3" name="Subtitle 2"/>
          <p:cNvSpPr>
            <a:spLocks noGrp="1"/>
          </p:cNvSpPr>
          <p:nvPr>
            <p:ph type="subTitle" idx="1"/>
          </p:nvPr>
        </p:nvSpPr>
        <p:spPr>
          <a:xfrm>
            <a:off x="1100051" y="4455620"/>
            <a:ext cx="10058400" cy="1143000"/>
          </a:xfrm>
        </p:spPr>
        <p:txBody>
          <a:bodyPr lIns="91440" rIns="91440">
            <a:normAutofit/>
          </a:bodyPr>
          <a:lstStyle>
            <a:lvl1pPr marL="0" indent="0" algn="l">
              <a:buNone/>
              <a:defRPr sz="2400" cap="all" spc="200" baseline="0">
                <a:solidFill>
                  <a:schemeClr val="tx2"/>
                </a:solidFill>
                <a:latin typeface="+mj-lt"/>
              </a:defRPr>
            </a:lvl1pPr>
            <a:lvl2pPr marL="457200" indent="0" algn="ctr">
              <a:buNone/>
              <a:defRPr sz="2400"/>
            </a:lvl2pPr>
            <a:lvl3pPr marL="914400" indent="0" algn="ctr">
              <a:buNone/>
              <a:defRPr sz="2400"/>
            </a:lvl3pPr>
            <a:lvl4pPr marL="1371600" indent="0" algn="ctr">
              <a:buNone/>
              <a:defRPr sz="2000"/>
            </a:lvl4pPr>
            <a:lvl5pPr marL="1828800" indent="0" algn="ctr">
              <a:buNone/>
              <a:defRPr sz="2000"/>
            </a:lvl5pPr>
            <a:lvl6pPr marL="2286000" indent="0" algn="ctr">
              <a:buNone/>
              <a:defRPr sz="2000"/>
            </a:lvl6pPr>
            <a:lvl7pPr marL="2743200" indent="0" algn="ctr">
              <a:buNone/>
              <a:defRPr sz="2000"/>
            </a:lvl7pPr>
            <a:lvl8pPr marL="3200400" indent="0" algn="ctr">
              <a:buNone/>
              <a:defRPr sz="2000"/>
            </a:lvl8pPr>
            <a:lvl9pPr marL="3657600" indent="0" algn="ctr">
              <a:buNone/>
              <a:defRPr sz="2000"/>
            </a:lvl9pPr>
          </a:lstStyle>
          <a:p>
            <a:r>
              <a:rPr lang="en-US"/>
              <a:t>Click to edit Master subtitle style</a:t>
            </a:r>
            <a:endParaRPr lang="en-US" dirty="0"/>
          </a:p>
        </p:txBody>
      </p:sp>
      <p:sp>
        <p:nvSpPr>
          <p:cNvPr id="4" name="Date Placeholder 3"/>
          <p:cNvSpPr>
            <a:spLocks noGrp="1"/>
          </p:cNvSpPr>
          <p:nvPr>
            <p:ph type="dt" sz="half" idx="10"/>
          </p:nvPr>
        </p:nvSpPr>
        <p:spPr/>
        <p:txBody>
          <a:bodyPr/>
          <a:lstStyle/>
          <a:p>
            <a:fld id="{4BDF68E2-58F2-4D09-BE8B-E3BD06533059}" type="datetimeFigureOut">
              <a:rPr lang="en-US" dirty="0"/>
              <a:t>10/3/2025</a:t>
            </a:fld>
            <a:endParaRPr lang="en-US" dirty="0"/>
          </a:p>
        </p:txBody>
      </p:sp>
      <p:sp>
        <p:nvSpPr>
          <p:cNvPr id="5" name="Footer Placeholder 4"/>
          <p:cNvSpPr>
            <a:spLocks noGrp="1"/>
          </p:cNvSpPr>
          <p:nvPr>
            <p:ph type="ftr" sz="quarter" idx="11"/>
          </p:nvPr>
        </p:nvSpPr>
        <p:spPr/>
        <p:txBody>
          <a:bodyPr/>
          <a:lstStyle/>
          <a:p>
            <a:endParaRPr lang="en-US" dirty="0"/>
          </a:p>
        </p:txBody>
      </p:sp>
      <p:sp>
        <p:nvSpPr>
          <p:cNvPr id="6" name="Slide Number Placeholder 5"/>
          <p:cNvSpPr>
            <a:spLocks noGrp="1"/>
          </p:cNvSpPr>
          <p:nvPr>
            <p:ph type="sldNum" sz="quarter" idx="12"/>
          </p:nvPr>
        </p:nvSpPr>
        <p:spPr/>
        <p:txBody>
          <a:bodyPr/>
          <a:lstStyle/>
          <a:p>
            <a:fld id="{4FAB73BC-B049-4115-A692-8D63A059BFB8}" type="slidenum">
              <a:rPr lang="en-US" dirty="0"/>
              <a:t>‹#›</a:t>
            </a:fld>
            <a:endParaRPr lang="en-US" dirty="0"/>
          </a:p>
        </p:txBody>
      </p:sp>
      <p:cxnSp>
        <p:nvCxnSpPr>
          <p:cNvPr id="9" name="Straight Connector 8"/>
          <p:cNvCxnSpPr/>
          <p:nvPr/>
        </p:nvCxnSpPr>
        <p:spPr>
          <a:xfrm>
            <a:off x="1207658" y="4343400"/>
            <a:ext cx="9875520" cy="0"/>
          </a:xfrm>
          <a:prstGeom prst="line">
            <a:avLst/>
          </a:prstGeom>
          <a:ln w="6350">
            <a:solidFill>
              <a:schemeClr val="tx1">
                <a:lumMod val="50000"/>
                <a:lumOff val="50000"/>
              </a:schemeClr>
            </a:solidFill>
          </a:ln>
        </p:spPr>
        <p:style>
          <a:lnRef idx="1">
            <a:schemeClr val="accent1"/>
          </a:lnRef>
          <a:fillRef idx="0">
            <a:schemeClr val="accent1"/>
          </a:fillRef>
          <a:effectRef idx="0">
            <a:schemeClr val="accent1"/>
          </a:effectRef>
          <a:fontRef idx="minor">
            <a:schemeClr val="tx1"/>
          </a:fontRef>
        </p:style>
      </p:cxnSp>
    </p:spTree>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marL="0">
              <a:defRPr/>
            </a:lvl1pPr>
          </a:lstStyle>
          <a:p>
            <a:r>
              <a:rPr lang="en-US"/>
              <a:t>Click to edit Master title style</a:t>
            </a:r>
            <a:endParaRPr lang="en-US" dirty="0"/>
          </a:p>
        </p:txBody>
      </p:sp>
      <p:sp>
        <p:nvSpPr>
          <p:cNvPr id="3" name="Content Placeholder 2"/>
          <p:cNvSpPr>
            <a:spLocks noGrp="1"/>
          </p:cNvSpPr>
          <p:nvPr>
            <p:ph idx="1"/>
          </p:nvPr>
        </p:nvSpPr>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Date Placeholder 3"/>
          <p:cNvSpPr>
            <a:spLocks noGrp="1"/>
          </p:cNvSpPr>
          <p:nvPr>
            <p:ph type="dt" sz="half" idx="10"/>
          </p:nvPr>
        </p:nvSpPr>
        <p:spPr/>
        <p:txBody>
          <a:bodyPr/>
          <a:lstStyle/>
          <a:p>
            <a:fld id="{528FC5F6-F338-4AE4-BB23-26385BCFC423}" type="datetimeFigureOut">
              <a:rPr lang="en-US" dirty="0"/>
              <a:t>10/3/2025</a:t>
            </a:fld>
            <a:endParaRPr lang="en-US" dirty="0"/>
          </a:p>
        </p:txBody>
      </p:sp>
      <p:sp>
        <p:nvSpPr>
          <p:cNvPr id="5" name="Footer Placeholder 4"/>
          <p:cNvSpPr>
            <a:spLocks noGrp="1"/>
          </p:cNvSpPr>
          <p:nvPr>
            <p:ph type="ftr" sz="quarter" idx="11"/>
          </p:nvPr>
        </p:nvSpPr>
        <p:spPr/>
        <p:txBody>
          <a:bodyPr/>
          <a:lstStyle/>
          <a:p>
            <a:endParaRPr lang="en-US" dirty="0"/>
          </a:p>
        </p:txBody>
      </p:sp>
      <p:sp>
        <p:nvSpPr>
          <p:cNvPr id="6" name="Slide Number Placeholder 5"/>
          <p:cNvSpPr>
            <a:spLocks noGrp="1"/>
          </p:cNvSpPr>
          <p:nvPr>
            <p:ph type="sldNum" sz="quarter" idx="12"/>
          </p:nvPr>
        </p:nvSpPr>
        <p:spPr/>
        <p:txBody>
          <a:bodyPr/>
          <a:lstStyle/>
          <a:p>
            <a:fld id="{6113E31D-E2AB-40D1-8B51-AFA5AFEF393A}" type="slidenum">
              <a:rPr lang="en-US" dirty="0"/>
              <a:t>‹#›</a:t>
            </a:fld>
            <a:endParaRPr lang="en-US" dirty="0"/>
          </a:p>
        </p:txBody>
      </p:sp>
    </p:spTree>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showMasterSp="0" type="secHead" preserve="1">
  <p:cSld name="Section Header">
    <p:bg>
      <p:bgPr>
        <a:solidFill>
          <a:schemeClr val="bg1"/>
        </a:solidFill>
        <a:effectLst/>
      </p:bgPr>
    </p:bg>
    <p:spTree>
      <p:nvGrpSpPr>
        <p:cNvPr id="1" name=""/>
        <p:cNvGrpSpPr/>
        <p:nvPr/>
      </p:nvGrpSpPr>
      <p:grpSpPr>
        <a:xfrm>
          <a:off x="0" y="0"/>
          <a:ext cx="0" cy="0"/>
          <a:chOff x="0" y="0"/>
          <a:chExt cx="0" cy="0"/>
        </a:xfrm>
      </p:grpSpPr>
      <p:sp>
        <p:nvSpPr>
          <p:cNvPr id="7" name="Rectangle 6"/>
          <p:cNvSpPr/>
          <p:nvPr/>
        </p:nvSpPr>
        <p:spPr>
          <a:xfrm>
            <a:off x="3175" y="6400800"/>
            <a:ext cx="12188825" cy="457200"/>
          </a:xfrm>
          <a:prstGeom prst="rect">
            <a:avLst/>
          </a:prstGeom>
          <a:solidFill>
            <a:schemeClr val="accent2"/>
          </a:solidFill>
          <a:ln>
            <a:noFill/>
          </a:ln>
        </p:spPr>
        <p:style>
          <a:lnRef idx="2">
            <a:schemeClr val="accent1">
              <a:shade val="50000"/>
            </a:schemeClr>
          </a:lnRef>
          <a:fillRef idx="1">
            <a:schemeClr val="accent1"/>
          </a:fillRef>
          <a:effectRef idx="0">
            <a:schemeClr val="accent1"/>
          </a:effectRef>
          <a:fontRef idx="minor">
            <a:schemeClr val="lt1"/>
          </a:fontRef>
        </p:style>
      </p:sp>
      <p:sp>
        <p:nvSpPr>
          <p:cNvPr id="8" name="Rectangle 7"/>
          <p:cNvSpPr/>
          <p:nvPr/>
        </p:nvSpPr>
        <p:spPr>
          <a:xfrm>
            <a:off x="15" y="6334316"/>
            <a:ext cx="12188825" cy="64008"/>
          </a:xfrm>
          <a:prstGeom prst="rect">
            <a:avLst/>
          </a:prstGeom>
          <a:solidFill>
            <a:schemeClr val="accent1"/>
          </a:solidFill>
          <a:ln>
            <a:noFill/>
          </a:ln>
        </p:spPr>
        <p:style>
          <a:lnRef idx="2">
            <a:schemeClr val="accent1">
              <a:shade val="50000"/>
            </a:schemeClr>
          </a:lnRef>
          <a:fillRef idx="1">
            <a:schemeClr val="accent1"/>
          </a:fillRef>
          <a:effectRef idx="0">
            <a:schemeClr val="accent1"/>
          </a:effectRef>
          <a:fontRef idx="minor">
            <a:schemeClr val="lt1"/>
          </a:fontRef>
        </p:style>
      </p:sp>
      <p:sp>
        <p:nvSpPr>
          <p:cNvPr id="2" name="Title 1"/>
          <p:cNvSpPr>
            <a:spLocks noGrp="1"/>
          </p:cNvSpPr>
          <p:nvPr>
            <p:ph type="title"/>
          </p:nvPr>
        </p:nvSpPr>
        <p:spPr>
          <a:xfrm>
            <a:off x="1097280" y="758952"/>
            <a:ext cx="10058400" cy="3566160"/>
          </a:xfrm>
        </p:spPr>
        <p:txBody>
          <a:bodyPr anchor="b" anchorCtr="0">
            <a:normAutofit/>
          </a:bodyPr>
          <a:lstStyle>
            <a:lvl1pPr>
              <a:lnSpc>
                <a:spcPct val="85000"/>
              </a:lnSpc>
              <a:defRPr sz="8000" b="0">
                <a:solidFill>
                  <a:schemeClr val="tx1">
                    <a:lumMod val="85000"/>
                    <a:lumOff val="15000"/>
                  </a:schemeClr>
                </a:solidFill>
              </a:defRPr>
            </a:lvl1pPr>
          </a:lstStyle>
          <a:p>
            <a:r>
              <a:rPr lang="en-US"/>
              <a:t>Click to edit Master title style</a:t>
            </a:r>
            <a:endParaRPr lang="en-US" dirty="0"/>
          </a:p>
        </p:txBody>
      </p:sp>
      <p:sp>
        <p:nvSpPr>
          <p:cNvPr id="3" name="Text Placeholder 2"/>
          <p:cNvSpPr>
            <a:spLocks noGrp="1"/>
          </p:cNvSpPr>
          <p:nvPr>
            <p:ph type="body" idx="1"/>
          </p:nvPr>
        </p:nvSpPr>
        <p:spPr>
          <a:xfrm>
            <a:off x="1097280" y="4453128"/>
            <a:ext cx="10058400" cy="1143000"/>
          </a:xfrm>
        </p:spPr>
        <p:txBody>
          <a:bodyPr lIns="91440" rIns="91440" anchor="t" anchorCtr="0">
            <a:normAutofit/>
          </a:bodyPr>
          <a:lstStyle>
            <a:lvl1pPr marL="0" indent="0">
              <a:buNone/>
              <a:defRPr sz="2400" cap="all" spc="200" baseline="0">
                <a:solidFill>
                  <a:schemeClr val="tx2"/>
                </a:solidFill>
                <a:latin typeface="+mj-lt"/>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a:t>Click to edit Master text styles</a:t>
            </a:r>
          </a:p>
        </p:txBody>
      </p:sp>
      <p:sp>
        <p:nvSpPr>
          <p:cNvPr id="4" name="Date Placeholder 3"/>
          <p:cNvSpPr>
            <a:spLocks noGrp="1"/>
          </p:cNvSpPr>
          <p:nvPr>
            <p:ph type="dt" sz="half" idx="10"/>
          </p:nvPr>
        </p:nvSpPr>
        <p:spPr/>
        <p:txBody>
          <a:bodyPr/>
          <a:lstStyle/>
          <a:p>
            <a:fld id="{20EBB0C4-6273-4C6E-B9BD-2EDC30F1CD52}" type="datetimeFigureOut">
              <a:rPr lang="en-US" dirty="0"/>
              <a:t>10/3/2025</a:t>
            </a:fld>
            <a:endParaRPr lang="en-US" dirty="0"/>
          </a:p>
        </p:txBody>
      </p:sp>
      <p:sp>
        <p:nvSpPr>
          <p:cNvPr id="5" name="Footer Placeholder 4"/>
          <p:cNvSpPr>
            <a:spLocks noGrp="1"/>
          </p:cNvSpPr>
          <p:nvPr>
            <p:ph type="ftr" sz="quarter" idx="11"/>
          </p:nvPr>
        </p:nvSpPr>
        <p:spPr/>
        <p:txBody>
          <a:bodyPr/>
          <a:lstStyle/>
          <a:p>
            <a:endParaRPr lang="en-US" dirty="0"/>
          </a:p>
        </p:txBody>
      </p:sp>
      <p:sp>
        <p:nvSpPr>
          <p:cNvPr id="6" name="Slide Number Placeholder 5"/>
          <p:cNvSpPr>
            <a:spLocks noGrp="1"/>
          </p:cNvSpPr>
          <p:nvPr>
            <p:ph type="sldNum" sz="quarter" idx="12"/>
          </p:nvPr>
        </p:nvSpPr>
        <p:spPr/>
        <p:txBody>
          <a:bodyPr/>
          <a:lstStyle/>
          <a:p>
            <a:fld id="{4FAB73BC-B049-4115-A692-8D63A059BFB8}" type="slidenum">
              <a:rPr lang="en-US" dirty="0"/>
              <a:t>‹#›</a:t>
            </a:fld>
            <a:endParaRPr lang="en-US" dirty="0"/>
          </a:p>
        </p:txBody>
      </p:sp>
      <p:cxnSp>
        <p:nvCxnSpPr>
          <p:cNvPr id="9" name="Straight Connector 8"/>
          <p:cNvCxnSpPr/>
          <p:nvPr/>
        </p:nvCxnSpPr>
        <p:spPr>
          <a:xfrm>
            <a:off x="1207658" y="4343400"/>
            <a:ext cx="9875520" cy="0"/>
          </a:xfrm>
          <a:prstGeom prst="line">
            <a:avLst/>
          </a:prstGeom>
          <a:ln w="6350">
            <a:solidFill>
              <a:schemeClr val="tx1">
                <a:lumMod val="50000"/>
                <a:lumOff val="50000"/>
              </a:schemeClr>
            </a:solidFill>
          </a:ln>
        </p:spPr>
        <p:style>
          <a:lnRef idx="1">
            <a:schemeClr val="accent1"/>
          </a:lnRef>
          <a:fillRef idx="0">
            <a:schemeClr val="accent1"/>
          </a:fillRef>
          <a:effectRef idx="0">
            <a:schemeClr val="accent1"/>
          </a:effectRef>
          <a:fontRef idx="minor">
            <a:schemeClr val="tx1"/>
          </a:fontRef>
        </p:style>
      </p:cxnSp>
    </p:spTree>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8" name="Title 7"/>
          <p:cNvSpPr>
            <a:spLocks noGrp="1"/>
          </p:cNvSpPr>
          <p:nvPr>
            <p:ph type="title"/>
          </p:nvPr>
        </p:nvSpPr>
        <p:spPr>
          <a:xfrm>
            <a:off x="1097280" y="286603"/>
            <a:ext cx="10058400" cy="1450757"/>
          </a:xfrm>
        </p:spPr>
        <p:txBody>
          <a:bodyPr/>
          <a:lstStyle/>
          <a:p>
            <a:r>
              <a:rPr lang="en-US"/>
              <a:t>Click to edit Master title style</a:t>
            </a:r>
            <a:endParaRPr lang="en-US" dirty="0"/>
          </a:p>
        </p:txBody>
      </p:sp>
      <p:sp>
        <p:nvSpPr>
          <p:cNvPr id="3" name="Content Placeholder 2"/>
          <p:cNvSpPr>
            <a:spLocks noGrp="1"/>
          </p:cNvSpPr>
          <p:nvPr>
            <p:ph sz="half" idx="1"/>
          </p:nvPr>
        </p:nvSpPr>
        <p:spPr>
          <a:xfrm>
            <a:off x="1097279" y="1845734"/>
            <a:ext cx="4937760" cy="4023360"/>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Content Placeholder 3"/>
          <p:cNvSpPr>
            <a:spLocks noGrp="1"/>
          </p:cNvSpPr>
          <p:nvPr>
            <p:ph sz="half" idx="2"/>
          </p:nvPr>
        </p:nvSpPr>
        <p:spPr>
          <a:xfrm>
            <a:off x="6217920" y="1845735"/>
            <a:ext cx="4937760" cy="4023360"/>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5" name="Date Placeholder 4"/>
          <p:cNvSpPr>
            <a:spLocks noGrp="1"/>
          </p:cNvSpPr>
          <p:nvPr>
            <p:ph type="dt" sz="half" idx="10"/>
          </p:nvPr>
        </p:nvSpPr>
        <p:spPr/>
        <p:txBody>
          <a:bodyPr/>
          <a:lstStyle/>
          <a:p>
            <a:fld id="{19AB4D41-86C1-4908-B66A-0B50CEB3BF29}" type="datetimeFigureOut">
              <a:rPr lang="en-US" dirty="0"/>
              <a:t>10/3/2025</a:t>
            </a:fld>
            <a:endParaRPr lang="en-US" dirty="0"/>
          </a:p>
        </p:txBody>
      </p:sp>
      <p:sp>
        <p:nvSpPr>
          <p:cNvPr id="6" name="Footer Placeholder 5"/>
          <p:cNvSpPr>
            <a:spLocks noGrp="1"/>
          </p:cNvSpPr>
          <p:nvPr>
            <p:ph type="ftr" sz="quarter" idx="11"/>
          </p:nvPr>
        </p:nvSpPr>
        <p:spPr/>
        <p:txBody>
          <a:bodyPr/>
          <a:lstStyle/>
          <a:p>
            <a:endParaRPr lang="en-US" dirty="0"/>
          </a:p>
        </p:txBody>
      </p:sp>
      <p:sp>
        <p:nvSpPr>
          <p:cNvPr id="7" name="Slide Number Placeholder 6"/>
          <p:cNvSpPr>
            <a:spLocks noGrp="1"/>
          </p:cNvSpPr>
          <p:nvPr>
            <p:ph type="sldNum" sz="quarter" idx="12"/>
          </p:nvPr>
        </p:nvSpPr>
        <p:spPr/>
        <p:txBody>
          <a:bodyPr/>
          <a:lstStyle/>
          <a:p>
            <a:fld id="{4FAB73BC-B049-4115-A692-8D63A059BFB8}" type="slidenum">
              <a:rPr lang="en-US" dirty="0"/>
              <a:t>‹#›</a:t>
            </a:fld>
            <a:endParaRPr lang="en-US" dirty="0"/>
          </a:p>
        </p:txBody>
      </p:sp>
    </p:spTree>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10" name="Title 9"/>
          <p:cNvSpPr>
            <a:spLocks noGrp="1"/>
          </p:cNvSpPr>
          <p:nvPr>
            <p:ph type="title"/>
          </p:nvPr>
        </p:nvSpPr>
        <p:spPr>
          <a:xfrm>
            <a:off x="1097280" y="286603"/>
            <a:ext cx="10058400" cy="1450757"/>
          </a:xfrm>
        </p:spPr>
        <p:txBody>
          <a:bodyPr/>
          <a:lstStyle/>
          <a:p>
            <a:r>
              <a:rPr lang="en-US"/>
              <a:t>Click to edit Master title style</a:t>
            </a:r>
            <a:endParaRPr lang="en-US" dirty="0"/>
          </a:p>
        </p:txBody>
      </p:sp>
      <p:sp>
        <p:nvSpPr>
          <p:cNvPr id="3" name="Text Placeholder 2"/>
          <p:cNvSpPr>
            <a:spLocks noGrp="1"/>
          </p:cNvSpPr>
          <p:nvPr>
            <p:ph type="body" idx="1"/>
          </p:nvPr>
        </p:nvSpPr>
        <p:spPr>
          <a:xfrm>
            <a:off x="1097280" y="1846052"/>
            <a:ext cx="4937760" cy="736282"/>
          </a:xfrm>
        </p:spPr>
        <p:txBody>
          <a:bodyPr lIns="91440" rIns="91440" anchor="ctr">
            <a:normAutofit/>
          </a:bodyPr>
          <a:lstStyle>
            <a:lvl1pPr marL="0" indent="0">
              <a:buNone/>
              <a:defRPr sz="2000" b="0" cap="all" baseline="0">
                <a:solidFill>
                  <a:schemeClr val="tx2"/>
                </a:solidFill>
              </a:defRPr>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4" name="Content Placeholder 3"/>
          <p:cNvSpPr>
            <a:spLocks noGrp="1"/>
          </p:cNvSpPr>
          <p:nvPr>
            <p:ph sz="half" idx="2"/>
          </p:nvPr>
        </p:nvSpPr>
        <p:spPr>
          <a:xfrm>
            <a:off x="1097280" y="2582334"/>
            <a:ext cx="4937760" cy="3378200"/>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5" name="Text Placeholder 4"/>
          <p:cNvSpPr>
            <a:spLocks noGrp="1"/>
          </p:cNvSpPr>
          <p:nvPr>
            <p:ph type="body" sz="quarter" idx="3"/>
          </p:nvPr>
        </p:nvSpPr>
        <p:spPr>
          <a:xfrm>
            <a:off x="6217920" y="1846052"/>
            <a:ext cx="4937760" cy="736282"/>
          </a:xfrm>
        </p:spPr>
        <p:txBody>
          <a:bodyPr lIns="91440" rIns="91440" anchor="ctr">
            <a:normAutofit/>
          </a:bodyPr>
          <a:lstStyle>
            <a:lvl1pPr marL="0" indent="0">
              <a:buNone/>
              <a:defRPr sz="2000" b="0" cap="all" baseline="0">
                <a:solidFill>
                  <a:schemeClr val="tx2"/>
                </a:solidFill>
              </a:defRPr>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6" name="Content Placeholder 5"/>
          <p:cNvSpPr>
            <a:spLocks noGrp="1"/>
          </p:cNvSpPr>
          <p:nvPr>
            <p:ph sz="quarter" idx="4"/>
          </p:nvPr>
        </p:nvSpPr>
        <p:spPr>
          <a:xfrm>
            <a:off x="6217920" y="2582334"/>
            <a:ext cx="4937760" cy="3378200"/>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7" name="Date Placeholder 6"/>
          <p:cNvSpPr>
            <a:spLocks noGrp="1"/>
          </p:cNvSpPr>
          <p:nvPr>
            <p:ph type="dt" sz="half" idx="10"/>
          </p:nvPr>
        </p:nvSpPr>
        <p:spPr/>
        <p:txBody>
          <a:bodyPr/>
          <a:lstStyle/>
          <a:p>
            <a:fld id="{E6426E2C-56C1-4E0D-A793-0088A7FDD37E}" type="datetimeFigureOut">
              <a:rPr lang="en-US" dirty="0"/>
              <a:t>10/3/2025</a:t>
            </a:fld>
            <a:endParaRPr lang="en-US" dirty="0"/>
          </a:p>
        </p:txBody>
      </p:sp>
      <p:sp>
        <p:nvSpPr>
          <p:cNvPr id="8" name="Footer Placeholder 7"/>
          <p:cNvSpPr>
            <a:spLocks noGrp="1"/>
          </p:cNvSpPr>
          <p:nvPr>
            <p:ph type="ftr" sz="quarter" idx="11"/>
          </p:nvPr>
        </p:nvSpPr>
        <p:spPr/>
        <p:txBody>
          <a:bodyPr/>
          <a:lstStyle/>
          <a:p>
            <a:endParaRPr lang="en-US" dirty="0"/>
          </a:p>
        </p:txBody>
      </p:sp>
      <p:sp>
        <p:nvSpPr>
          <p:cNvPr id="9" name="Slide Number Placeholder 8"/>
          <p:cNvSpPr>
            <a:spLocks noGrp="1"/>
          </p:cNvSpPr>
          <p:nvPr>
            <p:ph type="sldNum" sz="quarter" idx="12"/>
          </p:nvPr>
        </p:nvSpPr>
        <p:spPr/>
        <p:txBody>
          <a:bodyPr/>
          <a:lstStyle/>
          <a:p>
            <a:fld id="{4FAB73BC-B049-4115-A692-8D63A059BFB8}" type="slidenum">
              <a:rPr lang="en-US" dirty="0"/>
              <a:t>‹#›</a:t>
            </a:fld>
            <a:endParaRPr lang="en-US" dirty="0"/>
          </a:p>
        </p:txBody>
      </p:sp>
    </p:spTree>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endParaRPr lang="en-US" dirty="0"/>
          </a:p>
        </p:txBody>
      </p:sp>
      <p:sp>
        <p:nvSpPr>
          <p:cNvPr id="3" name="Date Placeholder 2"/>
          <p:cNvSpPr>
            <a:spLocks noGrp="1"/>
          </p:cNvSpPr>
          <p:nvPr>
            <p:ph type="dt" sz="half" idx="10"/>
          </p:nvPr>
        </p:nvSpPr>
        <p:spPr/>
        <p:txBody>
          <a:bodyPr/>
          <a:lstStyle/>
          <a:p>
            <a:fld id="{C8C39B41-D8B5-4052-B551-9B5525EAA8B6}" type="datetimeFigureOut">
              <a:rPr lang="en-US" dirty="0"/>
              <a:t>10/3/2025</a:t>
            </a:fld>
            <a:endParaRPr lang="en-US" dirty="0"/>
          </a:p>
        </p:txBody>
      </p:sp>
      <p:sp>
        <p:nvSpPr>
          <p:cNvPr id="4" name="Footer Placeholder 3"/>
          <p:cNvSpPr>
            <a:spLocks noGrp="1"/>
          </p:cNvSpPr>
          <p:nvPr>
            <p:ph type="ftr" sz="quarter" idx="11"/>
          </p:nvPr>
        </p:nvSpPr>
        <p:spPr/>
        <p:txBody>
          <a:bodyPr/>
          <a:lstStyle/>
          <a:p>
            <a:endParaRPr lang="en-US" dirty="0"/>
          </a:p>
        </p:txBody>
      </p:sp>
      <p:sp>
        <p:nvSpPr>
          <p:cNvPr id="5" name="Slide Number Placeholder 4"/>
          <p:cNvSpPr>
            <a:spLocks noGrp="1"/>
          </p:cNvSpPr>
          <p:nvPr>
            <p:ph type="sldNum" sz="quarter" idx="12"/>
          </p:nvPr>
        </p:nvSpPr>
        <p:spPr/>
        <p:txBody>
          <a:bodyPr/>
          <a:lstStyle/>
          <a:p>
            <a:fld id="{4FAB73BC-B049-4115-A692-8D63A059BFB8}" type="slidenum">
              <a:rPr lang="en-US" dirty="0"/>
              <a:t>‹#›</a:t>
            </a:fld>
            <a:endParaRPr lang="en-US" dirty="0"/>
          </a:p>
        </p:txBody>
      </p:sp>
    </p:spTree>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showMasterSp="0" type="blank" preserve="1">
  <p:cSld name="Blank">
    <p:spTree>
      <p:nvGrpSpPr>
        <p:cNvPr id="1" name=""/>
        <p:cNvGrpSpPr/>
        <p:nvPr/>
      </p:nvGrpSpPr>
      <p:grpSpPr>
        <a:xfrm>
          <a:off x="0" y="0"/>
          <a:ext cx="0" cy="0"/>
          <a:chOff x="0" y="0"/>
          <a:chExt cx="0" cy="0"/>
        </a:xfrm>
      </p:grpSpPr>
      <p:sp>
        <p:nvSpPr>
          <p:cNvPr id="5" name="Rectangle 4"/>
          <p:cNvSpPr/>
          <p:nvPr userDrawn="1"/>
        </p:nvSpPr>
        <p:spPr>
          <a:xfrm>
            <a:off x="3175" y="6400800"/>
            <a:ext cx="12188825" cy="457200"/>
          </a:xfrm>
          <a:prstGeom prst="rect">
            <a:avLst/>
          </a:prstGeom>
          <a:solidFill>
            <a:schemeClr val="accent2"/>
          </a:solidFill>
          <a:ln>
            <a:noFill/>
          </a:ln>
        </p:spPr>
        <p:style>
          <a:lnRef idx="2">
            <a:schemeClr val="accent1">
              <a:shade val="50000"/>
            </a:schemeClr>
          </a:lnRef>
          <a:fillRef idx="1">
            <a:schemeClr val="accent1"/>
          </a:fillRef>
          <a:effectRef idx="0">
            <a:schemeClr val="accent1"/>
          </a:effectRef>
          <a:fontRef idx="minor">
            <a:schemeClr val="lt1"/>
          </a:fontRef>
        </p:style>
      </p:sp>
      <p:sp>
        <p:nvSpPr>
          <p:cNvPr id="6" name="Rectangle 5"/>
          <p:cNvSpPr/>
          <p:nvPr/>
        </p:nvSpPr>
        <p:spPr>
          <a:xfrm>
            <a:off x="15" y="6334316"/>
            <a:ext cx="12188825" cy="64008"/>
          </a:xfrm>
          <a:prstGeom prst="rect">
            <a:avLst/>
          </a:prstGeom>
          <a:solidFill>
            <a:schemeClr val="accent1"/>
          </a:solidFill>
          <a:ln>
            <a:noFill/>
          </a:ln>
        </p:spPr>
        <p:style>
          <a:lnRef idx="2">
            <a:schemeClr val="accent1">
              <a:shade val="50000"/>
            </a:schemeClr>
          </a:lnRef>
          <a:fillRef idx="1">
            <a:schemeClr val="accent1"/>
          </a:fillRef>
          <a:effectRef idx="0">
            <a:schemeClr val="accent1"/>
          </a:effectRef>
          <a:fontRef idx="minor">
            <a:schemeClr val="lt1"/>
          </a:fontRef>
        </p:style>
      </p:sp>
      <p:sp>
        <p:nvSpPr>
          <p:cNvPr id="7" name="Date Placeholder 6"/>
          <p:cNvSpPr>
            <a:spLocks noGrp="1"/>
          </p:cNvSpPr>
          <p:nvPr>
            <p:ph type="dt" sz="half" idx="10"/>
          </p:nvPr>
        </p:nvSpPr>
        <p:spPr/>
        <p:txBody>
          <a:bodyPr/>
          <a:lstStyle/>
          <a:p>
            <a:fld id="{4D94136C-8742-45B2-AF27-D93DF72833A9}" type="datetimeFigureOut">
              <a:rPr lang="en-US" dirty="0"/>
              <a:t>10/3/2025</a:t>
            </a:fld>
            <a:endParaRPr lang="en-US" dirty="0"/>
          </a:p>
        </p:txBody>
      </p:sp>
      <p:sp>
        <p:nvSpPr>
          <p:cNvPr id="8" name="Footer Placeholder 7"/>
          <p:cNvSpPr>
            <a:spLocks noGrp="1"/>
          </p:cNvSpPr>
          <p:nvPr>
            <p:ph type="ftr" sz="quarter" idx="11"/>
          </p:nvPr>
        </p:nvSpPr>
        <p:spPr/>
        <p:txBody>
          <a:bodyPr/>
          <a:lstStyle>
            <a:lvl1pPr>
              <a:defRPr>
                <a:solidFill>
                  <a:srgbClr val="FFFFFF"/>
                </a:solidFill>
              </a:defRPr>
            </a:lvl1pPr>
          </a:lstStyle>
          <a:p>
            <a:endParaRPr lang="en-US" dirty="0"/>
          </a:p>
        </p:txBody>
      </p:sp>
      <p:sp>
        <p:nvSpPr>
          <p:cNvPr id="9" name="Slide Number Placeholder 8"/>
          <p:cNvSpPr>
            <a:spLocks noGrp="1"/>
          </p:cNvSpPr>
          <p:nvPr>
            <p:ph type="sldNum" sz="quarter" idx="12"/>
          </p:nvPr>
        </p:nvSpPr>
        <p:spPr/>
        <p:txBody>
          <a:bodyPr/>
          <a:lstStyle/>
          <a:p>
            <a:fld id="{4FAB73BC-B049-4115-A692-8D63A059BFB8}" type="slidenum">
              <a:rPr lang="en-US" smtClean="0"/>
              <a:pPr/>
              <a:t>‹#›</a:t>
            </a:fld>
            <a:endParaRPr lang="en-US" dirty="0"/>
          </a:p>
        </p:txBody>
      </p:sp>
      <p:sp>
        <p:nvSpPr>
          <p:cNvPr id="3" name="TextBox 2"/>
          <p:cNvSpPr txBox="1"/>
          <p:nvPr userDrawn="1"/>
        </p:nvSpPr>
        <p:spPr>
          <a:xfrm>
            <a:off x="3623662" y="6444734"/>
            <a:ext cx="6119368" cy="369332"/>
          </a:xfrm>
          <a:prstGeom prst="rect">
            <a:avLst/>
          </a:prstGeom>
          <a:noFill/>
        </p:spPr>
        <p:txBody>
          <a:bodyPr wrap="none" rtlCol="0">
            <a:spAutoFit/>
          </a:bodyPr>
          <a:lstStyle/>
          <a:p>
            <a:r>
              <a:rPr lang="en-US" dirty="0">
                <a:hlinkClick r:id="rId2"/>
              </a:rPr>
              <a:t>https://docs.oracle.com/javase/tutorial/essential/concurrency</a:t>
            </a:r>
            <a:endParaRPr lang="en-US" dirty="0"/>
          </a:p>
        </p:txBody>
      </p:sp>
      <p:pic>
        <p:nvPicPr>
          <p:cNvPr id="3074" name="Picture 2" descr="Imagini pentru JAva logo"/>
          <p:cNvPicPr>
            <a:picLocks noChangeAspect="1" noChangeArrowheads="1"/>
          </p:cNvPicPr>
          <p:nvPr userDrawn="1"/>
        </p:nvPicPr>
        <p:blipFill>
          <a:blip r:embed="rId3">
            <a:extLst>
              <a:ext uri="{28A0092B-C50C-407E-A947-70E740481C1C}">
                <a14:useLocalDpi xmlns:a14="http://schemas.microsoft.com/office/drawing/2010/main" val="0"/>
              </a:ext>
            </a:extLst>
          </a:blip>
          <a:srcRect/>
          <a:stretch>
            <a:fillRect/>
          </a:stretch>
        </p:blipFill>
        <p:spPr bwMode="auto">
          <a:xfrm>
            <a:off x="145626" y="6133455"/>
            <a:ext cx="511839" cy="691455"/>
          </a:xfrm>
          <a:prstGeom prst="rect">
            <a:avLst/>
          </a:prstGeom>
          <a:noFill/>
          <a:extLst>
            <a:ext uri="{909E8E84-426E-40DD-AFC4-6F175D3DCCD1}">
              <a14:hiddenFill xmlns:a14="http://schemas.microsoft.com/office/drawing/2010/main">
                <a:solidFill>
                  <a:srgbClr val="FFFFFF"/>
                </a:solidFill>
              </a14:hiddenFill>
            </a:ext>
          </a:extLst>
        </p:spPr>
      </p:pic>
    </p:spTree>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showMasterSp="0" type="objTx" preserve="1">
  <p:cSld name="Content with Caption">
    <p:spTree>
      <p:nvGrpSpPr>
        <p:cNvPr id="1" name=""/>
        <p:cNvGrpSpPr/>
        <p:nvPr/>
      </p:nvGrpSpPr>
      <p:grpSpPr>
        <a:xfrm>
          <a:off x="0" y="0"/>
          <a:ext cx="0" cy="0"/>
          <a:chOff x="0" y="0"/>
          <a:chExt cx="0" cy="0"/>
        </a:xfrm>
      </p:grpSpPr>
      <p:sp>
        <p:nvSpPr>
          <p:cNvPr id="8" name="Rectangle 7"/>
          <p:cNvSpPr/>
          <p:nvPr/>
        </p:nvSpPr>
        <p:spPr>
          <a:xfrm>
            <a:off x="16" y="0"/>
            <a:ext cx="4050791" cy="6858000"/>
          </a:xfrm>
          <a:prstGeom prst="rect">
            <a:avLst/>
          </a:prstGeom>
          <a:solidFill>
            <a:schemeClr val="accent2"/>
          </a:solidFill>
          <a:ln>
            <a:noFill/>
          </a:ln>
        </p:spPr>
        <p:style>
          <a:lnRef idx="2">
            <a:schemeClr val="accent1">
              <a:shade val="50000"/>
            </a:schemeClr>
          </a:lnRef>
          <a:fillRef idx="1">
            <a:schemeClr val="accent1"/>
          </a:fillRef>
          <a:effectRef idx="0">
            <a:schemeClr val="accent1"/>
          </a:effectRef>
          <a:fontRef idx="minor">
            <a:schemeClr val="lt1"/>
          </a:fontRef>
        </p:style>
        <p:txBody>
          <a:bodyPr/>
          <a:lstStyle/>
          <a:p>
            <a:endParaRPr lang="en-GB"/>
          </a:p>
        </p:txBody>
      </p:sp>
      <p:sp>
        <p:nvSpPr>
          <p:cNvPr id="9" name="Rectangle 8"/>
          <p:cNvSpPr/>
          <p:nvPr/>
        </p:nvSpPr>
        <p:spPr>
          <a:xfrm>
            <a:off x="4040071" y="0"/>
            <a:ext cx="64008" cy="6858000"/>
          </a:xfrm>
          <a:prstGeom prst="rect">
            <a:avLst/>
          </a:prstGeom>
          <a:solidFill>
            <a:schemeClr val="accent1"/>
          </a:solidFill>
          <a:ln>
            <a:noFill/>
          </a:ln>
        </p:spPr>
        <p:style>
          <a:lnRef idx="2">
            <a:schemeClr val="accent1">
              <a:shade val="50000"/>
            </a:schemeClr>
          </a:lnRef>
          <a:fillRef idx="1">
            <a:schemeClr val="accent1"/>
          </a:fillRef>
          <a:effectRef idx="0">
            <a:schemeClr val="accent1"/>
          </a:effectRef>
          <a:fontRef idx="minor">
            <a:schemeClr val="lt1"/>
          </a:fontRef>
        </p:style>
        <p:txBody>
          <a:bodyPr/>
          <a:lstStyle/>
          <a:p>
            <a:endParaRPr lang="en-GB"/>
          </a:p>
        </p:txBody>
      </p:sp>
      <p:sp>
        <p:nvSpPr>
          <p:cNvPr id="2" name="Title 1"/>
          <p:cNvSpPr>
            <a:spLocks noGrp="1"/>
          </p:cNvSpPr>
          <p:nvPr>
            <p:ph type="title"/>
          </p:nvPr>
        </p:nvSpPr>
        <p:spPr>
          <a:xfrm>
            <a:off x="457200" y="594359"/>
            <a:ext cx="3200400" cy="2286000"/>
          </a:xfrm>
        </p:spPr>
        <p:txBody>
          <a:bodyPr anchor="b">
            <a:normAutofit/>
          </a:bodyPr>
          <a:lstStyle>
            <a:lvl1pPr>
              <a:defRPr sz="3600" b="0">
                <a:solidFill>
                  <a:srgbClr val="FFFFFF"/>
                </a:solidFill>
              </a:defRPr>
            </a:lvl1pPr>
          </a:lstStyle>
          <a:p>
            <a:r>
              <a:rPr lang="en-US"/>
              <a:t>Click to edit Master title style</a:t>
            </a:r>
            <a:endParaRPr lang="en-US" dirty="0"/>
          </a:p>
        </p:txBody>
      </p:sp>
      <p:sp>
        <p:nvSpPr>
          <p:cNvPr id="3" name="Content Placeholder 2"/>
          <p:cNvSpPr>
            <a:spLocks noGrp="1"/>
          </p:cNvSpPr>
          <p:nvPr>
            <p:ph idx="1"/>
          </p:nvPr>
        </p:nvSpPr>
        <p:spPr>
          <a:xfrm>
            <a:off x="4800600" y="731520"/>
            <a:ext cx="6492240" cy="5257800"/>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Text Placeholder 3"/>
          <p:cNvSpPr>
            <a:spLocks noGrp="1"/>
          </p:cNvSpPr>
          <p:nvPr>
            <p:ph type="body" sz="half" idx="2"/>
          </p:nvPr>
        </p:nvSpPr>
        <p:spPr>
          <a:xfrm>
            <a:off x="457200" y="2926080"/>
            <a:ext cx="3200400" cy="3379124"/>
          </a:xfrm>
        </p:spPr>
        <p:txBody>
          <a:bodyPr lIns="91440" rIns="91440">
            <a:normAutofit/>
          </a:bodyPr>
          <a:lstStyle>
            <a:lvl1pPr marL="0" indent="0">
              <a:buNone/>
              <a:defRPr sz="1500">
                <a:solidFill>
                  <a:srgbClr val="FFFFFF"/>
                </a:solidFill>
              </a:defRPr>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a:t>Click to edit Master text styles</a:t>
            </a:r>
          </a:p>
        </p:txBody>
      </p:sp>
      <p:sp>
        <p:nvSpPr>
          <p:cNvPr id="5" name="Date Placeholder 4"/>
          <p:cNvSpPr>
            <a:spLocks noGrp="1"/>
          </p:cNvSpPr>
          <p:nvPr>
            <p:ph type="dt" sz="half" idx="10"/>
          </p:nvPr>
        </p:nvSpPr>
        <p:spPr>
          <a:xfrm>
            <a:off x="465512" y="6459785"/>
            <a:ext cx="2618510" cy="365125"/>
          </a:xfrm>
        </p:spPr>
        <p:txBody>
          <a:bodyPr/>
          <a:lstStyle>
            <a:lvl1pPr algn="l">
              <a:defRPr/>
            </a:lvl1pPr>
          </a:lstStyle>
          <a:p>
            <a:fld id="{32ABBEA6-7C60-4B02-AE87-00D78D8422AF}" type="datetimeFigureOut">
              <a:rPr lang="en-US" dirty="0"/>
              <a:t>10/3/2025</a:t>
            </a:fld>
            <a:endParaRPr lang="en-US" dirty="0"/>
          </a:p>
        </p:txBody>
      </p:sp>
      <p:sp>
        <p:nvSpPr>
          <p:cNvPr id="6" name="Footer Placeholder 5"/>
          <p:cNvSpPr>
            <a:spLocks noGrp="1"/>
          </p:cNvSpPr>
          <p:nvPr>
            <p:ph type="ftr" sz="quarter" idx="11"/>
          </p:nvPr>
        </p:nvSpPr>
        <p:spPr>
          <a:xfrm>
            <a:off x="4800600" y="6459785"/>
            <a:ext cx="4648200" cy="365125"/>
          </a:xfrm>
        </p:spPr>
        <p:txBody>
          <a:bodyPr/>
          <a:lstStyle>
            <a:lvl1pPr algn="l">
              <a:defRPr>
                <a:solidFill>
                  <a:schemeClr val="tx2"/>
                </a:solidFill>
              </a:defRPr>
            </a:lvl1pPr>
          </a:lstStyle>
          <a:p>
            <a:endParaRPr lang="en-US" dirty="0"/>
          </a:p>
        </p:txBody>
      </p:sp>
      <p:sp>
        <p:nvSpPr>
          <p:cNvPr id="7" name="Slide Number Placeholder 6"/>
          <p:cNvSpPr>
            <a:spLocks noGrp="1"/>
          </p:cNvSpPr>
          <p:nvPr>
            <p:ph type="sldNum" sz="quarter" idx="12"/>
          </p:nvPr>
        </p:nvSpPr>
        <p:spPr/>
        <p:txBody>
          <a:bodyPr/>
          <a:lstStyle>
            <a:lvl1pPr>
              <a:defRPr>
                <a:solidFill>
                  <a:schemeClr val="tx2"/>
                </a:solidFill>
              </a:defRPr>
            </a:lvl1pPr>
          </a:lstStyle>
          <a:p>
            <a:fld id="{4FAB73BC-B049-4115-A692-8D63A059BFB8}" type="slidenum">
              <a:rPr lang="en-US" dirty="0"/>
              <a:pPr/>
              <a:t>‹#›</a:t>
            </a:fld>
            <a:endParaRPr lang="en-US" dirty="0"/>
          </a:p>
        </p:txBody>
      </p:sp>
    </p:spTree>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3" Type="http://schemas.openxmlformats.org/officeDocument/2006/relationships/slideLayout" Target="../slideLayouts/slideLayout3.xml"/><Relationship Id="rId7" Type="http://schemas.openxmlformats.org/officeDocument/2006/relationships/slideLayout" Target="../slideLayouts/slideLayout7.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5" Type="http://schemas.openxmlformats.org/officeDocument/2006/relationships/slideLayout" Target="../slideLayouts/slideLayout5.xml"/><Relationship Id="rId4" Type="http://schemas.openxmlformats.org/officeDocument/2006/relationships/slideLayout" Target="../slideLayouts/slideLayout4.xml"/><Relationship Id="rId9"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7" name="Rectangle 6"/>
          <p:cNvSpPr/>
          <p:nvPr/>
        </p:nvSpPr>
        <p:spPr>
          <a:xfrm>
            <a:off x="1" y="6400800"/>
            <a:ext cx="12192000" cy="457200"/>
          </a:xfrm>
          <a:prstGeom prst="rect">
            <a:avLst/>
          </a:prstGeom>
          <a:solidFill>
            <a:schemeClr val="accent2"/>
          </a:solidFill>
          <a:ln>
            <a:noFill/>
          </a:ln>
        </p:spPr>
        <p:style>
          <a:lnRef idx="2">
            <a:schemeClr val="accent1">
              <a:shade val="50000"/>
            </a:schemeClr>
          </a:lnRef>
          <a:fillRef idx="1">
            <a:schemeClr val="accent1"/>
          </a:fillRef>
          <a:effectRef idx="0">
            <a:schemeClr val="accent1"/>
          </a:effectRef>
          <a:fontRef idx="minor">
            <a:schemeClr val="lt1"/>
          </a:fontRef>
        </p:style>
        <p:txBody>
          <a:bodyPr/>
          <a:lstStyle/>
          <a:p>
            <a:endParaRPr lang="en-GB"/>
          </a:p>
        </p:txBody>
      </p:sp>
      <p:sp>
        <p:nvSpPr>
          <p:cNvPr id="9" name="Rectangle 8"/>
          <p:cNvSpPr/>
          <p:nvPr/>
        </p:nvSpPr>
        <p:spPr>
          <a:xfrm>
            <a:off x="0" y="6334316"/>
            <a:ext cx="12192001" cy="65998"/>
          </a:xfrm>
          <a:prstGeom prst="rect">
            <a:avLst/>
          </a:prstGeom>
          <a:solidFill>
            <a:schemeClr val="accent1"/>
          </a:solidFill>
          <a:ln>
            <a:noFill/>
          </a:ln>
        </p:spPr>
        <p:style>
          <a:lnRef idx="2">
            <a:schemeClr val="accent1">
              <a:shade val="50000"/>
            </a:schemeClr>
          </a:lnRef>
          <a:fillRef idx="1">
            <a:schemeClr val="accent1"/>
          </a:fillRef>
          <a:effectRef idx="0">
            <a:schemeClr val="accent1"/>
          </a:effectRef>
          <a:fontRef idx="minor">
            <a:schemeClr val="lt1"/>
          </a:fontRef>
        </p:style>
        <p:txBody>
          <a:bodyPr/>
          <a:lstStyle/>
          <a:p>
            <a:endParaRPr lang="en-GB"/>
          </a:p>
        </p:txBody>
      </p:sp>
      <p:sp>
        <p:nvSpPr>
          <p:cNvPr id="2" name="Title Placeholder 1"/>
          <p:cNvSpPr>
            <a:spLocks noGrp="1"/>
          </p:cNvSpPr>
          <p:nvPr>
            <p:ph type="title"/>
          </p:nvPr>
        </p:nvSpPr>
        <p:spPr>
          <a:xfrm>
            <a:off x="1097280" y="286603"/>
            <a:ext cx="10058400" cy="1450757"/>
          </a:xfrm>
          <a:prstGeom prst="rect">
            <a:avLst/>
          </a:prstGeom>
        </p:spPr>
        <p:txBody>
          <a:bodyPr vert="horz" lIns="91440" tIns="45720" rIns="91440" bIns="45720" rtlCol="0" anchor="b">
            <a:normAutofit/>
          </a:bodyPr>
          <a:lstStyle/>
          <a:p>
            <a:r>
              <a:rPr lang="en-US"/>
              <a:t>Click to edit Master title style</a:t>
            </a:r>
            <a:endParaRPr lang="en-US" dirty="0"/>
          </a:p>
        </p:txBody>
      </p:sp>
      <p:sp>
        <p:nvSpPr>
          <p:cNvPr id="3" name="Text Placeholder 2"/>
          <p:cNvSpPr>
            <a:spLocks noGrp="1"/>
          </p:cNvSpPr>
          <p:nvPr>
            <p:ph type="body" idx="1"/>
          </p:nvPr>
        </p:nvSpPr>
        <p:spPr>
          <a:xfrm>
            <a:off x="1097280" y="1845734"/>
            <a:ext cx="10058400" cy="4023360"/>
          </a:xfrm>
          <a:prstGeom prst="rect">
            <a:avLst/>
          </a:prstGeom>
        </p:spPr>
        <p:txBody>
          <a:bodyPr vert="horz" lIns="0" tIns="45720" rIns="0" bIns="45720" rtlCol="0">
            <a:normAutofit/>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Date Placeholder 3"/>
          <p:cNvSpPr>
            <a:spLocks noGrp="1"/>
          </p:cNvSpPr>
          <p:nvPr>
            <p:ph type="dt" sz="half" idx="2"/>
          </p:nvPr>
        </p:nvSpPr>
        <p:spPr>
          <a:xfrm>
            <a:off x="1097280" y="6459785"/>
            <a:ext cx="2472271" cy="365125"/>
          </a:xfrm>
          <a:prstGeom prst="rect">
            <a:avLst/>
          </a:prstGeom>
        </p:spPr>
        <p:txBody>
          <a:bodyPr vert="horz" lIns="91440" tIns="45720" rIns="91440" bIns="45720" rtlCol="0" anchor="ctr"/>
          <a:lstStyle>
            <a:lvl1pPr algn="l">
              <a:defRPr sz="900">
                <a:solidFill>
                  <a:srgbClr val="FFFFFF"/>
                </a:solidFill>
              </a:defRPr>
            </a:lvl1pPr>
          </a:lstStyle>
          <a:p>
            <a:fld id="{98624D31-43A5-475A-80CF-332C9F6DCF35}" type="datetimeFigureOut">
              <a:rPr lang="en-US" dirty="0"/>
              <a:t>10/3/2025</a:t>
            </a:fld>
            <a:endParaRPr lang="en-US" dirty="0"/>
          </a:p>
        </p:txBody>
      </p:sp>
      <p:sp>
        <p:nvSpPr>
          <p:cNvPr id="5" name="Footer Placeholder 4"/>
          <p:cNvSpPr>
            <a:spLocks noGrp="1"/>
          </p:cNvSpPr>
          <p:nvPr>
            <p:ph type="ftr" sz="quarter" idx="3"/>
          </p:nvPr>
        </p:nvSpPr>
        <p:spPr>
          <a:xfrm>
            <a:off x="3686185" y="6459785"/>
            <a:ext cx="4822804" cy="365125"/>
          </a:xfrm>
          <a:prstGeom prst="rect">
            <a:avLst/>
          </a:prstGeom>
        </p:spPr>
        <p:txBody>
          <a:bodyPr vert="horz" lIns="91440" tIns="45720" rIns="91440" bIns="45720" rtlCol="0" anchor="ctr"/>
          <a:lstStyle>
            <a:lvl1pPr algn="ctr">
              <a:defRPr sz="900" cap="all" baseline="0">
                <a:solidFill>
                  <a:srgbClr val="FFFFFF"/>
                </a:solidFill>
              </a:defRPr>
            </a:lvl1pPr>
          </a:lstStyle>
          <a:p>
            <a:endParaRPr lang="en-US" dirty="0"/>
          </a:p>
        </p:txBody>
      </p:sp>
      <p:sp>
        <p:nvSpPr>
          <p:cNvPr id="6" name="Slide Number Placeholder 5"/>
          <p:cNvSpPr>
            <a:spLocks noGrp="1"/>
          </p:cNvSpPr>
          <p:nvPr>
            <p:ph type="sldNum" sz="quarter" idx="4"/>
          </p:nvPr>
        </p:nvSpPr>
        <p:spPr>
          <a:xfrm>
            <a:off x="9900458" y="6459785"/>
            <a:ext cx="1312025" cy="365125"/>
          </a:xfrm>
          <a:prstGeom prst="rect">
            <a:avLst/>
          </a:prstGeom>
        </p:spPr>
        <p:txBody>
          <a:bodyPr vert="horz" lIns="91440" tIns="45720" rIns="91440" bIns="45720" rtlCol="0" anchor="ctr"/>
          <a:lstStyle>
            <a:lvl1pPr algn="r">
              <a:defRPr sz="1050">
                <a:solidFill>
                  <a:srgbClr val="FFFFFF"/>
                </a:solidFill>
              </a:defRPr>
            </a:lvl1pPr>
          </a:lstStyle>
          <a:p>
            <a:fld id="{4FAB73BC-B049-4115-A692-8D63A059BFB8}" type="slidenum">
              <a:rPr lang="en-US" dirty="0"/>
              <a:pPr/>
              <a:t>‹#›</a:t>
            </a:fld>
            <a:endParaRPr lang="en-US" dirty="0"/>
          </a:p>
        </p:txBody>
      </p:sp>
      <p:cxnSp>
        <p:nvCxnSpPr>
          <p:cNvPr id="10" name="Straight Connector 9"/>
          <p:cNvCxnSpPr/>
          <p:nvPr/>
        </p:nvCxnSpPr>
        <p:spPr>
          <a:xfrm>
            <a:off x="1193532" y="1737845"/>
            <a:ext cx="9966960" cy="0"/>
          </a:xfrm>
          <a:prstGeom prst="line">
            <a:avLst/>
          </a:prstGeom>
          <a:ln w="6350">
            <a:solidFill>
              <a:schemeClr val="tx1">
                <a:lumMod val="50000"/>
                <a:lumOff val="50000"/>
              </a:schemeClr>
            </a:solidFill>
          </a:ln>
        </p:spPr>
        <p:style>
          <a:lnRef idx="1">
            <a:schemeClr val="accent1"/>
          </a:lnRef>
          <a:fillRef idx="0">
            <a:schemeClr val="accent1"/>
          </a:fillRef>
          <a:effectRef idx="0">
            <a:schemeClr val="accent1"/>
          </a:effectRef>
          <a:fontRef idx="minor">
            <a:schemeClr val="tx1"/>
          </a:fontRef>
        </p:style>
      </p:cxnSp>
    </p:spTree>
  </p:cSld>
  <p:clrMap bg1="lt1" tx1="dk1" bg2="lt2" tx2="dk2" accent1="accent1" accent2="accent2" accent3="accent3" accent4="accent4" accent5="accent5" accent6="accent6" hlink="hlink" folHlink="folHlink"/>
  <p:sldLayoutIdLst>
    <p:sldLayoutId id="2147483649" r:id="rId1"/>
    <p:sldLayoutId id="2147483660" r:id="rId2"/>
    <p:sldLayoutId id="2147483651" r:id="rId3"/>
    <p:sldLayoutId id="2147483652" r:id="rId4"/>
    <p:sldLayoutId id="2147483653" r:id="rId5"/>
    <p:sldLayoutId id="2147483654" r:id="rId6"/>
    <p:sldLayoutId id="2147483655" r:id="rId7"/>
    <p:sldLayoutId id="2147483656" r:id="rId8"/>
  </p:sldLayoutIdLst>
  <p:hf sldNum="0" hdr="0" ftr="0" dt="0"/>
  <p:txStyles>
    <p:titleStyle>
      <a:lvl1pPr algn="l" defTabSz="914400" rtl="0" eaLnBrk="1" latinLnBrk="0" hangingPunct="1">
        <a:lnSpc>
          <a:spcPct val="85000"/>
        </a:lnSpc>
        <a:spcBef>
          <a:spcPct val="0"/>
        </a:spcBef>
        <a:buNone/>
        <a:defRPr sz="4800" kern="1200" spc="-50" baseline="0">
          <a:solidFill>
            <a:schemeClr val="tx1">
              <a:lumMod val="75000"/>
              <a:lumOff val="25000"/>
            </a:schemeClr>
          </a:solidFill>
          <a:latin typeface="+mj-lt"/>
          <a:ea typeface="+mj-ea"/>
          <a:cs typeface="+mj-cs"/>
        </a:defRPr>
      </a:lvl1pPr>
    </p:titleStyle>
    <p:bodyStyle>
      <a:lvl1pPr marL="91440" indent="-91440" algn="l" defTabSz="914400" rtl="0" eaLnBrk="1" latinLnBrk="0" hangingPunct="1">
        <a:lnSpc>
          <a:spcPct val="90000"/>
        </a:lnSpc>
        <a:spcBef>
          <a:spcPts val="1200"/>
        </a:spcBef>
        <a:spcAft>
          <a:spcPts val="200"/>
        </a:spcAft>
        <a:buClr>
          <a:schemeClr val="accent1"/>
        </a:buClr>
        <a:buSzPct val="100000"/>
        <a:buFont typeface="Calibri" panose="020F0502020204030204" pitchFamily="34" charset="0"/>
        <a:buChar char=" "/>
        <a:defRPr sz="2000" kern="1200">
          <a:solidFill>
            <a:schemeClr val="tx1">
              <a:lumMod val="75000"/>
              <a:lumOff val="25000"/>
            </a:schemeClr>
          </a:solidFill>
          <a:latin typeface="+mn-lt"/>
          <a:ea typeface="+mn-ea"/>
          <a:cs typeface="+mn-cs"/>
        </a:defRPr>
      </a:lvl1pPr>
      <a:lvl2pPr marL="384048" indent="-182880" algn="l" defTabSz="914400" rtl="0" eaLnBrk="1" latinLnBrk="0" hangingPunct="1">
        <a:lnSpc>
          <a:spcPct val="90000"/>
        </a:lnSpc>
        <a:spcBef>
          <a:spcPts val="200"/>
        </a:spcBef>
        <a:spcAft>
          <a:spcPts val="400"/>
        </a:spcAft>
        <a:buClr>
          <a:schemeClr val="accent1"/>
        </a:buClr>
        <a:buFont typeface="Calibri" pitchFamily="34" charset="0"/>
        <a:buChar char="◦"/>
        <a:defRPr sz="1800" kern="1200">
          <a:solidFill>
            <a:schemeClr val="tx1">
              <a:lumMod val="75000"/>
              <a:lumOff val="25000"/>
            </a:schemeClr>
          </a:solidFill>
          <a:latin typeface="+mn-lt"/>
          <a:ea typeface="+mn-ea"/>
          <a:cs typeface="+mn-cs"/>
        </a:defRPr>
      </a:lvl2pPr>
      <a:lvl3pPr marL="566928" indent="-182880" algn="l" defTabSz="914400" rtl="0" eaLnBrk="1" latinLnBrk="0" hangingPunct="1">
        <a:lnSpc>
          <a:spcPct val="90000"/>
        </a:lnSpc>
        <a:spcBef>
          <a:spcPts val="200"/>
        </a:spcBef>
        <a:spcAft>
          <a:spcPts val="400"/>
        </a:spcAft>
        <a:buClr>
          <a:schemeClr val="accent1"/>
        </a:buClr>
        <a:buFont typeface="Calibri" pitchFamily="34" charset="0"/>
        <a:buChar char="◦"/>
        <a:defRPr sz="1400" kern="1200">
          <a:solidFill>
            <a:schemeClr val="tx1">
              <a:lumMod val="75000"/>
              <a:lumOff val="25000"/>
            </a:schemeClr>
          </a:solidFill>
          <a:latin typeface="+mn-lt"/>
          <a:ea typeface="+mn-ea"/>
          <a:cs typeface="+mn-cs"/>
        </a:defRPr>
      </a:lvl3pPr>
      <a:lvl4pPr marL="749808" indent="-182880" algn="l" defTabSz="914400" rtl="0" eaLnBrk="1" latinLnBrk="0" hangingPunct="1">
        <a:lnSpc>
          <a:spcPct val="90000"/>
        </a:lnSpc>
        <a:spcBef>
          <a:spcPts val="200"/>
        </a:spcBef>
        <a:spcAft>
          <a:spcPts val="400"/>
        </a:spcAft>
        <a:buClr>
          <a:schemeClr val="accent1"/>
        </a:buClr>
        <a:buFont typeface="Calibri" pitchFamily="34" charset="0"/>
        <a:buChar char="◦"/>
        <a:defRPr sz="1400" kern="1200">
          <a:solidFill>
            <a:schemeClr val="tx1">
              <a:lumMod val="75000"/>
              <a:lumOff val="25000"/>
            </a:schemeClr>
          </a:solidFill>
          <a:latin typeface="+mn-lt"/>
          <a:ea typeface="+mn-ea"/>
          <a:cs typeface="+mn-cs"/>
        </a:defRPr>
      </a:lvl4pPr>
      <a:lvl5pPr marL="932688" indent="-182880" algn="l" defTabSz="914400" rtl="0" eaLnBrk="1" latinLnBrk="0" hangingPunct="1">
        <a:lnSpc>
          <a:spcPct val="90000"/>
        </a:lnSpc>
        <a:spcBef>
          <a:spcPts val="200"/>
        </a:spcBef>
        <a:spcAft>
          <a:spcPts val="400"/>
        </a:spcAft>
        <a:buClr>
          <a:schemeClr val="accent1"/>
        </a:buClr>
        <a:buFont typeface="Calibri" pitchFamily="34" charset="0"/>
        <a:buChar char="◦"/>
        <a:defRPr sz="1400" kern="1200">
          <a:solidFill>
            <a:schemeClr val="tx1">
              <a:lumMod val="75000"/>
              <a:lumOff val="25000"/>
            </a:schemeClr>
          </a:solidFill>
          <a:latin typeface="+mn-lt"/>
          <a:ea typeface="+mn-ea"/>
          <a:cs typeface="+mn-cs"/>
        </a:defRPr>
      </a:lvl5pPr>
      <a:lvl6pPr marL="1100000" indent="-228600" algn="l" defTabSz="914400" rtl="0" eaLnBrk="1" latinLnBrk="0" hangingPunct="1">
        <a:lnSpc>
          <a:spcPct val="90000"/>
        </a:lnSpc>
        <a:spcBef>
          <a:spcPts val="200"/>
        </a:spcBef>
        <a:spcAft>
          <a:spcPts val="400"/>
        </a:spcAft>
        <a:buClr>
          <a:schemeClr val="accent1"/>
        </a:buClr>
        <a:buFont typeface="Calibri" pitchFamily="34" charset="0"/>
        <a:buChar char="◦"/>
        <a:defRPr sz="1400" kern="1200">
          <a:solidFill>
            <a:schemeClr val="tx1">
              <a:lumMod val="75000"/>
              <a:lumOff val="25000"/>
            </a:schemeClr>
          </a:solidFill>
          <a:latin typeface="+mn-lt"/>
          <a:ea typeface="+mn-ea"/>
          <a:cs typeface="+mn-cs"/>
        </a:defRPr>
      </a:lvl6pPr>
      <a:lvl7pPr marL="1300000" indent="-228600" algn="l" defTabSz="914400" rtl="0" eaLnBrk="1" latinLnBrk="0" hangingPunct="1">
        <a:lnSpc>
          <a:spcPct val="90000"/>
        </a:lnSpc>
        <a:spcBef>
          <a:spcPts val="200"/>
        </a:spcBef>
        <a:spcAft>
          <a:spcPts val="400"/>
        </a:spcAft>
        <a:buClr>
          <a:schemeClr val="accent1"/>
        </a:buClr>
        <a:buFont typeface="Calibri" pitchFamily="34" charset="0"/>
        <a:buChar char="◦"/>
        <a:defRPr sz="1400" kern="1200">
          <a:solidFill>
            <a:schemeClr val="tx1">
              <a:lumMod val="75000"/>
              <a:lumOff val="25000"/>
            </a:schemeClr>
          </a:solidFill>
          <a:latin typeface="+mn-lt"/>
          <a:ea typeface="+mn-ea"/>
          <a:cs typeface="+mn-cs"/>
        </a:defRPr>
      </a:lvl7pPr>
      <a:lvl8pPr marL="1500000" indent="-228600" algn="l" defTabSz="914400" rtl="0" eaLnBrk="1" latinLnBrk="0" hangingPunct="1">
        <a:lnSpc>
          <a:spcPct val="90000"/>
        </a:lnSpc>
        <a:spcBef>
          <a:spcPts val="200"/>
        </a:spcBef>
        <a:spcAft>
          <a:spcPts val="400"/>
        </a:spcAft>
        <a:buClr>
          <a:schemeClr val="accent1"/>
        </a:buClr>
        <a:buFont typeface="Calibri" pitchFamily="34" charset="0"/>
        <a:buChar char="◦"/>
        <a:defRPr sz="1400" kern="1200">
          <a:solidFill>
            <a:schemeClr val="tx1">
              <a:lumMod val="75000"/>
              <a:lumOff val="25000"/>
            </a:schemeClr>
          </a:solidFill>
          <a:latin typeface="+mn-lt"/>
          <a:ea typeface="+mn-ea"/>
          <a:cs typeface="+mn-cs"/>
        </a:defRPr>
      </a:lvl8pPr>
      <a:lvl9pPr marL="1700000" indent="-228600" algn="l" defTabSz="914400" rtl="0" eaLnBrk="1" latinLnBrk="0" hangingPunct="1">
        <a:lnSpc>
          <a:spcPct val="90000"/>
        </a:lnSpc>
        <a:spcBef>
          <a:spcPts val="200"/>
        </a:spcBef>
        <a:spcAft>
          <a:spcPts val="400"/>
        </a:spcAft>
        <a:buClr>
          <a:schemeClr val="accent1"/>
        </a:buClr>
        <a:buFont typeface="Calibri" pitchFamily="34" charset="0"/>
        <a:buChar char="◦"/>
        <a:defRPr sz="1400" kern="1200">
          <a:solidFill>
            <a:schemeClr val="tx1">
              <a:lumMod val="75000"/>
              <a:lumOff val="25000"/>
            </a:schemeClr>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3" Type="http://schemas.openxmlformats.org/officeDocument/2006/relationships/image" Target="../media/image2.png"/><Relationship Id="rId2" Type="http://schemas.openxmlformats.org/officeDocument/2006/relationships/hyperlink" Target="https://docs.oracle.com/javase/tutorial/essential/concurrency/sleep.html" TargetMode="External"/><Relationship Id="rId1" Type="http://schemas.openxmlformats.org/officeDocument/2006/relationships/slideLayout" Target="../slideLayouts/slideLayout8.xml"/><Relationship Id="rId6" Type="http://schemas.openxmlformats.org/officeDocument/2006/relationships/hyperlink" Target="https://docs.oracle.com/en/java/javase/23/docs/api/index.html" TargetMode="External"/><Relationship Id="rId5" Type="http://schemas.openxmlformats.org/officeDocument/2006/relationships/hyperlink" Target="https://docs.oracle.com/javase/specs/jls/se23/jls23.pdf" TargetMode="External"/><Relationship Id="rId4" Type="http://schemas.openxmlformats.org/officeDocument/2006/relationships/hyperlink" Target="https://docs.oracle.com/javase/tutorial/essential/concurrency/" TargetMode="Externa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3.xml.rels><?xml version="1.0" encoding="UTF-8" standalone="yes"?>
<Relationships xmlns="http://schemas.openxmlformats.org/package/2006/relationships"><Relationship Id="rId3" Type="http://schemas.openxmlformats.org/officeDocument/2006/relationships/hyperlink" Target="https://docs.oracle.com/en/java/javase/21/docs/api/java.base/java/lang/Thread.html" TargetMode="External"/><Relationship Id="rId2" Type="http://schemas.openxmlformats.org/officeDocument/2006/relationships/hyperlink" Target="https://openjdk.org/jeps/444" TargetMode="External"/><Relationship Id="rId1" Type="http://schemas.openxmlformats.org/officeDocument/2006/relationships/slideLayout" Target="../slideLayouts/slideLayout7.xml"/></Relationships>
</file>

<file path=ppt/slides/_rels/slide4.xml.rels><?xml version="1.0" encoding="UTF-8" standalone="yes"?>
<Relationships xmlns="http://schemas.openxmlformats.org/package/2006/relationships"><Relationship Id="rId3" Type="http://schemas.openxmlformats.org/officeDocument/2006/relationships/hyperlink" Target="https://docs.oracle.com/en/java/javase/21/docs/api/java.base/java/lang/Thread.html" TargetMode="External"/><Relationship Id="rId2" Type="http://schemas.openxmlformats.org/officeDocument/2006/relationships/hyperlink" Target="https://openjdk.org/jeps/444" TargetMode="External"/><Relationship Id="rId1" Type="http://schemas.openxmlformats.org/officeDocument/2006/relationships/slideLayout" Target="../slideLayouts/slideLayout7.xml"/></Relationships>
</file>

<file path=ppt/slides/_rels/slide5.xml.rels><?xml version="1.0" encoding="UTF-8" standalone="yes"?>
<Relationships xmlns="http://schemas.openxmlformats.org/package/2006/relationships"><Relationship Id="rId2" Type="http://schemas.openxmlformats.org/officeDocument/2006/relationships/hyperlink" Target="https://docs.oracle.com/en/java/javase/22/docs/api/java.base/java/lang/Thread.html" TargetMode="External"/><Relationship Id="rId1" Type="http://schemas.openxmlformats.org/officeDocument/2006/relationships/slideLayout" Target="../slideLayouts/slideLayout7.xml"/></Relationships>
</file>

<file path=ppt/slides/_rels/slide6.xml.rels><?xml version="1.0" encoding="UTF-8" standalone="yes"?>
<Relationships xmlns="http://schemas.openxmlformats.org/package/2006/relationships"><Relationship Id="rId3" Type="http://schemas.openxmlformats.org/officeDocument/2006/relationships/image" Target="../media/image3.png"/><Relationship Id="rId2" Type="http://schemas.openxmlformats.org/officeDocument/2006/relationships/hyperlink" Target="https://docs.oracle.com/en/java/javase/23/docs/api/java.base/java/lang/Thread.State.html" TargetMode="External"/><Relationship Id="rId1" Type="http://schemas.openxmlformats.org/officeDocument/2006/relationships/slideLayout" Target="../slideLayouts/slideLayout7.xml"/><Relationship Id="rId4" Type="http://schemas.openxmlformats.org/officeDocument/2006/relationships/hyperlink" Target="https://www.baeldung.com/java-thread-lifecycle" TargetMode="Externa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5.xml.rels><?xml version="1.0" encoding="UTF-8" standalone="yes"?>
<Relationships xmlns="http://schemas.openxmlformats.org/package/2006/relationships"><Relationship Id="rId2" Type="http://schemas.openxmlformats.org/officeDocument/2006/relationships/image" Target="../media/image4.png"/><Relationship Id="rId1" Type="http://schemas.openxmlformats.org/officeDocument/2006/relationships/slideLayout" Target="../slideLayouts/slideLayout7.xml"/></Relationships>
</file>

<file path=ppt/slides/_rels/slide16.xml.rels><?xml version="1.0" encoding="UTF-8" standalone="yes"?>
<Relationships xmlns="http://schemas.openxmlformats.org/package/2006/relationships"><Relationship Id="rId2" Type="http://schemas.openxmlformats.org/officeDocument/2006/relationships/image" Target="../media/image4.png"/><Relationship Id="rId1" Type="http://schemas.openxmlformats.org/officeDocument/2006/relationships/slideLayout" Target="../slideLayouts/slideLayout7.xml"/></Relationships>
</file>

<file path=ppt/slides/_rels/slide17.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8.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9.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20.xml.rels><?xml version="1.0" encoding="UTF-8" standalone="yes"?>
<Relationships xmlns="http://schemas.openxmlformats.org/package/2006/relationships"><Relationship Id="rId2" Type="http://schemas.openxmlformats.org/officeDocument/2006/relationships/hyperlink" Target="https://docs.oracle.com/javase/tutorial/essential/concurrency/sleep.html" TargetMode="External"/><Relationship Id="rId1" Type="http://schemas.openxmlformats.org/officeDocument/2006/relationships/slideLayout" Target="../slideLayouts/slideLayout7.xml"/></Relationships>
</file>

<file path=ppt/slides/_rels/slide21.xml.rels><?xml version="1.0" encoding="UTF-8" standalone="yes"?>
<Relationships xmlns="http://schemas.openxmlformats.org/package/2006/relationships"><Relationship Id="rId2" Type="http://schemas.openxmlformats.org/officeDocument/2006/relationships/hyperlink" Target="https://docs.oracle.com/javase/tutorial/essential/concurrency/simple.html" TargetMode="External"/><Relationship Id="rId1" Type="http://schemas.openxmlformats.org/officeDocument/2006/relationships/slideLayout" Target="../slideLayouts/slideLayout7.xml"/></Relationships>
</file>

<file path=ppt/slides/_rels/slide22.xml.rels><?xml version="1.0" encoding="UTF-8" standalone="yes"?>
<Relationships xmlns="http://schemas.openxmlformats.org/package/2006/relationships"><Relationship Id="rId3" Type="http://schemas.openxmlformats.org/officeDocument/2006/relationships/image" Target="../media/image5.wmf"/><Relationship Id="rId2" Type="http://schemas.openxmlformats.org/officeDocument/2006/relationships/oleObject" Target="../embeddings/oleObject1.bin"/><Relationship Id="rId1" Type="http://schemas.openxmlformats.org/officeDocument/2006/relationships/slideLayout" Target="../slideLayouts/slideLayout7.xml"/></Relationships>
</file>

<file path=ppt/slides/_rels/slide23.xml.rels><?xml version="1.0" encoding="UTF-8" standalone="yes"?>
<Relationships xmlns="http://schemas.openxmlformats.org/package/2006/relationships"><Relationship Id="rId3" Type="http://schemas.openxmlformats.org/officeDocument/2006/relationships/image" Target="../media/image6.wmf"/><Relationship Id="rId2" Type="http://schemas.openxmlformats.org/officeDocument/2006/relationships/oleObject" Target="../embeddings/oleObject2.bin"/><Relationship Id="rId1" Type="http://schemas.openxmlformats.org/officeDocument/2006/relationships/slideLayout" Target="../slideLayouts/slideLayout7.xml"/><Relationship Id="rId5" Type="http://schemas.openxmlformats.org/officeDocument/2006/relationships/image" Target="../media/image5.wmf"/><Relationship Id="rId4" Type="http://schemas.openxmlformats.org/officeDocument/2006/relationships/oleObject" Target="../embeddings/oleObject1.bin"/></Relationships>
</file>

<file path=ppt/slides/_rels/slide24.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25.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26.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27.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28.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29.xml.rels><?xml version="1.0" encoding="UTF-8" standalone="yes"?>
<Relationships xmlns="http://schemas.openxmlformats.org/package/2006/relationships"><Relationship Id="rId3" Type="http://schemas.openxmlformats.org/officeDocument/2006/relationships/image" Target="../media/image7.wmf"/><Relationship Id="rId2" Type="http://schemas.openxmlformats.org/officeDocument/2006/relationships/oleObject" Target="../embeddings/oleObject3.bin"/><Relationship Id="rId1" Type="http://schemas.openxmlformats.org/officeDocument/2006/relationships/slideLayout" Target="../slideLayouts/slideLayout7.xml"/><Relationship Id="rId5" Type="http://schemas.openxmlformats.org/officeDocument/2006/relationships/image" Target="../media/image8.wmf"/><Relationship Id="rId4" Type="http://schemas.openxmlformats.org/officeDocument/2006/relationships/oleObject" Target="../embeddings/oleObject4.bin"/></Relationships>
</file>

<file path=ppt/slides/_rels/slide30.xml.rels><?xml version="1.0" encoding="UTF-8" standalone="yes"?>
<Relationships xmlns="http://schemas.openxmlformats.org/package/2006/relationships"><Relationship Id="rId3" Type="http://schemas.openxmlformats.org/officeDocument/2006/relationships/image" Target="../media/image8.wmf"/><Relationship Id="rId2" Type="http://schemas.openxmlformats.org/officeDocument/2006/relationships/oleObject" Target="../embeddings/oleObject4.bin"/><Relationship Id="rId1" Type="http://schemas.openxmlformats.org/officeDocument/2006/relationships/slideLayout" Target="../slideLayouts/slideLayout7.xml"/><Relationship Id="rId6" Type="http://schemas.openxmlformats.org/officeDocument/2006/relationships/image" Target="../media/image11.png"/><Relationship Id="rId5" Type="http://schemas.openxmlformats.org/officeDocument/2006/relationships/image" Target="../media/image10.png"/><Relationship Id="rId4" Type="http://schemas.openxmlformats.org/officeDocument/2006/relationships/image" Target="../media/image9.png"/></Relationships>
</file>

<file path=ppt/slides/_rels/slide31.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32.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33.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34.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35.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36.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37.xml.rels><?xml version="1.0" encoding="UTF-8" standalone="yes"?>
<Relationships xmlns="http://schemas.openxmlformats.org/package/2006/relationships"><Relationship Id="rId3" Type="http://schemas.openxmlformats.org/officeDocument/2006/relationships/image" Target="../media/image7.wmf"/><Relationship Id="rId2" Type="http://schemas.openxmlformats.org/officeDocument/2006/relationships/oleObject" Target="../embeddings/oleObject3.bin"/><Relationship Id="rId1" Type="http://schemas.openxmlformats.org/officeDocument/2006/relationships/slideLayout" Target="../slideLayouts/slideLayout7.xml"/><Relationship Id="rId5" Type="http://schemas.openxmlformats.org/officeDocument/2006/relationships/image" Target="../media/image8.wmf"/><Relationship Id="rId4" Type="http://schemas.openxmlformats.org/officeDocument/2006/relationships/oleObject" Target="../embeddings/oleObject4.bin"/></Relationships>
</file>

<file path=ppt/slides/_rels/slide38.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39.xml.rels><?xml version="1.0" encoding="UTF-8" standalone="yes"?>
<Relationships xmlns="http://schemas.openxmlformats.org/package/2006/relationships"><Relationship Id="rId3" Type="http://schemas.openxmlformats.org/officeDocument/2006/relationships/image" Target="../media/image12.wmf"/><Relationship Id="rId2" Type="http://schemas.openxmlformats.org/officeDocument/2006/relationships/oleObject" Target="../embeddings/oleObject5.bin"/><Relationship Id="rId1" Type="http://schemas.openxmlformats.org/officeDocument/2006/relationships/slideLayout" Target="../slideLayouts/slideLayout7.xml"/></Relationships>
</file>

<file path=ppt/slides/_rels/slide40.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41.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42.xml.rels><?xml version="1.0" encoding="UTF-8" standalone="yes"?>
<Relationships xmlns="http://schemas.openxmlformats.org/package/2006/relationships"><Relationship Id="rId3" Type="http://schemas.openxmlformats.org/officeDocument/2006/relationships/hyperlink" Target="https://docs.oracle.com/javase/tutorial/essential/concurrency/memconsist.html" TargetMode="External"/><Relationship Id="rId2" Type="http://schemas.openxmlformats.org/officeDocument/2006/relationships/hyperlink" Target="https://docs.oracle.com/javase/specs/jls/se23/html/jls-17.html#jls-17.4" TargetMode="External"/><Relationship Id="rId1" Type="http://schemas.openxmlformats.org/officeDocument/2006/relationships/slideLayout" Target="../slideLayouts/slideLayout7.xml"/></Relationships>
</file>

<file path=ppt/slides/_rels/slide43.xml.rels><?xml version="1.0" encoding="UTF-8" standalone="yes"?>
<Relationships xmlns="http://schemas.openxmlformats.org/package/2006/relationships"><Relationship Id="rId3" Type="http://schemas.openxmlformats.org/officeDocument/2006/relationships/hyperlink" Target="https://docs.oracle.com/javase/specs/jls/se23/html/jls-17.html#jls-17.4" TargetMode="External"/><Relationship Id="rId2" Type="http://schemas.openxmlformats.org/officeDocument/2006/relationships/hyperlink" Target="https://www.logicbig.com/tutorials/core-java-tutorial/java-multi-threading/happens-before.html" TargetMode="External"/><Relationship Id="rId1" Type="http://schemas.openxmlformats.org/officeDocument/2006/relationships/slideLayout" Target="../slideLayouts/slideLayout7.xml"/></Relationships>
</file>

<file path=ppt/slides/_rels/slide44.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45.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46.xml.rels><?xml version="1.0" encoding="UTF-8" standalone="yes"?>
<Relationships xmlns="http://schemas.openxmlformats.org/package/2006/relationships"><Relationship Id="rId2" Type="http://schemas.openxmlformats.org/officeDocument/2006/relationships/image" Target="../media/image13.png"/><Relationship Id="rId1" Type="http://schemas.openxmlformats.org/officeDocument/2006/relationships/slideLayout" Target="../slideLayouts/slideLayout7.xml"/></Relationships>
</file>

<file path=ppt/slides/_rels/slide47.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48.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Title 3"/>
          <p:cNvSpPr>
            <a:spLocks noGrp="1"/>
          </p:cNvSpPr>
          <p:nvPr>
            <p:ph type="title"/>
          </p:nvPr>
        </p:nvSpPr>
        <p:spPr/>
        <p:txBody>
          <a:bodyPr>
            <a:normAutofit/>
          </a:bodyPr>
          <a:lstStyle/>
          <a:p>
            <a:r>
              <a:rPr lang="en-US" sz="3200" dirty="0"/>
              <a:t>IMPLEMENTAREA</a:t>
            </a:r>
            <a:br>
              <a:rPr lang="en-US" sz="3200" dirty="0"/>
            </a:br>
            <a:r>
              <a:rPr lang="en-US" sz="3200" dirty="0"/>
              <a:t>CONCURENTEI</a:t>
            </a:r>
            <a:br>
              <a:rPr lang="en-US" sz="3200" dirty="0"/>
            </a:br>
            <a:r>
              <a:rPr lang="en-US" sz="3200" dirty="0"/>
              <a:t>IN LIMBAJE DE</a:t>
            </a:r>
            <a:br>
              <a:rPr lang="en-US" sz="3200" dirty="0"/>
            </a:br>
            <a:r>
              <a:rPr lang="en-US" sz="3200" dirty="0"/>
              <a:t>PROGRAMARE</a:t>
            </a:r>
            <a:br>
              <a:rPr lang="en-US" sz="3200" dirty="0"/>
            </a:br>
            <a:endParaRPr lang="en-US" sz="3200" dirty="0"/>
          </a:p>
        </p:txBody>
      </p:sp>
      <p:sp>
        <p:nvSpPr>
          <p:cNvPr id="6" name="Text Placeholder 5"/>
          <p:cNvSpPr>
            <a:spLocks noGrp="1"/>
          </p:cNvSpPr>
          <p:nvPr>
            <p:ph type="body" sz="half" idx="2"/>
          </p:nvPr>
        </p:nvSpPr>
        <p:spPr/>
        <p:txBody>
          <a:bodyPr>
            <a:normAutofit fontScale="92500" lnSpcReduction="20000"/>
          </a:bodyPr>
          <a:lstStyle/>
          <a:p>
            <a:endParaRPr lang="en-US" sz="4000" dirty="0"/>
          </a:p>
          <a:p>
            <a:r>
              <a:rPr lang="en-US" sz="3200" dirty="0"/>
              <a:t>CONCURENTA IN</a:t>
            </a:r>
          </a:p>
          <a:p>
            <a:r>
              <a:rPr lang="en-US" sz="3200" dirty="0"/>
              <a:t>JAVA</a:t>
            </a:r>
          </a:p>
          <a:p>
            <a:endParaRPr lang="en-US" dirty="0"/>
          </a:p>
          <a:p>
            <a:endParaRPr lang="en-US" dirty="0"/>
          </a:p>
          <a:p>
            <a:r>
              <a:rPr lang="en-US" sz="2400" dirty="0"/>
              <a:t>Ioana Leustean</a:t>
            </a:r>
          </a:p>
          <a:p>
            <a:r>
              <a:rPr lang="en-US" sz="3800" dirty="0"/>
              <a:t>	</a:t>
            </a:r>
          </a:p>
        </p:txBody>
      </p:sp>
      <p:sp>
        <p:nvSpPr>
          <p:cNvPr id="2" name="TextBox 1"/>
          <p:cNvSpPr txBox="1"/>
          <p:nvPr/>
        </p:nvSpPr>
        <p:spPr>
          <a:xfrm>
            <a:off x="6791093" y="2926080"/>
            <a:ext cx="184731" cy="369332"/>
          </a:xfrm>
          <a:prstGeom prst="rect">
            <a:avLst/>
          </a:prstGeom>
          <a:noFill/>
        </p:spPr>
        <p:txBody>
          <a:bodyPr wrap="none" rtlCol="0">
            <a:spAutoFit/>
          </a:bodyPr>
          <a:lstStyle/>
          <a:p>
            <a:endParaRPr lang="en-US" dirty="0"/>
          </a:p>
        </p:txBody>
      </p:sp>
      <p:sp>
        <p:nvSpPr>
          <p:cNvPr id="5" name="Content Placeholder 4"/>
          <p:cNvSpPr>
            <a:spLocks noGrp="1"/>
          </p:cNvSpPr>
          <p:nvPr>
            <p:ph idx="1"/>
          </p:nvPr>
        </p:nvSpPr>
        <p:spPr/>
        <p:txBody>
          <a:bodyPr/>
          <a:lstStyle/>
          <a:p>
            <a:endParaRPr lang="en-US" dirty="0"/>
          </a:p>
          <a:p>
            <a:endParaRPr lang="en-US" dirty="0"/>
          </a:p>
          <a:p>
            <a:endParaRPr lang="en-US" dirty="0"/>
          </a:p>
          <a:p>
            <a:endParaRPr lang="en-US" dirty="0"/>
          </a:p>
          <a:p>
            <a:endParaRPr lang="en-US" dirty="0"/>
          </a:p>
          <a:p>
            <a:endParaRPr lang="en-US" dirty="0"/>
          </a:p>
          <a:p>
            <a:endParaRPr lang="en-US" dirty="0"/>
          </a:p>
          <a:p>
            <a:endParaRPr lang="en-US" dirty="0"/>
          </a:p>
          <a:p>
            <a:endParaRPr lang="en-US" dirty="0"/>
          </a:p>
          <a:p>
            <a:endParaRPr lang="en-US" sz="1600" dirty="0">
              <a:hlinkClick r:id="rId2"/>
            </a:endParaRPr>
          </a:p>
          <a:p>
            <a:endParaRPr lang="en-US" sz="1600" dirty="0">
              <a:hlinkClick r:id="rId2"/>
            </a:endParaRPr>
          </a:p>
        </p:txBody>
      </p:sp>
      <p:pic>
        <p:nvPicPr>
          <p:cNvPr id="9" name="Picture 8"/>
          <p:cNvPicPr>
            <a:picLocks noChangeAspect="1"/>
          </p:cNvPicPr>
          <p:nvPr/>
        </p:nvPicPr>
        <p:blipFill>
          <a:blip r:embed="rId3"/>
          <a:stretch>
            <a:fillRect/>
          </a:stretch>
        </p:blipFill>
        <p:spPr>
          <a:xfrm>
            <a:off x="6573453" y="491393"/>
            <a:ext cx="2946534" cy="3980542"/>
          </a:xfrm>
          <a:prstGeom prst="rect">
            <a:avLst/>
          </a:prstGeom>
        </p:spPr>
      </p:pic>
      <p:sp>
        <p:nvSpPr>
          <p:cNvPr id="3" name="TextBox 2">
            <a:extLst>
              <a:ext uri="{FF2B5EF4-FFF2-40B4-BE49-F238E27FC236}">
                <a16:creationId xmlns:a16="http://schemas.microsoft.com/office/drawing/2014/main" id="{D142773B-DA4E-4DA3-99EB-78B174BF9E11}"/>
              </a:ext>
            </a:extLst>
          </p:cNvPr>
          <p:cNvSpPr txBox="1"/>
          <p:nvPr/>
        </p:nvSpPr>
        <p:spPr>
          <a:xfrm>
            <a:off x="5097418" y="5439300"/>
            <a:ext cx="6119368" cy="369332"/>
          </a:xfrm>
          <a:prstGeom prst="rect">
            <a:avLst/>
          </a:prstGeom>
          <a:noFill/>
        </p:spPr>
        <p:txBody>
          <a:bodyPr wrap="none" rtlCol="0">
            <a:spAutoFit/>
          </a:bodyPr>
          <a:lstStyle/>
          <a:p>
            <a:r>
              <a:rPr lang="en-GB" dirty="0">
                <a:hlinkClick r:id="rId4"/>
              </a:rPr>
              <a:t>https://docs.oracle.com/javase/tutorial/essential/concurrency/</a:t>
            </a:r>
            <a:endParaRPr lang="en-GB" dirty="0"/>
          </a:p>
        </p:txBody>
      </p:sp>
      <p:sp>
        <p:nvSpPr>
          <p:cNvPr id="7" name="TextBox 6">
            <a:extLst>
              <a:ext uri="{FF2B5EF4-FFF2-40B4-BE49-F238E27FC236}">
                <a16:creationId xmlns:a16="http://schemas.microsoft.com/office/drawing/2014/main" id="{DCA03603-A02E-9260-D73F-92FF8327747B}"/>
              </a:ext>
            </a:extLst>
          </p:cNvPr>
          <p:cNvSpPr txBox="1"/>
          <p:nvPr/>
        </p:nvSpPr>
        <p:spPr>
          <a:xfrm>
            <a:off x="5097418" y="5848434"/>
            <a:ext cx="5401992" cy="369332"/>
          </a:xfrm>
          <a:prstGeom prst="rect">
            <a:avLst/>
          </a:prstGeom>
          <a:noFill/>
        </p:spPr>
        <p:txBody>
          <a:bodyPr wrap="none" rtlCol="0">
            <a:spAutoFit/>
          </a:bodyPr>
          <a:lstStyle/>
          <a:p>
            <a:r>
              <a:rPr lang="en-GB" dirty="0">
                <a:hlinkClick r:id="rId5"/>
              </a:rPr>
              <a:t>https://docs.oracle.com/javase/specs/jls/se23/jls23.pdf</a:t>
            </a:r>
            <a:endParaRPr lang="en-GB" dirty="0"/>
          </a:p>
        </p:txBody>
      </p:sp>
      <p:sp>
        <p:nvSpPr>
          <p:cNvPr id="8" name="TextBox 7">
            <a:extLst>
              <a:ext uri="{FF2B5EF4-FFF2-40B4-BE49-F238E27FC236}">
                <a16:creationId xmlns:a16="http://schemas.microsoft.com/office/drawing/2014/main" id="{5D4EA858-6C54-1D5E-B31C-5CCC8FDBD3A3}"/>
              </a:ext>
            </a:extLst>
          </p:cNvPr>
          <p:cNvSpPr txBox="1"/>
          <p:nvPr/>
        </p:nvSpPr>
        <p:spPr>
          <a:xfrm>
            <a:off x="5097418" y="6297163"/>
            <a:ext cx="4330866" cy="369332"/>
          </a:xfrm>
          <a:prstGeom prst="rect">
            <a:avLst/>
          </a:prstGeom>
          <a:noFill/>
        </p:spPr>
        <p:txBody>
          <a:bodyPr wrap="none" rtlCol="0">
            <a:spAutoFit/>
          </a:bodyPr>
          <a:lstStyle/>
          <a:p>
            <a:r>
              <a:rPr lang="en-GB" dirty="0">
                <a:hlinkClick r:id="rId6"/>
              </a:rPr>
              <a:t>Overview (Java SE 23 &amp; JDK 23) (oracle.com)</a:t>
            </a:r>
            <a:endParaRPr lang="en-GB" dirty="0"/>
          </a:p>
        </p:txBody>
      </p:sp>
    </p:spTree>
    <p:extLst>
      <p:ext uri="{BB962C8B-B14F-4D97-AF65-F5344CB8AC3E}">
        <p14:creationId xmlns:p14="http://schemas.microsoft.com/office/powerpoint/2010/main" val="2492416499"/>
      </p:ext>
    </p:extLst>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TextBox 3"/>
          <p:cNvSpPr txBox="1"/>
          <p:nvPr/>
        </p:nvSpPr>
        <p:spPr>
          <a:xfrm>
            <a:off x="870425" y="1255693"/>
            <a:ext cx="242374" cy="400110"/>
          </a:xfrm>
          <a:prstGeom prst="rect">
            <a:avLst/>
          </a:prstGeom>
          <a:noFill/>
        </p:spPr>
        <p:txBody>
          <a:bodyPr wrap="none" rtlCol="0">
            <a:spAutoFit/>
          </a:bodyPr>
          <a:lstStyle/>
          <a:p>
            <a:r>
              <a:rPr lang="en-US" sz="2000" dirty="0"/>
              <a:t> </a:t>
            </a:r>
          </a:p>
        </p:txBody>
      </p:sp>
      <p:sp>
        <p:nvSpPr>
          <p:cNvPr id="7" name="TextBox 6"/>
          <p:cNvSpPr txBox="1"/>
          <p:nvPr/>
        </p:nvSpPr>
        <p:spPr>
          <a:xfrm>
            <a:off x="158492" y="21015"/>
            <a:ext cx="11641520" cy="6124754"/>
          </a:xfrm>
          <a:prstGeom prst="rect">
            <a:avLst/>
          </a:prstGeom>
          <a:noFill/>
        </p:spPr>
        <p:txBody>
          <a:bodyPr wrap="none" rtlCol="0">
            <a:spAutoFit/>
          </a:bodyPr>
          <a:lstStyle/>
          <a:p>
            <a:endParaRPr lang="en-US" sz="2400" b="1" dirty="0"/>
          </a:p>
          <a:p>
            <a:pPr marL="285750" indent="-285750">
              <a:buFont typeface="Wingdings" panose="05000000000000000000" pitchFamily="2" charset="2"/>
              <a:buChar char="Ø"/>
            </a:pPr>
            <a:r>
              <a:rPr lang="en-US" sz="2400" b="1" dirty="0"/>
              <a:t>Thread  </a:t>
            </a:r>
          </a:p>
          <a:p>
            <a:r>
              <a:rPr lang="en-US" sz="2000" dirty="0"/>
              <a:t>     Orice fir de </a:t>
            </a:r>
            <a:r>
              <a:rPr lang="en-US" sz="2000" dirty="0" err="1"/>
              <a:t>execu</a:t>
            </a:r>
            <a:r>
              <a:rPr lang="ro-RO" sz="2000" dirty="0"/>
              <a:t>ț</a:t>
            </a:r>
            <a:r>
              <a:rPr lang="en-US" sz="2000" dirty="0" err="1"/>
              <a:t>ie</a:t>
            </a:r>
            <a:r>
              <a:rPr lang="en-US" sz="2000" dirty="0"/>
              <a:t> (thread) </a:t>
            </a:r>
            <a:r>
              <a:rPr lang="en-US" sz="2000" dirty="0" err="1"/>
              <a:t>este</a:t>
            </a:r>
            <a:r>
              <a:rPr lang="en-US" sz="2000" dirty="0"/>
              <a:t> un </a:t>
            </a:r>
            <a:r>
              <a:rPr lang="en-US" sz="2000" dirty="0" err="1"/>
              <a:t>obiect</a:t>
            </a:r>
            <a:r>
              <a:rPr lang="en-US" sz="2000" dirty="0"/>
              <a:t> al  </a:t>
            </a:r>
            <a:r>
              <a:rPr lang="en-US" sz="2000" dirty="0" err="1"/>
              <a:t>clasei</a:t>
            </a:r>
            <a:r>
              <a:rPr lang="en-US" sz="2000" dirty="0"/>
              <a:t>  </a:t>
            </a:r>
            <a:r>
              <a:rPr lang="en-US" sz="2000" dirty="0">
                <a:highlight>
                  <a:srgbClr val="00FF00"/>
                </a:highlight>
              </a:rPr>
              <a:t>Thread</a:t>
            </a:r>
          </a:p>
          <a:p>
            <a:pPr lvl="2"/>
            <a:endParaRPr lang="en-US" sz="2000" dirty="0">
              <a:highlight>
                <a:srgbClr val="00FF00"/>
              </a:highlight>
            </a:endParaRPr>
          </a:p>
          <a:p>
            <a:pPr marL="1257300" lvl="2" indent="-342900">
              <a:buFont typeface="Arial" panose="020B0604020202020204" pitchFamily="34" charset="0"/>
              <a:buChar char="•"/>
            </a:pPr>
            <a:r>
              <a:rPr lang="en-US" sz="2000" b="1" dirty="0"/>
              <a:t>Platform thread </a:t>
            </a:r>
          </a:p>
          <a:p>
            <a:pPr lvl="2"/>
            <a:r>
              <a:rPr lang="en-US" sz="2000" dirty="0"/>
              <a:t>      "</a:t>
            </a:r>
            <a:r>
              <a:rPr lang="en-GB" sz="2000" dirty="0"/>
              <a:t> A platform thread is implemented as a thin wrapper around an operating </a:t>
            </a:r>
          </a:p>
          <a:p>
            <a:pPr lvl="2"/>
            <a:r>
              <a:rPr lang="en-GB" sz="2000" dirty="0"/>
              <a:t>        system (OS) thread.[…] They are suitable for running all types of tasks but may </a:t>
            </a:r>
          </a:p>
          <a:p>
            <a:pPr lvl="2"/>
            <a:r>
              <a:rPr lang="en-GB" sz="2000" dirty="0"/>
              <a:t>        be a limited resource. </a:t>
            </a:r>
            <a:r>
              <a:rPr lang="en-US" sz="2000" dirty="0"/>
              <a:t>"</a:t>
            </a:r>
          </a:p>
          <a:p>
            <a:pPr lvl="2"/>
            <a:r>
              <a:rPr lang="en-US" sz="2000" dirty="0"/>
              <a:t>             </a:t>
            </a:r>
            <a:r>
              <a:rPr lang="ro-RO" sz="2000" dirty="0"/>
              <a:t>- </a:t>
            </a:r>
            <a:r>
              <a:rPr lang="en-US" sz="2000" b="1" dirty="0"/>
              <a:t>daemon threads </a:t>
            </a:r>
            <a:r>
              <a:rPr lang="en-US" sz="2000" dirty="0"/>
              <a:t>– sunt </a:t>
            </a:r>
            <a:r>
              <a:rPr lang="en-US" sz="2000" dirty="0" err="1"/>
              <a:t>oprite</a:t>
            </a:r>
            <a:r>
              <a:rPr lang="en-US" sz="2000" dirty="0"/>
              <a:t> c</a:t>
            </a:r>
            <a:r>
              <a:rPr lang="ro-RO" sz="2000" dirty="0"/>
              <a:t>â</a:t>
            </a:r>
            <a:r>
              <a:rPr lang="en-US" sz="2000" dirty="0" err="1"/>
              <a:t>nd</a:t>
            </a:r>
            <a:r>
              <a:rPr lang="en-US" sz="2000" dirty="0"/>
              <a:t> se </a:t>
            </a:r>
            <a:r>
              <a:rPr lang="en-US" sz="2000" dirty="0" err="1"/>
              <a:t>termin</a:t>
            </a:r>
            <a:r>
              <a:rPr lang="ro-RO" sz="2000" dirty="0"/>
              <a:t>ă</a:t>
            </a:r>
            <a:r>
              <a:rPr lang="en-US" sz="2000" dirty="0"/>
              <a:t> </a:t>
            </a:r>
            <a:r>
              <a:rPr lang="en-US" sz="2000" dirty="0" err="1"/>
              <a:t>execu</a:t>
            </a:r>
            <a:r>
              <a:rPr lang="ro-RO" sz="2000" dirty="0"/>
              <a:t>ț</a:t>
            </a:r>
            <a:r>
              <a:rPr lang="en-US" sz="2000" dirty="0" err="1"/>
              <a:t>ia</a:t>
            </a:r>
            <a:r>
              <a:rPr lang="en-US" sz="2000" dirty="0"/>
              <a:t> thread-</a:t>
            </a:r>
            <a:r>
              <a:rPr lang="en-US" sz="2000" dirty="0" err="1"/>
              <a:t>ului</a:t>
            </a:r>
            <a:r>
              <a:rPr lang="en-US" sz="2000" dirty="0"/>
              <a:t> principal</a:t>
            </a:r>
          </a:p>
          <a:p>
            <a:pPr lvl="2"/>
            <a:r>
              <a:rPr lang="en-US" sz="2000" dirty="0"/>
              <a:t>             </a:t>
            </a:r>
            <a:r>
              <a:rPr lang="ro-RO" sz="2000" dirty="0"/>
              <a:t>- </a:t>
            </a:r>
            <a:r>
              <a:rPr lang="en-US" sz="2000" b="1" dirty="0"/>
              <a:t>non-daemon threads </a:t>
            </a:r>
            <a:r>
              <a:rPr lang="en-US" sz="2000" dirty="0"/>
              <a:t>– </a:t>
            </a:r>
            <a:r>
              <a:rPr lang="ro-RO" sz="2000" dirty="0" err="1"/>
              <a:t>îș</a:t>
            </a:r>
            <a:r>
              <a:rPr lang="en-US" sz="2000" dirty="0" err="1"/>
              <a:t>i</a:t>
            </a:r>
            <a:r>
              <a:rPr lang="en-US" sz="2000" dirty="0"/>
              <a:t>  </a:t>
            </a:r>
            <a:r>
              <a:rPr lang="en-US" sz="2000" dirty="0" err="1"/>
              <a:t>continu</a:t>
            </a:r>
            <a:r>
              <a:rPr lang="ro-RO" sz="2000" dirty="0"/>
              <a:t>ă</a:t>
            </a:r>
            <a:r>
              <a:rPr lang="en-US" sz="2000" dirty="0"/>
              <a:t> </a:t>
            </a:r>
            <a:r>
              <a:rPr lang="en-US" sz="2000" dirty="0" err="1"/>
              <a:t>execu</a:t>
            </a:r>
            <a:r>
              <a:rPr lang="ro-RO" sz="2000" dirty="0"/>
              <a:t>ț</a:t>
            </a:r>
            <a:r>
              <a:rPr lang="en-US" sz="2000" dirty="0" err="1"/>
              <a:t>ia</a:t>
            </a:r>
            <a:r>
              <a:rPr lang="en-US" sz="2000" dirty="0"/>
              <a:t>, </a:t>
            </a:r>
            <a:r>
              <a:rPr lang="en-US" sz="2000" dirty="0" err="1"/>
              <a:t>chiar</a:t>
            </a:r>
            <a:r>
              <a:rPr lang="en-US" sz="2000" dirty="0"/>
              <a:t> </a:t>
            </a:r>
            <a:r>
              <a:rPr lang="en-US" sz="2000" dirty="0" err="1"/>
              <a:t>dac</a:t>
            </a:r>
            <a:r>
              <a:rPr lang="ro-RO" sz="2000" dirty="0"/>
              <a:t>ă</a:t>
            </a:r>
            <a:r>
              <a:rPr lang="en-US" sz="2000" dirty="0"/>
              <a:t> thread-ul principal </a:t>
            </a:r>
            <a:r>
              <a:rPr lang="ro-RO" sz="2000" dirty="0"/>
              <a:t>ș</a:t>
            </a:r>
            <a:r>
              <a:rPr lang="en-US" sz="2000" dirty="0" err="1"/>
              <a:t>i</a:t>
            </a:r>
            <a:r>
              <a:rPr lang="en-US" sz="2000" dirty="0"/>
              <a:t>-a </a:t>
            </a:r>
            <a:r>
              <a:rPr lang="en-US" sz="2000" dirty="0" err="1"/>
              <a:t>terminat</a:t>
            </a:r>
            <a:r>
              <a:rPr lang="en-US" sz="2000" dirty="0"/>
              <a:t>-o</a:t>
            </a:r>
          </a:p>
          <a:p>
            <a:pPr lvl="2"/>
            <a:endParaRPr lang="en-US" sz="2000" dirty="0"/>
          </a:p>
          <a:p>
            <a:pPr marL="1257300" lvl="2" indent="-342900">
              <a:buFont typeface="Arial" panose="020B0604020202020204" pitchFamily="34" charset="0"/>
              <a:buChar char="•"/>
            </a:pPr>
            <a:r>
              <a:rPr lang="en-US" sz="2000" b="1" dirty="0"/>
              <a:t>Virtual thread</a:t>
            </a:r>
          </a:p>
          <a:p>
            <a:pPr lvl="2"/>
            <a:r>
              <a:rPr lang="en-US" sz="2000" dirty="0"/>
              <a:t>     "</a:t>
            </a:r>
            <a:r>
              <a:rPr lang="en-GB" sz="2000" dirty="0"/>
              <a:t>Virtual threads are suitable for executing tasks that spend most of the time blocked, </a:t>
            </a:r>
          </a:p>
          <a:p>
            <a:pPr lvl="2"/>
            <a:r>
              <a:rPr lang="en-GB" sz="2000" dirty="0"/>
              <a:t>        often waiting for I/O operations to complete. Virtual threads are not intended for long </a:t>
            </a:r>
          </a:p>
          <a:p>
            <a:pPr lvl="2"/>
            <a:r>
              <a:rPr lang="en-GB" sz="2000" dirty="0"/>
              <a:t>        running CPU intensive operations."</a:t>
            </a:r>
          </a:p>
          <a:p>
            <a:pPr lvl="2"/>
            <a:r>
              <a:rPr lang="en-GB" sz="2000" dirty="0"/>
              <a:t>         </a:t>
            </a:r>
            <a:r>
              <a:rPr lang="ro-RO" sz="2000" dirty="0"/>
              <a:t>- </a:t>
            </a:r>
            <a:r>
              <a:rPr lang="en-GB" sz="2000" dirty="0"/>
              <a:t>sunt </a:t>
            </a:r>
            <a:r>
              <a:rPr lang="ro-RO" sz="2000" dirty="0"/>
              <a:t>î</a:t>
            </a:r>
            <a:r>
              <a:rPr lang="en-GB" sz="2000" dirty="0" err="1"/>
              <a:t>ntotdeauna</a:t>
            </a:r>
            <a:r>
              <a:rPr lang="en-GB" sz="2000" dirty="0"/>
              <a:t> thread-</a:t>
            </a:r>
            <a:r>
              <a:rPr lang="en-GB" sz="2000" dirty="0" err="1"/>
              <a:t>uri</a:t>
            </a:r>
            <a:r>
              <a:rPr lang="en-GB" sz="2000" dirty="0"/>
              <a:t> </a:t>
            </a:r>
            <a:r>
              <a:rPr lang="en-GB" sz="2000" b="1" dirty="0"/>
              <a:t>daemon</a:t>
            </a:r>
            <a:r>
              <a:rPr lang="en-GB" sz="2000" dirty="0"/>
              <a:t> </a:t>
            </a:r>
            <a:endParaRPr lang="en-US" sz="2000" dirty="0"/>
          </a:p>
          <a:p>
            <a:r>
              <a:rPr lang="en-US" sz="2000" dirty="0">
                <a:highlight>
                  <a:srgbClr val="00FF00"/>
                </a:highlight>
              </a:rPr>
              <a:t>            </a:t>
            </a:r>
            <a:endParaRPr lang="en-US" sz="2000" dirty="0">
              <a:solidFill>
                <a:srgbClr val="00B050"/>
              </a:solidFill>
              <a:highlight>
                <a:srgbClr val="00FF00"/>
              </a:highlight>
            </a:endParaRPr>
          </a:p>
          <a:p>
            <a:endParaRPr lang="en-US" sz="2000" dirty="0">
              <a:solidFill>
                <a:srgbClr val="00B050"/>
              </a:solidFill>
              <a:highlight>
                <a:srgbClr val="00FF00"/>
              </a:highlight>
            </a:endParaRPr>
          </a:p>
          <a:p>
            <a:pPr marL="342900" indent="-342900">
              <a:buFont typeface="Wingdings" panose="05000000000000000000" pitchFamily="2" charset="2"/>
              <a:buChar char="Ø"/>
            </a:pPr>
            <a:r>
              <a:rPr lang="en-US" sz="2400" dirty="0"/>
              <a:t>API-ul </a:t>
            </a:r>
            <a:r>
              <a:rPr lang="en-US" sz="2400" dirty="0" err="1"/>
              <a:t>pentru</a:t>
            </a:r>
            <a:r>
              <a:rPr lang="en-US" sz="2400" dirty="0"/>
              <a:t> </a:t>
            </a:r>
            <a:r>
              <a:rPr lang="en-US" sz="2400" dirty="0" err="1"/>
              <a:t>concuren</a:t>
            </a:r>
            <a:r>
              <a:rPr lang="ro-RO" sz="2400" dirty="0" err="1"/>
              <a:t>ță</a:t>
            </a:r>
            <a:r>
              <a:rPr lang="en-US" sz="2400" dirty="0"/>
              <a:t>: </a:t>
            </a:r>
            <a:r>
              <a:rPr lang="en-US" sz="2400" dirty="0" err="1">
                <a:solidFill>
                  <a:srgbClr val="00B0F0"/>
                </a:solidFill>
              </a:rPr>
              <a:t>java.util.concurrent</a:t>
            </a:r>
            <a:endParaRPr lang="en-US" sz="2400" dirty="0">
              <a:solidFill>
                <a:srgbClr val="00B0F0"/>
              </a:solidFill>
            </a:endParaRPr>
          </a:p>
        </p:txBody>
      </p:sp>
      <p:sp>
        <p:nvSpPr>
          <p:cNvPr id="3" name="TextBox 2"/>
          <p:cNvSpPr txBox="1"/>
          <p:nvPr/>
        </p:nvSpPr>
        <p:spPr>
          <a:xfrm>
            <a:off x="8832850" y="342900"/>
            <a:ext cx="184731" cy="369332"/>
          </a:xfrm>
          <a:prstGeom prst="rect">
            <a:avLst/>
          </a:prstGeom>
          <a:noFill/>
        </p:spPr>
        <p:txBody>
          <a:bodyPr wrap="none" rtlCol="0">
            <a:spAutoFit/>
          </a:bodyPr>
          <a:lstStyle/>
          <a:p>
            <a:endParaRPr lang="en-US" dirty="0"/>
          </a:p>
        </p:txBody>
      </p:sp>
    </p:spTree>
    <p:extLst>
      <p:ext uri="{BB962C8B-B14F-4D97-AF65-F5344CB8AC3E}">
        <p14:creationId xmlns:p14="http://schemas.microsoft.com/office/powerpoint/2010/main" val="738301513"/>
      </p:ext>
    </p:extLst>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28EACFAD-9E50-BDAF-5666-7896415578DF}"/>
            </a:ext>
          </a:extLst>
        </p:cNvPr>
        <p:cNvGrpSpPr/>
        <p:nvPr/>
      </p:nvGrpSpPr>
      <p:grpSpPr>
        <a:xfrm>
          <a:off x="0" y="0"/>
          <a:ext cx="0" cy="0"/>
          <a:chOff x="0" y="0"/>
          <a:chExt cx="0" cy="0"/>
        </a:xfrm>
      </p:grpSpPr>
      <p:sp>
        <p:nvSpPr>
          <p:cNvPr id="11" name="TextBox 10">
            <a:extLst>
              <a:ext uri="{FF2B5EF4-FFF2-40B4-BE49-F238E27FC236}">
                <a16:creationId xmlns:a16="http://schemas.microsoft.com/office/drawing/2014/main" id="{80DE9846-81C4-17E0-B913-382A82824562}"/>
              </a:ext>
            </a:extLst>
          </p:cNvPr>
          <p:cNvSpPr txBox="1"/>
          <p:nvPr/>
        </p:nvSpPr>
        <p:spPr>
          <a:xfrm>
            <a:off x="416560" y="168948"/>
            <a:ext cx="3587008" cy="461665"/>
          </a:xfrm>
          <a:prstGeom prst="rect">
            <a:avLst/>
          </a:prstGeom>
          <a:noFill/>
        </p:spPr>
        <p:txBody>
          <a:bodyPr wrap="none" rtlCol="0">
            <a:spAutoFit/>
          </a:bodyPr>
          <a:lstStyle/>
          <a:p>
            <a:pPr marL="285750" indent="-285750">
              <a:buFont typeface="Wingdings" panose="05000000000000000000" pitchFamily="2" charset="2"/>
              <a:buChar char="Ø"/>
            </a:pPr>
            <a:r>
              <a:rPr lang="en-US" dirty="0"/>
              <a:t> </a:t>
            </a:r>
            <a:r>
              <a:rPr lang="en-US" sz="2400" dirty="0"/>
              <a:t>Virtual Threads (Java 23)</a:t>
            </a:r>
            <a:endParaRPr lang="en-GB" sz="2400" dirty="0"/>
          </a:p>
        </p:txBody>
      </p:sp>
      <p:sp>
        <p:nvSpPr>
          <p:cNvPr id="3" name="TextBox 2">
            <a:extLst>
              <a:ext uri="{FF2B5EF4-FFF2-40B4-BE49-F238E27FC236}">
                <a16:creationId xmlns:a16="http://schemas.microsoft.com/office/drawing/2014/main" id="{7712353F-2994-B82E-D3FD-F723A7E381C5}"/>
              </a:ext>
            </a:extLst>
          </p:cNvPr>
          <p:cNvSpPr txBox="1"/>
          <p:nvPr/>
        </p:nvSpPr>
        <p:spPr>
          <a:xfrm>
            <a:off x="854763" y="5593411"/>
            <a:ext cx="2437077" cy="369332"/>
          </a:xfrm>
          <a:prstGeom prst="rect">
            <a:avLst/>
          </a:prstGeom>
          <a:noFill/>
        </p:spPr>
        <p:txBody>
          <a:bodyPr wrap="none" rtlCol="0">
            <a:spAutoFit/>
          </a:bodyPr>
          <a:lstStyle/>
          <a:p>
            <a:r>
              <a:rPr lang="en-GB" dirty="0">
                <a:hlinkClick r:id="rId2"/>
              </a:rPr>
              <a:t>JEP 444: Virtual Threads</a:t>
            </a:r>
            <a:endParaRPr lang="en-GB" dirty="0"/>
          </a:p>
        </p:txBody>
      </p:sp>
      <p:sp>
        <p:nvSpPr>
          <p:cNvPr id="4" name="TextBox 3">
            <a:extLst>
              <a:ext uri="{FF2B5EF4-FFF2-40B4-BE49-F238E27FC236}">
                <a16:creationId xmlns:a16="http://schemas.microsoft.com/office/drawing/2014/main" id="{08AC7449-D8F3-2049-FE0F-4CACC6B0F707}"/>
              </a:ext>
            </a:extLst>
          </p:cNvPr>
          <p:cNvSpPr txBox="1"/>
          <p:nvPr/>
        </p:nvSpPr>
        <p:spPr>
          <a:xfrm>
            <a:off x="751840" y="1097280"/>
            <a:ext cx="10271760" cy="3970318"/>
          </a:xfrm>
          <a:prstGeom prst="rect">
            <a:avLst/>
          </a:prstGeom>
          <a:noFill/>
        </p:spPr>
        <p:txBody>
          <a:bodyPr wrap="square" rtlCol="0">
            <a:spAutoFit/>
          </a:bodyPr>
          <a:lstStyle/>
          <a:p>
            <a:r>
              <a:rPr lang="en-US" dirty="0"/>
              <a:t>" </a:t>
            </a:r>
            <a:r>
              <a:rPr lang="en-GB" dirty="0"/>
              <a:t>every instance of </a:t>
            </a:r>
            <a:r>
              <a:rPr lang="en-GB" dirty="0" err="1">
                <a:hlinkClick r:id="rId3"/>
              </a:rPr>
              <a:t>java.lang.Thread</a:t>
            </a:r>
            <a:r>
              <a:rPr lang="en-GB" dirty="0"/>
              <a:t> in the JDK is a </a:t>
            </a:r>
            <a:r>
              <a:rPr lang="en-GB" i="1" dirty="0"/>
              <a:t>platform thread</a:t>
            </a:r>
            <a:r>
              <a:rPr lang="en-GB" dirty="0"/>
              <a:t>. A platform thread runs Java code on an underlying OS thread and captures the OS thread for the code's entire lifetime. The number of platform threads is limited to the number of OS threads.</a:t>
            </a:r>
          </a:p>
          <a:p>
            <a:endParaRPr lang="en-GB" dirty="0"/>
          </a:p>
          <a:p>
            <a:r>
              <a:rPr lang="en-GB" dirty="0"/>
              <a:t>A </a:t>
            </a:r>
            <a:r>
              <a:rPr lang="en-GB" i="1" dirty="0"/>
              <a:t>virtual thread</a:t>
            </a:r>
            <a:r>
              <a:rPr lang="en-GB" dirty="0"/>
              <a:t> is an instance of </a:t>
            </a:r>
            <a:r>
              <a:rPr lang="en-GB" dirty="0" err="1"/>
              <a:t>java.lang.Thread</a:t>
            </a:r>
            <a:r>
              <a:rPr lang="en-GB" dirty="0"/>
              <a:t> that runs Java code on an underlying OS thread but does not capture the OS thread for the code's entire lifetime. This means that many virtual threads can run their Java code on the same OS thread, effectively sharing it. While a platform thread monopolizes a precious OS thread, a virtual thread does not. The number of virtual threads can be much larger than the number of OS threads.</a:t>
            </a:r>
          </a:p>
          <a:p>
            <a:endParaRPr lang="en-GB" dirty="0"/>
          </a:p>
          <a:p>
            <a:r>
              <a:rPr lang="en-GB" dirty="0"/>
              <a:t>Virtual threads are a lightweight implementation of threads that is provided by the JDK rather than the OS. They are a form of </a:t>
            </a:r>
            <a:r>
              <a:rPr lang="en-GB" i="1" dirty="0"/>
              <a:t>user-mode threads</a:t>
            </a:r>
            <a:r>
              <a:rPr lang="en-GB" dirty="0"/>
              <a:t>, which have been successful in other multithreaded languages (e.g., goroutines in Go and processes in Erlang). […] Virtual threads employ M:N scheduling, where a large number (M) of virtual threads is scheduled to run on a smaller number (N) of OS threads.</a:t>
            </a:r>
            <a:r>
              <a:rPr lang="en-US" dirty="0"/>
              <a:t>"</a:t>
            </a:r>
            <a:endParaRPr lang="en-GB" dirty="0"/>
          </a:p>
        </p:txBody>
      </p:sp>
    </p:spTree>
    <p:extLst>
      <p:ext uri="{BB962C8B-B14F-4D97-AF65-F5344CB8AC3E}">
        <p14:creationId xmlns:p14="http://schemas.microsoft.com/office/powerpoint/2010/main" val="2196283303"/>
      </p:ext>
    </p:extLst>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2144CB55-9FA9-DF1F-7460-8CE0EE57DBBC}"/>
            </a:ext>
          </a:extLst>
        </p:cNvPr>
        <p:cNvGrpSpPr/>
        <p:nvPr/>
      </p:nvGrpSpPr>
      <p:grpSpPr>
        <a:xfrm>
          <a:off x="0" y="0"/>
          <a:ext cx="0" cy="0"/>
          <a:chOff x="0" y="0"/>
          <a:chExt cx="0" cy="0"/>
        </a:xfrm>
      </p:grpSpPr>
      <p:sp>
        <p:nvSpPr>
          <p:cNvPr id="11" name="TextBox 10">
            <a:extLst>
              <a:ext uri="{FF2B5EF4-FFF2-40B4-BE49-F238E27FC236}">
                <a16:creationId xmlns:a16="http://schemas.microsoft.com/office/drawing/2014/main" id="{83960B53-2957-9702-6141-4C162B8C716F}"/>
              </a:ext>
            </a:extLst>
          </p:cNvPr>
          <p:cNvSpPr txBox="1"/>
          <p:nvPr/>
        </p:nvSpPr>
        <p:spPr>
          <a:xfrm>
            <a:off x="416560" y="168948"/>
            <a:ext cx="3587008" cy="461665"/>
          </a:xfrm>
          <a:prstGeom prst="rect">
            <a:avLst/>
          </a:prstGeom>
          <a:noFill/>
        </p:spPr>
        <p:txBody>
          <a:bodyPr wrap="none" rtlCol="0">
            <a:spAutoFit/>
          </a:bodyPr>
          <a:lstStyle/>
          <a:p>
            <a:pPr marL="285750" indent="-285750">
              <a:buFont typeface="Wingdings" panose="05000000000000000000" pitchFamily="2" charset="2"/>
              <a:buChar char="Ø"/>
            </a:pPr>
            <a:r>
              <a:rPr lang="en-US" dirty="0"/>
              <a:t> </a:t>
            </a:r>
            <a:r>
              <a:rPr lang="en-US" sz="2400" dirty="0"/>
              <a:t>Virtual Threads (Java 23)</a:t>
            </a:r>
            <a:endParaRPr lang="en-GB" sz="2400" dirty="0"/>
          </a:p>
        </p:txBody>
      </p:sp>
      <p:sp>
        <p:nvSpPr>
          <p:cNvPr id="3" name="TextBox 2">
            <a:extLst>
              <a:ext uri="{FF2B5EF4-FFF2-40B4-BE49-F238E27FC236}">
                <a16:creationId xmlns:a16="http://schemas.microsoft.com/office/drawing/2014/main" id="{CF3A9007-45C7-8059-4442-1036AA3E54B7}"/>
              </a:ext>
            </a:extLst>
          </p:cNvPr>
          <p:cNvSpPr txBox="1"/>
          <p:nvPr/>
        </p:nvSpPr>
        <p:spPr>
          <a:xfrm>
            <a:off x="854763" y="5593411"/>
            <a:ext cx="2437077" cy="369332"/>
          </a:xfrm>
          <a:prstGeom prst="rect">
            <a:avLst/>
          </a:prstGeom>
          <a:noFill/>
        </p:spPr>
        <p:txBody>
          <a:bodyPr wrap="none" rtlCol="0">
            <a:spAutoFit/>
          </a:bodyPr>
          <a:lstStyle/>
          <a:p>
            <a:r>
              <a:rPr lang="en-GB" dirty="0">
                <a:hlinkClick r:id="rId2"/>
              </a:rPr>
              <a:t>JEP 444: Virtual Threads</a:t>
            </a:r>
            <a:endParaRPr lang="en-GB" dirty="0"/>
          </a:p>
        </p:txBody>
      </p:sp>
      <p:sp>
        <p:nvSpPr>
          <p:cNvPr id="4" name="TextBox 3">
            <a:extLst>
              <a:ext uri="{FF2B5EF4-FFF2-40B4-BE49-F238E27FC236}">
                <a16:creationId xmlns:a16="http://schemas.microsoft.com/office/drawing/2014/main" id="{E5FD9DEF-93CB-5078-C9DB-8FA996CD4A2F}"/>
              </a:ext>
            </a:extLst>
          </p:cNvPr>
          <p:cNvSpPr txBox="1"/>
          <p:nvPr/>
        </p:nvSpPr>
        <p:spPr>
          <a:xfrm>
            <a:off x="751840" y="1097280"/>
            <a:ext cx="10271760" cy="2462213"/>
          </a:xfrm>
          <a:prstGeom prst="rect">
            <a:avLst/>
          </a:prstGeom>
          <a:noFill/>
        </p:spPr>
        <p:txBody>
          <a:bodyPr wrap="square" rtlCol="0">
            <a:spAutoFit/>
          </a:bodyPr>
          <a:lstStyle/>
          <a:p>
            <a:r>
              <a:rPr lang="en-US" sz="1400" dirty="0"/>
              <a:t>" </a:t>
            </a:r>
            <a:r>
              <a:rPr lang="en-GB" sz="1400" dirty="0"/>
              <a:t>every instance of </a:t>
            </a:r>
            <a:r>
              <a:rPr lang="en-GB" sz="1400" dirty="0" err="1">
                <a:hlinkClick r:id="rId3"/>
              </a:rPr>
              <a:t>java.lang.Thread</a:t>
            </a:r>
            <a:r>
              <a:rPr lang="en-GB" sz="1400" dirty="0"/>
              <a:t> in the JDK is a </a:t>
            </a:r>
            <a:r>
              <a:rPr lang="en-GB" sz="1400" i="1" dirty="0"/>
              <a:t>platform thread</a:t>
            </a:r>
            <a:r>
              <a:rPr lang="en-GB" sz="1400" dirty="0"/>
              <a:t>. A platform thread runs Java code on an underlying OS thread and captures the OS thread for the code's entire lifetime. The number of platform threads is limited to the number of OS threads.</a:t>
            </a:r>
          </a:p>
          <a:p>
            <a:endParaRPr lang="en-GB" sz="1400" dirty="0"/>
          </a:p>
          <a:p>
            <a:r>
              <a:rPr lang="en-GB" sz="1400" dirty="0"/>
              <a:t>A </a:t>
            </a:r>
            <a:r>
              <a:rPr lang="en-GB" sz="1400" i="1" dirty="0"/>
              <a:t>virtual thread</a:t>
            </a:r>
            <a:r>
              <a:rPr lang="en-GB" sz="1400" dirty="0"/>
              <a:t> is an instance of </a:t>
            </a:r>
            <a:r>
              <a:rPr lang="en-GB" sz="1400" dirty="0" err="1"/>
              <a:t>java.lang.Thread</a:t>
            </a:r>
            <a:r>
              <a:rPr lang="en-GB" sz="1400" dirty="0"/>
              <a:t> that runs Java code on an underlying OS thread but does not capture the OS thread for the code's entire lifetime. This means that many virtual threads can run their Java code on the same OS thread, effectively sharing it. While a platform thread monopolizes a precious OS thread, a virtual thread does not. The number of virtual threads can be much larger than the number of OS threads.</a:t>
            </a:r>
          </a:p>
          <a:p>
            <a:endParaRPr lang="en-GB" sz="1400" dirty="0"/>
          </a:p>
          <a:p>
            <a:r>
              <a:rPr lang="en-GB" sz="1400" dirty="0"/>
              <a:t>Virtual threads are a lightweight implementation of threads that is provided by the JDK rather than the OS. They are a form of </a:t>
            </a:r>
            <a:r>
              <a:rPr lang="en-GB" sz="1400" i="1" dirty="0"/>
              <a:t>user-mode threads</a:t>
            </a:r>
            <a:r>
              <a:rPr lang="en-GB" sz="1400" dirty="0"/>
              <a:t>, which have been successful in other multithreaded languages (e.g., goroutines in Go and processes in Erlang). […] Virtual threads employ M:N scheduling, where a large number (M) of virtual threads is scheduled to run on a smaller number (N) of OS threads.</a:t>
            </a:r>
            <a:r>
              <a:rPr lang="en-US" sz="1400" dirty="0"/>
              <a:t>"</a:t>
            </a:r>
            <a:endParaRPr lang="en-GB" sz="1400" dirty="0"/>
          </a:p>
        </p:txBody>
      </p:sp>
      <p:sp>
        <p:nvSpPr>
          <p:cNvPr id="2" name="TextBox 1">
            <a:extLst>
              <a:ext uri="{FF2B5EF4-FFF2-40B4-BE49-F238E27FC236}">
                <a16:creationId xmlns:a16="http://schemas.microsoft.com/office/drawing/2014/main" id="{0CE854E5-6D45-DFBB-5465-402AB148AC84}"/>
              </a:ext>
            </a:extLst>
          </p:cNvPr>
          <p:cNvSpPr txBox="1"/>
          <p:nvPr/>
        </p:nvSpPr>
        <p:spPr>
          <a:xfrm>
            <a:off x="570361" y="3728370"/>
            <a:ext cx="10475304" cy="1754326"/>
          </a:xfrm>
          <a:prstGeom prst="rect">
            <a:avLst/>
          </a:prstGeom>
          <a:solidFill>
            <a:schemeClr val="accent6">
              <a:lumMod val="20000"/>
              <a:lumOff val="80000"/>
            </a:schemeClr>
          </a:solidFill>
          <a:ln>
            <a:solidFill>
              <a:schemeClr val="bg1"/>
            </a:solidFill>
          </a:ln>
        </p:spPr>
        <p:style>
          <a:lnRef idx="2">
            <a:schemeClr val="dk1"/>
          </a:lnRef>
          <a:fillRef idx="1">
            <a:schemeClr val="lt1"/>
          </a:fillRef>
          <a:effectRef idx="0">
            <a:schemeClr val="dk1"/>
          </a:effectRef>
          <a:fontRef idx="minor">
            <a:schemeClr val="dk1"/>
          </a:fontRef>
        </p:style>
        <p:txBody>
          <a:bodyPr wrap="none" rtlCol="0">
            <a:spAutoFit/>
          </a:bodyPr>
          <a:lstStyle/>
          <a:p>
            <a:r>
              <a:rPr lang="en-GB" b="1" dirty="0"/>
              <a:t>Non-Goals</a:t>
            </a:r>
          </a:p>
          <a:p>
            <a:r>
              <a:rPr lang="en-GB" dirty="0"/>
              <a:t>It is not a goal to remove the traditional implementation of threads, or to silently migrate existing applications</a:t>
            </a:r>
            <a:endParaRPr lang="ro-RO" dirty="0"/>
          </a:p>
          <a:p>
            <a:r>
              <a:rPr lang="en-GB" dirty="0"/>
              <a:t> to use virtual threads.</a:t>
            </a:r>
          </a:p>
          <a:p>
            <a:r>
              <a:rPr lang="en-GB" dirty="0"/>
              <a:t>It is not a goal to change the basic concurrency model of Java.</a:t>
            </a:r>
          </a:p>
          <a:p>
            <a:r>
              <a:rPr lang="en-GB" dirty="0"/>
              <a:t>It is not a goal to offer a new data parallelism construct in either the Java language or the Java libraries.</a:t>
            </a:r>
          </a:p>
          <a:p>
            <a:endParaRPr lang="en-GB" dirty="0"/>
          </a:p>
        </p:txBody>
      </p:sp>
    </p:spTree>
    <p:extLst>
      <p:ext uri="{BB962C8B-B14F-4D97-AF65-F5344CB8AC3E}">
        <p14:creationId xmlns:p14="http://schemas.microsoft.com/office/powerpoint/2010/main" val="3767240525"/>
      </p:ext>
    </p:extLst>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C68075A1-17BC-B61F-4AD8-3A6191D49797}"/>
            </a:ext>
          </a:extLst>
        </p:cNvPr>
        <p:cNvGrpSpPr/>
        <p:nvPr/>
      </p:nvGrpSpPr>
      <p:grpSpPr>
        <a:xfrm>
          <a:off x="0" y="0"/>
          <a:ext cx="0" cy="0"/>
          <a:chOff x="0" y="0"/>
          <a:chExt cx="0" cy="0"/>
        </a:xfrm>
      </p:grpSpPr>
      <p:sp>
        <p:nvSpPr>
          <p:cNvPr id="4" name="TextBox 3">
            <a:extLst>
              <a:ext uri="{FF2B5EF4-FFF2-40B4-BE49-F238E27FC236}">
                <a16:creationId xmlns:a16="http://schemas.microsoft.com/office/drawing/2014/main" id="{E54FAE62-7DE2-2317-5711-DC666D5DDEAB}"/>
              </a:ext>
            </a:extLst>
          </p:cNvPr>
          <p:cNvSpPr txBox="1"/>
          <p:nvPr/>
        </p:nvSpPr>
        <p:spPr>
          <a:xfrm>
            <a:off x="870425" y="1255693"/>
            <a:ext cx="8724376" cy="4708981"/>
          </a:xfrm>
          <a:prstGeom prst="rect">
            <a:avLst/>
          </a:prstGeom>
          <a:noFill/>
        </p:spPr>
        <p:txBody>
          <a:bodyPr wrap="none" rtlCol="0">
            <a:spAutoFit/>
          </a:bodyPr>
          <a:lstStyle/>
          <a:p>
            <a:pPr marL="342900" indent="-342900">
              <a:buFont typeface="Wingdings" panose="05000000000000000000" pitchFamily="2" charset="2"/>
              <a:buChar char="Ø"/>
            </a:pPr>
            <a:r>
              <a:rPr lang="en-US" sz="2000" b="1" dirty="0" err="1"/>
              <a:t>Atributele</a:t>
            </a:r>
            <a:r>
              <a:rPr lang="en-US" sz="2000" b="1" dirty="0"/>
              <a:t> </a:t>
            </a:r>
            <a:r>
              <a:rPr lang="en-US" sz="2000" b="1" dirty="0" err="1"/>
              <a:t>unui</a:t>
            </a:r>
            <a:r>
              <a:rPr lang="en-US" sz="2000" b="1" dirty="0"/>
              <a:t> thread</a:t>
            </a:r>
          </a:p>
          <a:p>
            <a:pPr marL="285750" indent="-285750">
              <a:buFont typeface="Wingdings" panose="05000000000000000000" pitchFamily="2" charset="2"/>
              <a:buChar char="§"/>
            </a:pPr>
            <a:r>
              <a:rPr lang="en-US" sz="2000" b="1" dirty="0"/>
              <a:t>ID</a:t>
            </a:r>
            <a:r>
              <a:rPr lang="en-US" sz="2000" dirty="0"/>
              <a:t>   - </a:t>
            </a:r>
            <a:r>
              <a:rPr lang="en-US" sz="2000" dirty="0" err="1"/>
              <a:t>unic</a:t>
            </a:r>
            <a:r>
              <a:rPr lang="en-US" sz="2000" dirty="0"/>
              <a:t> </a:t>
            </a:r>
            <a:r>
              <a:rPr lang="en-US" sz="2000" dirty="0" err="1"/>
              <a:t>pentru</a:t>
            </a:r>
            <a:r>
              <a:rPr lang="en-US" sz="2000" dirty="0"/>
              <a:t> </a:t>
            </a:r>
            <a:r>
              <a:rPr lang="en-US" sz="2000" dirty="0" err="1"/>
              <a:t>fiecare</a:t>
            </a:r>
            <a:r>
              <a:rPr lang="en-US" sz="2000" dirty="0"/>
              <a:t> thread</a:t>
            </a:r>
          </a:p>
          <a:p>
            <a:r>
              <a:rPr lang="en-US" sz="2000" dirty="0"/>
              <a:t>            - </a:t>
            </a:r>
            <a:r>
              <a:rPr lang="en-US" sz="2000" dirty="0" err="1"/>
              <a:t>este</a:t>
            </a:r>
            <a:r>
              <a:rPr lang="en-US" sz="2000" dirty="0"/>
              <a:t> </a:t>
            </a:r>
            <a:r>
              <a:rPr lang="en-US" sz="2000" dirty="0" err="1"/>
              <a:t>accesat</a:t>
            </a:r>
            <a:r>
              <a:rPr lang="en-US" sz="2000" dirty="0"/>
              <a:t> cu </a:t>
            </a:r>
            <a:r>
              <a:rPr lang="en-US" sz="2000" dirty="0" err="1">
                <a:highlight>
                  <a:srgbClr val="00FF00"/>
                </a:highlight>
              </a:rPr>
              <a:t>getId</a:t>
            </a:r>
            <a:r>
              <a:rPr lang="en-US" sz="2000" dirty="0"/>
              <a:t>, nu </a:t>
            </a:r>
            <a:r>
              <a:rPr lang="en-US" sz="2000" dirty="0" err="1"/>
              <a:t>poate</a:t>
            </a:r>
            <a:r>
              <a:rPr lang="en-US" sz="2000" dirty="0"/>
              <a:t> fi </a:t>
            </a:r>
            <a:r>
              <a:rPr lang="en-US" sz="2000" dirty="0" err="1"/>
              <a:t>modificat</a:t>
            </a:r>
            <a:endParaRPr lang="en-US" sz="2000" dirty="0"/>
          </a:p>
          <a:p>
            <a:r>
              <a:rPr lang="en-US" sz="2000" dirty="0"/>
              <a:t>            </a:t>
            </a:r>
          </a:p>
          <a:p>
            <a:pPr marL="285750" indent="-285750">
              <a:buFont typeface="Wingdings" panose="05000000000000000000" pitchFamily="2" charset="2"/>
              <a:buChar char="§"/>
            </a:pPr>
            <a:r>
              <a:rPr lang="en-US" sz="2000" b="1" dirty="0"/>
              <a:t>Name</a:t>
            </a:r>
            <a:r>
              <a:rPr lang="en-US" sz="2000" dirty="0"/>
              <a:t>  -    </a:t>
            </a:r>
            <a:r>
              <a:rPr lang="en-US" sz="2000" dirty="0" err="1"/>
              <a:t>este</a:t>
            </a:r>
            <a:r>
              <a:rPr lang="en-US" sz="2000" dirty="0"/>
              <a:t> un String </a:t>
            </a:r>
          </a:p>
          <a:p>
            <a:r>
              <a:rPr lang="en-US" sz="2000" dirty="0"/>
              <a:t>                   -   </a:t>
            </a:r>
            <a:r>
              <a:rPr lang="en-US" sz="2000" dirty="0" err="1"/>
              <a:t>este</a:t>
            </a:r>
            <a:r>
              <a:rPr lang="en-US" sz="2000" dirty="0"/>
              <a:t>  </a:t>
            </a:r>
            <a:r>
              <a:rPr lang="en-US" sz="2000" dirty="0" err="1"/>
              <a:t>accesat</a:t>
            </a:r>
            <a:r>
              <a:rPr lang="en-US" sz="2000" dirty="0"/>
              <a:t> cu :  </a:t>
            </a:r>
            <a:r>
              <a:rPr lang="en-US" sz="2000" dirty="0" err="1">
                <a:highlight>
                  <a:srgbClr val="00FF00"/>
                </a:highlight>
              </a:rPr>
              <a:t>getName</a:t>
            </a:r>
            <a:r>
              <a:rPr lang="en-US" sz="2000" dirty="0">
                <a:highlight>
                  <a:srgbClr val="00FF00"/>
                </a:highlight>
              </a:rPr>
              <a:t>, </a:t>
            </a:r>
            <a:r>
              <a:rPr lang="en-US" sz="2000" dirty="0" err="1">
                <a:highlight>
                  <a:srgbClr val="00FF00"/>
                </a:highlight>
              </a:rPr>
              <a:t>setName</a:t>
            </a:r>
            <a:endParaRPr lang="en-US" sz="2000" dirty="0">
              <a:highlight>
                <a:srgbClr val="00FF00"/>
              </a:highlight>
            </a:endParaRPr>
          </a:p>
          <a:p>
            <a:endParaRPr lang="en-US" sz="2000" dirty="0"/>
          </a:p>
          <a:p>
            <a:pPr marL="285750" indent="-285750">
              <a:buFont typeface="Wingdings" panose="05000000000000000000" pitchFamily="2" charset="2"/>
              <a:buChar char="§"/>
            </a:pPr>
            <a:r>
              <a:rPr lang="en-US" sz="2000" b="1" dirty="0"/>
              <a:t>Priority</a:t>
            </a:r>
            <a:r>
              <a:rPr lang="en-US" sz="2000" dirty="0"/>
              <a:t> - un num</a:t>
            </a:r>
            <a:r>
              <a:rPr lang="ro-RO" sz="2000" dirty="0"/>
              <a:t>ă</a:t>
            </a:r>
            <a:r>
              <a:rPr lang="en-US" sz="2000" dirty="0"/>
              <a:t>r </a:t>
            </a:r>
            <a:r>
              <a:rPr lang="ro-RO" sz="2000" dirty="0"/>
              <a:t>î</a:t>
            </a:r>
            <a:r>
              <a:rPr lang="en-US" sz="2000" dirty="0" err="1"/>
              <a:t>ntre</a:t>
            </a:r>
            <a:r>
              <a:rPr lang="en-US" sz="2000" dirty="0"/>
              <a:t> 1 </a:t>
            </a:r>
            <a:r>
              <a:rPr lang="en-US" sz="2000" dirty="0" err="1"/>
              <a:t>si</a:t>
            </a:r>
            <a:r>
              <a:rPr lang="en-US" sz="2000" dirty="0"/>
              <a:t> 10  </a:t>
            </a:r>
          </a:p>
          <a:p>
            <a:r>
              <a:rPr lang="en-US" sz="2000" dirty="0"/>
              <a:t>                   - </a:t>
            </a:r>
            <a:r>
              <a:rPr lang="en-US" sz="2000" dirty="0" err="1"/>
              <a:t>este</a:t>
            </a:r>
            <a:r>
              <a:rPr lang="en-US" sz="2000" dirty="0"/>
              <a:t> </a:t>
            </a:r>
            <a:r>
              <a:rPr lang="en-US" sz="2000" dirty="0" err="1"/>
              <a:t>accesata</a:t>
            </a:r>
            <a:r>
              <a:rPr lang="en-US" sz="2000" dirty="0"/>
              <a:t> cu: </a:t>
            </a:r>
            <a:r>
              <a:rPr lang="en-US" sz="2000" dirty="0" err="1">
                <a:highlight>
                  <a:srgbClr val="00FF00"/>
                </a:highlight>
              </a:rPr>
              <a:t>getPriority</a:t>
            </a:r>
            <a:r>
              <a:rPr lang="en-US" sz="2000" dirty="0">
                <a:highlight>
                  <a:srgbClr val="00FF00"/>
                </a:highlight>
              </a:rPr>
              <a:t>, </a:t>
            </a:r>
            <a:r>
              <a:rPr lang="en-US" sz="2000" dirty="0" err="1">
                <a:highlight>
                  <a:srgbClr val="00FF00"/>
                </a:highlight>
              </a:rPr>
              <a:t>setPriority</a:t>
            </a:r>
            <a:endParaRPr lang="en-US" sz="2000" dirty="0">
              <a:highlight>
                <a:srgbClr val="00FF00"/>
              </a:highlight>
            </a:endParaRPr>
          </a:p>
          <a:p>
            <a:r>
              <a:rPr lang="en-US" sz="2000" dirty="0"/>
              <a:t>                   - </a:t>
            </a:r>
            <a:r>
              <a:rPr lang="ro-RO" sz="2000" dirty="0"/>
              <a:t>î</a:t>
            </a:r>
            <a:r>
              <a:rPr lang="en-US" sz="2000" dirty="0"/>
              <a:t>n </a:t>
            </a:r>
            <a:r>
              <a:rPr lang="en-US" sz="2000" dirty="0" err="1"/>
              <a:t>principiu</a:t>
            </a:r>
            <a:r>
              <a:rPr lang="en-US" sz="2000" dirty="0"/>
              <a:t> thread-urile cu </a:t>
            </a:r>
            <a:r>
              <a:rPr lang="en-US" sz="2000" dirty="0" err="1"/>
              <a:t>prioritate</a:t>
            </a:r>
            <a:r>
              <a:rPr lang="en-US" sz="2000" dirty="0"/>
              <a:t> </a:t>
            </a:r>
            <a:r>
              <a:rPr lang="en-US" sz="2000" dirty="0" err="1"/>
              <a:t>mai</a:t>
            </a:r>
            <a:r>
              <a:rPr lang="en-US" sz="2000" dirty="0"/>
              <a:t> mare sunt </a:t>
            </a:r>
            <a:r>
              <a:rPr lang="en-US" sz="2000" dirty="0" err="1"/>
              <a:t>executate</a:t>
            </a:r>
            <a:r>
              <a:rPr lang="en-US" sz="2000" dirty="0"/>
              <a:t> </a:t>
            </a:r>
            <a:r>
              <a:rPr lang="en-US" sz="2000" dirty="0" err="1"/>
              <a:t>primele</a:t>
            </a:r>
            <a:endParaRPr lang="en-US" sz="2000" dirty="0"/>
          </a:p>
          <a:p>
            <a:r>
              <a:rPr lang="en-US" sz="2000" dirty="0"/>
              <a:t>                   - </a:t>
            </a:r>
            <a:r>
              <a:rPr lang="en-US" sz="2000" dirty="0" err="1"/>
              <a:t>setarea</a:t>
            </a:r>
            <a:r>
              <a:rPr lang="en-US" sz="2000" dirty="0"/>
              <a:t> </a:t>
            </a:r>
            <a:r>
              <a:rPr lang="en-US" sz="2000" dirty="0" err="1"/>
              <a:t>priorit</a:t>
            </a:r>
            <a:r>
              <a:rPr lang="ro-RO" sz="2000" dirty="0" err="1"/>
              <a:t>ăț</a:t>
            </a:r>
            <a:r>
              <a:rPr lang="en-US" sz="2000" dirty="0"/>
              <a:t>ii nu </a:t>
            </a:r>
            <a:r>
              <a:rPr lang="en-US" sz="2000" dirty="0" err="1"/>
              <a:t>ofer</a:t>
            </a:r>
            <a:r>
              <a:rPr lang="ro-RO" sz="2000" dirty="0"/>
              <a:t>ă</a:t>
            </a:r>
            <a:r>
              <a:rPr lang="en-US" sz="2000" dirty="0"/>
              <a:t>  </a:t>
            </a:r>
            <a:r>
              <a:rPr lang="en-US" sz="2000" dirty="0" err="1"/>
              <a:t>garan</a:t>
            </a:r>
            <a:r>
              <a:rPr lang="ro-RO" sz="2000" dirty="0"/>
              <a:t>ț</a:t>
            </a:r>
            <a:r>
              <a:rPr lang="en-US" sz="2000" dirty="0"/>
              <a:t>ii </a:t>
            </a:r>
            <a:r>
              <a:rPr lang="ro-RO" sz="2000" dirty="0"/>
              <a:t>î</a:t>
            </a:r>
            <a:r>
              <a:rPr lang="en-US" sz="2000" dirty="0"/>
              <a:t>n </a:t>
            </a:r>
            <a:r>
              <a:rPr lang="en-US" sz="2000" dirty="0" err="1"/>
              <a:t>privin</a:t>
            </a:r>
            <a:r>
              <a:rPr lang="ro-RO" sz="2000" dirty="0"/>
              <a:t>ț</a:t>
            </a:r>
            <a:r>
              <a:rPr lang="en-US" sz="2000" dirty="0"/>
              <a:t>a </a:t>
            </a:r>
            <a:r>
              <a:rPr lang="en-US" sz="2000" dirty="0" err="1"/>
              <a:t>execu</a:t>
            </a:r>
            <a:r>
              <a:rPr lang="ro-RO" sz="2000" dirty="0"/>
              <a:t>ț</a:t>
            </a:r>
            <a:r>
              <a:rPr lang="en-US" sz="2000" dirty="0" err="1"/>
              <a:t>iei</a:t>
            </a:r>
            <a:r>
              <a:rPr lang="en-US" sz="2000" dirty="0"/>
              <a:t> </a:t>
            </a:r>
          </a:p>
          <a:p>
            <a:endParaRPr lang="en-US" sz="2000" dirty="0"/>
          </a:p>
          <a:p>
            <a:pPr marL="285750" indent="-285750">
              <a:buFont typeface="Wingdings" panose="05000000000000000000" pitchFamily="2" charset="2"/>
              <a:buChar char="§"/>
            </a:pPr>
            <a:r>
              <a:rPr lang="en-US" sz="2000" b="1" dirty="0"/>
              <a:t>Status</a:t>
            </a:r>
            <a:r>
              <a:rPr lang="en-US" sz="2000" dirty="0"/>
              <a:t> - </a:t>
            </a:r>
            <a:r>
              <a:rPr lang="en-US" sz="2000" dirty="0" err="1"/>
              <a:t>este</a:t>
            </a:r>
            <a:r>
              <a:rPr lang="en-US" sz="2000" dirty="0"/>
              <a:t> </a:t>
            </a:r>
            <a:r>
              <a:rPr lang="en-US" sz="2000" dirty="0" err="1"/>
              <a:t>accesat</a:t>
            </a:r>
            <a:r>
              <a:rPr lang="en-US" sz="2000" dirty="0"/>
              <a:t> cu: </a:t>
            </a:r>
            <a:r>
              <a:rPr lang="en-US" sz="2000" dirty="0" err="1">
                <a:highlight>
                  <a:srgbClr val="00FF00"/>
                </a:highlight>
              </a:rPr>
              <a:t>getState</a:t>
            </a:r>
            <a:endParaRPr lang="en-US" sz="2000" dirty="0">
              <a:highlight>
                <a:srgbClr val="00FF00"/>
              </a:highlight>
            </a:endParaRPr>
          </a:p>
          <a:p>
            <a:r>
              <a:rPr lang="en-US" sz="2000" dirty="0"/>
              <a:t>                  - nu </a:t>
            </a:r>
            <a:r>
              <a:rPr lang="en-US" sz="2000" dirty="0" err="1"/>
              <a:t>poate</a:t>
            </a:r>
            <a:r>
              <a:rPr lang="en-US" sz="2000" dirty="0"/>
              <a:t> fi </a:t>
            </a:r>
            <a:r>
              <a:rPr lang="en-US" sz="2000" dirty="0" err="1"/>
              <a:t>modificat</a:t>
            </a:r>
            <a:r>
              <a:rPr lang="en-US" sz="2000" dirty="0"/>
              <a:t> direct (e.g. nu exist</a:t>
            </a:r>
            <a:r>
              <a:rPr lang="ro-RO" sz="2000" dirty="0"/>
              <a:t>ă</a:t>
            </a:r>
            <a:r>
              <a:rPr lang="en-US" sz="2000" dirty="0"/>
              <a:t> </a:t>
            </a:r>
            <a:r>
              <a:rPr lang="en-US" sz="2000" dirty="0" err="1"/>
              <a:t>setState</a:t>
            </a:r>
            <a:r>
              <a:rPr lang="en-US" sz="2000" dirty="0"/>
              <a:t>)</a:t>
            </a:r>
          </a:p>
          <a:p>
            <a:r>
              <a:rPr lang="en-US" sz="2000" dirty="0"/>
              <a:t> </a:t>
            </a:r>
          </a:p>
        </p:txBody>
      </p:sp>
      <p:sp>
        <p:nvSpPr>
          <p:cNvPr id="7" name="TextBox 6">
            <a:extLst>
              <a:ext uri="{FF2B5EF4-FFF2-40B4-BE49-F238E27FC236}">
                <a16:creationId xmlns:a16="http://schemas.microsoft.com/office/drawing/2014/main" id="{6C85E82C-8BFD-D911-A67A-DDE0FDE798E7}"/>
              </a:ext>
            </a:extLst>
          </p:cNvPr>
          <p:cNvSpPr txBox="1"/>
          <p:nvPr/>
        </p:nvSpPr>
        <p:spPr>
          <a:xfrm>
            <a:off x="555465" y="174903"/>
            <a:ext cx="6887783" cy="1446550"/>
          </a:xfrm>
          <a:prstGeom prst="rect">
            <a:avLst/>
          </a:prstGeom>
          <a:noFill/>
        </p:spPr>
        <p:txBody>
          <a:bodyPr wrap="none" rtlCol="0">
            <a:spAutoFit/>
          </a:bodyPr>
          <a:lstStyle/>
          <a:p>
            <a:pPr marL="285750" indent="-285750">
              <a:buFont typeface="Wingdings" panose="05000000000000000000" pitchFamily="2" charset="2"/>
              <a:buChar char="Ø"/>
            </a:pPr>
            <a:r>
              <a:rPr lang="en-US" sz="2400" b="1" dirty="0"/>
              <a:t>Thread  (platform thread)</a:t>
            </a:r>
          </a:p>
          <a:p>
            <a:r>
              <a:rPr lang="en-US" sz="2000" dirty="0"/>
              <a:t>     Orice fir de </a:t>
            </a:r>
            <a:r>
              <a:rPr lang="en-US" sz="2000" dirty="0" err="1"/>
              <a:t>execu</a:t>
            </a:r>
            <a:r>
              <a:rPr lang="ro-RO" sz="2000" dirty="0"/>
              <a:t>ț</a:t>
            </a:r>
            <a:r>
              <a:rPr lang="en-US" sz="2000" dirty="0" err="1"/>
              <a:t>ie</a:t>
            </a:r>
            <a:r>
              <a:rPr lang="en-US" sz="2000" dirty="0"/>
              <a:t> (thread) </a:t>
            </a:r>
            <a:r>
              <a:rPr lang="en-US" sz="2000" dirty="0" err="1"/>
              <a:t>este</a:t>
            </a:r>
            <a:r>
              <a:rPr lang="en-US" sz="2000" dirty="0"/>
              <a:t> un </a:t>
            </a:r>
            <a:r>
              <a:rPr lang="en-US" sz="2000" dirty="0" err="1"/>
              <a:t>obiect</a:t>
            </a:r>
            <a:r>
              <a:rPr lang="en-US" sz="2000" dirty="0"/>
              <a:t> al  </a:t>
            </a:r>
            <a:r>
              <a:rPr lang="en-US" sz="2000" dirty="0" err="1"/>
              <a:t>clasei</a:t>
            </a:r>
            <a:r>
              <a:rPr lang="en-US" sz="2000" dirty="0"/>
              <a:t>  </a:t>
            </a:r>
            <a:r>
              <a:rPr lang="en-US" sz="2000" dirty="0">
                <a:highlight>
                  <a:srgbClr val="00FF00"/>
                </a:highlight>
              </a:rPr>
              <a:t>Thread</a:t>
            </a:r>
            <a:r>
              <a:rPr lang="en-US" sz="2000" dirty="0">
                <a:solidFill>
                  <a:srgbClr val="00B050"/>
                </a:solidFill>
              </a:rPr>
              <a:t> </a:t>
            </a:r>
          </a:p>
          <a:p>
            <a:pPr marL="285750" indent="-285750">
              <a:buFont typeface="Wingdings" panose="05000000000000000000" pitchFamily="2" charset="2"/>
              <a:buChar char="Ø"/>
            </a:pPr>
            <a:endParaRPr lang="en-US" sz="2000" dirty="0"/>
          </a:p>
          <a:p>
            <a:endParaRPr lang="en-US" sz="2400" dirty="0"/>
          </a:p>
        </p:txBody>
      </p:sp>
      <p:sp>
        <p:nvSpPr>
          <p:cNvPr id="3" name="TextBox 2">
            <a:extLst>
              <a:ext uri="{FF2B5EF4-FFF2-40B4-BE49-F238E27FC236}">
                <a16:creationId xmlns:a16="http://schemas.microsoft.com/office/drawing/2014/main" id="{4F7DBA43-5A7E-B003-7EB8-E291B5EE2497}"/>
              </a:ext>
            </a:extLst>
          </p:cNvPr>
          <p:cNvSpPr txBox="1"/>
          <p:nvPr/>
        </p:nvSpPr>
        <p:spPr>
          <a:xfrm>
            <a:off x="8832850" y="342900"/>
            <a:ext cx="184731" cy="369332"/>
          </a:xfrm>
          <a:prstGeom prst="rect">
            <a:avLst/>
          </a:prstGeom>
          <a:noFill/>
        </p:spPr>
        <p:txBody>
          <a:bodyPr wrap="none" rtlCol="0">
            <a:spAutoFit/>
          </a:bodyPr>
          <a:lstStyle/>
          <a:p>
            <a:endParaRPr lang="en-US" dirty="0"/>
          </a:p>
        </p:txBody>
      </p:sp>
      <p:sp>
        <p:nvSpPr>
          <p:cNvPr id="2" name="TextBox 1">
            <a:extLst>
              <a:ext uri="{FF2B5EF4-FFF2-40B4-BE49-F238E27FC236}">
                <a16:creationId xmlns:a16="http://schemas.microsoft.com/office/drawing/2014/main" id="{7E1BE1FC-5F39-8FC8-9D19-19365B3E77BB}"/>
              </a:ext>
            </a:extLst>
          </p:cNvPr>
          <p:cNvSpPr txBox="1"/>
          <p:nvPr/>
        </p:nvSpPr>
        <p:spPr>
          <a:xfrm>
            <a:off x="7859007" y="5964674"/>
            <a:ext cx="4101507" cy="369332"/>
          </a:xfrm>
          <a:prstGeom prst="rect">
            <a:avLst/>
          </a:prstGeom>
          <a:noFill/>
        </p:spPr>
        <p:txBody>
          <a:bodyPr wrap="none" rtlCol="0">
            <a:spAutoFit/>
          </a:bodyPr>
          <a:lstStyle/>
          <a:p>
            <a:r>
              <a:rPr lang="en-GB" dirty="0">
                <a:hlinkClick r:id="rId2"/>
              </a:rPr>
              <a:t>Thread (Java SE 22 &amp; JDK 22) (oracle.com)</a:t>
            </a:r>
            <a:endParaRPr lang="en-GB" dirty="0"/>
          </a:p>
        </p:txBody>
      </p:sp>
    </p:spTree>
    <p:extLst>
      <p:ext uri="{BB962C8B-B14F-4D97-AF65-F5344CB8AC3E}">
        <p14:creationId xmlns:p14="http://schemas.microsoft.com/office/powerpoint/2010/main" val="2793096541"/>
      </p:ext>
    </p:extLst>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 name="TextBox 4"/>
          <p:cNvSpPr txBox="1"/>
          <p:nvPr/>
        </p:nvSpPr>
        <p:spPr>
          <a:xfrm>
            <a:off x="3997500" y="5841175"/>
            <a:ext cx="3409844" cy="369332"/>
          </a:xfrm>
          <a:prstGeom prst="rect">
            <a:avLst/>
          </a:prstGeom>
          <a:noFill/>
        </p:spPr>
        <p:txBody>
          <a:bodyPr wrap="none" rtlCol="0">
            <a:spAutoFit/>
          </a:bodyPr>
          <a:lstStyle/>
          <a:p>
            <a:r>
              <a:rPr lang="en-GB" dirty="0" err="1">
                <a:hlinkClick r:id="rId2"/>
              </a:rPr>
              <a:t>Thread.State</a:t>
            </a:r>
            <a:r>
              <a:rPr lang="en-GB" dirty="0">
                <a:hlinkClick r:id="rId2"/>
              </a:rPr>
              <a:t> (Java SE 23 &amp; JDK 23)</a:t>
            </a:r>
            <a:endParaRPr lang="en-US" dirty="0"/>
          </a:p>
        </p:txBody>
      </p:sp>
      <p:sp>
        <p:nvSpPr>
          <p:cNvPr id="6" name="TextBox 5"/>
          <p:cNvSpPr txBox="1"/>
          <p:nvPr/>
        </p:nvSpPr>
        <p:spPr>
          <a:xfrm>
            <a:off x="552615" y="116531"/>
            <a:ext cx="10299614" cy="5724644"/>
          </a:xfrm>
          <a:prstGeom prst="rect">
            <a:avLst/>
          </a:prstGeom>
          <a:ln>
            <a:noFill/>
          </a:ln>
        </p:spPr>
        <p:style>
          <a:lnRef idx="2">
            <a:schemeClr val="dk1"/>
          </a:lnRef>
          <a:fillRef idx="1">
            <a:schemeClr val="lt1"/>
          </a:fillRef>
          <a:effectRef idx="0">
            <a:schemeClr val="dk1"/>
          </a:effectRef>
          <a:fontRef idx="minor">
            <a:schemeClr val="dk1"/>
          </a:fontRef>
        </p:style>
        <p:txBody>
          <a:bodyPr wrap="none" rtlCol="0">
            <a:spAutoFit/>
          </a:bodyPr>
          <a:lstStyle/>
          <a:p>
            <a:pPr marL="285750" indent="-285750">
              <a:buFont typeface="Wingdings" panose="05000000000000000000" pitchFamily="2" charset="2"/>
              <a:buChar char="Ø"/>
            </a:pPr>
            <a:r>
              <a:rPr lang="en-US" sz="2400" b="1" dirty="0">
                <a:solidFill>
                  <a:schemeClr val="tx1"/>
                </a:solidFill>
                <a:highlight>
                  <a:srgbClr val="00FF00"/>
                </a:highlight>
              </a:rPr>
              <a:t>Enum </a:t>
            </a:r>
            <a:r>
              <a:rPr lang="en-US" sz="2400" b="1" dirty="0" err="1">
                <a:solidFill>
                  <a:schemeClr val="tx1"/>
                </a:solidFill>
                <a:highlight>
                  <a:srgbClr val="00FF00"/>
                </a:highlight>
              </a:rPr>
              <a:t>Thread.State</a:t>
            </a:r>
            <a:endParaRPr lang="en-US" sz="2400" b="1" dirty="0">
              <a:solidFill>
                <a:schemeClr val="tx1"/>
              </a:solidFill>
              <a:highlight>
                <a:srgbClr val="00FF00"/>
              </a:highlight>
            </a:endParaRPr>
          </a:p>
          <a:p>
            <a:endParaRPr lang="en-US" b="1" dirty="0">
              <a:solidFill>
                <a:schemeClr val="tx1"/>
              </a:solidFill>
            </a:endParaRPr>
          </a:p>
          <a:p>
            <a:r>
              <a:rPr lang="en-US" dirty="0">
                <a:solidFill>
                  <a:schemeClr val="tx1"/>
                </a:solidFill>
                <a:highlight>
                  <a:srgbClr val="00FF00"/>
                </a:highlight>
              </a:rPr>
              <a:t>public static </a:t>
            </a:r>
            <a:r>
              <a:rPr lang="en-US" dirty="0" err="1">
                <a:solidFill>
                  <a:schemeClr val="tx1"/>
                </a:solidFill>
                <a:highlight>
                  <a:srgbClr val="00FF00"/>
                </a:highlight>
              </a:rPr>
              <a:t>enum</a:t>
            </a:r>
            <a:r>
              <a:rPr lang="en-US" dirty="0">
                <a:solidFill>
                  <a:schemeClr val="tx1"/>
                </a:solidFill>
                <a:highlight>
                  <a:srgbClr val="00FF00"/>
                </a:highlight>
              </a:rPr>
              <a:t> </a:t>
            </a:r>
            <a:r>
              <a:rPr lang="en-US" dirty="0" err="1">
                <a:solidFill>
                  <a:schemeClr val="tx1"/>
                </a:solidFill>
                <a:highlight>
                  <a:srgbClr val="00FF00"/>
                </a:highlight>
              </a:rPr>
              <a:t>Thread.State</a:t>
            </a:r>
            <a:endParaRPr lang="en-US" dirty="0">
              <a:solidFill>
                <a:schemeClr val="tx1"/>
              </a:solidFill>
              <a:highlight>
                <a:srgbClr val="00FF00"/>
              </a:highlight>
            </a:endParaRPr>
          </a:p>
          <a:p>
            <a:r>
              <a:rPr lang="en-US" dirty="0">
                <a:solidFill>
                  <a:schemeClr val="tx1"/>
                </a:solidFill>
                <a:highlight>
                  <a:srgbClr val="00FF00"/>
                </a:highlight>
              </a:rPr>
              <a:t>extends Enum&lt;</a:t>
            </a:r>
            <a:r>
              <a:rPr lang="en-US" dirty="0" err="1">
                <a:solidFill>
                  <a:schemeClr val="tx1"/>
                </a:solidFill>
                <a:highlight>
                  <a:srgbClr val="00FF00"/>
                </a:highlight>
              </a:rPr>
              <a:t>Thread.State</a:t>
            </a:r>
            <a:r>
              <a:rPr lang="en-US" dirty="0">
                <a:solidFill>
                  <a:schemeClr val="tx1"/>
                </a:solidFill>
                <a:highlight>
                  <a:srgbClr val="00FF00"/>
                </a:highlight>
              </a:rPr>
              <a:t>&gt;</a:t>
            </a:r>
          </a:p>
          <a:p>
            <a:endParaRPr lang="en-US" b="1" dirty="0">
              <a:solidFill>
                <a:schemeClr val="tx1"/>
              </a:solidFill>
            </a:endParaRPr>
          </a:p>
          <a:p>
            <a:r>
              <a:rPr lang="en-US" dirty="0" err="1">
                <a:solidFill>
                  <a:schemeClr val="tx1"/>
                </a:solidFill>
              </a:rPr>
              <a:t>Starile</a:t>
            </a:r>
            <a:r>
              <a:rPr lang="en-US" dirty="0">
                <a:solidFill>
                  <a:schemeClr val="tx1"/>
                </a:solidFill>
              </a:rPr>
              <a:t> </a:t>
            </a:r>
            <a:r>
              <a:rPr lang="en-US" dirty="0" err="1">
                <a:solidFill>
                  <a:schemeClr val="tx1"/>
                </a:solidFill>
              </a:rPr>
              <a:t>posibile</a:t>
            </a:r>
            <a:r>
              <a:rPr lang="en-US" dirty="0">
                <a:solidFill>
                  <a:schemeClr val="tx1"/>
                </a:solidFill>
              </a:rPr>
              <a:t> ale </a:t>
            </a:r>
            <a:r>
              <a:rPr lang="en-US" dirty="0" err="1">
                <a:solidFill>
                  <a:schemeClr val="tx1"/>
                </a:solidFill>
              </a:rPr>
              <a:t>unui</a:t>
            </a:r>
            <a:r>
              <a:rPr lang="en-US" dirty="0">
                <a:solidFill>
                  <a:schemeClr val="tx1"/>
                </a:solidFill>
              </a:rPr>
              <a:t> thread:</a:t>
            </a:r>
          </a:p>
          <a:p>
            <a:endParaRPr lang="en-US" dirty="0"/>
          </a:p>
          <a:p>
            <a:pPr marL="285750" indent="-285750">
              <a:buFont typeface="Wingdings" panose="05000000000000000000" pitchFamily="2" charset="2"/>
              <a:buChar char="§"/>
            </a:pPr>
            <a:r>
              <a:rPr lang="en-US" dirty="0"/>
              <a:t>    NEW: create </a:t>
            </a:r>
            <a:r>
              <a:rPr lang="en-US" dirty="0" err="1"/>
              <a:t>dar</a:t>
            </a:r>
            <a:r>
              <a:rPr lang="en-US" dirty="0"/>
              <a:t> care nu </a:t>
            </a:r>
            <a:r>
              <a:rPr lang="en-US" dirty="0" err="1"/>
              <a:t>si</a:t>
            </a:r>
            <a:r>
              <a:rPr lang="en-US" dirty="0"/>
              <a:t>-a </a:t>
            </a:r>
            <a:r>
              <a:rPr lang="en-US" dirty="0" err="1"/>
              <a:t>inceput</a:t>
            </a:r>
            <a:r>
              <a:rPr lang="en-US" dirty="0"/>
              <a:t> </a:t>
            </a:r>
            <a:r>
              <a:rPr lang="en-US" dirty="0" err="1"/>
              <a:t>executia</a:t>
            </a:r>
            <a:endParaRPr lang="en-US" dirty="0">
              <a:solidFill>
                <a:srgbClr val="FF0000"/>
              </a:solidFill>
            </a:endParaRPr>
          </a:p>
          <a:p>
            <a:pPr marL="285750" indent="-285750">
              <a:buFont typeface="Wingdings" panose="05000000000000000000" pitchFamily="2" charset="2"/>
              <a:buChar char="§"/>
            </a:pPr>
            <a:endParaRPr lang="en-US" dirty="0"/>
          </a:p>
          <a:p>
            <a:pPr marL="285750" indent="-285750">
              <a:buFont typeface="Wingdings" panose="05000000000000000000" pitchFamily="2" charset="2"/>
              <a:buChar char="§"/>
            </a:pPr>
            <a:r>
              <a:rPr lang="en-US" dirty="0"/>
              <a:t>    RUNNABLE:  in </a:t>
            </a:r>
            <a:r>
              <a:rPr lang="en-US" dirty="0" err="1"/>
              <a:t>executie</a:t>
            </a:r>
            <a:endParaRPr lang="en-US" dirty="0"/>
          </a:p>
          <a:p>
            <a:pPr marL="285750" indent="-285750">
              <a:buFont typeface="Wingdings" panose="05000000000000000000" pitchFamily="2" charset="2"/>
              <a:buChar char="§"/>
            </a:pPr>
            <a:endParaRPr lang="en-US" dirty="0"/>
          </a:p>
          <a:p>
            <a:pPr marL="285750" indent="-285750">
              <a:buFont typeface="Wingdings" panose="05000000000000000000" pitchFamily="2" charset="2"/>
              <a:buChar char="§"/>
            </a:pPr>
            <a:r>
              <a:rPr lang="en-US" dirty="0"/>
              <a:t>    BLOCKED:   </a:t>
            </a:r>
            <a:r>
              <a:rPr lang="en-US" dirty="0" err="1"/>
              <a:t>blocat</a:t>
            </a:r>
            <a:r>
              <a:rPr lang="en-US" dirty="0"/>
              <a:t> de </a:t>
            </a:r>
            <a:r>
              <a:rPr lang="en-US" dirty="0" err="1"/>
              <a:t>lacatul</a:t>
            </a:r>
            <a:r>
              <a:rPr lang="en-US" dirty="0"/>
              <a:t> </a:t>
            </a:r>
            <a:r>
              <a:rPr lang="en-US" dirty="0" err="1"/>
              <a:t>unui</a:t>
            </a:r>
            <a:r>
              <a:rPr lang="en-US" dirty="0"/>
              <a:t> monitor</a:t>
            </a:r>
          </a:p>
          <a:p>
            <a:pPr marL="285750" indent="-285750">
              <a:buFont typeface="Wingdings" panose="05000000000000000000" pitchFamily="2" charset="2"/>
              <a:buChar char="§"/>
            </a:pPr>
            <a:endParaRPr lang="en-US" dirty="0"/>
          </a:p>
          <a:p>
            <a:pPr marL="285750" indent="-285750">
              <a:buFont typeface="Wingdings" panose="05000000000000000000" pitchFamily="2" charset="2"/>
              <a:buChar char="§"/>
            </a:pPr>
            <a:r>
              <a:rPr lang="en-US" dirty="0"/>
              <a:t>    WAITING:   </a:t>
            </a:r>
            <a:r>
              <a:rPr lang="en-US" dirty="0" err="1"/>
              <a:t>asteapta</a:t>
            </a:r>
            <a:r>
              <a:rPr lang="en-US" dirty="0"/>
              <a:t> ca un alt thread </a:t>
            </a:r>
            <a:r>
              <a:rPr lang="en-US" dirty="0" err="1"/>
              <a:t>sa</a:t>
            </a:r>
            <a:r>
              <a:rPr lang="en-US" dirty="0"/>
              <a:t> execute o </a:t>
            </a:r>
            <a:r>
              <a:rPr lang="en-US" dirty="0" err="1"/>
              <a:t>actiune</a:t>
            </a:r>
            <a:endParaRPr lang="en-US" dirty="0"/>
          </a:p>
          <a:p>
            <a:r>
              <a:rPr lang="en-US" dirty="0"/>
              <a:t>          un thread </a:t>
            </a:r>
            <a:r>
              <a:rPr lang="en-US" dirty="0" err="1"/>
              <a:t>ajunge</a:t>
            </a:r>
            <a:r>
              <a:rPr lang="en-US" dirty="0"/>
              <a:t> in </a:t>
            </a:r>
            <a:r>
              <a:rPr lang="en-US" dirty="0" err="1"/>
              <a:t>aceasta</a:t>
            </a:r>
            <a:r>
              <a:rPr lang="en-US" dirty="0"/>
              <a:t> stare </a:t>
            </a:r>
            <a:r>
              <a:rPr lang="en-US" dirty="0" err="1"/>
              <a:t>dupa</a:t>
            </a:r>
            <a:r>
              <a:rPr lang="en-US" dirty="0"/>
              <a:t> </a:t>
            </a:r>
            <a:r>
              <a:rPr lang="en-US" dirty="0" err="1"/>
              <a:t>apelul</a:t>
            </a:r>
            <a:r>
              <a:rPr lang="en-US" dirty="0"/>
              <a:t> </a:t>
            </a:r>
            <a:r>
              <a:rPr lang="en-US" dirty="0" err="1"/>
              <a:t>metodelor</a:t>
            </a:r>
            <a:r>
              <a:rPr lang="en-US" dirty="0"/>
              <a:t> </a:t>
            </a:r>
            <a:r>
              <a:rPr lang="en-US" dirty="0" err="1"/>
              <a:t>Object.wait</a:t>
            </a:r>
            <a:r>
              <a:rPr lang="en-US" dirty="0"/>
              <a:t>(), </a:t>
            </a:r>
            <a:r>
              <a:rPr lang="en-US" dirty="0" err="1"/>
              <a:t>Thread.join</a:t>
            </a:r>
            <a:r>
              <a:rPr lang="en-US" dirty="0"/>
              <a:t>() </a:t>
            </a:r>
          </a:p>
          <a:p>
            <a:pPr marL="285750" indent="-285750">
              <a:buFont typeface="Wingdings" panose="05000000000000000000" pitchFamily="2" charset="2"/>
              <a:buChar char="§"/>
            </a:pPr>
            <a:endParaRPr lang="en-US" dirty="0"/>
          </a:p>
          <a:p>
            <a:pPr marL="285750" indent="-285750">
              <a:buFont typeface="Wingdings" panose="05000000000000000000" pitchFamily="2" charset="2"/>
              <a:buChar char="§"/>
            </a:pPr>
            <a:r>
              <a:rPr lang="en-US" dirty="0"/>
              <a:t>    TIMED_WAITING: </a:t>
            </a:r>
            <a:r>
              <a:rPr lang="en-US" dirty="0" err="1"/>
              <a:t>asteapta</a:t>
            </a:r>
            <a:r>
              <a:rPr lang="en-US" dirty="0"/>
              <a:t> un alt thread, </a:t>
            </a:r>
            <a:r>
              <a:rPr lang="en-US" dirty="0" err="1"/>
              <a:t>dar</a:t>
            </a:r>
            <a:r>
              <a:rPr lang="en-US" dirty="0"/>
              <a:t> </a:t>
            </a:r>
            <a:r>
              <a:rPr lang="en-US" dirty="0" err="1"/>
              <a:t>numai</a:t>
            </a:r>
            <a:r>
              <a:rPr lang="en-US" dirty="0"/>
              <a:t> un </a:t>
            </a:r>
            <a:r>
              <a:rPr lang="en-US" dirty="0" err="1"/>
              <a:t>timp</a:t>
            </a:r>
            <a:r>
              <a:rPr lang="en-US" dirty="0"/>
              <a:t> </a:t>
            </a:r>
            <a:r>
              <a:rPr lang="en-US" dirty="0" err="1"/>
              <a:t>limitat</a:t>
            </a:r>
            <a:endParaRPr lang="en-US" dirty="0"/>
          </a:p>
          <a:p>
            <a:r>
              <a:rPr lang="en-US" dirty="0"/>
              <a:t>         un thread </a:t>
            </a:r>
            <a:r>
              <a:rPr lang="en-US" dirty="0" err="1"/>
              <a:t>ajunge</a:t>
            </a:r>
            <a:r>
              <a:rPr lang="en-US" dirty="0"/>
              <a:t> in </a:t>
            </a:r>
            <a:r>
              <a:rPr lang="en-US" dirty="0" err="1"/>
              <a:t>aceasta</a:t>
            </a:r>
            <a:r>
              <a:rPr lang="en-US" dirty="0"/>
              <a:t> stare </a:t>
            </a:r>
            <a:r>
              <a:rPr lang="en-US" dirty="0" err="1"/>
              <a:t>dupa</a:t>
            </a:r>
            <a:r>
              <a:rPr lang="en-US" dirty="0"/>
              <a:t> </a:t>
            </a:r>
            <a:r>
              <a:rPr lang="en-US" dirty="0" err="1"/>
              <a:t>apelul</a:t>
            </a:r>
            <a:r>
              <a:rPr lang="en-US" dirty="0"/>
              <a:t> </a:t>
            </a:r>
            <a:r>
              <a:rPr lang="en-US" dirty="0" err="1"/>
              <a:t>metodelor</a:t>
            </a:r>
            <a:r>
              <a:rPr lang="en-US" dirty="0"/>
              <a:t> </a:t>
            </a:r>
            <a:r>
              <a:rPr lang="en-US" dirty="0" err="1"/>
              <a:t>Object.wait</a:t>
            </a:r>
            <a:r>
              <a:rPr lang="en-US" dirty="0"/>
              <a:t>(t), </a:t>
            </a:r>
            <a:r>
              <a:rPr lang="en-US" dirty="0" err="1"/>
              <a:t>Thread.join</a:t>
            </a:r>
            <a:r>
              <a:rPr lang="en-US" dirty="0"/>
              <a:t>(t), </a:t>
            </a:r>
            <a:r>
              <a:rPr lang="en-US" dirty="0" err="1"/>
              <a:t>Thread.sleep</a:t>
            </a:r>
            <a:r>
              <a:rPr lang="en-US" dirty="0"/>
              <a:t>(t) </a:t>
            </a:r>
          </a:p>
          <a:p>
            <a:pPr marL="285750" indent="-285750">
              <a:buFont typeface="Wingdings" panose="05000000000000000000" pitchFamily="2" charset="2"/>
              <a:buChar char="§"/>
            </a:pPr>
            <a:endParaRPr lang="en-US" dirty="0"/>
          </a:p>
          <a:p>
            <a:pPr marL="285750" indent="-285750">
              <a:buFont typeface="Wingdings" panose="05000000000000000000" pitchFamily="2" charset="2"/>
              <a:buChar char="§"/>
            </a:pPr>
            <a:r>
              <a:rPr lang="en-US" dirty="0"/>
              <a:t>    TERMINATED:  thread-ul </a:t>
            </a:r>
            <a:r>
              <a:rPr lang="en-US" dirty="0" err="1"/>
              <a:t>si</a:t>
            </a:r>
            <a:r>
              <a:rPr lang="en-US" dirty="0"/>
              <a:t>-a </a:t>
            </a:r>
            <a:r>
              <a:rPr lang="en-US" dirty="0" err="1"/>
              <a:t>terminat</a:t>
            </a:r>
            <a:r>
              <a:rPr lang="en-US" dirty="0"/>
              <a:t> </a:t>
            </a:r>
            <a:r>
              <a:rPr lang="en-US" dirty="0" err="1"/>
              <a:t>executia</a:t>
            </a:r>
            <a:endParaRPr lang="en-US" dirty="0"/>
          </a:p>
        </p:txBody>
      </p:sp>
      <p:pic>
        <p:nvPicPr>
          <p:cNvPr id="3" name="Picture 2" descr="A diagram of a running process&#10;&#10;AI-generated content may be incorrect.">
            <a:extLst>
              <a:ext uri="{FF2B5EF4-FFF2-40B4-BE49-F238E27FC236}">
                <a16:creationId xmlns:a16="http://schemas.microsoft.com/office/drawing/2014/main" id="{7702BB8A-214B-FE69-775E-1A7BE6760C42}"/>
              </a:ext>
            </a:extLst>
          </p:cNvPr>
          <p:cNvPicPr>
            <a:picLocks noChangeAspect="1"/>
          </p:cNvPicPr>
          <p:nvPr/>
        </p:nvPicPr>
        <p:blipFill>
          <a:blip r:embed="rId3"/>
          <a:stretch>
            <a:fillRect/>
          </a:stretch>
        </p:blipFill>
        <p:spPr>
          <a:xfrm>
            <a:off x="7518108" y="116531"/>
            <a:ext cx="4121277" cy="3609968"/>
          </a:xfrm>
          <a:prstGeom prst="rect">
            <a:avLst/>
          </a:prstGeom>
        </p:spPr>
      </p:pic>
      <p:sp>
        <p:nvSpPr>
          <p:cNvPr id="4" name="TextBox 3">
            <a:extLst>
              <a:ext uri="{FF2B5EF4-FFF2-40B4-BE49-F238E27FC236}">
                <a16:creationId xmlns:a16="http://schemas.microsoft.com/office/drawing/2014/main" id="{CAB02ABE-E92A-DB15-F79D-E036BD1931B0}"/>
              </a:ext>
            </a:extLst>
          </p:cNvPr>
          <p:cNvSpPr txBox="1"/>
          <p:nvPr/>
        </p:nvSpPr>
        <p:spPr>
          <a:xfrm>
            <a:off x="7893808" y="3429000"/>
            <a:ext cx="3745577" cy="307777"/>
          </a:xfrm>
          <a:prstGeom prst="rect">
            <a:avLst/>
          </a:prstGeom>
          <a:noFill/>
        </p:spPr>
        <p:txBody>
          <a:bodyPr wrap="none" rtlCol="0">
            <a:spAutoFit/>
          </a:bodyPr>
          <a:lstStyle/>
          <a:p>
            <a:r>
              <a:rPr lang="en-GB" sz="1400" dirty="0">
                <a:hlinkClick r:id="rId4"/>
              </a:rPr>
              <a:t>https://www.baeldung.com/java-thread-lifecycle</a:t>
            </a:r>
            <a:endParaRPr lang="en-GB" sz="1400" dirty="0"/>
          </a:p>
        </p:txBody>
      </p:sp>
    </p:spTree>
    <p:extLst>
      <p:ext uri="{BB962C8B-B14F-4D97-AF65-F5344CB8AC3E}">
        <p14:creationId xmlns:p14="http://schemas.microsoft.com/office/powerpoint/2010/main" val="2396035900"/>
      </p:ext>
    </p:extLst>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TextBox 2"/>
          <p:cNvSpPr txBox="1"/>
          <p:nvPr/>
        </p:nvSpPr>
        <p:spPr>
          <a:xfrm>
            <a:off x="1082265" y="480953"/>
            <a:ext cx="5380832" cy="4370427"/>
          </a:xfrm>
          <a:prstGeom prst="rect">
            <a:avLst/>
          </a:prstGeom>
          <a:noFill/>
        </p:spPr>
        <p:txBody>
          <a:bodyPr wrap="none" rtlCol="0">
            <a:spAutoFit/>
          </a:bodyPr>
          <a:lstStyle/>
          <a:p>
            <a:pPr marL="342900" indent="-342900">
              <a:buFont typeface="Wingdings" panose="05000000000000000000" pitchFamily="2" charset="2"/>
              <a:buChar char="Ø"/>
            </a:pPr>
            <a:endParaRPr lang="en-US" sz="2400" b="1" dirty="0"/>
          </a:p>
          <a:p>
            <a:pPr marL="342900" indent="-342900">
              <a:buFont typeface="Wingdings" panose="05000000000000000000" pitchFamily="2" charset="2"/>
              <a:buChar char="Ø"/>
            </a:pPr>
            <a:r>
              <a:rPr lang="en-US" sz="2400" b="1" dirty="0" err="1"/>
              <a:t>Crearea</a:t>
            </a:r>
            <a:r>
              <a:rPr lang="en-US" sz="2400" b="1" dirty="0"/>
              <a:t> </a:t>
            </a:r>
            <a:r>
              <a:rPr lang="en-US" sz="2400" b="1" dirty="0" err="1"/>
              <a:t>obiectelor</a:t>
            </a:r>
            <a:r>
              <a:rPr lang="en-US" sz="2400" b="1" dirty="0"/>
              <a:t>  de tip </a:t>
            </a:r>
            <a:r>
              <a:rPr lang="en-US" sz="2400" b="1" dirty="0">
                <a:highlight>
                  <a:srgbClr val="00FF00"/>
                </a:highlight>
              </a:rPr>
              <a:t>Thread</a:t>
            </a:r>
            <a:r>
              <a:rPr lang="en-US" sz="2400" b="1" dirty="0"/>
              <a:t>:</a:t>
            </a:r>
          </a:p>
          <a:p>
            <a:endParaRPr lang="en-US" sz="2000" dirty="0"/>
          </a:p>
          <a:p>
            <a:endParaRPr lang="en-US" sz="2000" dirty="0"/>
          </a:p>
          <a:p>
            <a:endParaRPr lang="en-US" sz="2000" dirty="0"/>
          </a:p>
          <a:p>
            <a:pPr marL="285750" indent="-285750">
              <a:buFont typeface="Wingdings" panose="05000000000000000000" pitchFamily="2" charset="2"/>
              <a:buChar char="§"/>
            </a:pPr>
            <a:r>
              <a:rPr lang="en-US" sz="2400" dirty="0" err="1"/>
              <a:t>Metoda</a:t>
            </a:r>
            <a:r>
              <a:rPr lang="en-US" sz="2400" dirty="0"/>
              <a:t> direct</a:t>
            </a:r>
            <a:r>
              <a:rPr lang="ro-RO" sz="2400" dirty="0"/>
              <a:t>ă</a:t>
            </a:r>
            <a:endParaRPr lang="en-US" sz="2400" dirty="0"/>
          </a:p>
          <a:p>
            <a:pPr marL="800100" lvl="1" indent="-342900">
              <a:buFont typeface="Courier New" panose="02070309020205020404" pitchFamily="49" charset="0"/>
              <a:buChar char="o"/>
            </a:pPr>
            <a:r>
              <a:rPr lang="en-US" sz="2400" dirty="0"/>
              <a:t>ca </a:t>
            </a:r>
            <a:r>
              <a:rPr lang="en-US" sz="2400" dirty="0" err="1"/>
              <a:t>subclas</a:t>
            </a:r>
            <a:r>
              <a:rPr lang="ro-RO" sz="2400" dirty="0"/>
              <a:t>ă</a:t>
            </a:r>
            <a:r>
              <a:rPr lang="en-US" sz="2400" dirty="0"/>
              <a:t> a </a:t>
            </a:r>
            <a:r>
              <a:rPr lang="en-US" sz="2400" dirty="0" err="1"/>
              <a:t>clasei</a:t>
            </a:r>
            <a:r>
              <a:rPr lang="en-US" sz="2400" dirty="0"/>
              <a:t> </a:t>
            </a:r>
            <a:r>
              <a:rPr lang="en-US" sz="2400" dirty="0">
                <a:highlight>
                  <a:srgbClr val="00FF00"/>
                </a:highlight>
              </a:rPr>
              <a:t>Thread</a:t>
            </a:r>
          </a:p>
          <a:p>
            <a:pPr marL="800100" lvl="1" indent="-342900">
              <a:buFont typeface="Courier New" panose="02070309020205020404" pitchFamily="49" charset="0"/>
              <a:buChar char="o"/>
            </a:pPr>
            <a:r>
              <a:rPr lang="en-US" sz="2400" dirty="0" err="1"/>
              <a:t>implementarea</a:t>
            </a:r>
            <a:r>
              <a:rPr lang="en-US" sz="2400" dirty="0"/>
              <a:t> </a:t>
            </a:r>
            <a:r>
              <a:rPr lang="en-US" sz="2400" dirty="0" err="1"/>
              <a:t>interfe</a:t>
            </a:r>
            <a:r>
              <a:rPr lang="ro-RO" sz="2400" dirty="0"/>
              <a:t>ț</a:t>
            </a:r>
            <a:r>
              <a:rPr lang="en-US" sz="2400" dirty="0" err="1"/>
              <a:t>ei</a:t>
            </a:r>
            <a:r>
              <a:rPr lang="en-US" sz="2400" dirty="0"/>
              <a:t> </a:t>
            </a:r>
            <a:r>
              <a:rPr lang="en-US" sz="2400" dirty="0">
                <a:highlight>
                  <a:srgbClr val="00FF00"/>
                </a:highlight>
              </a:rPr>
              <a:t>Runnable</a:t>
            </a:r>
          </a:p>
          <a:p>
            <a:endParaRPr lang="en-US" sz="3200" dirty="0"/>
          </a:p>
          <a:p>
            <a:pPr marL="285750" indent="-285750">
              <a:buFont typeface="Wingdings" panose="05000000000000000000" pitchFamily="2" charset="2"/>
              <a:buChar char="§"/>
            </a:pPr>
            <a:r>
              <a:rPr lang="en-US" sz="2400" dirty="0" err="1"/>
              <a:t>Metoda</a:t>
            </a:r>
            <a:r>
              <a:rPr lang="en-US" sz="2400" dirty="0"/>
              <a:t> abstract</a:t>
            </a:r>
            <a:r>
              <a:rPr lang="ro-RO" sz="2400" dirty="0"/>
              <a:t>ă</a:t>
            </a:r>
            <a:r>
              <a:rPr lang="en-US" sz="2400" dirty="0"/>
              <a:t> </a:t>
            </a:r>
          </a:p>
          <a:p>
            <a:pPr marL="800100" lvl="1" indent="-342900">
              <a:buFont typeface="Courier New" panose="02070309020205020404" pitchFamily="49" charset="0"/>
              <a:buChar char="o"/>
            </a:pPr>
            <a:r>
              <a:rPr lang="en-US" sz="2400" dirty="0"/>
              <a:t> </a:t>
            </a:r>
            <a:r>
              <a:rPr lang="en-US" sz="2400" dirty="0" err="1"/>
              <a:t>folosind</a:t>
            </a:r>
            <a:r>
              <a:rPr lang="en-US" sz="2400" dirty="0"/>
              <a:t> </a:t>
            </a:r>
            <a:r>
              <a:rPr lang="en-US" sz="2400" dirty="0" err="1"/>
              <a:t>clasa</a:t>
            </a:r>
            <a:r>
              <a:rPr lang="en-US" sz="2400" dirty="0"/>
              <a:t>  </a:t>
            </a:r>
            <a:r>
              <a:rPr lang="en-US" sz="2400" dirty="0">
                <a:highlight>
                  <a:srgbClr val="00FF00"/>
                </a:highlight>
              </a:rPr>
              <a:t>Executors</a:t>
            </a:r>
          </a:p>
          <a:p>
            <a:endParaRPr lang="en-US" dirty="0"/>
          </a:p>
        </p:txBody>
      </p:sp>
      <p:sp>
        <p:nvSpPr>
          <p:cNvPr id="2" name="TextBox 1">
            <a:extLst>
              <a:ext uri="{FF2B5EF4-FFF2-40B4-BE49-F238E27FC236}">
                <a16:creationId xmlns:a16="http://schemas.microsoft.com/office/drawing/2014/main" id="{A175888B-1755-AD51-412B-01039D5B93DA}"/>
              </a:ext>
            </a:extLst>
          </p:cNvPr>
          <p:cNvSpPr txBox="1"/>
          <p:nvPr/>
        </p:nvSpPr>
        <p:spPr>
          <a:xfrm>
            <a:off x="8148320" y="1763415"/>
            <a:ext cx="2961415" cy="2031325"/>
          </a:xfrm>
          <a:prstGeom prst="rect">
            <a:avLst/>
          </a:prstGeom>
          <a:noFill/>
          <a:ln w="28575">
            <a:solidFill>
              <a:srgbClr val="00B050"/>
            </a:solidFill>
          </a:ln>
        </p:spPr>
        <p:txBody>
          <a:bodyPr wrap="square" rtlCol="0">
            <a:spAutoFit/>
          </a:bodyPr>
          <a:lstStyle/>
          <a:p>
            <a:r>
              <a:rPr lang="en-US" dirty="0"/>
              <a:t>public interface Runnable{</a:t>
            </a:r>
          </a:p>
          <a:p>
            <a:r>
              <a:rPr lang="en-US" dirty="0"/>
              <a:t> public void run() ;</a:t>
            </a:r>
          </a:p>
          <a:p>
            <a:r>
              <a:rPr lang="en-US" dirty="0"/>
              <a:t>}</a:t>
            </a:r>
          </a:p>
          <a:p>
            <a:endParaRPr lang="en-US" dirty="0"/>
          </a:p>
          <a:p>
            <a:r>
              <a:rPr lang="en-GB" dirty="0"/>
              <a:t>public class Thread</a:t>
            </a:r>
          </a:p>
          <a:p>
            <a:r>
              <a:rPr lang="en-GB" dirty="0"/>
              <a:t>extends Object</a:t>
            </a:r>
          </a:p>
          <a:p>
            <a:r>
              <a:rPr lang="en-GB" dirty="0"/>
              <a:t>implements Runnable</a:t>
            </a:r>
          </a:p>
        </p:txBody>
      </p:sp>
    </p:spTree>
    <p:extLst>
      <p:ext uri="{BB962C8B-B14F-4D97-AF65-F5344CB8AC3E}">
        <p14:creationId xmlns:p14="http://schemas.microsoft.com/office/powerpoint/2010/main" val="3068096996"/>
      </p:ext>
    </p:extLst>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Rectangle 1"/>
          <p:cNvSpPr/>
          <p:nvPr/>
        </p:nvSpPr>
        <p:spPr>
          <a:xfrm>
            <a:off x="1355454" y="1585020"/>
            <a:ext cx="5442977" cy="3170099"/>
          </a:xfrm>
          <a:prstGeom prst="rect">
            <a:avLst/>
          </a:prstGeom>
          <a:ln w="38100">
            <a:solidFill>
              <a:srgbClr val="00B050"/>
            </a:solidFill>
          </a:ln>
        </p:spPr>
        <p:txBody>
          <a:bodyPr wrap="square">
            <a:spAutoFit/>
          </a:bodyPr>
          <a:lstStyle/>
          <a:p>
            <a:r>
              <a:rPr lang="en-US" sz="2000" dirty="0"/>
              <a:t>public class </a:t>
            </a:r>
            <a:r>
              <a:rPr lang="en-US" sz="2000" dirty="0" err="1"/>
              <a:t>HelloThread</a:t>
            </a:r>
            <a:r>
              <a:rPr lang="en-US" sz="2000" dirty="0"/>
              <a:t> extends Thread {</a:t>
            </a:r>
          </a:p>
          <a:p>
            <a:endParaRPr lang="en-US" sz="2000" dirty="0"/>
          </a:p>
          <a:p>
            <a:r>
              <a:rPr lang="en-US" sz="2000" dirty="0"/>
              <a:t>    public void </a:t>
            </a:r>
            <a:r>
              <a:rPr lang="en-US" sz="2000" b="1" dirty="0"/>
              <a:t>run() </a:t>
            </a:r>
            <a:r>
              <a:rPr lang="en-US" sz="2000" dirty="0"/>
              <a:t>{</a:t>
            </a:r>
          </a:p>
          <a:p>
            <a:r>
              <a:rPr lang="en-US" sz="2000" dirty="0"/>
              <a:t>        </a:t>
            </a:r>
            <a:r>
              <a:rPr lang="en-US" sz="2000" dirty="0" err="1"/>
              <a:t>System.out.println</a:t>
            </a:r>
            <a:r>
              <a:rPr lang="en-US" sz="2000" dirty="0"/>
              <a:t>("Hello from a thread!");</a:t>
            </a:r>
          </a:p>
          <a:p>
            <a:r>
              <a:rPr lang="en-US" sz="2000" dirty="0"/>
              <a:t>    }</a:t>
            </a:r>
          </a:p>
          <a:p>
            <a:endParaRPr lang="en-US" sz="2000" dirty="0"/>
          </a:p>
          <a:p>
            <a:r>
              <a:rPr lang="en-US" sz="2000" dirty="0"/>
              <a:t>    public static void main(String </a:t>
            </a:r>
            <a:r>
              <a:rPr lang="en-US" sz="2000" dirty="0" err="1"/>
              <a:t>args</a:t>
            </a:r>
            <a:r>
              <a:rPr lang="en-US" sz="2000" dirty="0"/>
              <a:t>[]) {</a:t>
            </a:r>
          </a:p>
          <a:p>
            <a:r>
              <a:rPr lang="en-GB" sz="2000" b="0" dirty="0">
                <a:solidFill>
                  <a:srgbClr val="D4D4D4"/>
                </a:solidFill>
                <a:effectLst/>
                <a:latin typeface="Consolas" panose="020B0609020204030204" pitchFamily="49" charset="0"/>
              </a:rPr>
              <a:t>       </a:t>
            </a:r>
            <a:r>
              <a:rPr lang="en-GB" sz="2000" dirty="0" err="1"/>
              <a:t>HelloThread</a:t>
            </a:r>
            <a:r>
              <a:rPr lang="en-GB" sz="2000" dirty="0"/>
              <a:t> t = new </a:t>
            </a:r>
            <a:r>
              <a:rPr lang="en-GB" sz="2000" dirty="0" err="1"/>
              <a:t>HelloThread</a:t>
            </a:r>
            <a:r>
              <a:rPr lang="en-GB" sz="2000" dirty="0"/>
              <a:t>();</a:t>
            </a:r>
          </a:p>
          <a:p>
            <a:r>
              <a:rPr lang="en-GB" sz="2000" dirty="0"/>
              <a:t>                 </a:t>
            </a:r>
            <a:r>
              <a:rPr lang="en-GB" sz="2000" b="1" dirty="0" err="1"/>
              <a:t>t.start</a:t>
            </a:r>
            <a:r>
              <a:rPr lang="en-GB" sz="2000" b="1" dirty="0"/>
              <a:t>()</a:t>
            </a:r>
            <a:r>
              <a:rPr lang="en-GB" sz="2000" dirty="0"/>
              <a:t>;</a:t>
            </a:r>
          </a:p>
          <a:p>
            <a:r>
              <a:rPr lang="en-US" sz="2000" dirty="0"/>
              <a:t>    }}</a:t>
            </a:r>
          </a:p>
        </p:txBody>
      </p:sp>
      <p:sp>
        <p:nvSpPr>
          <p:cNvPr id="3" name="TextBox 2"/>
          <p:cNvSpPr txBox="1"/>
          <p:nvPr/>
        </p:nvSpPr>
        <p:spPr>
          <a:xfrm>
            <a:off x="778476" y="420130"/>
            <a:ext cx="6596934" cy="461665"/>
          </a:xfrm>
          <a:prstGeom prst="rect">
            <a:avLst/>
          </a:prstGeom>
          <a:noFill/>
        </p:spPr>
        <p:txBody>
          <a:bodyPr wrap="none" rtlCol="0">
            <a:spAutoFit/>
          </a:bodyPr>
          <a:lstStyle/>
          <a:p>
            <a:pPr marL="342900" indent="-342900">
              <a:buFont typeface="Wingdings" panose="05000000000000000000" pitchFamily="2" charset="2"/>
              <a:buChar char="Ø"/>
            </a:pPr>
            <a:r>
              <a:rPr lang="en-US" sz="2400" dirty="0" err="1"/>
              <a:t>Definirea</a:t>
            </a:r>
            <a:r>
              <a:rPr lang="en-US" sz="2400" dirty="0"/>
              <a:t> </a:t>
            </a:r>
            <a:r>
              <a:rPr lang="en-US" sz="2400" dirty="0" err="1"/>
              <a:t>unui</a:t>
            </a:r>
            <a:r>
              <a:rPr lang="en-US" sz="2400" dirty="0"/>
              <a:t> thread ca </a:t>
            </a:r>
            <a:r>
              <a:rPr lang="en-US" sz="2400" dirty="0" err="1"/>
              <a:t>subclas</a:t>
            </a:r>
            <a:r>
              <a:rPr lang="ro-RO" sz="2400" dirty="0"/>
              <a:t>ă</a:t>
            </a:r>
            <a:r>
              <a:rPr lang="en-US" sz="2400" dirty="0"/>
              <a:t> a </a:t>
            </a:r>
            <a:r>
              <a:rPr lang="en-US" sz="2400" dirty="0" err="1"/>
              <a:t>clasei</a:t>
            </a:r>
            <a:r>
              <a:rPr lang="en-US" sz="2400" dirty="0"/>
              <a:t> </a:t>
            </a:r>
            <a:r>
              <a:rPr lang="en-US" sz="2400" dirty="0">
                <a:highlight>
                  <a:srgbClr val="00FF00"/>
                </a:highlight>
              </a:rPr>
              <a:t>Thread</a:t>
            </a:r>
          </a:p>
        </p:txBody>
      </p:sp>
      <p:sp>
        <p:nvSpPr>
          <p:cNvPr id="6" name="TextBox 5">
            <a:extLst>
              <a:ext uri="{FF2B5EF4-FFF2-40B4-BE49-F238E27FC236}">
                <a16:creationId xmlns:a16="http://schemas.microsoft.com/office/drawing/2014/main" id="{64BD87B2-D471-4E76-A394-8239BF49FD28}"/>
              </a:ext>
            </a:extLst>
          </p:cNvPr>
          <p:cNvSpPr txBox="1"/>
          <p:nvPr/>
        </p:nvSpPr>
        <p:spPr>
          <a:xfrm>
            <a:off x="7091680" y="2204720"/>
            <a:ext cx="3425681" cy="646331"/>
          </a:xfrm>
          <a:prstGeom prst="rect">
            <a:avLst/>
          </a:prstGeom>
          <a:solidFill>
            <a:schemeClr val="bg1">
              <a:lumMod val="95000"/>
            </a:schemeClr>
          </a:solidFill>
        </p:spPr>
        <p:txBody>
          <a:bodyPr wrap="none" rtlCol="0">
            <a:spAutoFit/>
          </a:bodyPr>
          <a:lstStyle/>
          <a:p>
            <a:r>
              <a:rPr lang="en-US" dirty="0" err="1"/>
              <a:t>definim</a:t>
            </a:r>
            <a:r>
              <a:rPr lang="en-US" dirty="0"/>
              <a:t> o </a:t>
            </a:r>
            <a:r>
              <a:rPr lang="en-US" dirty="0" err="1"/>
              <a:t>subclas</a:t>
            </a:r>
            <a:r>
              <a:rPr lang="ro-RO" dirty="0"/>
              <a:t>ă</a:t>
            </a:r>
            <a:r>
              <a:rPr lang="en-US" dirty="0"/>
              <a:t> a </a:t>
            </a:r>
            <a:r>
              <a:rPr lang="en-US" dirty="0" err="1"/>
              <a:t>clasei</a:t>
            </a:r>
            <a:r>
              <a:rPr lang="en-US" dirty="0"/>
              <a:t> </a:t>
            </a:r>
            <a:r>
              <a:rPr lang="en-US" dirty="0">
                <a:highlight>
                  <a:srgbClr val="00FF00"/>
                </a:highlight>
              </a:rPr>
              <a:t>Thread</a:t>
            </a:r>
            <a:r>
              <a:rPr lang="en-US" dirty="0"/>
              <a:t> </a:t>
            </a:r>
          </a:p>
          <a:p>
            <a:r>
              <a:rPr lang="en-US" dirty="0"/>
              <a:t>cu propria </a:t>
            </a:r>
            <a:r>
              <a:rPr lang="en-US" dirty="0" err="1"/>
              <a:t>metoda</a:t>
            </a:r>
            <a:r>
              <a:rPr lang="en-US" dirty="0"/>
              <a:t> </a:t>
            </a:r>
            <a:r>
              <a:rPr lang="en-US" dirty="0">
                <a:highlight>
                  <a:srgbClr val="00FF00"/>
                </a:highlight>
              </a:rPr>
              <a:t>run()</a:t>
            </a:r>
          </a:p>
        </p:txBody>
      </p:sp>
      <p:sp>
        <p:nvSpPr>
          <p:cNvPr id="7" name="TextBox 6">
            <a:extLst>
              <a:ext uri="{FF2B5EF4-FFF2-40B4-BE49-F238E27FC236}">
                <a16:creationId xmlns:a16="http://schemas.microsoft.com/office/drawing/2014/main" id="{62A19A2E-B6F8-4176-B974-739AB03B5D7A}"/>
              </a:ext>
            </a:extLst>
          </p:cNvPr>
          <p:cNvSpPr txBox="1"/>
          <p:nvPr/>
        </p:nvSpPr>
        <p:spPr>
          <a:xfrm>
            <a:off x="7091680" y="3683784"/>
            <a:ext cx="4465710" cy="646331"/>
          </a:xfrm>
          <a:prstGeom prst="rect">
            <a:avLst/>
          </a:prstGeom>
          <a:solidFill>
            <a:schemeClr val="bg1">
              <a:lumMod val="95000"/>
            </a:schemeClr>
          </a:solidFill>
        </p:spPr>
        <p:txBody>
          <a:bodyPr wrap="none" rtlCol="0">
            <a:spAutoFit/>
          </a:bodyPr>
          <a:lstStyle/>
          <a:p>
            <a:r>
              <a:rPr lang="en-US" dirty="0" err="1"/>
              <a:t>definim</a:t>
            </a:r>
            <a:r>
              <a:rPr lang="en-US" dirty="0"/>
              <a:t> thread-ul ca un </a:t>
            </a:r>
            <a:r>
              <a:rPr lang="en-US" dirty="0" err="1"/>
              <a:t>obiect</a:t>
            </a:r>
            <a:r>
              <a:rPr lang="en-US" dirty="0"/>
              <a:t> din </a:t>
            </a:r>
            <a:r>
              <a:rPr lang="en-US" dirty="0" err="1"/>
              <a:t>noua</a:t>
            </a:r>
            <a:r>
              <a:rPr lang="en-US" dirty="0"/>
              <a:t> </a:t>
            </a:r>
            <a:r>
              <a:rPr lang="en-US" dirty="0" err="1"/>
              <a:t>clasa</a:t>
            </a:r>
            <a:r>
              <a:rPr lang="en-US" dirty="0"/>
              <a:t> </a:t>
            </a:r>
          </a:p>
          <a:p>
            <a:r>
              <a:rPr lang="ro-RO" dirty="0"/>
              <a:t>  ș</a:t>
            </a:r>
            <a:r>
              <a:rPr lang="en-US" dirty="0" err="1"/>
              <a:t>i</a:t>
            </a:r>
            <a:r>
              <a:rPr lang="en-US" dirty="0"/>
              <a:t> </a:t>
            </a:r>
            <a:r>
              <a:rPr lang="ro-RO" dirty="0"/>
              <a:t>î</a:t>
            </a:r>
            <a:r>
              <a:rPr lang="en-US" dirty="0"/>
              <a:t>l </a:t>
            </a:r>
            <a:r>
              <a:rPr lang="en-US" dirty="0" err="1"/>
              <a:t>pornim</a:t>
            </a:r>
            <a:r>
              <a:rPr lang="en-US" dirty="0"/>
              <a:t> </a:t>
            </a:r>
            <a:r>
              <a:rPr lang="en-US" dirty="0" err="1"/>
              <a:t>folosind</a:t>
            </a:r>
            <a:r>
              <a:rPr lang="en-US" dirty="0"/>
              <a:t> </a:t>
            </a:r>
            <a:r>
              <a:rPr lang="en-US" dirty="0" err="1"/>
              <a:t>metoda</a:t>
            </a:r>
            <a:r>
              <a:rPr lang="en-US" dirty="0"/>
              <a:t>  </a:t>
            </a:r>
            <a:r>
              <a:rPr lang="en-US" dirty="0">
                <a:highlight>
                  <a:srgbClr val="00FF00"/>
                </a:highlight>
              </a:rPr>
              <a:t>start()</a:t>
            </a:r>
            <a:endParaRPr lang="en-GB" dirty="0">
              <a:highlight>
                <a:srgbClr val="00FF00"/>
              </a:highlight>
            </a:endParaRPr>
          </a:p>
        </p:txBody>
      </p:sp>
      <p:sp>
        <p:nvSpPr>
          <p:cNvPr id="4" name="TextBox 3">
            <a:extLst>
              <a:ext uri="{FF2B5EF4-FFF2-40B4-BE49-F238E27FC236}">
                <a16:creationId xmlns:a16="http://schemas.microsoft.com/office/drawing/2014/main" id="{DB90420F-FDBA-4111-854B-2497ABB10D42}"/>
              </a:ext>
            </a:extLst>
          </p:cNvPr>
          <p:cNvSpPr txBox="1"/>
          <p:nvPr/>
        </p:nvSpPr>
        <p:spPr>
          <a:xfrm>
            <a:off x="1950720" y="5403186"/>
            <a:ext cx="7552389" cy="646331"/>
          </a:xfrm>
          <a:prstGeom prst="rect">
            <a:avLst/>
          </a:prstGeom>
          <a:solidFill>
            <a:schemeClr val="bg1">
              <a:lumMod val="95000"/>
            </a:schemeClr>
          </a:solidFill>
        </p:spPr>
        <p:txBody>
          <a:bodyPr wrap="none" rtlCol="0">
            <a:spAutoFit/>
          </a:bodyPr>
          <a:lstStyle/>
          <a:p>
            <a:pPr marL="285750" indent="-285750">
              <a:buFont typeface="Arial" panose="020B0604020202020204" pitchFamily="34" charset="0"/>
              <a:buChar char="•"/>
            </a:pPr>
            <a:r>
              <a:rPr lang="en-US" dirty="0" err="1"/>
              <a:t>metoda</a:t>
            </a:r>
            <a:r>
              <a:rPr lang="en-US" dirty="0"/>
              <a:t> </a:t>
            </a:r>
            <a:r>
              <a:rPr lang="en-US" dirty="0">
                <a:highlight>
                  <a:srgbClr val="00FF00"/>
                </a:highlight>
              </a:rPr>
              <a:t>start() </a:t>
            </a:r>
            <a:r>
              <a:rPr lang="en-US" dirty="0" err="1"/>
              <a:t>porneste</a:t>
            </a:r>
            <a:r>
              <a:rPr lang="en-US" dirty="0"/>
              <a:t> thread-ul </a:t>
            </a:r>
            <a:r>
              <a:rPr lang="en-US" dirty="0" err="1"/>
              <a:t>creand</a:t>
            </a:r>
            <a:r>
              <a:rPr lang="en-US" dirty="0"/>
              <a:t> un fir de </a:t>
            </a:r>
            <a:r>
              <a:rPr lang="en-US" dirty="0" err="1"/>
              <a:t>exeutie</a:t>
            </a:r>
            <a:r>
              <a:rPr lang="en-US" dirty="0"/>
              <a:t> </a:t>
            </a:r>
            <a:r>
              <a:rPr lang="en-US" dirty="0" err="1"/>
              <a:t>separat</a:t>
            </a:r>
            <a:endParaRPr lang="en-US" dirty="0"/>
          </a:p>
          <a:p>
            <a:pPr marL="285750" indent="-285750">
              <a:buFont typeface="Arial" panose="020B0604020202020204" pitchFamily="34" charset="0"/>
              <a:buChar char="•"/>
            </a:pPr>
            <a:r>
              <a:rPr lang="en-US" dirty="0" err="1"/>
              <a:t>metoda</a:t>
            </a:r>
            <a:r>
              <a:rPr lang="en-US" dirty="0"/>
              <a:t> </a:t>
            </a:r>
            <a:r>
              <a:rPr lang="en-US" dirty="0">
                <a:highlight>
                  <a:srgbClr val="00FF00"/>
                </a:highlight>
              </a:rPr>
              <a:t>run() </a:t>
            </a:r>
            <a:r>
              <a:rPr lang="en-US" dirty="0" err="1"/>
              <a:t>contine</a:t>
            </a:r>
            <a:r>
              <a:rPr lang="en-US" dirty="0"/>
              <a:t> </a:t>
            </a:r>
            <a:r>
              <a:rPr lang="en-US" dirty="0" err="1"/>
              <a:t>ceea</a:t>
            </a:r>
            <a:r>
              <a:rPr lang="en-US" dirty="0"/>
              <a:t> </a:t>
            </a:r>
            <a:r>
              <a:rPr lang="en-US" dirty="0" err="1"/>
              <a:t>ce</a:t>
            </a:r>
            <a:r>
              <a:rPr lang="en-US" dirty="0"/>
              <a:t> </a:t>
            </a:r>
            <a:r>
              <a:rPr lang="en-US" dirty="0" err="1"/>
              <a:t>executa</a:t>
            </a:r>
            <a:r>
              <a:rPr lang="en-US" dirty="0"/>
              <a:t> thread-ul </a:t>
            </a:r>
            <a:r>
              <a:rPr lang="en-US" dirty="0" err="1"/>
              <a:t>dupa</a:t>
            </a:r>
            <a:r>
              <a:rPr lang="en-US" dirty="0"/>
              <a:t> </a:t>
            </a:r>
            <a:r>
              <a:rPr lang="en-US" dirty="0" err="1"/>
              <a:t>apelul</a:t>
            </a:r>
            <a:r>
              <a:rPr lang="en-US" dirty="0"/>
              <a:t> </a:t>
            </a:r>
            <a:r>
              <a:rPr lang="en-US" dirty="0" err="1"/>
              <a:t>metodei</a:t>
            </a:r>
            <a:r>
              <a:rPr lang="en-US" dirty="0"/>
              <a:t> </a:t>
            </a:r>
            <a:r>
              <a:rPr lang="en-US" dirty="0">
                <a:highlight>
                  <a:srgbClr val="00FF00"/>
                </a:highlight>
              </a:rPr>
              <a:t>start()</a:t>
            </a:r>
            <a:endParaRPr lang="en-GB" dirty="0">
              <a:highlight>
                <a:srgbClr val="00FF00"/>
              </a:highlight>
            </a:endParaRPr>
          </a:p>
        </p:txBody>
      </p:sp>
    </p:spTree>
    <p:extLst>
      <p:ext uri="{BB962C8B-B14F-4D97-AF65-F5344CB8AC3E}">
        <p14:creationId xmlns:p14="http://schemas.microsoft.com/office/powerpoint/2010/main" val="3587592347"/>
      </p:ext>
    </p:extLst>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Rectangle 1"/>
          <p:cNvSpPr/>
          <p:nvPr/>
        </p:nvSpPr>
        <p:spPr>
          <a:xfrm>
            <a:off x="1355454" y="1585020"/>
            <a:ext cx="8672466" cy="3170099"/>
          </a:xfrm>
          <a:prstGeom prst="rect">
            <a:avLst/>
          </a:prstGeom>
          <a:ln w="38100">
            <a:solidFill>
              <a:srgbClr val="00B050"/>
            </a:solidFill>
          </a:ln>
        </p:spPr>
        <p:txBody>
          <a:bodyPr wrap="square">
            <a:spAutoFit/>
          </a:bodyPr>
          <a:lstStyle/>
          <a:p>
            <a:r>
              <a:rPr lang="en-US" sz="2000" dirty="0"/>
              <a:t>public class </a:t>
            </a:r>
            <a:r>
              <a:rPr lang="en-US" sz="2000" dirty="0" err="1"/>
              <a:t>HelloThreadAn</a:t>
            </a:r>
            <a:r>
              <a:rPr lang="en-US" sz="2000" dirty="0"/>
              <a:t>  {</a:t>
            </a:r>
          </a:p>
          <a:p>
            <a:r>
              <a:rPr lang="en-GB" sz="2000" dirty="0"/>
              <a:t> </a:t>
            </a:r>
          </a:p>
          <a:p>
            <a:r>
              <a:rPr lang="en-GB" sz="2000" dirty="0"/>
              <a:t>     public static void main(String </a:t>
            </a:r>
            <a:r>
              <a:rPr lang="en-GB" sz="2000" dirty="0" err="1"/>
              <a:t>args</a:t>
            </a:r>
            <a:r>
              <a:rPr lang="en-GB" sz="2000" dirty="0"/>
              <a:t>[]) {</a:t>
            </a:r>
          </a:p>
          <a:p>
            <a:endParaRPr lang="en-GB" sz="2000" dirty="0"/>
          </a:p>
          <a:p>
            <a:r>
              <a:rPr lang="en-GB" sz="2000" dirty="0"/>
              <a:t>              Thread t = new Thread() { public void run() {</a:t>
            </a:r>
          </a:p>
          <a:p>
            <a:r>
              <a:rPr lang="en-GB" sz="2000" dirty="0"/>
              <a:t>                                             </a:t>
            </a:r>
            <a:r>
              <a:rPr lang="en-GB" sz="2000" dirty="0" err="1"/>
              <a:t>System.out.println</a:t>
            </a:r>
            <a:r>
              <a:rPr lang="en-GB" sz="2000" dirty="0"/>
              <a:t>("Hello from a thread!");</a:t>
            </a:r>
          </a:p>
          <a:p>
            <a:r>
              <a:rPr lang="en-GB" sz="2000" dirty="0"/>
              <a:t>                                                            }};</a:t>
            </a:r>
          </a:p>
          <a:p>
            <a:r>
              <a:rPr lang="en-GB" sz="2000" dirty="0"/>
              <a:t>               </a:t>
            </a:r>
            <a:r>
              <a:rPr lang="en-GB" sz="2000" dirty="0" err="1"/>
              <a:t>t.start</a:t>
            </a:r>
            <a:r>
              <a:rPr lang="en-GB" sz="2000" dirty="0"/>
              <a:t>();</a:t>
            </a:r>
          </a:p>
          <a:p>
            <a:r>
              <a:rPr lang="en-GB" sz="2000" dirty="0"/>
              <a:t>    }}</a:t>
            </a:r>
          </a:p>
          <a:p>
            <a:r>
              <a:rPr lang="en-US" sz="2000" dirty="0"/>
              <a:t>    </a:t>
            </a:r>
          </a:p>
        </p:txBody>
      </p:sp>
      <p:sp>
        <p:nvSpPr>
          <p:cNvPr id="3" name="TextBox 2"/>
          <p:cNvSpPr txBox="1"/>
          <p:nvPr/>
        </p:nvSpPr>
        <p:spPr>
          <a:xfrm>
            <a:off x="778476" y="420130"/>
            <a:ext cx="7693388" cy="461665"/>
          </a:xfrm>
          <a:prstGeom prst="rect">
            <a:avLst/>
          </a:prstGeom>
          <a:noFill/>
        </p:spPr>
        <p:txBody>
          <a:bodyPr wrap="none" rtlCol="0">
            <a:spAutoFit/>
          </a:bodyPr>
          <a:lstStyle/>
          <a:p>
            <a:pPr marL="342900" indent="-342900">
              <a:buFont typeface="Wingdings" panose="05000000000000000000" pitchFamily="2" charset="2"/>
              <a:buChar char="Ø"/>
            </a:pPr>
            <a:r>
              <a:rPr lang="en-US" sz="2400" dirty="0" err="1"/>
              <a:t>Definirea</a:t>
            </a:r>
            <a:r>
              <a:rPr lang="en-US" sz="2400" dirty="0"/>
              <a:t> </a:t>
            </a:r>
            <a:r>
              <a:rPr lang="en-US" sz="2400" dirty="0" err="1"/>
              <a:t>unui</a:t>
            </a:r>
            <a:r>
              <a:rPr lang="en-US" sz="2400" dirty="0"/>
              <a:t> thread ca </a:t>
            </a:r>
            <a:r>
              <a:rPr lang="en-US" sz="2400" dirty="0" err="1"/>
              <a:t>subclas</a:t>
            </a:r>
            <a:r>
              <a:rPr lang="ro-RO" sz="2400" dirty="0"/>
              <a:t>ă</a:t>
            </a:r>
            <a:r>
              <a:rPr lang="en-US" sz="2400" dirty="0"/>
              <a:t> </a:t>
            </a:r>
            <a:r>
              <a:rPr lang="en-US" sz="2400" dirty="0" err="1"/>
              <a:t>anonim</a:t>
            </a:r>
            <a:r>
              <a:rPr lang="ro-RO" sz="2400" dirty="0"/>
              <a:t>ă</a:t>
            </a:r>
            <a:r>
              <a:rPr lang="en-US" sz="2400" dirty="0"/>
              <a:t> a </a:t>
            </a:r>
            <a:r>
              <a:rPr lang="en-US" sz="2400" dirty="0" err="1"/>
              <a:t>clasei</a:t>
            </a:r>
            <a:r>
              <a:rPr lang="en-US" sz="2400" dirty="0"/>
              <a:t> </a:t>
            </a:r>
            <a:r>
              <a:rPr lang="en-US" sz="2400" dirty="0">
                <a:highlight>
                  <a:srgbClr val="00FF00"/>
                </a:highlight>
              </a:rPr>
              <a:t>Thread</a:t>
            </a:r>
          </a:p>
        </p:txBody>
      </p:sp>
    </p:spTree>
    <p:extLst>
      <p:ext uri="{BB962C8B-B14F-4D97-AF65-F5344CB8AC3E}">
        <p14:creationId xmlns:p14="http://schemas.microsoft.com/office/powerpoint/2010/main" val="776545291"/>
      </p:ext>
    </p:extLst>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Rectangle 2"/>
          <p:cNvSpPr/>
          <p:nvPr/>
        </p:nvSpPr>
        <p:spPr>
          <a:xfrm>
            <a:off x="1893207" y="1843950"/>
            <a:ext cx="5577016" cy="3170099"/>
          </a:xfrm>
          <a:prstGeom prst="rect">
            <a:avLst/>
          </a:prstGeom>
          <a:ln w="38100">
            <a:solidFill>
              <a:srgbClr val="00B050"/>
            </a:solidFill>
          </a:ln>
        </p:spPr>
        <p:txBody>
          <a:bodyPr wrap="square">
            <a:spAutoFit/>
          </a:bodyPr>
          <a:lstStyle/>
          <a:p>
            <a:r>
              <a:rPr lang="en-US" sz="2000" dirty="0"/>
              <a:t>public class </a:t>
            </a:r>
            <a:r>
              <a:rPr lang="en-US" sz="2000" dirty="0" err="1"/>
              <a:t>HelloRunnable</a:t>
            </a:r>
            <a:r>
              <a:rPr lang="en-US" sz="2000" dirty="0"/>
              <a:t> implements Runnable {</a:t>
            </a:r>
          </a:p>
          <a:p>
            <a:endParaRPr lang="en-US" sz="2000" dirty="0"/>
          </a:p>
          <a:p>
            <a:r>
              <a:rPr lang="en-US" sz="2000" dirty="0"/>
              <a:t>   public void </a:t>
            </a:r>
            <a:r>
              <a:rPr lang="en-US" sz="2000" b="1" dirty="0"/>
              <a:t>run() </a:t>
            </a:r>
            <a:r>
              <a:rPr lang="en-US" sz="2000" dirty="0"/>
              <a:t>{</a:t>
            </a:r>
          </a:p>
          <a:p>
            <a:r>
              <a:rPr lang="en-US" sz="2000" dirty="0"/>
              <a:t>        </a:t>
            </a:r>
            <a:r>
              <a:rPr lang="en-US" sz="2000" dirty="0" err="1"/>
              <a:t>System.out.println</a:t>
            </a:r>
            <a:r>
              <a:rPr lang="en-US" sz="2000" dirty="0"/>
              <a:t>("Hello from a thread!");</a:t>
            </a:r>
          </a:p>
          <a:p>
            <a:r>
              <a:rPr lang="en-US" sz="2000" dirty="0"/>
              <a:t>    }</a:t>
            </a:r>
          </a:p>
          <a:p>
            <a:endParaRPr lang="en-US" sz="2000" dirty="0"/>
          </a:p>
          <a:p>
            <a:r>
              <a:rPr lang="en-US" sz="2000" dirty="0"/>
              <a:t>    public static void main(String </a:t>
            </a:r>
            <a:r>
              <a:rPr lang="en-US" sz="2000" dirty="0" err="1"/>
              <a:t>args</a:t>
            </a:r>
            <a:r>
              <a:rPr lang="en-US" sz="2000" dirty="0"/>
              <a:t>[]) {</a:t>
            </a:r>
          </a:p>
          <a:p>
            <a:r>
              <a:rPr lang="en-US" sz="2000" dirty="0"/>
              <a:t>         Thread t = new Thread (new </a:t>
            </a:r>
            <a:r>
              <a:rPr lang="en-US" sz="2000" dirty="0" err="1"/>
              <a:t>HelloRunnable</a:t>
            </a:r>
            <a:r>
              <a:rPr lang="en-US" sz="2000" dirty="0"/>
              <a:t>());</a:t>
            </a:r>
          </a:p>
          <a:p>
            <a:r>
              <a:rPr lang="en-US" sz="2000" dirty="0"/>
              <a:t>          </a:t>
            </a:r>
            <a:r>
              <a:rPr lang="en-US" sz="2000" b="1" dirty="0" err="1"/>
              <a:t>t.start</a:t>
            </a:r>
            <a:r>
              <a:rPr lang="en-US" sz="2000" b="1" dirty="0"/>
              <a:t>()</a:t>
            </a:r>
            <a:r>
              <a:rPr lang="en-US" sz="2000" dirty="0"/>
              <a:t>;</a:t>
            </a:r>
          </a:p>
          <a:p>
            <a:r>
              <a:rPr lang="en-US" sz="2000" dirty="0"/>
              <a:t>    }}</a:t>
            </a:r>
          </a:p>
        </p:txBody>
      </p:sp>
      <p:sp>
        <p:nvSpPr>
          <p:cNvPr id="4" name="TextBox 3"/>
          <p:cNvSpPr txBox="1"/>
          <p:nvPr/>
        </p:nvSpPr>
        <p:spPr>
          <a:xfrm>
            <a:off x="568410" y="395416"/>
            <a:ext cx="8226611" cy="461665"/>
          </a:xfrm>
          <a:prstGeom prst="rect">
            <a:avLst/>
          </a:prstGeom>
          <a:ln>
            <a:noFill/>
          </a:ln>
        </p:spPr>
        <p:style>
          <a:lnRef idx="2">
            <a:schemeClr val="accent1"/>
          </a:lnRef>
          <a:fillRef idx="1">
            <a:schemeClr val="lt1"/>
          </a:fillRef>
          <a:effectRef idx="0">
            <a:schemeClr val="accent1"/>
          </a:effectRef>
          <a:fontRef idx="minor">
            <a:schemeClr val="dk1"/>
          </a:fontRef>
        </p:style>
        <p:txBody>
          <a:bodyPr wrap="none" rtlCol="0">
            <a:spAutoFit/>
          </a:bodyPr>
          <a:lstStyle/>
          <a:p>
            <a:pPr marL="342900" indent="-342900">
              <a:buFont typeface="Wingdings" panose="05000000000000000000" pitchFamily="2" charset="2"/>
              <a:buChar char="Ø"/>
            </a:pPr>
            <a:r>
              <a:rPr lang="en-US" sz="2400" dirty="0" err="1"/>
              <a:t>Definirea</a:t>
            </a:r>
            <a:r>
              <a:rPr lang="en-US" sz="2400" dirty="0"/>
              <a:t> </a:t>
            </a:r>
            <a:r>
              <a:rPr lang="en-US" sz="2400" dirty="0" err="1"/>
              <a:t>unui</a:t>
            </a:r>
            <a:r>
              <a:rPr lang="en-US" sz="2400" dirty="0"/>
              <a:t> thread </a:t>
            </a:r>
            <a:r>
              <a:rPr lang="en-US" sz="2400" dirty="0" err="1"/>
              <a:t>prin</a:t>
            </a:r>
            <a:r>
              <a:rPr lang="en-US" sz="2400" dirty="0"/>
              <a:t> </a:t>
            </a:r>
            <a:r>
              <a:rPr lang="en-US" sz="2400" dirty="0" err="1"/>
              <a:t>implementarea</a:t>
            </a:r>
            <a:r>
              <a:rPr lang="en-US" sz="2400" dirty="0"/>
              <a:t> </a:t>
            </a:r>
            <a:r>
              <a:rPr lang="en-US" sz="2400" dirty="0" err="1"/>
              <a:t>interfe</a:t>
            </a:r>
            <a:r>
              <a:rPr lang="ro-RO" sz="2400" dirty="0"/>
              <a:t>ț</a:t>
            </a:r>
            <a:r>
              <a:rPr lang="en-US" sz="2400" dirty="0" err="1"/>
              <a:t>ei</a:t>
            </a:r>
            <a:r>
              <a:rPr lang="en-US" sz="2400" dirty="0"/>
              <a:t> </a:t>
            </a:r>
            <a:r>
              <a:rPr lang="en-US" sz="2400" dirty="0">
                <a:highlight>
                  <a:srgbClr val="00FF00"/>
                </a:highlight>
              </a:rPr>
              <a:t>Runnable</a:t>
            </a:r>
          </a:p>
        </p:txBody>
      </p:sp>
      <p:sp>
        <p:nvSpPr>
          <p:cNvPr id="9" name="TextBox 8">
            <a:extLst>
              <a:ext uri="{FF2B5EF4-FFF2-40B4-BE49-F238E27FC236}">
                <a16:creationId xmlns:a16="http://schemas.microsoft.com/office/drawing/2014/main" id="{77130F80-7A7D-4451-87AC-0EB22DD4774A}"/>
              </a:ext>
            </a:extLst>
          </p:cNvPr>
          <p:cNvSpPr txBox="1"/>
          <p:nvPr/>
        </p:nvSpPr>
        <p:spPr>
          <a:xfrm>
            <a:off x="882820" y="1066800"/>
            <a:ext cx="6076780" cy="400110"/>
          </a:xfrm>
          <a:prstGeom prst="rect">
            <a:avLst/>
          </a:prstGeom>
          <a:noFill/>
        </p:spPr>
        <p:txBody>
          <a:bodyPr wrap="square" rtlCol="0">
            <a:spAutoFit/>
          </a:bodyPr>
          <a:lstStyle/>
          <a:p>
            <a:r>
              <a:rPr lang="en-US" sz="2000" dirty="0" err="1"/>
              <a:t>Interfa</a:t>
            </a:r>
            <a:r>
              <a:rPr lang="ro-RO" sz="2000" dirty="0"/>
              <a:t>ț</a:t>
            </a:r>
            <a:r>
              <a:rPr lang="en-US" sz="2000" dirty="0"/>
              <a:t>a </a:t>
            </a:r>
            <a:r>
              <a:rPr lang="en-US" sz="2000" dirty="0">
                <a:highlight>
                  <a:srgbClr val="00FF00"/>
                </a:highlight>
              </a:rPr>
              <a:t>Runnable</a:t>
            </a:r>
            <a:r>
              <a:rPr lang="en-US" sz="2000" dirty="0"/>
              <a:t> con</a:t>
            </a:r>
            <a:r>
              <a:rPr lang="ro-RO" sz="2000" dirty="0"/>
              <a:t>ț</a:t>
            </a:r>
            <a:r>
              <a:rPr lang="en-US" sz="2000" dirty="0" err="1"/>
              <a:t>ine</a:t>
            </a:r>
            <a:r>
              <a:rPr lang="en-US" sz="2000" dirty="0"/>
              <a:t> o </a:t>
            </a:r>
            <a:r>
              <a:rPr lang="en-US" sz="2000" dirty="0" err="1"/>
              <a:t>singura</a:t>
            </a:r>
            <a:r>
              <a:rPr lang="en-US" sz="2000" dirty="0"/>
              <a:t> </a:t>
            </a:r>
            <a:r>
              <a:rPr lang="en-US" sz="2000" dirty="0" err="1"/>
              <a:t>metod</a:t>
            </a:r>
            <a:r>
              <a:rPr lang="ro-RO" sz="2000" dirty="0"/>
              <a:t>ă</a:t>
            </a:r>
            <a:r>
              <a:rPr lang="en-US" sz="2000" dirty="0"/>
              <a:t>:  </a:t>
            </a:r>
            <a:r>
              <a:rPr lang="en-US" sz="2000" dirty="0">
                <a:highlight>
                  <a:srgbClr val="00FF00"/>
                </a:highlight>
              </a:rPr>
              <a:t>run()</a:t>
            </a:r>
            <a:endParaRPr lang="en-GB" sz="2000" dirty="0">
              <a:highlight>
                <a:srgbClr val="00FF00"/>
              </a:highlight>
            </a:endParaRPr>
          </a:p>
        </p:txBody>
      </p:sp>
      <p:sp>
        <p:nvSpPr>
          <p:cNvPr id="10" name="TextBox 9">
            <a:extLst>
              <a:ext uri="{FF2B5EF4-FFF2-40B4-BE49-F238E27FC236}">
                <a16:creationId xmlns:a16="http://schemas.microsoft.com/office/drawing/2014/main" id="{B99896B4-139A-4AB6-8A2A-D05054E899B8}"/>
              </a:ext>
            </a:extLst>
          </p:cNvPr>
          <p:cNvSpPr txBox="1"/>
          <p:nvPr/>
        </p:nvSpPr>
        <p:spPr>
          <a:xfrm>
            <a:off x="3048000" y="5252720"/>
            <a:ext cx="6390640" cy="646331"/>
          </a:xfrm>
          <a:prstGeom prst="rect">
            <a:avLst/>
          </a:prstGeom>
          <a:solidFill>
            <a:schemeClr val="bg1">
              <a:lumMod val="95000"/>
            </a:schemeClr>
          </a:solidFill>
          <a:ln>
            <a:noFill/>
          </a:ln>
        </p:spPr>
        <p:style>
          <a:lnRef idx="2">
            <a:schemeClr val="dk1"/>
          </a:lnRef>
          <a:fillRef idx="1">
            <a:schemeClr val="lt1"/>
          </a:fillRef>
          <a:effectRef idx="0">
            <a:schemeClr val="dk1"/>
          </a:effectRef>
          <a:fontRef idx="minor">
            <a:schemeClr val="dk1"/>
          </a:fontRef>
        </p:style>
        <p:txBody>
          <a:bodyPr wrap="square" rtlCol="0">
            <a:spAutoFit/>
          </a:bodyPr>
          <a:lstStyle/>
          <a:p>
            <a:r>
              <a:rPr lang="en-US" dirty="0" err="1"/>
              <a:t>apelul</a:t>
            </a:r>
            <a:r>
              <a:rPr lang="en-US" dirty="0"/>
              <a:t> </a:t>
            </a:r>
            <a:r>
              <a:rPr lang="en-US" dirty="0" err="1"/>
              <a:t>metodei</a:t>
            </a:r>
            <a:r>
              <a:rPr lang="en-US" dirty="0"/>
              <a:t> </a:t>
            </a:r>
            <a:r>
              <a:rPr lang="en-US" dirty="0">
                <a:highlight>
                  <a:srgbClr val="00FF00"/>
                </a:highlight>
              </a:rPr>
              <a:t>start() </a:t>
            </a:r>
            <a:r>
              <a:rPr lang="en-US" dirty="0" err="1"/>
              <a:t>creaza</a:t>
            </a:r>
            <a:r>
              <a:rPr lang="en-US" dirty="0"/>
              <a:t> un  fir de </a:t>
            </a:r>
            <a:r>
              <a:rPr lang="en-US" dirty="0" err="1"/>
              <a:t>executie</a:t>
            </a:r>
            <a:r>
              <a:rPr lang="en-US" dirty="0"/>
              <a:t> </a:t>
            </a:r>
            <a:r>
              <a:rPr lang="en-US" dirty="0" err="1"/>
              <a:t>separat</a:t>
            </a:r>
            <a:r>
              <a:rPr lang="en-US" dirty="0"/>
              <a:t>, in care </a:t>
            </a:r>
            <a:r>
              <a:rPr lang="en-US" dirty="0" err="1"/>
              <a:t>este</a:t>
            </a:r>
            <a:r>
              <a:rPr lang="en-US" dirty="0"/>
              <a:t>  </a:t>
            </a:r>
            <a:r>
              <a:rPr lang="en-US" dirty="0" err="1"/>
              <a:t>apelata</a:t>
            </a:r>
            <a:r>
              <a:rPr lang="en-US" dirty="0"/>
              <a:t> </a:t>
            </a:r>
            <a:r>
              <a:rPr lang="en-US" dirty="0" err="1"/>
              <a:t>metoda</a:t>
            </a:r>
            <a:r>
              <a:rPr lang="en-US" dirty="0"/>
              <a:t> </a:t>
            </a:r>
            <a:r>
              <a:rPr lang="en-US" dirty="0">
                <a:highlight>
                  <a:srgbClr val="00FF00"/>
                </a:highlight>
              </a:rPr>
              <a:t>run() </a:t>
            </a:r>
            <a:r>
              <a:rPr lang="en-US" dirty="0"/>
              <a:t>a </a:t>
            </a:r>
            <a:r>
              <a:rPr lang="en-US" dirty="0" err="1"/>
              <a:t>obiectului</a:t>
            </a:r>
            <a:r>
              <a:rPr lang="en-US" dirty="0"/>
              <a:t> </a:t>
            </a:r>
            <a:r>
              <a:rPr lang="en-US" dirty="0" err="1"/>
              <a:t>respectiv</a:t>
            </a:r>
            <a:endParaRPr lang="en-GB" dirty="0"/>
          </a:p>
        </p:txBody>
      </p:sp>
      <p:cxnSp>
        <p:nvCxnSpPr>
          <p:cNvPr id="12" name="Straight Arrow Connector 11">
            <a:extLst>
              <a:ext uri="{FF2B5EF4-FFF2-40B4-BE49-F238E27FC236}">
                <a16:creationId xmlns:a16="http://schemas.microsoft.com/office/drawing/2014/main" id="{E0109A65-AD05-4A20-89B4-F85DA7FB2202}"/>
              </a:ext>
            </a:extLst>
          </p:cNvPr>
          <p:cNvCxnSpPr/>
          <p:nvPr/>
        </p:nvCxnSpPr>
        <p:spPr>
          <a:xfrm>
            <a:off x="2956560" y="4612640"/>
            <a:ext cx="314960" cy="589280"/>
          </a:xfrm>
          <a:prstGeom prst="straightConnector1">
            <a:avLst/>
          </a:prstGeom>
          <a:ln>
            <a:tailEnd type="triangle"/>
          </a:ln>
        </p:spPr>
        <p:style>
          <a:lnRef idx="1">
            <a:schemeClr val="dk1"/>
          </a:lnRef>
          <a:fillRef idx="0">
            <a:schemeClr val="dk1"/>
          </a:fillRef>
          <a:effectRef idx="0">
            <a:schemeClr val="dk1"/>
          </a:effectRef>
          <a:fontRef idx="minor">
            <a:schemeClr val="tx1"/>
          </a:fontRef>
        </p:style>
      </p:cxnSp>
    </p:spTree>
    <p:extLst>
      <p:ext uri="{BB962C8B-B14F-4D97-AF65-F5344CB8AC3E}">
        <p14:creationId xmlns:p14="http://schemas.microsoft.com/office/powerpoint/2010/main" val="3839429076"/>
      </p:ext>
    </p:extLst>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TextBox 2"/>
          <p:cNvSpPr txBox="1"/>
          <p:nvPr/>
        </p:nvSpPr>
        <p:spPr>
          <a:xfrm>
            <a:off x="792480" y="2279640"/>
            <a:ext cx="3841116" cy="3970318"/>
          </a:xfrm>
          <a:prstGeom prst="rect">
            <a:avLst/>
          </a:prstGeom>
          <a:noFill/>
        </p:spPr>
        <p:txBody>
          <a:bodyPr wrap="none" rtlCol="0">
            <a:spAutoFit/>
          </a:bodyPr>
          <a:lstStyle/>
          <a:p>
            <a:pPr marL="342900" indent="-342900">
              <a:buFont typeface="Wingdings" panose="05000000000000000000" pitchFamily="2" charset="2"/>
              <a:buChar char="§"/>
            </a:pPr>
            <a:r>
              <a:rPr lang="en-US" sz="2400" dirty="0" err="1"/>
              <a:t>Metodele</a:t>
            </a:r>
            <a:r>
              <a:rPr lang="en-US" sz="2400" dirty="0"/>
              <a:t> ale </a:t>
            </a:r>
            <a:r>
              <a:rPr lang="en-US" sz="2400" dirty="0" err="1"/>
              <a:t>instan</a:t>
            </a:r>
            <a:r>
              <a:rPr lang="ro-RO" sz="2400" dirty="0"/>
              <a:t>ț</a:t>
            </a:r>
            <a:r>
              <a:rPr lang="en-US" sz="2400" dirty="0" err="1"/>
              <a:t>elor</a:t>
            </a:r>
            <a:r>
              <a:rPr lang="en-US" sz="2400" dirty="0"/>
              <a:t>:</a:t>
            </a:r>
          </a:p>
          <a:p>
            <a:endParaRPr lang="en-US" sz="2400" dirty="0"/>
          </a:p>
          <a:p>
            <a:pPr marL="742950" lvl="1" indent="-285750">
              <a:buFont typeface="Courier New" panose="02070309020205020404" pitchFamily="49" charset="0"/>
              <a:buChar char="o"/>
            </a:pPr>
            <a:r>
              <a:rPr lang="en-US" sz="2400" b="1" dirty="0"/>
              <a:t>run()</a:t>
            </a:r>
          </a:p>
          <a:p>
            <a:pPr marL="742950" lvl="1" indent="-285750">
              <a:buFont typeface="Courier New" panose="02070309020205020404" pitchFamily="49" charset="0"/>
              <a:buChar char="o"/>
            </a:pPr>
            <a:r>
              <a:rPr lang="en-US" sz="2400" b="1" dirty="0"/>
              <a:t>start()</a:t>
            </a:r>
          </a:p>
          <a:p>
            <a:pPr marL="742950" lvl="1" indent="-285750">
              <a:buFont typeface="Courier New" panose="02070309020205020404" pitchFamily="49" charset="0"/>
              <a:buChar char="o"/>
            </a:pPr>
            <a:r>
              <a:rPr lang="en-US" sz="2400" b="1" dirty="0"/>
              <a:t>join()</a:t>
            </a:r>
          </a:p>
          <a:p>
            <a:pPr marL="742950" lvl="1" indent="-285750">
              <a:buFont typeface="Courier New" panose="02070309020205020404" pitchFamily="49" charset="0"/>
              <a:buChar char="o"/>
            </a:pPr>
            <a:r>
              <a:rPr lang="en-US" sz="2400" b="1" dirty="0"/>
              <a:t>join(long </a:t>
            </a:r>
            <a:r>
              <a:rPr lang="en-US" sz="2400" b="1" dirty="0" err="1"/>
              <a:t>millisecunde</a:t>
            </a:r>
            <a:r>
              <a:rPr lang="en-US" sz="2400" b="1" dirty="0"/>
              <a:t>)</a:t>
            </a:r>
          </a:p>
          <a:p>
            <a:pPr marL="742950" lvl="1" indent="-285750">
              <a:buFont typeface="Courier New" panose="02070309020205020404" pitchFamily="49" charset="0"/>
              <a:buChar char="o"/>
            </a:pPr>
            <a:r>
              <a:rPr lang="en-US" sz="2400" b="1" dirty="0"/>
              <a:t>interrupt()</a:t>
            </a:r>
          </a:p>
          <a:p>
            <a:pPr marL="742950" lvl="1" indent="-285750">
              <a:buFont typeface="Courier New" panose="02070309020205020404" pitchFamily="49" charset="0"/>
              <a:buChar char="o"/>
            </a:pPr>
            <a:r>
              <a:rPr lang="en-US" sz="2400" b="1" dirty="0" err="1"/>
              <a:t>boolean</a:t>
            </a:r>
            <a:r>
              <a:rPr lang="en-US" sz="2400" b="1" dirty="0"/>
              <a:t> </a:t>
            </a:r>
            <a:r>
              <a:rPr lang="en-US" sz="2400" b="1" dirty="0" err="1"/>
              <a:t>isAlive</a:t>
            </a:r>
            <a:r>
              <a:rPr lang="en-US" sz="2400" b="1" dirty="0"/>
              <a:t>()  </a:t>
            </a:r>
          </a:p>
          <a:p>
            <a:r>
              <a:rPr lang="en-US" sz="2400" dirty="0"/>
              <a:t>                 </a:t>
            </a:r>
          </a:p>
          <a:p>
            <a:endParaRPr lang="en-US" dirty="0"/>
          </a:p>
          <a:p>
            <a:pPr marL="285750" indent="-285750">
              <a:buFont typeface="Wingdings" panose="05000000000000000000" pitchFamily="2" charset="2"/>
              <a:buChar char="§"/>
            </a:pPr>
            <a:endParaRPr lang="en-US" dirty="0"/>
          </a:p>
        </p:txBody>
      </p:sp>
      <p:sp>
        <p:nvSpPr>
          <p:cNvPr id="4" name="TextBox 3"/>
          <p:cNvSpPr txBox="1"/>
          <p:nvPr/>
        </p:nvSpPr>
        <p:spPr>
          <a:xfrm>
            <a:off x="4297531" y="935818"/>
            <a:ext cx="2242409" cy="923330"/>
          </a:xfrm>
          <a:prstGeom prst="rect">
            <a:avLst/>
          </a:prstGeom>
          <a:noFill/>
          <a:ln w="38100">
            <a:solidFill>
              <a:srgbClr val="00B050"/>
            </a:solidFill>
          </a:ln>
        </p:spPr>
        <p:txBody>
          <a:bodyPr wrap="none" rtlCol="0">
            <a:spAutoFit/>
          </a:bodyPr>
          <a:lstStyle/>
          <a:p>
            <a:r>
              <a:rPr lang="en-US" dirty="0"/>
              <a:t>public class Thread</a:t>
            </a:r>
          </a:p>
          <a:p>
            <a:r>
              <a:rPr lang="en-US" dirty="0"/>
              <a:t>extends Object</a:t>
            </a:r>
          </a:p>
          <a:p>
            <a:r>
              <a:rPr lang="en-US" dirty="0"/>
              <a:t>implements Runnable</a:t>
            </a:r>
          </a:p>
        </p:txBody>
      </p:sp>
      <p:sp>
        <p:nvSpPr>
          <p:cNvPr id="5" name="TextBox 4">
            <a:extLst>
              <a:ext uri="{FF2B5EF4-FFF2-40B4-BE49-F238E27FC236}">
                <a16:creationId xmlns:a16="http://schemas.microsoft.com/office/drawing/2014/main" id="{A892D8BE-4686-4415-9870-4AD1B04FBAF2}"/>
              </a:ext>
            </a:extLst>
          </p:cNvPr>
          <p:cNvSpPr txBox="1"/>
          <p:nvPr/>
        </p:nvSpPr>
        <p:spPr>
          <a:xfrm>
            <a:off x="5781040" y="2279640"/>
            <a:ext cx="6096000" cy="2308324"/>
          </a:xfrm>
          <a:prstGeom prst="rect">
            <a:avLst/>
          </a:prstGeom>
          <a:noFill/>
        </p:spPr>
        <p:txBody>
          <a:bodyPr wrap="square">
            <a:spAutoFit/>
          </a:bodyPr>
          <a:lstStyle/>
          <a:p>
            <a:pPr marL="285750" indent="-285750">
              <a:buFont typeface="Wingdings" panose="05000000000000000000" pitchFamily="2" charset="2"/>
              <a:buChar char="§"/>
            </a:pPr>
            <a:r>
              <a:rPr lang="en-US" sz="2400" dirty="0" err="1"/>
              <a:t>Metode</a:t>
            </a:r>
            <a:r>
              <a:rPr lang="en-US" sz="2400" dirty="0"/>
              <a:t> statice</a:t>
            </a:r>
          </a:p>
          <a:p>
            <a:r>
              <a:rPr lang="en-US" sz="2400" dirty="0"/>
              <a:t>   ( se </a:t>
            </a:r>
            <a:r>
              <a:rPr lang="en-US" sz="2400" dirty="0" err="1"/>
              <a:t>aplic</a:t>
            </a:r>
            <a:r>
              <a:rPr lang="ro-RO" sz="2400" dirty="0"/>
              <a:t>ă</a:t>
            </a:r>
            <a:r>
              <a:rPr lang="en-US" sz="2400" dirty="0"/>
              <a:t> thread-</a:t>
            </a:r>
            <a:r>
              <a:rPr lang="en-US" sz="2400" dirty="0" err="1"/>
              <a:t>ului</a:t>
            </a:r>
            <a:r>
              <a:rPr lang="en-US" sz="2400" dirty="0"/>
              <a:t> current): </a:t>
            </a:r>
          </a:p>
          <a:p>
            <a:endParaRPr lang="en-US" sz="2400" dirty="0"/>
          </a:p>
          <a:p>
            <a:pPr marL="742950" lvl="1" indent="-285750">
              <a:buFont typeface="Courier New" panose="02070309020205020404" pitchFamily="49" charset="0"/>
              <a:buChar char="o"/>
            </a:pPr>
            <a:r>
              <a:rPr lang="en-US" sz="2400" b="1" dirty="0"/>
              <a:t>yield()</a:t>
            </a:r>
            <a:endParaRPr lang="en-US" sz="2400" dirty="0"/>
          </a:p>
          <a:p>
            <a:pPr marL="742950" lvl="1" indent="-285750">
              <a:buFont typeface="Courier New" panose="02070309020205020404" pitchFamily="49" charset="0"/>
              <a:buChar char="o"/>
            </a:pPr>
            <a:r>
              <a:rPr lang="en-US" sz="2400" b="1" dirty="0"/>
              <a:t>sleep(long </a:t>
            </a:r>
            <a:r>
              <a:rPr lang="en-US" sz="2400" b="1" dirty="0" err="1"/>
              <a:t>milisecunde</a:t>
            </a:r>
            <a:r>
              <a:rPr lang="en-US" sz="2400" b="1" dirty="0"/>
              <a:t>)</a:t>
            </a:r>
            <a:endParaRPr lang="en-US" sz="2400" dirty="0"/>
          </a:p>
          <a:p>
            <a:pPr marL="742950" lvl="1" indent="-285750">
              <a:buFont typeface="Courier New" panose="02070309020205020404" pitchFamily="49" charset="0"/>
              <a:buChar char="o"/>
            </a:pPr>
            <a:r>
              <a:rPr lang="en-US" sz="2400" b="1" dirty="0" err="1"/>
              <a:t>currentThread</a:t>
            </a:r>
            <a:r>
              <a:rPr lang="en-US" sz="2400" b="1" dirty="0"/>
              <a:t>()</a:t>
            </a:r>
          </a:p>
        </p:txBody>
      </p:sp>
      <p:sp>
        <p:nvSpPr>
          <p:cNvPr id="6" name="TextBox 5">
            <a:extLst>
              <a:ext uri="{FF2B5EF4-FFF2-40B4-BE49-F238E27FC236}">
                <a16:creationId xmlns:a16="http://schemas.microsoft.com/office/drawing/2014/main" id="{D31881F1-B83B-40F7-9279-F39DBF1A7183}"/>
              </a:ext>
            </a:extLst>
          </p:cNvPr>
          <p:cNvSpPr txBox="1"/>
          <p:nvPr/>
        </p:nvSpPr>
        <p:spPr>
          <a:xfrm>
            <a:off x="1219200" y="243840"/>
            <a:ext cx="2070567" cy="461665"/>
          </a:xfrm>
          <a:prstGeom prst="rect">
            <a:avLst/>
          </a:prstGeom>
          <a:noFill/>
        </p:spPr>
        <p:txBody>
          <a:bodyPr wrap="none" rtlCol="0">
            <a:spAutoFit/>
          </a:bodyPr>
          <a:lstStyle/>
          <a:p>
            <a:pPr marL="285750" indent="-285750">
              <a:buFont typeface="Wingdings" panose="05000000000000000000" pitchFamily="2" charset="2"/>
              <a:buChar char="Ø"/>
            </a:pPr>
            <a:r>
              <a:rPr lang="en-US" sz="2400" dirty="0" err="1"/>
              <a:t>Clasa</a:t>
            </a:r>
            <a:r>
              <a:rPr lang="en-US" sz="2400" dirty="0"/>
              <a:t> </a:t>
            </a:r>
            <a:r>
              <a:rPr lang="en-US" sz="2400" dirty="0">
                <a:highlight>
                  <a:srgbClr val="00FF00"/>
                </a:highlight>
              </a:rPr>
              <a:t>Thread</a:t>
            </a:r>
            <a:endParaRPr lang="en-GB" sz="2400" dirty="0">
              <a:highlight>
                <a:srgbClr val="00FF00"/>
              </a:highlight>
            </a:endParaRPr>
          </a:p>
        </p:txBody>
      </p:sp>
    </p:spTree>
    <p:extLst>
      <p:ext uri="{BB962C8B-B14F-4D97-AF65-F5344CB8AC3E}">
        <p14:creationId xmlns:p14="http://schemas.microsoft.com/office/powerpoint/2010/main" val="997184886"/>
      </p:ext>
    </p:extLst>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TextBox 2"/>
          <p:cNvSpPr txBox="1"/>
          <p:nvPr/>
        </p:nvSpPr>
        <p:spPr>
          <a:xfrm>
            <a:off x="1121856" y="1804809"/>
            <a:ext cx="10190867" cy="4278094"/>
          </a:xfrm>
          <a:prstGeom prst="rect">
            <a:avLst/>
          </a:prstGeom>
          <a:noFill/>
        </p:spPr>
        <p:txBody>
          <a:bodyPr wrap="none" rtlCol="0">
            <a:spAutoFit/>
          </a:bodyPr>
          <a:lstStyle/>
          <a:p>
            <a:r>
              <a:rPr lang="en-US" sz="2000" dirty="0" err="1"/>
              <a:t>Metodele</a:t>
            </a:r>
            <a:r>
              <a:rPr lang="en-US" sz="2000" dirty="0"/>
              <a:t>  ale </a:t>
            </a:r>
            <a:r>
              <a:rPr lang="en-US" sz="2000" dirty="0" err="1"/>
              <a:t>instan</a:t>
            </a:r>
            <a:r>
              <a:rPr lang="ro-RO" sz="2000" dirty="0"/>
              <a:t>ț</a:t>
            </a:r>
            <a:r>
              <a:rPr lang="en-US" sz="2000" dirty="0" err="1"/>
              <a:t>elor</a:t>
            </a:r>
            <a:r>
              <a:rPr lang="en-US" sz="2000" dirty="0"/>
              <a:t>:</a:t>
            </a:r>
          </a:p>
          <a:p>
            <a:endParaRPr lang="en-US" dirty="0"/>
          </a:p>
          <a:p>
            <a:pPr marL="285750" indent="-285750">
              <a:buFont typeface="Wingdings" panose="05000000000000000000" pitchFamily="2" charset="2"/>
              <a:buChar char="§"/>
            </a:pPr>
            <a:r>
              <a:rPr lang="en-US" b="1" dirty="0"/>
              <a:t>start()   </a:t>
            </a:r>
          </a:p>
          <a:p>
            <a:r>
              <a:rPr lang="en-US" dirty="0"/>
              <a:t>           </a:t>
            </a:r>
            <a:r>
              <a:rPr lang="en-US" dirty="0" err="1"/>
              <a:t>porneste</a:t>
            </a:r>
            <a:r>
              <a:rPr lang="en-US" dirty="0"/>
              <a:t> thread-ul </a:t>
            </a:r>
            <a:r>
              <a:rPr lang="en-US" dirty="0" err="1"/>
              <a:t>intr</a:t>
            </a:r>
            <a:r>
              <a:rPr lang="en-US" dirty="0"/>
              <a:t>-un fir de </a:t>
            </a:r>
            <a:r>
              <a:rPr lang="en-US" dirty="0" err="1"/>
              <a:t>executie</a:t>
            </a:r>
            <a:r>
              <a:rPr lang="en-US" dirty="0"/>
              <a:t> separate </a:t>
            </a:r>
            <a:r>
              <a:rPr lang="en-US" dirty="0" err="1"/>
              <a:t>si</a:t>
            </a:r>
            <a:r>
              <a:rPr lang="en-US" dirty="0"/>
              <a:t> </a:t>
            </a:r>
            <a:r>
              <a:rPr lang="en-US" dirty="0" err="1"/>
              <a:t>invoca</a:t>
            </a:r>
            <a:r>
              <a:rPr lang="en-US" dirty="0"/>
              <a:t> </a:t>
            </a:r>
            <a:r>
              <a:rPr lang="en-US" b="1" dirty="0"/>
              <a:t>run()</a:t>
            </a:r>
          </a:p>
          <a:p>
            <a:pPr marL="285750" indent="-285750">
              <a:buFont typeface="Wingdings" panose="05000000000000000000" pitchFamily="2" charset="2"/>
              <a:buChar char="§"/>
            </a:pPr>
            <a:r>
              <a:rPr lang="en-US" b="1" dirty="0"/>
              <a:t>run()</a:t>
            </a:r>
          </a:p>
          <a:p>
            <a:r>
              <a:rPr lang="en-US" dirty="0"/>
              <a:t>            </a:t>
            </a:r>
            <a:r>
              <a:rPr lang="en-US" dirty="0" err="1"/>
              <a:t>este</a:t>
            </a:r>
            <a:r>
              <a:rPr lang="en-US" dirty="0"/>
              <a:t> </a:t>
            </a:r>
            <a:r>
              <a:rPr lang="en-US" dirty="0" err="1"/>
              <a:t>suprascrisa</a:t>
            </a:r>
            <a:r>
              <a:rPr lang="en-US" dirty="0"/>
              <a:t> </a:t>
            </a:r>
            <a:r>
              <a:rPr lang="en-US" dirty="0" err="1"/>
              <a:t>sau</a:t>
            </a:r>
            <a:r>
              <a:rPr lang="en-US" dirty="0"/>
              <a:t> </a:t>
            </a:r>
            <a:r>
              <a:rPr lang="en-US" dirty="0" err="1"/>
              <a:t>apelata</a:t>
            </a:r>
            <a:r>
              <a:rPr lang="en-US" dirty="0"/>
              <a:t> din Runnable  </a:t>
            </a:r>
          </a:p>
          <a:p>
            <a:pPr marL="285750" indent="-285750">
              <a:buFont typeface="Wingdings" panose="05000000000000000000" pitchFamily="2" charset="2"/>
              <a:buChar char="§"/>
            </a:pPr>
            <a:r>
              <a:rPr lang="en-US" b="1" dirty="0"/>
              <a:t>join(), join(long </a:t>
            </a:r>
            <a:r>
              <a:rPr lang="en-US" b="1" dirty="0" err="1"/>
              <a:t>millisecunde</a:t>
            </a:r>
            <a:r>
              <a:rPr lang="en-US" b="1" dirty="0"/>
              <a:t>)</a:t>
            </a:r>
          </a:p>
          <a:p>
            <a:r>
              <a:rPr lang="en-US" dirty="0"/>
              <a:t>         </a:t>
            </a:r>
            <a:r>
              <a:rPr lang="en-US" dirty="0" err="1"/>
              <a:t>este</a:t>
            </a:r>
            <a:r>
              <a:rPr lang="en-US" dirty="0"/>
              <a:t> </a:t>
            </a:r>
            <a:r>
              <a:rPr lang="en-US" dirty="0" err="1"/>
              <a:t>invocata</a:t>
            </a:r>
            <a:r>
              <a:rPr lang="en-US" dirty="0"/>
              <a:t> de thread-</a:t>
            </a:r>
            <a:r>
              <a:rPr lang="en-US" dirty="0" err="1"/>
              <a:t>ul</a:t>
            </a:r>
            <a:r>
              <a:rPr lang="en-US" dirty="0"/>
              <a:t> </a:t>
            </a:r>
            <a:r>
              <a:rPr lang="en-US" dirty="0" err="1"/>
              <a:t>curent</a:t>
            </a:r>
            <a:r>
              <a:rPr lang="en-US" dirty="0"/>
              <a:t> pe un al </a:t>
            </a:r>
            <a:r>
              <a:rPr lang="en-US" dirty="0" err="1"/>
              <a:t>doilea</a:t>
            </a:r>
            <a:r>
              <a:rPr lang="en-US" dirty="0"/>
              <a:t> thread; </a:t>
            </a:r>
          </a:p>
          <a:p>
            <a:r>
              <a:rPr lang="en-US" dirty="0"/>
              <a:t>         thread-</a:t>
            </a:r>
            <a:r>
              <a:rPr lang="en-US" dirty="0" err="1"/>
              <a:t>ul</a:t>
            </a:r>
            <a:r>
              <a:rPr lang="en-US" dirty="0"/>
              <a:t> current </a:t>
            </a:r>
            <a:r>
              <a:rPr lang="en-US" dirty="0" err="1"/>
              <a:t>este</a:t>
            </a:r>
            <a:r>
              <a:rPr lang="en-US" dirty="0"/>
              <a:t> </a:t>
            </a:r>
            <a:r>
              <a:rPr lang="en-US" dirty="0" err="1"/>
              <a:t>blocat</a:t>
            </a:r>
            <a:r>
              <a:rPr lang="en-US" dirty="0"/>
              <a:t> </a:t>
            </a:r>
            <a:r>
              <a:rPr lang="en-US" dirty="0" err="1"/>
              <a:t>pana</a:t>
            </a:r>
            <a:r>
              <a:rPr lang="en-US" dirty="0"/>
              <a:t> </a:t>
            </a:r>
            <a:r>
              <a:rPr lang="en-US" dirty="0" err="1"/>
              <a:t>cand</a:t>
            </a:r>
            <a:r>
              <a:rPr lang="en-US" dirty="0"/>
              <a:t> al </a:t>
            </a:r>
            <a:r>
              <a:rPr lang="en-US" dirty="0" err="1"/>
              <a:t>doilea</a:t>
            </a:r>
            <a:r>
              <a:rPr lang="en-US" dirty="0"/>
              <a:t> thread </a:t>
            </a:r>
            <a:r>
              <a:rPr lang="en-US" dirty="0" err="1"/>
              <a:t>isi</a:t>
            </a:r>
            <a:r>
              <a:rPr lang="en-US" dirty="0"/>
              <a:t> </a:t>
            </a:r>
            <a:r>
              <a:rPr lang="en-US" dirty="0" err="1"/>
              <a:t>termina</a:t>
            </a:r>
            <a:r>
              <a:rPr lang="en-US" dirty="0"/>
              <a:t> </a:t>
            </a:r>
            <a:r>
              <a:rPr lang="en-US" dirty="0" err="1"/>
              <a:t>executia</a:t>
            </a:r>
            <a:r>
              <a:rPr lang="en-US" dirty="0"/>
              <a:t> </a:t>
            </a:r>
            <a:r>
              <a:rPr lang="en-US" dirty="0" err="1"/>
              <a:t>sau</a:t>
            </a:r>
            <a:r>
              <a:rPr lang="en-US" dirty="0"/>
              <a:t> </a:t>
            </a:r>
          </a:p>
          <a:p>
            <a:r>
              <a:rPr lang="en-US" dirty="0"/>
              <a:t>         </a:t>
            </a:r>
            <a:r>
              <a:rPr lang="en-US" dirty="0" err="1"/>
              <a:t>pana</a:t>
            </a:r>
            <a:r>
              <a:rPr lang="en-US" dirty="0"/>
              <a:t> </a:t>
            </a:r>
            <a:r>
              <a:rPr lang="en-US" dirty="0" err="1"/>
              <a:t>cand</a:t>
            </a:r>
            <a:r>
              <a:rPr lang="en-US" dirty="0"/>
              <a:t> </a:t>
            </a:r>
            <a:r>
              <a:rPr lang="en-US" dirty="0" err="1"/>
              <a:t>expira</a:t>
            </a:r>
            <a:r>
              <a:rPr lang="en-US" dirty="0"/>
              <a:t> </a:t>
            </a:r>
            <a:r>
              <a:rPr lang="en-US" dirty="0" err="1"/>
              <a:t>timpul</a:t>
            </a:r>
            <a:r>
              <a:rPr lang="en-US" dirty="0"/>
              <a:t> (</a:t>
            </a:r>
            <a:r>
              <a:rPr lang="en-US" dirty="0" err="1"/>
              <a:t>milisecunde</a:t>
            </a:r>
            <a:r>
              <a:rPr lang="en-US" dirty="0"/>
              <a:t>)</a:t>
            </a:r>
          </a:p>
          <a:p>
            <a:pPr marL="285750" indent="-285750">
              <a:buFont typeface="Wingdings" panose="05000000000000000000" pitchFamily="2" charset="2"/>
              <a:buChar char="§"/>
            </a:pPr>
            <a:r>
              <a:rPr lang="en-US" b="1" dirty="0"/>
              <a:t>interrupt()</a:t>
            </a:r>
            <a:endParaRPr lang="en-US" dirty="0"/>
          </a:p>
          <a:p>
            <a:r>
              <a:rPr lang="en-US" dirty="0"/>
              <a:t>            </a:t>
            </a:r>
            <a:r>
              <a:rPr lang="en-US" dirty="0" err="1"/>
              <a:t>este</a:t>
            </a:r>
            <a:r>
              <a:rPr lang="en-US" dirty="0"/>
              <a:t> </a:t>
            </a:r>
            <a:r>
              <a:rPr lang="en-US" dirty="0" err="1"/>
              <a:t>folosit</a:t>
            </a:r>
            <a:r>
              <a:rPr lang="en-US" dirty="0"/>
              <a:t> in </a:t>
            </a:r>
            <a:r>
              <a:rPr lang="en-US" dirty="0" err="1"/>
              <a:t>situatia</a:t>
            </a:r>
            <a:r>
              <a:rPr lang="en-US" dirty="0"/>
              <a:t> in care un thread cere </a:t>
            </a:r>
            <a:r>
              <a:rPr lang="en-US" dirty="0" err="1"/>
              <a:t>altui</a:t>
            </a:r>
            <a:r>
              <a:rPr lang="en-US" dirty="0"/>
              <a:t> thread t </a:t>
            </a:r>
            <a:r>
              <a:rPr lang="en-US" dirty="0" err="1"/>
              <a:t>sa</a:t>
            </a:r>
            <a:r>
              <a:rPr lang="en-US" dirty="0"/>
              <a:t> </a:t>
            </a:r>
            <a:r>
              <a:rPr lang="en-US" dirty="0" err="1"/>
              <a:t>isi</a:t>
            </a:r>
            <a:r>
              <a:rPr lang="en-US" dirty="0"/>
              <a:t> </a:t>
            </a:r>
            <a:r>
              <a:rPr lang="en-US" dirty="0" err="1"/>
              <a:t>intrerupa</a:t>
            </a:r>
            <a:r>
              <a:rPr lang="en-US" dirty="0"/>
              <a:t> </a:t>
            </a:r>
            <a:r>
              <a:rPr lang="en-US" dirty="0" err="1"/>
              <a:t>executia</a:t>
            </a:r>
            <a:r>
              <a:rPr lang="en-US" dirty="0"/>
              <a:t>;</a:t>
            </a:r>
          </a:p>
          <a:p>
            <a:r>
              <a:rPr lang="en-US" dirty="0"/>
              <a:t>            </a:t>
            </a:r>
            <a:r>
              <a:rPr lang="en-US" dirty="0" err="1"/>
              <a:t>intrerupe</a:t>
            </a:r>
            <a:r>
              <a:rPr lang="en-US" dirty="0"/>
              <a:t> </a:t>
            </a:r>
            <a:r>
              <a:rPr lang="en-US" dirty="0" err="1"/>
              <a:t>executia</a:t>
            </a:r>
            <a:r>
              <a:rPr lang="en-US" dirty="0"/>
              <a:t> thread-</a:t>
            </a:r>
            <a:r>
              <a:rPr lang="en-US" dirty="0" err="1"/>
              <a:t>ului</a:t>
            </a:r>
            <a:r>
              <a:rPr lang="en-US" dirty="0"/>
              <a:t> t </a:t>
            </a:r>
            <a:r>
              <a:rPr lang="en-US" dirty="0" err="1"/>
              <a:t>daca</a:t>
            </a:r>
            <a:r>
              <a:rPr lang="en-US" dirty="0"/>
              <a:t> </a:t>
            </a:r>
            <a:r>
              <a:rPr lang="en-US" dirty="0" err="1"/>
              <a:t>acesta</a:t>
            </a:r>
            <a:r>
              <a:rPr lang="en-US" dirty="0"/>
              <a:t> </a:t>
            </a:r>
            <a:r>
              <a:rPr lang="en-US" dirty="0" err="1"/>
              <a:t>este</a:t>
            </a:r>
            <a:r>
              <a:rPr lang="en-US" dirty="0"/>
              <a:t> in stare de </a:t>
            </a:r>
            <a:r>
              <a:rPr lang="en-US" dirty="0" err="1"/>
              <a:t>asteptare</a:t>
            </a:r>
            <a:r>
              <a:rPr lang="en-US" dirty="0"/>
              <a:t>, in </a:t>
            </a:r>
            <a:r>
              <a:rPr lang="en-US" dirty="0" err="1"/>
              <a:t>caz</a:t>
            </a:r>
            <a:r>
              <a:rPr lang="en-US" dirty="0"/>
              <a:t> </a:t>
            </a:r>
            <a:r>
              <a:rPr lang="en-US" dirty="0" err="1"/>
              <a:t>contrar</a:t>
            </a:r>
            <a:r>
              <a:rPr lang="en-US" dirty="0"/>
              <a:t> </a:t>
            </a:r>
            <a:r>
              <a:rPr lang="en-US" dirty="0" err="1"/>
              <a:t>seteaza</a:t>
            </a:r>
            <a:r>
              <a:rPr lang="en-US" dirty="0"/>
              <a:t> un flag </a:t>
            </a:r>
          </a:p>
          <a:p>
            <a:pPr marL="285750" indent="-285750">
              <a:buFont typeface="Wingdings" panose="05000000000000000000" pitchFamily="2" charset="2"/>
              <a:buChar char="§"/>
            </a:pPr>
            <a:r>
              <a:rPr lang="en-US" b="1" dirty="0" err="1"/>
              <a:t>boolean</a:t>
            </a:r>
            <a:r>
              <a:rPr lang="en-US" b="1" dirty="0"/>
              <a:t> </a:t>
            </a:r>
            <a:r>
              <a:rPr lang="en-US" b="1" dirty="0" err="1"/>
              <a:t>isAlive</a:t>
            </a:r>
            <a:r>
              <a:rPr lang="en-US" b="1" dirty="0"/>
              <a:t>()  </a:t>
            </a:r>
          </a:p>
          <a:p>
            <a:r>
              <a:rPr lang="en-US" dirty="0"/>
              <a:t>                 </a:t>
            </a:r>
            <a:r>
              <a:rPr lang="en-US" dirty="0" err="1"/>
              <a:t>intoarce</a:t>
            </a:r>
            <a:r>
              <a:rPr lang="en-US" dirty="0"/>
              <a:t> true </a:t>
            </a:r>
            <a:r>
              <a:rPr lang="en-US" dirty="0" err="1"/>
              <a:t>atata</a:t>
            </a:r>
            <a:r>
              <a:rPr lang="en-US" dirty="0"/>
              <a:t> </a:t>
            </a:r>
            <a:r>
              <a:rPr lang="en-US" dirty="0" err="1"/>
              <a:t>timp</a:t>
            </a:r>
            <a:r>
              <a:rPr lang="en-US" dirty="0"/>
              <a:t> cat thread-ul nu </a:t>
            </a:r>
            <a:r>
              <a:rPr lang="en-US" dirty="0" err="1"/>
              <a:t>si</a:t>
            </a:r>
            <a:r>
              <a:rPr lang="en-US" dirty="0"/>
              <a:t>-a </a:t>
            </a:r>
            <a:r>
              <a:rPr lang="en-US" dirty="0" err="1"/>
              <a:t>incetat</a:t>
            </a:r>
            <a:r>
              <a:rPr lang="en-US" dirty="0"/>
              <a:t> </a:t>
            </a:r>
            <a:r>
              <a:rPr lang="en-US" dirty="0" err="1"/>
              <a:t>executia</a:t>
            </a:r>
            <a:endParaRPr lang="en-US" dirty="0"/>
          </a:p>
        </p:txBody>
      </p:sp>
      <p:sp>
        <p:nvSpPr>
          <p:cNvPr id="4" name="TextBox 3"/>
          <p:cNvSpPr txBox="1"/>
          <p:nvPr/>
        </p:nvSpPr>
        <p:spPr>
          <a:xfrm>
            <a:off x="5090011" y="580218"/>
            <a:ext cx="2242409" cy="923330"/>
          </a:xfrm>
          <a:prstGeom prst="rect">
            <a:avLst/>
          </a:prstGeom>
          <a:noFill/>
          <a:ln w="38100">
            <a:solidFill>
              <a:srgbClr val="00B050"/>
            </a:solidFill>
          </a:ln>
        </p:spPr>
        <p:txBody>
          <a:bodyPr wrap="none" rtlCol="0">
            <a:spAutoFit/>
          </a:bodyPr>
          <a:lstStyle/>
          <a:p>
            <a:r>
              <a:rPr lang="en-US" dirty="0"/>
              <a:t>public class Thread</a:t>
            </a:r>
          </a:p>
          <a:p>
            <a:r>
              <a:rPr lang="en-US" dirty="0"/>
              <a:t>extends Object</a:t>
            </a:r>
          </a:p>
          <a:p>
            <a:r>
              <a:rPr lang="en-US" dirty="0"/>
              <a:t>implements Runnable</a:t>
            </a:r>
          </a:p>
        </p:txBody>
      </p:sp>
      <p:sp>
        <p:nvSpPr>
          <p:cNvPr id="5" name="TextBox 4">
            <a:extLst>
              <a:ext uri="{FF2B5EF4-FFF2-40B4-BE49-F238E27FC236}">
                <a16:creationId xmlns:a16="http://schemas.microsoft.com/office/drawing/2014/main" id="{7DACB44D-055A-4F2E-8CA6-60B396646FEF}"/>
              </a:ext>
            </a:extLst>
          </p:cNvPr>
          <p:cNvSpPr txBox="1"/>
          <p:nvPr/>
        </p:nvSpPr>
        <p:spPr>
          <a:xfrm>
            <a:off x="1219200" y="243840"/>
            <a:ext cx="2070567" cy="461665"/>
          </a:xfrm>
          <a:prstGeom prst="rect">
            <a:avLst/>
          </a:prstGeom>
          <a:noFill/>
        </p:spPr>
        <p:txBody>
          <a:bodyPr wrap="none" rtlCol="0">
            <a:spAutoFit/>
          </a:bodyPr>
          <a:lstStyle/>
          <a:p>
            <a:pPr marL="285750" indent="-285750">
              <a:buFont typeface="Wingdings" panose="05000000000000000000" pitchFamily="2" charset="2"/>
              <a:buChar char="Ø"/>
            </a:pPr>
            <a:r>
              <a:rPr lang="en-US" sz="2400" dirty="0" err="1"/>
              <a:t>Clasa</a:t>
            </a:r>
            <a:r>
              <a:rPr lang="en-US" sz="2400" dirty="0"/>
              <a:t> </a:t>
            </a:r>
            <a:r>
              <a:rPr lang="en-US" sz="2400" dirty="0">
                <a:highlight>
                  <a:srgbClr val="00FF00"/>
                </a:highlight>
              </a:rPr>
              <a:t>Thread</a:t>
            </a:r>
            <a:endParaRPr lang="en-GB" sz="2400" dirty="0">
              <a:highlight>
                <a:srgbClr val="00FF00"/>
              </a:highlight>
            </a:endParaRPr>
          </a:p>
        </p:txBody>
      </p:sp>
    </p:spTree>
    <p:extLst>
      <p:ext uri="{BB962C8B-B14F-4D97-AF65-F5344CB8AC3E}">
        <p14:creationId xmlns:p14="http://schemas.microsoft.com/office/powerpoint/2010/main" val="405609732"/>
      </p:ext>
    </p:extLst>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TextBox 2"/>
          <p:cNvSpPr txBox="1"/>
          <p:nvPr/>
        </p:nvSpPr>
        <p:spPr>
          <a:xfrm>
            <a:off x="536443" y="1952366"/>
            <a:ext cx="6844694" cy="3724096"/>
          </a:xfrm>
          <a:prstGeom prst="rect">
            <a:avLst/>
          </a:prstGeom>
          <a:noFill/>
        </p:spPr>
        <p:txBody>
          <a:bodyPr wrap="none" rtlCol="0">
            <a:spAutoFit/>
          </a:bodyPr>
          <a:lstStyle/>
          <a:p>
            <a:pPr marL="285750" indent="-285750">
              <a:buFont typeface="Wingdings" panose="05000000000000000000" pitchFamily="2" charset="2"/>
              <a:buChar char="§"/>
            </a:pPr>
            <a:endParaRPr lang="en-US" dirty="0"/>
          </a:p>
          <a:p>
            <a:r>
              <a:rPr lang="en-US" sz="2000" dirty="0"/>
              <a:t>Metode statice ( se </a:t>
            </a:r>
            <a:r>
              <a:rPr lang="en-US" sz="2000" dirty="0" err="1"/>
              <a:t>aplic</a:t>
            </a:r>
            <a:r>
              <a:rPr lang="ro-RO" sz="2000" dirty="0"/>
              <a:t>ă</a:t>
            </a:r>
            <a:r>
              <a:rPr lang="en-US" sz="2000" dirty="0"/>
              <a:t> thread-</a:t>
            </a:r>
            <a:r>
              <a:rPr lang="en-US" sz="2000" dirty="0" err="1"/>
              <a:t>ului</a:t>
            </a:r>
            <a:r>
              <a:rPr lang="en-US" sz="2000" dirty="0"/>
              <a:t> current): </a:t>
            </a:r>
          </a:p>
          <a:p>
            <a:endParaRPr lang="en-US" dirty="0"/>
          </a:p>
          <a:p>
            <a:pPr marL="285750" indent="-285750">
              <a:buFont typeface="Wingdings" panose="05000000000000000000" pitchFamily="2" charset="2"/>
              <a:buChar char="§"/>
            </a:pPr>
            <a:r>
              <a:rPr lang="en-US" b="1" dirty="0"/>
              <a:t>yield()</a:t>
            </a:r>
          </a:p>
          <a:p>
            <a:r>
              <a:rPr lang="en-US" dirty="0"/>
              <a:t>         thread-ul </a:t>
            </a:r>
            <a:r>
              <a:rPr lang="en-US" dirty="0" err="1"/>
              <a:t>cedeaza</a:t>
            </a:r>
            <a:r>
              <a:rPr lang="en-US" dirty="0"/>
              <a:t> </a:t>
            </a:r>
            <a:r>
              <a:rPr lang="en-US" dirty="0" err="1"/>
              <a:t>randul</a:t>
            </a:r>
            <a:r>
              <a:rPr lang="en-US" dirty="0"/>
              <a:t> </a:t>
            </a:r>
            <a:r>
              <a:rPr lang="en-US" dirty="0" err="1"/>
              <a:t>altui</a:t>
            </a:r>
            <a:r>
              <a:rPr lang="en-US" dirty="0"/>
              <a:t> thread care are </a:t>
            </a:r>
            <a:r>
              <a:rPr lang="en-US" dirty="0" err="1"/>
              <a:t>aceeasi</a:t>
            </a:r>
            <a:r>
              <a:rPr lang="en-US" dirty="0"/>
              <a:t> </a:t>
            </a:r>
            <a:r>
              <a:rPr lang="en-US" dirty="0" err="1"/>
              <a:t>prioritate</a:t>
            </a:r>
            <a:endParaRPr lang="en-US" dirty="0"/>
          </a:p>
          <a:p>
            <a:endParaRPr lang="en-US" dirty="0"/>
          </a:p>
          <a:p>
            <a:pPr marL="285750" indent="-285750">
              <a:buFont typeface="Wingdings" panose="05000000000000000000" pitchFamily="2" charset="2"/>
              <a:buChar char="§"/>
            </a:pPr>
            <a:r>
              <a:rPr lang="en-US" b="1" dirty="0"/>
              <a:t>sleep(long </a:t>
            </a:r>
            <a:r>
              <a:rPr lang="en-US" b="1" dirty="0" err="1"/>
              <a:t>milisecunde</a:t>
            </a:r>
            <a:r>
              <a:rPr lang="en-US" b="1" dirty="0"/>
              <a:t>)</a:t>
            </a:r>
          </a:p>
          <a:p>
            <a:r>
              <a:rPr lang="en-US" dirty="0"/>
              <a:t>         thread-</a:t>
            </a:r>
            <a:r>
              <a:rPr lang="en-US" dirty="0" err="1"/>
              <a:t>ul</a:t>
            </a:r>
            <a:r>
              <a:rPr lang="en-US" dirty="0"/>
              <a:t> </a:t>
            </a:r>
            <a:r>
              <a:rPr lang="en-US" dirty="0" err="1"/>
              <a:t>este</a:t>
            </a:r>
            <a:r>
              <a:rPr lang="en-US" dirty="0"/>
              <a:t> </a:t>
            </a:r>
            <a:r>
              <a:rPr lang="en-US" dirty="0" err="1"/>
              <a:t>suspendat</a:t>
            </a:r>
            <a:r>
              <a:rPr lang="en-US" dirty="0"/>
              <a:t> </a:t>
            </a:r>
            <a:r>
              <a:rPr lang="en-US" dirty="0" err="1"/>
              <a:t>pentru</a:t>
            </a:r>
            <a:r>
              <a:rPr lang="en-US" dirty="0"/>
              <a:t> </a:t>
            </a:r>
            <a:r>
              <a:rPr lang="en-US" dirty="0" err="1"/>
              <a:t>numarul</a:t>
            </a:r>
            <a:r>
              <a:rPr lang="en-US" dirty="0"/>
              <a:t> de </a:t>
            </a:r>
            <a:r>
              <a:rPr lang="en-US" dirty="0" err="1"/>
              <a:t>milisecunde</a:t>
            </a:r>
            <a:r>
              <a:rPr lang="en-US" dirty="0"/>
              <a:t> </a:t>
            </a:r>
            <a:r>
              <a:rPr lang="en-US" dirty="0" err="1"/>
              <a:t>precizat</a:t>
            </a:r>
            <a:r>
              <a:rPr lang="en-US" dirty="0"/>
              <a:t> </a:t>
            </a:r>
          </a:p>
          <a:p>
            <a:pPr marL="285750" indent="-285750">
              <a:buFont typeface="Wingdings" panose="05000000000000000000" pitchFamily="2" charset="2"/>
              <a:buChar char="§"/>
            </a:pPr>
            <a:endParaRPr lang="en-US" dirty="0"/>
          </a:p>
          <a:p>
            <a:pPr marL="285750" indent="-285750">
              <a:buFont typeface="Wingdings" panose="05000000000000000000" pitchFamily="2" charset="2"/>
              <a:buChar char="§"/>
            </a:pPr>
            <a:r>
              <a:rPr lang="en-US" b="1" dirty="0" err="1"/>
              <a:t>currentThread</a:t>
            </a:r>
            <a:r>
              <a:rPr lang="en-US" b="1" dirty="0"/>
              <a:t>()</a:t>
            </a:r>
          </a:p>
          <a:p>
            <a:r>
              <a:rPr lang="en-US" dirty="0"/>
              <a:t>              </a:t>
            </a:r>
            <a:r>
              <a:rPr lang="en-US" dirty="0" err="1"/>
              <a:t>intoarce</a:t>
            </a:r>
            <a:r>
              <a:rPr lang="en-US" dirty="0"/>
              <a:t> o </a:t>
            </a:r>
            <a:r>
              <a:rPr lang="en-US" dirty="0" err="1"/>
              <a:t>referinta</a:t>
            </a:r>
            <a:r>
              <a:rPr lang="en-US" dirty="0"/>
              <a:t> la thread-</a:t>
            </a:r>
            <a:r>
              <a:rPr lang="en-US" dirty="0" err="1"/>
              <a:t>ul</a:t>
            </a:r>
            <a:r>
              <a:rPr lang="en-US" dirty="0"/>
              <a:t> care </a:t>
            </a:r>
            <a:r>
              <a:rPr lang="en-US" dirty="0" err="1"/>
              <a:t>invoca</a:t>
            </a:r>
            <a:r>
              <a:rPr lang="en-US" dirty="0"/>
              <a:t> </a:t>
            </a:r>
            <a:r>
              <a:rPr lang="en-US" dirty="0" err="1"/>
              <a:t>metoda</a:t>
            </a:r>
            <a:endParaRPr lang="en-US" dirty="0"/>
          </a:p>
          <a:p>
            <a:pPr marL="285750" indent="-285750">
              <a:buFont typeface="Wingdings" panose="05000000000000000000" pitchFamily="2" charset="2"/>
              <a:buChar char="§"/>
            </a:pPr>
            <a:endParaRPr lang="en-US" dirty="0"/>
          </a:p>
          <a:p>
            <a:pPr marL="285750" indent="-285750">
              <a:buFont typeface="Wingdings" panose="05000000000000000000" pitchFamily="2" charset="2"/>
              <a:buChar char="§"/>
            </a:pPr>
            <a:endParaRPr lang="en-US" dirty="0"/>
          </a:p>
        </p:txBody>
      </p:sp>
      <p:sp>
        <p:nvSpPr>
          <p:cNvPr id="4" name="TextBox 3"/>
          <p:cNvSpPr txBox="1"/>
          <p:nvPr/>
        </p:nvSpPr>
        <p:spPr>
          <a:xfrm>
            <a:off x="4197305" y="562232"/>
            <a:ext cx="2242409" cy="923330"/>
          </a:xfrm>
          <a:prstGeom prst="rect">
            <a:avLst/>
          </a:prstGeom>
          <a:noFill/>
          <a:ln w="38100">
            <a:solidFill>
              <a:srgbClr val="00B050"/>
            </a:solidFill>
          </a:ln>
        </p:spPr>
        <p:txBody>
          <a:bodyPr wrap="none" rtlCol="0">
            <a:spAutoFit/>
          </a:bodyPr>
          <a:lstStyle/>
          <a:p>
            <a:r>
              <a:rPr lang="en-US" dirty="0"/>
              <a:t>public class Thread</a:t>
            </a:r>
          </a:p>
          <a:p>
            <a:r>
              <a:rPr lang="en-US" dirty="0"/>
              <a:t>extends Object</a:t>
            </a:r>
          </a:p>
          <a:p>
            <a:r>
              <a:rPr lang="en-US" dirty="0"/>
              <a:t>implements Runnable</a:t>
            </a:r>
          </a:p>
        </p:txBody>
      </p:sp>
      <p:sp>
        <p:nvSpPr>
          <p:cNvPr id="5" name="TextBox 4">
            <a:extLst>
              <a:ext uri="{FF2B5EF4-FFF2-40B4-BE49-F238E27FC236}">
                <a16:creationId xmlns:a16="http://schemas.microsoft.com/office/drawing/2014/main" id="{66CCA5CD-D0DB-4AE4-B9D5-8AA7B71CB19F}"/>
              </a:ext>
            </a:extLst>
          </p:cNvPr>
          <p:cNvSpPr txBox="1"/>
          <p:nvPr/>
        </p:nvSpPr>
        <p:spPr>
          <a:xfrm>
            <a:off x="1219200" y="243840"/>
            <a:ext cx="2070567" cy="461665"/>
          </a:xfrm>
          <a:prstGeom prst="rect">
            <a:avLst/>
          </a:prstGeom>
          <a:noFill/>
        </p:spPr>
        <p:txBody>
          <a:bodyPr wrap="none" rtlCol="0">
            <a:spAutoFit/>
          </a:bodyPr>
          <a:lstStyle/>
          <a:p>
            <a:pPr marL="285750" indent="-285750">
              <a:buFont typeface="Wingdings" panose="05000000000000000000" pitchFamily="2" charset="2"/>
              <a:buChar char="Ø"/>
            </a:pPr>
            <a:r>
              <a:rPr lang="en-US" sz="2400" dirty="0" err="1"/>
              <a:t>Clasa</a:t>
            </a:r>
            <a:r>
              <a:rPr lang="en-US" sz="2400" dirty="0"/>
              <a:t> </a:t>
            </a:r>
            <a:r>
              <a:rPr lang="en-US" sz="2400" dirty="0">
                <a:highlight>
                  <a:srgbClr val="00FF00"/>
                </a:highlight>
              </a:rPr>
              <a:t>Thread</a:t>
            </a:r>
            <a:endParaRPr lang="en-GB" sz="2400" dirty="0">
              <a:highlight>
                <a:srgbClr val="00FF00"/>
              </a:highlight>
            </a:endParaRPr>
          </a:p>
        </p:txBody>
      </p:sp>
    </p:spTree>
    <p:extLst>
      <p:ext uri="{BB962C8B-B14F-4D97-AF65-F5344CB8AC3E}">
        <p14:creationId xmlns:p14="http://schemas.microsoft.com/office/powerpoint/2010/main" val="1672667730"/>
      </p:ext>
    </p:extLst>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extBox 1"/>
          <p:cNvSpPr txBox="1"/>
          <p:nvPr/>
        </p:nvSpPr>
        <p:spPr>
          <a:xfrm>
            <a:off x="482328" y="1259175"/>
            <a:ext cx="10085390" cy="4031873"/>
          </a:xfrm>
          <a:prstGeom prst="rect">
            <a:avLst/>
          </a:prstGeom>
          <a:ln>
            <a:noFill/>
          </a:ln>
        </p:spPr>
        <p:style>
          <a:lnRef idx="2">
            <a:schemeClr val="dk1"/>
          </a:lnRef>
          <a:fillRef idx="1">
            <a:schemeClr val="lt1"/>
          </a:fillRef>
          <a:effectRef idx="0">
            <a:schemeClr val="dk1"/>
          </a:effectRef>
          <a:fontRef idx="minor">
            <a:schemeClr val="dk1"/>
          </a:fontRef>
        </p:style>
        <p:txBody>
          <a:bodyPr wrap="none" rtlCol="0">
            <a:spAutoFit/>
          </a:bodyPr>
          <a:lstStyle/>
          <a:p>
            <a:pPr marL="285750" indent="-285750">
              <a:buFont typeface="Arial" panose="020B0604020202020204" pitchFamily="34" charset="0"/>
              <a:buChar char="•"/>
            </a:pPr>
            <a:r>
              <a:rPr lang="en-US" sz="2000" dirty="0"/>
              <a:t> O </a:t>
            </a:r>
            <a:r>
              <a:rPr lang="en-US" sz="2000" dirty="0" err="1"/>
              <a:t>aplica</a:t>
            </a:r>
            <a:r>
              <a:rPr lang="ro-RO" sz="2000" dirty="0"/>
              <a:t>ț</a:t>
            </a:r>
            <a:r>
              <a:rPr lang="en-US" sz="2000" dirty="0" err="1"/>
              <a:t>ie</a:t>
            </a:r>
            <a:r>
              <a:rPr lang="en-US" sz="2000" dirty="0"/>
              <a:t> Java </a:t>
            </a:r>
            <a:r>
              <a:rPr lang="en-US" sz="2000" dirty="0" err="1"/>
              <a:t>porne</a:t>
            </a:r>
            <a:r>
              <a:rPr lang="ro-RO" sz="2000" dirty="0"/>
              <a:t>ș</a:t>
            </a:r>
            <a:r>
              <a:rPr lang="en-US" sz="2000" dirty="0" err="1"/>
              <a:t>te</a:t>
            </a:r>
            <a:r>
              <a:rPr lang="en-US" sz="2000" dirty="0"/>
              <a:t> (</a:t>
            </a:r>
            <a:r>
              <a:rPr lang="en-US" sz="2000" dirty="0" err="1"/>
              <a:t>prin</a:t>
            </a:r>
            <a:r>
              <a:rPr lang="en-US" sz="2000" dirty="0"/>
              <a:t> </a:t>
            </a:r>
            <a:r>
              <a:rPr lang="en-US" sz="2000" dirty="0" err="1"/>
              <a:t>apelul</a:t>
            </a:r>
            <a:r>
              <a:rPr lang="en-US" sz="2000" dirty="0"/>
              <a:t> </a:t>
            </a:r>
            <a:r>
              <a:rPr lang="en-US" sz="2000" dirty="0" err="1"/>
              <a:t>func</a:t>
            </a:r>
            <a:r>
              <a:rPr lang="ro-RO" sz="2000" dirty="0"/>
              <a:t>ț</a:t>
            </a:r>
            <a:r>
              <a:rPr lang="en-US" sz="2000" dirty="0" err="1"/>
              <a:t>iei</a:t>
            </a:r>
            <a:r>
              <a:rPr lang="en-US" sz="2000" dirty="0"/>
              <a:t> main) un thread, </a:t>
            </a:r>
            <a:r>
              <a:rPr lang="en-US" sz="2000" dirty="0" err="1"/>
              <a:t>numit</a:t>
            </a:r>
            <a:r>
              <a:rPr lang="en-US" sz="2000" dirty="0"/>
              <a:t> thread-ul principal. </a:t>
            </a:r>
          </a:p>
          <a:p>
            <a:r>
              <a:rPr lang="en-US" sz="2000" dirty="0"/>
              <a:t>       </a:t>
            </a:r>
          </a:p>
          <a:p>
            <a:pPr marL="285750" indent="-285750">
              <a:buFont typeface="Arial" panose="020B0604020202020204" pitchFamily="34" charset="0"/>
              <a:buChar char="•"/>
            </a:pPr>
            <a:r>
              <a:rPr lang="en-US" sz="2000" dirty="0" err="1"/>
              <a:t>Fiecare</a:t>
            </a:r>
            <a:r>
              <a:rPr lang="en-US" sz="2000" dirty="0"/>
              <a:t> thread are o </a:t>
            </a:r>
            <a:r>
              <a:rPr lang="en-US" sz="2000" dirty="0" err="1"/>
              <a:t>prioritate</a:t>
            </a:r>
            <a:r>
              <a:rPr lang="en-US" sz="2000" dirty="0"/>
              <a:t>, care </a:t>
            </a:r>
            <a:r>
              <a:rPr lang="en-US" sz="2000" dirty="0" err="1"/>
              <a:t>poate</a:t>
            </a:r>
            <a:r>
              <a:rPr lang="en-US" sz="2000" dirty="0"/>
              <a:t> fi </a:t>
            </a:r>
            <a:r>
              <a:rPr lang="en-US" sz="2000" dirty="0" err="1"/>
              <a:t>setat</a:t>
            </a:r>
            <a:r>
              <a:rPr lang="ro-RO" sz="2000" dirty="0"/>
              <a:t>ă</a:t>
            </a:r>
            <a:r>
              <a:rPr lang="en-US" sz="2000" dirty="0"/>
              <a:t> de </a:t>
            </a:r>
            <a:r>
              <a:rPr lang="en-US" sz="2000" dirty="0" err="1"/>
              <a:t>programator</a:t>
            </a:r>
            <a:r>
              <a:rPr lang="en-US" sz="2000" dirty="0"/>
              <a:t>. </a:t>
            </a:r>
          </a:p>
          <a:p>
            <a:endParaRPr lang="en-US" sz="2000" dirty="0"/>
          </a:p>
          <a:p>
            <a:pPr marL="285750" indent="-285750">
              <a:buFont typeface="Arial" panose="020B0604020202020204" pitchFamily="34" charset="0"/>
              <a:buChar char="•"/>
            </a:pPr>
            <a:r>
              <a:rPr lang="en-US" sz="2000" dirty="0" err="1"/>
              <a:t>Fiecare</a:t>
            </a:r>
            <a:r>
              <a:rPr lang="en-US" sz="2000" dirty="0"/>
              <a:t> thread are propria </a:t>
            </a:r>
            <a:r>
              <a:rPr lang="en-US" sz="2000" dirty="0" err="1"/>
              <a:t>stiv</a:t>
            </a:r>
            <a:r>
              <a:rPr lang="ro-RO" sz="2000" dirty="0"/>
              <a:t>ă</a:t>
            </a:r>
            <a:r>
              <a:rPr lang="en-US" sz="2000" dirty="0"/>
              <a:t> </a:t>
            </a:r>
            <a:r>
              <a:rPr lang="en-US" sz="2000" dirty="0" err="1"/>
              <a:t>dar</a:t>
            </a:r>
            <a:r>
              <a:rPr lang="en-US" sz="2000" dirty="0"/>
              <a:t> </a:t>
            </a:r>
            <a:r>
              <a:rPr lang="en-US" sz="2000" dirty="0" err="1"/>
              <a:t>poate</a:t>
            </a:r>
            <a:r>
              <a:rPr lang="en-US" sz="2000" dirty="0"/>
              <a:t> </a:t>
            </a:r>
            <a:r>
              <a:rPr lang="en-US" sz="2000" dirty="0" err="1"/>
              <a:t>accesa</a:t>
            </a:r>
            <a:r>
              <a:rPr lang="en-US" sz="2000" dirty="0"/>
              <a:t> </a:t>
            </a:r>
            <a:r>
              <a:rPr lang="ro-RO" sz="2000" dirty="0"/>
              <a:t>ș</a:t>
            </a:r>
            <a:r>
              <a:rPr lang="en-US" sz="2000" dirty="0" err="1"/>
              <a:t>i</a:t>
            </a:r>
            <a:r>
              <a:rPr lang="en-US" sz="2000" dirty="0"/>
              <a:t> </a:t>
            </a:r>
            <a:r>
              <a:rPr lang="en-US" sz="2000" dirty="0" err="1"/>
              <a:t>datele</a:t>
            </a:r>
            <a:r>
              <a:rPr lang="en-US" sz="2000" dirty="0"/>
              <a:t>  </a:t>
            </a:r>
            <a:r>
              <a:rPr lang="en-US" sz="2000" dirty="0" err="1"/>
              <a:t>partajate</a:t>
            </a:r>
            <a:r>
              <a:rPr lang="en-US" sz="2000" dirty="0"/>
              <a:t> din </a:t>
            </a:r>
            <a:r>
              <a:rPr lang="en-US" sz="2000" dirty="0" err="1"/>
              <a:t>memoria</a:t>
            </a:r>
            <a:r>
              <a:rPr lang="en-US" sz="2000" dirty="0"/>
              <a:t> heap.</a:t>
            </a:r>
            <a:endParaRPr lang="ro-RO" sz="2000" dirty="0"/>
          </a:p>
          <a:p>
            <a:pPr marL="285750" indent="-285750">
              <a:buFont typeface="Arial" panose="020B0604020202020204" pitchFamily="34" charset="0"/>
              <a:buChar char="•"/>
            </a:pPr>
            <a:endParaRPr lang="ro-RO" sz="2000" dirty="0"/>
          </a:p>
          <a:p>
            <a:pPr marL="285750" indent="-285750">
              <a:buFont typeface="Arial" panose="020B0604020202020204" pitchFamily="34" charset="0"/>
              <a:buChar char="•"/>
            </a:pPr>
            <a:r>
              <a:rPr lang="ro-RO" sz="2000" dirty="0"/>
              <a:t>Execuția </a:t>
            </a:r>
            <a:r>
              <a:rPr lang="ro-RO" sz="2000" dirty="0" err="1"/>
              <a:t>thread</a:t>
            </a:r>
            <a:r>
              <a:rPr lang="ro-RO" sz="2000" dirty="0"/>
              <a:t>-urilor este nedeterministă.</a:t>
            </a:r>
            <a:endParaRPr lang="en-US" sz="2000" dirty="0"/>
          </a:p>
          <a:p>
            <a:endParaRPr lang="en-US" sz="2000" dirty="0"/>
          </a:p>
          <a:p>
            <a:pPr marL="285750" indent="-285750">
              <a:buFont typeface="Arial" panose="020B0604020202020204" pitchFamily="34" charset="0"/>
              <a:buChar char="•"/>
            </a:pPr>
            <a:r>
              <a:rPr lang="en-US" sz="2000" dirty="0"/>
              <a:t>JVM  </a:t>
            </a:r>
            <a:r>
              <a:rPr lang="en-US" sz="2000" dirty="0" err="1"/>
              <a:t>continu</a:t>
            </a:r>
            <a:r>
              <a:rPr lang="ro-RO" sz="2000" dirty="0"/>
              <a:t>ă</a:t>
            </a:r>
            <a:r>
              <a:rPr lang="en-US" sz="2000" dirty="0"/>
              <a:t> s</a:t>
            </a:r>
            <a:r>
              <a:rPr lang="ro-RO" sz="2000" dirty="0"/>
              <a:t>ă</a:t>
            </a:r>
            <a:r>
              <a:rPr lang="en-US" sz="2000" dirty="0"/>
              <a:t> execute thread-</a:t>
            </a:r>
            <a:r>
              <a:rPr lang="en-US" sz="2000" dirty="0" err="1"/>
              <a:t>uri</a:t>
            </a:r>
            <a:r>
              <a:rPr lang="en-US" sz="2000" dirty="0"/>
              <a:t>  p</a:t>
            </a:r>
            <a:r>
              <a:rPr lang="ro-RO" sz="2000" dirty="0"/>
              <a:t>â</a:t>
            </a:r>
            <a:r>
              <a:rPr lang="en-US" sz="2000" dirty="0"/>
              <a:t>n</a:t>
            </a:r>
            <a:r>
              <a:rPr lang="ro-RO" sz="2000" dirty="0"/>
              <a:t>ă</a:t>
            </a:r>
            <a:r>
              <a:rPr lang="en-US" sz="2000" dirty="0"/>
              <a:t> c</a:t>
            </a:r>
            <a:r>
              <a:rPr lang="ro-RO" sz="2000" dirty="0"/>
              <a:t>â</a:t>
            </a:r>
            <a:r>
              <a:rPr lang="en-US" sz="2000" dirty="0" err="1"/>
              <a:t>nd</a:t>
            </a:r>
            <a:r>
              <a:rPr lang="en-US" sz="2000" dirty="0"/>
              <a:t>:</a:t>
            </a:r>
          </a:p>
          <a:p>
            <a:pPr marL="1200150" lvl="2" indent="-285750">
              <a:buFont typeface="Courier New" panose="02070309020205020404" pitchFamily="49" charset="0"/>
              <a:buChar char="o"/>
            </a:pPr>
            <a:r>
              <a:rPr lang="en-US" sz="2000" dirty="0"/>
              <a:t>    </a:t>
            </a:r>
            <a:r>
              <a:rPr lang="en-US" sz="2000" dirty="0" err="1"/>
              <a:t>este</a:t>
            </a:r>
            <a:r>
              <a:rPr lang="en-US" sz="2000" dirty="0"/>
              <a:t> </a:t>
            </a:r>
            <a:r>
              <a:rPr lang="en-US" sz="2000" dirty="0" err="1"/>
              <a:t>apelat</a:t>
            </a:r>
            <a:r>
              <a:rPr lang="ro-RO" sz="2000" dirty="0"/>
              <a:t>ă</a:t>
            </a:r>
            <a:r>
              <a:rPr lang="en-US" sz="2000" dirty="0"/>
              <a:t> </a:t>
            </a:r>
            <a:r>
              <a:rPr lang="en-US" sz="2000" dirty="0" err="1"/>
              <a:t>metoda</a:t>
            </a:r>
            <a:r>
              <a:rPr lang="en-US" sz="2000" dirty="0"/>
              <a:t> </a:t>
            </a:r>
            <a:r>
              <a:rPr lang="en-US" sz="2000" i="1" dirty="0"/>
              <a:t>exit </a:t>
            </a:r>
            <a:r>
              <a:rPr lang="en-US" sz="2000" dirty="0"/>
              <a:t>a </a:t>
            </a:r>
            <a:r>
              <a:rPr lang="en-US" sz="2000" dirty="0" err="1"/>
              <a:t>clasei</a:t>
            </a:r>
            <a:r>
              <a:rPr lang="en-US" sz="2000" dirty="0"/>
              <a:t> Runtime</a:t>
            </a:r>
          </a:p>
          <a:p>
            <a:pPr marL="1200150" lvl="2" indent="-285750">
              <a:buFont typeface="Courier New" panose="02070309020205020404" pitchFamily="49" charset="0"/>
              <a:buChar char="o"/>
            </a:pPr>
            <a:r>
              <a:rPr lang="en-US" sz="2000" dirty="0"/>
              <a:t>    </a:t>
            </a:r>
            <a:r>
              <a:rPr lang="en-US" sz="2000" dirty="0" err="1"/>
              <a:t>toate</a:t>
            </a:r>
            <a:r>
              <a:rPr lang="en-US" sz="2000" dirty="0"/>
              <a:t> thread-urile </a:t>
            </a:r>
            <a:r>
              <a:rPr lang="en-US" sz="2000" dirty="0" err="1"/>
              <a:t>utilizator</a:t>
            </a:r>
            <a:r>
              <a:rPr lang="en-US" sz="2000" dirty="0"/>
              <a:t> </a:t>
            </a:r>
            <a:r>
              <a:rPr lang="ro-RO" sz="2000" dirty="0"/>
              <a:t>ș</a:t>
            </a:r>
            <a:r>
              <a:rPr lang="en-US" sz="2000" dirty="0" err="1"/>
              <a:t>i</a:t>
            </a:r>
            <a:r>
              <a:rPr lang="en-US" sz="2000" dirty="0"/>
              <a:t>-au </a:t>
            </a:r>
            <a:r>
              <a:rPr lang="en-US" sz="2000" dirty="0" err="1"/>
              <a:t>terminat</a:t>
            </a:r>
            <a:r>
              <a:rPr lang="en-US" sz="2000" dirty="0"/>
              <a:t> </a:t>
            </a:r>
            <a:r>
              <a:rPr lang="en-US" sz="2000" dirty="0" err="1"/>
              <a:t>executia</a:t>
            </a:r>
            <a:r>
              <a:rPr lang="en-US" sz="2000" dirty="0"/>
              <a:t> (normal </a:t>
            </a:r>
            <a:r>
              <a:rPr lang="en-US" sz="2000" dirty="0" err="1"/>
              <a:t>sau</a:t>
            </a:r>
            <a:r>
              <a:rPr lang="en-US" sz="2000" dirty="0"/>
              <a:t> </a:t>
            </a:r>
            <a:r>
              <a:rPr lang="en-US" sz="2000" dirty="0" err="1"/>
              <a:t>printr</a:t>
            </a:r>
            <a:r>
              <a:rPr lang="en-US" sz="2000" dirty="0"/>
              <a:t>-o </a:t>
            </a:r>
            <a:r>
              <a:rPr lang="en-US" sz="2000" dirty="0" err="1"/>
              <a:t>excep</a:t>
            </a:r>
            <a:r>
              <a:rPr lang="ro-RO" sz="2000" dirty="0"/>
              <a:t>ț</a:t>
            </a:r>
            <a:r>
              <a:rPr lang="en-US" sz="2000" dirty="0" err="1"/>
              <a:t>ie</a:t>
            </a:r>
            <a:r>
              <a:rPr lang="en-US" sz="2000" dirty="0"/>
              <a:t>)</a:t>
            </a:r>
          </a:p>
          <a:p>
            <a:pPr lvl="2"/>
            <a:endParaRPr lang="en-US" dirty="0"/>
          </a:p>
          <a:p>
            <a:endParaRPr lang="en-US" dirty="0"/>
          </a:p>
        </p:txBody>
      </p:sp>
      <p:sp>
        <p:nvSpPr>
          <p:cNvPr id="3" name="TextBox 2">
            <a:extLst>
              <a:ext uri="{FF2B5EF4-FFF2-40B4-BE49-F238E27FC236}">
                <a16:creationId xmlns:a16="http://schemas.microsoft.com/office/drawing/2014/main" id="{05DA4D2D-8758-4113-B242-41BE846D25E1}"/>
              </a:ext>
            </a:extLst>
          </p:cNvPr>
          <p:cNvSpPr txBox="1"/>
          <p:nvPr/>
        </p:nvSpPr>
        <p:spPr>
          <a:xfrm>
            <a:off x="881743" y="348343"/>
            <a:ext cx="3394647" cy="461665"/>
          </a:xfrm>
          <a:prstGeom prst="rect">
            <a:avLst/>
          </a:prstGeom>
          <a:noFill/>
        </p:spPr>
        <p:txBody>
          <a:bodyPr wrap="none" rtlCol="0">
            <a:spAutoFit/>
          </a:bodyPr>
          <a:lstStyle/>
          <a:p>
            <a:pPr marL="342900" indent="-342900">
              <a:buFont typeface="Wingdings" panose="05000000000000000000" pitchFamily="2" charset="2"/>
              <a:buChar char="Ø"/>
            </a:pPr>
            <a:r>
              <a:rPr lang="en-US" sz="2400" dirty="0"/>
              <a:t>Multi-threading </a:t>
            </a:r>
            <a:r>
              <a:rPr lang="ro-RO" sz="2400" dirty="0"/>
              <a:t>î</a:t>
            </a:r>
            <a:r>
              <a:rPr lang="en-US" sz="2400" dirty="0"/>
              <a:t>n Java</a:t>
            </a:r>
            <a:endParaRPr lang="en-GB" sz="2400" dirty="0"/>
          </a:p>
        </p:txBody>
      </p:sp>
    </p:spTree>
    <p:extLst>
      <p:ext uri="{BB962C8B-B14F-4D97-AF65-F5344CB8AC3E}">
        <p14:creationId xmlns:p14="http://schemas.microsoft.com/office/powerpoint/2010/main" val="54555110"/>
      </p:ext>
    </p:extLst>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extBox 1"/>
          <p:cNvSpPr txBox="1"/>
          <p:nvPr/>
        </p:nvSpPr>
        <p:spPr>
          <a:xfrm>
            <a:off x="818184" y="1536174"/>
            <a:ext cx="6072945" cy="3785652"/>
          </a:xfrm>
          <a:prstGeom prst="rect">
            <a:avLst/>
          </a:prstGeom>
          <a:noFill/>
          <a:ln w="38100">
            <a:solidFill>
              <a:srgbClr val="00B050"/>
            </a:solidFill>
          </a:ln>
        </p:spPr>
        <p:txBody>
          <a:bodyPr wrap="none" rtlCol="0">
            <a:spAutoFit/>
          </a:bodyPr>
          <a:lstStyle/>
          <a:p>
            <a:r>
              <a:rPr lang="en-GB" sz="2000" dirty="0"/>
              <a:t>public class </a:t>
            </a:r>
            <a:r>
              <a:rPr lang="en-GB" sz="2000" dirty="0" err="1"/>
              <a:t>HelloThread</a:t>
            </a:r>
            <a:r>
              <a:rPr lang="en-GB" sz="2000" dirty="0"/>
              <a:t> implements Runnable {</a:t>
            </a:r>
          </a:p>
          <a:p>
            <a:r>
              <a:rPr lang="en-GB" sz="2000" dirty="0"/>
              <a:t>        public void run() {</a:t>
            </a:r>
          </a:p>
          <a:p>
            <a:r>
              <a:rPr lang="en-GB" sz="2000" dirty="0"/>
              <a:t>        for (int x = 0; x &lt; 5; x = x + 1) </a:t>
            </a:r>
          </a:p>
          <a:p>
            <a:r>
              <a:rPr lang="en-GB" sz="2000" dirty="0"/>
              <a:t>        </a:t>
            </a:r>
            <a:r>
              <a:rPr lang="en-GB" sz="2000" dirty="0" err="1"/>
              <a:t>System.out.println</a:t>
            </a:r>
            <a:r>
              <a:rPr lang="en-GB" sz="2000" dirty="0"/>
              <a:t>("Hello from the new thread!");</a:t>
            </a:r>
          </a:p>
          <a:p>
            <a:r>
              <a:rPr lang="en-GB" sz="2000" dirty="0"/>
              <a:t>    }</a:t>
            </a:r>
          </a:p>
          <a:p>
            <a:br>
              <a:rPr lang="en-GB" sz="2000" dirty="0"/>
            </a:br>
            <a:r>
              <a:rPr lang="en-GB" sz="2000" dirty="0"/>
              <a:t>    public static void main(String </a:t>
            </a:r>
            <a:r>
              <a:rPr lang="en-GB" sz="2000" dirty="0" err="1"/>
              <a:t>args</a:t>
            </a:r>
            <a:r>
              <a:rPr lang="en-GB" sz="2000" dirty="0"/>
              <a:t>[]) {</a:t>
            </a:r>
          </a:p>
          <a:p>
            <a:r>
              <a:rPr lang="en-GB" sz="2000" dirty="0"/>
              <a:t>         Thread t = new Thread (new </a:t>
            </a:r>
            <a:r>
              <a:rPr lang="en-GB" sz="2000" dirty="0" err="1"/>
              <a:t>HelloThread</a:t>
            </a:r>
            <a:r>
              <a:rPr lang="en-GB" sz="2000" dirty="0"/>
              <a:t>());</a:t>
            </a:r>
          </a:p>
          <a:p>
            <a:r>
              <a:rPr lang="en-GB" sz="2000" dirty="0"/>
              <a:t>          </a:t>
            </a:r>
            <a:r>
              <a:rPr lang="en-GB" sz="2000" dirty="0" err="1"/>
              <a:t>t.start</a:t>
            </a:r>
            <a:r>
              <a:rPr lang="en-GB" sz="2000" dirty="0"/>
              <a:t>(); </a:t>
            </a:r>
          </a:p>
          <a:p>
            <a:r>
              <a:rPr lang="en-GB" sz="2000" dirty="0"/>
              <a:t>          for (int x = 0; x &lt; 5; x = x + 1) </a:t>
            </a:r>
          </a:p>
          <a:p>
            <a:r>
              <a:rPr lang="en-GB" sz="2000" dirty="0"/>
              <a:t>          </a:t>
            </a:r>
            <a:r>
              <a:rPr lang="en-GB" sz="2000" dirty="0" err="1"/>
              <a:t>System.out.println</a:t>
            </a:r>
            <a:r>
              <a:rPr lang="en-GB" sz="2000" dirty="0"/>
              <a:t>("Hello from the main thread!");</a:t>
            </a:r>
          </a:p>
          <a:p>
            <a:r>
              <a:rPr lang="en-GB" sz="2000" dirty="0"/>
              <a:t>    }}</a:t>
            </a:r>
          </a:p>
        </p:txBody>
      </p:sp>
      <p:pic>
        <p:nvPicPr>
          <p:cNvPr id="6" name="Picture 5">
            <a:extLst>
              <a:ext uri="{FF2B5EF4-FFF2-40B4-BE49-F238E27FC236}">
                <a16:creationId xmlns:a16="http://schemas.microsoft.com/office/drawing/2014/main" id="{00C25665-DC0B-4C85-B6E4-63BAEC427666}"/>
              </a:ext>
            </a:extLst>
          </p:cNvPr>
          <p:cNvPicPr>
            <a:picLocks noChangeAspect="1"/>
          </p:cNvPicPr>
          <p:nvPr/>
        </p:nvPicPr>
        <p:blipFill>
          <a:blip r:embed="rId2"/>
          <a:stretch>
            <a:fillRect/>
          </a:stretch>
        </p:blipFill>
        <p:spPr>
          <a:xfrm>
            <a:off x="7396480" y="283029"/>
            <a:ext cx="3259599" cy="5904180"/>
          </a:xfrm>
          <a:prstGeom prst="rect">
            <a:avLst/>
          </a:prstGeom>
        </p:spPr>
      </p:pic>
      <p:sp>
        <p:nvSpPr>
          <p:cNvPr id="7" name="TextBox 6">
            <a:extLst>
              <a:ext uri="{FF2B5EF4-FFF2-40B4-BE49-F238E27FC236}">
                <a16:creationId xmlns:a16="http://schemas.microsoft.com/office/drawing/2014/main" id="{8C72B121-16BE-45C5-A0F8-A88C45056D00}"/>
              </a:ext>
            </a:extLst>
          </p:cNvPr>
          <p:cNvSpPr txBox="1"/>
          <p:nvPr/>
        </p:nvSpPr>
        <p:spPr>
          <a:xfrm>
            <a:off x="1001486" y="283029"/>
            <a:ext cx="4078424" cy="461665"/>
          </a:xfrm>
          <a:prstGeom prst="rect">
            <a:avLst/>
          </a:prstGeom>
          <a:noFill/>
        </p:spPr>
        <p:txBody>
          <a:bodyPr wrap="none" rtlCol="0">
            <a:spAutoFit/>
          </a:bodyPr>
          <a:lstStyle/>
          <a:p>
            <a:pPr marL="285750" indent="-285750">
              <a:buFont typeface="Wingdings" panose="05000000000000000000" pitchFamily="2" charset="2"/>
              <a:buChar char="Ø"/>
            </a:pPr>
            <a:r>
              <a:rPr lang="en-US" sz="2400" dirty="0" err="1"/>
              <a:t>Executia</a:t>
            </a:r>
            <a:r>
              <a:rPr lang="en-US" sz="2400" dirty="0"/>
              <a:t> </a:t>
            </a:r>
            <a:r>
              <a:rPr lang="en-US" sz="2400" dirty="0" err="1"/>
              <a:t>este</a:t>
            </a:r>
            <a:r>
              <a:rPr lang="en-US" sz="2400" dirty="0"/>
              <a:t> </a:t>
            </a:r>
            <a:r>
              <a:rPr lang="en-US" sz="2400" dirty="0" err="1"/>
              <a:t>nedeterminist</a:t>
            </a:r>
            <a:r>
              <a:rPr lang="ro-RO" sz="2400" dirty="0"/>
              <a:t>ă</a:t>
            </a:r>
            <a:endParaRPr lang="en-GB" sz="2400" dirty="0"/>
          </a:p>
        </p:txBody>
      </p:sp>
    </p:spTree>
    <p:extLst>
      <p:ext uri="{BB962C8B-B14F-4D97-AF65-F5344CB8AC3E}">
        <p14:creationId xmlns:p14="http://schemas.microsoft.com/office/powerpoint/2010/main" val="312890596"/>
      </p:ext>
    </p:extLst>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ED610FBC-6A94-10A4-37D2-A5A9B31225E6}"/>
            </a:ext>
          </a:extLst>
        </p:cNvPr>
        <p:cNvGrpSpPr/>
        <p:nvPr/>
      </p:nvGrpSpPr>
      <p:grpSpPr>
        <a:xfrm>
          <a:off x="0" y="0"/>
          <a:ext cx="0" cy="0"/>
          <a:chOff x="0" y="0"/>
          <a:chExt cx="0" cy="0"/>
        </a:xfrm>
      </p:grpSpPr>
      <p:sp>
        <p:nvSpPr>
          <p:cNvPr id="2" name="TextBox 1">
            <a:extLst>
              <a:ext uri="{FF2B5EF4-FFF2-40B4-BE49-F238E27FC236}">
                <a16:creationId xmlns:a16="http://schemas.microsoft.com/office/drawing/2014/main" id="{A628BC97-63BC-395D-0E04-24ADD4C7BAD8}"/>
              </a:ext>
            </a:extLst>
          </p:cNvPr>
          <p:cNvSpPr txBox="1"/>
          <p:nvPr/>
        </p:nvSpPr>
        <p:spPr>
          <a:xfrm>
            <a:off x="818184" y="1536174"/>
            <a:ext cx="6072945" cy="3785652"/>
          </a:xfrm>
          <a:prstGeom prst="rect">
            <a:avLst/>
          </a:prstGeom>
          <a:noFill/>
          <a:ln w="38100">
            <a:solidFill>
              <a:srgbClr val="00B050"/>
            </a:solidFill>
          </a:ln>
        </p:spPr>
        <p:txBody>
          <a:bodyPr wrap="none" rtlCol="0">
            <a:spAutoFit/>
          </a:bodyPr>
          <a:lstStyle/>
          <a:p>
            <a:r>
              <a:rPr lang="en-GB" sz="2000" dirty="0"/>
              <a:t>public class </a:t>
            </a:r>
            <a:r>
              <a:rPr lang="en-GB" sz="2000" dirty="0" err="1"/>
              <a:t>HelloThread</a:t>
            </a:r>
            <a:r>
              <a:rPr lang="en-GB" sz="2000" dirty="0"/>
              <a:t> implements Runnable {</a:t>
            </a:r>
          </a:p>
          <a:p>
            <a:r>
              <a:rPr lang="en-GB" sz="2000" dirty="0"/>
              <a:t>        public void run() {</a:t>
            </a:r>
          </a:p>
          <a:p>
            <a:r>
              <a:rPr lang="en-GB" sz="2000" dirty="0"/>
              <a:t>        for (int x = 0; x &lt; 5; x = x + 1) </a:t>
            </a:r>
          </a:p>
          <a:p>
            <a:r>
              <a:rPr lang="en-GB" sz="2000" dirty="0"/>
              <a:t>        </a:t>
            </a:r>
            <a:r>
              <a:rPr lang="en-GB" sz="2000" dirty="0" err="1"/>
              <a:t>System.out.println</a:t>
            </a:r>
            <a:r>
              <a:rPr lang="en-GB" sz="2000" dirty="0"/>
              <a:t>("Hello from the new thread!");</a:t>
            </a:r>
          </a:p>
          <a:p>
            <a:r>
              <a:rPr lang="en-GB" sz="2000" dirty="0"/>
              <a:t>    }</a:t>
            </a:r>
          </a:p>
          <a:p>
            <a:br>
              <a:rPr lang="en-GB" sz="2000" dirty="0"/>
            </a:br>
            <a:r>
              <a:rPr lang="en-GB" sz="2000" dirty="0"/>
              <a:t>    public static void main(String </a:t>
            </a:r>
            <a:r>
              <a:rPr lang="en-GB" sz="2000" dirty="0" err="1"/>
              <a:t>args</a:t>
            </a:r>
            <a:r>
              <a:rPr lang="en-GB" sz="2000" dirty="0"/>
              <a:t>[]) {</a:t>
            </a:r>
          </a:p>
          <a:p>
            <a:r>
              <a:rPr lang="en-GB" sz="2000" dirty="0"/>
              <a:t>         Thread t = new Thread (new </a:t>
            </a:r>
            <a:r>
              <a:rPr lang="en-GB" sz="2000" dirty="0" err="1"/>
              <a:t>HelloThread</a:t>
            </a:r>
            <a:r>
              <a:rPr lang="en-GB" sz="2000" dirty="0"/>
              <a:t>());</a:t>
            </a:r>
          </a:p>
          <a:p>
            <a:r>
              <a:rPr lang="en-GB" sz="2000" dirty="0"/>
              <a:t>          </a:t>
            </a:r>
            <a:r>
              <a:rPr lang="en-GB" sz="2000" dirty="0" err="1"/>
              <a:t>t.start</a:t>
            </a:r>
            <a:r>
              <a:rPr lang="en-GB" sz="2000" dirty="0"/>
              <a:t>(); </a:t>
            </a:r>
          </a:p>
          <a:p>
            <a:r>
              <a:rPr lang="en-GB" sz="2000" dirty="0"/>
              <a:t>          for (int x = 0; x &lt; 5; x = x + 1) </a:t>
            </a:r>
          </a:p>
          <a:p>
            <a:r>
              <a:rPr lang="en-GB" sz="2000" dirty="0"/>
              <a:t>          </a:t>
            </a:r>
            <a:r>
              <a:rPr lang="en-GB" sz="2000" dirty="0" err="1"/>
              <a:t>System.out.println</a:t>
            </a:r>
            <a:r>
              <a:rPr lang="en-GB" sz="2000" dirty="0"/>
              <a:t>("Hello from the main thread!");</a:t>
            </a:r>
          </a:p>
          <a:p>
            <a:r>
              <a:rPr lang="en-GB" sz="2000" dirty="0"/>
              <a:t>    }}</a:t>
            </a:r>
          </a:p>
        </p:txBody>
      </p:sp>
      <p:pic>
        <p:nvPicPr>
          <p:cNvPr id="6" name="Picture 5">
            <a:extLst>
              <a:ext uri="{FF2B5EF4-FFF2-40B4-BE49-F238E27FC236}">
                <a16:creationId xmlns:a16="http://schemas.microsoft.com/office/drawing/2014/main" id="{C7B8A41C-DCE9-A795-FEC9-25B6E144735B}"/>
              </a:ext>
            </a:extLst>
          </p:cNvPr>
          <p:cNvPicPr>
            <a:picLocks noChangeAspect="1"/>
          </p:cNvPicPr>
          <p:nvPr/>
        </p:nvPicPr>
        <p:blipFill>
          <a:blip r:embed="rId2"/>
          <a:stretch>
            <a:fillRect/>
          </a:stretch>
        </p:blipFill>
        <p:spPr>
          <a:xfrm>
            <a:off x="7396480" y="283029"/>
            <a:ext cx="3259599" cy="5904180"/>
          </a:xfrm>
          <a:prstGeom prst="rect">
            <a:avLst/>
          </a:prstGeom>
        </p:spPr>
      </p:pic>
      <p:sp>
        <p:nvSpPr>
          <p:cNvPr id="7" name="TextBox 6">
            <a:extLst>
              <a:ext uri="{FF2B5EF4-FFF2-40B4-BE49-F238E27FC236}">
                <a16:creationId xmlns:a16="http://schemas.microsoft.com/office/drawing/2014/main" id="{3ED8579A-3BA6-E0AF-1AA4-DAE5A8D8A0FE}"/>
              </a:ext>
            </a:extLst>
          </p:cNvPr>
          <p:cNvSpPr txBox="1"/>
          <p:nvPr/>
        </p:nvSpPr>
        <p:spPr>
          <a:xfrm>
            <a:off x="1001486" y="283029"/>
            <a:ext cx="4078424" cy="461665"/>
          </a:xfrm>
          <a:prstGeom prst="rect">
            <a:avLst/>
          </a:prstGeom>
          <a:noFill/>
        </p:spPr>
        <p:txBody>
          <a:bodyPr wrap="none" rtlCol="0">
            <a:spAutoFit/>
          </a:bodyPr>
          <a:lstStyle/>
          <a:p>
            <a:pPr marL="285750" indent="-285750">
              <a:buFont typeface="Wingdings" panose="05000000000000000000" pitchFamily="2" charset="2"/>
              <a:buChar char="Ø"/>
            </a:pPr>
            <a:r>
              <a:rPr lang="en-US" sz="2400" dirty="0" err="1"/>
              <a:t>Execu</a:t>
            </a:r>
            <a:r>
              <a:rPr lang="ro-RO" sz="2400" dirty="0"/>
              <a:t>ț</a:t>
            </a:r>
            <a:r>
              <a:rPr lang="en-US" sz="2400" dirty="0" err="1"/>
              <a:t>ia</a:t>
            </a:r>
            <a:r>
              <a:rPr lang="en-US" sz="2400" dirty="0"/>
              <a:t> </a:t>
            </a:r>
            <a:r>
              <a:rPr lang="en-US" sz="2400" dirty="0" err="1"/>
              <a:t>este</a:t>
            </a:r>
            <a:r>
              <a:rPr lang="en-US" sz="2400" dirty="0"/>
              <a:t> </a:t>
            </a:r>
            <a:r>
              <a:rPr lang="en-US" sz="2400" dirty="0" err="1"/>
              <a:t>nedeterminist</a:t>
            </a:r>
            <a:r>
              <a:rPr lang="ro-RO" sz="2400" dirty="0"/>
              <a:t>ă</a:t>
            </a:r>
            <a:endParaRPr lang="en-GB" sz="2400" dirty="0"/>
          </a:p>
        </p:txBody>
      </p:sp>
      <p:sp>
        <p:nvSpPr>
          <p:cNvPr id="3" name="TextBox 2">
            <a:extLst>
              <a:ext uri="{FF2B5EF4-FFF2-40B4-BE49-F238E27FC236}">
                <a16:creationId xmlns:a16="http://schemas.microsoft.com/office/drawing/2014/main" id="{80162FE4-3BF2-F9F3-9C66-22FBD6DBFE3D}"/>
              </a:ext>
            </a:extLst>
          </p:cNvPr>
          <p:cNvSpPr txBox="1"/>
          <p:nvPr/>
        </p:nvSpPr>
        <p:spPr>
          <a:xfrm>
            <a:off x="9133840" y="2336348"/>
            <a:ext cx="2841099" cy="923330"/>
          </a:xfrm>
          <a:prstGeom prst="rect">
            <a:avLst/>
          </a:prstGeom>
          <a:solidFill>
            <a:schemeClr val="accent6">
              <a:lumMod val="20000"/>
              <a:lumOff val="80000"/>
            </a:schemeClr>
          </a:solidFill>
        </p:spPr>
        <p:txBody>
          <a:bodyPr wrap="none" rtlCol="0">
            <a:spAutoFit/>
          </a:bodyPr>
          <a:lstStyle/>
          <a:p>
            <a:r>
              <a:rPr lang="en-US" dirty="0"/>
              <a:t>Thread-ul "</a:t>
            </a:r>
            <a:r>
              <a:rPr lang="en-US" dirty="0" err="1"/>
              <a:t>copil</a:t>
            </a:r>
            <a:r>
              <a:rPr lang="en-US" dirty="0"/>
              <a:t>" continua </a:t>
            </a:r>
          </a:p>
          <a:p>
            <a:r>
              <a:rPr lang="en-US" dirty="0" err="1"/>
              <a:t>executia</a:t>
            </a:r>
            <a:r>
              <a:rPr lang="en-US" dirty="0"/>
              <a:t>  </a:t>
            </a:r>
            <a:r>
              <a:rPr lang="en-US" dirty="0" err="1"/>
              <a:t>dupa</a:t>
            </a:r>
            <a:r>
              <a:rPr lang="en-US" dirty="0"/>
              <a:t> </a:t>
            </a:r>
            <a:r>
              <a:rPr lang="en-US" dirty="0" err="1"/>
              <a:t>ce</a:t>
            </a:r>
            <a:r>
              <a:rPr lang="en-US" dirty="0"/>
              <a:t>  thread-ul </a:t>
            </a:r>
          </a:p>
          <a:p>
            <a:r>
              <a:rPr lang="en-US" dirty="0"/>
              <a:t>principal </a:t>
            </a:r>
            <a:r>
              <a:rPr lang="en-US" dirty="0" err="1"/>
              <a:t>si</a:t>
            </a:r>
            <a:r>
              <a:rPr lang="en-US" dirty="0"/>
              <a:t>-a </a:t>
            </a:r>
            <a:r>
              <a:rPr lang="en-US" dirty="0" err="1"/>
              <a:t>incheiat</a:t>
            </a:r>
            <a:r>
              <a:rPr lang="en-US" dirty="0"/>
              <a:t>-o.</a:t>
            </a:r>
            <a:endParaRPr lang="en-GB" dirty="0"/>
          </a:p>
        </p:txBody>
      </p:sp>
    </p:spTree>
    <p:extLst>
      <p:ext uri="{BB962C8B-B14F-4D97-AF65-F5344CB8AC3E}">
        <p14:creationId xmlns:p14="http://schemas.microsoft.com/office/powerpoint/2010/main" val="1282886194"/>
      </p:ext>
    </p:extLst>
  </p:cSld>
  <p:clrMapOvr>
    <a:masterClrMapping/>
  </p:clrMapOvr>
</p:sld>
</file>

<file path=ppt/slides/slide1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extBox 1"/>
          <p:cNvSpPr txBox="1"/>
          <p:nvPr/>
        </p:nvSpPr>
        <p:spPr>
          <a:xfrm>
            <a:off x="1601955" y="1198718"/>
            <a:ext cx="7347717" cy="4093428"/>
          </a:xfrm>
          <a:prstGeom prst="rect">
            <a:avLst/>
          </a:prstGeom>
          <a:solidFill>
            <a:schemeClr val="bg1"/>
          </a:solidFill>
          <a:ln w="38100">
            <a:solidFill>
              <a:srgbClr val="00B050"/>
            </a:solidFill>
          </a:ln>
        </p:spPr>
        <p:txBody>
          <a:bodyPr wrap="none" rtlCol="0">
            <a:spAutoFit/>
          </a:bodyPr>
          <a:lstStyle/>
          <a:p>
            <a:r>
              <a:rPr lang="en-GB" sz="2000" dirty="0"/>
              <a:t>public class </a:t>
            </a:r>
            <a:r>
              <a:rPr lang="en-GB" sz="2000" dirty="0" err="1"/>
              <a:t>HelloThread</a:t>
            </a:r>
            <a:r>
              <a:rPr lang="en-GB" sz="2000" dirty="0"/>
              <a:t> implements Runnable {</a:t>
            </a:r>
          </a:p>
          <a:p>
            <a:r>
              <a:rPr lang="en-GB" sz="2000" dirty="0"/>
              <a:t>        public void run() {</a:t>
            </a:r>
          </a:p>
          <a:p>
            <a:r>
              <a:rPr lang="en-GB" sz="2000" dirty="0"/>
              <a:t>        for (int x = 0; x &lt; </a:t>
            </a:r>
            <a:r>
              <a:rPr lang="en-GB" sz="2000" dirty="0">
                <a:highlight>
                  <a:srgbClr val="C0C0C0"/>
                </a:highlight>
              </a:rPr>
              <a:t>1000</a:t>
            </a:r>
            <a:r>
              <a:rPr lang="en-GB" sz="2000" dirty="0"/>
              <a:t>; x = x + 1) </a:t>
            </a:r>
          </a:p>
          <a:p>
            <a:r>
              <a:rPr lang="en-GB" sz="2000" dirty="0"/>
              <a:t>        </a:t>
            </a:r>
            <a:r>
              <a:rPr lang="en-GB" sz="2000" dirty="0" err="1"/>
              <a:t>System.out.println</a:t>
            </a:r>
            <a:r>
              <a:rPr lang="en-GB" sz="2000" dirty="0"/>
              <a:t>("Hello from the new thread!");</a:t>
            </a:r>
          </a:p>
          <a:p>
            <a:r>
              <a:rPr lang="en-GB" sz="2000" dirty="0"/>
              <a:t>    }</a:t>
            </a:r>
          </a:p>
          <a:p>
            <a:br>
              <a:rPr lang="en-GB" sz="2000" dirty="0"/>
            </a:br>
            <a:r>
              <a:rPr lang="en-GB" sz="2000" dirty="0"/>
              <a:t>    public static void main(String </a:t>
            </a:r>
            <a:r>
              <a:rPr lang="en-GB" sz="2000" dirty="0" err="1"/>
              <a:t>args</a:t>
            </a:r>
            <a:r>
              <a:rPr lang="en-GB" sz="2000" dirty="0"/>
              <a:t>[]) </a:t>
            </a:r>
            <a:r>
              <a:rPr lang="en-US" sz="2000" dirty="0"/>
              <a:t>throws </a:t>
            </a:r>
            <a:r>
              <a:rPr lang="en-US" sz="2000" dirty="0" err="1">
                <a:highlight>
                  <a:srgbClr val="C0C0C0"/>
                </a:highlight>
              </a:rPr>
              <a:t>InterruptedException</a:t>
            </a:r>
            <a:r>
              <a:rPr lang="en-GB" sz="2000" dirty="0"/>
              <a:t> {</a:t>
            </a:r>
          </a:p>
          <a:p>
            <a:r>
              <a:rPr lang="en-GB" sz="2000" dirty="0"/>
              <a:t>         Thread t = new Thread (new </a:t>
            </a:r>
            <a:r>
              <a:rPr lang="en-GB" sz="2000" dirty="0" err="1"/>
              <a:t>HelloThread</a:t>
            </a:r>
            <a:r>
              <a:rPr lang="en-GB" sz="2000" dirty="0"/>
              <a:t>());</a:t>
            </a:r>
          </a:p>
          <a:p>
            <a:r>
              <a:rPr lang="en-GB" sz="2000" dirty="0"/>
              <a:t>          </a:t>
            </a:r>
            <a:r>
              <a:rPr lang="en-GB" sz="2000" dirty="0" err="1"/>
              <a:t>t.start</a:t>
            </a:r>
            <a:r>
              <a:rPr lang="en-GB" sz="2000" dirty="0"/>
              <a:t>(); </a:t>
            </a:r>
          </a:p>
          <a:p>
            <a:r>
              <a:rPr lang="en-GB" sz="2000" dirty="0"/>
              <a:t>          for (int x = 0; x &lt; </a:t>
            </a:r>
            <a:r>
              <a:rPr lang="en-GB" sz="2000" dirty="0">
                <a:highlight>
                  <a:srgbClr val="C0C0C0"/>
                </a:highlight>
              </a:rPr>
              <a:t>1000</a:t>
            </a:r>
            <a:r>
              <a:rPr lang="en-GB" sz="2000" dirty="0"/>
              <a:t>; x = x + 1) </a:t>
            </a:r>
          </a:p>
          <a:p>
            <a:r>
              <a:rPr lang="en-GB" sz="2000" dirty="0"/>
              <a:t>          </a:t>
            </a:r>
            <a:r>
              <a:rPr lang="en-GB" sz="2000" dirty="0" err="1"/>
              <a:t>System.out.println</a:t>
            </a:r>
            <a:r>
              <a:rPr lang="en-GB" sz="2000" dirty="0"/>
              <a:t>("Hello from the main thread!");</a:t>
            </a:r>
          </a:p>
          <a:p>
            <a:r>
              <a:rPr lang="en-GB" sz="2000" dirty="0"/>
              <a:t>          </a:t>
            </a:r>
            <a:r>
              <a:rPr lang="en-GB" sz="2000" dirty="0" err="1">
                <a:highlight>
                  <a:srgbClr val="C0C0C0"/>
                </a:highlight>
              </a:rPr>
              <a:t>t.join</a:t>
            </a:r>
            <a:r>
              <a:rPr lang="en-GB" sz="2000" dirty="0">
                <a:highlight>
                  <a:srgbClr val="C0C0C0"/>
                </a:highlight>
              </a:rPr>
              <a:t>();</a:t>
            </a:r>
          </a:p>
          <a:p>
            <a:r>
              <a:rPr lang="en-GB" sz="2000" dirty="0"/>
              <a:t>    }}</a:t>
            </a:r>
          </a:p>
        </p:txBody>
      </p:sp>
      <p:sp>
        <p:nvSpPr>
          <p:cNvPr id="7" name="TextBox 6">
            <a:extLst>
              <a:ext uri="{FF2B5EF4-FFF2-40B4-BE49-F238E27FC236}">
                <a16:creationId xmlns:a16="http://schemas.microsoft.com/office/drawing/2014/main" id="{8C72B121-16BE-45C5-A0F8-A88C45056D00}"/>
              </a:ext>
            </a:extLst>
          </p:cNvPr>
          <p:cNvSpPr txBox="1"/>
          <p:nvPr/>
        </p:nvSpPr>
        <p:spPr>
          <a:xfrm>
            <a:off x="1001486" y="283029"/>
            <a:ext cx="4139338" cy="461665"/>
          </a:xfrm>
          <a:prstGeom prst="rect">
            <a:avLst/>
          </a:prstGeom>
          <a:noFill/>
        </p:spPr>
        <p:txBody>
          <a:bodyPr wrap="none" rtlCol="0">
            <a:spAutoFit/>
          </a:bodyPr>
          <a:lstStyle/>
          <a:p>
            <a:pPr marL="285750" indent="-285750">
              <a:buFont typeface="Wingdings" panose="05000000000000000000" pitchFamily="2" charset="2"/>
              <a:buChar char="Ø"/>
            </a:pPr>
            <a:r>
              <a:rPr lang="en-US" sz="2400" dirty="0">
                <a:highlight>
                  <a:srgbClr val="00FF00"/>
                </a:highlight>
              </a:rPr>
              <a:t>join() </a:t>
            </a:r>
            <a:r>
              <a:rPr lang="en-US" sz="2400" dirty="0" err="1"/>
              <a:t>si</a:t>
            </a:r>
            <a:r>
              <a:rPr lang="en-US" sz="2400" dirty="0"/>
              <a:t> </a:t>
            </a:r>
            <a:r>
              <a:rPr lang="en-US" sz="2400" dirty="0" err="1">
                <a:highlight>
                  <a:srgbClr val="00FF00"/>
                </a:highlight>
              </a:rPr>
              <a:t>InterruptedException</a:t>
            </a:r>
            <a:endParaRPr lang="en-GB" sz="2400" dirty="0">
              <a:highlight>
                <a:srgbClr val="00FF00"/>
              </a:highlight>
            </a:endParaRPr>
          </a:p>
        </p:txBody>
      </p:sp>
      <p:sp>
        <p:nvSpPr>
          <p:cNvPr id="3" name="TextBox 2">
            <a:extLst>
              <a:ext uri="{FF2B5EF4-FFF2-40B4-BE49-F238E27FC236}">
                <a16:creationId xmlns:a16="http://schemas.microsoft.com/office/drawing/2014/main" id="{54AEEF87-7CF3-4EA2-BAAC-5825A12E342C}"/>
              </a:ext>
            </a:extLst>
          </p:cNvPr>
          <p:cNvSpPr txBox="1"/>
          <p:nvPr/>
        </p:nvSpPr>
        <p:spPr>
          <a:xfrm>
            <a:off x="1796542" y="5492884"/>
            <a:ext cx="9285299" cy="707886"/>
          </a:xfrm>
          <a:prstGeom prst="rect">
            <a:avLst/>
          </a:prstGeom>
          <a:solidFill>
            <a:schemeClr val="bg1">
              <a:lumMod val="95000"/>
            </a:schemeClr>
          </a:solidFill>
        </p:spPr>
        <p:txBody>
          <a:bodyPr wrap="none" rtlCol="0">
            <a:spAutoFit/>
          </a:bodyPr>
          <a:lstStyle/>
          <a:p>
            <a:r>
              <a:rPr lang="en-US" sz="2000" dirty="0"/>
              <a:t>Thread-ul current (in </a:t>
            </a:r>
            <a:r>
              <a:rPr lang="en-US" sz="2000" dirty="0" err="1"/>
              <a:t>exemplu</a:t>
            </a:r>
            <a:r>
              <a:rPr lang="en-US" sz="2000" dirty="0"/>
              <a:t> thread-ul principal) intra in stare de  </a:t>
            </a:r>
            <a:r>
              <a:rPr lang="en-US" sz="2000" dirty="0" err="1"/>
              <a:t>asteptare</a:t>
            </a:r>
            <a:r>
              <a:rPr lang="en-US" sz="2000" dirty="0"/>
              <a:t> </a:t>
            </a:r>
            <a:r>
              <a:rPr lang="en-US" sz="2000" dirty="0" err="1"/>
              <a:t>pana</a:t>
            </a:r>
            <a:r>
              <a:rPr lang="en-US" sz="2000" dirty="0"/>
              <a:t> cand</a:t>
            </a:r>
          </a:p>
          <a:p>
            <a:r>
              <a:rPr lang="en-US" sz="2000" dirty="0"/>
              <a:t>thread-ul t </a:t>
            </a:r>
            <a:r>
              <a:rPr lang="en-US" sz="2000" dirty="0" err="1"/>
              <a:t>isi</a:t>
            </a:r>
            <a:r>
              <a:rPr lang="en-US" sz="2000" dirty="0"/>
              <a:t> </a:t>
            </a:r>
            <a:r>
              <a:rPr lang="en-US" sz="2000" dirty="0" err="1"/>
              <a:t>va</a:t>
            </a:r>
            <a:r>
              <a:rPr lang="en-US" sz="2000" dirty="0"/>
              <a:t> termina </a:t>
            </a:r>
            <a:r>
              <a:rPr lang="en-US" sz="2000" dirty="0" err="1"/>
              <a:t>executia</a:t>
            </a:r>
            <a:r>
              <a:rPr lang="en-US" sz="2000" dirty="0"/>
              <a:t>; </a:t>
            </a:r>
            <a:r>
              <a:rPr lang="en-US" sz="2000" dirty="0" err="1"/>
              <a:t>daca</a:t>
            </a:r>
            <a:r>
              <a:rPr lang="en-US" sz="2000" dirty="0"/>
              <a:t> </a:t>
            </a:r>
            <a:r>
              <a:rPr lang="en-US" sz="2000" dirty="0" err="1"/>
              <a:t>threadul</a:t>
            </a:r>
            <a:r>
              <a:rPr lang="en-US" sz="2000" dirty="0"/>
              <a:t> t </a:t>
            </a:r>
            <a:r>
              <a:rPr lang="en-US" sz="2000" dirty="0" err="1"/>
              <a:t>este</a:t>
            </a:r>
            <a:r>
              <a:rPr lang="en-US" sz="2000" dirty="0"/>
              <a:t> </a:t>
            </a:r>
            <a:r>
              <a:rPr lang="en-US" sz="2000" dirty="0" err="1"/>
              <a:t>intrerupt</a:t>
            </a:r>
            <a:r>
              <a:rPr lang="en-US" sz="2000" dirty="0"/>
              <a:t> </a:t>
            </a:r>
            <a:r>
              <a:rPr lang="en-US" sz="2000" dirty="0" err="1"/>
              <a:t>va</a:t>
            </a:r>
            <a:r>
              <a:rPr lang="en-US" sz="2000" dirty="0"/>
              <a:t> </a:t>
            </a:r>
            <a:r>
              <a:rPr lang="en-US" sz="2000" dirty="0" err="1"/>
              <a:t>arunca</a:t>
            </a:r>
            <a:r>
              <a:rPr lang="en-US" sz="2000" dirty="0"/>
              <a:t> o </a:t>
            </a:r>
            <a:r>
              <a:rPr lang="en-US" sz="2000" dirty="0" err="1"/>
              <a:t>exceptie</a:t>
            </a:r>
            <a:r>
              <a:rPr lang="en-US" dirty="0"/>
              <a:t>.</a:t>
            </a:r>
            <a:endParaRPr lang="en-GB" dirty="0"/>
          </a:p>
        </p:txBody>
      </p:sp>
      <p:cxnSp>
        <p:nvCxnSpPr>
          <p:cNvPr id="5" name="Straight Arrow Connector 4">
            <a:extLst>
              <a:ext uri="{FF2B5EF4-FFF2-40B4-BE49-F238E27FC236}">
                <a16:creationId xmlns:a16="http://schemas.microsoft.com/office/drawing/2014/main" id="{A6447DE3-8C61-4F3B-B3F9-87CA246C734D}"/>
              </a:ext>
            </a:extLst>
          </p:cNvPr>
          <p:cNvCxnSpPr/>
          <p:nvPr/>
        </p:nvCxnSpPr>
        <p:spPr>
          <a:xfrm>
            <a:off x="2569029" y="4974771"/>
            <a:ext cx="381000" cy="518113"/>
          </a:xfrm>
          <a:prstGeom prst="straightConnector1">
            <a:avLst/>
          </a:prstGeom>
          <a:ln>
            <a:solidFill>
              <a:schemeClr val="tx1"/>
            </a:solidFill>
            <a:tailEnd type="triangle"/>
          </a:ln>
        </p:spPr>
        <p:style>
          <a:lnRef idx="1">
            <a:schemeClr val="accent1"/>
          </a:lnRef>
          <a:fillRef idx="0">
            <a:schemeClr val="accent1"/>
          </a:fillRef>
          <a:effectRef idx="0">
            <a:schemeClr val="accent1"/>
          </a:effectRef>
          <a:fontRef idx="minor">
            <a:schemeClr val="tx1"/>
          </a:fontRef>
        </p:style>
      </p:cxnSp>
    </p:spTree>
    <p:extLst>
      <p:ext uri="{BB962C8B-B14F-4D97-AF65-F5344CB8AC3E}">
        <p14:creationId xmlns:p14="http://schemas.microsoft.com/office/powerpoint/2010/main" val="2925657372"/>
      </p:ext>
    </p:extLst>
  </p:cSld>
  <p:clrMapOvr>
    <a:masterClrMapping/>
  </p:clrMapOvr>
</p:sld>
</file>

<file path=ppt/slides/slide1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 name="TextBox 4">
            <a:extLst>
              <a:ext uri="{FF2B5EF4-FFF2-40B4-BE49-F238E27FC236}">
                <a16:creationId xmlns:a16="http://schemas.microsoft.com/office/drawing/2014/main" id="{5A43F779-8127-4977-BF59-F9DADBF2DEC0}"/>
              </a:ext>
            </a:extLst>
          </p:cNvPr>
          <p:cNvSpPr txBox="1"/>
          <p:nvPr/>
        </p:nvSpPr>
        <p:spPr>
          <a:xfrm>
            <a:off x="2608603" y="1243786"/>
            <a:ext cx="5960093" cy="4370427"/>
          </a:xfrm>
          <a:prstGeom prst="rect">
            <a:avLst/>
          </a:prstGeom>
          <a:noFill/>
          <a:ln w="38100">
            <a:solidFill>
              <a:srgbClr val="00B050"/>
            </a:solidFill>
          </a:ln>
        </p:spPr>
        <p:txBody>
          <a:bodyPr wrap="none" rtlCol="0">
            <a:spAutoFit/>
          </a:bodyPr>
          <a:lstStyle/>
          <a:p>
            <a:r>
              <a:rPr lang="en-GB" sz="2000" dirty="0"/>
              <a:t>    public static void main(String </a:t>
            </a:r>
            <a:r>
              <a:rPr lang="en-GB" sz="2000" dirty="0" err="1"/>
              <a:t>args</a:t>
            </a:r>
            <a:r>
              <a:rPr lang="en-GB" sz="2000" dirty="0"/>
              <a:t>[]) {</a:t>
            </a:r>
          </a:p>
          <a:p>
            <a:r>
              <a:rPr lang="en-GB" sz="2000" dirty="0"/>
              <a:t>         Scanner </a:t>
            </a:r>
            <a:r>
              <a:rPr lang="en-GB" sz="2000" dirty="0" err="1"/>
              <a:t>myInput</a:t>
            </a:r>
            <a:r>
              <a:rPr lang="en-GB" sz="2000" dirty="0"/>
              <a:t> = new Scanner( System.in );</a:t>
            </a:r>
          </a:p>
          <a:p>
            <a:r>
              <a:rPr lang="en-GB" sz="2000" dirty="0"/>
              <a:t>        </a:t>
            </a:r>
            <a:r>
              <a:rPr lang="en-GB" sz="2000" dirty="0">
                <a:highlight>
                  <a:srgbClr val="C0C0C0"/>
                </a:highlight>
              </a:rPr>
              <a:t> int n;</a:t>
            </a:r>
          </a:p>
          <a:p>
            <a:endParaRPr lang="en-GB" sz="2000" dirty="0">
              <a:highlight>
                <a:srgbClr val="C0C0C0"/>
              </a:highlight>
            </a:endParaRPr>
          </a:p>
          <a:p>
            <a:pPr lvl="1"/>
            <a:r>
              <a:rPr lang="en-GB" sz="2000" dirty="0">
                <a:highlight>
                  <a:srgbClr val="C0C0C0"/>
                </a:highlight>
              </a:rPr>
              <a:t> </a:t>
            </a:r>
            <a:r>
              <a:rPr lang="en-GB" sz="2000" dirty="0" err="1">
                <a:highlight>
                  <a:srgbClr val="C0C0C0"/>
                </a:highlight>
              </a:rPr>
              <a:t>System.out.print</a:t>
            </a:r>
            <a:r>
              <a:rPr lang="en-GB" sz="2000" dirty="0">
                <a:highlight>
                  <a:srgbClr val="C0C0C0"/>
                </a:highlight>
              </a:rPr>
              <a:t>( "Enter n " );</a:t>
            </a:r>
          </a:p>
          <a:p>
            <a:pPr lvl="1"/>
            <a:r>
              <a:rPr lang="en-GB" sz="2000" dirty="0">
                <a:highlight>
                  <a:srgbClr val="C0C0C0"/>
                </a:highlight>
              </a:rPr>
              <a:t> n=</a:t>
            </a:r>
            <a:r>
              <a:rPr lang="en-GB" sz="2000" dirty="0" err="1">
                <a:highlight>
                  <a:srgbClr val="C0C0C0"/>
                </a:highlight>
              </a:rPr>
              <a:t>myInput.nextInt</a:t>
            </a:r>
            <a:r>
              <a:rPr lang="en-GB" sz="2000" dirty="0">
                <a:highlight>
                  <a:srgbClr val="C0C0C0"/>
                </a:highlight>
              </a:rPr>
              <a:t>();</a:t>
            </a:r>
          </a:p>
          <a:p>
            <a:endParaRPr lang="en-GB" sz="2000" dirty="0"/>
          </a:p>
          <a:p>
            <a:r>
              <a:rPr lang="en-GB" sz="2000" dirty="0"/>
              <a:t>         Thread t = new Thread (new </a:t>
            </a:r>
            <a:r>
              <a:rPr lang="en-GB" sz="2000" dirty="0" err="1">
                <a:highlight>
                  <a:srgbClr val="C0C0C0"/>
                </a:highlight>
              </a:rPr>
              <a:t>HelloThread</a:t>
            </a:r>
            <a:r>
              <a:rPr lang="en-GB" sz="2000" dirty="0">
                <a:highlight>
                  <a:srgbClr val="C0C0C0"/>
                </a:highlight>
              </a:rPr>
              <a:t>(n));</a:t>
            </a:r>
          </a:p>
          <a:p>
            <a:r>
              <a:rPr lang="en-GB" sz="2000" dirty="0"/>
              <a:t>          </a:t>
            </a:r>
            <a:r>
              <a:rPr lang="en-GB" sz="2000" dirty="0" err="1"/>
              <a:t>t.start</a:t>
            </a:r>
            <a:r>
              <a:rPr lang="en-GB" sz="2000" dirty="0"/>
              <a:t>(); </a:t>
            </a:r>
          </a:p>
          <a:p>
            <a:endParaRPr lang="en-GB" sz="2000" dirty="0"/>
          </a:p>
          <a:p>
            <a:r>
              <a:rPr lang="en-GB" sz="2000" dirty="0"/>
              <a:t>          for (int x = 0; x &lt; </a:t>
            </a:r>
            <a:r>
              <a:rPr lang="en-GB" sz="2000" dirty="0">
                <a:highlight>
                  <a:srgbClr val="C0C0C0"/>
                </a:highlight>
              </a:rPr>
              <a:t>n</a:t>
            </a:r>
            <a:r>
              <a:rPr lang="en-GB" sz="2000" dirty="0"/>
              <a:t>; x = x + 1) </a:t>
            </a:r>
          </a:p>
          <a:p>
            <a:r>
              <a:rPr lang="en-GB" sz="2000" dirty="0"/>
              <a:t>          </a:t>
            </a:r>
            <a:r>
              <a:rPr lang="en-GB" sz="2000" dirty="0" err="1"/>
              <a:t>System.out.println</a:t>
            </a:r>
            <a:r>
              <a:rPr lang="en-GB" sz="2000" dirty="0"/>
              <a:t>("Hello from the main thread");</a:t>
            </a:r>
          </a:p>
          <a:p>
            <a:r>
              <a:rPr lang="en-GB" sz="2000" dirty="0"/>
              <a:t>    }}</a:t>
            </a:r>
          </a:p>
          <a:p>
            <a:endParaRPr lang="en-GB" dirty="0"/>
          </a:p>
        </p:txBody>
      </p:sp>
      <p:sp>
        <p:nvSpPr>
          <p:cNvPr id="7" name="TextBox 6">
            <a:extLst>
              <a:ext uri="{FF2B5EF4-FFF2-40B4-BE49-F238E27FC236}">
                <a16:creationId xmlns:a16="http://schemas.microsoft.com/office/drawing/2014/main" id="{D75A226C-1863-44DB-886A-89B7106E3914}"/>
              </a:ext>
            </a:extLst>
          </p:cNvPr>
          <p:cNvSpPr txBox="1"/>
          <p:nvPr/>
        </p:nvSpPr>
        <p:spPr>
          <a:xfrm>
            <a:off x="1273629" y="511629"/>
            <a:ext cx="6124049" cy="461665"/>
          </a:xfrm>
          <a:prstGeom prst="rect">
            <a:avLst/>
          </a:prstGeom>
          <a:noFill/>
        </p:spPr>
        <p:txBody>
          <a:bodyPr wrap="none" rtlCol="0">
            <a:spAutoFit/>
          </a:bodyPr>
          <a:lstStyle/>
          <a:p>
            <a:pPr marL="285750" indent="-285750">
              <a:buFont typeface="Wingdings" panose="05000000000000000000" pitchFamily="2" charset="2"/>
              <a:buChar char="Ø"/>
            </a:pPr>
            <a:r>
              <a:rPr lang="en-US" sz="2400" dirty="0" err="1"/>
              <a:t>Transmiterea</a:t>
            </a:r>
            <a:r>
              <a:rPr lang="en-US" sz="2400" dirty="0"/>
              <a:t> </a:t>
            </a:r>
            <a:r>
              <a:rPr lang="en-US" sz="2400" dirty="0" err="1"/>
              <a:t>unui</a:t>
            </a:r>
            <a:r>
              <a:rPr lang="en-US" sz="2400" dirty="0"/>
              <a:t> </a:t>
            </a:r>
            <a:r>
              <a:rPr lang="en-US" sz="2400" dirty="0" err="1"/>
              <a:t>parametru</a:t>
            </a:r>
            <a:r>
              <a:rPr lang="en-US" sz="2400" dirty="0"/>
              <a:t> c</a:t>
            </a:r>
            <a:r>
              <a:rPr lang="ro-RO" sz="2400" dirty="0"/>
              <a:t>ă</a:t>
            </a:r>
            <a:r>
              <a:rPr lang="en-US" sz="2400" dirty="0" err="1"/>
              <a:t>tre</a:t>
            </a:r>
            <a:r>
              <a:rPr lang="en-US" sz="2400" dirty="0"/>
              <a:t> un thread</a:t>
            </a:r>
            <a:endParaRPr lang="en-GB" sz="2400" dirty="0"/>
          </a:p>
        </p:txBody>
      </p:sp>
    </p:spTree>
    <p:extLst>
      <p:ext uri="{BB962C8B-B14F-4D97-AF65-F5344CB8AC3E}">
        <p14:creationId xmlns:p14="http://schemas.microsoft.com/office/powerpoint/2010/main" val="3934934213"/>
      </p:ext>
    </p:extLst>
  </p:cSld>
  <p:clrMapOvr>
    <a:masterClrMapping/>
  </p:clrMapOvr>
</p:sld>
</file>

<file path=ppt/slides/slide1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extBox 1"/>
          <p:cNvSpPr txBox="1"/>
          <p:nvPr/>
        </p:nvSpPr>
        <p:spPr>
          <a:xfrm>
            <a:off x="1304495" y="790699"/>
            <a:ext cx="8030916" cy="5386090"/>
          </a:xfrm>
          <a:prstGeom prst="rect">
            <a:avLst/>
          </a:prstGeom>
          <a:noFill/>
          <a:ln w="38100">
            <a:solidFill>
              <a:srgbClr val="00B050"/>
            </a:solidFill>
          </a:ln>
        </p:spPr>
        <p:txBody>
          <a:bodyPr wrap="none" rtlCol="0">
            <a:spAutoFit/>
          </a:bodyPr>
          <a:lstStyle/>
          <a:p>
            <a:r>
              <a:rPr lang="en-GB" sz="2000" dirty="0"/>
              <a:t>import </a:t>
            </a:r>
            <a:r>
              <a:rPr lang="en-GB" sz="2000" dirty="0" err="1"/>
              <a:t>java.util.Scanner</a:t>
            </a:r>
            <a:r>
              <a:rPr lang="en-GB" sz="2000" dirty="0"/>
              <a:t>;</a:t>
            </a:r>
          </a:p>
          <a:p>
            <a:r>
              <a:rPr lang="en-GB" sz="2000" dirty="0"/>
              <a:t>public class </a:t>
            </a:r>
            <a:r>
              <a:rPr lang="en-GB" sz="2000" dirty="0" err="1"/>
              <a:t>HelloThread</a:t>
            </a:r>
            <a:r>
              <a:rPr lang="en-GB" sz="2000" dirty="0"/>
              <a:t> implements Runnable {</a:t>
            </a:r>
          </a:p>
          <a:p>
            <a:pPr lvl="1"/>
            <a:r>
              <a:rPr lang="en-GB" sz="2000" dirty="0">
                <a:highlight>
                  <a:srgbClr val="C0C0C0"/>
                </a:highlight>
              </a:rPr>
              <a:t>private int n;</a:t>
            </a:r>
          </a:p>
          <a:p>
            <a:pPr lvl="1"/>
            <a:r>
              <a:rPr lang="en-GB" sz="2000" dirty="0">
                <a:highlight>
                  <a:srgbClr val="C0C0C0"/>
                </a:highlight>
              </a:rPr>
              <a:t>public </a:t>
            </a:r>
            <a:r>
              <a:rPr lang="en-GB" sz="2000" dirty="0" err="1">
                <a:highlight>
                  <a:srgbClr val="C0C0C0"/>
                </a:highlight>
              </a:rPr>
              <a:t>HelloThread</a:t>
            </a:r>
            <a:r>
              <a:rPr lang="en-GB" sz="2000" dirty="0">
                <a:highlight>
                  <a:srgbClr val="C0C0C0"/>
                </a:highlight>
              </a:rPr>
              <a:t>(int n){</a:t>
            </a:r>
            <a:r>
              <a:rPr lang="en-GB" sz="2000" dirty="0" err="1">
                <a:highlight>
                  <a:srgbClr val="C0C0C0"/>
                </a:highlight>
              </a:rPr>
              <a:t>this.n</a:t>
            </a:r>
            <a:r>
              <a:rPr lang="en-GB" sz="2000" dirty="0">
                <a:highlight>
                  <a:srgbClr val="C0C0C0"/>
                </a:highlight>
              </a:rPr>
              <a:t>=n;}</a:t>
            </a:r>
          </a:p>
          <a:p>
            <a:r>
              <a:rPr lang="en-GB" sz="2000" dirty="0"/>
              <a:t>    public void run() {</a:t>
            </a:r>
          </a:p>
          <a:p>
            <a:r>
              <a:rPr lang="en-GB" sz="2000" dirty="0"/>
              <a:t>        for (int x = 0; x &lt; n; x = x + 1) </a:t>
            </a:r>
          </a:p>
          <a:p>
            <a:r>
              <a:rPr lang="en-GB" sz="2000" dirty="0"/>
              <a:t>        </a:t>
            </a:r>
            <a:r>
              <a:rPr lang="en-GB" sz="2000" dirty="0" err="1"/>
              <a:t>System.out.println</a:t>
            </a:r>
            <a:r>
              <a:rPr lang="en-GB" sz="2000" dirty="0"/>
              <a:t>("Hello from " + </a:t>
            </a:r>
            <a:r>
              <a:rPr lang="en-GB" sz="2000" dirty="0" err="1"/>
              <a:t>Thread.currentThread</a:t>
            </a:r>
            <a:r>
              <a:rPr lang="en-GB" sz="2000" dirty="0"/>
              <a:t>().</a:t>
            </a:r>
            <a:r>
              <a:rPr lang="en-GB" sz="2000" dirty="0" err="1"/>
              <a:t>getId</a:t>
            </a:r>
            <a:r>
              <a:rPr lang="en-GB" sz="2000" dirty="0"/>
              <a:t>()+"!");</a:t>
            </a:r>
          </a:p>
          <a:p>
            <a:r>
              <a:rPr lang="en-GB" sz="2000" dirty="0"/>
              <a:t>    }</a:t>
            </a:r>
          </a:p>
          <a:p>
            <a:endParaRPr lang="en-GB" sz="2000" dirty="0"/>
          </a:p>
          <a:p>
            <a:r>
              <a:rPr lang="en-GB" dirty="0"/>
              <a:t>    public static void main(String </a:t>
            </a:r>
            <a:r>
              <a:rPr lang="en-GB" dirty="0" err="1"/>
              <a:t>args</a:t>
            </a:r>
            <a:r>
              <a:rPr lang="en-GB" dirty="0"/>
              <a:t>[]) {</a:t>
            </a:r>
          </a:p>
          <a:p>
            <a:r>
              <a:rPr lang="en-GB" dirty="0"/>
              <a:t>         Scanner </a:t>
            </a:r>
            <a:r>
              <a:rPr lang="en-GB" dirty="0" err="1"/>
              <a:t>myInput</a:t>
            </a:r>
            <a:r>
              <a:rPr lang="en-GB" dirty="0"/>
              <a:t> = new Scanner( System.in );</a:t>
            </a:r>
          </a:p>
          <a:p>
            <a:r>
              <a:rPr lang="en-GB" dirty="0"/>
              <a:t>         int n;</a:t>
            </a:r>
          </a:p>
          <a:p>
            <a:r>
              <a:rPr lang="en-GB" dirty="0"/>
              <a:t>         </a:t>
            </a:r>
            <a:r>
              <a:rPr lang="en-GB" dirty="0" err="1"/>
              <a:t>System.out.print</a:t>
            </a:r>
            <a:r>
              <a:rPr lang="en-GB" dirty="0"/>
              <a:t>( "Enter n " );</a:t>
            </a:r>
          </a:p>
          <a:p>
            <a:r>
              <a:rPr lang="en-GB" dirty="0"/>
              <a:t>         n=</a:t>
            </a:r>
            <a:r>
              <a:rPr lang="en-GB" dirty="0" err="1"/>
              <a:t>myInput.nextInt</a:t>
            </a:r>
            <a:r>
              <a:rPr lang="en-GB" dirty="0"/>
              <a:t>();</a:t>
            </a:r>
          </a:p>
          <a:p>
            <a:r>
              <a:rPr lang="en-GB" dirty="0"/>
              <a:t>         Thread t = new Thread (new </a:t>
            </a:r>
            <a:r>
              <a:rPr lang="en-GB" dirty="0" err="1">
                <a:highlight>
                  <a:srgbClr val="C0C0C0"/>
                </a:highlight>
              </a:rPr>
              <a:t>HelloThread</a:t>
            </a:r>
            <a:r>
              <a:rPr lang="en-GB" dirty="0">
                <a:highlight>
                  <a:srgbClr val="C0C0C0"/>
                </a:highlight>
              </a:rPr>
              <a:t>(n)</a:t>
            </a:r>
            <a:r>
              <a:rPr lang="en-GB" dirty="0"/>
              <a:t>);</a:t>
            </a:r>
          </a:p>
          <a:p>
            <a:r>
              <a:rPr lang="en-GB" dirty="0"/>
              <a:t>          </a:t>
            </a:r>
            <a:r>
              <a:rPr lang="en-GB" dirty="0" err="1"/>
              <a:t>t.start</a:t>
            </a:r>
            <a:r>
              <a:rPr lang="en-GB" dirty="0"/>
              <a:t>(); </a:t>
            </a:r>
          </a:p>
          <a:p>
            <a:r>
              <a:rPr lang="en-GB" dirty="0"/>
              <a:t>           for (int x = 0; x &lt; n; x = x + 1) </a:t>
            </a:r>
          </a:p>
          <a:p>
            <a:r>
              <a:rPr lang="en-GB" dirty="0"/>
              <a:t>          </a:t>
            </a:r>
            <a:r>
              <a:rPr lang="en-GB" dirty="0" err="1"/>
              <a:t>System.out.println</a:t>
            </a:r>
            <a:r>
              <a:rPr lang="en-GB" dirty="0"/>
              <a:t>("Hello from the main thread!");  </a:t>
            </a:r>
            <a:r>
              <a:rPr lang="en-GB" sz="2000" dirty="0"/>
              <a:t>}}</a:t>
            </a:r>
          </a:p>
        </p:txBody>
      </p:sp>
      <p:sp>
        <p:nvSpPr>
          <p:cNvPr id="6" name="TextBox 5">
            <a:extLst>
              <a:ext uri="{FF2B5EF4-FFF2-40B4-BE49-F238E27FC236}">
                <a16:creationId xmlns:a16="http://schemas.microsoft.com/office/drawing/2014/main" id="{3721DDFA-EBE9-43DB-8E92-AB7B49089E19}"/>
              </a:ext>
            </a:extLst>
          </p:cNvPr>
          <p:cNvSpPr txBox="1"/>
          <p:nvPr/>
        </p:nvSpPr>
        <p:spPr>
          <a:xfrm>
            <a:off x="487211" y="219546"/>
            <a:ext cx="6096000" cy="461665"/>
          </a:xfrm>
          <a:prstGeom prst="rect">
            <a:avLst/>
          </a:prstGeom>
          <a:noFill/>
        </p:spPr>
        <p:txBody>
          <a:bodyPr wrap="square">
            <a:spAutoFit/>
          </a:bodyPr>
          <a:lstStyle/>
          <a:p>
            <a:pPr marL="285750" indent="-285750">
              <a:buFont typeface="Wingdings" panose="05000000000000000000" pitchFamily="2" charset="2"/>
              <a:buChar char="Ø"/>
            </a:pPr>
            <a:r>
              <a:rPr lang="en-US" sz="2400" dirty="0" err="1"/>
              <a:t>Transmiterea</a:t>
            </a:r>
            <a:r>
              <a:rPr lang="en-US" sz="2400" dirty="0"/>
              <a:t> </a:t>
            </a:r>
            <a:r>
              <a:rPr lang="en-US" sz="2400" dirty="0" err="1"/>
              <a:t>unui</a:t>
            </a:r>
            <a:r>
              <a:rPr lang="en-US" sz="2400" dirty="0"/>
              <a:t> </a:t>
            </a:r>
            <a:r>
              <a:rPr lang="en-US" sz="2400" dirty="0" err="1"/>
              <a:t>parametru</a:t>
            </a:r>
            <a:r>
              <a:rPr lang="en-US" sz="2400" dirty="0"/>
              <a:t> </a:t>
            </a:r>
            <a:r>
              <a:rPr lang="en-US" sz="2400" dirty="0" err="1"/>
              <a:t>catre</a:t>
            </a:r>
            <a:r>
              <a:rPr lang="en-US" sz="2400" dirty="0"/>
              <a:t> un thread</a:t>
            </a:r>
            <a:endParaRPr lang="en-GB" sz="2400" dirty="0"/>
          </a:p>
        </p:txBody>
      </p:sp>
      <p:sp>
        <p:nvSpPr>
          <p:cNvPr id="7" name="TextBox 6">
            <a:extLst>
              <a:ext uri="{FF2B5EF4-FFF2-40B4-BE49-F238E27FC236}">
                <a16:creationId xmlns:a16="http://schemas.microsoft.com/office/drawing/2014/main" id="{2C414844-3B07-4512-822A-E58E165F7B87}"/>
              </a:ext>
            </a:extLst>
          </p:cNvPr>
          <p:cNvSpPr txBox="1"/>
          <p:nvPr/>
        </p:nvSpPr>
        <p:spPr>
          <a:xfrm>
            <a:off x="7331593" y="1767550"/>
            <a:ext cx="4007636" cy="369332"/>
          </a:xfrm>
          <a:prstGeom prst="rect">
            <a:avLst/>
          </a:prstGeom>
          <a:solidFill>
            <a:schemeClr val="bg1">
              <a:lumMod val="95000"/>
            </a:schemeClr>
          </a:solidFill>
        </p:spPr>
        <p:txBody>
          <a:bodyPr wrap="none" rtlCol="0">
            <a:spAutoFit/>
          </a:bodyPr>
          <a:lstStyle/>
          <a:p>
            <a:r>
              <a:rPr lang="en-US" dirty="0" err="1"/>
              <a:t>parametrul</a:t>
            </a:r>
            <a:r>
              <a:rPr lang="en-US" dirty="0"/>
              <a:t> </a:t>
            </a:r>
            <a:r>
              <a:rPr lang="en-US" dirty="0" err="1"/>
              <a:t>este</a:t>
            </a:r>
            <a:r>
              <a:rPr lang="en-US" dirty="0"/>
              <a:t> </a:t>
            </a:r>
            <a:r>
              <a:rPr lang="en-US" dirty="0" err="1"/>
              <a:t>transmis</a:t>
            </a:r>
            <a:r>
              <a:rPr lang="en-US" dirty="0"/>
              <a:t> </a:t>
            </a:r>
            <a:r>
              <a:rPr lang="en-US" dirty="0" err="1"/>
              <a:t>constructorului</a:t>
            </a:r>
            <a:endParaRPr lang="en-GB" dirty="0"/>
          </a:p>
        </p:txBody>
      </p:sp>
    </p:spTree>
    <p:extLst>
      <p:ext uri="{BB962C8B-B14F-4D97-AF65-F5344CB8AC3E}">
        <p14:creationId xmlns:p14="http://schemas.microsoft.com/office/powerpoint/2010/main" val="696107319"/>
      </p:ext>
    </p:extLst>
  </p:cSld>
  <p:clrMapOvr>
    <a:masterClrMapping/>
  </p:clrMapOvr>
</p:sld>
</file>

<file path=ppt/slides/slide2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Rectangle 3"/>
          <p:cNvSpPr/>
          <p:nvPr/>
        </p:nvSpPr>
        <p:spPr>
          <a:xfrm>
            <a:off x="929764" y="1508856"/>
            <a:ext cx="10149017" cy="4401205"/>
          </a:xfrm>
          <a:prstGeom prst="rect">
            <a:avLst/>
          </a:prstGeom>
          <a:ln w="38100">
            <a:solidFill>
              <a:srgbClr val="00B050"/>
            </a:solidFill>
          </a:ln>
        </p:spPr>
        <p:txBody>
          <a:bodyPr wrap="square">
            <a:spAutoFit/>
          </a:bodyPr>
          <a:lstStyle/>
          <a:p>
            <a:r>
              <a:rPr lang="en-US" sz="2000" dirty="0"/>
              <a:t>public class </a:t>
            </a:r>
            <a:r>
              <a:rPr lang="en-US" sz="2000" dirty="0" err="1"/>
              <a:t>SleepMessages</a:t>
            </a:r>
            <a:r>
              <a:rPr lang="en-US" sz="2000" dirty="0"/>
              <a:t> {</a:t>
            </a:r>
          </a:p>
          <a:p>
            <a:endParaRPr lang="en-US" sz="2000" dirty="0"/>
          </a:p>
          <a:p>
            <a:r>
              <a:rPr lang="en-US" sz="2000" dirty="0"/>
              <a:t>    public static void main(String </a:t>
            </a:r>
            <a:r>
              <a:rPr lang="en-US" sz="2000" dirty="0" err="1"/>
              <a:t>args</a:t>
            </a:r>
            <a:r>
              <a:rPr lang="en-US" sz="2000" dirty="0"/>
              <a:t>[]) throws </a:t>
            </a:r>
            <a:r>
              <a:rPr lang="en-US" sz="2000" dirty="0" err="1">
                <a:highlight>
                  <a:srgbClr val="C0C0C0"/>
                </a:highlight>
              </a:rPr>
              <a:t>InterruptedException</a:t>
            </a:r>
            <a:r>
              <a:rPr lang="en-US" sz="2000" dirty="0"/>
              <a:t> {</a:t>
            </a:r>
          </a:p>
          <a:p>
            <a:endParaRPr lang="en-US" sz="2000" dirty="0"/>
          </a:p>
          <a:p>
            <a:r>
              <a:rPr lang="en-US" sz="2000" dirty="0"/>
              <a:t>        String </a:t>
            </a:r>
            <a:r>
              <a:rPr lang="en-US" sz="2000" dirty="0" err="1"/>
              <a:t>importantInfo</a:t>
            </a:r>
            <a:r>
              <a:rPr lang="en-US" sz="2000" dirty="0"/>
              <a:t>[] = { “This", “is “, “important"};</a:t>
            </a:r>
          </a:p>
          <a:p>
            <a:endParaRPr lang="en-US" sz="2000" dirty="0"/>
          </a:p>
          <a:p>
            <a:r>
              <a:rPr lang="en-US" sz="2000" dirty="0"/>
              <a:t>        for (int </a:t>
            </a:r>
            <a:r>
              <a:rPr lang="en-US" sz="2000" dirty="0" err="1"/>
              <a:t>i</a:t>
            </a:r>
            <a:r>
              <a:rPr lang="en-US" sz="2000" dirty="0"/>
              <a:t> = 0;  </a:t>
            </a:r>
            <a:r>
              <a:rPr lang="en-US" sz="2000" dirty="0" err="1"/>
              <a:t>i</a:t>
            </a:r>
            <a:r>
              <a:rPr lang="en-US" sz="2000" dirty="0"/>
              <a:t> &lt; </a:t>
            </a:r>
            <a:r>
              <a:rPr lang="en-US" sz="2000" dirty="0" err="1"/>
              <a:t>importantInfo.length</a:t>
            </a:r>
            <a:r>
              <a:rPr lang="en-US" sz="2000" dirty="0"/>
              <a:t>; </a:t>
            </a:r>
            <a:r>
              <a:rPr lang="en-US" sz="2000" dirty="0" err="1"/>
              <a:t>i</a:t>
            </a:r>
            <a:r>
              <a:rPr lang="en-US" sz="2000" dirty="0"/>
              <a:t>++) {</a:t>
            </a:r>
          </a:p>
          <a:p>
            <a:endParaRPr lang="en-US" sz="2000" dirty="0"/>
          </a:p>
          <a:p>
            <a:r>
              <a:rPr lang="en-US" sz="2000" dirty="0"/>
              <a:t>                       //</a:t>
            </a:r>
            <a:r>
              <a:rPr lang="en-US" sz="2000" dirty="0" err="1"/>
              <a:t>pauza</a:t>
            </a:r>
            <a:r>
              <a:rPr lang="en-US" sz="2000" dirty="0"/>
              <a:t>  4 </a:t>
            </a:r>
            <a:r>
              <a:rPr lang="en-US" sz="2000" dirty="0" err="1"/>
              <a:t>secunde</a:t>
            </a:r>
            <a:endParaRPr lang="en-US" sz="2000" dirty="0"/>
          </a:p>
          <a:p>
            <a:r>
              <a:rPr lang="en-US" sz="2000" dirty="0"/>
              <a:t>                      </a:t>
            </a:r>
            <a:r>
              <a:rPr lang="en-US" sz="2000" dirty="0" err="1">
                <a:highlight>
                  <a:srgbClr val="C0C0C0"/>
                </a:highlight>
              </a:rPr>
              <a:t>Thread.sleep</a:t>
            </a:r>
            <a:r>
              <a:rPr lang="en-US" sz="2000" dirty="0">
                <a:highlight>
                  <a:srgbClr val="C0C0C0"/>
                </a:highlight>
              </a:rPr>
              <a:t>(4000);</a:t>
            </a:r>
          </a:p>
          <a:p>
            <a:endParaRPr lang="en-US" sz="2000" dirty="0"/>
          </a:p>
          <a:p>
            <a:r>
              <a:rPr lang="en-US" sz="2000" dirty="0"/>
              <a:t>                      </a:t>
            </a:r>
            <a:r>
              <a:rPr lang="en-US" sz="2000" dirty="0" err="1"/>
              <a:t>System.out.println</a:t>
            </a:r>
            <a:r>
              <a:rPr lang="en-US" sz="2000" dirty="0"/>
              <a:t>(</a:t>
            </a:r>
            <a:r>
              <a:rPr lang="en-US" sz="2000" dirty="0" err="1"/>
              <a:t>importantInfo</a:t>
            </a:r>
            <a:r>
              <a:rPr lang="en-US" sz="2000" dirty="0"/>
              <a:t>[</a:t>
            </a:r>
            <a:r>
              <a:rPr lang="en-US" sz="2000" dirty="0" err="1"/>
              <a:t>i</a:t>
            </a:r>
            <a:r>
              <a:rPr lang="en-US" sz="2000" dirty="0"/>
              <a:t>]);</a:t>
            </a:r>
          </a:p>
          <a:p>
            <a:r>
              <a:rPr lang="en-US" sz="2000" dirty="0"/>
              <a:t>                   }</a:t>
            </a:r>
          </a:p>
          <a:p>
            <a:r>
              <a:rPr lang="en-US" sz="2000" dirty="0"/>
              <a:t>  }}</a:t>
            </a:r>
          </a:p>
        </p:txBody>
      </p:sp>
      <p:sp>
        <p:nvSpPr>
          <p:cNvPr id="6" name="TextBox 5"/>
          <p:cNvSpPr txBox="1"/>
          <p:nvPr/>
        </p:nvSpPr>
        <p:spPr>
          <a:xfrm>
            <a:off x="1205193" y="781609"/>
            <a:ext cx="5569730" cy="307777"/>
          </a:xfrm>
          <a:prstGeom prst="rect">
            <a:avLst/>
          </a:prstGeom>
          <a:noFill/>
        </p:spPr>
        <p:txBody>
          <a:bodyPr wrap="none" rtlCol="0">
            <a:spAutoFit/>
          </a:bodyPr>
          <a:lstStyle/>
          <a:p>
            <a:r>
              <a:rPr lang="en-US" sz="1400" dirty="0">
                <a:solidFill>
                  <a:srgbClr val="FF0000"/>
                </a:solidFill>
                <a:hlinkClick r:id="rId2"/>
              </a:rPr>
              <a:t>https://docs.oracle.com/javase/tutorial/essential/concurrency/sleep.html</a:t>
            </a:r>
            <a:endParaRPr lang="en-US" sz="1400" dirty="0">
              <a:solidFill>
                <a:srgbClr val="FF0000"/>
              </a:solidFill>
            </a:endParaRPr>
          </a:p>
        </p:txBody>
      </p:sp>
      <p:sp>
        <p:nvSpPr>
          <p:cNvPr id="3" name="TextBox 2">
            <a:extLst>
              <a:ext uri="{FF2B5EF4-FFF2-40B4-BE49-F238E27FC236}">
                <a16:creationId xmlns:a16="http://schemas.microsoft.com/office/drawing/2014/main" id="{AE92DE15-E028-48FB-82FA-7C35FBCC2279}"/>
              </a:ext>
            </a:extLst>
          </p:cNvPr>
          <p:cNvSpPr txBox="1"/>
          <p:nvPr/>
        </p:nvSpPr>
        <p:spPr>
          <a:xfrm>
            <a:off x="1026160" y="345440"/>
            <a:ext cx="4908010" cy="461665"/>
          </a:xfrm>
          <a:prstGeom prst="rect">
            <a:avLst/>
          </a:prstGeom>
          <a:noFill/>
        </p:spPr>
        <p:txBody>
          <a:bodyPr wrap="none" rtlCol="0">
            <a:spAutoFit/>
          </a:bodyPr>
          <a:lstStyle/>
          <a:p>
            <a:pPr marL="285750" indent="-285750">
              <a:buFont typeface="Wingdings" panose="05000000000000000000" pitchFamily="2" charset="2"/>
              <a:buChar char="Ø"/>
            </a:pPr>
            <a:r>
              <a:rPr lang="en-US" sz="2400" b="1" dirty="0">
                <a:highlight>
                  <a:srgbClr val="00FF00"/>
                </a:highlight>
              </a:rPr>
              <a:t>sleep(</a:t>
            </a:r>
            <a:r>
              <a:rPr lang="en-US" sz="2400" b="1" dirty="0" err="1">
                <a:highlight>
                  <a:srgbClr val="00FF00"/>
                </a:highlight>
              </a:rPr>
              <a:t>ms</a:t>
            </a:r>
            <a:r>
              <a:rPr lang="en-US" sz="2400" b="1" dirty="0">
                <a:highlight>
                  <a:srgbClr val="00FF00"/>
                </a:highlight>
              </a:rPr>
              <a:t>) </a:t>
            </a:r>
            <a:r>
              <a:rPr lang="en-US" sz="2400" b="1" dirty="0" err="1"/>
              <a:t>si</a:t>
            </a:r>
            <a:r>
              <a:rPr lang="en-US" sz="2400" b="1" dirty="0"/>
              <a:t> </a:t>
            </a:r>
            <a:r>
              <a:rPr lang="en-US" sz="2400" b="1" dirty="0" err="1">
                <a:highlight>
                  <a:srgbClr val="00FF00"/>
                </a:highlight>
              </a:rPr>
              <a:t>InterruptedException</a:t>
            </a:r>
            <a:r>
              <a:rPr lang="en-US" sz="2400" dirty="0"/>
              <a:t> </a:t>
            </a:r>
          </a:p>
        </p:txBody>
      </p:sp>
      <p:sp>
        <p:nvSpPr>
          <p:cNvPr id="9" name="TextBox 8">
            <a:extLst>
              <a:ext uri="{FF2B5EF4-FFF2-40B4-BE49-F238E27FC236}">
                <a16:creationId xmlns:a16="http://schemas.microsoft.com/office/drawing/2014/main" id="{26E25718-9BF4-48AC-B9D6-EE8241298BE1}"/>
              </a:ext>
            </a:extLst>
          </p:cNvPr>
          <p:cNvSpPr txBox="1"/>
          <p:nvPr/>
        </p:nvSpPr>
        <p:spPr>
          <a:xfrm>
            <a:off x="5462233" y="3872214"/>
            <a:ext cx="6489083" cy="707886"/>
          </a:xfrm>
          <a:prstGeom prst="rect">
            <a:avLst/>
          </a:prstGeom>
          <a:solidFill>
            <a:schemeClr val="bg1">
              <a:lumMod val="95000"/>
            </a:schemeClr>
          </a:solidFill>
        </p:spPr>
        <p:txBody>
          <a:bodyPr wrap="square">
            <a:spAutoFit/>
          </a:bodyPr>
          <a:lstStyle/>
          <a:p>
            <a:r>
              <a:rPr lang="en-US" sz="2000" dirty="0" err="1"/>
              <a:t>opreste</a:t>
            </a:r>
            <a:r>
              <a:rPr lang="en-US" sz="2000" dirty="0"/>
              <a:t> </a:t>
            </a:r>
            <a:r>
              <a:rPr lang="en-US" sz="2000" dirty="0" err="1"/>
              <a:t>executia</a:t>
            </a:r>
            <a:r>
              <a:rPr lang="en-US" sz="2000" dirty="0"/>
              <a:t> </a:t>
            </a:r>
            <a:r>
              <a:rPr lang="en-US" sz="2000" dirty="0" err="1"/>
              <a:t>threadului</a:t>
            </a:r>
            <a:r>
              <a:rPr lang="en-US" sz="2000" dirty="0"/>
              <a:t> </a:t>
            </a:r>
            <a:r>
              <a:rPr lang="en-US" sz="2000" b="1" dirty="0" err="1"/>
              <a:t>curent</a:t>
            </a:r>
            <a:r>
              <a:rPr lang="en-US" sz="2000" dirty="0"/>
              <a:t> </a:t>
            </a:r>
            <a:r>
              <a:rPr lang="en-US" sz="2000" dirty="0" err="1"/>
              <a:t>pentru</a:t>
            </a:r>
            <a:r>
              <a:rPr lang="en-US" sz="2000" dirty="0"/>
              <a:t> </a:t>
            </a:r>
            <a:r>
              <a:rPr lang="en-US" sz="2000" dirty="0" err="1"/>
              <a:t>ms</a:t>
            </a:r>
            <a:r>
              <a:rPr lang="en-US" sz="2000" dirty="0"/>
              <a:t> </a:t>
            </a:r>
            <a:r>
              <a:rPr lang="en-US" sz="2000" dirty="0" err="1"/>
              <a:t>milisecunde</a:t>
            </a:r>
            <a:r>
              <a:rPr lang="en-US" sz="2000" dirty="0"/>
              <a:t> </a:t>
            </a:r>
            <a:r>
              <a:rPr lang="en-US" sz="2000" dirty="0" err="1"/>
              <a:t>si</a:t>
            </a:r>
            <a:r>
              <a:rPr lang="en-US" sz="2000" dirty="0"/>
              <a:t>  </a:t>
            </a:r>
            <a:r>
              <a:rPr lang="en-US" sz="2000" dirty="0" err="1"/>
              <a:t>arunca</a:t>
            </a:r>
            <a:r>
              <a:rPr lang="en-US" sz="2000" dirty="0"/>
              <a:t> </a:t>
            </a:r>
            <a:r>
              <a:rPr lang="en-US" sz="2000" dirty="0" err="1"/>
              <a:t>exceptie</a:t>
            </a:r>
            <a:r>
              <a:rPr lang="en-US" sz="2000" dirty="0"/>
              <a:t> </a:t>
            </a:r>
            <a:r>
              <a:rPr lang="en-US" sz="2000" dirty="0" err="1"/>
              <a:t>daca</a:t>
            </a:r>
            <a:r>
              <a:rPr lang="en-US" sz="2000" dirty="0"/>
              <a:t> </a:t>
            </a:r>
            <a:r>
              <a:rPr lang="en-US" sz="2000" dirty="0" err="1"/>
              <a:t>threadul</a:t>
            </a:r>
            <a:r>
              <a:rPr lang="en-US" sz="2000" dirty="0"/>
              <a:t> </a:t>
            </a:r>
            <a:r>
              <a:rPr lang="en-US" sz="2000" dirty="0" err="1"/>
              <a:t>este</a:t>
            </a:r>
            <a:r>
              <a:rPr lang="en-US" sz="2000" dirty="0"/>
              <a:t> </a:t>
            </a:r>
            <a:r>
              <a:rPr lang="en-US" sz="2000" dirty="0" err="1"/>
              <a:t>intrerupt</a:t>
            </a:r>
            <a:endParaRPr lang="en-US" sz="2000" dirty="0"/>
          </a:p>
        </p:txBody>
      </p:sp>
      <p:cxnSp>
        <p:nvCxnSpPr>
          <p:cNvPr id="11" name="Straight Arrow Connector 10">
            <a:extLst>
              <a:ext uri="{FF2B5EF4-FFF2-40B4-BE49-F238E27FC236}">
                <a16:creationId xmlns:a16="http://schemas.microsoft.com/office/drawing/2014/main" id="{CAA8E3B9-DA92-4B92-8CD7-FFF9BF39F91B}"/>
              </a:ext>
            </a:extLst>
          </p:cNvPr>
          <p:cNvCxnSpPr>
            <a:cxnSpLocks/>
          </p:cNvCxnSpPr>
          <p:nvPr/>
        </p:nvCxnSpPr>
        <p:spPr>
          <a:xfrm>
            <a:off x="4378960" y="4416286"/>
            <a:ext cx="1001993" cy="0"/>
          </a:xfrm>
          <a:prstGeom prst="straightConnector1">
            <a:avLst/>
          </a:prstGeom>
          <a:ln>
            <a:solidFill>
              <a:schemeClr val="tx1"/>
            </a:solidFill>
            <a:tailEnd type="triangle"/>
          </a:ln>
        </p:spPr>
        <p:style>
          <a:lnRef idx="1">
            <a:schemeClr val="accent1"/>
          </a:lnRef>
          <a:fillRef idx="0">
            <a:schemeClr val="accent1"/>
          </a:fillRef>
          <a:effectRef idx="0">
            <a:schemeClr val="accent1"/>
          </a:effectRef>
          <a:fontRef idx="minor">
            <a:schemeClr val="tx1"/>
          </a:fontRef>
        </p:style>
      </p:cxnSp>
    </p:spTree>
    <p:extLst>
      <p:ext uri="{BB962C8B-B14F-4D97-AF65-F5344CB8AC3E}">
        <p14:creationId xmlns:p14="http://schemas.microsoft.com/office/powerpoint/2010/main" val="2219905651"/>
      </p:ext>
    </p:extLst>
  </p:cSld>
  <p:clrMapOvr>
    <a:masterClrMapping/>
  </p:clrMapOvr>
</p:sld>
</file>

<file path=ppt/slides/slide2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Rectangle 1"/>
          <p:cNvSpPr/>
          <p:nvPr/>
        </p:nvSpPr>
        <p:spPr>
          <a:xfrm>
            <a:off x="1890859" y="1638102"/>
            <a:ext cx="6096000" cy="3785652"/>
          </a:xfrm>
          <a:prstGeom prst="rect">
            <a:avLst/>
          </a:prstGeom>
          <a:ln w="38100">
            <a:solidFill>
              <a:srgbClr val="00B050"/>
            </a:solidFill>
          </a:ln>
        </p:spPr>
        <p:txBody>
          <a:bodyPr>
            <a:spAutoFit/>
          </a:bodyPr>
          <a:lstStyle/>
          <a:p>
            <a:r>
              <a:rPr lang="en-US" dirty="0"/>
              <a:t> </a:t>
            </a:r>
            <a:r>
              <a:rPr lang="en-US" sz="2000" dirty="0"/>
              <a:t>public class </a:t>
            </a:r>
            <a:r>
              <a:rPr lang="en-US" sz="2000" dirty="0" err="1"/>
              <a:t>MessageLoop</a:t>
            </a:r>
            <a:r>
              <a:rPr lang="en-US" sz="2000" dirty="0"/>
              <a:t> implements Runnable {</a:t>
            </a:r>
          </a:p>
          <a:p>
            <a:r>
              <a:rPr lang="en-US" sz="2000" dirty="0"/>
              <a:t>        </a:t>
            </a:r>
          </a:p>
          <a:p>
            <a:r>
              <a:rPr lang="en-US" sz="2000" dirty="0"/>
              <a:t>     public void run() {</a:t>
            </a:r>
          </a:p>
          <a:p>
            <a:r>
              <a:rPr lang="en-US" sz="2000" dirty="0"/>
              <a:t>            String </a:t>
            </a:r>
            <a:r>
              <a:rPr lang="en-US" sz="2000" dirty="0" err="1"/>
              <a:t>importantInfo</a:t>
            </a:r>
            <a:r>
              <a:rPr lang="en-US" sz="2000" dirty="0"/>
              <a:t>[] = {“This”, “is”, “important”};</a:t>
            </a:r>
          </a:p>
          <a:p>
            <a:r>
              <a:rPr lang="en-US" sz="2000" dirty="0"/>
              <a:t>            </a:t>
            </a:r>
            <a:r>
              <a:rPr lang="en-US" sz="2000" dirty="0">
                <a:solidFill>
                  <a:srgbClr val="00B050"/>
                </a:solidFill>
              </a:rPr>
              <a:t>try {</a:t>
            </a:r>
          </a:p>
          <a:p>
            <a:r>
              <a:rPr lang="en-US" sz="2000" dirty="0"/>
              <a:t>                for (</a:t>
            </a:r>
            <a:r>
              <a:rPr lang="en-US" sz="2000" dirty="0" err="1"/>
              <a:t>int</a:t>
            </a:r>
            <a:r>
              <a:rPr lang="en-US" sz="2000" dirty="0"/>
              <a:t> </a:t>
            </a:r>
            <a:r>
              <a:rPr lang="en-US" sz="2000" dirty="0" err="1"/>
              <a:t>i</a:t>
            </a:r>
            <a:r>
              <a:rPr lang="en-US" sz="2000" dirty="0"/>
              <a:t> = 0;  </a:t>
            </a:r>
            <a:r>
              <a:rPr lang="en-US" sz="2000" dirty="0" err="1"/>
              <a:t>i</a:t>
            </a:r>
            <a:r>
              <a:rPr lang="en-US" sz="2000" dirty="0"/>
              <a:t> &lt; </a:t>
            </a:r>
            <a:r>
              <a:rPr lang="en-US" sz="2000" dirty="0" err="1"/>
              <a:t>importantInfo.length;i</a:t>
            </a:r>
            <a:r>
              <a:rPr lang="en-US" sz="2000" dirty="0"/>
              <a:t>++) {</a:t>
            </a:r>
          </a:p>
          <a:p>
            <a:r>
              <a:rPr lang="en-US" sz="2000" dirty="0"/>
              <a:t>                     </a:t>
            </a:r>
            <a:r>
              <a:rPr lang="en-US" sz="2000" dirty="0" err="1">
                <a:solidFill>
                  <a:srgbClr val="00B050"/>
                </a:solidFill>
              </a:rPr>
              <a:t>Thread.sleep</a:t>
            </a:r>
            <a:r>
              <a:rPr lang="en-US" sz="2000" dirty="0">
                <a:solidFill>
                  <a:srgbClr val="00B050"/>
                </a:solidFill>
              </a:rPr>
              <a:t>(4000)</a:t>
            </a:r>
            <a:r>
              <a:rPr lang="en-US" sz="2000" dirty="0"/>
              <a:t>;</a:t>
            </a:r>
          </a:p>
          <a:p>
            <a:r>
              <a:rPr lang="en-US" sz="2000" dirty="0"/>
              <a:t>                      </a:t>
            </a:r>
            <a:r>
              <a:rPr lang="en-US" sz="2000" dirty="0" err="1"/>
              <a:t>threadMessage</a:t>
            </a:r>
            <a:r>
              <a:rPr lang="en-US" sz="2000" dirty="0"/>
              <a:t>(</a:t>
            </a:r>
            <a:r>
              <a:rPr lang="en-US" sz="2000" dirty="0" err="1"/>
              <a:t>importantInfo</a:t>
            </a:r>
            <a:r>
              <a:rPr lang="en-US" sz="2000" dirty="0"/>
              <a:t>[</a:t>
            </a:r>
            <a:r>
              <a:rPr lang="en-US" sz="2000" dirty="0" err="1"/>
              <a:t>i</a:t>
            </a:r>
            <a:r>
              <a:rPr lang="en-US" sz="2000" dirty="0"/>
              <a:t>]);</a:t>
            </a:r>
          </a:p>
          <a:p>
            <a:r>
              <a:rPr lang="en-US" sz="2000" dirty="0"/>
              <a:t>                }</a:t>
            </a:r>
          </a:p>
          <a:p>
            <a:r>
              <a:rPr lang="en-US" sz="2000" dirty="0"/>
              <a:t>            } </a:t>
            </a:r>
            <a:r>
              <a:rPr lang="en-US" sz="2000" dirty="0">
                <a:solidFill>
                  <a:srgbClr val="00B050"/>
                </a:solidFill>
              </a:rPr>
              <a:t>catch (</a:t>
            </a:r>
            <a:r>
              <a:rPr lang="en-US" sz="2000" dirty="0" err="1">
                <a:solidFill>
                  <a:srgbClr val="00B050"/>
                </a:solidFill>
              </a:rPr>
              <a:t>InterruptedException</a:t>
            </a:r>
            <a:r>
              <a:rPr lang="en-US" sz="2000" dirty="0">
                <a:solidFill>
                  <a:srgbClr val="00B050"/>
                </a:solidFill>
              </a:rPr>
              <a:t> e) </a:t>
            </a:r>
            <a:r>
              <a:rPr lang="en-US" sz="2000" dirty="0"/>
              <a:t>{</a:t>
            </a:r>
          </a:p>
          <a:p>
            <a:r>
              <a:rPr lang="en-US" sz="2000" dirty="0"/>
              <a:t>                </a:t>
            </a:r>
            <a:r>
              <a:rPr lang="en-US" sz="2000" dirty="0" err="1"/>
              <a:t>threadMessage</a:t>
            </a:r>
            <a:r>
              <a:rPr lang="en-US" sz="2000" dirty="0"/>
              <a:t>("I wasn't done!");</a:t>
            </a:r>
          </a:p>
          <a:p>
            <a:r>
              <a:rPr lang="en-US" sz="2000" dirty="0"/>
              <a:t>            }}</a:t>
            </a:r>
          </a:p>
        </p:txBody>
      </p:sp>
      <p:sp>
        <p:nvSpPr>
          <p:cNvPr id="4" name="TextBox 3"/>
          <p:cNvSpPr txBox="1"/>
          <p:nvPr/>
        </p:nvSpPr>
        <p:spPr>
          <a:xfrm>
            <a:off x="704335" y="393561"/>
            <a:ext cx="473206" cy="738664"/>
          </a:xfrm>
          <a:prstGeom prst="rect">
            <a:avLst/>
          </a:prstGeom>
          <a:noFill/>
        </p:spPr>
        <p:txBody>
          <a:bodyPr wrap="none" rtlCol="0">
            <a:spAutoFit/>
          </a:bodyPr>
          <a:lstStyle/>
          <a:p>
            <a:pPr marL="285750" indent="-285750">
              <a:buFont typeface="Wingdings" panose="05000000000000000000" pitchFamily="2" charset="2"/>
              <a:buChar char="Ø"/>
            </a:pPr>
            <a:endParaRPr lang="en-US" sz="2400" dirty="0"/>
          </a:p>
          <a:p>
            <a:r>
              <a:rPr lang="en-US" dirty="0"/>
              <a:t>     </a:t>
            </a:r>
          </a:p>
        </p:txBody>
      </p:sp>
      <p:sp>
        <p:nvSpPr>
          <p:cNvPr id="8" name="TextBox 7">
            <a:extLst>
              <a:ext uri="{FF2B5EF4-FFF2-40B4-BE49-F238E27FC236}">
                <a16:creationId xmlns:a16="http://schemas.microsoft.com/office/drawing/2014/main" id="{4597B547-605E-4506-A1FE-20E7425AA22B}"/>
              </a:ext>
            </a:extLst>
          </p:cNvPr>
          <p:cNvSpPr txBox="1"/>
          <p:nvPr/>
        </p:nvSpPr>
        <p:spPr>
          <a:xfrm>
            <a:off x="1026160" y="345440"/>
            <a:ext cx="6169509" cy="461665"/>
          </a:xfrm>
          <a:prstGeom prst="rect">
            <a:avLst/>
          </a:prstGeom>
          <a:noFill/>
        </p:spPr>
        <p:txBody>
          <a:bodyPr wrap="none" rtlCol="0">
            <a:spAutoFit/>
          </a:bodyPr>
          <a:lstStyle/>
          <a:p>
            <a:pPr marL="285750" indent="-285750">
              <a:buFont typeface="Wingdings" panose="05000000000000000000" pitchFamily="2" charset="2"/>
              <a:buChar char="Ø"/>
            </a:pPr>
            <a:r>
              <a:rPr lang="en-US" sz="2400" b="1" dirty="0">
                <a:highlight>
                  <a:srgbClr val="00FF00"/>
                </a:highlight>
              </a:rPr>
              <a:t>sleep(</a:t>
            </a:r>
            <a:r>
              <a:rPr lang="en-US" sz="2400" b="1" dirty="0" err="1">
                <a:highlight>
                  <a:srgbClr val="00FF00"/>
                </a:highlight>
              </a:rPr>
              <a:t>ms</a:t>
            </a:r>
            <a:r>
              <a:rPr lang="en-US" sz="2400" b="1" dirty="0">
                <a:highlight>
                  <a:srgbClr val="00FF00"/>
                </a:highlight>
              </a:rPr>
              <a:t>)  cu </a:t>
            </a:r>
            <a:r>
              <a:rPr lang="en-US" sz="2400" b="1" dirty="0"/>
              <a:t> </a:t>
            </a:r>
            <a:r>
              <a:rPr lang="en-US" sz="2400" b="1" dirty="0" err="1"/>
              <a:t>tratarea</a:t>
            </a:r>
            <a:r>
              <a:rPr lang="en-US" sz="2400" b="1" dirty="0"/>
              <a:t> </a:t>
            </a:r>
            <a:r>
              <a:rPr lang="en-US" sz="2400" b="1" dirty="0" err="1">
                <a:highlight>
                  <a:srgbClr val="00FF00"/>
                </a:highlight>
              </a:rPr>
              <a:t>InterruptedException</a:t>
            </a:r>
            <a:r>
              <a:rPr lang="en-US" sz="2400" dirty="0"/>
              <a:t> </a:t>
            </a:r>
          </a:p>
        </p:txBody>
      </p:sp>
      <p:sp>
        <p:nvSpPr>
          <p:cNvPr id="5" name="TextBox 4">
            <a:extLst>
              <a:ext uri="{FF2B5EF4-FFF2-40B4-BE49-F238E27FC236}">
                <a16:creationId xmlns:a16="http://schemas.microsoft.com/office/drawing/2014/main" id="{5FD17B4B-338B-434F-9607-AC18071ABA88}"/>
              </a:ext>
            </a:extLst>
          </p:cNvPr>
          <p:cNvSpPr txBox="1"/>
          <p:nvPr/>
        </p:nvSpPr>
        <p:spPr>
          <a:xfrm>
            <a:off x="1199979" y="807105"/>
            <a:ext cx="7223709" cy="369332"/>
          </a:xfrm>
          <a:prstGeom prst="rect">
            <a:avLst/>
          </a:prstGeom>
          <a:noFill/>
        </p:spPr>
        <p:txBody>
          <a:bodyPr wrap="none" rtlCol="0">
            <a:spAutoFit/>
          </a:bodyPr>
          <a:lstStyle/>
          <a:p>
            <a:r>
              <a:rPr lang="en-US" dirty="0">
                <a:hlinkClick r:id="rId2"/>
              </a:rPr>
              <a:t>https://docs.oracle.com/javase/tutorial/essential/concurrency/simple.html</a:t>
            </a:r>
            <a:endParaRPr lang="en-GB" dirty="0"/>
          </a:p>
        </p:txBody>
      </p:sp>
      <p:sp>
        <p:nvSpPr>
          <p:cNvPr id="9" name="TextBox 8">
            <a:extLst>
              <a:ext uri="{FF2B5EF4-FFF2-40B4-BE49-F238E27FC236}">
                <a16:creationId xmlns:a16="http://schemas.microsoft.com/office/drawing/2014/main" id="{1E9A963D-F2ED-4740-B095-88C783FE8228}"/>
              </a:ext>
            </a:extLst>
          </p:cNvPr>
          <p:cNvSpPr txBox="1"/>
          <p:nvPr/>
        </p:nvSpPr>
        <p:spPr>
          <a:xfrm>
            <a:off x="1026160" y="5727729"/>
            <a:ext cx="7042312" cy="646331"/>
          </a:xfrm>
          <a:prstGeom prst="rect">
            <a:avLst/>
          </a:prstGeom>
          <a:noFill/>
        </p:spPr>
        <p:txBody>
          <a:bodyPr wrap="none" rtlCol="0">
            <a:spAutoFit/>
          </a:bodyPr>
          <a:lstStyle/>
          <a:p>
            <a:pPr marL="285750" indent="-285750">
              <a:buFont typeface="Arial" panose="020B0604020202020204" pitchFamily="34" charset="0"/>
              <a:buChar char="•"/>
            </a:pPr>
            <a:r>
              <a:rPr lang="en-US" sz="1800" dirty="0"/>
              <a:t>Thread-ul </a:t>
            </a:r>
            <a:r>
              <a:rPr lang="en-US" sz="1800" dirty="0" err="1"/>
              <a:t>secundar</a:t>
            </a:r>
            <a:r>
              <a:rPr lang="en-US" sz="1800" dirty="0"/>
              <a:t> </a:t>
            </a:r>
            <a:r>
              <a:rPr lang="en-US" sz="1800" dirty="0" err="1"/>
              <a:t>este</a:t>
            </a:r>
            <a:r>
              <a:rPr lang="en-US" sz="1800" dirty="0"/>
              <a:t> </a:t>
            </a:r>
            <a:r>
              <a:rPr lang="en-US" sz="1800" dirty="0" err="1"/>
              <a:t>creat</a:t>
            </a:r>
            <a:r>
              <a:rPr lang="en-US" sz="1800" dirty="0"/>
              <a:t> </a:t>
            </a:r>
            <a:r>
              <a:rPr lang="en-US" sz="1800" dirty="0" err="1"/>
              <a:t>prin</a:t>
            </a:r>
            <a:r>
              <a:rPr lang="en-US" sz="1800" dirty="0"/>
              <a:t> </a:t>
            </a:r>
            <a:r>
              <a:rPr lang="en-US" sz="1800" dirty="0" err="1"/>
              <a:t>implementarea</a:t>
            </a:r>
            <a:r>
              <a:rPr lang="en-US" sz="1800" dirty="0"/>
              <a:t> </a:t>
            </a:r>
            <a:r>
              <a:rPr lang="en-US" sz="1800" dirty="0" err="1"/>
              <a:t>interfetei</a:t>
            </a:r>
            <a:r>
              <a:rPr lang="en-US" sz="1800" dirty="0"/>
              <a:t> </a:t>
            </a:r>
            <a:r>
              <a:rPr lang="en-US" sz="1800" dirty="0">
                <a:highlight>
                  <a:srgbClr val="00FF00"/>
                </a:highlight>
              </a:rPr>
              <a:t>Runnable</a:t>
            </a:r>
            <a:endParaRPr lang="en-US" dirty="0"/>
          </a:p>
          <a:p>
            <a:endParaRPr lang="en-GB" dirty="0"/>
          </a:p>
        </p:txBody>
      </p:sp>
      <p:sp>
        <p:nvSpPr>
          <p:cNvPr id="3" name="TextBox 2">
            <a:extLst>
              <a:ext uri="{FF2B5EF4-FFF2-40B4-BE49-F238E27FC236}">
                <a16:creationId xmlns:a16="http://schemas.microsoft.com/office/drawing/2014/main" id="{44095ED2-9A61-40E8-BCA6-A6CF0B571BE2}"/>
              </a:ext>
            </a:extLst>
          </p:cNvPr>
          <p:cNvSpPr txBox="1"/>
          <p:nvPr/>
        </p:nvSpPr>
        <p:spPr>
          <a:xfrm>
            <a:off x="6954439" y="4573567"/>
            <a:ext cx="2938497" cy="646331"/>
          </a:xfrm>
          <a:prstGeom prst="rect">
            <a:avLst/>
          </a:prstGeom>
          <a:solidFill>
            <a:schemeClr val="accent6">
              <a:lumMod val="20000"/>
              <a:lumOff val="80000"/>
            </a:schemeClr>
          </a:solidFill>
        </p:spPr>
        <p:txBody>
          <a:bodyPr wrap="none" rtlCol="0">
            <a:spAutoFit/>
          </a:bodyPr>
          <a:lstStyle/>
          <a:p>
            <a:r>
              <a:rPr lang="en-US" dirty="0" err="1"/>
              <a:t>daca</a:t>
            </a:r>
            <a:r>
              <a:rPr lang="en-US" dirty="0"/>
              <a:t> thread-ul </a:t>
            </a:r>
            <a:r>
              <a:rPr lang="en-US" dirty="0" err="1"/>
              <a:t>este</a:t>
            </a:r>
            <a:r>
              <a:rPr lang="en-US" dirty="0"/>
              <a:t> </a:t>
            </a:r>
            <a:r>
              <a:rPr lang="en-US" dirty="0" err="1"/>
              <a:t>intrerupt</a:t>
            </a:r>
            <a:r>
              <a:rPr lang="en-US" dirty="0"/>
              <a:t> </a:t>
            </a:r>
          </a:p>
          <a:p>
            <a:r>
              <a:rPr lang="en-US" dirty="0"/>
              <a:t>se </a:t>
            </a:r>
            <a:r>
              <a:rPr lang="en-US" dirty="0" err="1"/>
              <a:t>va</a:t>
            </a:r>
            <a:r>
              <a:rPr lang="en-US" dirty="0"/>
              <a:t> </a:t>
            </a:r>
            <a:r>
              <a:rPr lang="en-US" dirty="0" err="1"/>
              <a:t>afisa</a:t>
            </a:r>
            <a:r>
              <a:rPr lang="en-US" dirty="0"/>
              <a:t> </a:t>
            </a:r>
            <a:r>
              <a:rPr lang="en-US" dirty="0" err="1"/>
              <a:t>acest</a:t>
            </a:r>
            <a:r>
              <a:rPr lang="en-US" dirty="0"/>
              <a:t> </a:t>
            </a:r>
            <a:r>
              <a:rPr lang="en-US" dirty="0" err="1"/>
              <a:t>mesaj</a:t>
            </a:r>
            <a:endParaRPr lang="en-GB" dirty="0"/>
          </a:p>
        </p:txBody>
      </p:sp>
    </p:spTree>
    <p:extLst>
      <p:ext uri="{BB962C8B-B14F-4D97-AF65-F5344CB8AC3E}">
        <p14:creationId xmlns:p14="http://schemas.microsoft.com/office/powerpoint/2010/main" val="3407524947"/>
      </p:ext>
    </p:extLst>
  </p:cSld>
  <p:clrMapOvr>
    <a:masterClrMapping/>
  </p:clrMapOvr>
</p:sld>
</file>

<file path=ppt/slides/slide2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Rectangle 1"/>
          <p:cNvSpPr/>
          <p:nvPr/>
        </p:nvSpPr>
        <p:spPr>
          <a:xfrm>
            <a:off x="1309951" y="1336153"/>
            <a:ext cx="8756051" cy="4001095"/>
          </a:xfrm>
          <a:prstGeom prst="rect">
            <a:avLst/>
          </a:prstGeom>
          <a:ln w="38100">
            <a:solidFill>
              <a:srgbClr val="00B050"/>
            </a:solidFill>
          </a:ln>
        </p:spPr>
        <p:txBody>
          <a:bodyPr wrap="square">
            <a:spAutoFit/>
          </a:bodyPr>
          <a:lstStyle/>
          <a:p>
            <a:r>
              <a:rPr lang="en-US" dirty="0"/>
              <a:t>public static  void </a:t>
            </a:r>
            <a:r>
              <a:rPr lang="en-US" dirty="0" err="1"/>
              <a:t>threadMessage</a:t>
            </a:r>
            <a:r>
              <a:rPr lang="en-US" dirty="0"/>
              <a:t>(String message) {</a:t>
            </a:r>
          </a:p>
          <a:p>
            <a:r>
              <a:rPr lang="en-US" dirty="0"/>
              <a:t>        String </a:t>
            </a:r>
            <a:r>
              <a:rPr lang="en-US" dirty="0" err="1"/>
              <a:t>threadName</a:t>
            </a:r>
            <a:r>
              <a:rPr lang="en-US" dirty="0"/>
              <a:t> = </a:t>
            </a:r>
            <a:r>
              <a:rPr lang="en-US" dirty="0" err="1">
                <a:solidFill>
                  <a:srgbClr val="00B050"/>
                </a:solidFill>
              </a:rPr>
              <a:t>Thread.currentThread</a:t>
            </a:r>
            <a:r>
              <a:rPr lang="en-US" dirty="0">
                <a:solidFill>
                  <a:srgbClr val="00B050"/>
                </a:solidFill>
              </a:rPr>
              <a:t>().</a:t>
            </a:r>
            <a:r>
              <a:rPr lang="en-US" dirty="0" err="1">
                <a:solidFill>
                  <a:srgbClr val="00B050"/>
                </a:solidFill>
              </a:rPr>
              <a:t>getName</a:t>
            </a:r>
            <a:r>
              <a:rPr lang="en-US" dirty="0">
                <a:solidFill>
                  <a:srgbClr val="00B050"/>
                </a:solidFill>
              </a:rPr>
              <a:t>();</a:t>
            </a:r>
          </a:p>
          <a:p>
            <a:r>
              <a:rPr lang="en-US" dirty="0"/>
              <a:t>         </a:t>
            </a:r>
            <a:r>
              <a:rPr lang="en-US" dirty="0" err="1"/>
              <a:t>System.out.format</a:t>
            </a:r>
            <a:r>
              <a:rPr lang="en-US" dirty="0"/>
              <a:t>("%s: %</a:t>
            </a:r>
            <a:r>
              <a:rPr lang="en-US" dirty="0" err="1"/>
              <a:t>s%n</a:t>
            </a:r>
            <a:r>
              <a:rPr lang="en-US" dirty="0"/>
              <a:t>", </a:t>
            </a:r>
            <a:r>
              <a:rPr lang="en-US" dirty="0" err="1"/>
              <a:t>threadName</a:t>
            </a:r>
            <a:r>
              <a:rPr lang="en-US" dirty="0"/>
              <a:t>, message);    }</a:t>
            </a:r>
          </a:p>
          <a:p>
            <a:endParaRPr lang="en-US" sz="2000" dirty="0"/>
          </a:p>
          <a:p>
            <a:r>
              <a:rPr lang="en-US" sz="2000" dirty="0"/>
              <a:t> public static void main(String </a:t>
            </a:r>
            <a:r>
              <a:rPr lang="en-US" sz="2000" dirty="0" err="1"/>
              <a:t>args</a:t>
            </a:r>
            <a:r>
              <a:rPr lang="en-US" sz="2000" dirty="0"/>
              <a:t>[])   throws </a:t>
            </a:r>
            <a:r>
              <a:rPr lang="en-US" sz="2000" dirty="0" err="1"/>
              <a:t>InterruptedException</a:t>
            </a:r>
            <a:r>
              <a:rPr lang="en-US" sz="2000" dirty="0"/>
              <a:t> {</a:t>
            </a:r>
          </a:p>
          <a:p>
            <a:endParaRPr lang="en-US" sz="2000" dirty="0"/>
          </a:p>
          <a:p>
            <a:r>
              <a:rPr lang="en-US" sz="2000" dirty="0"/>
              <a:t>        </a:t>
            </a:r>
            <a:r>
              <a:rPr lang="en-US" sz="2000" dirty="0" err="1"/>
              <a:t>threadMessage</a:t>
            </a:r>
            <a:r>
              <a:rPr lang="en-US" sz="2000" dirty="0"/>
              <a:t>("Starting </a:t>
            </a:r>
            <a:r>
              <a:rPr lang="en-US" sz="2000" dirty="0" err="1"/>
              <a:t>MessageLoop</a:t>
            </a:r>
            <a:r>
              <a:rPr lang="en-US" sz="2000" dirty="0"/>
              <a:t> thread");</a:t>
            </a:r>
          </a:p>
          <a:p>
            <a:r>
              <a:rPr lang="en-US" sz="2000" dirty="0"/>
              <a:t>        Thread t = new Thread(new </a:t>
            </a:r>
            <a:r>
              <a:rPr lang="en-US" sz="2000" dirty="0" err="1"/>
              <a:t>MessageLoop</a:t>
            </a:r>
            <a:r>
              <a:rPr lang="en-US" sz="2000" dirty="0"/>
              <a:t>());</a:t>
            </a:r>
          </a:p>
          <a:p>
            <a:r>
              <a:rPr lang="en-US" sz="2000" dirty="0"/>
              <a:t>        </a:t>
            </a:r>
            <a:r>
              <a:rPr lang="en-US" sz="2000" dirty="0" err="1"/>
              <a:t>t.start</a:t>
            </a:r>
            <a:r>
              <a:rPr lang="en-US" sz="2000" dirty="0"/>
              <a:t>();</a:t>
            </a:r>
          </a:p>
          <a:p>
            <a:r>
              <a:rPr lang="en-US" sz="2000" dirty="0"/>
              <a:t>        </a:t>
            </a:r>
            <a:r>
              <a:rPr lang="en-US" sz="2000" dirty="0" err="1"/>
              <a:t>threadMessage</a:t>
            </a:r>
            <a:r>
              <a:rPr lang="en-US" sz="2000" dirty="0"/>
              <a:t>("Waiting for </a:t>
            </a:r>
            <a:r>
              <a:rPr lang="en-US" sz="2000" dirty="0" err="1"/>
              <a:t>MessageLoop</a:t>
            </a:r>
            <a:r>
              <a:rPr lang="en-US" sz="2000" dirty="0"/>
              <a:t> thread to finish");</a:t>
            </a:r>
          </a:p>
          <a:p>
            <a:endParaRPr lang="en-US" sz="2000" dirty="0"/>
          </a:p>
          <a:p>
            <a:r>
              <a:rPr lang="en-US" sz="2000" dirty="0"/>
              <a:t>        </a:t>
            </a:r>
            <a:r>
              <a:rPr lang="en-US" sz="2000" dirty="0" err="1"/>
              <a:t>t.join</a:t>
            </a:r>
            <a:r>
              <a:rPr lang="en-US" sz="2000" dirty="0"/>
              <a:t>();</a:t>
            </a:r>
          </a:p>
          <a:p>
            <a:r>
              <a:rPr lang="en-US" sz="2000" dirty="0"/>
              <a:t>       </a:t>
            </a:r>
            <a:r>
              <a:rPr lang="en-US" sz="2000" dirty="0" err="1"/>
              <a:t>threadMessage</a:t>
            </a:r>
            <a:r>
              <a:rPr lang="en-US" sz="2000" dirty="0"/>
              <a:t>("Finally!");}}</a:t>
            </a:r>
          </a:p>
        </p:txBody>
      </p:sp>
      <p:sp>
        <p:nvSpPr>
          <p:cNvPr id="3" name="TextBox 2"/>
          <p:cNvSpPr txBox="1"/>
          <p:nvPr/>
        </p:nvSpPr>
        <p:spPr>
          <a:xfrm>
            <a:off x="203886" y="55606"/>
            <a:ext cx="6688882" cy="1015663"/>
          </a:xfrm>
          <a:prstGeom prst="rect">
            <a:avLst/>
          </a:prstGeom>
          <a:noFill/>
        </p:spPr>
        <p:txBody>
          <a:bodyPr wrap="none" rtlCol="0">
            <a:spAutoFit/>
          </a:bodyPr>
          <a:lstStyle/>
          <a:p>
            <a:pPr marL="800100" lvl="1" indent="-342900">
              <a:buFont typeface="Wingdings" panose="05000000000000000000" pitchFamily="2" charset="2"/>
              <a:buChar char="Ø"/>
            </a:pPr>
            <a:r>
              <a:rPr lang="en-US" sz="2400" b="1" dirty="0">
                <a:highlight>
                  <a:srgbClr val="00FF00"/>
                </a:highlight>
              </a:rPr>
              <a:t>sleep(</a:t>
            </a:r>
            <a:r>
              <a:rPr lang="en-US" sz="2400" b="1" dirty="0" err="1">
                <a:highlight>
                  <a:srgbClr val="00FF00"/>
                </a:highlight>
              </a:rPr>
              <a:t>ms</a:t>
            </a:r>
            <a:r>
              <a:rPr lang="en-US" sz="2400" b="1" dirty="0">
                <a:highlight>
                  <a:srgbClr val="00FF00"/>
                </a:highlight>
              </a:rPr>
              <a:t>)  cu </a:t>
            </a:r>
            <a:r>
              <a:rPr lang="en-US" sz="2400" b="1" dirty="0"/>
              <a:t> </a:t>
            </a:r>
            <a:r>
              <a:rPr lang="en-US" sz="2400" b="1" dirty="0" err="1"/>
              <a:t>tratarea</a:t>
            </a:r>
            <a:r>
              <a:rPr lang="en-US" sz="2400" b="1" dirty="0"/>
              <a:t> </a:t>
            </a:r>
            <a:r>
              <a:rPr lang="en-US" sz="2400" b="1" dirty="0" err="1">
                <a:highlight>
                  <a:srgbClr val="00FF00"/>
                </a:highlight>
              </a:rPr>
              <a:t>InterruptedException</a:t>
            </a:r>
            <a:r>
              <a:rPr lang="en-US" sz="2400" dirty="0"/>
              <a:t> </a:t>
            </a:r>
          </a:p>
          <a:p>
            <a:r>
              <a:rPr lang="en-US" dirty="0"/>
              <a:t> </a:t>
            </a:r>
          </a:p>
          <a:p>
            <a:r>
              <a:rPr lang="en-US" dirty="0"/>
              <a:t> </a:t>
            </a:r>
          </a:p>
        </p:txBody>
      </p:sp>
      <p:sp>
        <p:nvSpPr>
          <p:cNvPr id="7" name="TextBox 6">
            <a:extLst>
              <a:ext uri="{FF2B5EF4-FFF2-40B4-BE49-F238E27FC236}">
                <a16:creationId xmlns:a16="http://schemas.microsoft.com/office/drawing/2014/main" id="{8327D060-E002-43E3-A543-0FDA592A84AF}"/>
              </a:ext>
            </a:extLst>
          </p:cNvPr>
          <p:cNvSpPr txBox="1"/>
          <p:nvPr/>
        </p:nvSpPr>
        <p:spPr>
          <a:xfrm>
            <a:off x="476830" y="592940"/>
            <a:ext cx="9510449" cy="369332"/>
          </a:xfrm>
          <a:prstGeom prst="rect">
            <a:avLst/>
          </a:prstGeom>
          <a:noFill/>
        </p:spPr>
        <p:txBody>
          <a:bodyPr wrap="square" rtlCol="0">
            <a:spAutoFit/>
          </a:bodyPr>
          <a:lstStyle/>
          <a:p>
            <a:pPr marL="742950" lvl="1" indent="-285750">
              <a:buFont typeface="Arial" panose="020B0604020202020204" pitchFamily="34" charset="0"/>
              <a:buChar char="•"/>
            </a:pPr>
            <a:r>
              <a:rPr lang="en-US" dirty="0"/>
              <a:t>Thread-ul principal </a:t>
            </a:r>
            <a:r>
              <a:rPr lang="en-US" dirty="0" err="1"/>
              <a:t>creaza</a:t>
            </a:r>
            <a:r>
              <a:rPr lang="en-US" dirty="0"/>
              <a:t> un al </a:t>
            </a:r>
            <a:r>
              <a:rPr lang="en-US" dirty="0" err="1"/>
              <a:t>doilea</a:t>
            </a:r>
            <a:r>
              <a:rPr lang="en-US" dirty="0"/>
              <a:t> thread </a:t>
            </a:r>
            <a:r>
              <a:rPr lang="en-US" dirty="0" err="1"/>
              <a:t>si</a:t>
            </a:r>
            <a:r>
              <a:rPr lang="en-US" dirty="0"/>
              <a:t> </a:t>
            </a:r>
            <a:r>
              <a:rPr lang="en-US" dirty="0" err="1"/>
              <a:t>asteapt</a:t>
            </a:r>
            <a:r>
              <a:rPr lang="en-US" dirty="0"/>
              <a:t> ca </a:t>
            </a:r>
            <a:r>
              <a:rPr lang="en-US" dirty="0" err="1"/>
              <a:t>acesta</a:t>
            </a:r>
            <a:r>
              <a:rPr lang="en-US" dirty="0"/>
              <a:t> </a:t>
            </a:r>
            <a:r>
              <a:rPr lang="en-US" dirty="0" err="1"/>
              <a:t>sa</a:t>
            </a:r>
            <a:r>
              <a:rPr lang="en-US" dirty="0"/>
              <a:t> </a:t>
            </a:r>
            <a:r>
              <a:rPr lang="en-US" dirty="0" err="1"/>
              <a:t>isi</a:t>
            </a:r>
            <a:r>
              <a:rPr lang="en-US" dirty="0"/>
              <a:t> </a:t>
            </a:r>
            <a:r>
              <a:rPr lang="en-US" dirty="0" err="1"/>
              <a:t>termine</a:t>
            </a:r>
            <a:r>
              <a:rPr lang="en-US" dirty="0"/>
              <a:t> </a:t>
            </a:r>
            <a:r>
              <a:rPr lang="en-US" dirty="0" err="1"/>
              <a:t>executia</a:t>
            </a:r>
            <a:r>
              <a:rPr lang="en-US" dirty="0"/>
              <a:t>.</a:t>
            </a:r>
          </a:p>
        </p:txBody>
      </p:sp>
      <p:graphicFrame>
        <p:nvGraphicFramePr>
          <p:cNvPr id="4" name="Object 3">
            <a:extLst>
              <a:ext uri="{FF2B5EF4-FFF2-40B4-BE49-F238E27FC236}">
                <a16:creationId xmlns:a16="http://schemas.microsoft.com/office/drawing/2014/main" id="{0F4E8F32-731C-099C-FBF4-DF0E81867242}"/>
              </a:ext>
            </a:extLst>
          </p:cNvPr>
          <p:cNvGraphicFramePr>
            <a:graphicFrameLocks noChangeAspect="1"/>
          </p:cNvGraphicFramePr>
          <p:nvPr>
            <p:extLst>
              <p:ext uri="{D42A27DB-BD31-4B8C-83A1-F6EECF244321}">
                <p14:modId xmlns:p14="http://schemas.microsoft.com/office/powerpoint/2010/main" val="1241982524"/>
              </p:ext>
            </p:extLst>
          </p:nvPr>
        </p:nvGraphicFramePr>
        <p:xfrm>
          <a:off x="5018694" y="4745963"/>
          <a:ext cx="6900874" cy="1491865"/>
        </p:xfrm>
        <a:graphic>
          <a:graphicData uri="http://schemas.openxmlformats.org/presentationml/2006/ole">
            <mc:AlternateContent xmlns:mc="http://schemas.openxmlformats.org/markup-compatibility/2006">
              <mc:Choice xmlns:v="urn:schemas-microsoft-com:vml" Requires="v">
                <p:oleObj name="Bitmap Image" r:id="rId2" imgW="5492880" imgH="1187280" progId="Paint.Picture">
                  <p:embed/>
                </p:oleObj>
              </mc:Choice>
              <mc:Fallback>
                <p:oleObj name="Bitmap Image" r:id="rId2" imgW="5492880" imgH="1187280" progId="Paint.Picture">
                  <p:embed/>
                  <p:pic>
                    <p:nvPicPr>
                      <p:cNvPr id="2" name="Object 1">
                        <a:extLst>
                          <a:ext uri="{FF2B5EF4-FFF2-40B4-BE49-F238E27FC236}">
                            <a16:creationId xmlns:a16="http://schemas.microsoft.com/office/drawing/2014/main" id="{8EC22A4F-6DDB-46B6-BC74-171A191DC783}"/>
                          </a:ext>
                        </a:extLst>
                      </p:cNvPr>
                      <p:cNvPicPr/>
                      <p:nvPr/>
                    </p:nvPicPr>
                    <p:blipFill>
                      <a:blip r:embed="rId3"/>
                      <a:stretch>
                        <a:fillRect/>
                      </a:stretch>
                    </p:blipFill>
                    <p:spPr>
                      <a:xfrm>
                        <a:off x="5018694" y="4745963"/>
                        <a:ext cx="6900874" cy="1491865"/>
                      </a:xfrm>
                      <a:prstGeom prst="rect">
                        <a:avLst/>
                      </a:prstGeom>
                    </p:spPr>
                  </p:pic>
                </p:oleObj>
              </mc:Fallback>
            </mc:AlternateContent>
          </a:graphicData>
        </a:graphic>
      </p:graphicFrame>
    </p:spTree>
    <p:extLst>
      <p:ext uri="{BB962C8B-B14F-4D97-AF65-F5344CB8AC3E}">
        <p14:creationId xmlns:p14="http://schemas.microsoft.com/office/powerpoint/2010/main" val="3840497840"/>
      </p:ext>
    </p:extLst>
  </p:cSld>
  <p:clrMapOvr>
    <a:masterClrMapping/>
  </p:clrMapOvr>
</p:sld>
</file>

<file path=ppt/slides/slide2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9" name="TextBox 8">
            <a:extLst>
              <a:ext uri="{FF2B5EF4-FFF2-40B4-BE49-F238E27FC236}">
                <a16:creationId xmlns:a16="http://schemas.microsoft.com/office/drawing/2014/main" id="{5849D41C-CD6D-439F-9AD6-3603B4593D29}"/>
              </a:ext>
            </a:extLst>
          </p:cNvPr>
          <p:cNvSpPr txBox="1"/>
          <p:nvPr/>
        </p:nvSpPr>
        <p:spPr>
          <a:xfrm>
            <a:off x="375920" y="2602389"/>
            <a:ext cx="7813040" cy="3139321"/>
          </a:xfrm>
          <a:prstGeom prst="rect">
            <a:avLst/>
          </a:prstGeom>
          <a:noFill/>
          <a:ln w="38100">
            <a:solidFill>
              <a:srgbClr val="00B050"/>
            </a:solidFill>
          </a:ln>
        </p:spPr>
        <p:txBody>
          <a:bodyPr wrap="square">
            <a:spAutoFit/>
          </a:bodyPr>
          <a:lstStyle/>
          <a:p>
            <a:r>
              <a:rPr lang="en-US" sz="1800" dirty="0"/>
              <a:t>public static void main(String </a:t>
            </a:r>
            <a:r>
              <a:rPr lang="en-US" sz="1800" dirty="0" err="1"/>
              <a:t>args</a:t>
            </a:r>
            <a:r>
              <a:rPr lang="en-US" sz="1800" dirty="0"/>
              <a:t>[])   throws </a:t>
            </a:r>
            <a:r>
              <a:rPr lang="en-US" sz="1800" dirty="0" err="1"/>
              <a:t>InterruptedException</a:t>
            </a:r>
            <a:r>
              <a:rPr lang="en-US" sz="1800" dirty="0"/>
              <a:t> {</a:t>
            </a:r>
          </a:p>
          <a:p>
            <a:r>
              <a:rPr lang="en-US" sz="1800" dirty="0"/>
              <a:t>      </a:t>
            </a:r>
          </a:p>
          <a:p>
            <a:r>
              <a:rPr lang="en-US" sz="1800" dirty="0"/>
              <a:t>        </a:t>
            </a:r>
            <a:r>
              <a:rPr lang="en-US" sz="1800" dirty="0" err="1"/>
              <a:t>threadMessage</a:t>
            </a:r>
            <a:r>
              <a:rPr lang="en-US" sz="1800" dirty="0"/>
              <a:t>("Starting </a:t>
            </a:r>
            <a:r>
              <a:rPr lang="en-US" sz="1800" dirty="0" err="1"/>
              <a:t>MessageLoop</a:t>
            </a:r>
            <a:r>
              <a:rPr lang="en-US" sz="1800" dirty="0"/>
              <a:t> thread");</a:t>
            </a:r>
          </a:p>
          <a:p>
            <a:r>
              <a:rPr lang="en-US" sz="1800" dirty="0"/>
              <a:t>        Thread t = new Thread(new </a:t>
            </a:r>
            <a:r>
              <a:rPr lang="en-US" sz="1800" dirty="0" err="1"/>
              <a:t>MessageLoop</a:t>
            </a:r>
            <a:r>
              <a:rPr lang="en-US" sz="1800" dirty="0"/>
              <a:t>());</a:t>
            </a:r>
          </a:p>
          <a:p>
            <a:r>
              <a:rPr lang="en-US" sz="1800" dirty="0"/>
              <a:t>        </a:t>
            </a:r>
            <a:r>
              <a:rPr lang="en-US" sz="1800" dirty="0" err="1"/>
              <a:t>t.start</a:t>
            </a:r>
            <a:r>
              <a:rPr lang="en-US" sz="1800" dirty="0"/>
              <a:t>();</a:t>
            </a:r>
          </a:p>
          <a:p>
            <a:r>
              <a:rPr lang="en-US" sz="1800" dirty="0"/>
              <a:t>        </a:t>
            </a:r>
            <a:r>
              <a:rPr lang="en-US" sz="1800" dirty="0" err="1"/>
              <a:t>threadMessage</a:t>
            </a:r>
            <a:r>
              <a:rPr lang="en-US" sz="1800" dirty="0"/>
              <a:t>("Waiting for </a:t>
            </a:r>
            <a:r>
              <a:rPr lang="en-US" sz="1800" dirty="0" err="1"/>
              <a:t>MessageLoop</a:t>
            </a:r>
            <a:r>
              <a:rPr lang="en-US" sz="1800" dirty="0"/>
              <a:t> thread to finish");</a:t>
            </a:r>
          </a:p>
          <a:p>
            <a:endParaRPr lang="en-US" sz="1800" dirty="0"/>
          </a:p>
          <a:p>
            <a:r>
              <a:rPr lang="en-US" dirty="0"/>
              <a:t>        </a:t>
            </a:r>
            <a:r>
              <a:rPr lang="en-US" dirty="0" err="1">
                <a:highlight>
                  <a:srgbClr val="C0C0C0"/>
                </a:highlight>
              </a:rPr>
              <a:t>t.interrupted</a:t>
            </a:r>
            <a:r>
              <a:rPr lang="en-US" dirty="0">
                <a:highlight>
                  <a:srgbClr val="C0C0C0"/>
                </a:highlight>
              </a:rPr>
              <a:t>();</a:t>
            </a:r>
          </a:p>
          <a:p>
            <a:endParaRPr lang="en-US" sz="1800" dirty="0">
              <a:highlight>
                <a:srgbClr val="C0C0C0"/>
              </a:highlight>
            </a:endParaRPr>
          </a:p>
          <a:p>
            <a:r>
              <a:rPr lang="en-US" sz="1800" dirty="0"/>
              <a:t>        </a:t>
            </a:r>
            <a:r>
              <a:rPr lang="en-US" sz="1800" dirty="0" err="1"/>
              <a:t>t.join</a:t>
            </a:r>
            <a:r>
              <a:rPr lang="en-US" sz="1800" dirty="0"/>
              <a:t>();</a:t>
            </a:r>
          </a:p>
          <a:p>
            <a:r>
              <a:rPr lang="en-US" sz="1800" dirty="0"/>
              <a:t>       </a:t>
            </a:r>
            <a:r>
              <a:rPr lang="en-US" sz="1800" dirty="0" err="1"/>
              <a:t>threadMessage</a:t>
            </a:r>
            <a:r>
              <a:rPr lang="en-US" sz="1800" dirty="0"/>
              <a:t>("Finally!");}</a:t>
            </a:r>
          </a:p>
        </p:txBody>
      </p:sp>
      <p:graphicFrame>
        <p:nvGraphicFramePr>
          <p:cNvPr id="11" name="Object 10">
            <a:extLst>
              <a:ext uri="{FF2B5EF4-FFF2-40B4-BE49-F238E27FC236}">
                <a16:creationId xmlns:a16="http://schemas.microsoft.com/office/drawing/2014/main" id="{EED76C56-3EDD-40AA-BE1D-CD75828274BD}"/>
              </a:ext>
            </a:extLst>
          </p:cNvPr>
          <p:cNvGraphicFramePr>
            <a:graphicFrameLocks noChangeAspect="1"/>
          </p:cNvGraphicFramePr>
          <p:nvPr>
            <p:extLst>
              <p:ext uri="{D42A27DB-BD31-4B8C-83A1-F6EECF244321}">
                <p14:modId xmlns:p14="http://schemas.microsoft.com/office/powerpoint/2010/main" val="2476144496"/>
              </p:ext>
            </p:extLst>
          </p:nvPr>
        </p:nvGraphicFramePr>
        <p:xfrm>
          <a:off x="3464855" y="4758371"/>
          <a:ext cx="8644209" cy="1490029"/>
        </p:xfrm>
        <a:graphic>
          <a:graphicData uri="http://schemas.openxmlformats.org/presentationml/2006/ole">
            <mc:AlternateContent xmlns:mc="http://schemas.openxmlformats.org/markup-compatibility/2006">
              <mc:Choice xmlns:v="urn:schemas-microsoft-com:vml" Requires="v">
                <p:oleObj name="Bitmap Image" r:id="rId2" imgW="5378400" imgH="927000" progId="Paint.Picture">
                  <p:embed/>
                </p:oleObj>
              </mc:Choice>
              <mc:Fallback>
                <p:oleObj name="Bitmap Image" r:id="rId2" imgW="5378400" imgH="927000" progId="Paint.Picture">
                  <p:embed/>
                  <p:pic>
                    <p:nvPicPr>
                      <p:cNvPr id="0" name=""/>
                      <p:cNvPicPr/>
                      <p:nvPr/>
                    </p:nvPicPr>
                    <p:blipFill>
                      <a:blip r:embed="rId3"/>
                      <a:stretch>
                        <a:fillRect/>
                      </a:stretch>
                    </p:blipFill>
                    <p:spPr>
                      <a:xfrm>
                        <a:off x="3464855" y="4758371"/>
                        <a:ext cx="8644209" cy="1490029"/>
                      </a:xfrm>
                      <a:prstGeom prst="rect">
                        <a:avLst/>
                      </a:prstGeom>
                    </p:spPr>
                  </p:pic>
                </p:oleObj>
              </mc:Fallback>
            </mc:AlternateContent>
          </a:graphicData>
        </a:graphic>
      </p:graphicFrame>
      <p:graphicFrame>
        <p:nvGraphicFramePr>
          <p:cNvPr id="2" name="Object 1">
            <a:extLst>
              <a:ext uri="{FF2B5EF4-FFF2-40B4-BE49-F238E27FC236}">
                <a16:creationId xmlns:a16="http://schemas.microsoft.com/office/drawing/2014/main" id="{8EC22A4F-6DDB-46B6-BC74-171A191DC783}"/>
              </a:ext>
            </a:extLst>
          </p:cNvPr>
          <p:cNvGraphicFramePr>
            <a:graphicFrameLocks noChangeAspect="1"/>
          </p:cNvGraphicFramePr>
          <p:nvPr>
            <p:extLst>
              <p:ext uri="{D42A27DB-BD31-4B8C-83A1-F6EECF244321}">
                <p14:modId xmlns:p14="http://schemas.microsoft.com/office/powerpoint/2010/main" val="3669863157"/>
              </p:ext>
            </p:extLst>
          </p:nvPr>
        </p:nvGraphicFramePr>
        <p:xfrm>
          <a:off x="375920" y="220187"/>
          <a:ext cx="9038801" cy="1954053"/>
        </p:xfrm>
        <a:graphic>
          <a:graphicData uri="http://schemas.openxmlformats.org/presentationml/2006/ole">
            <mc:AlternateContent xmlns:mc="http://schemas.openxmlformats.org/markup-compatibility/2006">
              <mc:Choice xmlns:v="urn:schemas-microsoft-com:vml" Requires="v">
                <p:oleObj name="Bitmap Image" r:id="rId4" imgW="5492880" imgH="1187280" progId="Paint.Picture">
                  <p:embed/>
                </p:oleObj>
              </mc:Choice>
              <mc:Fallback>
                <p:oleObj name="Bitmap Image" r:id="rId4" imgW="5492880" imgH="1187280" progId="Paint.Picture">
                  <p:embed/>
                  <p:pic>
                    <p:nvPicPr>
                      <p:cNvPr id="0" name=""/>
                      <p:cNvPicPr/>
                      <p:nvPr/>
                    </p:nvPicPr>
                    <p:blipFill>
                      <a:blip r:embed="rId5"/>
                      <a:stretch>
                        <a:fillRect/>
                      </a:stretch>
                    </p:blipFill>
                    <p:spPr>
                      <a:xfrm>
                        <a:off x="375920" y="220187"/>
                        <a:ext cx="9038801" cy="1954053"/>
                      </a:xfrm>
                      <a:prstGeom prst="rect">
                        <a:avLst/>
                      </a:prstGeom>
                    </p:spPr>
                  </p:pic>
                </p:oleObj>
              </mc:Fallback>
            </mc:AlternateContent>
          </a:graphicData>
        </a:graphic>
      </p:graphicFrame>
    </p:spTree>
    <p:extLst>
      <p:ext uri="{BB962C8B-B14F-4D97-AF65-F5344CB8AC3E}">
        <p14:creationId xmlns:p14="http://schemas.microsoft.com/office/powerpoint/2010/main" val="3967661166"/>
      </p:ext>
    </p:extLst>
  </p:cSld>
  <p:clrMapOvr>
    <a:masterClrMapping/>
  </p:clrMapOvr>
</p:sld>
</file>

<file path=ppt/slides/slide2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 name="TextBox 4"/>
          <p:cNvSpPr txBox="1"/>
          <p:nvPr/>
        </p:nvSpPr>
        <p:spPr>
          <a:xfrm>
            <a:off x="475735" y="55606"/>
            <a:ext cx="5768118" cy="1138773"/>
          </a:xfrm>
          <a:prstGeom prst="rect">
            <a:avLst/>
          </a:prstGeom>
          <a:noFill/>
        </p:spPr>
        <p:txBody>
          <a:bodyPr wrap="none" rtlCol="0">
            <a:spAutoFit/>
          </a:bodyPr>
          <a:lstStyle/>
          <a:p>
            <a:pPr marL="342900" indent="-342900">
              <a:buFont typeface="Wingdings" panose="05000000000000000000" pitchFamily="2" charset="2"/>
              <a:buChar char="Ø"/>
            </a:pPr>
            <a:r>
              <a:rPr lang="en-US" sz="2400" dirty="0" err="1"/>
              <a:t>Comunicarea</a:t>
            </a:r>
            <a:r>
              <a:rPr lang="en-US" sz="2400" dirty="0"/>
              <a:t> </a:t>
            </a:r>
            <a:r>
              <a:rPr lang="ro-RO" sz="2400" dirty="0"/>
              <a:t>î</a:t>
            </a:r>
            <a:r>
              <a:rPr lang="en-US" sz="2400" dirty="0" err="1"/>
              <a:t>ntre</a:t>
            </a:r>
            <a:r>
              <a:rPr lang="en-US" sz="2400" dirty="0"/>
              <a:t> thread-</a:t>
            </a:r>
            <a:r>
              <a:rPr lang="en-US" sz="2400" dirty="0" err="1"/>
              <a:t>uri</a:t>
            </a:r>
            <a:endParaRPr lang="en-US" sz="2400" dirty="0"/>
          </a:p>
          <a:p>
            <a:endParaRPr lang="en-US" sz="2400" dirty="0"/>
          </a:p>
          <a:p>
            <a:pPr marL="285750" indent="-285750">
              <a:buFont typeface="Wingdings" panose="05000000000000000000" pitchFamily="2" charset="2"/>
              <a:buChar char="§"/>
            </a:pPr>
            <a:r>
              <a:rPr lang="en-US" dirty="0"/>
              <a:t> </a:t>
            </a:r>
            <a:r>
              <a:rPr lang="en-US" sz="2000" dirty="0" err="1"/>
              <a:t>doua</a:t>
            </a:r>
            <a:r>
              <a:rPr lang="en-US" sz="2000" dirty="0"/>
              <a:t> thread-</a:t>
            </a:r>
            <a:r>
              <a:rPr lang="en-US" sz="2000" dirty="0" err="1"/>
              <a:t>uri</a:t>
            </a:r>
            <a:r>
              <a:rPr lang="en-US" sz="2000" dirty="0"/>
              <a:t> care </a:t>
            </a:r>
            <a:r>
              <a:rPr lang="en-US" sz="2000" dirty="0" err="1"/>
              <a:t>incrementeaza</a:t>
            </a:r>
            <a:r>
              <a:rPr lang="en-US" sz="2000" dirty="0"/>
              <a:t> </a:t>
            </a:r>
            <a:r>
              <a:rPr lang="en-US" sz="2000" dirty="0" err="1"/>
              <a:t>acelasi</a:t>
            </a:r>
            <a:r>
              <a:rPr lang="en-US" sz="2000" dirty="0"/>
              <a:t> </a:t>
            </a:r>
            <a:r>
              <a:rPr lang="en-US" sz="2000" dirty="0" err="1"/>
              <a:t>contor</a:t>
            </a:r>
            <a:endParaRPr lang="en-US" sz="2000" dirty="0"/>
          </a:p>
        </p:txBody>
      </p:sp>
      <p:sp>
        <p:nvSpPr>
          <p:cNvPr id="7" name="TextBox 6">
            <a:extLst>
              <a:ext uri="{FF2B5EF4-FFF2-40B4-BE49-F238E27FC236}">
                <a16:creationId xmlns:a16="http://schemas.microsoft.com/office/drawing/2014/main" id="{150A6BAD-1A97-434B-8CFA-1C9818525528}"/>
              </a:ext>
            </a:extLst>
          </p:cNvPr>
          <p:cNvSpPr txBox="1"/>
          <p:nvPr/>
        </p:nvSpPr>
        <p:spPr>
          <a:xfrm>
            <a:off x="878840" y="1843950"/>
            <a:ext cx="8834120" cy="3170099"/>
          </a:xfrm>
          <a:prstGeom prst="rect">
            <a:avLst/>
          </a:prstGeom>
          <a:noFill/>
          <a:ln w="38100">
            <a:solidFill>
              <a:srgbClr val="00B050"/>
            </a:solidFill>
          </a:ln>
        </p:spPr>
        <p:txBody>
          <a:bodyPr wrap="square">
            <a:spAutoFit/>
          </a:bodyPr>
          <a:lstStyle/>
          <a:p>
            <a:r>
              <a:rPr lang="en-GB" sz="2000" dirty="0"/>
              <a:t>public class </a:t>
            </a:r>
            <a:r>
              <a:rPr lang="en-GB" sz="2000" dirty="0" err="1"/>
              <a:t>SharedCounter</a:t>
            </a:r>
            <a:r>
              <a:rPr lang="en-GB" sz="2000" dirty="0"/>
              <a:t> {</a:t>
            </a:r>
          </a:p>
          <a:p>
            <a:r>
              <a:rPr lang="en-GB" sz="2000" dirty="0"/>
              <a:t>  static int c = 0; </a:t>
            </a:r>
          </a:p>
          <a:p>
            <a:endParaRPr lang="en-GB" sz="2000" dirty="0"/>
          </a:p>
          <a:p>
            <a:r>
              <a:rPr lang="en-GB" sz="2000" dirty="0"/>
              <a:t>  public static void main(String[] </a:t>
            </a:r>
            <a:r>
              <a:rPr lang="en-GB" sz="2000" dirty="0" err="1"/>
              <a:t>args</a:t>
            </a:r>
            <a:r>
              <a:rPr lang="en-GB" sz="2000" dirty="0"/>
              <a:t>)  {</a:t>
            </a:r>
          </a:p>
          <a:p>
            <a:r>
              <a:rPr lang="en-GB" sz="2000" dirty="0"/>
              <a:t>    Thread </a:t>
            </a:r>
            <a:r>
              <a:rPr lang="en-GB" sz="2000" dirty="0" err="1"/>
              <a:t>myThread</a:t>
            </a:r>
            <a:r>
              <a:rPr lang="en-GB" sz="2000" dirty="0"/>
              <a:t> = new Thread(() -&gt; { for (int x = 0; x &lt; 5000; ++x) </a:t>
            </a:r>
            <a:r>
              <a:rPr lang="en-GB" sz="2000" dirty="0" err="1"/>
              <a:t>c++</a:t>
            </a:r>
            <a:r>
              <a:rPr lang="en-GB" sz="2000" dirty="0"/>
              <a:t>; });</a:t>
            </a:r>
          </a:p>
          <a:p>
            <a:r>
              <a:rPr lang="en-GB" sz="2000" dirty="0"/>
              <a:t>    </a:t>
            </a:r>
            <a:r>
              <a:rPr lang="en-GB" sz="2000" dirty="0" err="1"/>
              <a:t>myThread.start</a:t>
            </a:r>
            <a:r>
              <a:rPr lang="en-GB" sz="2000" dirty="0"/>
              <a:t>();</a:t>
            </a:r>
          </a:p>
          <a:p>
            <a:r>
              <a:rPr lang="en-GB" sz="2000" dirty="0"/>
              <a:t>    </a:t>
            </a:r>
          </a:p>
          <a:p>
            <a:r>
              <a:rPr lang="en-GB" sz="2000" dirty="0"/>
              <a:t>    for (int x = 0; x &lt; 5000; ++x) c--;</a:t>
            </a:r>
          </a:p>
          <a:p>
            <a:r>
              <a:rPr lang="en-GB" sz="2000" dirty="0"/>
              <a:t>           </a:t>
            </a:r>
            <a:r>
              <a:rPr lang="en-GB" sz="2000" dirty="0" err="1"/>
              <a:t>System.out.println</a:t>
            </a:r>
            <a:r>
              <a:rPr lang="en-GB" sz="2000" dirty="0"/>
              <a:t>("c = " + c);</a:t>
            </a:r>
          </a:p>
          <a:p>
            <a:r>
              <a:rPr lang="en-GB" sz="2000" dirty="0"/>
              <a:t>  }}</a:t>
            </a:r>
          </a:p>
        </p:txBody>
      </p:sp>
      <p:sp>
        <p:nvSpPr>
          <p:cNvPr id="2" name="TextBox 1">
            <a:extLst>
              <a:ext uri="{FF2B5EF4-FFF2-40B4-BE49-F238E27FC236}">
                <a16:creationId xmlns:a16="http://schemas.microsoft.com/office/drawing/2014/main" id="{2F8E1F55-CE92-0000-AA9F-25418A24FD87}"/>
              </a:ext>
            </a:extLst>
          </p:cNvPr>
          <p:cNvSpPr txBox="1"/>
          <p:nvPr/>
        </p:nvSpPr>
        <p:spPr>
          <a:xfrm>
            <a:off x="8737600" y="3862070"/>
            <a:ext cx="2854960" cy="646331"/>
          </a:xfrm>
          <a:prstGeom prst="rect">
            <a:avLst/>
          </a:prstGeom>
          <a:ln w="28575">
            <a:solidFill>
              <a:srgbClr val="FF0000"/>
            </a:solidFill>
          </a:ln>
        </p:spPr>
        <p:style>
          <a:lnRef idx="2">
            <a:schemeClr val="accent2"/>
          </a:lnRef>
          <a:fillRef idx="1">
            <a:schemeClr val="lt1"/>
          </a:fillRef>
          <a:effectRef idx="0">
            <a:schemeClr val="accent2"/>
          </a:effectRef>
          <a:fontRef idx="minor">
            <a:schemeClr val="dk1"/>
          </a:fontRef>
        </p:style>
        <p:txBody>
          <a:bodyPr wrap="square" rtlCol="0">
            <a:spAutoFit/>
          </a:bodyPr>
          <a:lstStyle/>
          <a:p>
            <a:r>
              <a:rPr lang="en-US" dirty="0"/>
              <a:t>&gt;java SharedCounter.java</a:t>
            </a:r>
          </a:p>
          <a:p>
            <a:r>
              <a:rPr lang="en-US" dirty="0"/>
              <a:t>c=-5000</a:t>
            </a:r>
            <a:endParaRPr lang="en-GB" dirty="0"/>
          </a:p>
        </p:txBody>
      </p:sp>
    </p:spTree>
    <p:extLst>
      <p:ext uri="{BB962C8B-B14F-4D97-AF65-F5344CB8AC3E}">
        <p14:creationId xmlns:p14="http://schemas.microsoft.com/office/powerpoint/2010/main" val="2557264156"/>
      </p:ext>
    </p:extLst>
  </p:cSld>
  <p:clrMapOvr>
    <a:masterClrMapping/>
  </p:clrMapOvr>
</p:sld>
</file>

<file path=ppt/slides/slide2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 name="TextBox 4"/>
          <p:cNvSpPr txBox="1"/>
          <p:nvPr/>
        </p:nvSpPr>
        <p:spPr>
          <a:xfrm>
            <a:off x="475735" y="55606"/>
            <a:ext cx="5768118" cy="1138773"/>
          </a:xfrm>
          <a:prstGeom prst="rect">
            <a:avLst/>
          </a:prstGeom>
          <a:noFill/>
        </p:spPr>
        <p:txBody>
          <a:bodyPr wrap="none" rtlCol="0">
            <a:spAutoFit/>
          </a:bodyPr>
          <a:lstStyle/>
          <a:p>
            <a:pPr marL="342900" indent="-342900">
              <a:buFont typeface="Wingdings" panose="05000000000000000000" pitchFamily="2" charset="2"/>
              <a:buChar char="Ø"/>
            </a:pPr>
            <a:r>
              <a:rPr lang="en-US" sz="2400" dirty="0" err="1"/>
              <a:t>Comunicarea</a:t>
            </a:r>
            <a:r>
              <a:rPr lang="en-US" sz="2400" dirty="0"/>
              <a:t> </a:t>
            </a:r>
            <a:r>
              <a:rPr lang="ro-RO" sz="2400" dirty="0"/>
              <a:t>î</a:t>
            </a:r>
            <a:r>
              <a:rPr lang="en-US" sz="2400" dirty="0" err="1"/>
              <a:t>ntre</a:t>
            </a:r>
            <a:r>
              <a:rPr lang="en-US" sz="2400" dirty="0"/>
              <a:t> thread-</a:t>
            </a:r>
            <a:r>
              <a:rPr lang="en-US" sz="2400" dirty="0" err="1"/>
              <a:t>uri</a:t>
            </a:r>
            <a:endParaRPr lang="en-US" sz="2400" dirty="0"/>
          </a:p>
          <a:p>
            <a:endParaRPr lang="en-US" sz="2400" dirty="0"/>
          </a:p>
          <a:p>
            <a:pPr marL="285750" indent="-285750">
              <a:buFont typeface="Wingdings" panose="05000000000000000000" pitchFamily="2" charset="2"/>
              <a:buChar char="§"/>
            </a:pPr>
            <a:r>
              <a:rPr lang="en-US" dirty="0"/>
              <a:t> </a:t>
            </a:r>
            <a:r>
              <a:rPr lang="en-US" sz="2000" dirty="0" err="1"/>
              <a:t>doua</a:t>
            </a:r>
            <a:r>
              <a:rPr lang="en-US" sz="2000" dirty="0"/>
              <a:t> thread-</a:t>
            </a:r>
            <a:r>
              <a:rPr lang="en-US" sz="2000" dirty="0" err="1"/>
              <a:t>uri</a:t>
            </a:r>
            <a:r>
              <a:rPr lang="en-US" sz="2000" dirty="0"/>
              <a:t> care </a:t>
            </a:r>
            <a:r>
              <a:rPr lang="en-US" sz="2000" dirty="0" err="1"/>
              <a:t>incrementeaza</a:t>
            </a:r>
            <a:r>
              <a:rPr lang="en-US" sz="2000" dirty="0"/>
              <a:t> </a:t>
            </a:r>
            <a:r>
              <a:rPr lang="en-US" sz="2000" dirty="0" err="1"/>
              <a:t>acelasi</a:t>
            </a:r>
            <a:r>
              <a:rPr lang="en-US" sz="2000" dirty="0"/>
              <a:t> </a:t>
            </a:r>
            <a:r>
              <a:rPr lang="en-US" sz="2000" dirty="0" err="1"/>
              <a:t>contor</a:t>
            </a:r>
            <a:endParaRPr lang="en-US" sz="2000" dirty="0"/>
          </a:p>
        </p:txBody>
      </p:sp>
      <p:sp>
        <p:nvSpPr>
          <p:cNvPr id="7" name="TextBox 6">
            <a:extLst>
              <a:ext uri="{FF2B5EF4-FFF2-40B4-BE49-F238E27FC236}">
                <a16:creationId xmlns:a16="http://schemas.microsoft.com/office/drawing/2014/main" id="{150A6BAD-1A97-434B-8CFA-1C9818525528}"/>
              </a:ext>
            </a:extLst>
          </p:cNvPr>
          <p:cNvSpPr txBox="1"/>
          <p:nvPr/>
        </p:nvSpPr>
        <p:spPr>
          <a:xfrm>
            <a:off x="929640" y="1390124"/>
            <a:ext cx="8834120" cy="4093428"/>
          </a:xfrm>
          <a:prstGeom prst="rect">
            <a:avLst/>
          </a:prstGeom>
          <a:noFill/>
          <a:ln w="38100">
            <a:solidFill>
              <a:srgbClr val="00B050"/>
            </a:solidFill>
          </a:ln>
        </p:spPr>
        <p:txBody>
          <a:bodyPr wrap="square">
            <a:spAutoFit/>
          </a:bodyPr>
          <a:lstStyle/>
          <a:p>
            <a:r>
              <a:rPr lang="en-GB" sz="2000" dirty="0"/>
              <a:t>public class </a:t>
            </a:r>
            <a:r>
              <a:rPr lang="en-GB" sz="2000" dirty="0" err="1"/>
              <a:t>SharedCounter</a:t>
            </a:r>
            <a:r>
              <a:rPr lang="en-GB" sz="2000" dirty="0"/>
              <a:t> {</a:t>
            </a:r>
          </a:p>
          <a:p>
            <a:r>
              <a:rPr lang="en-GB" sz="2000" dirty="0"/>
              <a:t>  static int c = 0; </a:t>
            </a:r>
          </a:p>
          <a:p>
            <a:endParaRPr lang="en-GB" sz="2000" dirty="0"/>
          </a:p>
          <a:p>
            <a:r>
              <a:rPr lang="en-GB" sz="2000" dirty="0"/>
              <a:t>  public static void main(String[] </a:t>
            </a:r>
            <a:r>
              <a:rPr lang="en-GB" sz="2000" dirty="0" err="1"/>
              <a:t>args</a:t>
            </a:r>
            <a:r>
              <a:rPr lang="en-GB" sz="2000" dirty="0"/>
              <a:t>) throws </a:t>
            </a:r>
            <a:r>
              <a:rPr lang="en-GB" sz="2000" dirty="0" err="1"/>
              <a:t>InterruptedException</a:t>
            </a:r>
            <a:r>
              <a:rPr lang="en-GB" sz="2000" dirty="0"/>
              <a:t> {</a:t>
            </a:r>
          </a:p>
          <a:p>
            <a:r>
              <a:rPr lang="en-GB" sz="2000" dirty="0"/>
              <a:t>    Thread </a:t>
            </a:r>
            <a:r>
              <a:rPr lang="en-GB" sz="2000" dirty="0" err="1"/>
              <a:t>myThread</a:t>
            </a:r>
            <a:r>
              <a:rPr lang="en-GB" sz="2000" dirty="0"/>
              <a:t> = new Thread(() -&gt; {  for (int x = 0; x &lt; 5000; ++x) </a:t>
            </a:r>
            <a:r>
              <a:rPr lang="en-GB" sz="2000" dirty="0" err="1"/>
              <a:t>c++</a:t>
            </a:r>
            <a:r>
              <a:rPr lang="en-GB" sz="2000" dirty="0"/>
              <a:t>;  });</a:t>
            </a:r>
          </a:p>
          <a:p>
            <a:r>
              <a:rPr lang="en-GB" sz="2000" dirty="0"/>
              <a:t>    </a:t>
            </a:r>
            <a:r>
              <a:rPr lang="en-GB" sz="2000" dirty="0" err="1"/>
              <a:t>myThread.start</a:t>
            </a:r>
            <a:r>
              <a:rPr lang="en-GB" sz="2000" dirty="0"/>
              <a:t>();</a:t>
            </a:r>
          </a:p>
          <a:p>
            <a:endParaRPr lang="en-GB" sz="2000" dirty="0"/>
          </a:p>
          <a:p>
            <a:r>
              <a:rPr lang="en-GB" sz="2000" dirty="0"/>
              <a:t>   </a:t>
            </a:r>
            <a:r>
              <a:rPr lang="en-GB" sz="2000" dirty="0" err="1"/>
              <a:t>Thread.sleep</a:t>
            </a:r>
            <a:r>
              <a:rPr lang="en-GB" sz="2000" dirty="0"/>
              <a:t>(3000); </a:t>
            </a:r>
          </a:p>
          <a:p>
            <a:endParaRPr lang="en-GB" sz="2000" dirty="0"/>
          </a:p>
          <a:p>
            <a:r>
              <a:rPr lang="en-GB" sz="2000" dirty="0"/>
              <a:t>  for (int x = 0; x &lt; 5000; ++x) c--;</a:t>
            </a:r>
          </a:p>
          <a:p>
            <a:r>
              <a:rPr lang="en-GB" sz="2000" dirty="0"/>
              <a:t>  </a:t>
            </a:r>
          </a:p>
          <a:p>
            <a:r>
              <a:rPr lang="en-GB" sz="2000" dirty="0"/>
              <a:t>  </a:t>
            </a:r>
            <a:r>
              <a:rPr lang="en-GB" sz="2000" dirty="0" err="1"/>
              <a:t>System.out.println</a:t>
            </a:r>
            <a:r>
              <a:rPr lang="en-GB" sz="2000" dirty="0"/>
              <a:t>("c = " + c);</a:t>
            </a:r>
          </a:p>
          <a:p>
            <a:r>
              <a:rPr lang="en-GB" sz="2000" dirty="0"/>
              <a:t>  }}</a:t>
            </a:r>
          </a:p>
        </p:txBody>
      </p:sp>
      <p:sp>
        <p:nvSpPr>
          <p:cNvPr id="2" name="TextBox 1">
            <a:extLst>
              <a:ext uri="{FF2B5EF4-FFF2-40B4-BE49-F238E27FC236}">
                <a16:creationId xmlns:a16="http://schemas.microsoft.com/office/drawing/2014/main" id="{2F8E1F55-CE92-0000-AA9F-25418A24FD87}"/>
              </a:ext>
            </a:extLst>
          </p:cNvPr>
          <p:cNvSpPr txBox="1"/>
          <p:nvPr/>
        </p:nvSpPr>
        <p:spPr>
          <a:xfrm>
            <a:off x="7386320" y="3972559"/>
            <a:ext cx="2854960" cy="646331"/>
          </a:xfrm>
          <a:prstGeom prst="rect">
            <a:avLst/>
          </a:prstGeom>
          <a:ln w="28575">
            <a:solidFill>
              <a:srgbClr val="FF0000"/>
            </a:solidFill>
          </a:ln>
        </p:spPr>
        <p:style>
          <a:lnRef idx="2">
            <a:schemeClr val="accent2"/>
          </a:lnRef>
          <a:fillRef idx="1">
            <a:schemeClr val="lt1"/>
          </a:fillRef>
          <a:effectRef idx="0">
            <a:schemeClr val="accent2"/>
          </a:effectRef>
          <a:fontRef idx="minor">
            <a:schemeClr val="dk1"/>
          </a:fontRef>
        </p:style>
        <p:txBody>
          <a:bodyPr wrap="square" rtlCol="0">
            <a:spAutoFit/>
          </a:bodyPr>
          <a:lstStyle/>
          <a:p>
            <a:r>
              <a:rPr lang="en-US" dirty="0">
                <a:solidFill>
                  <a:schemeClr val="tx1"/>
                </a:solidFill>
              </a:rPr>
              <a:t>&gt;java SharedCounter.java</a:t>
            </a:r>
          </a:p>
          <a:p>
            <a:r>
              <a:rPr lang="en-US" dirty="0">
                <a:solidFill>
                  <a:schemeClr val="tx1"/>
                </a:solidFill>
              </a:rPr>
              <a:t>c=0</a:t>
            </a:r>
            <a:endParaRPr lang="en-GB" dirty="0">
              <a:solidFill>
                <a:schemeClr val="tx1"/>
              </a:solidFill>
            </a:endParaRPr>
          </a:p>
        </p:txBody>
      </p:sp>
      <p:cxnSp>
        <p:nvCxnSpPr>
          <p:cNvPr id="4" name="Straight Arrow Connector 3">
            <a:extLst>
              <a:ext uri="{FF2B5EF4-FFF2-40B4-BE49-F238E27FC236}">
                <a16:creationId xmlns:a16="http://schemas.microsoft.com/office/drawing/2014/main" id="{6A70646C-D3E1-4CB5-5B3B-B94D0FEF0221}"/>
              </a:ext>
            </a:extLst>
          </p:cNvPr>
          <p:cNvCxnSpPr>
            <a:endCxn id="2" idx="1"/>
          </p:cNvCxnSpPr>
          <p:nvPr/>
        </p:nvCxnSpPr>
        <p:spPr>
          <a:xfrm>
            <a:off x="4531360" y="4295724"/>
            <a:ext cx="2854960" cy="1"/>
          </a:xfrm>
          <a:prstGeom prst="straightConnector1">
            <a:avLst/>
          </a:prstGeom>
          <a:ln>
            <a:tailEnd type="triangle"/>
          </a:ln>
        </p:spPr>
        <p:style>
          <a:lnRef idx="1">
            <a:schemeClr val="dk1"/>
          </a:lnRef>
          <a:fillRef idx="0">
            <a:schemeClr val="dk1"/>
          </a:fillRef>
          <a:effectRef idx="0">
            <a:schemeClr val="dk1"/>
          </a:effectRef>
          <a:fontRef idx="minor">
            <a:schemeClr val="tx1"/>
          </a:fontRef>
        </p:style>
      </p:cxnSp>
      <p:sp>
        <p:nvSpPr>
          <p:cNvPr id="6" name="TextBox 5">
            <a:extLst>
              <a:ext uri="{FF2B5EF4-FFF2-40B4-BE49-F238E27FC236}">
                <a16:creationId xmlns:a16="http://schemas.microsoft.com/office/drawing/2014/main" id="{0D0F70E0-333C-2947-B833-C89B5400D416}"/>
              </a:ext>
            </a:extLst>
          </p:cNvPr>
          <p:cNvSpPr txBox="1"/>
          <p:nvPr/>
        </p:nvSpPr>
        <p:spPr>
          <a:xfrm>
            <a:off x="4531360" y="3926392"/>
            <a:ext cx="1795684" cy="369332"/>
          </a:xfrm>
          <a:prstGeom prst="rect">
            <a:avLst/>
          </a:prstGeom>
          <a:noFill/>
        </p:spPr>
        <p:txBody>
          <a:bodyPr wrap="none" rtlCol="0">
            <a:spAutoFit/>
          </a:bodyPr>
          <a:lstStyle/>
          <a:p>
            <a:r>
              <a:rPr lang="en-US" dirty="0" err="1">
                <a:solidFill>
                  <a:srgbClr val="FF0000"/>
                </a:solidFill>
              </a:rPr>
              <a:t>durata</a:t>
            </a:r>
            <a:r>
              <a:rPr lang="en-US" dirty="0">
                <a:solidFill>
                  <a:srgbClr val="FF0000"/>
                </a:solidFill>
              </a:rPr>
              <a:t> </a:t>
            </a:r>
            <a:r>
              <a:rPr lang="en-US" dirty="0" err="1">
                <a:solidFill>
                  <a:srgbClr val="FF0000"/>
                </a:solidFill>
              </a:rPr>
              <a:t>executiei</a:t>
            </a:r>
            <a:r>
              <a:rPr lang="en-US" dirty="0">
                <a:solidFill>
                  <a:srgbClr val="FF0000"/>
                </a:solidFill>
              </a:rPr>
              <a:t>?</a:t>
            </a:r>
            <a:endParaRPr lang="en-GB" dirty="0">
              <a:solidFill>
                <a:srgbClr val="FF0000"/>
              </a:solidFill>
            </a:endParaRPr>
          </a:p>
        </p:txBody>
      </p:sp>
    </p:spTree>
    <p:extLst>
      <p:ext uri="{BB962C8B-B14F-4D97-AF65-F5344CB8AC3E}">
        <p14:creationId xmlns:p14="http://schemas.microsoft.com/office/powerpoint/2010/main" val="1352831550"/>
      </p:ext>
    </p:extLst>
  </p:cSld>
  <p:clrMapOvr>
    <a:masterClrMapping/>
  </p:clrMapOvr>
</p:sld>
</file>

<file path=ppt/slides/slide2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 name="TextBox 4"/>
          <p:cNvSpPr txBox="1"/>
          <p:nvPr/>
        </p:nvSpPr>
        <p:spPr>
          <a:xfrm>
            <a:off x="475735" y="55606"/>
            <a:ext cx="5768118" cy="1138773"/>
          </a:xfrm>
          <a:prstGeom prst="rect">
            <a:avLst/>
          </a:prstGeom>
          <a:noFill/>
        </p:spPr>
        <p:txBody>
          <a:bodyPr wrap="none" rtlCol="0">
            <a:spAutoFit/>
          </a:bodyPr>
          <a:lstStyle/>
          <a:p>
            <a:pPr marL="342900" indent="-342900">
              <a:buFont typeface="Wingdings" panose="05000000000000000000" pitchFamily="2" charset="2"/>
              <a:buChar char="Ø"/>
            </a:pPr>
            <a:r>
              <a:rPr lang="en-US" sz="2400" dirty="0" err="1"/>
              <a:t>Comunicarea</a:t>
            </a:r>
            <a:r>
              <a:rPr lang="en-US" sz="2400" dirty="0"/>
              <a:t> </a:t>
            </a:r>
            <a:r>
              <a:rPr lang="ro-RO" sz="2400" dirty="0"/>
              <a:t>î</a:t>
            </a:r>
            <a:r>
              <a:rPr lang="en-US" sz="2400" dirty="0" err="1"/>
              <a:t>ntre</a:t>
            </a:r>
            <a:r>
              <a:rPr lang="en-US" sz="2400" dirty="0"/>
              <a:t> thread-</a:t>
            </a:r>
            <a:r>
              <a:rPr lang="en-US" sz="2400" dirty="0" err="1"/>
              <a:t>uri</a:t>
            </a:r>
            <a:endParaRPr lang="en-US" sz="2400" dirty="0"/>
          </a:p>
          <a:p>
            <a:endParaRPr lang="en-US" sz="2400" dirty="0"/>
          </a:p>
          <a:p>
            <a:pPr marL="285750" indent="-285750">
              <a:buFont typeface="Wingdings" panose="05000000000000000000" pitchFamily="2" charset="2"/>
              <a:buChar char="§"/>
            </a:pPr>
            <a:r>
              <a:rPr lang="en-US" dirty="0"/>
              <a:t> </a:t>
            </a:r>
            <a:r>
              <a:rPr lang="en-US" sz="2000" dirty="0" err="1"/>
              <a:t>doua</a:t>
            </a:r>
            <a:r>
              <a:rPr lang="en-US" sz="2000" dirty="0"/>
              <a:t> thread-</a:t>
            </a:r>
            <a:r>
              <a:rPr lang="en-US" sz="2000" dirty="0" err="1"/>
              <a:t>uri</a:t>
            </a:r>
            <a:r>
              <a:rPr lang="en-US" sz="2000" dirty="0"/>
              <a:t> care </a:t>
            </a:r>
            <a:r>
              <a:rPr lang="en-US" sz="2000" dirty="0" err="1"/>
              <a:t>incrementeaza</a:t>
            </a:r>
            <a:r>
              <a:rPr lang="en-US" sz="2000" dirty="0"/>
              <a:t> </a:t>
            </a:r>
            <a:r>
              <a:rPr lang="en-US" sz="2000" dirty="0" err="1"/>
              <a:t>acelasi</a:t>
            </a:r>
            <a:r>
              <a:rPr lang="en-US" sz="2000" dirty="0"/>
              <a:t> </a:t>
            </a:r>
            <a:r>
              <a:rPr lang="en-US" sz="2000" dirty="0" err="1"/>
              <a:t>contor</a:t>
            </a:r>
            <a:endParaRPr lang="en-US" sz="2000" dirty="0"/>
          </a:p>
        </p:txBody>
      </p:sp>
      <p:sp>
        <p:nvSpPr>
          <p:cNvPr id="7" name="TextBox 6">
            <a:extLst>
              <a:ext uri="{FF2B5EF4-FFF2-40B4-BE49-F238E27FC236}">
                <a16:creationId xmlns:a16="http://schemas.microsoft.com/office/drawing/2014/main" id="{150A6BAD-1A97-434B-8CFA-1C9818525528}"/>
              </a:ext>
            </a:extLst>
          </p:cNvPr>
          <p:cNvSpPr txBox="1"/>
          <p:nvPr/>
        </p:nvSpPr>
        <p:spPr>
          <a:xfrm>
            <a:off x="675640" y="1400284"/>
            <a:ext cx="8834120" cy="4708981"/>
          </a:xfrm>
          <a:prstGeom prst="rect">
            <a:avLst/>
          </a:prstGeom>
          <a:noFill/>
          <a:ln w="38100">
            <a:solidFill>
              <a:srgbClr val="00B050"/>
            </a:solidFill>
          </a:ln>
        </p:spPr>
        <p:txBody>
          <a:bodyPr wrap="square">
            <a:spAutoFit/>
          </a:bodyPr>
          <a:lstStyle/>
          <a:p>
            <a:r>
              <a:rPr lang="en-GB" sz="2000" dirty="0"/>
              <a:t>public class </a:t>
            </a:r>
            <a:r>
              <a:rPr lang="en-GB" sz="2000" dirty="0" err="1"/>
              <a:t>SharedCounter</a:t>
            </a:r>
            <a:r>
              <a:rPr lang="en-GB" sz="2000" dirty="0"/>
              <a:t> {</a:t>
            </a:r>
          </a:p>
          <a:p>
            <a:r>
              <a:rPr lang="en-GB" sz="2000" dirty="0"/>
              <a:t>  static int c = 0; </a:t>
            </a:r>
          </a:p>
          <a:p>
            <a:endParaRPr lang="en-GB" sz="2000" dirty="0"/>
          </a:p>
          <a:p>
            <a:r>
              <a:rPr lang="en-GB" sz="2000" dirty="0"/>
              <a:t>  public static void main(String[] </a:t>
            </a:r>
            <a:r>
              <a:rPr lang="en-GB" sz="2000" dirty="0" err="1"/>
              <a:t>args</a:t>
            </a:r>
            <a:r>
              <a:rPr lang="en-GB" sz="2000" dirty="0"/>
              <a:t>) throws </a:t>
            </a:r>
            <a:r>
              <a:rPr lang="en-GB" sz="2000" dirty="0" err="1"/>
              <a:t>InterruptedException</a:t>
            </a:r>
            <a:r>
              <a:rPr lang="en-GB" sz="2000" dirty="0"/>
              <a:t> {</a:t>
            </a:r>
          </a:p>
          <a:p>
            <a:r>
              <a:rPr lang="en-GB" sz="2000" dirty="0"/>
              <a:t>    Thread </a:t>
            </a:r>
            <a:r>
              <a:rPr lang="en-GB" sz="2000" dirty="0" err="1"/>
              <a:t>myThread</a:t>
            </a:r>
            <a:r>
              <a:rPr lang="en-GB" sz="2000" dirty="0"/>
              <a:t> = new Thread(() -&gt; {</a:t>
            </a:r>
          </a:p>
          <a:p>
            <a:r>
              <a:rPr lang="en-GB" sz="2000" dirty="0"/>
              <a:t>      for (int x = 0; x &lt; 5000; ++x) </a:t>
            </a:r>
            <a:r>
              <a:rPr lang="en-GB" sz="2000" dirty="0" err="1"/>
              <a:t>c++</a:t>
            </a:r>
            <a:r>
              <a:rPr lang="en-GB" sz="2000" dirty="0"/>
              <a:t>;</a:t>
            </a:r>
          </a:p>
          <a:p>
            <a:r>
              <a:rPr lang="en-GB" sz="2000" dirty="0"/>
              <a:t>    });</a:t>
            </a:r>
          </a:p>
          <a:p>
            <a:r>
              <a:rPr lang="en-GB" sz="2000" dirty="0"/>
              <a:t>    </a:t>
            </a:r>
            <a:r>
              <a:rPr lang="en-GB" sz="2000" dirty="0" err="1"/>
              <a:t>myThread.start</a:t>
            </a:r>
            <a:r>
              <a:rPr lang="en-GB" sz="2000" dirty="0"/>
              <a:t>();</a:t>
            </a:r>
          </a:p>
          <a:p>
            <a:r>
              <a:rPr lang="en-GB" sz="2000" dirty="0"/>
              <a:t>    </a:t>
            </a:r>
          </a:p>
          <a:p>
            <a:r>
              <a:rPr lang="en-GB" sz="2000" dirty="0"/>
              <a:t>  for (int x = 0; x &lt; 5000; ++x) c--;</a:t>
            </a:r>
          </a:p>
          <a:p>
            <a:r>
              <a:rPr lang="en-GB" sz="2000" dirty="0"/>
              <a:t>  </a:t>
            </a:r>
          </a:p>
          <a:p>
            <a:r>
              <a:rPr lang="en-GB" sz="2000" dirty="0"/>
              <a:t>  </a:t>
            </a:r>
            <a:r>
              <a:rPr lang="en-GB" sz="2000" dirty="0" err="1"/>
              <a:t>myThread.join</a:t>
            </a:r>
            <a:r>
              <a:rPr lang="en-GB" sz="2000" dirty="0"/>
              <a:t>();</a:t>
            </a:r>
          </a:p>
          <a:p>
            <a:r>
              <a:rPr lang="en-GB" sz="2000" dirty="0"/>
              <a:t> </a:t>
            </a:r>
          </a:p>
          <a:p>
            <a:r>
              <a:rPr lang="en-GB" sz="2000" dirty="0"/>
              <a:t> </a:t>
            </a:r>
            <a:r>
              <a:rPr lang="en-GB" sz="2000" dirty="0" err="1"/>
              <a:t>System.out.println</a:t>
            </a:r>
            <a:r>
              <a:rPr lang="en-GB" sz="2000" dirty="0"/>
              <a:t>("c = " + c);</a:t>
            </a:r>
          </a:p>
          <a:p>
            <a:r>
              <a:rPr lang="en-GB" sz="2000" dirty="0"/>
              <a:t>  }}</a:t>
            </a:r>
          </a:p>
        </p:txBody>
      </p:sp>
    </p:spTree>
    <p:extLst>
      <p:ext uri="{BB962C8B-B14F-4D97-AF65-F5344CB8AC3E}">
        <p14:creationId xmlns:p14="http://schemas.microsoft.com/office/powerpoint/2010/main" val="1927517446"/>
      </p:ext>
    </p:extLst>
  </p:cSld>
  <p:clrMapOvr>
    <a:masterClrMapping/>
  </p:clrMapOvr>
</p:sld>
</file>

<file path=ppt/slides/slide2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 name="TextBox 4"/>
          <p:cNvSpPr txBox="1"/>
          <p:nvPr/>
        </p:nvSpPr>
        <p:spPr>
          <a:xfrm>
            <a:off x="475735" y="55606"/>
            <a:ext cx="5242076" cy="1107996"/>
          </a:xfrm>
          <a:prstGeom prst="rect">
            <a:avLst/>
          </a:prstGeom>
          <a:noFill/>
        </p:spPr>
        <p:txBody>
          <a:bodyPr wrap="none" rtlCol="0">
            <a:spAutoFit/>
          </a:bodyPr>
          <a:lstStyle/>
          <a:p>
            <a:pPr marL="342900" indent="-342900">
              <a:buFont typeface="Wingdings" panose="05000000000000000000" pitchFamily="2" charset="2"/>
              <a:buChar char="Ø"/>
            </a:pPr>
            <a:r>
              <a:rPr lang="en-US" sz="2400" dirty="0" err="1"/>
              <a:t>Comunicarea</a:t>
            </a:r>
            <a:r>
              <a:rPr lang="en-US" sz="2400" dirty="0"/>
              <a:t> </a:t>
            </a:r>
            <a:r>
              <a:rPr lang="ro-RO" sz="2400" dirty="0"/>
              <a:t>î</a:t>
            </a:r>
            <a:r>
              <a:rPr lang="en-US" sz="2400" dirty="0" err="1"/>
              <a:t>ntre</a:t>
            </a:r>
            <a:r>
              <a:rPr lang="en-US" sz="2400" dirty="0"/>
              <a:t> thread-</a:t>
            </a:r>
            <a:r>
              <a:rPr lang="en-US" sz="2400" dirty="0" err="1"/>
              <a:t>uri</a:t>
            </a:r>
            <a:endParaRPr lang="en-US" sz="2400" dirty="0"/>
          </a:p>
          <a:p>
            <a:endParaRPr lang="en-US" sz="2400" dirty="0"/>
          </a:p>
          <a:p>
            <a:pPr marL="285750" indent="-285750">
              <a:buFont typeface="Wingdings" panose="05000000000000000000" pitchFamily="2" charset="2"/>
              <a:buChar char="§"/>
            </a:pPr>
            <a:r>
              <a:rPr lang="en-US" dirty="0"/>
              <a:t> </a:t>
            </a:r>
            <a:r>
              <a:rPr lang="en-US" dirty="0" err="1"/>
              <a:t>doua</a:t>
            </a:r>
            <a:r>
              <a:rPr lang="en-US" dirty="0"/>
              <a:t> thread-</a:t>
            </a:r>
            <a:r>
              <a:rPr lang="en-US" dirty="0" err="1"/>
              <a:t>uri</a:t>
            </a:r>
            <a:r>
              <a:rPr lang="en-US" dirty="0"/>
              <a:t> care </a:t>
            </a:r>
            <a:r>
              <a:rPr lang="en-US" dirty="0" err="1"/>
              <a:t>incrementeaza</a:t>
            </a:r>
            <a:r>
              <a:rPr lang="en-US" dirty="0"/>
              <a:t> </a:t>
            </a:r>
            <a:r>
              <a:rPr lang="en-US" dirty="0" err="1"/>
              <a:t>acelasi</a:t>
            </a:r>
            <a:r>
              <a:rPr lang="en-US" dirty="0"/>
              <a:t> </a:t>
            </a:r>
            <a:r>
              <a:rPr lang="en-US" dirty="0" err="1"/>
              <a:t>contor</a:t>
            </a:r>
            <a:endParaRPr lang="en-US" dirty="0"/>
          </a:p>
        </p:txBody>
      </p:sp>
      <p:sp>
        <p:nvSpPr>
          <p:cNvPr id="7" name="TextBox 6">
            <a:extLst>
              <a:ext uri="{FF2B5EF4-FFF2-40B4-BE49-F238E27FC236}">
                <a16:creationId xmlns:a16="http://schemas.microsoft.com/office/drawing/2014/main" id="{150A6BAD-1A97-434B-8CFA-1C9818525528}"/>
              </a:ext>
            </a:extLst>
          </p:cNvPr>
          <p:cNvSpPr txBox="1"/>
          <p:nvPr/>
        </p:nvSpPr>
        <p:spPr>
          <a:xfrm>
            <a:off x="675640" y="1400284"/>
            <a:ext cx="8834120" cy="4093428"/>
          </a:xfrm>
          <a:prstGeom prst="rect">
            <a:avLst/>
          </a:prstGeom>
          <a:noFill/>
          <a:ln w="38100">
            <a:solidFill>
              <a:srgbClr val="00B050"/>
            </a:solidFill>
          </a:ln>
        </p:spPr>
        <p:txBody>
          <a:bodyPr wrap="square">
            <a:spAutoFit/>
          </a:bodyPr>
          <a:lstStyle/>
          <a:p>
            <a:r>
              <a:rPr lang="en-GB" sz="2000" dirty="0"/>
              <a:t>public class </a:t>
            </a:r>
            <a:r>
              <a:rPr lang="en-GB" sz="2000" dirty="0" err="1"/>
              <a:t>SharedCounter</a:t>
            </a:r>
            <a:r>
              <a:rPr lang="en-GB" sz="2000" dirty="0"/>
              <a:t> {</a:t>
            </a:r>
          </a:p>
          <a:p>
            <a:r>
              <a:rPr lang="en-GB" sz="2000" dirty="0"/>
              <a:t>  static int c = 0; </a:t>
            </a:r>
          </a:p>
          <a:p>
            <a:endParaRPr lang="en-GB" sz="2000" dirty="0"/>
          </a:p>
          <a:p>
            <a:r>
              <a:rPr lang="en-GB" sz="2000" dirty="0"/>
              <a:t>  public static void main(String[] </a:t>
            </a:r>
            <a:r>
              <a:rPr lang="en-GB" sz="2000" dirty="0" err="1"/>
              <a:t>args</a:t>
            </a:r>
            <a:r>
              <a:rPr lang="en-GB" sz="2000" dirty="0"/>
              <a:t>) throws </a:t>
            </a:r>
            <a:r>
              <a:rPr lang="en-GB" sz="2000" dirty="0" err="1"/>
              <a:t>InterruptedException</a:t>
            </a:r>
            <a:r>
              <a:rPr lang="en-GB" sz="2000" dirty="0"/>
              <a:t> {</a:t>
            </a:r>
          </a:p>
          <a:p>
            <a:r>
              <a:rPr lang="en-GB" sz="2000" dirty="0"/>
              <a:t>    Thread </a:t>
            </a:r>
            <a:r>
              <a:rPr lang="en-GB" sz="2000" dirty="0" err="1"/>
              <a:t>myThread</a:t>
            </a:r>
            <a:r>
              <a:rPr lang="en-GB" sz="2000" dirty="0"/>
              <a:t> = new Thread(() -&gt; { for (int x = 0; x &lt; 5000; ++x) </a:t>
            </a:r>
            <a:r>
              <a:rPr lang="en-GB" sz="2000" dirty="0" err="1"/>
              <a:t>c++</a:t>
            </a:r>
            <a:r>
              <a:rPr lang="en-GB" sz="2000" dirty="0"/>
              <a:t>; });</a:t>
            </a:r>
          </a:p>
          <a:p>
            <a:r>
              <a:rPr lang="en-GB" sz="2000" dirty="0"/>
              <a:t>    </a:t>
            </a:r>
            <a:r>
              <a:rPr lang="en-GB" sz="2000" dirty="0" err="1"/>
              <a:t>myThread.start</a:t>
            </a:r>
            <a:r>
              <a:rPr lang="en-GB" sz="2000" dirty="0"/>
              <a:t>();</a:t>
            </a:r>
          </a:p>
          <a:p>
            <a:r>
              <a:rPr lang="en-GB" sz="2000" dirty="0"/>
              <a:t>    </a:t>
            </a:r>
          </a:p>
          <a:p>
            <a:r>
              <a:rPr lang="en-GB" sz="2000" dirty="0"/>
              <a:t>  for (int x = 0; x &lt; 5000; ++x) c--;</a:t>
            </a:r>
          </a:p>
          <a:p>
            <a:r>
              <a:rPr lang="en-GB" sz="2000" dirty="0"/>
              <a:t>  </a:t>
            </a:r>
          </a:p>
          <a:p>
            <a:r>
              <a:rPr lang="en-GB" sz="2000" dirty="0"/>
              <a:t>  </a:t>
            </a:r>
            <a:r>
              <a:rPr lang="en-GB" sz="2000" dirty="0" err="1"/>
              <a:t>myThread.join</a:t>
            </a:r>
            <a:r>
              <a:rPr lang="en-GB" sz="2000" dirty="0"/>
              <a:t>();</a:t>
            </a:r>
          </a:p>
          <a:p>
            <a:r>
              <a:rPr lang="en-GB" sz="2000" dirty="0"/>
              <a:t> </a:t>
            </a:r>
          </a:p>
          <a:p>
            <a:r>
              <a:rPr lang="en-GB" sz="2000" dirty="0"/>
              <a:t> </a:t>
            </a:r>
            <a:r>
              <a:rPr lang="en-GB" sz="2000" dirty="0" err="1"/>
              <a:t>System.out.println</a:t>
            </a:r>
            <a:r>
              <a:rPr lang="en-GB" sz="2000" dirty="0"/>
              <a:t>("c = " + c);</a:t>
            </a:r>
          </a:p>
          <a:p>
            <a:r>
              <a:rPr lang="en-GB" sz="2000" dirty="0"/>
              <a:t>  }}</a:t>
            </a:r>
          </a:p>
        </p:txBody>
      </p:sp>
      <p:sp>
        <p:nvSpPr>
          <p:cNvPr id="2" name="TextBox 1">
            <a:extLst>
              <a:ext uri="{FF2B5EF4-FFF2-40B4-BE49-F238E27FC236}">
                <a16:creationId xmlns:a16="http://schemas.microsoft.com/office/drawing/2014/main" id="{2F8E1F55-CE92-0000-AA9F-25418A24FD87}"/>
              </a:ext>
            </a:extLst>
          </p:cNvPr>
          <p:cNvSpPr txBox="1"/>
          <p:nvPr/>
        </p:nvSpPr>
        <p:spPr>
          <a:xfrm>
            <a:off x="6253480" y="4614593"/>
            <a:ext cx="2854960" cy="646331"/>
          </a:xfrm>
          <a:prstGeom prst="rect">
            <a:avLst/>
          </a:prstGeom>
          <a:ln w="28575">
            <a:solidFill>
              <a:srgbClr val="FF0000"/>
            </a:solidFill>
          </a:ln>
        </p:spPr>
        <p:style>
          <a:lnRef idx="2">
            <a:schemeClr val="accent2"/>
          </a:lnRef>
          <a:fillRef idx="1">
            <a:schemeClr val="lt1"/>
          </a:fillRef>
          <a:effectRef idx="0">
            <a:schemeClr val="accent2"/>
          </a:effectRef>
          <a:fontRef idx="minor">
            <a:schemeClr val="dk1"/>
          </a:fontRef>
        </p:style>
        <p:txBody>
          <a:bodyPr wrap="square" rtlCol="0">
            <a:spAutoFit/>
          </a:bodyPr>
          <a:lstStyle/>
          <a:p>
            <a:r>
              <a:rPr lang="en-US" dirty="0"/>
              <a:t>&gt;java SharedCounter.java</a:t>
            </a:r>
          </a:p>
          <a:p>
            <a:r>
              <a:rPr lang="en-US" dirty="0"/>
              <a:t>c=0</a:t>
            </a:r>
            <a:endParaRPr lang="en-GB" dirty="0"/>
          </a:p>
        </p:txBody>
      </p:sp>
      <p:cxnSp>
        <p:nvCxnSpPr>
          <p:cNvPr id="4" name="Straight Arrow Connector 3">
            <a:extLst>
              <a:ext uri="{FF2B5EF4-FFF2-40B4-BE49-F238E27FC236}">
                <a16:creationId xmlns:a16="http://schemas.microsoft.com/office/drawing/2014/main" id="{22FF48B9-705F-887B-6959-73767519705C}"/>
              </a:ext>
            </a:extLst>
          </p:cNvPr>
          <p:cNvCxnSpPr/>
          <p:nvPr/>
        </p:nvCxnSpPr>
        <p:spPr>
          <a:xfrm>
            <a:off x="3990340" y="4937758"/>
            <a:ext cx="2204720" cy="0"/>
          </a:xfrm>
          <a:prstGeom prst="straightConnector1">
            <a:avLst/>
          </a:prstGeom>
          <a:ln>
            <a:solidFill>
              <a:srgbClr val="002060"/>
            </a:solidFill>
            <a:tailEnd type="triangle"/>
          </a:ln>
        </p:spPr>
        <p:style>
          <a:lnRef idx="1">
            <a:schemeClr val="dk1"/>
          </a:lnRef>
          <a:fillRef idx="0">
            <a:schemeClr val="dk1"/>
          </a:fillRef>
          <a:effectRef idx="0">
            <a:schemeClr val="dk1"/>
          </a:effectRef>
          <a:fontRef idx="minor">
            <a:schemeClr val="tx1"/>
          </a:fontRef>
        </p:style>
      </p:cxnSp>
      <p:sp>
        <p:nvSpPr>
          <p:cNvPr id="3" name="TextBox 2">
            <a:extLst>
              <a:ext uri="{FF2B5EF4-FFF2-40B4-BE49-F238E27FC236}">
                <a16:creationId xmlns:a16="http://schemas.microsoft.com/office/drawing/2014/main" id="{92D72FEE-E18A-80D0-39A6-051728AF17CB}"/>
              </a:ext>
            </a:extLst>
          </p:cNvPr>
          <p:cNvSpPr txBox="1"/>
          <p:nvPr/>
        </p:nvSpPr>
        <p:spPr>
          <a:xfrm>
            <a:off x="5839526" y="4126920"/>
            <a:ext cx="3682868" cy="369332"/>
          </a:xfrm>
          <a:prstGeom prst="rect">
            <a:avLst/>
          </a:prstGeom>
          <a:noFill/>
        </p:spPr>
        <p:txBody>
          <a:bodyPr wrap="none" rtlCol="0">
            <a:spAutoFit/>
          </a:bodyPr>
          <a:lstStyle/>
          <a:p>
            <a:r>
              <a:rPr lang="en-US" b="1" dirty="0" err="1">
                <a:solidFill>
                  <a:srgbClr val="FF0000"/>
                </a:solidFill>
              </a:rPr>
              <a:t>accesul</a:t>
            </a:r>
            <a:r>
              <a:rPr lang="en-US" b="1" dirty="0">
                <a:solidFill>
                  <a:srgbClr val="FF0000"/>
                </a:solidFill>
              </a:rPr>
              <a:t> la </a:t>
            </a:r>
            <a:r>
              <a:rPr lang="en-US" b="1" dirty="0" err="1">
                <a:solidFill>
                  <a:srgbClr val="FF0000"/>
                </a:solidFill>
              </a:rPr>
              <a:t>contor</a:t>
            </a:r>
            <a:r>
              <a:rPr lang="en-US" b="1" dirty="0">
                <a:solidFill>
                  <a:srgbClr val="FF0000"/>
                </a:solidFill>
              </a:rPr>
              <a:t> nu </a:t>
            </a:r>
            <a:r>
              <a:rPr lang="en-US" b="1" dirty="0" err="1">
                <a:solidFill>
                  <a:srgbClr val="FF0000"/>
                </a:solidFill>
              </a:rPr>
              <a:t>este</a:t>
            </a:r>
            <a:r>
              <a:rPr lang="en-US" b="1" dirty="0">
                <a:solidFill>
                  <a:srgbClr val="FF0000"/>
                </a:solidFill>
              </a:rPr>
              <a:t> </a:t>
            </a:r>
            <a:r>
              <a:rPr lang="en-US" b="1" dirty="0" err="1">
                <a:solidFill>
                  <a:srgbClr val="FF0000"/>
                </a:solidFill>
              </a:rPr>
              <a:t>sincronizat</a:t>
            </a:r>
            <a:r>
              <a:rPr lang="en-US" b="1" dirty="0">
                <a:solidFill>
                  <a:srgbClr val="FF0000"/>
                </a:solidFill>
              </a:rPr>
              <a:t>!</a:t>
            </a:r>
            <a:endParaRPr lang="en-GB" b="1" dirty="0">
              <a:solidFill>
                <a:srgbClr val="FF0000"/>
              </a:solidFill>
            </a:endParaRPr>
          </a:p>
        </p:txBody>
      </p:sp>
    </p:spTree>
    <p:extLst>
      <p:ext uri="{BB962C8B-B14F-4D97-AF65-F5344CB8AC3E}">
        <p14:creationId xmlns:p14="http://schemas.microsoft.com/office/powerpoint/2010/main" val="3770167591"/>
      </p:ext>
    </p:extLst>
  </p:cSld>
  <p:clrMapOvr>
    <a:masterClrMapping/>
  </p:clrMapOvr>
</p:sld>
</file>

<file path=ppt/slides/slide2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 name="TextBox 4"/>
          <p:cNvSpPr txBox="1"/>
          <p:nvPr/>
        </p:nvSpPr>
        <p:spPr>
          <a:xfrm>
            <a:off x="475735" y="55606"/>
            <a:ext cx="5768118" cy="1138773"/>
          </a:xfrm>
          <a:prstGeom prst="rect">
            <a:avLst/>
          </a:prstGeom>
          <a:noFill/>
        </p:spPr>
        <p:txBody>
          <a:bodyPr wrap="none" rtlCol="0">
            <a:spAutoFit/>
          </a:bodyPr>
          <a:lstStyle/>
          <a:p>
            <a:pPr marL="342900" indent="-342900">
              <a:buFont typeface="Wingdings" panose="05000000000000000000" pitchFamily="2" charset="2"/>
              <a:buChar char="Ø"/>
            </a:pPr>
            <a:r>
              <a:rPr lang="en-US" sz="2400" dirty="0" err="1"/>
              <a:t>Comunicarea</a:t>
            </a:r>
            <a:r>
              <a:rPr lang="en-US" sz="2400" dirty="0"/>
              <a:t> </a:t>
            </a:r>
            <a:r>
              <a:rPr lang="ro-RO" sz="2400" dirty="0"/>
              <a:t>î</a:t>
            </a:r>
            <a:r>
              <a:rPr lang="en-US" sz="2400" dirty="0" err="1"/>
              <a:t>ntre</a:t>
            </a:r>
            <a:r>
              <a:rPr lang="en-US" sz="2400" dirty="0"/>
              <a:t> thread-</a:t>
            </a:r>
            <a:r>
              <a:rPr lang="en-US" sz="2400" dirty="0" err="1"/>
              <a:t>uri</a:t>
            </a:r>
            <a:endParaRPr lang="en-US" sz="2400" dirty="0"/>
          </a:p>
          <a:p>
            <a:endParaRPr lang="en-US" sz="2400" dirty="0"/>
          </a:p>
          <a:p>
            <a:pPr marL="285750" indent="-285750">
              <a:buFont typeface="Wingdings" panose="05000000000000000000" pitchFamily="2" charset="2"/>
              <a:buChar char="§"/>
            </a:pPr>
            <a:r>
              <a:rPr lang="en-US" dirty="0"/>
              <a:t> </a:t>
            </a:r>
            <a:r>
              <a:rPr lang="en-US" sz="2000" dirty="0" err="1"/>
              <a:t>doua</a:t>
            </a:r>
            <a:r>
              <a:rPr lang="en-US" sz="2000" dirty="0"/>
              <a:t> thread-</a:t>
            </a:r>
            <a:r>
              <a:rPr lang="en-US" sz="2000" dirty="0" err="1"/>
              <a:t>uri</a:t>
            </a:r>
            <a:r>
              <a:rPr lang="en-US" sz="2000" dirty="0"/>
              <a:t> care </a:t>
            </a:r>
            <a:r>
              <a:rPr lang="en-US" sz="2000" dirty="0" err="1"/>
              <a:t>incrementeaza</a:t>
            </a:r>
            <a:r>
              <a:rPr lang="en-US" sz="2000" dirty="0"/>
              <a:t> </a:t>
            </a:r>
            <a:r>
              <a:rPr lang="en-US" sz="2000" dirty="0" err="1"/>
              <a:t>acelasi</a:t>
            </a:r>
            <a:r>
              <a:rPr lang="en-US" sz="2000" dirty="0"/>
              <a:t> </a:t>
            </a:r>
            <a:r>
              <a:rPr lang="en-US" sz="2000" dirty="0" err="1"/>
              <a:t>contor</a:t>
            </a:r>
            <a:endParaRPr lang="en-US" sz="2000" dirty="0"/>
          </a:p>
        </p:txBody>
      </p:sp>
      <p:sp>
        <p:nvSpPr>
          <p:cNvPr id="7" name="TextBox 6">
            <a:extLst>
              <a:ext uri="{FF2B5EF4-FFF2-40B4-BE49-F238E27FC236}">
                <a16:creationId xmlns:a16="http://schemas.microsoft.com/office/drawing/2014/main" id="{150A6BAD-1A97-434B-8CFA-1C9818525528}"/>
              </a:ext>
            </a:extLst>
          </p:cNvPr>
          <p:cNvSpPr txBox="1"/>
          <p:nvPr/>
        </p:nvSpPr>
        <p:spPr>
          <a:xfrm>
            <a:off x="929640" y="1390124"/>
            <a:ext cx="8834120" cy="4401205"/>
          </a:xfrm>
          <a:prstGeom prst="rect">
            <a:avLst/>
          </a:prstGeom>
          <a:noFill/>
          <a:ln w="38100">
            <a:solidFill>
              <a:srgbClr val="00B050"/>
            </a:solidFill>
          </a:ln>
        </p:spPr>
        <p:txBody>
          <a:bodyPr wrap="square">
            <a:spAutoFit/>
          </a:bodyPr>
          <a:lstStyle/>
          <a:p>
            <a:r>
              <a:rPr lang="en-GB" sz="2000" dirty="0"/>
              <a:t>public class Interference  implements Runnable {</a:t>
            </a:r>
          </a:p>
          <a:p>
            <a:r>
              <a:rPr lang="en-GB" sz="2000" dirty="0"/>
              <a:t>static Integer counter = 0;</a:t>
            </a:r>
          </a:p>
          <a:p>
            <a:r>
              <a:rPr lang="en-GB" sz="2000" dirty="0"/>
              <a:t>     </a:t>
            </a:r>
          </a:p>
          <a:p>
            <a:r>
              <a:rPr lang="en-GB" sz="2000" dirty="0"/>
              <a:t>        public void run () {</a:t>
            </a:r>
          </a:p>
          <a:p>
            <a:r>
              <a:rPr lang="en-GB" sz="2000" dirty="0"/>
              <a:t>            for (int </a:t>
            </a:r>
            <a:r>
              <a:rPr lang="en-GB" sz="2000" dirty="0" err="1"/>
              <a:t>i</a:t>
            </a:r>
            <a:r>
              <a:rPr lang="en-GB" sz="2000" dirty="0"/>
              <a:t> = 0; </a:t>
            </a:r>
            <a:r>
              <a:rPr lang="en-GB" sz="2000" dirty="0" err="1"/>
              <a:t>i</a:t>
            </a:r>
            <a:r>
              <a:rPr lang="en-GB" sz="2000" dirty="0"/>
              <a:t> &lt; 5; </a:t>
            </a:r>
            <a:r>
              <a:rPr lang="en-GB" sz="2000" dirty="0" err="1"/>
              <a:t>i</a:t>
            </a:r>
            <a:r>
              <a:rPr lang="en-GB" sz="2000" dirty="0"/>
              <a:t>++) {</a:t>
            </a:r>
          </a:p>
          <a:p>
            <a:r>
              <a:rPr lang="en-GB" sz="2000" dirty="0"/>
              <a:t>                </a:t>
            </a:r>
            <a:r>
              <a:rPr lang="en-GB" sz="2000" dirty="0" err="1"/>
              <a:t>performTask</a:t>
            </a:r>
            <a:r>
              <a:rPr lang="en-GB" sz="2000" dirty="0"/>
              <a:t>();</a:t>
            </a:r>
          </a:p>
          <a:p>
            <a:r>
              <a:rPr lang="en-GB" sz="2000" dirty="0"/>
              <a:t>            }}</a:t>
            </a:r>
          </a:p>
          <a:p>
            <a:r>
              <a:rPr lang="en-GB" sz="2000" dirty="0"/>
              <a:t>    </a:t>
            </a:r>
            <a:br>
              <a:rPr lang="en-GB" sz="2000" dirty="0"/>
            </a:br>
            <a:r>
              <a:rPr lang="en-GB" sz="2000" dirty="0"/>
              <a:t>private void </a:t>
            </a:r>
            <a:r>
              <a:rPr lang="en-GB" sz="2000" dirty="0" err="1"/>
              <a:t>performTask</a:t>
            </a:r>
            <a:r>
              <a:rPr lang="en-GB" sz="2000" dirty="0"/>
              <a:t> () {</a:t>
            </a:r>
          </a:p>
          <a:p>
            <a:r>
              <a:rPr lang="en-GB" sz="2000" dirty="0"/>
              <a:t>        int temp = counter;</a:t>
            </a:r>
          </a:p>
          <a:p>
            <a:r>
              <a:rPr lang="en-GB" sz="2000" dirty="0"/>
              <a:t>        counter++;</a:t>
            </a:r>
          </a:p>
          <a:p>
            <a:r>
              <a:rPr lang="en-GB" sz="2000" dirty="0"/>
              <a:t>        </a:t>
            </a:r>
            <a:r>
              <a:rPr lang="en-GB" sz="2000" dirty="0" err="1"/>
              <a:t>System.out.println</a:t>
            </a:r>
            <a:r>
              <a:rPr lang="en-GB" sz="2000" dirty="0"/>
              <a:t>(</a:t>
            </a:r>
            <a:r>
              <a:rPr lang="en-GB" sz="2000" dirty="0" err="1"/>
              <a:t>Thread.currentThread</a:t>
            </a:r>
            <a:r>
              <a:rPr lang="en-GB" sz="2000" dirty="0"/>
              <a:t>()</a:t>
            </a:r>
          </a:p>
          <a:p>
            <a:r>
              <a:rPr lang="en-GB" sz="2000" dirty="0"/>
              <a:t>                                 .</a:t>
            </a:r>
            <a:r>
              <a:rPr lang="en-GB" sz="2000" dirty="0" err="1"/>
              <a:t>getName</a:t>
            </a:r>
            <a:r>
              <a:rPr lang="en-GB" sz="2000" dirty="0"/>
              <a:t>() + " - before: "+temp+" after:" + counter);}</a:t>
            </a:r>
          </a:p>
          <a:p>
            <a:r>
              <a:rPr lang="en-GB" sz="2000" dirty="0"/>
              <a:t>public static void main (String[] </a:t>
            </a:r>
            <a:r>
              <a:rPr lang="en-GB" sz="2000" dirty="0" err="1"/>
              <a:t>args</a:t>
            </a:r>
            <a:r>
              <a:rPr lang="en-GB" sz="2000" dirty="0"/>
              <a:t>) {.. }}</a:t>
            </a:r>
          </a:p>
        </p:txBody>
      </p:sp>
    </p:spTree>
    <p:extLst>
      <p:ext uri="{BB962C8B-B14F-4D97-AF65-F5344CB8AC3E}">
        <p14:creationId xmlns:p14="http://schemas.microsoft.com/office/powerpoint/2010/main" val="1302835118"/>
      </p:ext>
    </p:extLst>
  </p:cSld>
  <p:clrMapOvr>
    <a:masterClrMapping/>
  </p:clrMapOvr>
</p:sld>
</file>

<file path=ppt/slides/slide2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 name="TextBox 4"/>
          <p:cNvSpPr txBox="1"/>
          <p:nvPr/>
        </p:nvSpPr>
        <p:spPr>
          <a:xfrm>
            <a:off x="475735" y="55606"/>
            <a:ext cx="5641224" cy="1107996"/>
          </a:xfrm>
          <a:prstGeom prst="rect">
            <a:avLst/>
          </a:prstGeom>
          <a:noFill/>
        </p:spPr>
        <p:txBody>
          <a:bodyPr wrap="none" rtlCol="0">
            <a:spAutoFit/>
          </a:bodyPr>
          <a:lstStyle/>
          <a:p>
            <a:pPr marL="342900" indent="-342900">
              <a:buFont typeface="Wingdings" panose="05000000000000000000" pitchFamily="2" charset="2"/>
              <a:buChar char="Ø"/>
            </a:pPr>
            <a:r>
              <a:rPr lang="en-US" sz="2400" dirty="0" err="1"/>
              <a:t>Comunicarea</a:t>
            </a:r>
            <a:r>
              <a:rPr lang="en-US" sz="2400" dirty="0"/>
              <a:t> </a:t>
            </a:r>
            <a:r>
              <a:rPr lang="ro-RO" sz="2400" dirty="0"/>
              <a:t>î</a:t>
            </a:r>
            <a:r>
              <a:rPr lang="en-US" sz="2400" dirty="0" err="1"/>
              <a:t>ntre</a:t>
            </a:r>
            <a:r>
              <a:rPr lang="en-US" sz="2400" dirty="0"/>
              <a:t> thread-</a:t>
            </a:r>
            <a:r>
              <a:rPr lang="en-US" sz="2400" dirty="0" err="1"/>
              <a:t>uri</a:t>
            </a:r>
            <a:r>
              <a:rPr lang="en-US" sz="2400" dirty="0"/>
              <a:t> – data race</a:t>
            </a:r>
          </a:p>
          <a:p>
            <a:endParaRPr lang="en-US" sz="2400" dirty="0"/>
          </a:p>
          <a:p>
            <a:pPr marL="285750" indent="-285750">
              <a:buFont typeface="Wingdings" panose="05000000000000000000" pitchFamily="2" charset="2"/>
              <a:buChar char="§"/>
            </a:pPr>
            <a:r>
              <a:rPr lang="en-US" dirty="0"/>
              <a:t> </a:t>
            </a:r>
            <a:r>
              <a:rPr lang="en-US" dirty="0" err="1"/>
              <a:t>doua</a:t>
            </a:r>
            <a:r>
              <a:rPr lang="en-US" dirty="0"/>
              <a:t> thread-</a:t>
            </a:r>
            <a:r>
              <a:rPr lang="en-US" dirty="0" err="1"/>
              <a:t>uri</a:t>
            </a:r>
            <a:r>
              <a:rPr lang="en-US" dirty="0"/>
              <a:t> care </a:t>
            </a:r>
            <a:r>
              <a:rPr lang="en-US" dirty="0" err="1"/>
              <a:t>incrementeaza</a:t>
            </a:r>
            <a:r>
              <a:rPr lang="en-US" dirty="0"/>
              <a:t> </a:t>
            </a:r>
            <a:r>
              <a:rPr lang="en-US" dirty="0" err="1"/>
              <a:t>acelasi</a:t>
            </a:r>
            <a:r>
              <a:rPr lang="en-US" dirty="0"/>
              <a:t> </a:t>
            </a:r>
            <a:r>
              <a:rPr lang="en-US" dirty="0" err="1"/>
              <a:t>contor</a:t>
            </a:r>
            <a:endParaRPr lang="en-US" dirty="0"/>
          </a:p>
        </p:txBody>
      </p:sp>
      <p:sp>
        <p:nvSpPr>
          <p:cNvPr id="7" name="TextBox 6">
            <a:extLst>
              <a:ext uri="{FF2B5EF4-FFF2-40B4-BE49-F238E27FC236}">
                <a16:creationId xmlns:a16="http://schemas.microsoft.com/office/drawing/2014/main" id="{150A6BAD-1A97-434B-8CFA-1C9818525528}"/>
              </a:ext>
            </a:extLst>
          </p:cNvPr>
          <p:cNvSpPr txBox="1"/>
          <p:nvPr/>
        </p:nvSpPr>
        <p:spPr>
          <a:xfrm>
            <a:off x="929640" y="1390124"/>
            <a:ext cx="7269480" cy="1631216"/>
          </a:xfrm>
          <a:prstGeom prst="rect">
            <a:avLst/>
          </a:prstGeom>
          <a:noFill/>
          <a:ln w="38100">
            <a:solidFill>
              <a:srgbClr val="00B050"/>
            </a:solidFill>
          </a:ln>
        </p:spPr>
        <p:txBody>
          <a:bodyPr wrap="square">
            <a:spAutoFit/>
          </a:bodyPr>
          <a:lstStyle/>
          <a:p>
            <a:r>
              <a:rPr lang="en-GB" sz="2000" dirty="0"/>
              <a:t> public static void main (String[] </a:t>
            </a:r>
            <a:r>
              <a:rPr lang="en-GB" sz="2000" dirty="0" err="1"/>
              <a:t>args</a:t>
            </a:r>
            <a:r>
              <a:rPr lang="en-GB" sz="2000" dirty="0"/>
              <a:t>) {</a:t>
            </a:r>
          </a:p>
          <a:p>
            <a:r>
              <a:rPr lang="en-GB" sz="2000" dirty="0"/>
              <a:t>        Thread thread1 = new Thread(new Interference());</a:t>
            </a:r>
          </a:p>
          <a:p>
            <a:r>
              <a:rPr lang="en-GB" sz="2000" dirty="0"/>
              <a:t>        Thread thread2 = new Thread(new Interference());</a:t>
            </a:r>
            <a:br>
              <a:rPr lang="en-GB" sz="2000" dirty="0"/>
            </a:br>
            <a:r>
              <a:rPr lang="en-GB" sz="2000" dirty="0"/>
              <a:t>        thread1.start(); thread2.start();</a:t>
            </a:r>
          </a:p>
          <a:p>
            <a:r>
              <a:rPr lang="en-GB" sz="2000" dirty="0"/>
              <a:t>        thread1.join(); thread2.join();  }</a:t>
            </a:r>
          </a:p>
        </p:txBody>
      </p:sp>
      <p:graphicFrame>
        <p:nvGraphicFramePr>
          <p:cNvPr id="4" name="Object 3">
            <a:extLst>
              <a:ext uri="{FF2B5EF4-FFF2-40B4-BE49-F238E27FC236}">
                <a16:creationId xmlns:a16="http://schemas.microsoft.com/office/drawing/2014/main" id="{C1729298-5B91-4A85-B750-177EC1807EC1}"/>
              </a:ext>
            </a:extLst>
          </p:cNvPr>
          <p:cNvGraphicFramePr>
            <a:graphicFrameLocks noChangeAspect="1"/>
          </p:cNvGraphicFramePr>
          <p:nvPr>
            <p:extLst>
              <p:ext uri="{D42A27DB-BD31-4B8C-83A1-F6EECF244321}">
                <p14:modId xmlns:p14="http://schemas.microsoft.com/office/powerpoint/2010/main" val="382908076"/>
              </p:ext>
            </p:extLst>
          </p:nvPr>
        </p:nvGraphicFramePr>
        <p:xfrm>
          <a:off x="1256029" y="3319707"/>
          <a:ext cx="3630931" cy="2731525"/>
        </p:xfrm>
        <a:graphic>
          <a:graphicData uri="http://schemas.openxmlformats.org/presentationml/2006/ole">
            <mc:AlternateContent xmlns:mc="http://schemas.openxmlformats.org/markup-compatibility/2006">
              <mc:Choice xmlns:v="urn:schemas-microsoft-com:vml" Requires="v">
                <p:oleObj name="Bitmap Image" r:id="rId2" imgW="2076480" imgH="1562040" progId="Paint.Picture">
                  <p:embed/>
                </p:oleObj>
              </mc:Choice>
              <mc:Fallback>
                <p:oleObj name="Bitmap Image" r:id="rId2" imgW="2076480" imgH="1562040" progId="Paint.Picture">
                  <p:embed/>
                  <p:pic>
                    <p:nvPicPr>
                      <p:cNvPr id="0" name=""/>
                      <p:cNvPicPr/>
                      <p:nvPr/>
                    </p:nvPicPr>
                    <p:blipFill>
                      <a:blip r:embed="rId3"/>
                      <a:stretch>
                        <a:fillRect/>
                      </a:stretch>
                    </p:blipFill>
                    <p:spPr>
                      <a:xfrm>
                        <a:off x="1256029" y="3319707"/>
                        <a:ext cx="3630931" cy="2731525"/>
                      </a:xfrm>
                      <a:prstGeom prst="rect">
                        <a:avLst/>
                      </a:prstGeom>
                    </p:spPr>
                  </p:pic>
                </p:oleObj>
              </mc:Fallback>
            </mc:AlternateContent>
          </a:graphicData>
        </a:graphic>
      </p:graphicFrame>
      <p:graphicFrame>
        <p:nvGraphicFramePr>
          <p:cNvPr id="6" name="Object 5">
            <a:extLst>
              <a:ext uri="{FF2B5EF4-FFF2-40B4-BE49-F238E27FC236}">
                <a16:creationId xmlns:a16="http://schemas.microsoft.com/office/drawing/2014/main" id="{3E898CAD-14D4-46C3-9AEF-49B2B8D37750}"/>
              </a:ext>
            </a:extLst>
          </p:cNvPr>
          <p:cNvGraphicFramePr>
            <a:graphicFrameLocks noChangeAspect="1"/>
          </p:cNvGraphicFramePr>
          <p:nvPr>
            <p:extLst>
              <p:ext uri="{D42A27DB-BD31-4B8C-83A1-F6EECF244321}">
                <p14:modId xmlns:p14="http://schemas.microsoft.com/office/powerpoint/2010/main" val="3308769152"/>
              </p:ext>
            </p:extLst>
          </p:nvPr>
        </p:nvGraphicFramePr>
        <p:xfrm>
          <a:off x="6116959" y="3319707"/>
          <a:ext cx="3850641" cy="2787237"/>
        </p:xfrm>
        <a:graphic>
          <a:graphicData uri="http://schemas.openxmlformats.org/presentationml/2006/ole">
            <mc:AlternateContent xmlns:mc="http://schemas.openxmlformats.org/markup-compatibility/2006">
              <mc:Choice xmlns:v="urn:schemas-microsoft-com:vml" Requires="v">
                <p:oleObj name="Bitmap Image" r:id="rId4" imgW="2184480" imgH="1581120" progId="Paint.Picture">
                  <p:embed/>
                </p:oleObj>
              </mc:Choice>
              <mc:Fallback>
                <p:oleObj name="Bitmap Image" r:id="rId4" imgW="2184480" imgH="1581120" progId="Paint.Picture">
                  <p:embed/>
                  <p:pic>
                    <p:nvPicPr>
                      <p:cNvPr id="0" name=""/>
                      <p:cNvPicPr/>
                      <p:nvPr/>
                    </p:nvPicPr>
                    <p:blipFill>
                      <a:blip r:embed="rId5"/>
                      <a:stretch>
                        <a:fillRect/>
                      </a:stretch>
                    </p:blipFill>
                    <p:spPr>
                      <a:xfrm>
                        <a:off x="6116959" y="3319707"/>
                        <a:ext cx="3850641" cy="2787237"/>
                      </a:xfrm>
                      <a:prstGeom prst="rect">
                        <a:avLst/>
                      </a:prstGeom>
                    </p:spPr>
                  </p:pic>
                </p:oleObj>
              </mc:Fallback>
            </mc:AlternateContent>
          </a:graphicData>
        </a:graphic>
      </p:graphicFrame>
      <p:cxnSp>
        <p:nvCxnSpPr>
          <p:cNvPr id="10" name="Straight Arrow Connector 9">
            <a:extLst>
              <a:ext uri="{FF2B5EF4-FFF2-40B4-BE49-F238E27FC236}">
                <a16:creationId xmlns:a16="http://schemas.microsoft.com/office/drawing/2014/main" id="{09743D4D-5095-4212-8C07-5F2B90C00F0B}"/>
              </a:ext>
            </a:extLst>
          </p:cNvPr>
          <p:cNvCxnSpPr/>
          <p:nvPr/>
        </p:nvCxnSpPr>
        <p:spPr>
          <a:xfrm>
            <a:off x="9804400" y="3576320"/>
            <a:ext cx="772160" cy="0"/>
          </a:xfrm>
          <a:prstGeom prst="straightConnector1">
            <a:avLst/>
          </a:prstGeom>
          <a:ln w="38100">
            <a:solidFill>
              <a:srgbClr val="FF0000"/>
            </a:solidFill>
            <a:tailEnd type="triangle"/>
          </a:ln>
        </p:spPr>
        <p:style>
          <a:lnRef idx="1">
            <a:schemeClr val="accent1"/>
          </a:lnRef>
          <a:fillRef idx="0">
            <a:schemeClr val="accent1"/>
          </a:fillRef>
          <a:effectRef idx="0">
            <a:schemeClr val="accent1"/>
          </a:effectRef>
          <a:fontRef idx="minor">
            <a:schemeClr val="tx1"/>
          </a:fontRef>
        </p:style>
      </p:cxnSp>
      <p:sp>
        <p:nvSpPr>
          <p:cNvPr id="11" name="TextBox 10">
            <a:extLst>
              <a:ext uri="{FF2B5EF4-FFF2-40B4-BE49-F238E27FC236}">
                <a16:creationId xmlns:a16="http://schemas.microsoft.com/office/drawing/2014/main" id="{B8ECB26D-DCDC-4F77-822F-E14B12AD95EF}"/>
              </a:ext>
            </a:extLst>
          </p:cNvPr>
          <p:cNvSpPr txBox="1"/>
          <p:nvPr/>
        </p:nvSpPr>
        <p:spPr>
          <a:xfrm>
            <a:off x="10576560" y="3429000"/>
            <a:ext cx="1338700" cy="461665"/>
          </a:xfrm>
          <a:prstGeom prst="rect">
            <a:avLst/>
          </a:prstGeom>
          <a:noFill/>
          <a:ln w="38100">
            <a:solidFill>
              <a:srgbClr val="FF0000"/>
            </a:solidFill>
          </a:ln>
        </p:spPr>
        <p:txBody>
          <a:bodyPr wrap="none" rtlCol="0">
            <a:spAutoFit/>
          </a:bodyPr>
          <a:lstStyle/>
          <a:p>
            <a:r>
              <a:rPr lang="en-US" sz="2400" dirty="0"/>
              <a:t>data race</a:t>
            </a:r>
            <a:endParaRPr lang="en-GB" sz="2400" dirty="0"/>
          </a:p>
        </p:txBody>
      </p:sp>
    </p:spTree>
    <p:extLst>
      <p:ext uri="{BB962C8B-B14F-4D97-AF65-F5344CB8AC3E}">
        <p14:creationId xmlns:p14="http://schemas.microsoft.com/office/powerpoint/2010/main" val="1298936926"/>
      </p:ext>
    </p:extLst>
  </p:cSld>
  <p:clrMapOvr>
    <a:masterClrMapping/>
  </p:clrMapOvr>
</p:sld>
</file>

<file path=ppt/slides/slide3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 name="TextBox 4"/>
          <p:cNvSpPr txBox="1"/>
          <p:nvPr/>
        </p:nvSpPr>
        <p:spPr>
          <a:xfrm>
            <a:off x="475735" y="55606"/>
            <a:ext cx="5641224" cy="1107996"/>
          </a:xfrm>
          <a:prstGeom prst="rect">
            <a:avLst/>
          </a:prstGeom>
          <a:noFill/>
        </p:spPr>
        <p:txBody>
          <a:bodyPr wrap="none" rtlCol="0">
            <a:spAutoFit/>
          </a:bodyPr>
          <a:lstStyle/>
          <a:p>
            <a:pPr marL="342900" indent="-342900">
              <a:buFont typeface="Wingdings" panose="05000000000000000000" pitchFamily="2" charset="2"/>
              <a:buChar char="Ø"/>
            </a:pPr>
            <a:r>
              <a:rPr lang="en-US" sz="2400" dirty="0" err="1"/>
              <a:t>Comunicarea</a:t>
            </a:r>
            <a:r>
              <a:rPr lang="en-US" sz="2400" dirty="0"/>
              <a:t> </a:t>
            </a:r>
            <a:r>
              <a:rPr lang="ro-RO" sz="2400" dirty="0"/>
              <a:t>î</a:t>
            </a:r>
            <a:r>
              <a:rPr lang="en-US" sz="2400" dirty="0" err="1"/>
              <a:t>ntre</a:t>
            </a:r>
            <a:r>
              <a:rPr lang="en-US" sz="2400" dirty="0"/>
              <a:t> thread-</a:t>
            </a:r>
            <a:r>
              <a:rPr lang="en-US" sz="2400" dirty="0" err="1"/>
              <a:t>uri</a:t>
            </a:r>
            <a:r>
              <a:rPr lang="en-US" sz="2400" dirty="0"/>
              <a:t> – data race</a:t>
            </a:r>
          </a:p>
          <a:p>
            <a:endParaRPr lang="en-US" sz="2400" dirty="0"/>
          </a:p>
          <a:p>
            <a:pPr marL="285750" indent="-285750">
              <a:buFont typeface="Wingdings" panose="05000000000000000000" pitchFamily="2" charset="2"/>
              <a:buChar char="§"/>
            </a:pPr>
            <a:r>
              <a:rPr lang="en-US" dirty="0"/>
              <a:t> </a:t>
            </a:r>
            <a:r>
              <a:rPr lang="en-US" dirty="0" err="1"/>
              <a:t>doua</a:t>
            </a:r>
            <a:r>
              <a:rPr lang="en-US" dirty="0"/>
              <a:t> thread-</a:t>
            </a:r>
            <a:r>
              <a:rPr lang="en-US" dirty="0" err="1"/>
              <a:t>uri</a:t>
            </a:r>
            <a:r>
              <a:rPr lang="en-US" dirty="0"/>
              <a:t> care </a:t>
            </a:r>
            <a:r>
              <a:rPr lang="en-US" dirty="0" err="1"/>
              <a:t>incrementeaza</a:t>
            </a:r>
            <a:r>
              <a:rPr lang="en-US" dirty="0"/>
              <a:t> </a:t>
            </a:r>
            <a:r>
              <a:rPr lang="en-US" dirty="0" err="1"/>
              <a:t>acelasi</a:t>
            </a:r>
            <a:r>
              <a:rPr lang="en-US" dirty="0"/>
              <a:t> </a:t>
            </a:r>
            <a:r>
              <a:rPr lang="en-US" dirty="0" err="1"/>
              <a:t>contor</a:t>
            </a:r>
            <a:endParaRPr lang="en-US" dirty="0"/>
          </a:p>
        </p:txBody>
      </p:sp>
      <p:sp>
        <p:nvSpPr>
          <p:cNvPr id="7" name="TextBox 6">
            <a:extLst>
              <a:ext uri="{FF2B5EF4-FFF2-40B4-BE49-F238E27FC236}">
                <a16:creationId xmlns:a16="http://schemas.microsoft.com/office/drawing/2014/main" id="{150A6BAD-1A97-434B-8CFA-1C9818525528}"/>
              </a:ext>
            </a:extLst>
          </p:cNvPr>
          <p:cNvSpPr txBox="1"/>
          <p:nvPr/>
        </p:nvSpPr>
        <p:spPr>
          <a:xfrm>
            <a:off x="929640" y="1390124"/>
            <a:ext cx="7269480" cy="1631216"/>
          </a:xfrm>
          <a:prstGeom prst="rect">
            <a:avLst/>
          </a:prstGeom>
          <a:noFill/>
          <a:ln w="38100">
            <a:solidFill>
              <a:srgbClr val="00B050"/>
            </a:solidFill>
          </a:ln>
        </p:spPr>
        <p:txBody>
          <a:bodyPr wrap="square">
            <a:spAutoFit/>
          </a:bodyPr>
          <a:lstStyle/>
          <a:p>
            <a:r>
              <a:rPr lang="en-GB" sz="2000" dirty="0"/>
              <a:t> public static void main (String[] </a:t>
            </a:r>
            <a:r>
              <a:rPr lang="en-GB" sz="2000" dirty="0" err="1"/>
              <a:t>args</a:t>
            </a:r>
            <a:r>
              <a:rPr lang="en-GB" sz="2000" dirty="0"/>
              <a:t>) {</a:t>
            </a:r>
          </a:p>
          <a:p>
            <a:r>
              <a:rPr lang="en-GB" sz="2000" dirty="0"/>
              <a:t>        Thread thread1 = new Thread(new Interference());</a:t>
            </a:r>
          </a:p>
          <a:p>
            <a:r>
              <a:rPr lang="en-GB" sz="2000" dirty="0"/>
              <a:t>        Thread thread2 = new Thread(new Interference());</a:t>
            </a:r>
            <a:br>
              <a:rPr lang="en-GB" sz="2000" dirty="0"/>
            </a:br>
            <a:r>
              <a:rPr lang="en-GB" sz="2000" dirty="0"/>
              <a:t>        thread1.start(); thread2.start();</a:t>
            </a:r>
          </a:p>
          <a:p>
            <a:r>
              <a:rPr lang="en-GB" sz="2000" dirty="0"/>
              <a:t>        thread1.join(); thread2.join();  }</a:t>
            </a:r>
          </a:p>
        </p:txBody>
      </p:sp>
      <p:graphicFrame>
        <p:nvGraphicFramePr>
          <p:cNvPr id="6" name="Object 5">
            <a:extLst>
              <a:ext uri="{FF2B5EF4-FFF2-40B4-BE49-F238E27FC236}">
                <a16:creationId xmlns:a16="http://schemas.microsoft.com/office/drawing/2014/main" id="{3E898CAD-14D4-46C3-9AEF-49B2B8D37750}"/>
              </a:ext>
            </a:extLst>
          </p:cNvPr>
          <p:cNvGraphicFramePr>
            <a:graphicFrameLocks noChangeAspect="1"/>
          </p:cNvGraphicFramePr>
          <p:nvPr>
            <p:extLst>
              <p:ext uri="{D42A27DB-BD31-4B8C-83A1-F6EECF244321}">
                <p14:modId xmlns:p14="http://schemas.microsoft.com/office/powerpoint/2010/main" val="2907162307"/>
              </p:ext>
            </p:extLst>
          </p:nvPr>
        </p:nvGraphicFramePr>
        <p:xfrm>
          <a:off x="6452239" y="3281680"/>
          <a:ext cx="3850641" cy="2787237"/>
        </p:xfrm>
        <a:graphic>
          <a:graphicData uri="http://schemas.openxmlformats.org/presentationml/2006/ole">
            <mc:AlternateContent xmlns:mc="http://schemas.openxmlformats.org/markup-compatibility/2006">
              <mc:Choice xmlns:v="urn:schemas-microsoft-com:vml" Requires="v">
                <p:oleObj name="Bitmap Image" r:id="rId2" imgW="2184480" imgH="1581120" progId="Paint.Picture">
                  <p:embed/>
                </p:oleObj>
              </mc:Choice>
              <mc:Fallback>
                <p:oleObj name="Bitmap Image" r:id="rId2" imgW="2184480" imgH="1581120" progId="Paint.Picture">
                  <p:embed/>
                  <p:pic>
                    <p:nvPicPr>
                      <p:cNvPr id="6" name="Object 5">
                        <a:extLst>
                          <a:ext uri="{FF2B5EF4-FFF2-40B4-BE49-F238E27FC236}">
                            <a16:creationId xmlns:a16="http://schemas.microsoft.com/office/drawing/2014/main" id="{3E898CAD-14D4-46C3-9AEF-49B2B8D37750}"/>
                          </a:ext>
                        </a:extLst>
                      </p:cNvPr>
                      <p:cNvPicPr/>
                      <p:nvPr/>
                    </p:nvPicPr>
                    <p:blipFill>
                      <a:blip r:embed="rId3"/>
                      <a:stretch>
                        <a:fillRect/>
                      </a:stretch>
                    </p:blipFill>
                    <p:spPr>
                      <a:xfrm>
                        <a:off x="6452239" y="3281680"/>
                        <a:ext cx="3850641" cy="2787237"/>
                      </a:xfrm>
                      <a:prstGeom prst="rect">
                        <a:avLst/>
                      </a:prstGeom>
                    </p:spPr>
                  </p:pic>
                </p:oleObj>
              </mc:Fallback>
            </mc:AlternateContent>
          </a:graphicData>
        </a:graphic>
      </p:graphicFrame>
      <p:cxnSp>
        <p:nvCxnSpPr>
          <p:cNvPr id="10" name="Straight Arrow Connector 9">
            <a:extLst>
              <a:ext uri="{FF2B5EF4-FFF2-40B4-BE49-F238E27FC236}">
                <a16:creationId xmlns:a16="http://schemas.microsoft.com/office/drawing/2014/main" id="{09743D4D-5095-4212-8C07-5F2B90C00F0B}"/>
              </a:ext>
            </a:extLst>
          </p:cNvPr>
          <p:cNvCxnSpPr>
            <a:cxnSpLocks/>
          </p:cNvCxnSpPr>
          <p:nvPr/>
        </p:nvCxnSpPr>
        <p:spPr>
          <a:xfrm>
            <a:off x="10059040" y="3429000"/>
            <a:ext cx="487680" cy="0"/>
          </a:xfrm>
          <a:prstGeom prst="straightConnector1">
            <a:avLst/>
          </a:prstGeom>
          <a:ln w="38100">
            <a:solidFill>
              <a:srgbClr val="FF0000"/>
            </a:solidFill>
            <a:tailEnd type="triangle"/>
          </a:ln>
        </p:spPr>
        <p:style>
          <a:lnRef idx="1">
            <a:schemeClr val="accent1"/>
          </a:lnRef>
          <a:fillRef idx="0">
            <a:schemeClr val="accent1"/>
          </a:fillRef>
          <a:effectRef idx="0">
            <a:schemeClr val="accent1"/>
          </a:effectRef>
          <a:fontRef idx="minor">
            <a:schemeClr val="tx1"/>
          </a:fontRef>
        </p:style>
      </p:cxnSp>
      <p:sp>
        <p:nvSpPr>
          <p:cNvPr id="11" name="TextBox 10">
            <a:extLst>
              <a:ext uri="{FF2B5EF4-FFF2-40B4-BE49-F238E27FC236}">
                <a16:creationId xmlns:a16="http://schemas.microsoft.com/office/drawing/2014/main" id="{B8ECB26D-DCDC-4F77-822F-E14B12AD95EF}"/>
              </a:ext>
            </a:extLst>
          </p:cNvPr>
          <p:cNvSpPr txBox="1"/>
          <p:nvPr/>
        </p:nvSpPr>
        <p:spPr>
          <a:xfrm>
            <a:off x="10546720" y="3281680"/>
            <a:ext cx="1338700" cy="461665"/>
          </a:xfrm>
          <a:prstGeom prst="rect">
            <a:avLst/>
          </a:prstGeom>
          <a:noFill/>
          <a:ln w="38100">
            <a:solidFill>
              <a:srgbClr val="FF0000"/>
            </a:solidFill>
          </a:ln>
        </p:spPr>
        <p:txBody>
          <a:bodyPr wrap="none" rtlCol="0">
            <a:spAutoFit/>
          </a:bodyPr>
          <a:lstStyle/>
          <a:p>
            <a:r>
              <a:rPr lang="en-US" sz="2400" dirty="0"/>
              <a:t>data race</a:t>
            </a:r>
            <a:endParaRPr lang="en-GB" sz="2400" dirty="0"/>
          </a:p>
        </p:txBody>
      </p:sp>
      <p:pic>
        <p:nvPicPr>
          <p:cNvPr id="3" name="Picture 2">
            <a:extLst>
              <a:ext uri="{FF2B5EF4-FFF2-40B4-BE49-F238E27FC236}">
                <a16:creationId xmlns:a16="http://schemas.microsoft.com/office/drawing/2014/main" id="{A90C43EF-2E19-4322-353B-C170FB7CC884}"/>
              </a:ext>
            </a:extLst>
          </p:cNvPr>
          <p:cNvPicPr>
            <a:picLocks noChangeAspect="1"/>
          </p:cNvPicPr>
          <p:nvPr/>
        </p:nvPicPr>
        <p:blipFill>
          <a:blip r:embed="rId4"/>
          <a:stretch>
            <a:fillRect/>
          </a:stretch>
        </p:blipFill>
        <p:spPr>
          <a:xfrm>
            <a:off x="1872187" y="3281680"/>
            <a:ext cx="3867575" cy="2821055"/>
          </a:xfrm>
          <a:prstGeom prst="rect">
            <a:avLst/>
          </a:prstGeom>
        </p:spPr>
      </p:pic>
      <p:pic>
        <p:nvPicPr>
          <p:cNvPr id="8" name="Picture 7">
            <a:extLst>
              <a:ext uri="{FF2B5EF4-FFF2-40B4-BE49-F238E27FC236}">
                <a16:creationId xmlns:a16="http://schemas.microsoft.com/office/drawing/2014/main" id="{C509AE0D-9E59-97CA-81F3-2B51EC8459F5}"/>
              </a:ext>
            </a:extLst>
          </p:cNvPr>
          <p:cNvPicPr>
            <a:picLocks noChangeAspect="1"/>
          </p:cNvPicPr>
          <p:nvPr/>
        </p:nvPicPr>
        <p:blipFill>
          <a:blip r:embed="rId5"/>
          <a:stretch>
            <a:fillRect/>
          </a:stretch>
        </p:blipFill>
        <p:spPr>
          <a:xfrm>
            <a:off x="28695" y="4531332"/>
            <a:ext cx="1505843" cy="640135"/>
          </a:xfrm>
          <a:prstGeom prst="rect">
            <a:avLst/>
          </a:prstGeom>
        </p:spPr>
      </p:pic>
      <p:pic>
        <p:nvPicPr>
          <p:cNvPr id="12" name="Picture 11">
            <a:extLst>
              <a:ext uri="{FF2B5EF4-FFF2-40B4-BE49-F238E27FC236}">
                <a16:creationId xmlns:a16="http://schemas.microsoft.com/office/drawing/2014/main" id="{F566BB94-0440-1F7E-30B7-72F7BE6DAF4E}"/>
              </a:ext>
            </a:extLst>
          </p:cNvPr>
          <p:cNvPicPr>
            <a:picLocks noChangeAspect="1"/>
          </p:cNvPicPr>
          <p:nvPr/>
        </p:nvPicPr>
        <p:blipFill>
          <a:blip r:embed="rId6"/>
          <a:stretch>
            <a:fillRect/>
          </a:stretch>
        </p:blipFill>
        <p:spPr>
          <a:xfrm rot="10800000">
            <a:off x="1326569" y="4735565"/>
            <a:ext cx="603556" cy="231668"/>
          </a:xfrm>
          <a:prstGeom prst="rect">
            <a:avLst/>
          </a:prstGeom>
        </p:spPr>
      </p:pic>
    </p:spTree>
    <p:extLst>
      <p:ext uri="{BB962C8B-B14F-4D97-AF65-F5344CB8AC3E}">
        <p14:creationId xmlns:p14="http://schemas.microsoft.com/office/powerpoint/2010/main" val="2997902719"/>
      </p:ext>
    </p:extLst>
  </p:cSld>
  <p:clrMapOvr>
    <a:masterClrMapping/>
  </p:clrMapOvr>
</p:sld>
</file>

<file path=ppt/slides/slide3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extBox 1"/>
          <p:cNvSpPr txBox="1"/>
          <p:nvPr/>
        </p:nvSpPr>
        <p:spPr>
          <a:xfrm>
            <a:off x="982362" y="290384"/>
            <a:ext cx="6710363" cy="1077218"/>
          </a:xfrm>
          <a:prstGeom prst="rect">
            <a:avLst/>
          </a:prstGeom>
          <a:noFill/>
        </p:spPr>
        <p:txBody>
          <a:bodyPr wrap="none" rtlCol="0">
            <a:spAutoFit/>
          </a:bodyPr>
          <a:lstStyle/>
          <a:p>
            <a:pPr marL="342900" indent="-342900">
              <a:buFont typeface="Wingdings" panose="05000000000000000000" pitchFamily="2" charset="2"/>
              <a:buChar char="Ø"/>
            </a:pPr>
            <a:r>
              <a:rPr lang="en-US" sz="2800" dirty="0" err="1"/>
              <a:t>Mecanismul</a:t>
            </a:r>
            <a:r>
              <a:rPr lang="en-US" sz="2800" dirty="0"/>
              <a:t> de </a:t>
            </a:r>
            <a:r>
              <a:rPr lang="en-US" sz="2800" dirty="0" err="1"/>
              <a:t>sincronizarea</a:t>
            </a:r>
            <a:r>
              <a:rPr lang="en-US" sz="2800" dirty="0"/>
              <a:t> thread-</a:t>
            </a:r>
            <a:r>
              <a:rPr lang="en-US" sz="2800" dirty="0" err="1"/>
              <a:t>urilor</a:t>
            </a:r>
            <a:endParaRPr lang="en-US" sz="2800" dirty="0"/>
          </a:p>
          <a:p>
            <a:endParaRPr lang="en-US" dirty="0"/>
          </a:p>
          <a:p>
            <a:endParaRPr lang="en-US" dirty="0"/>
          </a:p>
        </p:txBody>
      </p:sp>
      <p:sp>
        <p:nvSpPr>
          <p:cNvPr id="4" name="TextBox 3"/>
          <p:cNvSpPr txBox="1"/>
          <p:nvPr/>
        </p:nvSpPr>
        <p:spPr>
          <a:xfrm>
            <a:off x="1653884" y="1191625"/>
            <a:ext cx="9353907" cy="4801314"/>
          </a:xfrm>
          <a:prstGeom prst="rect">
            <a:avLst/>
          </a:prstGeom>
          <a:noFill/>
        </p:spPr>
        <p:txBody>
          <a:bodyPr wrap="none" rtlCol="0">
            <a:spAutoFit/>
          </a:bodyPr>
          <a:lstStyle/>
          <a:p>
            <a:pPr marL="285750" indent="-285750">
              <a:buFont typeface="Wingdings" panose="05000000000000000000" pitchFamily="2" charset="2"/>
              <a:buChar char="§"/>
            </a:pPr>
            <a:r>
              <a:rPr lang="en-US" sz="2400" dirty="0" err="1"/>
              <a:t>Fiecare</a:t>
            </a:r>
            <a:r>
              <a:rPr lang="en-US" sz="2400" dirty="0"/>
              <a:t> </a:t>
            </a:r>
            <a:r>
              <a:rPr lang="en-US" sz="2400" dirty="0" err="1"/>
              <a:t>obiect</a:t>
            </a:r>
            <a:r>
              <a:rPr lang="en-US" sz="2400" dirty="0"/>
              <a:t> are un lac</a:t>
            </a:r>
            <a:r>
              <a:rPr lang="ro-RO" sz="2400" dirty="0"/>
              <a:t>ă</a:t>
            </a:r>
            <a:r>
              <a:rPr lang="en-US" sz="2400" dirty="0"/>
              <a:t>t intern (</a:t>
            </a:r>
            <a:r>
              <a:rPr lang="en-US" sz="2400" i="1" dirty="0"/>
              <a:t>intrinsic lock</a:t>
            </a:r>
            <a:r>
              <a:rPr lang="en-US" sz="2400" dirty="0"/>
              <a:t>, </a:t>
            </a:r>
            <a:r>
              <a:rPr lang="en-US" sz="2400" i="1" dirty="0"/>
              <a:t>monitor lock</a:t>
            </a:r>
            <a:r>
              <a:rPr lang="en-US" sz="2400" dirty="0"/>
              <a:t>).</a:t>
            </a:r>
          </a:p>
          <a:p>
            <a:pPr marL="285750" indent="-285750">
              <a:buFont typeface="Wingdings" panose="05000000000000000000" pitchFamily="2" charset="2"/>
              <a:buChar char="§"/>
            </a:pPr>
            <a:endParaRPr lang="en-US" sz="2400" dirty="0"/>
          </a:p>
          <a:p>
            <a:endParaRPr lang="en-US" sz="2400" dirty="0"/>
          </a:p>
          <a:p>
            <a:pPr marL="285750" indent="-285750">
              <a:buFont typeface="Wingdings" panose="05000000000000000000" pitchFamily="2" charset="2"/>
              <a:buChar char="§"/>
            </a:pPr>
            <a:r>
              <a:rPr lang="en-US" sz="2400" dirty="0"/>
              <a:t>Un thread care  </a:t>
            </a:r>
            <a:r>
              <a:rPr lang="en-US" sz="2400" dirty="0" err="1"/>
              <a:t>acceseaza</a:t>
            </a:r>
            <a:r>
              <a:rPr lang="en-US" sz="2400" dirty="0"/>
              <a:t> un  </a:t>
            </a:r>
            <a:r>
              <a:rPr lang="en-US" sz="2400" dirty="0" err="1"/>
              <a:t>obiect</a:t>
            </a:r>
            <a:r>
              <a:rPr lang="en-US" sz="2400" dirty="0"/>
              <a:t>:</a:t>
            </a:r>
          </a:p>
          <a:p>
            <a:pPr marL="1257300" lvl="2" indent="-342900">
              <a:buFont typeface="Courier New" panose="02070309020205020404" pitchFamily="49" charset="0"/>
              <a:buChar char="o"/>
            </a:pPr>
            <a:r>
              <a:rPr lang="ro-RO" sz="2400" dirty="0" err="1"/>
              <a:t>deț</a:t>
            </a:r>
            <a:r>
              <a:rPr lang="en-US" sz="2400" dirty="0"/>
              <a:t>in</a:t>
            </a:r>
            <a:r>
              <a:rPr lang="ro-RO" sz="2400" dirty="0"/>
              <a:t>e</a:t>
            </a:r>
            <a:r>
              <a:rPr lang="en-US" sz="2400" dirty="0"/>
              <a:t> (</a:t>
            </a:r>
            <a:r>
              <a:rPr lang="en-US" sz="2400" b="1" dirty="0" err="1"/>
              <a:t>aquire</a:t>
            </a:r>
            <a:r>
              <a:rPr lang="en-US" sz="2400" dirty="0"/>
              <a:t>) lac</a:t>
            </a:r>
            <a:r>
              <a:rPr lang="ro-RO" sz="2400" dirty="0"/>
              <a:t>ă</a:t>
            </a:r>
            <a:r>
              <a:rPr lang="en-US" sz="2400" dirty="0" err="1"/>
              <a:t>tul</a:t>
            </a:r>
            <a:r>
              <a:rPr lang="en-US" sz="2400" dirty="0"/>
              <a:t> intern</a:t>
            </a:r>
            <a:r>
              <a:rPr lang="ro-RO" sz="2400" dirty="0"/>
              <a:t> al obiectului</a:t>
            </a:r>
            <a:r>
              <a:rPr lang="en-US" sz="2400" dirty="0"/>
              <a:t>,</a:t>
            </a:r>
          </a:p>
          <a:p>
            <a:pPr marL="1257300" lvl="2" indent="-342900">
              <a:buFont typeface="Courier New" panose="02070309020205020404" pitchFamily="49" charset="0"/>
              <a:buChar char="o"/>
            </a:pPr>
            <a:r>
              <a:rPr lang="en-US" sz="2400" dirty="0" err="1"/>
              <a:t>acceseaz</a:t>
            </a:r>
            <a:r>
              <a:rPr lang="ro-RO" sz="2400" dirty="0"/>
              <a:t>ă</a:t>
            </a:r>
            <a:r>
              <a:rPr lang="en-US" sz="2400" dirty="0"/>
              <a:t>/</a:t>
            </a:r>
            <a:r>
              <a:rPr lang="en-US" sz="2400" dirty="0" err="1"/>
              <a:t>modific</a:t>
            </a:r>
            <a:r>
              <a:rPr lang="ro-RO" sz="2400" dirty="0"/>
              <a:t>ă </a:t>
            </a:r>
            <a:r>
              <a:rPr lang="en-US" sz="2400" dirty="0" err="1"/>
              <a:t>datele</a:t>
            </a:r>
            <a:r>
              <a:rPr lang="en-US" sz="2400" dirty="0"/>
              <a:t> </a:t>
            </a:r>
            <a:r>
              <a:rPr lang="en-US" sz="2400" dirty="0" err="1"/>
              <a:t>obiectului</a:t>
            </a:r>
            <a:r>
              <a:rPr lang="en-US" sz="2400" dirty="0"/>
              <a:t>,</a:t>
            </a:r>
          </a:p>
          <a:p>
            <a:pPr marL="1257300" lvl="2" indent="-342900">
              <a:buFont typeface="Courier New" panose="02070309020205020404" pitchFamily="49" charset="0"/>
              <a:buChar char="o"/>
            </a:pPr>
            <a:r>
              <a:rPr lang="en-US" sz="2400" dirty="0" err="1"/>
              <a:t>elibereaz</a:t>
            </a:r>
            <a:r>
              <a:rPr lang="ro-RO" sz="2400" dirty="0"/>
              <a:t>ă</a:t>
            </a:r>
            <a:r>
              <a:rPr lang="en-US" sz="2400" dirty="0"/>
              <a:t> (</a:t>
            </a:r>
            <a:r>
              <a:rPr lang="en-US" sz="2400" b="1" dirty="0"/>
              <a:t>release</a:t>
            </a:r>
            <a:r>
              <a:rPr lang="en-US" sz="2400" dirty="0"/>
              <a:t>) lac</a:t>
            </a:r>
            <a:r>
              <a:rPr lang="ro-RO" sz="2400" dirty="0"/>
              <a:t>ă</a:t>
            </a:r>
            <a:r>
              <a:rPr lang="en-US" sz="2400" dirty="0" err="1"/>
              <a:t>tul</a:t>
            </a:r>
            <a:r>
              <a:rPr lang="en-US" sz="2400" dirty="0"/>
              <a:t> </a:t>
            </a:r>
            <a:r>
              <a:rPr lang="ro-RO" sz="2400" dirty="0"/>
              <a:t>intern al </a:t>
            </a:r>
            <a:r>
              <a:rPr lang="en-US" sz="2400" dirty="0" err="1"/>
              <a:t>obiectului</a:t>
            </a:r>
            <a:r>
              <a:rPr lang="en-US" sz="2400" dirty="0"/>
              <a:t>.</a:t>
            </a:r>
          </a:p>
          <a:p>
            <a:pPr lvl="2"/>
            <a:endParaRPr lang="en-US" sz="2400" dirty="0"/>
          </a:p>
          <a:p>
            <a:pPr lvl="2"/>
            <a:endParaRPr lang="en-US" sz="2400" dirty="0"/>
          </a:p>
          <a:p>
            <a:pPr marL="342900" indent="-342900">
              <a:buFont typeface="Wingdings" panose="05000000000000000000" pitchFamily="2" charset="2"/>
              <a:buChar char="§"/>
            </a:pPr>
            <a:r>
              <a:rPr lang="en-US" sz="2400" dirty="0"/>
              <a:t>In </a:t>
            </a:r>
            <a:r>
              <a:rPr lang="en-US" sz="2400" dirty="0" err="1"/>
              <a:t>timpul</a:t>
            </a:r>
            <a:r>
              <a:rPr lang="en-US" sz="2400" dirty="0"/>
              <a:t> </a:t>
            </a:r>
            <a:r>
              <a:rPr lang="ro-RO" sz="2400" dirty="0"/>
              <a:t>î</a:t>
            </a:r>
            <a:r>
              <a:rPr lang="en-US" sz="2400" dirty="0"/>
              <a:t>n care un thread de</a:t>
            </a:r>
            <a:r>
              <a:rPr lang="ro-RO" sz="2400" dirty="0"/>
              <a:t>ț</a:t>
            </a:r>
            <a:r>
              <a:rPr lang="en-US" sz="2400" dirty="0" err="1"/>
              <a:t>ine</a:t>
            </a:r>
            <a:r>
              <a:rPr lang="en-US" sz="2400" dirty="0"/>
              <a:t> lac</a:t>
            </a:r>
            <a:r>
              <a:rPr lang="ro-RO" sz="2400" dirty="0"/>
              <a:t>ă</a:t>
            </a:r>
            <a:r>
              <a:rPr lang="en-US" sz="2400" dirty="0" err="1"/>
              <a:t>tul</a:t>
            </a:r>
            <a:r>
              <a:rPr lang="en-US" sz="2400" dirty="0"/>
              <a:t> intern al </a:t>
            </a:r>
            <a:r>
              <a:rPr lang="en-US" sz="2400" dirty="0" err="1"/>
              <a:t>unui</a:t>
            </a:r>
            <a:r>
              <a:rPr lang="en-US" sz="2400" dirty="0"/>
              <a:t> </a:t>
            </a:r>
            <a:r>
              <a:rPr lang="en-US" sz="2400" dirty="0" err="1"/>
              <a:t>obiect</a:t>
            </a:r>
            <a:r>
              <a:rPr lang="en-US" sz="2400" dirty="0"/>
              <a:t>, </a:t>
            </a:r>
            <a:r>
              <a:rPr lang="en-US" sz="2400" dirty="0" err="1"/>
              <a:t>orice</a:t>
            </a:r>
            <a:r>
              <a:rPr lang="en-US" sz="2400" dirty="0"/>
              <a:t> alt</a:t>
            </a:r>
          </a:p>
          <a:p>
            <a:r>
              <a:rPr lang="en-US" sz="2400" dirty="0"/>
              <a:t>       thread care </a:t>
            </a:r>
            <a:r>
              <a:rPr lang="en-US" sz="2400" dirty="0" err="1"/>
              <a:t>dore</a:t>
            </a:r>
            <a:r>
              <a:rPr lang="ro-RO" sz="2400" dirty="0"/>
              <a:t>ș</a:t>
            </a:r>
            <a:r>
              <a:rPr lang="en-US" sz="2400" dirty="0" err="1"/>
              <a:t>te</a:t>
            </a:r>
            <a:r>
              <a:rPr lang="en-US" sz="2400" dirty="0"/>
              <a:t> s</a:t>
            </a:r>
            <a:r>
              <a:rPr lang="ro-RO" sz="2400" dirty="0"/>
              <a:t>ă</a:t>
            </a:r>
            <a:r>
              <a:rPr lang="en-US" sz="2400" dirty="0"/>
              <a:t> de</a:t>
            </a:r>
            <a:r>
              <a:rPr lang="ro-RO" sz="2400" dirty="0"/>
              <a:t>ț</a:t>
            </a:r>
            <a:r>
              <a:rPr lang="en-US" sz="2400" dirty="0"/>
              <a:t>in</a:t>
            </a:r>
            <a:r>
              <a:rPr lang="ro-RO" sz="2400" dirty="0"/>
              <a:t>ă</a:t>
            </a:r>
            <a:r>
              <a:rPr lang="en-US" sz="2400" dirty="0"/>
              <a:t> (</a:t>
            </a:r>
            <a:r>
              <a:rPr lang="en-US" sz="2400" b="1" dirty="0"/>
              <a:t>acquire</a:t>
            </a:r>
            <a:r>
              <a:rPr lang="en-US" sz="2400" dirty="0"/>
              <a:t>) lac</a:t>
            </a:r>
            <a:r>
              <a:rPr lang="ro-RO" sz="2400" dirty="0"/>
              <a:t>ă</a:t>
            </a:r>
            <a:r>
              <a:rPr lang="en-US" sz="2400" dirty="0" err="1"/>
              <a:t>tul</a:t>
            </a:r>
            <a:r>
              <a:rPr lang="en-US" sz="2400" dirty="0"/>
              <a:t>  </a:t>
            </a:r>
            <a:r>
              <a:rPr lang="en-US" sz="2400" dirty="0" err="1"/>
              <a:t>este</a:t>
            </a:r>
            <a:r>
              <a:rPr lang="en-US" sz="2400" dirty="0"/>
              <a:t> </a:t>
            </a:r>
            <a:r>
              <a:rPr lang="en-US" sz="2400" dirty="0" err="1"/>
              <a:t>blocat</a:t>
            </a:r>
            <a:r>
              <a:rPr lang="en-US" sz="2400" dirty="0"/>
              <a:t>.</a:t>
            </a:r>
          </a:p>
          <a:p>
            <a:endParaRPr lang="en-US" sz="2400" dirty="0"/>
          </a:p>
          <a:p>
            <a:endParaRPr lang="en-US" dirty="0"/>
          </a:p>
        </p:txBody>
      </p:sp>
    </p:spTree>
    <p:extLst>
      <p:ext uri="{BB962C8B-B14F-4D97-AF65-F5344CB8AC3E}">
        <p14:creationId xmlns:p14="http://schemas.microsoft.com/office/powerpoint/2010/main" val="2283294185"/>
      </p:ext>
    </p:extLst>
  </p:cSld>
  <p:clrMapOvr>
    <a:masterClrMapping/>
  </p:clrMapOvr>
</p:sld>
</file>

<file path=ppt/slides/slide3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extBox 1"/>
          <p:cNvSpPr txBox="1"/>
          <p:nvPr/>
        </p:nvSpPr>
        <p:spPr>
          <a:xfrm>
            <a:off x="5148528" y="1443168"/>
            <a:ext cx="5399427" cy="1200329"/>
          </a:xfrm>
          <a:prstGeom prst="rect">
            <a:avLst/>
          </a:prstGeom>
          <a:noFill/>
          <a:ln w="38100">
            <a:solidFill>
              <a:srgbClr val="00B050"/>
            </a:solidFill>
          </a:ln>
        </p:spPr>
        <p:txBody>
          <a:bodyPr wrap="none" rtlCol="0">
            <a:spAutoFit/>
          </a:bodyPr>
          <a:lstStyle/>
          <a:p>
            <a:r>
              <a:rPr lang="en-US" sz="2400" dirty="0"/>
              <a:t>private </a:t>
            </a:r>
            <a:r>
              <a:rPr lang="en-US" sz="2400" b="1" dirty="0"/>
              <a:t>synchronized</a:t>
            </a:r>
            <a:r>
              <a:rPr lang="en-US" sz="2400" dirty="0"/>
              <a:t> void </a:t>
            </a:r>
            <a:r>
              <a:rPr lang="en-US" sz="2400" dirty="0" err="1"/>
              <a:t>syncMethod</a:t>
            </a:r>
            <a:r>
              <a:rPr lang="en-US" sz="2400" dirty="0"/>
              <a:t> () {</a:t>
            </a:r>
          </a:p>
          <a:p>
            <a:r>
              <a:rPr lang="en-US" sz="2400" dirty="0"/>
              <a:t>    //</a:t>
            </a:r>
            <a:r>
              <a:rPr lang="en-US" sz="2400" dirty="0" err="1"/>
              <a:t>codul</a:t>
            </a:r>
            <a:r>
              <a:rPr lang="en-US" sz="2400" dirty="0"/>
              <a:t> </a:t>
            </a:r>
            <a:r>
              <a:rPr lang="en-US" sz="2400" dirty="0" err="1"/>
              <a:t>metodei</a:t>
            </a:r>
            <a:endParaRPr lang="en-US" sz="2400" dirty="0"/>
          </a:p>
          <a:p>
            <a:r>
              <a:rPr lang="en-US" sz="2400" dirty="0"/>
              <a:t>  }</a:t>
            </a:r>
          </a:p>
        </p:txBody>
      </p:sp>
      <p:sp>
        <p:nvSpPr>
          <p:cNvPr id="9" name="Rectangle 8"/>
          <p:cNvSpPr/>
          <p:nvPr/>
        </p:nvSpPr>
        <p:spPr>
          <a:xfrm>
            <a:off x="1559010" y="917140"/>
            <a:ext cx="6096000" cy="2800767"/>
          </a:xfrm>
          <a:prstGeom prst="rect">
            <a:avLst/>
          </a:prstGeom>
        </p:spPr>
        <p:txBody>
          <a:bodyPr>
            <a:spAutoFit/>
          </a:bodyPr>
          <a:lstStyle/>
          <a:p>
            <a:endParaRPr lang="en-US" sz="2400" dirty="0"/>
          </a:p>
          <a:p>
            <a:pPr marL="285750" indent="-285750">
              <a:buFont typeface="Wingdings" panose="05000000000000000000" pitchFamily="2" charset="2"/>
              <a:buChar char="§"/>
            </a:pPr>
            <a:r>
              <a:rPr lang="en-US" sz="2400" dirty="0" err="1"/>
              <a:t>Metode</a:t>
            </a:r>
            <a:r>
              <a:rPr lang="en-US" sz="2400" dirty="0"/>
              <a:t> </a:t>
            </a:r>
            <a:r>
              <a:rPr lang="en-US" sz="2400" dirty="0" err="1"/>
              <a:t>sincronizate</a:t>
            </a:r>
            <a:endParaRPr lang="en-US" sz="2400" dirty="0"/>
          </a:p>
          <a:p>
            <a:endParaRPr lang="en-US" sz="2400" dirty="0"/>
          </a:p>
          <a:p>
            <a:endParaRPr lang="en-US" sz="2400" dirty="0"/>
          </a:p>
          <a:p>
            <a:endParaRPr lang="en-US" sz="2000" dirty="0"/>
          </a:p>
          <a:p>
            <a:endParaRPr lang="en-US" sz="2000" dirty="0"/>
          </a:p>
          <a:p>
            <a:endParaRPr lang="en-US" sz="2000" dirty="0"/>
          </a:p>
          <a:p>
            <a:endParaRPr lang="en-US" sz="2000" dirty="0"/>
          </a:p>
        </p:txBody>
      </p:sp>
      <p:sp>
        <p:nvSpPr>
          <p:cNvPr id="3" name="TextBox 2"/>
          <p:cNvSpPr txBox="1"/>
          <p:nvPr/>
        </p:nvSpPr>
        <p:spPr>
          <a:xfrm>
            <a:off x="533473" y="225160"/>
            <a:ext cx="5259645" cy="461665"/>
          </a:xfrm>
          <a:prstGeom prst="rect">
            <a:avLst/>
          </a:prstGeom>
          <a:noFill/>
        </p:spPr>
        <p:txBody>
          <a:bodyPr wrap="none" rtlCol="0">
            <a:spAutoFit/>
          </a:bodyPr>
          <a:lstStyle/>
          <a:p>
            <a:pPr marL="285750" indent="-285750">
              <a:buFont typeface="Wingdings" panose="05000000000000000000" pitchFamily="2" charset="2"/>
              <a:buChar char="Ø"/>
            </a:pPr>
            <a:r>
              <a:rPr lang="en-US" sz="2400" dirty="0" err="1"/>
              <a:t>Sincronizarea</a:t>
            </a:r>
            <a:r>
              <a:rPr lang="en-US" sz="2400" dirty="0"/>
              <a:t> thread-</a:t>
            </a:r>
            <a:r>
              <a:rPr lang="en-US" sz="2400" dirty="0" err="1"/>
              <a:t>urilor</a:t>
            </a:r>
            <a:r>
              <a:rPr lang="en-US" sz="2400" dirty="0"/>
              <a:t> se face cu:</a:t>
            </a:r>
          </a:p>
        </p:txBody>
      </p:sp>
      <p:sp>
        <p:nvSpPr>
          <p:cNvPr id="10" name="TextBox 9">
            <a:extLst>
              <a:ext uri="{FF2B5EF4-FFF2-40B4-BE49-F238E27FC236}">
                <a16:creationId xmlns:a16="http://schemas.microsoft.com/office/drawing/2014/main" id="{037D1105-F5FB-4176-AA6D-A9A413E51483}"/>
              </a:ext>
            </a:extLst>
          </p:cNvPr>
          <p:cNvSpPr txBox="1"/>
          <p:nvPr/>
        </p:nvSpPr>
        <p:spPr>
          <a:xfrm>
            <a:off x="1188720" y="3169525"/>
            <a:ext cx="10546080" cy="2246769"/>
          </a:xfrm>
          <a:prstGeom prst="rect">
            <a:avLst/>
          </a:prstGeom>
          <a:noFill/>
        </p:spPr>
        <p:txBody>
          <a:bodyPr wrap="square">
            <a:spAutoFit/>
          </a:bodyPr>
          <a:lstStyle/>
          <a:p>
            <a:r>
              <a:rPr lang="en-US" sz="2400" dirty="0"/>
              <a:t>Cand un thread </a:t>
            </a:r>
            <a:r>
              <a:rPr lang="en-US" sz="2400" dirty="0" err="1"/>
              <a:t>apeleaz</a:t>
            </a:r>
            <a:r>
              <a:rPr lang="ro-RO" sz="2400" dirty="0"/>
              <a:t>ă </a:t>
            </a:r>
            <a:r>
              <a:rPr lang="en-US" sz="2400" dirty="0"/>
              <a:t>o </a:t>
            </a:r>
            <a:r>
              <a:rPr lang="en-US" sz="2400" dirty="0" err="1"/>
              <a:t>metoda</a:t>
            </a:r>
            <a:r>
              <a:rPr lang="en-US" sz="2400" dirty="0"/>
              <a:t> </a:t>
            </a:r>
            <a:r>
              <a:rPr lang="en-US" sz="2400" dirty="0" err="1"/>
              <a:t>sincronizat</a:t>
            </a:r>
            <a:r>
              <a:rPr lang="ro-RO" sz="2400" dirty="0"/>
              <a:t>ă</a:t>
            </a:r>
            <a:r>
              <a:rPr lang="en-US" sz="2400" dirty="0"/>
              <a:t> </a:t>
            </a:r>
            <a:r>
              <a:rPr lang="en-US" sz="2400" dirty="0" err="1"/>
              <a:t>el</a:t>
            </a:r>
            <a:r>
              <a:rPr lang="en-US" sz="2400" dirty="0"/>
              <a:t> </a:t>
            </a:r>
            <a:r>
              <a:rPr lang="en-US" sz="2400" dirty="0" err="1"/>
              <a:t>trebuie</a:t>
            </a:r>
            <a:r>
              <a:rPr lang="en-US" sz="2400" dirty="0"/>
              <a:t> s</a:t>
            </a:r>
            <a:r>
              <a:rPr lang="ro-RO" sz="2400" dirty="0"/>
              <a:t>ă</a:t>
            </a:r>
            <a:r>
              <a:rPr lang="en-US" sz="2400" dirty="0"/>
              <a:t> de</a:t>
            </a:r>
            <a:r>
              <a:rPr lang="ro-RO" sz="2400" dirty="0"/>
              <a:t>ț</a:t>
            </a:r>
            <a:r>
              <a:rPr lang="en-US" sz="2400" dirty="0"/>
              <a:t>in</a:t>
            </a:r>
            <a:r>
              <a:rPr lang="ro-RO" sz="2400" dirty="0"/>
              <a:t>ă</a:t>
            </a:r>
            <a:r>
              <a:rPr lang="en-US" sz="2400" dirty="0"/>
              <a:t>  lac</a:t>
            </a:r>
            <a:r>
              <a:rPr lang="ro-RO" sz="2400" dirty="0"/>
              <a:t>ă</a:t>
            </a:r>
            <a:r>
              <a:rPr lang="en-US" sz="2400" dirty="0" err="1"/>
              <a:t>tul</a:t>
            </a:r>
            <a:r>
              <a:rPr lang="en-US" sz="2400" dirty="0"/>
              <a:t> </a:t>
            </a:r>
            <a:r>
              <a:rPr lang="en-US" sz="2400" dirty="0" err="1"/>
              <a:t>obiectului</a:t>
            </a:r>
            <a:r>
              <a:rPr lang="en-US" sz="2400" dirty="0"/>
              <a:t> </a:t>
            </a:r>
            <a:r>
              <a:rPr lang="en-US" sz="2400" dirty="0" err="1"/>
              <a:t>caruia</a:t>
            </a:r>
            <a:r>
              <a:rPr lang="en-US" sz="2400" dirty="0"/>
              <a:t> </a:t>
            </a:r>
            <a:r>
              <a:rPr lang="ro-RO" sz="2400" dirty="0"/>
              <a:t>î</a:t>
            </a:r>
            <a:r>
              <a:rPr lang="en-US" sz="2400" dirty="0" err="1"/>
              <a:t>i</a:t>
            </a:r>
            <a:r>
              <a:rPr lang="en-US" sz="2400" dirty="0"/>
              <a:t> apar</a:t>
            </a:r>
            <a:r>
              <a:rPr lang="ro-RO" sz="2400" dirty="0"/>
              <a:t>ț</a:t>
            </a:r>
            <a:r>
              <a:rPr lang="en-US" sz="2400" dirty="0" err="1"/>
              <a:t>ine</a:t>
            </a:r>
            <a:r>
              <a:rPr lang="en-US" sz="2400" dirty="0"/>
              <a:t> </a:t>
            </a:r>
            <a:r>
              <a:rPr lang="en-US" sz="2400" dirty="0" err="1"/>
              <a:t>metoda</a:t>
            </a:r>
            <a:r>
              <a:rPr lang="en-US" sz="2400" dirty="0"/>
              <a:t>,   </a:t>
            </a:r>
            <a:r>
              <a:rPr lang="en-US" sz="2400" dirty="0" err="1"/>
              <a:t>execut</a:t>
            </a:r>
            <a:r>
              <a:rPr lang="ro-RO" sz="2400" dirty="0"/>
              <a:t>ă</a:t>
            </a:r>
            <a:r>
              <a:rPr lang="en-US" sz="2400" dirty="0"/>
              <a:t> </a:t>
            </a:r>
            <a:r>
              <a:rPr lang="en-US" sz="2400" dirty="0" err="1"/>
              <a:t>metoda</a:t>
            </a:r>
            <a:r>
              <a:rPr lang="en-US" sz="2400" dirty="0"/>
              <a:t> </a:t>
            </a:r>
            <a:r>
              <a:rPr lang="en-US" sz="2400" dirty="0" err="1"/>
              <a:t>apoi</a:t>
            </a:r>
            <a:r>
              <a:rPr lang="en-US" sz="2400" dirty="0"/>
              <a:t> </a:t>
            </a:r>
            <a:r>
              <a:rPr lang="en-US" sz="2400" dirty="0" err="1"/>
              <a:t>elibereaz</a:t>
            </a:r>
            <a:r>
              <a:rPr lang="ro-RO" sz="2400" dirty="0"/>
              <a:t>ă</a:t>
            </a:r>
            <a:r>
              <a:rPr lang="en-US" sz="2400" dirty="0"/>
              <a:t> </a:t>
            </a:r>
            <a:r>
              <a:rPr lang="en-US" sz="2400" dirty="0" err="1"/>
              <a:t>lacatul</a:t>
            </a:r>
            <a:r>
              <a:rPr lang="en-US" sz="2400" dirty="0"/>
              <a:t>. </a:t>
            </a:r>
          </a:p>
          <a:p>
            <a:r>
              <a:rPr lang="en-US" sz="2400" dirty="0"/>
              <a:t>                                  </a:t>
            </a:r>
            <a:r>
              <a:rPr lang="en-US" sz="2400" b="1" dirty="0"/>
              <a:t> acquire</a:t>
            </a:r>
            <a:r>
              <a:rPr lang="en-US" sz="2400" dirty="0"/>
              <a:t>, execute, </a:t>
            </a:r>
            <a:r>
              <a:rPr lang="en-US" sz="2400" b="1" dirty="0"/>
              <a:t>release</a:t>
            </a:r>
          </a:p>
          <a:p>
            <a:r>
              <a:rPr lang="en-US" sz="2400" dirty="0"/>
              <a:t>     </a:t>
            </a:r>
          </a:p>
          <a:p>
            <a:r>
              <a:rPr lang="en-US" sz="2400" dirty="0" err="1"/>
              <a:t>Pentru</a:t>
            </a:r>
            <a:r>
              <a:rPr lang="en-US" sz="2400" dirty="0"/>
              <a:t> </a:t>
            </a:r>
            <a:r>
              <a:rPr lang="en-US" sz="2400" dirty="0" err="1"/>
              <a:t>metodele</a:t>
            </a:r>
            <a:r>
              <a:rPr lang="en-US" sz="2400" dirty="0"/>
              <a:t> statice, lac</a:t>
            </a:r>
            <a:r>
              <a:rPr lang="ro-RO" sz="2400"/>
              <a:t>ă</a:t>
            </a:r>
            <a:r>
              <a:rPr lang="en-US" sz="2400"/>
              <a:t>tul</a:t>
            </a:r>
            <a:r>
              <a:rPr lang="en-US" sz="2400" dirty="0"/>
              <a:t> </a:t>
            </a:r>
            <a:r>
              <a:rPr lang="en-US" sz="2400" dirty="0" err="1"/>
              <a:t>este</a:t>
            </a:r>
            <a:r>
              <a:rPr lang="en-US" sz="2400" dirty="0"/>
              <a:t> al </a:t>
            </a:r>
            <a:r>
              <a:rPr lang="en-US" sz="2400" dirty="0" err="1"/>
              <a:t>obiectului</a:t>
            </a:r>
            <a:r>
              <a:rPr lang="en-US" sz="2400" dirty="0"/>
              <a:t> </a:t>
            </a:r>
            <a:r>
              <a:rPr lang="en-US" sz="2400" i="1" dirty="0"/>
              <a:t>Class</a:t>
            </a:r>
            <a:r>
              <a:rPr lang="en-US" sz="2400" dirty="0"/>
              <a:t> </a:t>
            </a:r>
            <a:r>
              <a:rPr lang="en-US" sz="2400" dirty="0" err="1"/>
              <a:t>asociat</a:t>
            </a:r>
            <a:r>
              <a:rPr lang="en-US" sz="2400" dirty="0"/>
              <a:t> </a:t>
            </a:r>
            <a:r>
              <a:rPr lang="en-US" sz="2400" dirty="0" err="1"/>
              <a:t>clasei</a:t>
            </a:r>
            <a:r>
              <a:rPr lang="en-US" sz="2400" dirty="0"/>
              <a:t> respective.</a:t>
            </a:r>
          </a:p>
          <a:p>
            <a:endParaRPr lang="en-US" sz="2000" dirty="0"/>
          </a:p>
        </p:txBody>
      </p:sp>
    </p:spTree>
    <p:extLst>
      <p:ext uri="{BB962C8B-B14F-4D97-AF65-F5344CB8AC3E}">
        <p14:creationId xmlns:p14="http://schemas.microsoft.com/office/powerpoint/2010/main" val="237680840"/>
      </p:ext>
    </p:extLst>
  </p:cSld>
  <p:clrMapOvr>
    <a:masterClrMapping/>
  </p:clrMapOvr>
</p:sld>
</file>

<file path=ppt/slides/slide3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extBox 1"/>
          <p:cNvSpPr txBox="1"/>
          <p:nvPr/>
        </p:nvSpPr>
        <p:spPr>
          <a:xfrm>
            <a:off x="6560768" y="1006700"/>
            <a:ext cx="5399427" cy="1200329"/>
          </a:xfrm>
          <a:prstGeom prst="rect">
            <a:avLst/>
          </a:prstGeom>
          <a:noFill/>
          <a:ln w="38100">
            <a:solidFill>
              <a:srgbClr val="00B050"/>
            </a:solidFill>
          </a:ln>
        </p:spPr>
        <p:txBody>
          <a:bodyPr wrap="none" rtlCol="0">
            <a:spAutoFit/>
          </a:bodyPr>
          <a:lstStyle/>
          <a:p>
            <a:r>
              <a:rPr lang="en-US" sz="2400" dirty="0"/>
              <a:t>private synchronized void </a:t>
            </a:r>
            <a:r>
              <a:rPr lang="en-US" sz="2400" dirty="0" err="1"/>
              <a:t>syncMethod</a:t>
            </a:r>
            <a:r>
              <a:rPr lang="en-US" sz="2400" dirty="0"/>
              <a:t> () {</a:t>
            </a:r>
          </a:p>
          <a:p>
            <a:r>
              <a:rPr lang="en-US" sz="2400" dirty="0"/>
              <a:t>    //</a:t>
            </a:r>
            <a:r>
              <a:rPr lang="en-US" sz="2400" dirty="0" err="1"/>
              <a:t>codul</a:t>
            </a:r>
            <a:r>
              <a:rPr lang="en-US" sz="2400" dirty="0"/>
              <a:t> </a:t>
            </a:r>
            <a:r>
              <a:rPr lang="en-US" sz="2400" dirty="0" err="1"/>
              <a:t>metodei</a:t>
            </a:r>
            <a:endParaRPr lang="en-US" sz="2400" dirty="0"/>
          </a:p>
          <a:p>
            <a:r>
              <a:rPr lang="en-US" sz="2400" dirty="0"/>
              <a:t>  }</a:t>
            </a:r>
          </a:p>
        </p:txBody>
      </p:sp>
      <p:sp>
        <p:nvSpPr>
          <p:cNvPr id="4" name="TextBox 3"/>
          <p:cNvSpPr txBox="1"/>
          <p:nvPr/>
        </p:nvSpPr>
        <p:spPr>
          <a:xfrm>
            <a:off x="6489314" y="3010020"/>
            <a:ext cx="4325287" cy="1200329"/>
          </a:xfrm>
          <a:prstGeom prst="rect">
            <a:avLst/>
          </a:prstGeom>
          <a:noFill/>
          <a:ln w="38100">
            <a:solidFill>
              <a:srgbClr val="00B050"/>
            </a:solidFill>
          </a:ln>
        </p:spPr>
        <p:txBody>
          <a:bodyPr wrap="none" rtlCol="0">
            <a:spAutoFit/>
          </a:bodyPr>
          <a:lstStyle/>
          <a:p>
            <a:r>
              <a:rPr lang="en-US" sz="2400" dirty="0"/>
              <a:t>synchronized (</a:t>
            </a:r>
            <a:r>
              <a:rPr lang="en-US" sz="2400" b="1" dirty="0"/>
              <a:t>object reference</a:t>
            </a:r>
            <a:r>
              <a:rPr lang="en-US" sz="2400" dirty="0"/>
              <a:t>){ </a:t>
            </a:r>
          </a:p>
          <a:p>
            <a:r>
              <a:rPr lang="en-US" sz="2400" dirty="0"/>
              <a:t>    // </a:t>
            </a:r>
            <a:r>
              <a:rPr lang="en-US" sz="2400" dirty="0" err="1"/>
              <a:t>instructiuni</a:t>
            </a:r>
            <a:endParaRPr lang="en-US" sz="2400" dirty="0"/>
          </a:p>
          <a:p>
            <a:r>
              <a:rPr lang="en-US" sz="2400" dirty="0"/>
              <a:t>  }</a:t>
            </a:r>
          </a:p>
        </p:txBody>
      </p:sp>
      <p:sp>
        <p:nvSpPr>
          <p:cNvPr id="6" name="TextBox 5"/>
          <p:cNvSpPr txBox="1"/>
          <p:nvPr/>
        </p:nvSpPr>
        <p:spPr>
          <a:xfrm>
            <a:off x="7982740" y="4750998"/>
            <a:ext cx="3115340" cy="1323439"/>
          </a:xfrm>
          <a:prstGeom prst="rect">
            <a:avLst/>
          </a:prstGeom>
          <a:noFill/>
          <a:ln w="38100">
            <a:solidFill>
              <a:srgbClr val="00B050"/>
            </a:solidFill>
          </a:ln>
        </p:spPr>
        <p:txBody>
          <a:bodyPr wrap="none" rtlCol="0">
            <a:spAutoFit/>
          </a:bodyPr>
          <a:lstStyle/>
          <a:p>
            <a:r>
              <a:rPr lang="en-US" sz="2000" dirty="0"/>
              <a:t>private void </a:t>
            </a:r>
            <a:r>
              <a:rPr lang="en-US" sz="2000" dirty="0" err="1"/>
              <a:t>syncMethod</a:t>
            </a:r>
            <a:r>
              <a:rPr lang="en-US" sz="2000" dirty="0"/>
              <a:t> () {</a:t>
            </a:r>
          </a:p>
          <a:p>
            <a:r>
              <a:rPr lang="en-US" sz="2000" dirty="0"/>
              <a:t>      synchronized (this){</a:t>
            </a:r>
          </a:p>
          <a:p>
            <a:r>
              <a:rPr lang="en-US" sz="2000" dirty="0"/>
              <a:t>         //</a:t>
            </a:r>
            <a:r>
              <a:rPr lang="en-US" sz="2000" dirty="0" err="1"/>
              <a:t>codul</a:t>
            </a:r>
            <a:r>
              <a:rPr lang="en-US" sz="2000" dirty="0"/>
              <a:t> </a:t>
            </a:r>
            <a:r>
              <a:rPr lang="en-US" sz="2000" dirty="0" err="1"/>
              <a:t>metodei</a:t>
            </a:r>
            <a:endParaRPr lang="en-US" sz="2000" dirty="0"/>
          </a:p>
          <a:p>
            <a:r>
              <a:rPr lang="en-US" sz="2000" dirty="0"/>
              <a:t>   }}</a:t>
            </a:r>
          </a:p>
        </p:txBody>
      </p:sp>
      <p:sp>
        <p:nvSpPr>
          <p:cNvPr id="9" name="Rectangle 8"/>
          <p:cNvSpPr/>
          <p:nvPr/>
        </p:nvSpPr>
        <p:spPr>
          <a:xfrm>
            <a:off x="1559010" y="917140"/>
            <a:ext cx="6096000" cy="3293209"/>
          </a:xfrm>
          <a:prstGeom prst="rect">
            <a:avLst/>
          </a:prstGeom>
        </p:spPr>
        <p:txBody>
          <a:bodyPr>
            <a:spAutoFit/>
          </a:bodyPr>
          <a:lstStyle/>
          <a:p>
            <a:endParaRPr lang="en-US" sz="2000" dirty="0"/>
          </a:p>
          <a:p>
            <a:pPr marL="285750" indent="-285750">
              <a:buFont typeface="Wingdings" panose="05000000000000000000" pitchFamily="2" charset="2"/>
              <a:buChar char="§"/>
            </a:pPr>
            <a:r>
              <a:rPr lang="en-US" sz="2400" dirty="0" err="1"/>
              <a:t>Metode</a:t>
            </a:r>
            <a:r>
              <a:rPr lang="en-US" sz="2400" dirty="0"/>
              <a:t> </a:t>
            </a:r>
            <a:r>
              <a:rPr lang="en-US" sz="2400" dirty="0" err="1"/>
              <a:t>sincronizate</a:t>
            </a:r>
            <a:endParaRPr lang="en-US" sz="2400" dirty="0"/>
          </a:p>
          <a:p>
            <a:endParaRPr lang="en-US" sz="2400" dirty="0"/>
          </a:p>
          <a:p>
            <a:endParaRPr lang="en-US" sz="2400" dirty="0"/>
          </a:p>
          <a:p>
            <a:endParaRPr lang="en-US" sz="2400" dirty="0"/>
          </a:p>
          <a:p>
            <a:endParaRPr lang="en-US" sz="2400" dirty="0"/>
          </a:p>
          <a:p>
            <a:endParaRPr lang="en-US" sz="2400" dirty="0"/>
          </a:p>
          <a:p>
            <a:pPr marL="285750" indent="-285750">
              <a:buFont typeface="Wingdings" panose="05000000000000000000" pitchFamily="2" charset="2"/>
              <a:buChar char="§"/>
            </a:pPr>
            <a:r>
              <a:rPr lang="en-US" sz="2400" dirty="0" err="1"/>
              <a:t>Instructiuni</a:t>
            </a:r>
            <a:r>
              <a:rPr lang="en-US" sz="2400" dirty="0"/>
              <a:t> (</a:t>
            </a:r>
            <a:r>
              <a:rPr lang="en-US" sz="2400" dirty="0" err="1"/>
              <a:t>blocuri</a:t>
            </a:r>
            <a:r>
              <a:rPr lang="en-US" sz="2400" dirty="0"/>
              <a:t>) </a:t>
            </a:r>
            <a:r>
              <a:rPr lang="en-US" sz="2400" dirty="0" err="1"/>
              <a:t>sincronizate</a:t>
            </a:r>
            <a:endParaRPr lang="en-US" sz="2400" dirty="0"/>
          </a:p>
          <a:p>
            <a:pPr marL="285750" indent="-285750">
              <a:buFont typeface="Wingdings" panose="05000000000000000000" pitchFamily="2" charset="2"/>
              <a:buChar char="§"/>
            </a:pPr>
            <a:endParaRPr lang="en-US" sz="2000" dirty="0"/>
          </a:p>
        </p:txBody>
      </p:sp>
      <p:sp>
        <p:nvSpPr>
          <p:cNvPr id="3" name="TextBox 2"/>
          <p:cNvSpPr txBox="1"/>
          <p:nvPr/>
        </p:nvSpPr>
        <p:spPr>
          <a:xfrm>
            <a:off x="533473" y="225160"/>
            <a:ext cx="4369722" cy="523220"/>
          </a:xfrm>
          <a:prstGeom prst="rect">
            <a:avLst/>
          </a:prstGeom>
          <a:noFill/>
        </p:spPr>
        <p:txBody>
          <a:bodyPr wrap="none" rtlCol="0">
            <a:spAutoFit/>
          </a:bodyPr>
          <a:lstStyle/>
          <a:p>
            <a:pPr marL="285750" indent="-285750">
              <a:buFont typeface="Wingdings" panose="05000000000000000000" pitchFamily="2" charset="2"/>
              <a:buChar char="Ø"/>
            </a:pPr>
            <a:r>
              <a:rPr lang="en-US" sz="2800" dirty="0" err="1"/>
              <a:t>Sincronizarea</a:t>
            </a:r>
            <a:r>
              <a:rPr lang="en-US" sz="2800" dirty="0"/>
              <a:t> thread-</a:t>
            </a:r>
            <a:r>
              <a:rPr lang="en-US" sz="2800" dirty="0" err="1"/>
              <a:t>urilor</a:t>
            </a:r>
            <a:endParaRPr lang="en-US" sz="2800" dirty="0"/>
          </a:p>
        </p:txBody>
      </p:sp>
      <p:sp>
        <p:nvSpPr>
          <p:cNvPr id="5" name="TextBox 4"/>
          <p:cNvSpPr txBox="1"/>
          <p:nvPr/>
        </p:nvSpPr>
        <p:spPr>
          <a:xfrm>
            <a:off x="660262" y="4966473"/>
            <a:ext cx="7201139" cy="461665"/>
          </a:xfrm>
          <a:prstGeom prst="rect">
            <a:avLst/>
          </a:prstGeom>
          <a:noFill/>
        </p:spPr>
        <p:txBody>
          <a:bodyPr wrap="none" rtlCol="0">
            <a:spAutoFit/>
          </a:bodyPr>
          <a:lstStyle/>
          <a:p>
            <a:r>
              <a:rPr lang="en-US" sz="2400" dirty="0"/>
              <a:t>O </a:t>
            </a:r>
            <a:r>
              <a:rPr lang="en-US" sz="2400" dirty="0" err="1"/>
              <a:t>metoda</a:t>
            </a:r>
            <a:r>
              <a:rPr lang="en-US" sz="2400" dirty="0"/>
              <a:t> </a:t>
            </a:r>
            <a:r>
              <a:rPr lang="en-US" sz="2400" dirty="0" err="1"/>
              <a:t>sincronizata</a:t>
            </a:r>
            <a:r>
              <a:rPr lang="en-US" sz="2400" dirty="0"/>
              <a:t> </a:t>
            </a:r>
            <a:r>
              <a:rPr lang="en-US" sz="2400" dirty="0" err="1"/>
              <a:t>poate</a:t>
            </a:r>
            <a:r>
              <a:rPr lang="en-US" sz="2400" dirty="0"/>
              <a:t> fi </a:t>
            </a:r>
            <a:r>
              <a:rPr lang="en-US" sz="2400" dirty="0" err="1"/>
              <a:t>scrisa</a:t>
            </a:r>
            <a:r>
              <a:rPr lang="en-US" sz="2400" dirty="0"/>
              <a:t> ca bloc </a:t>
            </a:r>
            <a:r>
              <a:rPr lang="en-US" sz="2400" dirty="0" err="1"/>
              <a:t>sincronizat</a:t>
            </a:r>
            <a:r>
              <a:rPr lang="en-US" sz="2400" dirty="0"/>
              <a:t>:</a:t>
            </a:r>
          </a:p>
        </p:txBody>
      </p:sp>
      <p:sp>
        <p:nvSpPr>
          <p:cNvPr id="7" name="TextBox 6">
            <a:extLst>
              <a:ext uri="{FF2B5EF4-FFF2-40B4-BE49-F238E27FC236}">
                <a16:creationId xmlns:a16="http://schemas.microsoft.com/office/drawing/2014/main" id="{3FA6DB1B-37C9-41A5-8422-91E17AA2791E}"/>
              </a:ext>
            </a:extLst>
          </p:cNvPr>
          <p:cNvSpPr txBox="1"/>
          <p:nvPr/>
        </p:nvSpPr>
        <p:spPr>
          <a:xfrm>
            <a:off x="9585264" y="3856406"/>
            <a:ext cx="2333780" cy="707886"/>
          </a:xfrm>
          <a:prstGeom prst="rect">
            <a:avLst/>
          </a:prstGeom>
          <a:solidFill>
            <a:schemeClr val="bg1">
              <a:lumMod val="85000"/>
            </a:schemeClr>
          </a:solidFill>
        </p:spPr>
        <p:txBody>
          <a:bodyPr wrap="none" rtlCol="0">
            <a:spAutoFit/>
          </a:bodyPr>
          <a:lstStyle/>
          <a:p>
            <a:r>
              <a:rPr lang="en-US" sz="2000" dirty="0"/>
              <a:t>se </a:t>
            </a:r>
            <a:r>
              <a:rPr lang="en-US" sz="2000" dirty="0" err="1"/>
              <a:t>specifica</a:t>
            </a:r>
            <a:r>
              <a:rPr lang="en-US" sz="2000" dirty="0"/>
              <a:t> </a:t>
            </a:r>
            <a:r>
              <a:rPr lang="en-US" sz="2000" dirty="0" err="1"/>
              <a:t>obiectul</a:t>
            </a:r>
            <a:r>
              <a:rPr lang="en-US" sz="2000" dirty="0"/>
              <a:t> </a:t>
            </a:r>
          </a:p>
          <a:p>
            <a:r>
              <a:rPr lang="en-US" sz="2000" dirty="0"/>
              <a:t>care </a:t>
            </a:r>
            <a:r>
              <a:rPr lang="en-US" sz="2000" dirty="0" err="1"/>
              <a:t>detine</a:t>
            </a:r>
            <a:r>
              <a:rPr lang="en-US" sz="2000" dirty="0"/>
              <a:t> </a:t>
            </a:r>
            <a:r>
              <a:rPr lang="en-US" sz="2000" dirty="0" err="1"/>
              <a:t>lacatul</a:t>
            </a:r>
            <a:endParaRPr lang="en-GB" sz="2000" dirty="0"/>
          </a:p>
        </p:txBody>
      </p:sp>
      <p:cxnSp>
        <p:nvCxnSpPr>
          <p:cNvPr id="10" name="Straight Arrow Connector 9">
            <a:extLst>
              <a:ext uri="{FF2B5EF4-FFF2-40B4-BE49-F238E27FC236}">
                <a16:creationId xmlns:a16="http://schemas.microsoft.com/office/drawing/2014/main" id="{C6A4BA19-7AD3-459E-BEB2-C4EC4A92E130}"/>
              </a:ext>
            </a:extLst>
          </p:cNvPr>
          <p:cNvCxnSpPr>
            <a:cxnSpLocks/>
          </p:cNvCxnSpPr>
          <p:nvPr/>
        </p:nvCxnSpPr>
        <p:spPr>
          <a:xfrm>
            <a:off x="9540410" y="3429000"/>
            <a:ext cx="756076" cy="367216"/>
          </a:xfrm>
          <a:prstGeom prst="straightConnector1">
            <a:avLst/>
          </a:prstGeom>
          <a:ln>
            <a:solidFill>
              <a:schemeClr val="tx1"/>
            </a:solidFill>
            <a:tailEnd type="triangle"/>
          </a:ln>
        </p:spPr>
        <p:style>
          <a:lnRef idx="1">
            <a:schemeClr val="accent1"/>
          </a:lnRef>
          <a:fillRef idx="0">
            <a:schemeClr val="accent1"/>
          </a:fillRef>
          <a:effectRef idx="0">
            <a:schemeClr val="accent1"/>
          </a:effectRef>
          <a:fontRef idx="minor">
            <a:schemeClr val="tx1"/>
          </a:fontRef>
        </p:style>
      </p:cxnSp>
    </p:spTree>
    <p:extLst>
      <p:ext uri="{BB962C8B-B14F-4D97-AF65-F5344CB8AC3E}">
        <p14:creationId xmlns:p14="http://schemas.microsoft.com/office/powerpoint/2010/main" val="889166405"/>
      </p:ext>
    </p:extLst>
  </p:cSld>
  <p:clrMapOvr>
    <a:masterClrMapping/>
  </p:clrMapOvr>
</p:sld>
</file>

<file path=ppt/slides/slide3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 name="TextBox 4"/>
          <p:cNvSpPr txBox="1"/>
          <p:nvPr/>
        </p:nvSpPr>
        <p:spPr>
          <a:xfrm>
            <a:off x="475735" y="55606"/>
            <a:ext cx="5830635" cy="1138773"/>
          </a:xfrm>
          <a:prstGeom prst="rect">
            <a:avLst/>
          </a:prstGeom>
          <a:noFill/>
        </p:spPr>
        <p:txBody>
          <a:bodyPr wrap="none" rtlCol="0">
            <a:spAutoFit/>
          </a:bodyPr>
          <a:lstStyle/>
          <a:p>
            <a:pPr marL="342900" indent="-342900">
              <a:buFont typeface="Wingdings" panose="05000000000000000000" pitchFamily="2" charset="2"/>
              <a:buChar char="Ø"/>
            </a:pPr>
            <a:r>
              <a:rPr lang="en-US" sz="2400" dirty="0" err="1"/>
              <a:t>Comunicarea</a:t>
            </a:r>
            <a:r>
              <a:rPr lang="en-US" sz="2400" dirty="0"/>
              <a:t> </a:t>
            </a:r>
            <a:r>
              <a:rPr lang="en-US" sz="2400" dirty="0" err="1"/>
              <a:t>intre</a:t>
            </a:r>
            <a:r>
              <a:rPr lang="en-US" sz="2400" dirty="0"/>
              <a:t> thread-</a:t>
            </a:r>
            <a:r>
              <a:rPr lang="en-US" sz="2400" dirty="0" err="1"/>
              <a:t>uri</a:t>
            </a:r>
            <a:endParaRPr lang="en-US" sz="2400" dirty="0"/>
          </a:p>
          <a:p>
            <a:endParaRPr lang="en-US" sz="2400" dirty="0"/>
          </a:p>
          <a:p>
            <a:pPr marL="285750" indent="-285750">
              <a:buFont typeface="Wingdings" panose="05000000000000000000" pitchFamily="2" charset="2"/>
              <a:buChar char="§"/>
            </a:pPr>
            <a:r>
              <a:rPr lang="en-US" sz="2000" dirty="0"/>
              <a:t> </a:t>
            </a:r>
            <a:r>
              <a:rPr lang="en-US" sz="2000" dirty="0" err="1"/>
              <a:t>doua</a:t>
            </a:r>
            <a:r>
              <a:rPr lang="en-US" sz="2000" dirty="0"/>
              <a:t> thread-</a:t>
            </a:r>
            <a:r>
              <a:rPr lang="en-US" sz="2000" dirty="0" err="1"/>
              <a:t>uri</a:t>
            </a:r>
            <a:r>
              <a:rPr lang="en-US" sz="2000" dirty="0"/>
              <a:t> care </a:t>
            </a:r>
            <a:r>
              <a:rPr lang="en-US" sz="2000" dirty="0" err="1"/>
              <a:t>incrementeaza</a:t>
            </a:r>
            <a:r>
              <a:rPr lang="en-US" sz="2000" dirty="0"/>
              <a:t> </a:t>
            </a:r>
            <a:r>
              <a:rPr lang="en-US" sz="2000" dirty="0" err="1"/>
              <a:t>acelasi</a:t>
            </a:r>
            <a:r>
              <a:rPr lang="en-US" sz="2000" dirty="0"/>
              <a:t> </a:t>
            </a:r>
            <a:r>
              <a:rPr lang="en-US" sz="2000" dirty="0" err="1"/>
              <a:t>contor</a:t>
            </a:r>
            <a:r>
              <a:rPr lang="en-US" sz="2000" dirty="0"/>
              <a:t> </a:t>
            </a:r>
          </a:p>
        </p:txBody>
      </p:sp>
      <p:sp>
        <p:nvSpPr>
          <p:cNvPr id="7" name="TextBox 6">
            <a:extLst>
              <a:ext uri="{FF2B5EF4-FFF2-40B4-BE49-F238E27FC236}">
                <a16:creationId xmlns:a16="http://schemas.microsoft.com/office/drawing/2014/main" id="{150A6BAD-1A97-434B-8CFA-1C9818525528}"/>
              </a:ext>
            </a:extLst>
          </p:cNvPr>
          <p:cNvSpPr txBox="1"/>
          <p:nvPr/>
        </p:nvSpPr>
        <p:spPr>
          <a:xfrm>
            <a:off x="314960" y="1434554"/>
            <a:ext cx="8834120" cy="4154984"/>
          </a:xfrm>
          <a:prstGeom prst="rect">
            <a:avLst/>
          </a:prstGeom>
          <a:noFill/>
          <a:ln w="38100">
            <a:solidFill>
              <a:srgbClr val="00B050"/>
            </a:solidFill>
          </a:ln>
        </p:spPr>
        <p:txBody>
          <a:bodyPr wrap="square">
            <a:spAutoFit/>
          </a:bodyPr>
          <a:lstStyle/>
          <a:p>
            <a:r>
              <a:rPr lang="en-GB" sz="2400" dirty="0"/>
              <a:t>public class Interference {</a:t>
            </a:r>
          </a:p>
          <a:p>
            <a:r>
              <a:rPr lang="en-GB" sz="2400" dirty="0"/>
              <a:t> </a:t>
            </a:r>
          </a:p>
          <a:p>
            <a:r>
              <a:rPr lang="en-GB" sz="2400" dirty="0"/>
              <a:t>    public static void main (String[] </a:t>
            </a:r>
            <a:r>
              <a:rPr lang="en-GB" sz="2400" dirty="0" err="1"/>
              <a:t>args</a:t>
            </a:r>
            <a:r>
              <a:rPr lang="en-GB" sz="2400" dirty="0"/>
              <a:t>) throws </a:t>
            </a:r>
            <a:r>
              <a:rPr lang="en-GB" sz="2400" dirty="0" err="1"/>
              <a:t>InterruptedException</a:t>
            </a:r>
            <a:r>
              <a:rPr lang="en-GB" sz="2400" dirty="0"/>
              <a:t>  {</a:t>
            </a:r>
          </a:p>
          <a:p>
            <a:r>
              <a:rPr lang="en-GB" sz="2400" dirty="0"/>
              <a:t>        Counter c = new Counter();</a:t>
            </a:r>
          </a:p>
          <a:p>
            <a:r>
              <a:rPr lang="en-GB" sz="2400" dirty="0"/>
              <a:t>        Thread thread1 = new Thread(new </a:t>
            </a:r>
            <a:r>
              <a:rPr lang="en-GB" sz="2400" dirty="0" err="1"/>
              <a:t>CounterThread</a:t>
            </a:r>
            <a:r>
              <a:rPr lang="en-GB" sz="2400" dirty="0"/>
              <a:t>(c));</a:t>
            </a:r>
          </a:p>
          <a:p>
            <a:r>
              <a:rPr lang="en-GB" sz="2400" dirty="0"/>
              <a:t>        Thread thread2 = new Thread(new </a:t>
            </a:r>
            <a:r>
              <a:rPr lang="en-GB" sz="2400" dirty="0" err="1"/>
              <a:t>CounterThread</a:t>
            </a:r>
            <a:r>
              <a:rPr lang="en-GB" sz="2400" dirty="0"/>
              <a:t>(c));</a:t>
            </a:r>
          </a:p>
          <a:p>
            <a:br>
              <a:rPr lang="en-GB" sz="2400" dirty="0"/>
            </a:br>
            <a:r>
              <a:rPr lang="en-GB" sz="2400" dirty="0"/>
              <a:t>        thread1.start(); thread2.start();</a:t>
            </a:r>
          </a:p>
          <a:p>
            <a:r>
              <a:rPr lang="en-GB" sz="2400" dirty="0"/>
              <a:t>        thread1.join(); thread2.join();</a:t>
            </a:r>
          </a:p>
          <a:p>
            <a:r>
              <a:rPr lang="en-GB" sz="2400" dirty="0"/>
              <a:t>    }</a:t>
            </a:r>
          </a:p>
          <a:p>
            <a:r>
              <a:rPr lang="en-GB" sz="2400" dirty="0"/>
              <a:t>}</a:t>
            </a:r>
          </a:p>
        </p:txBody>
      </p:sp>
      <p:sp>
        <p:nvSpPr>
          <p:cNvPr id="3" name="TextBox 2">
            <a:extLst>
              <a:ext uri="{FF2B5EF4-FFF2-40B4-BE49-F238E27FC236}">
                <a16:creationId xmlns:a16="http://schemas.microsoft.com/office/drawing/2014/main" id="{9A245770-E6C4-2062-29A0-22372AF57ECF}"/>
              </a:ext>
            </a:extLst>
          </p:cNvPr>
          <p:cNvSpPr txBox="1"/>
          <p:nvPr/>
        </p:nvSpPr>
        <p:spPr>
          <a:xfrm>
            <a:off x="5463540" y="3977640"/>
            <a:ext cx="6383020" cy="2246769"/>
          </a:xfrm>
          <a:prstGeom prst="rect">
            <a:avLst/>
          </a:prstGeom>
          <a:ln w="38100">
            <a:solidFill>
              <a:srgbClr val="00B050"/>
            </a:solidFill>
          </a:ln>
        </p:spPr>
        <p:style>
          <a:lnRef idx="2">
            <a:schemeClr val="dk1"/>
          </a:lnRef>
          <a:fillRef idx="1">
            <a:schemeClr val="lt1"/>
          </a:fillRef>
          <a:effectRef idx="0">
            <a:schemeClr val="dk1"/>
          </a:effectRef>
          <a:fontRef idx="minor">
            <a:schemeClr val="dk1"/>
          </a:fontRef>
        </p:style>
        <p:txBody>
          <a:bodyPr wrap="square" rtlCol="0">
            <a:spAutoFit/>
          </a:bodyPr>
          <a:lstStyle/>
          <a:p>
            <a:r>
              <a:rPr lang="en-US" sz="2000" dirty="0"/>
              <a:t>class </a:t>
            </a:r>
            <a:r>
              <a:rPr lang="en-US" sz="2000" dirty="0" err="1"/>
              <a:t>CounterThread</a:t>
            </a:r>
            <a:r>
              <a:rPr lang="en-US" sz="2000" dirty="0"/>
              <a:t> </a:t>
            </a:r>
            <a:r>
              <a:rPr lang="en-GB" sz="2000" dirty="0"/>
              <a:t>implements Runnable {</a:t>
            </a:r>
          </a:p>
          <a:p>
            <a:r>
              <a:rPr lang="en-GB" sz="2000" dirty="0"/>
              <a:t>      Counter </a:t>
            </a:r>
            <a:r>
              <a:rPr lang="en-GB" sz="2000" dirty="0" err="1"/>
              <a:t>counter</a:t>
            </a:r>
            <a:r>
              <a:rPr lang="en-GB" sz="2000" dirty="0"/>
              <a:t>;</a:t>
            </a:r>
          </a:p>
          <a:p>
            <a:r>
              <a:rPr lang="en-GB" sz="2000" dirty="0"/>
              <a:t>      </a:t>
            </a:r>
            <a:r>
              <a:rPr lang="en-GB" sz="2000" dirty="0" err="1"/>
              <a:t>CounterThread</a:t>
            </a:r>
            <a:r>
              <a:rPr lang="en-GB" sz="2000" dirty="0"/>
              <a:t> (</a:t>
            </a:r>
            <a:r>
              <a:rPr lang="en-GB" sz="2000" dirty="0" err="1"/>
              <a:t>Countercounter</a:t>
            </a:r>
            <a:r>
              <a:rPr lang="en-GB" sz="2000" dirty="0"/>
              <a:t>){</a:t>
            </a:r>
            <a:r>
              <a:rPr lang="en-GB" sz="2000" dirty="0" err="1"/>
              <a:t>this.counter</a:t>
            </a:r>
            <a:r>
              <a:rPr lang="en-GB" sz="2000" dirty="0"/>
              <a:t>=counter;}</a:t>
            </a:r>
          </a:p>
          <a:p>
            <a:r>
              <a:rPr lang="en-US" sz="2000" dirty="0"/>
              <a:t>       public void run(){}</a:t>
            </a:r>
          </a:p>
          <a:p>
            <a:r>
              <a:rPr lang="en-US" sz="2000" dirty="0"/>
              <a:t>}</a:t>
            </a:r>
          </a:p>
          <a:p>
            <a:endParaRPr lang="en-US" sz="2000" dirty="0"/>
          </a:p>
          <a:p>
            <a:r>
              <a:rPr lang="en-US" sz="2000" dirty="0"/>
              <a:t>Class Counter{…} </a:t>
            </a:r>
            <a:endParaRPr lang="en-GB" sz="2000" dirty="0"/>
          </a:p>
        </p:txBody>
      </p:sp>
    </p:spTree>
    <p:extLst>
      <p:ext uri="{BB962C8B-B14F-4D97-AF65-F5344CB8AC3E}">
        <p14:creationId xmlns:p14="http://schemas.microsoft.com/office/powerpoint/2010/main" val="3998844857"/>
      </p:ext>
    </p:extLst>
  </p:cSld>
  <p:clrMapOvr>
    <a:masterClrMapping/>
  </p:clrMapOvr>
</p:sld>
</file>

<file path=ppt/slides/slide3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 name="TextBox 4"/>
          <p:cNvSpPr txBox="1"/>
          <p:nvPr/>
        </p:nvSpPr>
        <p:spPr>
          <a:xfrm>
            <a:off x="475735" y="55606"/>
            <a:ext cx="5242076" cy="1107996"/>
          </a:xfrm>
          <a:prstGeom prst="rect">
            <a:avLst/>
          </a:prstGeom>
          <a:noFill/>
        </p:spPr>
        <p:txBody>
          <a:bodyPr wrap="none" rtlCol="0">
            <a:spAutoFit/>
          </a:bodyPr>
          <a:lstStyle/>
          <a:p>
            <a:pPr marL="342900" indent="-342900">
              <a:buFont typeface="Wingdings" panose="05000000000000000000" pitchFamily="2" charset="2"/>
              <a:buChar char="Ø"/>
            </a:pPr>
            <a:r>
              <a:rPr lang="en-US" sz="2400" dirty="0" err="1"/>
              <a:t>Comunicarea</a:t>
            </a:r>
            <a:r>
              <a:rPr lang="en-US" sz="2400" dirty="0"/>
              <a:t> </a:t>
            </a:r>
            <a:r>
              <a:rPr lang="en-US" sz="2400" dirty="0" err="1"/>
              <a:t>intre</a:t>
            </a:r>
            <a:r>
              <a:rPr lang="en-US" sz="2400" dirty="0"/>
              <a:t> thread-</a:t>
            </a:r>
            <a:r>
              <a:rPr lang="en-US" sz="2400" dirty="0" err="1"/>
              <a:t>uri</a:t>
            </a:r>
            <a:endParaRPr lang="en-US" sz="2400" dirty="0"/>
          </a:p>
          <a:p>
            <a:endParaRPr lang="en-US" sz="2400" dirty="0"/>
          </a:p>
          <a:p>
            <a:pPr marL="285750" indent="-285750">
              <a:buFont typeface="Wingdings" panose="05000000000000000000" pitchFamily="2" charset="2"/>
              <a:buChar char="§"/>
            </a:pPr>
            <a:r>
              <a:rPr lang="en-US" dirty="0"/>
              <a:t> </a:t>
            </a:r>
            <a:r>
              <a:rPr lang="en-US" dirty="0" err="1"/>
              <a:t>doua</a:t>
            </a:r>
            <a:r>
              <a:rPr lang="en-US" dirty="0"/>
              <a:t> thread-</a:t>
            </a:r>
            <a:r>
              <a:rPr lang="en-US" dirty="0" err="1"/>
              <a:t>uri</a:t>
            </a:r>
            <a:r>
              <a:rPr lang="en-US" dirty="0"/>
              <a:t> care </a:t>
            </a:r>
            <a:r>
              <a:rPr lang="en-US" dirty="0" err="1"/>
              <a:t>incrementeaza</a:t>
            </a:r>
            <a:r>
              <a:rPr lang="en-US" dirty="0"/>
              <a:t> </a:t>
            </a:r>
            <a:r>
              <a:rPr lang="en-US" dirty="0" err="1"/>
              <a:t>acelasi</a:t>
            </a:r>
            <a:r>
              <a:rPr lang="en-US" dirty="0"/>
              <a:t> </a:t>
            </a:r>
            <a:r>
              <a:rPr lang="en-US" dirty="0" err="1"/>
              <a:t>contor</a:t>
            </a:r>
            <a:endParaRPr lang="en-US" dirty="0"/>
          </a:p>
        </p:txBody>
      </p:sp>
      <p:sp>
        <p:nvSpPr>
          <p:cNvPr id="7" name="TextBox 6">
            <a:extLst>
              <a:ext uri="{FF2B5EF4-FFF2-40B4-BE49-F238E27FC236}">
                <a16:creationId xmlns:a16="http://schemas.microsoft.com/office/drawing/2014/main" id="{150A6BAD-1A97-434B-8CFA-1C9818525528}"/>
              </a:ext>
            </a:extLst>
          </p:cNvPr>
          <p:cNvSpPr txBox="1"/>
          <p:nvPr/>
        </p:nvSpPr>
        <p:spPr>
          <a:xfrm>
            <a:off x="477520" y="1414234"/>
            <a:ext cx="8834120" cy="3785652"/>
          </a:xfrm>
          <a:prstGeom prst="rect">
            <a:avLst/>
          </a:prstGeom>
          <a:noFill/>
          <a:ln w="38100">
            <a:solidFill>
              <a:srgbClr val="00B050"/>
            </a:solidFill>
          </a:ln>
        </p:spPr>
        <p:txBody>
          <a:bodyPr wrap="square">
            <a:spAutoFit/>
          </a:bodyPr>
          <a:lstStyle/>
          <a:p>
            <a:r>
              <a:rPr lang="en-GB" sz="2400" dirty="0"/>
              <a:t>class </a:t>
            </a:r>
            <a:r>
              <a:rPr lang="en-GB" sz="2400" dirty="0" err="1"/>
              <a:t>CounterThread</a:t>
            </a:r>
            <a:r>
              <a:rPr lang="en-GB" sz="2400" dirty="0"/>
              <a:t> implements Runnable {</a:t>
            </a:r>
          </a:p>
          <a:p>
            <a:r>
              <a:rPr lang="en-GB" sz="2400" dirty="0"/>
              <a:t>     Counter </a:t>
            </a:r>
            <a:r>
              <a:rPr lang="en-GB" sz="2400" dirty="0" err="1"/>
              <a:t>counter</a:t>
            </a:r>
            <a:r>
              <a:rPr lang="en-GB" sz="2400" dirty="0"/>
              <a:t>;</a:t>
            </a:r>
          </a:p>
          <a:p>
            <a:r>
              <a:rPr lang="en-GB" sz="2400" dirty="0"/>
              <a:t>     </a:t>
            </a:r>
            <a:r>
              <a:rPr lang="en-GB" sz="2400" dirty="0" err="1"/>
              <a:t>CounterThread</a:t>
            </a:r>
            <a:r>
              <a:rPr lang="en-GB" sz="2400" dirty="0"/>
              <a:t> (Counter counter) {</a:t>
            </a:r>
            <a:r>
              <a:rPr lang="en-GB" sz="2400" dirty="0" err="1"/>
              <a:t>this.counter</a:t>
            </a:r>
            <a:r>
              <a:rPr lang="en-GB" sz="2400" dirty="0"/>
              <a:t>=counter;}</a:t>
            </a:r>
          </a:p>
          <a:p>
            <a:r>
              <a:rPr lang="en-GB" sz="2400" dirty="0"/>
              <a:t>     </a:t>
            </a:r>
          </a:p>
          <a:p>
            <a:r>
              <a:rPr lang="en-GB" sz="2400" dirty="0"/>
              <a:t>        public void run () {</a:t>
            </a:r>
          </a:p>
          <a:p>
            <a:r>
              <a:rPr lang="en-GB" sz="2400" dirty="0"/>
              <a:t>            for (int </a:t>
            </a:r>
            <a:r>
              <a:rPr lang="en-GB" sz="2400" dirty="0" err="1"/>
              <a:t>i</a:t>
            </a:r>
            <a:r>
              <a:rPr lang="en-GB" sz="2400" dirty="0"/>
              <a:t> = 0; </a:t>
            </a:r>
            <a:r>
              <a:rPr lang="en-GB" sz="2400" dirty="0" err="1"/>
              <a:t>i</a:t>
            </a:r>
            <a:r>
              <a:rPr lang="en-GB" sz="2400" dirty="0"/>
              <a:t> &lt; 5; </a:t>
            </a:r>
            <a:r>
              <a:rPr lang="en-GB" sz="2400" dirty="0" err="1"/>
              <a:t>i</a:t>
            </a:r>
            <a:r>
              <a:rPr lang="en-GB" sz="2400" dirty="0"/>
              <a:t>++) {</a:t>
            </a:r>
          </a:p>
          <a:p>
            <a:r>
              <a:rPr lang="en-GB" sz="2400" dirty="0"/>
              <a:t>                </a:t>
            </a:r>
            <a:r>
              <a:rPr lang="en-GB" sz="2400" dirty="0" err="1"/>
              <a:t>counter.</a:t>
            </a:r>
            <a:r>
              <a:rPr lang="en-GB" sz="2400" b="1" dirty="0" err="1"/>
              <a:t>performTask</a:t>
            </a:r>
            <a:r>
              <a:rPr lang="en-GB" sz="2400" b="1" dirty="0"/>
              <a:t>()</a:t>
            </a:r>
            <a:r>
              <a:rPr lang="en-GB" sz="2400" dirty="0"/>
              <a:t>;</a:t>
            </a:r>
          </a:p>
          <a:p>
            <a:r>
              <a:rPr lang="en-GB" sz="2400" dirty="0"/>
              <a:t>            }</a:t>
            </a:r>
          </a:p>
          <a:p>
            <a:r>
              <a:rPr lang="en-GB" sz="2400" dirty="0"/>
              <a:t>        }</a:t>
            </a:r>
          </a:p>
          <a:p>
            <a:r>
              <a:rPr lang="en-GB" sz="2400" dirty="0"/>
              <a:t>}  </a:t>
            </a:r>
          </a:p>
        </p:txBody>
      </p:sp>
      <p:sp>
        <p:nvSpPr>
          <p:cNvPr id="3" name="TextBox 2">
            <a:extLst>
              <a:ext uri="{FF2B5EF4-FFF2-40B4-BE49-F238E27FC236}">
                <a16:creationId xmlns:a16="http://schemas.microsoft.com/office/drawing/2014/main" id="{9A245770-E6C4-2062-29A0-22372AF57ECF}"/>
              </a:ext>
            </a:extLst>
          </p:cNvPr>
          <p:cNvSpPr txBox="1"/>
          <p:nvPr/>
        </p:nvSpPr>
        <p:spPr>
          <a:xfrm>
            <a:off x="4904740" y="4312920"/>
            <a:ext cx="5293360" cy="1569660"/>
          </a:xfrm>
          <a:prstGeom prst="rect">
            <a:avLst/>
          </a:prstGeom>
          <a:ln w="38100">
            <a:solidFill>
              <a:srgbClr val="00B050"/>
            </a:solidFill>
          </a:ln>
        </p:spPr>
        <p:style>
          <a:lnRef idx="2">
            <a:schemeClr val="dk1"/>
          </a:lnRef>
          <a:fillRef idx="1">
            <a:schemeClr val="lt1"/>
          </a:fillRef>
          <a:effectRef idx="0">
            <a:schemeClr val="dk1"/>
          </a:effectRef>
          <a:fontRef idx="minor">
            <a:schemeClr val="dk1"/>
          </a:fontRef>
        </p:style>
        <p:txBody>
          <a:bodyPr wrap="square" rtlCol="0">
            <a:spAutoFit/>
          </a:bodyPr>
          <a:lstStyle/>
          <a:p>
            <a:r>
              <a:rPr lang="en-GB" sz="2400" dirty="0">
                <a:solidFill>
                  <a:schemeClr val="tx1"/>
                </a:solidFill>
              </a:rPr>
              <a:t>class Counter{</a:t>
            </a:r>
          </a:p>
          <a:p>
            <a:r>
              <a:rPr lang="en-GB" sz="2400" dirty="0">
                <a:solidFill>
                  <a:schemeClr val="tx1"/>
                </a:solidFill>
              </a:rPr>
              <a:t>    private int counter = 0;   </a:t>
            </a:r>
          </a:p>
          <a:p>
            <a:r>
              <a:rPr lang="en-GB" sz="2400" dirty="0">
                <a:solidFill>
                  <a:schemeClr val="tx1"/>
                </a:solidFill>
              </a:rPr>
              <a:t>    public  void </a:t>
            </a:r>
            <a:r>
              <a:rPr lang="en-GB" sz="2400" b="1" dirty="0" err="1">
                <a:solidFill>
                  <a:schemeClr val="tx1"/>
                </a:solidFill>
              </a:rPr>
              <a:t>performTask</a:t>
            </a:r>
            <a:r>
              <a:rPr lang="en-GB" sz="2400" b="1" dirty="0">
                <a:solidFill>
                  <a:schemeClr val="tx1"/>
                </a:solidFill>
              </a:rPr>
              <a:t> () </a:t>
            </a:r>
            <a:r>
              <a:rPr lang="en-GB" sz="2400" dirty="0">
                <a:solidFill>
                  <a:schemeClr val="tx1"/>
                </a:solidFill>
              </a:rPr>
              <a:t>{}</a:t>
            </a:r>
          </a:p>
          <a:p>
            <a:r>
              <a:rPr lang="en-GB" sz="2400" dirty="0">
                <a:solidFill>
                  <a:schemeClr val="tx1"/>
                </a:solidFill>
              </a:rPr>
              <a:t> }</a:t>
            </a:r>
          </a:p>
        </p:txBody>
      </p:sp>
    </p:spTree>
    <p:extLst>
      <p:ext uri="{BB962C8B-B14F-4D97-AF65-F5344CB8AC3E}">
        <p14:creationId xmlns:p14="http://schemas.microsoft.com/office/powerpoint/2010/main" val="1138761204"/>
      </p:ext>
    </p:extLst>
  </p:cSld>
  <p:clrMapOvr>
    <a:masterClrMapping/>
  </p:clrMapOvr>
</p:sld>
</file>

<file path=ppt/slides/slide3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 name="TextBox 4"/>
          <p:cNvSpPr txBox="1"/>
          <p:nvPr/>
        </p:nvSpPr>
        <p:spPr>
          <a:xfrm>
            <a:off x="475735" y="55606"/>
            <a:ext cx="5242076" cy="1107996"/>
          </a:xfrm>
          <a:prstGeom prst="rect">
            <a:avLst/>
          </a:prstGeom>
          <a:noFill/>
        </p:spPr>
        <p:txBody>
          <a:bodyPr wrap="none" rtlCol="0">
            <a:spAutoFit/>
          </a:bodyPr>
          <a:lstStyle/>
          <a:p>
            <a:pPr marL="342900" indent="-342900">
              <a:buFont typeface="Wingdings" panose="05000000000000000000" pitchFamily="2" charset="2"/>
              <a:buChar char="Ø"/>
            </a:pPr>
            <a:r>
              <a:rPr lang="en-US" sz="2400" dirty="0" err="1"/>
              <a:t>Comunicarea</a:t>
            </a:r>
            <a:r>
              <a:rPr lang="en-US" sz="2400" dirty="0"/>
              <a:t> </a:t>
            </a:r>
            <a:r>
              <a:rPr lang="en-US" sz="2400" dirty="0" err="1"/>
              <a:t>intre</a:t>
            </a:r>
            <a:r>
              <a:rPr lang="en-US" sz="2400" dirty="0"/>
              <a:t> thread-</a:t>
            </a:r>
            <a:r>
              <a:rPr lang="en-US" sz="2400" dirty="0" err="1"/>
              <a:t>uri</a:t>
            </a:r>
            <a:endParaRPr lang="en-US" sz="2400" dirty="0"/>
          </a:p>
          <a:p>
            <a:endParaRPr lang="en-US" sz="2400" dirty="0"/>
          </a:p>
          <a:p>
            <a:pPr marL="285750" indent="-285750">
              <a:buFont typeface="Wingdings" panose="05000000000000000000" pitchFamily="2" charset="2"/>
              <a:buChar char="§"/>
            </a:pPr>
            <a:r>
              <a:rPr lang="en-US" dirty="0"/>
              <a:t> </a:t>
            </a:r>
            <a:r>
              <a:rPr lang="en-US" dirty="0" err="1"/>
              <a:t>doua</a:t>
            </a:r>
            <a:r>
              <a:rPr lang="en-US" dirty="0"/>
              <a:t> thread-</a:t>
            </a:r>
            <a:r>
              <a:rPr lang="en-US" dirty="0" err="1"/>
              <a:t>uri</a:t>
            </a:r>
            <a:r>
              <a:rPr lang="en-US" dirty="0"/>
              <a:t> care </a:t>
            </a:r>
            <a:r>
              <a:rPr lang="en-US" dirty="0" err="1"/>
              <a:t>incrementeaza</a:t>
            </a:r>
            <a:r>
              <a:rPr lang="en-US" dirty="0"/>
              <a:t> </a:t>
            </a:r>
            <a:r>
              <a:rPr lang="en-US" dirty="0" err="1"/>
              <a:t>acelasi</a:t>
            </a:r>
            <a:r>
              <a:rPr lang="en-US" dirty="0"/>
              <a:t> </a:t>
            </a:r>
            <a:r>
              <a:rPr lang="en-US" dirty="0" err="1"/>
              <a:t>contor</a:t>
            </a:r>
            <a:endParaRPr lang="en-US" dirty="0"/>
          </a:p>
        </p:txBody>
      </p:sp>
      <p:sp>
        <p:nvSpPr>
          <p:cNvPr id="7" name="TextBox 6">
            <a:extLst>
              <a:ext uri="{FF2B5EF4-FFF2-40B4-BE49-F238E27FC236}">
                <a16:creationId xmlns:a16="http://schemas.microsoft.com/office/drawing/2014/main" id="{150A6BAD-1A97-434B-8CFA-1C9818525528}"/>
              </a:ext>
            </a:extLst>
          </p:cNvPr>
          <p:cNvSpPr txBox="1"/>
          <p:nvPr/>
        </p:nvSpPr>
        <p:spPr>
          <a:xfrm>
            <a:off x="475735" y="1292314"/>
            <a:ext cx="8834120" cy="1938992"/>
          </a:xfrm>
          <a:prstGeom prst="rect">
            <a:avLst/>
          </a:prstGeom>
          <a:noFill/>
          <a:ln w="38100">
            <a:solidFill>
              <a:srgbClr val="00B050"/>
            </a:solidFill>
          </a:ln>
        </p:spPr>
        <p:txBody>
          <a:bodyPr wrap="square">
            <a:spAutoFit/>
          </a:bodyPr>
          <a:lstStyle/>
          <a:p>
            <a:r>
              <a:rPr lang="en-GB" sz="2400" dirty="0"/>
              <a:t>class </a:t>
            </a:r>
            <a:r>
              <a:rPr lang="en-GB" sz="2400" dirty="0" err="1"/>
              <a:t>CounterThread</a:t>
            </a:r>
            <a:r>
              <a:rPr lang="en-GB" sz="2400" dirty="0"/>
              <a:t> implements Runnable {</a:t>
            </a:r>
          </a:p>
          <a:p>
            <a:r>
              <a:rPr lang="en-GB" sz="2400" dirty="0"/>
              <a:t>    Counter </a:t>
            </a:r>
            <a:r>
              <a:rPr lang="en-GB" sz="2400" dirty="0" err="1"/>
              <a:t>counter</a:t>
            </a:r>
            <a:r>
              <a:rPr lang="en-GB" sz="2400" dirty="0"/>
              <a:t>;</a:t>
            </a:r>
          </a:p>
          <a:p>
            <a:r>
              <a:rPr lang="en-GB" sz="2400" dirty="0"/>
              <a:t>    </a:t>
            </a:r>
            <a:r>
              <a:rPr lang="en-GB" sz="2400" dirty="0" err="1"/>
              <a:t>CounterThread</a:t>
            </a:r>
            <a:r>
              <a:rPr lang="en-GB" sz="2400" dirty="0"/>
              <a:t> (Counter counter) {</a:t>
            </a:r>
            <a:r>
              <a:rPr lang="en-GB" sz="2400" dirty="0" err="1"/>
              <a:t>this.counter</a:t>
            </a:r>
            <a:r>
              <a:rPr lang="en-GB" sz="2400" dirty="0"/>
              <a:t>=counter;}</a:t>
            </a:r>
          </a:p>
          <a:p>
            <a:r>
              <a:rPr lang="en-GB" sz="2400" dirty="0"/>
              <a:t>        public void run () {}</a:t>
            </a:r>
          </a:p>
          <a:p>
            <a:r>
              <a:rPr lang="en-GB" sz="2400" dirty="0"/>
              <a:t>}</a:t>
            </a:r>
          </a:p>
        </p:txBody>
      </p:sp>
      <p:sp>
        <p:nvSpPr>
          <p:cNvPr id="3" name="TextBox 2">
            <a:extLst>
              <a:ext uri="{FF2B5EF4-FFF2-40B4-BE49-F238E27FC236}">
                <a16:creationId xmlns:a16="http://schemas.microsoft.com/office/drawing/2014/main" id="{9A245770-E6C4-2062-29A0-22372AF57ECF}"/>
              </a:ext>
            </a:extLst>
          </p:cNvPr>
          <p:cNvSpPr txBox="1"/>
          <p:nvPr/>
        </p:nvSpPr>
        <p:spPr>
          <a:xfrm>
            <a:off x="1808480" y="2931160"/>
            <a:ext cx="9591040" cy="3046988"/>
          </a:xfrm>
          <a:prstGeom prst="rect">
            <a:avLst/>
          </a:prstGeom>
          <a:ln w="38100">
            <a:solidFill>
              <a:srgbClr val="00B050"/>
            </a:solidFill>
          </a:ln>
        </p:spPr>
        <p:style>
          <a:lnRef idx="2">
            <a:schemeClr val="dk1"/>
          </a:lnRef>
          <a:fillRef idx="1">
            <a:schemeClr val="lt1"/>
          </a:fillRef>
          <a:effectRef idx="0">
            <a:schemeClr val="dk1"/>
          </a:effectRef>
          <a:fontRef idx="minor">
            <a:schemeClr val="dk1"/>
          </a:fontRef>
        </p:style>
        <p:txBody>
          <a:bodyPr wrap="square" rtlCol="0">
            <a:spAutoFit/>
          </a:bodyPr>
          <a:lstStyle/>
          <a:p>
            <a:r>
              <a:rPr lang="en-GB" sz="2400" dirty="0">
                <a:solidFill>
                  <a:schemeClr val="tx1"/>
                </a:solidFill>
              </a:rPr>
              <a:t> class Counter{</a:t>
            </a:r>
          </a:p>
          <a:p>
            <a:r>
              <a:rPr lang="en-GB" sz="2400" dirty="0">
                <a:solidFill>
                  <a:schemeClr val="tx1"/>
                </a:solidFill>
              </a:rPr>
              <a:t> private int counter = 0;   </a:t>
            </a:r>
          </a:p>
          <a:p>
            <a:r>
              <a:rPr lang="en-GB" sz="2400" dirty="0">
                <a:solidFill>
                  <a:schemeClr val="tx1"/>
                </a:solidFill>
              </a:rPr>
              <a:t> public  void </a:t>
            </a:r>
            <a:r>
              <a:rPr lang="en-GB" sz="2400" b="1" dirty="0" err="1">
                <a:solidFill>
                  <a:schemeClr val="tx1"/>
                </a:solidFill>
              </a:rPr>
              <a:t>performTask</a:t>
            </a:r>
            <a:r>
              <a:rPr lang="en-GB" sz="2400" b="1" dirty="0">
                <a:solidFill>
                  <a:schemeClr val="tx1"/>
                </a:solidFill>
              </a:rPr>
              <a:t> () </a:t>
            </a:r>
            <a:r>
              <a:rPr lang="en-GB" sz="2400" dirty="0">
                <a:solidFill>
                  <a:schemeClr val="tx1"/>
                </a:solidFill>
              </a:rPr>
              <a:t>{</a:t>
            </a:r>
          </a:p>
          <a:p>
            <a:r>
              <a:rPr lang="en-GB" sz="2400" dirty="0">
                <a:solidFill>
                  <a:schemeClr val="tx1"/>
                </a:solidFill>
              </a:rPr>
              <a:t>        int temp = counter;</a:t>
            </a:r>
          </a:p>
          <a:p>
            <a:r>
              <a:rPr lang="en-GB" sz="2400" dirty="0">
                <a:solidFill>
                  <a:schemeClr val="tx1"/>
                </a:solidFill>
              </a:rPr>
              <a:t>        counter++;</a:t>
            </a:r>
          </a:p>
          <a:p>
            <a:r>
              <a:rPr lang="en-GB" sz="2400" dirty="0">
                <a:solidFill>
                  <a:schemeClr val="tx1"/>
                </a:solidFill>
              </a:rPr>
              <a:t>        </a:t>
            </a:r>
            <a:r>
              <a:rPr lang="en-GB" sz="2400" dirty="0" err="1">
                <a:solidFill>
                  <a:schemeClr val="tx1"/>
                </a:solidFill>
              </a:rPr>
              <a:t>System.out.println</a:t>
            </a:r>
            <a:r>
              <a:rPr lang="en-GB" sz="2400" dirty="0">
                <a:solidFill>
                  <a:schemeClr val="tx1"/>
                </a:solidFill>
              </a:rPr>
              <a:t>(</a:t>
            </a:r>
            <a:r>
              <a:rPr lang="en-GB" sz="2400" dirty="0" err="1">
                <a:solidFill>
                  <a:schemeClr val="tx1"/>
                </a:solidFill>
              </a:rPr>
              <a:t>Thread.currentThread</a:t>
            </a:r>
            <a:r>
              <a:rPr lang="en-GB" sz="2400" dirty="0">
                <a:solidFill>
                  <a:schemeClr val="tx1"/>
                </a:solidFill>
              </a:rPr>
              <a:t>()</a:t>
            </a:r>
          </a:p>
          <a:p>
            <a:r>
              <a:rPr lang="en-GB" sz="2400" dirty="0">
                <a:solidFill>
                  <a:schemeClr val="tx1"/>
                </a:solidFill>
              </a:rPr>
              <a:t>                                 .</a:t>
            </a:r>
            <a:r>
              <a:rPr lang="en-GB" sz="2400" dirty="0" err="1">
                <a:solidFill>
                  <a:schemeClr val="tx1"/>
                </a:solidFill>
              </a:rPr>
              <a:t>getName</a:t>
            </a:r>
            <a:r>
              <a:rPr lang="en-GB" sz="2400" dirty="0">
                <a:solidFill>
                  <a:schemeClr val="tx1"/>
                </a:solidFill>
              </a:rPr>
              <a:t>() + " - before: "+temp+" after:" + counter);</a:t>
            </a:r>
          </a:p>
          <a:p>
            <a:r>
              <a:rPr lang="en-GB" sz="2400" dirty="0">
                <a:solidFill>
                  <a:schemeClr val="tx1"/>
                </a:solidFill>
              </a:rPr>
              <a:t>    }}</a:t>
            </a:r>
          </a:p>
        </p:txBody>
      </p:sp>
    </p:spTree>
    <p:extLst>
      <p:ext uri="{BB962C8B-B14F-4D97-AF65-F5344CB8AC3E}">
        <p14:creationId xmlns:p14="http://schemas.microsoft.com/office/powerpoint/2010/main" val="2473059431"/>
      </p:ext>
    </p:extLst>
  </p:cSld>
  <p:clrMapOvr>
    <a:masterClrMapping/>
  </p:clrMapOvr>
</p:sld>
</file>

<file path=ppt/slides/slide3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 name="TextBox 4"/>
          <p:cNvSpPr txBox="1"/>
          <p:nvPr/>
        </p:nvSpPr>
        <p:spPr>
          <a:xfrm>
            <a:off x="475735" y="55606"/>
            <a:ext cx="5641224" cy="1107996"/>
          </a:xfrm>
          <a:prstGeom prst="rect">
            <a:avLst/>
          </a:prstGeom>
          <a:noFill/>
        </p:spPr>
        <p:txBody>
          <a:bodyPr wrap="none" rtlCol="0">
            <a:spAutoFit/>
          </a:bodyPr>
          <a:lstStyle/>
          <a:p>
            <a:pPr marL="342900" indent="-342900">
              <a:buFont typeface="Wingdings" panose="05000000000000000000" pitchFamily="2" charset="2"/>
              <a:buChar char="Ø"/>
            </a:pPr>
            <a:r>
              <a:rPr lang="en-US" sz="2400" dirty="0" err="1"/>
              <a:t>Comunicarea</a:t>
            </a:r>
            <a:r>
              <a:rPr lang="en-US" sz="2400" dirty="0"/>
              <a:t> </a:t>
            </a:r>
            <a:r>
              <a:rPr lang="en-US" sz="2400" dirty="0" err="1"/>
              <a:t>intre</a:t>
            </a:r>
            <a:r>
              <a:rPr lang="en-US" sz="2400" dirty="0"/>
              <a:t> thread-</a:t>
            </a:r>
            <a:r>
              <a:rPr lang="en-US" sz="2400" dirty="0" err="1"/>
              <a:t>uri</a:t>
            </a:r>
            <a:r>
              <a:rPr lang="en-US" sz="2400" dirty="0"/>
              <a:t> – data race</a:t>
            </a:r>
          </a:p>
          <a:p>
            <a:endParaRPr lang="en-US" sz="2400" dirty="0"/>
          </a:p>
          <a:p>
            <a:pPr marL="285750" indent="-285750">
              <a:buFont typeface="Wingdings" panose="05000000000000000000" pitchFamily="2" charset="2"/>
              <a:buChar char="§"/>
            </a:pPr>
            <a:r>
              <a:rPr lang="en-US" dirty="0"/>
              <a:t> </a:t>
            </a:r>
            <a:r>
              <a:rPr lang="en-US" dirty="0" err="1"/>
              <a:t>doua</a:t>
            </a:r>
            <a:r>
              <a:rPr lang="en-US" dirty="0"/>
              <a:t> thread-</a:t>
            </a:r>
            <a:r>
              <a:rPr lang="en-US" dirty="0" err="1"/>
              <a:t>uri</a:t>
            </a:r>
            <a:r>
              <a:rPr lang="en-US" dirty="0"/>
              <a:t> care </a:t>
            </a:r>
            <a:r>
              <a:rPr lang="en-US" dirty="0" err="1"/>
              <a:t>incrementeaza</a:t>
            </a:r>
            <a:r>
              <a:rPr lang="en-US" dirty="0"/>
              <a:t> </a:t>
            </a:r>
            <a:r>
              <a:rPr lang="en-US" dirty="0" err="1"/>
              <a:t>acelasi</a:t>
            </a:r>
            <a:r>
              <a:rPr lang="en-US" dirty="0"/>
              <a:t> </a:t>
            </a:r>
            <a:r>
              <a:rPr lang="en-US" dirty="0" err="1"/>
              <a:t>contor</a:t>
            </a:r>
            <a:endParaRPr lang="en-US" dirty="0"/>
          </a:p>
        </p:txBody>
      </p:sp>
      <p:sp>
        <p:nvSpPr>
          <p:cNvPr id="7" name="TextBox 6">
            <a:extLst>
              <a:ext uri="{FF2B5EF4-FFF2-40B4-BE49-F238E27FC236}">
                <a16:creationId xmlns:a16="http://schemas.microsoft.com/office/drawing/2014/main" id="{150A6BAD-1A97-434B-8CFA-1C9818525528}"/>
              </a:ext>
            </a:extLst>
          </p:cNvPr>
          <p:cNvSpPr txBox="1"/>
          <p:nvPr/>
        </p:nvSpPr>
        <p:spPr>
          <a:xfrm>
            <a:off x="868680" y="1163602"/>
            <a:ext cx="7269480" cy="2585323"/>
          </a:xfrm>
          <a:prstGeom prst="rect">
            <a:avLst/>
          </a:prstGeom>
          <a:noFill/>
          <a:ln w="38100">
            <a:solidFill>
              <a:srgbClr val="00B050"/>
            </a:solidFill>
          </a:ln>
        </p:spPr>
        <p:txBody>
          <a:bodyPr wrap="square">
            <a:spAutoFit/>
          </a:bodyPr>
          <a:lstStyle/>
          <a:p>
            <a:r>
              <a:rPr lang="en-GB" dirty="0"/>
              <a:t>public class Interference {</a:t>
            </a:r>
          </a:p>
          <a:p>
            <a:r>
              <a:rPr lang="en-GB" dirty="0"/>
              <a:t>    public static void main (String[] </a:t>
            </a:r>
            <a:r>
              <a:rPr lang="en-GB" dirty="0" err="1"/>
              <a:t>args</a:t>
            </a:r>
            <a:r>
              <a:rPr lang="en-GB" dirty="0"/>
              <a:t>) throws </a:t>
            </a:r>
            <a:r>
              <a:rPr lang="en-GB" dirty="0" err="1"/>
              <a:t>InterruptedException</a:t>
            </a:r>
            <a:r>
              <a:rPr lang="en-GB" dirty="0"/>
              <a:t>  {</a:t>
            </a:r>
          </a:p>
          <a:p>
            <a:r>
              <a:rPr lang="en-GB" dirty="0"/>
              <a:t>        Counter c = new Counter();</a:t>
            </a:r>
          </a:p>
          <a:p>
            <a:r>
              <a:rPr lang="en-GB" dirty="0"/>
              <a:t>        Thread thread1 = new Thread(new </a:t>
            </a:r>
            <a:r>
              <a:rPr lang="en-GB" dirty="0" err="1"/>
              <a:t>CounterThread</a:t>
            </a:r>
            <a:r>
              <a:rPr lang="en-GB" dirty="0"/>
              <a:t>(c));</a:t>
            </a:r>
          </a:p>
          <a:p>
            <a:r>
              <a:rPr lang="en-GB" dirty="0"/>
              <a:t>        Thread thread2 = new Thread(new </a:t>
            </a:r>
            <a:r>
              <a:rPr lang="en-GB" dirty="0" err="1"/>
              <a:t>CounterThread</a:t>
            </a:r>
            <a:r>
              <a:rPr lang="en-GB" dirty="0"/>
              <a:t>(c));</a:t>
            </a:r>
            <a:br>
              <a:rPr lang="en-GB" dirty="0"/>
            </a:br>
            <a:r>
              <a:rPr lang="en-GB" dirty="0"/>
              <a:t>        thread1.start(); thread2.start();</a:t>
            </a:r>
          </a:p>
          <a:p>
            <a:r>
              <a:rPr lang="en-GB" dirty="0"/>
              <a:t>        thread1.join(); thread2.join();</a:t>
            </a:r>
          </a:p>
          <a:p>
            <a:r>
              <a:rPr lang="en-GB" dirty="0"/>
              <a:t>    }</a:t>
            </a:r>
          </a:p>
          <a:p>
            <a:r>
              <a:rPr lang="en-GB" dirty="0"/>
              <a:t>}</a:t>
            </a:r>
          </a:p>
        </p:txBody>
      </p:sp>
      <p:graphicFrame>
        <p:nvGraphicFramePr>
          <p:cNvPr id="4" name="Object 3">
            <a:extLst>
              <a:ext uri="{FF2B5EF4-FFF2-40B4-BE49-F238E27FC236}">
                <a16:creationId xmlns:a16="http://schemas.microsoft.com/office/drawing/2014/main" id="{C1729298-5B91-4A85-B750-177EC1807EC1}"/>
              </a:ext>
            </a:extLst>
          </p:cNvPr>
          <p:cNvGraphicFramePr>
            <a:graphicFrameLocks noChangeAspect="1"/>
          </p:cNvGraphicFramePr>
          <p:nvPr/>
        </p:nvGraphicFramePr>
        <p:xfrm>
          <a:off x="1377949" y="3319707"/>
          <a:ext cx="3630931" cy="2731525"/>
        </p:xfrm>
        <a:graphic>
          <a:graphicData uri="http://schemas.openxmlformats.org/presentationml/2006/ole">
            <mc:AlternateContent xmlns:mc="http://schemas.openxmlformats.org/markup-compatibility/2006">
              <mc:Choice xmlns:v="urn:schemas-microsoft-com:vml" Requires="v">
                <p:oleObj name="Bitmap Image" r:id="rId2" imgW="2076480" imgH="1562040" progId="Paint.Picture">
                  <p:embed/>
                </p:oleObj>
              </mc:Choice>
              <mc:Fallback>
                <p:oleObj name="Bitmap Image" r:id="rId2" imgW="2076480" imgH="1562040" progId="Paint.Picture">
                  <p:embed/>
                  <p:pic>
                    <p:nvPicPr>
                      <p:cNvPr id="4" name="Object 3">
                        <a:extLst>
                          <a:ext uri="{FF2B5EF4-FFF2-40B4-BE49-F238E27FC236}">
                            <a16:creationId xmlns:a16="http://schemas.microsoft.com/office/drawing/2014/main" id="{C1729298-5B91-4A85-B750-177EC1807EC1}"/>
                          </a:ext>
                        </a:extLst>
                      </p:cNvPr>
                      <p:cNvPicPr/>
                      <p:nvPr/>
                    </p:nvPicPr>
                    <p:blipFill>
                      <a:blip r:embed="rId3"/>
                      <a:stretch>
                        <a:fillRect/>
                      </a:stretch>
                    </p:blipFill>
                    <p:spPr>
                      <a:xfrm>
                        <a:off x="1377949" y="3319707"/>
                        <a:ext cx="3630931" cy="2731525"/>
                      </a:xfrm>
                      <a:prstGeom prst="rect">
                        <a:avLst/>
                      </a:prstGeom>
                    </p:spPr>
                  </p:pic>
                </p:oleObj>
              </mc:Fallback>
            </mc:AlternateContent>
          </a:graphicData>
        </a:graphic>
      </p:graphicFrame>
      <p:graphicFrame>
        <p:nvGraphicFramePr>
          <p:cNvPr id="6" name="Object 5">
            <a:extLst>
              <a:ext uri="{FF2B5EF4-FFF2-40B4-BE49-F238E27FC236}">
                <a16:creationId xmlns:a16="http://schemas.microsoft.com/office/drawing/2014/main" id="{3E898CAD-14D4-46C3-9AEF-49B2B8D37750}"/>
              </a:ext>
            </a:extLst>
          </p:cNvPr>
          <p:cNvGraphicFramePr>
            <a:graphicFrameLocks noChangeAspect="1"/>
          </p:cNvGraphicFramePr>
          <p:nvPr/>
        </p:nvGraphicFramePr>
        <p:xfrm>
          <a:off x="6116959" y="3319707"/>
          <a:ext cx="3850641" cy="2787237"/>
        </p:xfrm>
        <a:graphic>
          <a:graphicData uri="http://schemas.openxmlformats.org/presentationml/2006/ole">
            <mc:AlternateContent xmlns:mc="http://schemas.openxmlformats.org/markup-compatibility/2006">
              <mc:Choice xmlns:v="urn:schemas-microsoft-com:vml" Requires="v">
                <p:oleObj name="Bitmap Image" r:id="rId4" imgW="2184480" imgH="1581120" progId="Paint.Picture">
                  <p:embed/>
                </p:oleObj>
              </mc:Choice>
              <mc:Fallback>
                <p:oleObj name="Bitmap Image" r:id="rId4" imgW="2184480" imgH="1581120" progId="Paint.Picture">
                  <p:embed/>
                  <p:pic>
                    <p:nvPicPr>
                      <p:cNvPr id="6" name="Object 5">
                        <a:extLst>
                          <a:ext uri="{FF2B5EF4-FFF2-40B4-BE49-F238E27FC236}">
                            <a16:creationId xmlns:a16="http://schemas.microsoft.com/office/drawing/2014/main" id="{3E898CAD-14D4-46C3-9AEF-49B2B8D37750}"/>
                          </a:ext>
                        </a:extLst>
                      </p:cNvPr>
                      <p:cNvPicPr/>
                      <p:nvPr/>
                    </p:nvPicPr>
                    <p:blipFill>
                      <a:blip r:embed="rId5"/>
                      <a:stretch>
                        <a:fillRect/>
                      </a:stretch>
                    </p:blipFill>
                    <p:spPr>
                      <a:xfrm>
                        <a:off x="6116959" y="3319707"/>
                        <a:ext cx="3850641" cy="2787237"/>
                      </a:xfrm>
                      <a:prstGeom prst="rect">
                        <a:avLst/>
                      </a:prstGeom>
                    </p:spPr>
                  </p:pic>
                </p:oleObj>
              </mc:Fallback>
            </mc:AlternateContent>
          </a:graphicData>
        </a:graphic>
      </p:graphicFrame>
      <p:cxnSp>
        <p:nvCxnSpPr>
          <p:cNvPr id="10" name="Straight Arrow Connector 9">
            <a:extLst>
              <a:ext uri="{FF2B5EF4-FFF2-40B4-BE49-F238E27FC236}">
                <a16:creationId xmlns:a16="http://schemas.microsoft.com/office/drawing/2014/main" id="{09743D4D-5095-4212-8C07-5F2B90C00F0B}"/>
              </a:ext>
            </a:extLst>
          </p:cNvPr>
          <p:cNvCxnSpPr/>
          <p:nvPr/>
        </p:nvCxnSpPr>
        <p:spPr>
          <a:xfrm>
            <a:off x="9804400" y="3576320"/>
            <a:ext cx="772160" cy="0"/>
          </a:xfrm>
          <a:prstGeom prst="straightConnector1">
            <a:avLst/>
          </a:prstGeom>
          <a:ln w="38100">
            <a:solidFill>
              <a:srgbClr val="FF0000"/>
            </a:solidFill>
            <a:tailEnd type="triangle"/>
          </a:ln>
        </p:spPr>
        <p:style>
          <a:lnRef idx="1">
            <a:schemeClr val="accent1"/>
          </a:lnRef>
          <a:fillRef idx="0">
            <a:schemeClr val="accent1"/>
          </a:fillRef>
          <a:effectRef idx="0">
            <a:schemeClr val="accent1"/>
          </a:effectRef>
          <a:fontRef idx="minor">
            <a:schemeClr val="tx1"/>
          </a:fontRef>
        </p:style>
      </p:cxnSp>
      <p:sp>
        <p:nvSpPr>
          <p:cNvPr id="11" name="TextBox 10">
            <a:extLst>
              <a:ext uri="{FF2B5EF4-FFF2-40B4-BE49-F238E27FC236}">
                <a16:creationId xmlns:a16="http://schemas.microsoft.com/office/drawing/2014/main" id="{B8ECB26D-DCDC-4F77-822F-E14B12AD95EF}"/>
              </a:ext>
            </a:extLst>
          </p:cNvPr>
          <p:cNvSpPr txBox="1"/>
          <p:nvPr/>
        </p:nvSpPr>
        <p:spPr>
          <a:xfrm>
            <a:off x="10576560" y="3429000"/>
            <a:ext cx="1338700" cy="461665"/>
          </a:xfrm>
          <a:prstGeom prst="rect">
            <a:avLst/>
          </a:prstGeom>
          <a:noFill/>
          <a:ln w="38100">
            <a:solidFill>
              <a:srgbClr val="FF0000"/>
            </a:solidFill>
          </a:ln>
        </p:spPr>
        <p:txBody>
          <a:bodyPr wrap="none" rtlCol="0">
            <a:spAutoFit/>
          </a:bodyPr>
          <a:lstStyle/>
          <a:p>
            <a:r>
              <a:rPr lang="en-US" sz="2400" dirty="0"/>
              <a:t>data race</a:t>
            </a:r>
            <a:endParaRPr lang="en-GB" sz="2400" dirty="0"/>
          </a:p>
        </p:txBody>
      </p:sp>
    </p:spTree>
    <p:extLst>
      <p:ext uri="{BB962C8B-B14F-4D97-AF65-F5344CB8AC3E}">
        <p14:creationId xmlns:p14="http://schemas.microsoft.com/office/powerpoint/2010/main" val="4240405593"/>
      </p:ext>
    </p:extLst>
  </p:cSld>
  <p:clrMapOvr>
    <a:masterClrMapping/>
  </p:clrMapOvr>
</p:sld>
</file>

<file path=ppt/slides/slide3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 name="TextBox 4"/>
          <p:cNvSpPr txBox="1"/>
          <p:nvPr/>
        </p:nvSpPr>
        <p:spPr>
          <a:xfrm>
            <a:off x="475735" y="55606"/>
            <a:ext cx="3085973" cy="830997"/>
          </a:xfrm>
          <a:prstGeom prst="rect">
            <a:avLst/>
          </a:prstGeom>
          <a:noFill/>
        </p:spPr>
        <p:txBody>
          <a:bodyPr wrap="none" rtlCol="0">
            <a:spAutoFit/>
          </a:bodyPr>
          <a:lstStyle/>
          <a:p>
            <a:pPr marL="342900" indent="-342900">
              <a:buFont typeface="Wingdings" panose="05000000000000000000" pitchFamily="2" charset="2"/>
              <a:buChar char="Ø"/>
            </a:pPr>
            <a:r>
              <a:rPr lang="en-US" sz="2400" dirty="0" err="1"/>
              <a:t>Metode</a:t>
            </a:r>
            <a:r>
              <a:rPr lang="en-US" sz="2400" dirty="0"/>
              <a:t> </a:t>
            </a:r>
            <a:r>
              <a:rPr lang="en-US" sz="2400" dirty="0" err="1"/>
              <a:t>sincronizate</a:t>
            </a:r>
            <a:endParaRPr lang="en-US" sz="2400" dirty="0"/>
          </a:p>
          <a:p>
            <a:pPr marL="342900" indent="-342900">
              <a:buFont typeface="Wingdings" panose="05000000000000000000" pitchFamily="2" charset="2"/>
              <a:buChar char="Ø"/>
            </a:pPr>
            <a:endParaRPr lang="en-US" sz="2400" dirty="0"/>
          </a:p>
        </p:txBody>
      </p:sp>
      <p:sp>
        <p:nvSpPr>
          <p:cNvPr id="7" name="TextBox 6">
            <a:extLst>
              <a:ext uri="{FF2B5EF4-FFF2-40B4-BE49-F238E27FC236}">
                <a16:creationId xmlns:a16="http://schemas.microsoft.com/office/drawing/2014/main" id="{150A6BAD-1A97-434B-8CFA-1C9818525528}"/>
              </a:ext>
            </a:extLst>
          </p:cNvPr>
          <p:cNvSpPr txBox="1"/>
          <p:nvPr/>
        </p:nvSpPr>
        <p:spPr>
          <a:xfrm>
            <a:off x="475735" y="1292314"/>
            <a:ext cx="8834120" cy="1938992"/>
          </a:xfrm>
          <a:prstGeom prst="rect">
            <a:avLst/>
          </a:prstGeom>
          <a:noFill/>
          <a:ln w="38100">
            <a:solidFill>
              <a:srgbClr val="00B050"/>
            </a:solidFill>
          </a:ln>
        </p:spPr>
        <p:txBody>
          <a:bodyPr wrap="square">
            <a:spAutoFit/>
          </a:bodyPr>
          <a:lstStyle/>
          <a:p>
            <a:r>
              <a:rPr lang="en-GB" sz="2400" dirty="0"/>
              <a:t>class </a:t>
            </a:r>
            <a:r>
              <a:rPr lang="en-GB" sz="2400" dirty="0" err="1"/>
              <a:t>CounterThread</a:t>
            </a:r>
            <a:r>
              <a:rPr lang="en-GB" sz="2400" dirty="0"/>
              <a:t> implements Runnable {</a:t>
            </a:r>
          </a:p>
          <a:p>
            <a:r>
              <a:rPr lang="en-GB" sz="2400" dirty="0"/>
              <a:t>    </a:t>
            </a:r>
            <a:r>
              <a:rPr lang="en-GB" sz="2400" dirty="0" err="1"/>
              <a:t>SCounter</a:t>
            </a:r>
            <a:r>
              <a:rPr lang="en-GB" sz="2400" dirty="0"/>
              <a:t> </a:t>
            </a:r>
            <a:r>
              <a:rPr lang="en-GB" sz="2400" dirty="0" err="1"/>
              <a:t>scounter</a:t>
            </a:r>
            <a:r>
              <a:rPr lang="en-GB" sz="2400" dirty="0"/>
              <a:t>;</a:t>
            </a:r>
          </a:p>
          <a:p>
            <a:r>
              <a:rPr lang="en-GB" sz="2400" dirty="0"/>
              <a:t>    </a:t>
            </a:r>
            <a:r>
              <a:rPr lang="en-GB" sz="2400" dirty="0" err="1"/>
              <a:t>CounterThread</a:t>
            </a:r>
            <a:r>
              <a:rPr lang="en-GB" sz="2400" dirty="0"/>
              <a:t> (</a:t>
            </a:r>
            <a:r>
              <a:rPr lang="en-GB" sz="2400" dirty="0" err="1"/>
              <a:t>SCounter</a:t>
            </a:r>
            <a:r>
              <a:rPr lang="en-GB" sz="2400" dirty="0"/>
              <a:t> </a:t>
            </a:r>
            <a:r>
              <a:rPr lang="en-GB" sz="2400" dirty="0" err="1"/>
              <a:t>scounter</a:t>
            </a:r>
            <a:r>
              <a:rPr lang="en-GB" sz="2400" dirty="0"/>
              <a:t>) {</a:t>
            </a:r>
            <a:r>
              <a:rPr lang="en-GB" sz="2400" dirty="0" err="1"/>
              <a:t>this.scounter</a:t>
            </a:r>
            <a:r>
              <a:rPr lang="en-GB" sz="2400" dirty="0"/>
              <a:t>=</a:t>
            </a:r>
            <a:r>
              <a:rPr lang="en-GB" sz="2400" dirty="0" err="1"/>
              <a:t>scounter</a:t>
            </a:r>
            <a:r>
              <a:rPr lang="en-GB" sz="2400" dirty="0"/>
              <a:t>;}</a:t>
            </a:r>
          </a:p>
          <a:p>
            <a:r>
              <a:rPr lang="en-GB" sz="2400" dirty="0"/>
              <a:t>        public void run () {}</a:t>
            </a:r>
          </a:p>
          <a:p>
            <a:r>
              <a:rPr lang="en-GB" sz="2400" dirty="0"/>
              <a:t>}</a:t>
            </a:r>
          </a:p>
        </p:txBody>
      </p:sp>
      <p:sp>
        <p:nvSpPr>
          <p:cNvPr id="3" name="TextBox 2">
            <a:extLst>
              <a:ext uri="{FF2B5EF4-FFF2-40B4-BE49-F238E27FC236}">
                <a16:creationId xmlns:a16="http://schemas.microsoft.com/office/drawing/2014/main" id="{9A245770-E6C4-2062-29A0-22372AF57ECF}"/>
              </a:ext>
            </a:extLst>
          </p:cNvPr>
          <p:cNvSpPr txBox="1"/>
          <p:nvPr/>
        </p:nvSpPr>
        <p:spPr>
          <a:xfrm>
            <a:off x="1808480" y="2931160"/>
            <a:ext cx="9591040" cy="3046988"/>
          </a:xfrm>
          <a:prstGeom prst="rect">
            <a:avLst/>
          </a:prstGeom>
          <a:ln w="38100">
            <a:solidFill>
              <a:srgbClr val="00B050"/>
            </a:solidFill>
          </a:ln>
        </p:spPr>
        <p:style>
          <a:lnRef idx="2">
            <a:schemeClr val="dk1"/>
          </a:lnRef>
          <a:fillRef idx="1">
            <a:schemeClr val="lt1"/>
          </a:fillRef>
          <a:effectRef idx="0">
            <a:schemeClr val="dk1"/>
          </a:effectRef>
          <a:fontRef idx="minor">
            <a:schemeClr val="dk1"/>
          </a:fontRef>
        </p:style>
        <p:txBody>
          <a:bodyPr wrap="square" rtlCol="0">
            <a:spAutoFit/>
          </a:bodyPr>
          <a:lstStyle/>
          <a:p>
            <a:r>
              <a:rPr lang="en-GB" sz="2400" dirty="0">
                <a:solidFill>
                  <a:schemeClr val="tx1"/>
                </a:solidFill>
              </a:rPr>
              <a:t> class </a:t>
            </a:r>
            <a:r>
              <a:rPr lang="en-GB" sz="2400" dirty="0" err="1">
                <a:solidFill>
                  <a:schemeClr val="tx1"/>
                </a:solidFill>
              </a:rPr>
              <a:t>SCounter</a:t>
            </a:r>
            <a:r>
              <a:rPr lang="en-GB" sz="2400" dirty="0">
                <a:solidFill>
                  <a:schemeClr val="tx1"/>
                </a:solidFill>
              </a:rPr>
              <a:t>{</a:t>
            </a:r>
          </a:p>
          <a:p>
            <a:r>
              <a:rPr lang="en-GB" sz="2400" dirty="0">
                <a:solidFill>
                  <a:schemeClr val="tx1"/>
                </a:solidFill>
              </a:rPr>
              <a:t> private int </a:t>
            </a:r>
            <a:r>
              <a:rPr lang="en-GB" sz="2400" dirty="0" err="1">
                <a:solidFill>
                  <a:schemeClr val="tx1"/>
                </a:solidFill>
              </a:rPr>
              <a:t>scounter</a:t>
            </a:r>
            <a:r>
              <a:rPr lang="en-GB" sz="2400" dirty="0">
                <a:solidFill>
                  <a:schemeClr val="tx1"/>
                </a:solidFill>
              </a:rPr>
              <a:t> = 0;   </a:t>
            </a:r>
          </a:p>
          <a:p>
            <a:r>
              <a:rPr lang="en-GB" sz="2400" dirty="0">
                <a:solidFill>
                  <a:schemeClr val="tx1"/>
                </a:solidFill>
              </a:rPr>
              <a:t> public  </a:t>
            </a:r>
            <a:r>
              <a:rPr lang="en-GB" sz="2400" dirty="0">
                <a:solidFill>
                  <a:schemeClr val="tx1"/>
                </a:solidFill>
                <a:highlight>
                  <a:srgbClr val="00FF00"/>
                </a:highlight>
              </a:rPr>
              <a:t>synchronized</a:t>
            </a:r>
            <a:r>
              <a:rPr lang="en-GB" sz="2400" dirty="0">
                <a:solidFill>
                  <a:schemeClr val="tx1"/>
                </a:solidFill>
              </a:rPr>
              <a:t> void </a:t>
            </a:r>
            <a:r>
              <a:rPr lang="en-GB" sz="2400" b="1" dirty="0" err="1">
                <a:solidFill>
                  <a:schemeClr val="tx1"/>
                </a:solidFill>
              </a:rPr>
              <a:t>performTask</a:t>
            </a:r>
            <a:r>
              <a:rPr lang="en-GB" sz="2400" b="1" dirty="0">
                <a:solidFill>
                  <a:schemeClr val="tx1"/>
                </a:solidFill>
              </a:rPr>
              <a:t> () </a:t>
            </a:r>
            <a:r>
              <a:rPr lang="en-GB" sz="2400" dirty="0">
                <a:solidFill>
                  <a:schemeClr val="tx1"/>
                </a:solidFill>
              </a:rPr>
              <a:t>{</a:t>
            </a:r>
          </a:p>
          <a:p>
            <a:r>
              <a:rPr lang="en-GB" sz="2400" dirty="0">
                <a:solidFill>
                  <a:schemeClr val="tx1"/>
                </a:solidFill>
              </a:rPr>
              <a:t>        int temp = </a:t>
            </a:r>
            <a:r>
              <a:rPr lang="en-GB" sz="2400" dirty="0" err="1">
                <a:solidFill>
                  <a:schemeClr val="tx1"/>
                </a:solidFill>
              </a:rPr>
              <a:t>scounter</a:t>
            </a:r>
            <a:r>
              <a:rPr lang="en-GB" sz="2400" dirty="0">
                <a:solidFill>
                  <a:schemeClr val="tx1"/>
                </a:solidFill>
              </a:rPr>
              <a:t>;</a:t>
            </a:r>
          </a:p>
          <a:p>
            <a:r>
              <a:rPr lang="en-GB" sz="2400" dirty="0">
                <a:solidFill>
                  <a:schemeClr val="tx1"/>
                </a:solidFill>
              </a:rPr>
              <a:t>        </a:t>
            </a:r>
            <a:r>
              <a:rPr lang="en-GB" sz="2400" dirty="0" err="1">
                <a:solidFill>
                  <a:schemeClr val="tx1"/>
                </a:solidFill>
              </a:rPr>
              <a:t>scounter</a:t>
            </a:r>
            <a:r>
              <a:rPr lang="en-GB" sz="2400" dirty="0">
                <a:solidFill>
                  <a:schemeClr val="tx1"/>
                </a:solidFill>
              </a:rPr>
              <a:t>++;</a:t>
            </a:r>
          </a:p>
          <a:p>
            <a:r>
              <a:rPr lang="en-GB" sz="2400" dirty="0">
                <a:solidFill>
                  <a:schemeClr val="tx1"/>
                </a:solidFill>
              </a:rPr>
              <a:t>        </a:t>
            </a:r>
            <a:r>
              <a:rPr lang="en-GB" sz="2400" dirty="0" err="1">
                <a:solidFill>
                  <a:schemeClr val="tx1"/>
                </a:solidFill>
              </a:rPr>
              <a:t>System.out.println</a:t>
            </a:r>
            <a:r>
              <a:rPr lang="en-GB" sz="2400" dirty="0">
                <a:solidFill>
                  <a:schemeClr val="tx1"/>
                </a:solidFill>
              </a:rPr>
              <a:t>(</a:t>
            </a:r>
            <a:r>
              <a:rPr lang="en-GB" sz="2400" dirty="0" err="1">
                <a:solidFill>
                  <a:schemeClr val="tx1"/>
                </a:solidFill>
              </a:rPr>
              <a:t>Thread.currentThread</a:t>
            </a:r>
            <a:r>
              <a:rPr lang="en-GB" sz="2400" dirty="0">
                <a:solidFill>
                  <a:schemeClr val="tx1"/>
                </a:solidFill>
              </a:rPr>
              <a:t>()</a:t>
            </a:r>
          </a:p>
          <a:p>
            <a:r>
              <a:rPr lang="en-GB" sz="2400" dirty="0">
                <a:solidFill>
                  <a:schemeClr val="tx1"/>
                </a:solidFill>
              </a:rPr>
              <a:t>                                 .</a:t>
            </a:r>
            <a:r>
              <a:rPr lang="en-GB" sz="2400" dirty="0" err="1">
                <a:solidFill>
                  <a:schemeClr val="tx1"/>
                </a:solidFill>
              </a:rPr>
              <a:t>getName</a:t>
            </a:r>
            <a:r>
              <a:rPr lang="en-GB" sz="2400" dirty="0">
                <a:solidFill>
                  <a:schemeClr val="tx1"/>
                </a:solidFill>
              </a:rPr>
              <a:t>() + " - before: "+temp+" after:" + </a:t>
            </a:r>
            <a:r>
              <a:rPr lang="en-GB" sz="2400" dirty="0" err="1">
                <a:solidFill>
                  <a:schemeClr val="tx1"/>
                </a:solidFill>
              </a:rPr>
              <a:t>scounter</a:t>
            </a:r>
            <a:r>
              <a:rPr lang="en-GB" sz="2400" dirty="0">
                <a:solidFill>
                  <a:schemeClr val="tx1"/>
                </a:solidFill>
              </a:rPr>
              <a:t>);</a:t>
            </a:r>
          </a:p>
          <a:p>
            <a:r>
              <a:rPr lang="en-GB" sz="2400" dirty="0">
                <a:solidFill>
                  <a:schemeClr val="tx1"/>
                </a:solidFill>
              </a:rPr>
              <a:t>    }}</a:t>
            </a:r>
          </a:p>
        </p:txBody>
      </p:sp>
    </p:spTree>
    <p:extLst>
      <p:ext uri="{BB962C8B-B14F-4D97-AF65-F5344CB8AC3E}">
        <p14:creationId xmlns:p14="http://schemas.microsoft.com/office/powerpoint/2010/main" val="675509444"/>
      </p:ext>
    </p:extLst>
  </p:cSld>
  <p:clrMapOvr>
    <a:masterClrMapping/>
  </p:clrMapOvr>
</p:sld>
</file>

<file path=ppt/slides/slide3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 name="TextBox 4"/>
          <p:cNvSpPr txBox="1"/>
          <p:nvPr/>
        </p:nvSpPr>
        <p:spPr>
          <a:xfrm>
            <a:off x="475735" y="55606"/>
            <a:ext cx="5768118" cy="1138773"/>
          </a:xfrm>
          <a:prstGeom prst="rect">
            <a:avLst/>
          </a:prstGeom>
          <a:noFill/>
        </p:spPr>
        <p:txBody>
          <a:bodyPr wrap="none" rtlCol="0">
            <a:spAutoFit/>
          </a:bodyPr>
          <a:lstStyle/>
          <a:p>
            <a:pPr marL="342900" indent="-342900">
              <a:buFont typeface="Wingdings" panose="05000000000000000000" pitchFamily="2" charset="2"/>
              <a:buChar char="Ø"/>
            </a:pPr>
            <a:r>
              <a:rPr lang="en-US" sz="2400" dirty="0" err="1"/>
              <a:t>Metode</a:t>
            </a:r>
            <a:r>
              <a:rPr lang="en-US" sz="2400" dirty="0"/>
              <a:t> </a:t>
            </a:r>
            <a:r>
              <a:rPr lang="en-US" sz="2400" dirty="0" err="1"/>
              <a:t>sincronizate</a:t>
            </a:r>
            <a:endParaRPr lang="en-US" sz="2400" dirty="0"/>
          </a:p>
          <a:p>
            <a:endParaRPr lang="en-US" sz="2400" dirty="0"/>
          </a:p>
          <a:p>
            <a:pPr marL="285750" indent="-285750">
              <a:buFont typeface="Wingdings" panose="05000000000000000000" pitchFamily="2" charset="2"/>
              <a:buChar char="§"/>
            </a:pPr>
            <a:r>
              <a:rPr lang="en-US" dirty="0"/>
              <a:t> </a:t>
            </a:r>
            <a:r>
              <a:rPr lang="en-US" sz="2000" dirty="0" err="1"/>
              <a:t>doua</a:t>
            </a:r>
            <a:r>
              <a:rPr lang="en-US" sz="2000" dirty="0"/>
              <a:t> thread-</a:t>
            </a:r>
            <a:r>
              <a:rPr lang="en-US" sz="2000" dirty="0" err="1"/>
              <a:t>uri</a:t>
            </a:r>
            <a:r>
              <a:rPr lang="en-US" sz="2000" dirty="0"/>
              <a:t> care </a:t>
            </a:r>
            <a:r>
              <a:rPr lang="en-US" sz="2000" dirty="0" err="1"/>
              <a:t>incrementeaza</a:t>
            </a:r>
            <a:r>
              <a:rPr lang="en-US" sz="2000" dirty="0"/>
              <a:t> </a:t>
            </a:r>
            <a:r>
              <a:rPr lang="en-US" sz="2000" dirty="0" err="1"/>
              <a:t>acelasi</a:t>
            </a:r>
            <a:r>
              <a:rPr lang="en-US" sz="2000" dirty="0"/>
              <a:t> </a:t>
            </a:r>
            <a:r>
              <a:rPr lang="en-US" sz="2000" dirty="0" err="1"/>
              <a:t>contor</a:t>
            </a:r>
            <a:endParaRPr lang="en-US" sz="2000" dirty="0"/>
          </a:p>
        </p:txBody>
      </p:sp>
      <p:sp>
        <p:nvSpPr>
          <p:cNvPr id="7" name="TextBox 6">
            <a:extLst>
              <a:ext uri="{FF2B5EF4-FFF2-40B4-BE49-F238E27FC236}">
                <a16:creationId xmlns:a16="http://schemas.microsoft.com/office/drawing/2014/main" id="{150A6BAD-1A97-434B-8CFA-1C9818525528}"/>
              </a:ext>
            </a:extLst>
          </p:cNvPr>
          <p:cNvSpPr txBox="1"/>
          <p:nvPr/>
        </p:nvSpPr>
        <p:spPr>
          <a:xfrm>
            <a:off x="929640" y="1390124"/>
            <a:ext cx="9098280" cy="3416320"/>
          </a:xfrm>
          <a:prstGeom prst="rect">
            <a:avLst/>
          </a:prstGeom>
          <a:noFill/>
          <a:ln w="38100">
            <a:solidFill>
              <a:srgbClr val="00B050"/>
            </a:solidFill>
          </a:ln>
        </p:spPr>
        <p:txBody>
          <a:bodyPr wrap="square">
            <a:spAutoFit/>
          </a:bodyPr>
          <a:lstStyle/>
          <a:p>
            <a:pPr marL="0" marR="0" lvl="0" indent="0" algn="l" defTabSz="457200" rtl="0" eaLnBrk="1" fontAlgn="auto" latinLnBrk="0" hangingPunct="1">
              <a:lnSpc>
                <a:spcPct val="100000"/>
              </a:lnSpc>
              <a:spcBef>
                <a:spcPts val="0"/>
              </a:spcBef>
              <a:spcAft>
                <a:spcPts val="0"/>
              </a:spcAft>
              <a:buClrTx/>
              <a:buSzTx/>
              <a:buFontTx/>
              <a:buNone/>
              <a:tabLst/>
              <a:defRPr/>
            </a:pPr>
            <a:r>
              <a:rPr kumimoji="0" lang="en-GB" sz="2400" b="0" i="0" u="none" strike="noStrike" kern="1200" cap="none" spc="0" normalizeH="0" baseline="0" noProof="0" dirty="0">
                <a:ln>
                  <a:noFill/>
                </a:ln>
                <a:solidFill>
                  <a:srgbClr val="000000"/>
                </a:solidFill>
                <a:effectLst/>
                <a:uLnTx/>
                <a:uFillTx/>
                <a:latin typeface="Calibri" panose="020F0502020204030204"/>
                <a:ea typeface="+mn-ea"/>
                <a:cs typeface="+mn-cs"/>
              </a:rPr>
              <a:t>public class Interference {</a:t>
            </a:r>
          </a:p>
          <a:p>
            <a:pPr marL="0" marR="0" lvl="0" indent="0" algn="l" defTabSz="457200" rtl="0" eaLnBrk="1" fontAlgn="auto" latinLnBrk="0" hangingPunct="1">
              <a:lnSpc>
                <a:spcPct val="100000"/>
              </a:lnSpc>
              <a:spcBef>
                <a:spcPts val="0"/>
              </a:spcBef>
              <a:spcAft>
                <a:spcPts val="0"/>
              </a:spcAft>
              <a:buClrTx/>
              <a:buSzTx/>
              <a:buFontTx/>
              <a:buNone/>
              <a:tabLst/>
              <a:defRPr/>
            </a:pPr>
            <a:r>
              <a:rPr kumimoji="0" lang="en-GB" sz="2400" b="0" i="0" u="none" strike="noStrike" kern="1200" cap="none" spc="0" normalizeH="0" baseline="0" noProof="0" dirty="0">
                <a:ln>
                  <a:noFill/>
                </a:ln>
                <a:solidFill>
                  <a:srgbClr val="000000"/>
                </a:solidFill>
                <a:effectLst/>
                <a:uLnTx/>
                <a:uFillTx/>
                <a:latin typeface="Calibri" panose="020F0502020204030204"/>
                <a:ea typeface="+mn-ea"/>
                <a:cs typeface="+mn-cs"/>
              </a:rPr>
              <a:t>    public static void main (String[] </a:t>
            </a:r>
            <a:r>
              <a:rPr kumimoji="0" lang="en-GB" sz="2400" b="0" i="0" u="none" strike="noStrike" kern="1200" cap="none" spc="0" normalizeH="0" baseline="0" noProof="0" dirty="0" err="1">
                <a:ln>
                  <a:noFill/>
                </a:ln>
                <a:solidFill>
                  <a:srgbClr val="000000"/>
                </a:solidFill>
                <a:effectLst/>
                <a:uLnTx/>
                <a:uFillTx/>
                <a:latin typeface="Calibri" panose="020F0502020204030204"/>
                <a:ea typeface="+mn-ea"/>
                <a:cs typeface="+mn-cs"/>
              </a:rPr>
              <a:t>args</a:t>
            </a:r>
            <a:r>
              <a:rPr kumimoji="0" lang="en-GB" sz="2400" b="0" i="0" u="none" strike="noStrike" kern="1200" cap="none" spc="0" normalizeH="0" baseline="0" noProof="0" dirty="0">
                <a:ln>
                  <a:noFill/>
                </a:ln>
                <a:solidFill>
                  <a:srgbClr val="000000"/>
                </a:solidFill>
                <a:effectLst/>
                <a:uLnTx/>
                <a:uFillTx/>
                <a:latin typeface="Calibri" panose="020F0502020204030204"/>
                <a:ea typeface="+mn-ea"/>
                <a:cs typeface="+mn-cs"/>
              </a:rPr>
              <a:t>) throws </a:t>
            </a:r>
            <a:r>
              <a:rPr kumimoji="0" lang="en-GB" sz="2400" b="0" i="0" u="none" strike="noStrike" kern="1200" cap="none" spc="0" normalizeH="0" baseline="0" noProof="0" dirty="0" err="1">
                <a:ln>
                  <a:noFill/>
                </a:ln>
                <a:solidFill>
                  <a:srgbClr val="000000"/>
                </a:solidFill>
                <a:effectLst/>
                <a:uLnTx/>
                <a:uFillTx/>
                <a:latin typeface="Calibri" panose="020F0502020204030204"/>
                <a:ea typeface="+mn-ea"/>
                <a:cs typeface="+mn-cs"/>
              </a:rPr>
              <a:t>InterruptedException</a:t>
            </a:r>
            <a:r>
              <a:rPr kumimoji="0" lang="en-GB" sz="2400" b="0" i="0" u="none" strike="noStrike" kern="1200" cap="none" spc="0" normalizeH="0" baseline="0" noProof="0" dirty="0">
                <a:ln>
                  <a:noFill/>
                </a:ln>
                <a:solidFill>
                  <a:srgbClr val="000000"/>
                </a:solidFill>
                <a:effectLst/>
                <a:uLnTx/>
                <a:uFillTx/>
                <a:latin typeface="Calibri" panose="020F0502020204030204"/>
                <a:ea typeface="+mn-ea"/>
                <a:cs typeface="+mn-cs"/>
              </a:rPr>
              <a:t>  {</a:t>
            </a:r>
          </a:p>
          <a:p>
            <a:pPr marL="0" marR="0" lvl="0" indent="0" algn="l" defTabSz="457200" rtl="0" eaLnBrk="1" fontAlgn="auto" latinLnBrk="0" hangingPunct="1">
              <a:lnSpc>
                <a:spcPct val="100000"/>
              </a:lnSpc>
              <a:spcBef>
                <a:spcPts val="0"/>
              </a:spcBef>
              <a:spcAft>
                <a:spcPts val="0"/>
              </a:spcAft>
              <a:buClrTx/>
              <a:buSzTx/>
              <a:buFontTx/>
              <a:buNone/>
              <a:tabLst/>
              <a:defRPr/>
            </a:pPr>
            <a:r>
              <a:rPr kumimoji="0" lang="en-GB" sz="2400" b="0" i="0" u="none" strike="noStrike" kern="1200" cap="none" spc="0" normalizeH="0" baseline="0" noProof="0" dirty="0">
                <a:ln>
                  <a:noFill/>
                </a:ln>
                <a:solidFill>
                  <a:srgbClr val="000000"/>
                </a:solidFill>
                <a:effectLst/>
                <a:uLnTx/>
                <a:uFillTx/>
                <a:latin typeface="Calibri" panose="020F0502020204030204"/>
                <a:ea typeface="+mn-ea"/>
                <a:cs typeface="+mn-cs"/>
              </a:rPr>
              <a:t>        </a:t>
            </a:r>
            <a:r>
              <a:rPr kumimoji="0" lang="en-GB" sz="2400" b="0" i="0" u="none" strike="noStrike" kern="1200" cap="none" spc="0" normalizeH="0" baseline="0" noProof="0" dirty="0" err="1">
                <a:ln>
                  <a:noFill/>
                </a:ln>
                <a:solidFill>
                  <a:srgbClr val="000000"/>
                </a:solidFill>
                <a:effectLst/>
                <a:uLnTx/>
                <a:uFillTx/>
                <a:latin typeface="Calibri" panose="020F0502020204030204"/>
                <a:ea typeface="+mn-ea"/>
                <a:cs typeface="+mn-cs"/>
              </a:rPr>
              <a:t>SCounter</a:t>
            </a:r>
            <a:r>
              <a:rPr kumimoji="0" lang="en-GB" sz="2400" b="0" i="0" u="none" strike="noStrike" kern="1200" cap="none" spc="0" normalizeH="0" baseline="0" noProof="0" dirty="0">
                <a:ln>
                  <a:noFill/>
                </a:ln>
                <a:solidFill>
                  <a:srgbClr val="000000"/>
                </a:solidFill>
                <a:effectLst/>
                <a:uLnTx/>
                <a:uFillTx/>
                <a:latin typeface="Calibri" panose="020F0502020204030204"/>
                <a:ea typeface="+mn-ea"/>
                <a:cs typeface="+mn-cs"/>
              </a:rPr>
              <a:t> </a:t>
            </a:r>
            <a:r>
              <a:rPr kumimoji="0" lang="en-GB" sz="2400" b="0" i="0" u="none" strike="noStrike" kern="1200" cap="none" spc="0" normalizeH="0" baseline="0" noProof="0" dirty="0" err="1">
                <a:ln>
                  <a:noFill/>
                </a:ln>
                <a:solidFill>
                  <a:srgbClr val="000000"/>
                </a:solidFill>
                <a:effectLst/>
                <a:uLnTx/>
                <a:uFillTx/>
                <a:latin typeface="Calibri" panose="020F0502020204030204"/>
                <a:ea typeface="+mn-ea"/>
                <a:cs typeface="+mn-cs"/>
              </a:rPr>
              <a:t>sc</a:t>
            </a:r>
            <a:r>
              <a:rPr kumimoji="0" lang="en-GB" sz="2400" b="0" i="0" u="none" strike="noStrike" kern="1200" cap="none" spc="0" normalizeH="0" baseline="0" noProof="0" dirty="0">
                <a:ln>
                  <a:noFill/>
                </a:ln>
                <a:solidFill>
                  <a:srgbClr val="000000"/>
                </a:solidFill>
                <a:effectLst/>
                <a:uLnTx/>
                <a:uFillTx/>
                <a:latin typeface="Calibri" panose="020F0502020204030204"/>
                <a:ea typeface="+mn-ea"/>
                <a:cs typeface="+mn-cs"/>
              </a:rPr>
              <a:t> = new </a:t>
            </a:r>
            <a:r>
              <a:rPr kumimoji="0" lang="en-GB" sz="2400" b="0" i="0" u="none" strike="noStrike" kern="1200" cap="none" spc="0" normalizeH="0" baseline="0" noProof="0" dirty="0" err="1">
                <a:ln>
                  <a:noFill/>
                </a:ln>
                <a:solidFill>
                  <a:srgbClr val="000000"/>
                </a:solidFill>
                <a:effectLst/>
                <a:uLnTx/>
                <a:uFillTx/>
                <a:latin typeface="Calibri" panose="020F0502020204030204"/>
                <a:ea typeface="+mn-ea"/>
                <a:cs typeface="+mn-cs"/>
              </a:rPr>
              <a:t>SCounter</a:t>
            </a:r>
            <a:r>
              <a:rPr kumimoji="0" lang="en-GB" sz="2400" b="0" i="0" u="none" strike="noStrike" kern="1200" cap="none" spc="0" normalizeH="0" baseline="0" noProof="0" dirty="0">
                <a:ln>
                  <a:noFill/>
                </a:ln>
                <a:solidFill>
                  <a:srgbClr val="000000"/>
                </a:solidFill>
                <a:effectLst/>
                <a:uLnTx/>
                <a:uFillTx/>
                <a:latin typeface="Calibri" panose="020F0502020204030204"/>
                <a:ea typeface="+mn-ea"/>
                <a:cs typeface="+mn-cs"/>
              </a:rPr>
              <a:t>();</a:t>
            </a:r>
          </a:p>
          <a:p>
            <a:pPr marL="0" marR="0" lvl="0" indent="0" algn="l" defTabSz="457200" rtl="0" eaLnBrk="1" fontAlgn="auto" latinLnBrk="0" hangingPunct="1">
              <a:lnSpc>
                <a:spcPct val="100000"/>
              </a:lnSpc>
              <a:spcBef>
                <a:spcPts val="0"/>
              </a:spcBef>
              <a:spcAft>
                <a:spcPts val="0"/>
              </a:spcAft>
              <a:buClrTx/>
              <a:buSzTx/>
              <a:buFontTx/>
              <a:buNone/>
              <a:tabLst/>
              <a:defRPr/>
            </a:pPr>
            <a:r>
              <a:rPr kumimoji="0" lang="en-GB" sz="2400" b="0" i="0" u="none" strike="noStrike" kern="1200" cap="none" spc="0" normalizeH="0" baseline="0" noProof="0" dirty="0">
                <a:ln>
                  <a:noFill/>
                </a:ln>
                <a:solidFill>
                  <a:srgbClr val="000000"/>
                </a:solidFill>
                <a:effectLst/>
                <a:uLnTx/>
                <a:uFillTx/>
                <a:latin typeface="Calibri" panose="020F0502020204030204"/>
                <a:ea typeface="+mn-ea"/>
                <a:cs typeface="+mn-cs"/>
              </a:rPr>
              <a:t>        Thread thread1 = new Thread(new </a:t>
            </a:r>
            <a:r>
              <a:rPr kumimoji="0" lang="en-GB" sz="2400" b="0" i="0" u="none" strike="noStrike" kern="1200" cap="none" spc="0" normalizeH="0" baseline="0" noProof="0" dirty="0" err="1">
                <a:ln>
                  <a:noFill/>
                </a:ln>
                <a:solidFill>
                  <a:srgbClr val="000000"/>
                </a:solidFill>
                <a:effectLst/>
                <a:uLnTx/>
                <a:uFillTx/>
                <a:latin typeface="Calibri" panose="020F0502020204030204"/>
                <a:ea typeface="+mn-ea"/>
                <a:cs typeface="+mn-cs"/>
              </a:rPr>
              <a:t>CounterThread</a:t>
            </a:r>
            <a:r>
              <a:rPr kumimoji="0" lang="en-GB" sz="2400" b="0" i="0" u="none" strike="noStrike" kern="1200" cap="none" spc="0" normalizeH="0" baseline="0" noProof="0" dirty="0">
                <a:ln>
                  <a:noFill/>
                </a:ln>
                <a:solidFill>
                  <a:srgbClr val="000000"/>
                </a:solidFill>
                <a:effectLst/>
                <a:uLnTx/>
                <a:uFillTx/>
                <a:latin typeface="Calibri" panose="020F0502020204030204"/>
                <a:ea typeface="+mn-ea"/>
                <a:cs typeface="+mn-cs"/>
              </a:rPr>
              <a:t>(</a:t>
            </a:r>
            <a:r>
              <a:rPr kumimoji="0" lang="en-GB" sz="2400" b="0" i="0" u="none" strike="noStrike" kern="1200" cap="none" spc="0" normalizeH="0" baseline="0" noProof="0" dirty="0" err="1">
                <a:ln>
                  <a:noFill/>
                </a:ln>
                <a:solidFill>
                  <a:srgbClr val="000000"/>
                </a:solidFill>
                <a:effectLst/>
                <a:uLnTx/>
                <a:uFillTx/>
                <a:latin typeface="Calibri" panose="020F0502020204030204"/>
                <a:ea typeface="+mn-ea"/>
                <a:cs typeface="+mn-cs"/>
              </a:rPr>
              <a:t>sc</a:t>
            </a:r>
            <a:r>
              <a:rPr kumimoji="0" lang="en-GB" sz="2400" b="0" i="0" u="none" strike="noStrike" kern="1200" cap="none" spc="0" normalizeH="0" baseline="0" noProof="0" dirty="0">
                <a:ln>
                  <a:noFill/>
                </a:ln>
                <a:solidFill>
                  <a:srgbClr val="000000"/>
                </a:solidFill>
                <a:effectLst/>
                <a:uLnTx/>
                <a:uFillTx/>
                <a:latin typeface="Calibri" panose="020F0502020204030204"/>
                <a:ea typeface="+mn-ea"/>
                <a:cs typeface="+mn-cs"/>
              </a:rPr>
              <a:t>));</a:t>
            </a:r>
          </a:p>
          <a:p>
            <a:pPr marL="0" marR="0" lvl="0" indent="0" algn="l" defTabSz="457200" rtl="0" eaLnBrk="1" fontAlgn="auto" latinLnBrk="0" hangingPunct="1">
              <a:lnSpc>
                <a:spcPct val="100000"/>
              </a:lnSpc>
              <a:spcBef>
                <a:spcPts val="0"/>
              </a:spcBef>
              <a:spcAft>
                <a:spcPts val="0"/>
              </a:spcAft>
              <a:buClrTx/>
              <a:buSzTx/>
              <a:buFontTx/>
              <a:buNone/>
              <a:tabLst/>
              <a:defRPr/>
            </a:pPr>
            <a:r>
              <a:rPr kumimoji="0" lang="en-GB" sz="2400" b="0" i="0" u="none" strike="noStrike" kern="1200" cap="none" spc="0" normalizeH="0" baseline="0" noProof="0" dirty="0">
                <a:ln>
                  <a:noFill/>
                </a:ln>
                <a:solidFill>
                  <a:srgbClr val="000000"/>
                </a:solidFill>
                <a:effectLst/>
                <a:uLnTx/>
                <a:uFillTx/>
                <a:latin typeface="Calibri" panose="020F0502020204030204"/>
                <a:ea typeface="+mn-ea"/>
                <a:cs typeface="+mn-cs"/>
              </a:rPr>
              <a:t>        Thread thread2 = new Thread(new </a:t>
            </a:r>
            <a:r>
              <a:rPr kumimoji="0" lang="en-GB" sz="2400" b="0" i="0" u="none" strike="noStrike" kern="1200" cap="none" spc="0" normalizeH="0" baseline="0" noProof="0" dirty="0" err="1">
                <a:ln>
                  <a:noFill/>
                </a:ln>
                <a:solidFill>
                  <a:srgbClr val="000000"/>
                </a:solidFill>
                <a:effectLst/>
                <a:uLnTx/>
                <a:uFillTx/>
                <a:latin typeface="Calibri" panose="020F0502020204030204"/>
                <a:ea typeface="+mn-ea"/>
                <a:cs typeface="+mn-cs"/>
              </a:rPr>
              <a:t>CounterThread</a:t>
            </a:r>
            <a:r>
              <a:rPr kumimoji="0" lang="en-GB" sz="2400" b="0" i="0" u="none" strike="noStrike" kern="1200" cap="none" spc="0" normalizeH="0" baseline="0" noProof="0" dirty="0">
                <a:ln>
                  <a:noFill/>
                </a:ln>
                <a:solidFill>
                  <a:srgbClr val="000000"/>
                </a:solidFill>
                <a:effectLst/>
                <a:uLnTx/>
                <a:uFillTx/>
                <a:latin typeface="Calibri" panose="020F0502020204030204"/>
                <a:ea typeface="+mn-ea"/>
                <a:cs typeface="+mn-cs"/>
              </a:rPr>
              <a:t>(</a:t>
            </a:r>
            <a:r>
              <a:rPr kumimoji="0" lang="en-GB" sz="2400" b="0" i="0" u="none" strike="noStrike" kern="1200" cap="none" spc="0" normalizeH="0" baseline="0" noProof="0" dirty="0" err="1">
                <a:ln>
                  <a:noFill/>
                </a:ln>
                <a:solidFill>
                  <a:srgbClr val="000000"/>
                </a:solidFill>
                <a:effectLst/>
                <a:uLnTx/>
                <a:uFillTx/>
                <a:latin typeface="Calibri" panose="020F0502020204030204"/>
                <a:ea typeface="+mn-ea"/>
                <a:cs typeface="+mn-cs"/>
              </a:rPr>
              <a:t>sc</a:t>
            </a:r>
            <a:r>
              <a:rPr kumimoji="0" lang="en-GB" sz="2400" b="0" i="0" u="none" strike="noStrike" kern="1200" cap="none" spc="0" normalizeH="0" baseline="0" noProof="0" dirty="0">
                <a:ln>
                  <a:noFill/>
                </a:ln>
                <a:solidFill>
                  <a:srgbClr val="000000"/>
                </a:solidFill>
                <a:effectLst/>
                <a:uLnTx/>
                <a:uFillTx/>
                <a:latin typeface="Calibri" panose="020F0502020204030204"/>
                <a:ea typeface="+mn-ea"/>
                <a:cs typeface="+mn-cs"/>
              </a:rPr>
              <a:t>));</a:t>
            </a:r>
            <a:br>
              <a:rPr kumimoji="0" lang="en-GB" sz="2400" b="0" i="0" u="none" strike="noStrike" kern="1200" cap="none" spc="0" normalizeH="0" baseline="0" noProof="0" dirty="0">
                <a:ln>
                  <a:noFill/>
                </a:ln>
                <a:solidFill>
                  <a:srgbClr val="000000"/>
                </a:solidFill>
                <a:effectLst/>
                <a:uLnTx/>
                <a:uFillTx/>
                <a:latin typeface="Calibri" panose="020F0502020204030204"/>
                <a:ea typeface="+mn-ea"/>
                <a:cs typeface="+mn-cs"/>
              </a:rPr>
            </a:br>
            <a:r>
              <a:rPr kumimoji="0" lang="en-GB" sz="2400" b="0" i="0" u="none" strike="noStrike" kern="1200" cap="none" spc="0" normalizeH="0" baseline="0" noProof="0" dirty="0">
                <a:ln>
                  <a:noFill/>
                </a:ln>
                <a:solidFill>
                  <a:srgbClr val="000000"/>
                </a:solidFill>
                <a:effectLst/>
                <a:uLnTx/>
                <a:uFillTx/>
                <a:latin typeface="Calibri" panose="020F0502020204030204"/>
                <a:ea typeface="+mn-ea"/>
                <a:cs typeface="+mn-cs"/>
              </a:rPr>
              <a:t>        thread1.start(); thread2.start();</a:t>
            </a:r>
          </a:p>
          <a:p>
            <a:pPr marL="0" marR="0" lvl="0" indent="0" algn="l" defTabSz="457200" rtl="0" eaLnBrk="1" fontAlgn="auto" latinLnBrk="0" hangingPunct="1">
              <a:lnSpc>
                <a:spcPct val="100000"/>
              </a:lnSpc>
              <a:spcBef>
                <a:spcPts val="0"/>
              </a:spcBef>
              <a:spcAft>
                <a:spcPts val="0"/>
              </a:spcAft>
              <a:buClrTx/>
              <a:buSzTx/>
              <a:buFontTx/>
              <a:buNone/>
              <a:tabLst/>
              <a:defRPr/>
            </a:pPr>
            <a:r>
              <a:rPr kumimoji="0" lang="en-GB" sz="2400" b="0" i="0" u="none" strike="noStrike" kern="1200" cap="none" spc="0" normalizeH="0" baseline="0" noProof="0" dirty="0">
                <a:ln>
                  <a:noFill/>
                </a:ln>
                <a:solidFill>
                  <a:srgbClr val="000000"/>
                </a:solidFill>
                <a:effectLst/>
                <a:uLnTx/>
                <a:uFillTx/>
                <a:latin typeface="Calibri" panose="020F0502020204030204"/>
                <a:ea typeface="+mn-ea"/>
                <a:cs typeface="+mn-cs"/>
              </a:rPr>
              <a:t>        thread1.join(); thread2.join();</a:t>
            </a:r>
          </a:p>
          <a:p>
            <a:pPr marL="0" marR="0" lvl="0" indent="0" algn="l" defTabSz="457200" rtl="0" eaLnBrk="1" fontAlgn="auto" latinLnBrk="0" hangingPunct="1">
              <a:lnSpc>
                <a:spcPct val="100000"/>
              </a:lnSpc>
              <a:spcBef>
                <a:spcPts val="0"/>
              </a:spcBef>
              <a:spcAft>
                <a:spcPts val="0"/>
              </a:spcAft>
              <a:buClrTx/>
              <a:buSzTx/>
              <a:buFontTx/>
              <a:buNone/>
              <a:tabLst/>
              <a:defRPr/>
            </a:pPr>
            <a:r>
              <a:rPr kumimoji="0" lang="en-GB" sz="2400" b="0" i="0" u="none" strike="noStrike" kern="1200" cap="none" spc="0" normalizeH="0" baseline="0" noProof="0" dirty="0">
                <a:ln>
                  <a:noFill/>
                </a:ln>
                <a:solidFill>
                  <a:srgbClr val="000000"/>
                </a:solidFill>
                <a:effectLst/>
                <a:uLnTx/>
                <a:uFillTx/>
                <a:latin typeface="Calibri" panose="020F0502020204030204"/>
                <a:ea typeface="+mn-ea"/>
                <a:cs typeface="+mn-cs"/>
              </a:rPr>
              <a:t>    }</a:t>
            </a:r>
          </a:p>
          <a:p>
            <a:pPr marL="0" marR="0" lvl="0" indent="0" algn="l" defTabSz="457200" rtl="0" eaLnBrk="1" fontAlgn="auto" latinLnBrk="0" hangingPunct="1">
              <a:lnSpc>
                <a:spcPct val="100000"/>
              </a:lnSpc>
              <a:spcBef>
                <a:spcPts val="0"/>
              </a:spcBef>
              <a:spcAft>
                <a:spcPts val="0"/>
              </a:spcAft>
              <a:buClrTx/>
              <a:buSzTx/>
              <a:buFontTx/>
              <a:buNone/>
              <a:tabLst/>
              <a:defRPr/>
            </a:pPr>
            <a:r>
              <a:rPr kumimoji="0" lang="en-GB" sz="2400" b="0" i="0" u="none" strike="noStrike" kern="1200" cap="none" spc="0" normalizeH="0" baseline="0" noProof="0" dirty="0">
                <a:ln>
                  <a:noFill/>
                </a:ln>
                <a:solidFill>
                  <a:srgbClr val="000000"/>
                </a:solidFill>
                <a:effectLst/>
                <a:uLnTx/>
                <a:uFillTx/>
                <a:latin typeface="Calibri" panose="020F0502020204030204"/>
                <a:ea typeface="+mn-ea"/>
                <a:cs typeface="+mn-cs"/>
              </a:rPr>
              <a:t>}</a:t>
            </a:r>
          </a:p>
        </p:txBody>
      </p:sp>
      <p:graphicFrame>
        <p:nvGraphicFramePr>
          <p:cNvPr id="2" name="Object 1">
            <a:extLst>
              <a:ext uri="{FF2B5EF4-FFF2-40B4-BE49-F238E27FC236}">
                <a16:creationId xmlns:a16="http://schemas.microsoft.com/office/drawing/2014/main" id="{47CCC693-A273-4616-9BA2-E1C8DCAC9B5F}"/>
              </a:ext>
            </a:extLst>
          </p:cNvPr>
          <p:cNvGraphicFramePr>
            <a:graphicFrameLocks noChangeAspect="1"/>
          </p:cNvGraphicFramePr>
          <p:nvPr/>
        </p:nvGraphicFramePr>
        <p:xfrm>
          <a:off x="5948680" y="3876040"/>
          <a:ext cx="3317240" cy="2548611"/>
        </p:xfrm>
        <a:graphic>
          <a:graphicData uri="http://schemas.openxmlformats.org/presentationml/2006/ole">
            <mc:AlternateContent xmlns:mc="http://schemas.openxmlformats.org/markup-compatibility/2006">
              <mc:Choice xmlns:v="urn:schemas-microsoft-com:vml" Requires="v">
                <p:oleObj name="Bitmap Image" r:id="rId2" imgW="2082960" imgH="1600200" progId="Paint.Picture">
                  <p:embed/>
                </p:oleObj>
              </mc:Choice>
              <mc:Fallback>
                <p:oleObj name="Bitmap Image" r:id="rId2" imgW="2082960" imgH="1600200" progId="Paint.Picture">
                  <p:embed/>
                  <p:pic>
                    <p:nvPicPr>
                      <p:cNvPr id="2" name="Object 1">
                        <a:extLst>
                          <a:ext uri="{FF2B5EF4-FFF2-40B4-BE49-F238E27FC236}">
                            <a16:creationId xmlns:a16="http://schemas.microsoft.com/office/drawing/2014/main" id="{47CCC693-A273-4616-9BA2-E1C8DCAC9B5F}"/>
                          </a:ext>
                        </a:extLst>
                      </p:cNvPr>
                      <p:cNvPicPr/>
                      <p:nvPr/>
                    </p:nvPicPr>
                    <p:blipFill>
                      <a:blip r:embed="rId3"/>
                      <a:stretch>
                        <a:fillRect/>
                      </a:stretch>
                    </p:blipFill>
                    <p:spPr>
                      <a:xfrm>
                        <a:off x="5948680" y="3876040"/>
                        <a:ext cx="3317240" cy="2548611"/>
                      </a:xfrm>
                      <a:prstGeom prst="rect">
                        <a:avLst/>
                      </a:prstGeom>
                    </p:spPr>
                  </p:pic>
                </p:oleObj>
              </mc:Fallback>
            </mc:AlternateContent>
          </a:graphicData>
        </a:graphic>
      </p:graphicFrame>
      <p:sp>
        <p:nvSpPr>
          <p:cNvPr id="3" name="TextBox 2">
            <a:extLst>
              <a:ext uri="{FF2B5EF4-FFF2-40B4-BE49-F238E27FC236}">
                <a16:creationId xmlns:a16="http://schemas.microsoft.com/office/drawing/2014/main" id="{EB756581-04BC-8E41-90D3-9B9F3C164A96}"/>
              </a:ext>
            </a:extLst>
          </p:cNvPr>
          <p:cNvSpPr txBox="1"/>
          <p:nvPr/>
        </p:nvSpPr>
        <p:spPr>
          <a:xfrm>
            <a:off x="8737600" y="2540000"/>
            <a:ext cx="2306016" cy="461665"/>
          </a:xfrm>
          <a:prstGeom prst="rect">
            <a:avLst/>
          </a:prstGeom>
          <a:ln>
            <a:solidFill>
              <a:schemeClr val="tx1"/>
            </a:solidFill>
          </a:ln>
        </p:spPr>
        <p:style>
          <a:lnRef idx="2">
            <a:schemeClr val="accent1"/>
          </a:lnRef>
          <a:fillRef idx="1">
            <a:schemeClr val="lt1"/>
          </a:fillRef>
          <a:effectRef idx="0">
            <a:schemeClr val="accent1"/>
          </a:effectRef>
          <a:fontRef idx="minor">
            <a:schemeClr val="dk1"/>
          </a:fontRef>
        </p:style>
        <p:txBody>
          <a:bodyPr wrap="none" rtlCol="0">
            <a:spAutoFit/>
          </a:bodyPr>
          <a:lstStyle/>
          <a:p>
            <a:r>
              <a:rPr lang="en-US" sz="2400" dirty="0" err="1"/>
              <a:t>lacatul</a:t>
            </a:r>
            <a:r>
              <a:rPr lang="en-US" sz="2400" dirty="0"/>
              <a:t> </a:t>
            </a:r>
            <a:r>
              <a:rPr lang="en-US" sz="2400" dirty="0" err="1"/>
              <a:t>este</a:t>
            </a:r>
            <a:r>
              <a:rPr lang="en-US" sz="2400" dirty="0"/>
              <a:t> pe </a:t>
            </a:r>
            <a:r>
              <a:rPr lang="en-US" sz="2400" dirty="0" err="1">
                <a:highlight>
                  <a:srgbClr val="00FF00"/>
                </a:highlight>
              </a:rPr>
              <a:t>sc</a:t>
            </a:r>
            <a:endParaRPr lang="en-GB" sz="2400" dirty="0">
              <a:highlight>
                <a:srgbClr val="00FF00"/>
              </a:highlight>
            </a:endParaRPr>
          </a:p>
        </p:txBody>
      </p:sp>
    </p:spTree>
    <p:extLst>
      <p:ext uri="{BB962C8B-B14F-4D97-AF65-F5344CB8AC3E}">
        <p14:creationId xmlns:p14="http://schemas.microsoft.com/office/powerpoint/2010/main" val="223860654"/>
      </p:ext>
    </p:extLst>
  </p:cSld>
  <p:clrMapOvr>
    <a:masterClrMapping/>
  </p:clrMapOvr>
</p:sld>
</file>

<file path=ppt/slides/slide4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 name="TextBox 4"/>
          <p:cNvSpPr txBox="1"/>
          <p:nvPr/>
        </p:nvSpPr>
        <p:spPr>
          <a:xfrm>
            <a:off x="475735" y="55606"/>
            <a:ext cx="2962414" cy="830997"/>
          </a:xfrm>
          <a:prstGeom prst="rect">
            <a:avLst/>
          </a:prstGeom>
          <a:noFill/>
        </p:spPr>
        <p:txBody>
          <a:bodyPr wrap="none" rtlCol="0">
            <a:spAutoFit/>
          </a:bodyPr>
          <a:lstStyle/>
          <a:p>
            <a:pPr marL="342900" indent="-342900">
              <a:buFont typeface="Wingdings" panose="05000000000000000000" pitchFamily="2" charset="2"/>
              <a:buChar char="Ø"/>
            </a:pPr>
            <a:r>
              <a:rPr lang="en-US" sz="2400" dirty="0" err="1"/>
              <a:t>Blocuri</a:t>
            </a:r>
            <a:r>
              <a:rPr lang="en-US" sz="2400" dirty="0"/>
              <a:t> </a:t>
            </a:r>
            <a:r>
              <a:rPr lang="en-US" sz="2400" dirty="0" err="1"/>
              <a:t>sincronizate</a:t>
            </a:r>
            <a:endParaRPr lang="en-US" sz="2400" dirty="0"/>
          </a:p>
          <a:p>
            <a:pPr marL="342900" indent="-342900">
              <a:buFont typeface="Wingdings" panose="05000000000000000000" pitchFamily="2" charset="2"/>
              <a:buChar char="Ø"/>
            </a:pPr>
            <a:endParaRPr lang="en-US" sz="2400" dirty="0"/>
          </a:p>
        </p:txBody>
      </p:sp>
      <p:sp>
        <p:nvSpPr>
          <p:cNvPr id="7" name="TextBox 6">
            <a:extLst>
              <a:ext uri="{FF2B5EF4-FFF2-40B4-BE49-F238E27FC236}">
                <a16:creationId xmlns:a16="http://schemas.microsoft.com/office/drawing/2014/main" id="{150A6BAD-1A97-434B-8CFA-1C9818525528}"/>
              </a:ext>
            </a:extLst>
          </p:cNvPr>
          <p:cNvSpPr txBox="1"/>
          <p:nvPr/>
        </p:nvSpPr>
        <p:spPr>
          <a:xfrm>
            <a:off x="475735" y="774154"/>
            <a:ext cx="8834120" cy="1631216"/>
          </a:xfrm>
          <a:prstGeom prst="rect">
            <a:avLst/>
          </a:prstGeom>
          <a:noFill/>
          <a:ln w="38100">
            <a:solidFill>
              <a:srgbClr val="00B050"/>
            </a:solidFill>
          </a:ln>
        </p:spPr>
        <p:txBody>
          <a:bodyPr wrap="square">
            <a:spAutoFit/>
          </a:bodyPr>
          <a:lstStyle/>
          <a:p>
            <a:r>
              <a:rPr lang="en-GB" sz="2000" dirty="0"/>
              <a:t>class </a:t>
            </a:r>
            <a:r>
              <a:rPr lang="en-GB" sz="2000" dirty="0" err="1"/>
              <a:t>CounterThread</a:t>
            </a:r>
            <a:r>
              <a:rPr lang="en-GB" sz="2000" dirty="0"/>
              <a:t> implements Runnable {</a:t>
            </a:r>
          </a:p>
          <a:p>
            <a:r>
              <a:rPr lang="en-GB" sz="2000" dirty="0"/>
              <a:t>    </a:t>
            </a:r>
            <a:r>
              <a:rPr lang="en-GB" sz="2000" dirty="0" err="1"/>
              <a:t>SCounter</a:t>
            </a:r>
            <a:r>
              <a:rPr lang="en-GB" sz="2000" dirty="0"/>
              <a:t> </a:t>
            </a:r>
            <a:r>
              <a:rPr lang="en-GB" sz="2000" dirty="0" err="1"/>
              <a:t>scounter</a:t>
            </a:r>
            <a:r>
              <a:rPr lang="en-GB" sz="2000" dirty="0"/>
              <a:t>;</a:t>
            </a:r>
          </a:p>
          <a:p>
            <a:r>
              <a:rPr lang="en-GB" sz="2000" dirty="0"/>
              <a:t>    </a:t>
            </a:r>
            <a:r>
              <a:rPr lang="en-GB" sz="2000" dirty="0" err="1"/>
              <a:t>CounterThread</a:t>
            </a:r>
            <a:r>
              <a:rPr lang="en-GB" sz="2000" dirty="0"/>
              <a:t> (</a:t>
            </a:r>
            <a:r>
              <a:rPr lang="en-GB" sz="2000" dirty="0" err="1"/>
              <a:t>SCounter</a:t>
            </a:r>
            <a:r>
              <a:rPr lang="en-GB" sz="2000" dirty="0"/>
              <a:t> </a:t>
            </a:r>
            <a:r>
              <a:rPr lang="en-GB" sz="2000" dirty="0" err="1"/>
              <a:t>scounter</a:t>
            </a:r>
            <a:r>
              <a:rPr lang="en-GB" sz="2000" dirty="0"/>
              <a:t>) {</a:t>
            </a:r>
            <a:r>
              <a:rPr lang="en-GB" sz="2000" dirty="0" err="1"/>
              <a:t>this.scounter</a:t>
            </a:r>
            <a:r>
              <a:rPr lang="en-GB" sz="2000" dirty="0"/>
              <a:t>=</a:t>
            </a:r>
            <a:r>
              <a:rPr lang="en-GB" sz="2000" dirty="0" err="1"/>
              <a:t>scounter</a:t>
            </a:r>
            <a:r>
              <a:rPr lang="en-GB" sz="2000" dirty="0"/>
              <a:t>;}</a:t>
            </a:r>
          </a:p>
          <a:p>
            <a:r>
              <a:rPr lang="en-GB" sz="2000" dirty="0"/>
              <a:t>        public void run () {}</a:t>
            </a:r>
          </a:p>
          <a:p>
            <a:r>
              <a:rPr lang="en-GB" sz="2000" dirty="0"/>
              <a:t>}</a:t>
            </a:r>
          </a:p>
        </p:txBody>
      </p:sp>
      <p:sp>
        <p:nvSpPr>
          <p:cNvPr id="3" name="TextBox 2">
            <a:extLst>
              <a:ext uri="{FF2B5EF4-FFF2-40B4-BE49-F238E27FC236}">
                <a16:creationId xmlns:a16="http://schemas.microsoft.com/office/drawing/2014/main" id="{9A245770-E6C4-2062-29A0-22372AF57ECF}"/>
              </a:ext>
            </a:extLst>
          </p:cNvPr>
          <p:cNvSpPr txBox="1"/>
          <p:nvPr/>
        </p:nvSpPr>
        <p:spPr>
          <a:xfrm>
            <a:off x="1503680" y="2084834"/>
            <a:ext cx="9591040" cy="4154984"/>
          </a:xfrm>
          <a:prstGeom prst="rect">
            <a:avLst/>
          </a:prstGeom>
          <a:ln w="38100">
            <a:solidFill>
              <a:srgbClr val="00B050"/>
            </a:solidFill>
          </a:ln>
        </p:spPr>
        <p:style>
          <a:lnRef idx="2">
            <a:schemeClr val="dk1"/>
          </a:lnRef>
          <a:fillRef idx="1">
            <a:schemeClr val="lt1"/>
          </a:fillRef>
          <a:effectRef idx="0">
            <a:schemeClr val="dk1"/>
          </a:effectRef>
          <a:fontRef idx="minor">
            <a:schemeClr val="dk1"/>
          </a:fontRef>
        </p:style>
        <p:txBody>
          <a:bodyPr wrap="square" rtlCol="0">
            <a:spAutoFit/>
          </a:bodyPr>
          <a:lstStyle/>
          <a:p>
            <a:r>
              <a:rPr lang="en-GB" sz="2400" dirty="0">
                <a:solidFill>
                  <a:schemeClr val="tx1"/>
                </a:solidFill>
              </a:rPr>
              <a:t> class </a:t>
            </a:r>
            <a:r>
              <a:rPr lang="en-GB" sz="2400" dirty="0" err="1">
                <a:solidFill>
                  <a:schemeClr val="tx1"/>
                </a:solidFill>
              </a:rPr>
              <a:t>SCounter</a:t>
            </a:r>
            <a:r>
              <a:rPr lang="en-GB" sz="2400" dirty="0">
                <a:solidFill>
                  <a:schemeClr val="tx1"/>
                </a:solidFill>
              </a:rPr>
              <a:t>{</a:t>
            </a:r>
          </a:p>
          <a:p>
            <a:r>
              <a:rPr lang="en-GB" sz="2400" dirty="0">
                <a:solidFill>
                  <a:schemeClr val="tx1"/>
                </a:solidFill>
              </a:rPr>
              <a:t> private  int </a:t>
            </a:r>
            <a:r>
              <a:rPr lang="en-GB" sz="2400" dirty="0" err="1">
                <a:solidFill>
                  <a:schemeClr val="tx1"/>
                </a:solidFill>
              </a:rPr>
              <a:t>scounter</a:t>
            </a:r>
            <a:r>
              <a:rPr lang="en-GB" sz="2400" dirty="0">
                <a:solidFill>
                  <a:schemeClr val="tx1"/>
                </a:solidFill>
              </a:rPr>
              <a:t> = 0;</a:t>
            </a:r>
          </a:p>
          <a:p>
            <a:r>
              <a:rPr lang="en-GB" sz="2400" dirty="0">
                <a:solidFill>
                  <a:schemeClr val="tx1"/>
                </a:solidFill>
              </a:rPr>
              <a:t> private Object </a:t>
            </a:r>
            <a:r>
              <a:rPr lang="en-GB" sz="2400" b="1" dirty="0" err="1">
                <a:solidFill>
                  <a:schemeClr val="tx1"/>
                </a:solidFill>
              </a:rPr>
              <a:t>counter_lock</a:t>
            </a:r>
            <a:r>
              <a:rPr lang="en-GB" sz="2400" b="1" dirty="0">
                <a:solidFill>
                  <a:schemeClr val="tx1"/>
                </a:solidFill>
              </a:rPr>
              <a:t> </a:t>
            </a:r>
            <a:r>
              <a:rPr lang="en-GB" sz="2400" dirty="0">
                <a:solidFill>
                  <a:schemeClr val="tx1"/>
                </a:solidFill>
              </a:rPr>
              <a:t>= new Object();</a:t>
            </a:r>
          </a:p>
          <a:p>
            <a:r>
              <a:rPr lang="en-GB" sz="2400" dirty="0">
                <a:solidFill>
                  <a:schemeClr val="tx1"/>
                </a:solidFill>
              </a:rPr>
              <a:t>   </a:t>
            </a:r>
          </a:p>
          <a:p>
            <a:r>
              <a:rPr lang="en-GB" sz="2400" dirty="0">
                <a:solidFill>
                  <a:schemeClr val="tx1"/>
                </a:solidFill>
              </a:rPr>
              <a:t> public  void </a:t>
            </a:r>
            <a:r>
              <a:rPr lang="en-GB" sz="2400" dirty="0" err="1">
                <a:solidFill>
                  <a:schemeClr val="tx1"/>
                </a:solidFill>
              </a:rPr>
              <a:t>performTask</a:t>
            </a:r>
            <a:r>
              <a:rPr lang="en-GB" sz="2400" dirty="0">
                <a:solidFill>
                  <a:schemeClr val="tx1"/>
                </a:solidFill>
              </a:rPr>
              <a:t> () {</a:t>
            </a:r>
          </a:p>
          <a:p>
            <a:r>
              <a:rPr lang="en-GB" sz="2400" dirty="0">
                <a:solidFill>
                  <a:schemeClr val="tx1"/>
                </a:solidFill>
              </a:rPr>
              <a:t>      </a:t>
            </a:r>
            <a:r>
              <a:rPr lang="en-GB" sz="2400" dirty="0">
                <a:solidFill>
                  <a:schemeClr val="tx1"/>
                </a:solidFill>
                <a:highlight>
                  <a:srgbClr val="00FF00"/>
                </a:highlight>
              </a:rPr>
              <a:t>synchronized (</a:t>
            </a:r>
            <a:r>
              <a:rPr lang="en-GB" sz="2400" b="1" dirty="0" err="1">
                <a:solidFill>
                  <a:schemeClr val="tx1"/>
                </a:solidFill>
                <a:highlight>
                  <a:srgbClr val="00FF00"/>
                </a:highlight>
              </a:rPr>
              <a:t>counter_lock</a:t>
            </a:r>
            <a:r>
              <a:rPr lang="en-GB" sz="2400" dirty="0">
                <a:solidFill>
                  <a:schemeClr val="tx1"/>
                </a:solidFill>
                <a:highlight>
                  <a:srgbClr val="00FF00"/>
                </a:highlight>
              </a:rPr>
              <a:t>)</a:t>
            </a:r>
            <a:r>
              <a:rPr lang="en-GB" sz="2400" dirty="0">
                <a:solidFill>
                  <a:schemeClr val="tx1"/>
                </a:solidFill>
              </a:rPr>
              <a:t>{</a:t>
            </a:r>
          </a:p>
          <a:p>
            <a:r>
              <a:rPr lang="en-GB" sz="2400" dirty="0">
                <a:solidFill>
                  <a:schemeClr val="tx1"/>
                </a:solidFill>
              </a:rPr>
              <a:t>        int temp = </a:t>
            </a:r>
            <a:r>
              <a:rPr lang="en-GB" sz="2400" dirty="0" err="1">
                <a:solidFill>
                  <a:schemeClr val="tx1"/>
                </a:solidFill>
              </a:rPr>
              <a:t>scounter</a:t>
            </a:r>
            <a:r>
              <a:rPr lang="en-GB" sz="2400" dirty="0">
                <a:solidFill>
                  <a:schemeClr val="tx1"/>
                </a:solidFill>
              </a:rPr>
              <a:t>;</a:t>
            </a:r>
          </a:p>
          <a:p>
            <a:r>
              <a:rPr lang="en-GB" sz="2400" dirty="0">
                <a:solidFill>
                  <a:schemeClr val="tx1"/>
                </a:solidFill>
              </a:rPr>
              <a:t>        </a:t>
            </a:r>
            <a:r>
              <a:rPr lang="en-GB" sz="2400" dirty="0" err="1">
                <a:solidFill>
                  <a:schemeClr val="tx1"/>
                </a:solidFill>
              </a:rPr>
              <a:t>scounter</a:t>
            </a:r>
            <a:r>
              <a:rPr lang="en-GB" sz="2400" dirty="0">
                <a:solidFill>
                  <a:schemeClr val="tx1"/>
                </a:solidFill>
              </a:rPr>
              <a:t>++;</a:t>
            </a:r>
          </a:p>
          <a:p>
            <a:r>
              <a:rPr lang="en-GB" sz="2400" dirty="0">
                <a:solidFill>
                  <a:schemeClr val="tx1"/>
                </a:solidFill>
              </a:rPr>
              <a:t>        </a:t>
            </a:r>
            <a:r>
              <a:rPr lang="en-GB" sz="2400" dirty="0" err="1">
                <a:solidFill>
                  <a:schemeClr val="tx1"/>
                </a:solidFill>
              </a:rPr>
              <a:t>System.out.println</a:t>
            </a:r>
            <a:r>
              <a:rPr lang="en-GB" sz="2400" dirty="0">
                <a:solidFill>
                  <a:schemeClr val="tx1"/>
                </a:solidFill>
              </a:rPr>
              <a:t>(</a:t>
            </a:r>
            <a:r>
              <a:rPr lang="en-GB" sz="2400" dirty="0" err="1">
                <a:solidFill>
                  <a:schemeClr val="tx1"/>
                </a:solidFill>
              </a:rPr>
              <a:t>Thread.currentThread</a:t>
            </a:r>
            <a:r>
              <a:rPr lang="en-GB" sz="2400" dirty="0">
                <a:solidFill>
                  <a:schemeClr val="tx1"/>
                </a:solidFill>
              </a:rPr>
              <a:t>()</a:t>
            </a:r>
          </a:p>
          <a:p>
            <a:r>
              <a:rPr lang="en-GB" sz="2400" dirty="0">
                <a:solidFill>
                  <a:schemeClr val="tx1"/>
                </a:solidFill>
              </a:rPr>
              <a:t>                                 .</a:t>
            </a:r>
            <a:r>
              <a:rPr lang="en-GB" sz="2400" dirty="0" err="1">
                <a:solidFill>
                  <a:schemeClr val="tx1"/>
                </a:solidFill>
              </a:rPr>
              <a:t>getName</a:t>
            </a:r>
            <a:r>
              <a:rPr lang="en-GB" sz="2400" dirty="0">
                <a:solidFill>
                  <a:schemeClr val="tx1"/>
                </a:solidFill>
              </a:rPr>
              <a:t>() + " - before: "+temp+" after:" + </a:t>
            </a:r>
            <a:r>
              <a:rPr lang="en-GB" sz="2400" dirty="0" err="1">
                <a:solidFill>
                  <a:schemeClr val="tx1"/>
                </a:solidFill>
              </a:rPr>
              <a:t>scounter</a:t>
            </a:r>
            <a:r>
              <a:rPr lang="en-GB" sz="2400" dirty="0">
                <a:solidFill>
                  <a:schemeClr val="tx1"/>
                </a:solidFill>
              </a:rPr>
              <a:t>);</a:t>
            </a:r>
          </a:p>
          <a:p>
            <a:r>
              <a:rPr lang="en-GB" sz="2400" dirty="0">
                <a:solidFill>
                  <a:schemeClr val="tx1"/>
                </a:solidFill>
              </a:rPr>
              <a:t>    }}}</a:t>
            </a:r>
          </a:p>
        </p:txBody>
      </p:sp>
      <p:sp>
        <p:nvSpPr>
          <p:cNvPr id="4" name="TextBox 3">
            <a:extLst>
              <a:ext uri="{FF2B5EF4-FFF2-40B4-BE49-F238E27FC236}">
                <a16:creationId xmlns:a16="http://schemas.microsoft.com/office/drawing/2014/main" id="{3E4EC30B-DEC1-11C9-317D-8EC1861DEB4A}"/>
              </a:ext>
            </a:extLst>
          </p:cNvPr>
          <p:cNvSpPr txBox="1"/>
          <p:nvPr/>
        </p:nvSpPr>
        <p:spPr>
          <a:xfrm>
            <a:off x="7975600" y="3626695"/>
            <a:ext cx="3806568" cy="461665"/>
          </a:xfrm>
          <a:prstGeom prst="rect">
            <a:avLst/>
          </a:prstGeom>
        </p:spPr>
        <p:style>
          <a:lnRef idx="2">
            <a:schemeClr val="dk1"/>
          </a:lnRef>
          <a:fillRef idx="1">
            <a:schemeClr val="lt1"/>
          </a:fillRef>
          <a:effectRef idx="0">
            <a:schemeClr val="dk1"/>
          </a:effectRef>
          <a:fontRef idx="minor">
            <a:schemeClr val="dk1"/>
          </a:fontRef>
        </p:style>
        <p:txBody>
          <a:bodyPr wrap="square">
            <a:spAutoFit/>
          </a:bodyPr>
          <a:lstStyle/>
          <a:p>
            <a:pPr marL="0" marR="0" lvl="0" indent="0" algn="l" defTabSz="457200" rtl="0" eaLnBrk="1" fontAlgn="auto" latinLnBrk="0" hangingPunct="1">
              <a:lnSpc>
                <a:spcPct val="100000"/>
              </a:lnSpc>
              <a:spcBef>
                <a:spcPts val="0"/>
              </a:spcBef>
              <a:spcAft>
                <a:spcPts val="0"/>
              </a:spcAft>
              <a:buClrTx/>
              <a:buSzTx/>
              <a:buFontTx/>
              <a:buNone/>
              <a:tabLst/>
              <a:defRPr/>
            </a:pPr>
            <a:r>
              <a:rPr kumimoji="0" lang="en-US" sz="2400" b="0" i="0" u="none" strike="noStrike" kern="1200" cap="none" spc="0" normalizeH="0" baseline="0" noProof="0" dirty="0" err="1">
                <a:ln>
                  <a:noFill/>
                </a:ln>
                <a:solidFill>
                  <a:srgbClr val="000000"/>
                </a:solidFill>
                <a:effectLst/>
                <a:uLnTx/>
                <a:uFillTx/>
                <a:latin typeface="Calibri" panose="020F0502020204030204"/>
                <a:ea typeface="+mn-ea"/>
                <a:cs typeface="+mn-cs"/>
              </a:rPr>
              <a:t>lacatul</a:t>
            </a:r>
            <a:r>
              <a:rPr kumimoji="0" lang="en-US" sz="2400" b="0" i="0" u="none" strike="noStrike" kern="1200" cap="none" spc="0" normalizeH="0" baseline="0" noProof="0" dirty="0">
                <a:ln>
                  <a:noFill/>
                </a:ln>
                <a:solidFill>
                  <a:srgbClr val="000000"/>
                </a:solidFill>
                <a:effectLst/>
                <a:uLnTx/>
                <a:uFillTx/>
                <a:latin typeface="Calibri" panose="020F0502020204030204"/>
                <a:ea typeface="+mn-ea"/>
                <a:cs typeface="+mn-cs"/>
              </a:rPr>
              <a:t> </a:t>
            </a:r>
            <a:r>
              <a:rPr kumimoji="0" lang="en-US" sz="2400" b="0" i="0" u="none" strike="noStrike" kern="1200" cap="none" spc="0" normalizeH="0" baseline="0" noProof="0" dirty="0" err="1">
                <a:ln>
                  <a:noFill/>
                </a:ln>
                <a:solidFill>
                  <a:srgbClr val="000000"/>
                </a:solidFill>
                <a:effectLst/>
                <a:uLnTx/>
                <a:uFillTx/>
                <a:latin typeface="Calibri" panose="020F0502020204030204"/>
                <a:ea typeface="+mn-ea"/>
                <a:cs typeface="+mn-cs"/>
              </a:rPr>
              <a:t>este</a:t>
            </a:r>
            <a:r>
              <a:rPr kumimoji="0" lang="en-US" sz="2400" b="0" i="0" u="none" strike="noStrike" kern="1200" cap="none" spc="0" normalizeH="0" baseline="0" noProof="0" dirty="0">
                <a:ln>
                  <a:noFill/>
                </a:ln>
                <a:solidFill>
                  <a:srgbClr val="000000"/>
                </a:solidFill>
                <a:effectLst/>
                <a:uLnTx/>
                <a:uFillTx/>
                <a:latin typeface="Calibri" panose="020F0502020204030204"/>
                <a:ea typeface="+mn-ea"/>
                <a:cs typeface="+mn-cs"/>
              </a:rPr>
              <a:t> pe </a:t>
            </a:r>
            <a:r>
              <a:rPr kumimoji="0" lang="en-US" sz="2400" b="0" i="0" u="none" strike="noStrike" kern="1200" cap="none" spc="0" normalizeH="0" baseline="0" noProof="0" dirty="0" err="1">
                <a:ln>
                  <a:noFill/>
                </a:ln>
                <a:solidFill>
                  <a:srgbClr val="000000"/>
                </a:solidFill>
                <a:effectLst/>
                <a:highlight>
                  <a:srgbClr val="00FF00"/>
                </a:highlight>
                <a:uLnTx/>
                <a:uFillTx/>
                <a:latin typeface="Calibri" panose="020F0502020204030204"/>
                <a:ea typeface="+mn-ea"/>
                <a:cs typeface="+mn-cs"/>
              </a:rPr>
              <a:t>counter_lock</a:t>
            </a:r>
            <a:endParaRPr kumimoji="0" lang="en-GB" sz="2400" b="0" i="0" u="none" strike="noStrike" kern="1200" cap="none" spc="0" normalizeH="0" baseline="0" noProof="0" dirty="0">
              <a:ln>
                <a:noFill/>
              </a:ln>
              <a:solidFill>
                <a:srgbClr val="000000"/>
              </a:solidFill>
              <a:effectLst/>
              <a:highlight>
                <a:srgbClr val="00FF00"/>
              </a:highlight>
              <a:uLnTx/>
              <a:uFillTx/>
              <a:latin typeface="Calibri" panose="020F0502020204030204"/>
              <a:ea typeface="+mn-ea"/>
              <a:cs typeface="+mn-cs"/>
            </a:endParaRPr>
          </a:p>
        </p:txBody>
      </p:sp>
    </p:spTree>
    <p:extLst>
      <p:ext uri="{BB962C8B-B14F-4D97-AF65-F5344CB8AC3E}">
        <p14:creationId xmlns:p14="http://schemas.microsoft.com/office/powerpoint/2010/main" val="231867404"/>
      </p:ext>
    </p:extLst>
  </p:cSld>
  <p:clrMapOvr>
    <a:masterClrMapping/>
  </p:clrMapOvr>
</p:sld>
</file>

<file path=ppt/slides/slide4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extBox 1"/>
          <p:cNvSpPr txBox="1"/>
          <p:nvPr/>
        </p:nvSpPr>
        <p:spPr>
          <a:xfrm>
            <a:off x="575962" y="151180"/>
            <a:ext cx="10152998" cy="1015663"/>
          </a:xfrm>
          <a:prstGeom prst="rect">
            <a:avLst/>
          </a:prstGeom>
          <a:noFill/>
        </p:spPr>
        <p:txBody>
          <a:bodyPr wrap="square" rtlCol="0">
            <a:spAutoFit/>
          </a:bodyPr>
          <a:lstStyle/>
          <a:p>
            <a:pPr marL="342900" indent="-342900">
              <a:buFont typeface="Wingdings" panose="05000000000000000000" pitchFamily="2" charset="2"/>
              <a:buChar char="Ø"/>
            </a:pPr>
            <a:r>
              <a:rPr lang="en-US" sz="2400" b="1" dirty="0" err="1"/>
              <a:t>Mecanismul</a:t>
            </a:r>
            <a:r>
              <a:rPr lang="en-US" sz="2400" b="1" dirty="0"/>
              <a:t> de </a:t>
            </a:r>
            <a:r>
              <a:rPr lang="en-US" sz="2400" b="1" dirty="0" err="1"/>
              <a:t>sincronizarea</a:t>
            </a:r>
            <a:r>
              <a:rPr lang="en-US" sz="2400" b="1" dirty="0"/>
              <a:t> thread-</a:t>
            </a:r>
            <a:r>
              <a:rPr lang="en-US" sz="2400" b="1" dirty="0" err="1"/>
              <a:t>urilor</a:t>
            </a:r>
            <a:r>
              <a:rPr lang="en-US" sz="2400" b="1" dirty="0"/>
              <a:t> </a:t>
            </a:r>
            <a:r>
              <a:rPr lang="en-US" sz="2400" b="1" dirty="0" err="1"/>
              <a:t>prin</a:t>
            </a:r>
            <a:r>
              <a:rPr lang="en-US" sz="2400" b="1" dirty="0"/>
              <a:t> </a:t>
            </a:r>
            <a:r>
              <a:rPr lang="en-US" sz="2400" b="1" dirty="0" err="1"/>
              <a:t>lacatul</a:t>
            </a:r>
            <a:r>
              <a:rPr lang="en-US" sz="2400" b="1" dirty="0"/>
              <a:t> in</a:t>
            </a:r>
            <a:r>
              <a:rPr lang="en-US" sz="2400" dirty="0"/>
              <a:t>tern </a:t>
            </a:r>
          </a:p>
          <a:p>
            <a:endParaRPr lang="en-US" dirty="0"/>
          </a:p>
          <a:p>
            <a:endParaRPr lang="en-US" dirty="0"/>
          </a:p>
        </p:txBody>
      </p:sp>
      <p:sp>
        <p:nvSpPr>
          <p:cNvPr id="4" name="TextBox 3"/>
          <p:cNvSpPr txBox="1"/>
          <p:nvPr/>
        </p:nvSpPr>
        <p:spPr>
          <a:xfrm>
            <a:off x="994500" y="382012"/>
            <a:ext cx="11082521" cy="5786199"/>
          </a:xfrm>
          <a:prstGeom prst="rect">
            <a:avLst/>
          </a:prstGeom>
          <a:noFill/>
        </p:spPr>
        <p:txBody>
          <a:bodyPr wrap="none" rtlCol="0">
            <a:spAutoFit/>
          </a:bodyPr>
          <a:lstStyle/>
          <a:p>
            <a:endParaRPr lang="en-US" dirty="0"/>
          </a:p>
          <a:p>
            <a:pPr marL="285750" indent="-285750">
              <a:buFont typeface="Wingdings" panose="05000000000000000000" pitchFamily="2" charset="2"/>
              <a:buChar char="§"/>
            </a:pPr>
            <a:r>
              <a:rPr lang="en-US" sz="2000" dirty="0" err="1"/>
              <a:t>Orice</a:t>
            </a:r>
            <a:r>
              <a:rPr lang="en-US" sz="2000" dirty="0"/>
              <a:t> </a:t>
            </a:r>
            <a:r>
              <a:rPr lang="en-US" sz="2000" dirty="0" err="1"/>
              <a:t>obiect</a:t>
            </a:r>
            <a:r>
              <a:rPr lang="en-US" sz="2000" dirty="0"/>
              <a:t> din Java are </a:t>
            </a:r>
            <a:r>
              <a:rPr lang="en-US" sz="2000" dirty="0" err="1"/>
              <a:t>asociat</a:t>
            </a:r>
            <a:r>
              <a:rPr lang="en-US" sz="2000" dirty="0"/>
              <a:t> un </a:t>
            </a:r>
            <a:r>
              <a:rPr lang="en-US" sz="2000" dirty="0" err="1"/>
              <a:t>lacat</a:t>
            </a:r>
            <a:r>
              <a:rPr lang="en-US" sz="2000" dirty="0"/>
              <a:t> (monitor).</a:t>
            </a:r>
          </a:p>
          <a:p>
            <a:endParaRPr lang="en-US" sz="2000" dirty="0"/>
          </a:p>
          <a:p>
            <a:pPr marL="285750" indent="-285750">
              <a:buFont typeface="Wingdings" panose="05000000000000000000" pitchFamily="2" charset="2"/>
              <a:buChar char="§"/>
            </a:pPr>
            <a:r>
              <a:rPr lang="en-US" sz="2000" dirty="0"/>
              <a:t>O </a:t>
            </a:r>
            <a:r>
              <a:rPr lang="en-US" sz="2000" dirty="0" err="1"/>
              <a:t>metoda</a:t>
            </a:r>
            <a:r>
              <a:rPr lang="en-US" sz="2000" dirty="0"/>
              <a:t> </a:t>
            </a:r>
            <a:r>
              <a:rPr lang="en-US" sz="2000" dirty="0" err="1"/>
              <a:t>sincronizata</a:t>
            </a:r>
            <a:r>
              <a:rPr lang="en-US" sz="2000" dirty="0"/>
              <a:t>, </a:t>
            </a:r>
            <a:r>
              <a:rPr lang="en-US" sz="2000" dirty="0" err="1"/>
              <a:t>atunci</a:t>
            </a:r>
            <a:r>
              <a:rPr lang="en-US" sz="2000" dirty="0"/>
              <a:t> cand </a:t>
            </a:r>
            <a:r>
              <a:rPr lang="en-US" sz="2000" dirty="0" err="1"/>
              <a:t>este</a:t>
            </a:r>
            <a:r>
              <a:rPr lang="en-US" sz="2000" dirty="0"/>
              <a:t> </a:t>
            </a:r>
            <a:r>
              <a:rPr lang="en-US" sz="2000" dirty="0" err="1"/>
              <a:t>invocata</a:t>
            </a:r>
            <a:r>
              <a:rPr lang="en-US" sz="2000" dirty="0"/>
              <a:t>, </a:t>
            </a:r>
            <a:r>
              <a:rPr lang="en-US" sz="2000" dirty="0" err="1"/>
              <a:t>va</a:t>
            </a:r>
            <a:r>
              <a:rPr lang="en-US" sz="2000" dirty="0"/>
              <a:t> fi </a:t>
            </a:r>
            <a:r>
              <a:rPr lang="en-US" sz="2000" dirty="0" err="1"/>
              <a:t>executata</a:t>
            </a:r>
            <a:r>
              <a:rPr lang="en-US" sz="2000" dirty="0"/>
              <a:t> </a:t>
            </a:r>
            <a:r>
              <a:rPr lang="en-US" sz="2000" dirty="0" err="1"/>
              <a:t>numai</a:t>
            </a:r>
            <a:r>
              <a:rPr lang="en-US" sz="2000" dirty="0"/>
              <a:t> </a:t>
            </a:r>
            <a:r>
              <a:rPr lang="en-US" sz="2000" dirty="0" err="1"/>
              <a:t>daca</a:t>
            </a:r>
            <a:r>
              <a:rPr lang="en-US" sz="2000" dirty="0"/>
              <a:t> </a:t>
            </a:r>
            <a:r>
              <a:rPr lang="en-US" sz="2000" dirty="0" err="1"/>
              <a:t>detine</a:t>
            </a:r>
            <a:r>
              <a:rPr lang="en-US" sz="2000" dirty="0"/>
              <a:t> </a:t>
            </a:r>
            <a:r>
              <a:rPr lang="en-US" sz="2000" dirty="0" err="1"/>
              <a:t>lacatul</a:t>
            </a:r>
            <a:r>
              <a:rPr lang="en-US" sz="2000" dirty="0"/>
              <a:t> </a:t>
            </a:r>
            <a:r>
              <a:rPr lang="en-US" sz="2000" dirty="0" err="1"/>
              <a:t>obiectului</a:t>
            </a:r>
            <a:r>
              <a:rPr lang="en-US" sz="2000" dirty="0"/>
              <a:t>,</a:t>
            </a:r>
          </a:p>
          <a:p>
            <a:r>
              <a:rPr lang="en-US" sz="2000" dirty="0"/>
              <a:t>     </a:t>
            </a:r>
            <a:r>
              <a:rPr lang="en-US" sz="2000" dirty="0" err="1"/>
              <a:t>acesta</a:t>
            </a:r>
            <a:r>
              <a:rPr lang="en-US" sz="2000" dirty="0"/>
              <a:t> </a:t>
            </a:r>
            <a:r>
              <a:rPr lang="en-US" sz="2000" dirty="0" err="1"/>
              <a:t>fiind</a:t>
            </a:r>
            <a:r>
              <a:rPr lang="en-US" sz="2000" dirty="0"/>
              <a:t> </a:t>
            </a:r>
            <a:r>
              <a:rPr lang="en-US" sz="2000" dirty="0" err="1"/>
              <a:t>eliberat</a:t>
            </a:r>
            <a:r>
              <a:rPr lang="en-US" sz="2000" dirty="0"/>
              <a:t> automat </a:t>
            </a:r>
            <a:r>
              <a:rPr lang="en-US" sz="2000" dirty="0" err="1"/>
              <a:t>dupa</a:t>
            </a:r>
            <a:r>
              <a:rPr lang="en-US" sz="2000" dirty="0"/>
              <a:t> </a:t>
            </a:r>
            <a:r>
              <a:rPr lang="en-US" sz="2000" dirty="0" err="1"/>
              <a:t>ce</a:t>
            </a:r>
            <a:r>
              <a:rPr lang="en-US" sz="2000" dirty="0"/>
              <a:t> </a:t>
            </a:r>
            <a:r>
              <a:rPr lang="en-US" sz="2000" dirty="0" err="1"/>
              <a:t>metoda</a:t>
            </a:r>
            <a:r>
              <a:rPr lang="en-US" sz="2000" dirty="0"/>
              <a:t> </a:t>
            </a:r>
            <a:r>
              <a:rPr lang="en-US" sz="2000" dirty="0" err="1"/>
              <a:t>este</a:t>
            </a:r>
            <a:r>
              <a:rPr lang="en-US" sz="2000" dirty="0"/>
              <a:t> </a:t>
            </a:r>
            <a:r>
              <a:rPr lang="en-US" sz="2000" dirty="0" err="1"/>
              <a:t>executata</a:t>
            </a:r>
            <a:r>
              <a:rPr lang="en-US" sz="2000" dirty="0"/>
              <a:t>. </a:t>
            </a:r>
          </a:p>
          <a:p>
            <a:pPr marL="285750" indent="-285750">
              <a:buFont typeface="Wingdings" panose="05000000000000000000" pitchFamily="2" charset="2"/>
              <a:buChar char="§"/>
            </a:pPr>
            <a:endParaRPr lang="en-US" sz="2000" dirty="0"/>
          </a:p>
          <a:p>
            <a:pPr marL="285750" indent="-285750">
              <a:buFont typeface="Wingdings" panose="05000000000000000000" pitchFamily="2" charset="2"/>
              <a:buChar char="§"/>
            </a:pPr>
            <a:r>
              <a:rPr lang="en-US" sz="2000" dirty="0" err="1"/>
              <a:t>Numai</a:t>
            </a:r>
            <a:r>
              <a:rPr lang="en-US" sz="2000" dirty="0"/>
              <a:t> un </a:t>
            </a:r>
            <a:r>
              <a:rPr lang="en-US" sz="2000" dirty="0" err="1"/>
              <a:t>singur</a:t>
            </a:r>
            <a:r>
              <a:rPr lang="en-US" sz="2000" dirty="0"/>
              <a:t> thread </a:t>
            </a:r>
            <a:r>
              <a:rPr lang="en-US" sz="2000" dirty="0" err="1"/>
              <a:t>poate</a:t>
            </a:r>
            <a:r>
              <a:rPr lang="en-US" sz="2000" dirty="0"/>
              <a:t> </a:t>
            </a:r>
            <a:r>
              <a:rPr lang="en-US" sz="2000" dirty="0" err="1"/>
              <a:t>detine</a:t>
            </a:r>
            <a:r>
              <a:rPr lang="en-US" sz="2000" dirty="0"/>
              <a:t> </a:t>
            </a:r>
            <a:r>
              <a:rPr lang="en-US" sz="2000" dirty="0" err="1"/>
              <a:t>lacatul</a:t>
            </a:r>
            <a:r>
              <a:rPr lang="en-US" sz="2000" dirty="0"/>
              <a:t> </a:t>
            </a:r>
            <a:r>
              <a:rPr lang="en-US" sz="2000" dirty="0" err="1"/>
              <a:t>obiectului</a:t>
            </a:r>
            <a:r>
              <a:rPr lang="en-US" sz="2000" dirty="0"/>
              <a:t> la un moment dat.</a:t>
            </a:r>
          </a:p>
          <a:p>
            <a:endParaRPr lang="en-US" sz="2000" dirty="0"/>
          </a:p>
          <a:p>
            <a:pPr marL="285750" indent="-285750">
              <a:buFont typeface="Wingdings" panose="05000000000000000000" pitchFamily="2" charset="2"/>
              <a:buChar char="§"/>
            </a:pPr>
            <a:r>
              <a:rPr lang="en-US" sz="2000" dirty="0"/>
              <a:t>Un thread </a:t>
            </a:r>
            <a:r>
              <a:rPr lang="en-US" sz="2000" dirty="0" err="1"/>
              <a:t>detine</a:t>
            </a:r>
            <a:r>
              <a:rPr lang="en-US" sz="2000" dirty="0"/>
              <a:t> </a:t>
            </a:r>
            <a:r>
              <a:rPr lang="en-US" sz="2000" dirty="0" err="1"/>
              <a:t>lacatul</a:t>
            </a:r>
            <a:r>
              <a:rPr lang="en-US" sz="2000" dirty="0"/>
              <a:t> intern al </a:t>
            </a:r>
            <a:r>
              <a:rPr lang="en-US" sz="2000" dirty="0" err="1"/>
              <a:t>unui</a:t>
            </a:r>
            <a:r>
              <a:rPr lang="en-US" sz="2000" dirty="0"/>
              <a:t> </a:t>
            </a:r>
            <a:r>
              <a:rPr lang="en-US" sz="2000" dirty="0" err="1"/>
              <a:t>obiect</a:t>
            </a:r>
            <a:r>
              <a:rPr lang="en-US" sz="2000" dirty="0"/>
              <a:t> </a:t>
            </a:r>
            <a:r>
              <a:rPr lang="en-US" sz="2000" dirty="0" err="1"/>
              <a:t>daca</a:t>
            </a:r>
            <a:r>
              <a:rPr lang="en-US" sz="2000" dirty="0"/>
              <a:t>:</a:t>
            </a:r>
          </a:p>
          <a:p>
            <a:pPr marL="742950" lvl="1" indent="-285750">
              <a:buFont typeface="Arial" panose="020B0604020202020204" pitchFamily="34" charset="0"/>
              <a:buChar char="•"/>
            </a:pPr>
            <a:r>
              <a:rPr lang="en-US" sz="2000" dirty="0"/>
              <a:t>   </a:t>
            </a:r>
            <a:r>
              <a:rPr lang="en-US" sz="2000" dirty="0" err="1"/>
              <a:t>executa</a:t>
            </a:r>
            <a:r>
              <a:rPr lang="en-US" sz="2000" dirty="0"/>
              <a:t> o </a:t>
            </a:r>
            <a:r>
              <a:rPr lang="en-US" sz="2000" dirty="0" err="1"/>
              <a:t>metoda</a:t>
            </a:r>
            <a:r>
              <a:rPr lang="en-US" sz="2000" dirty="0"/>
              <a:t> </a:t>
            </a:r>
            <a:r>
              <a:rPr lang="en-US" sz="2000" dirty="0" err="1"/>
              <a:t>sincronizata</a:t>
            </a:r>
            <a:r>
              <a:rPr lang="en-US" sz="2000" dirty="0"/>
              <a:t> a </a:t>
            </a:r>
            <a:r>
              <a:rPr lang="en-US" sz="2000" dirty="0" err="1"/>
              <a:t>obiectului</a:t>
            </a:r>
            <a:r>
              <a:rPr lang="en-US" sz="2000" dirty="0"/>
              <a:t>,</a:t>
            </a:r>
          </a:p>
          <a:p>
            <a:pPr marL="742950" lvl="1" indent="-285750">
              <a:buFont typeface="Arial" panose="020B0604020202020204" pitchFamily="34" charset="0"/>
              <a:buChar char="•"/>
            </a:pPr>
            <a:r>
              <a:rPr lang="en-US" sz="2000" dirty="0"/>
              <a:t>   </a:t>
            </a:r>
            <a:r>
              <a:rPr lang="en-US" sz="2000" dirty="0" err="1"/>
              <a:t>executa</a:t>
            </a:r>
            <a:r>
              <a:rPr lang="en-US" sz="2000" dirty="0"/>
              <a:t> un bloc </a:t>
            </a:r>
            <a:r>
              <a:rPr lang="en-US" sz="2000" dirty="0" err="1"/>
              <a:t>sincronizat</a:t>
            </a:r>
            <a:r>
              <a:rPr lang="en-US" sz="2000" dirty="0"/>
              <a:t> de </a:t>
            </a:r>
            <a:r>
              <a:rPr lang="en-US" sz="2000" dirty="0" err="1"/>
              <a:t>obiect</a:t>
            </a:r>
            <a:r>
              <a:rPr lang="en-US" sz="2000" dirty="0"/>
              <a:t> ,</a:t>
            </a:r>
          </a:p>
          <a:p>
            <a:pPr marL="742950" lvl="1" indent="-285750">
              <a:buFont typeface="Arial" panose="020B0604020202020204" pitchFamily="34" charset="0"/>
              <a:buChar char="•"/>
            </a:pPr>
            <a:r>
              <a:rPr lang="en-US" sz="2000" dirty="0"/>
              <a:t>   </a:t>
            </a:r>
            <a:r>
              <a:rPr lang="en-US" sz="2000" dirty="0" err="1"/>
              <a:t>daca</a:t>
            </a:r>
            <a:r>
              <a:rPr lang="en-US" sz="2000" dirty="0"/>
              <a:t> </a:t>
            </a:r>
            <a:r>
              <a:rPr lang="en-US" sz="2000" dirty="0" err="1"/>
              <a:t>obiectul</a:t>
            </a:r>
            <a:r>
              <a:rPr lang="en-US" sz="2000" dirty="0"/>
              <a:t> </a:t>
            </a:r>
            <a:r>
              <a:rPr lang="en-US" sz="2000" dirty="0" err="1"/>
              <a:t>este</a:t>
            </a:r>
            <a:r>
              <a:rPr lang="en-US" sz="2000" dirty="0"/>
              <a:t>  Class, thread-ul </a:t>
            </a:r>
            <a:r>
              <a:rPr lang="en-US" sz="2000" dirty="0" err="1"/>
              <a:t>executa</a:t>
            </a:r>
            <a:r>
              <a:rPr lang="en-US" sz="2000" dirty="0"/>
              <a:t> o </a:t>
            </a:r>
            <a:r>
              <a:rPr lang="en-US" sz="2000" dirty="0" err="1"/>
              <a:t>metoda</a:t>
            </a:r>
            <a:r>
              <a:rPr lang="en-US" sz="2000" dirty="0"/>
              <a:t> static </a:t>
            </a:r>
            <a:r>
              <a:rPr lang="en-US" sz="2000" dirty="0" err="1"/>
              <a:t>sincronizata</a:t>
            </a:r>
            <a:r>
              <a:rPr lang="en-US" sz="2000" dirty="0"/>
              <a:t> .</a:t>
            </a:r>
          </a:p>
          <a:p>
            <a:pPr lvl="1"/>
            <a:r>
              <a:rPr lang="en-US" sz="2000" dirty="0"/>
              <a:t>				</a:t>
            </a:r>
          </a:p>
          <a:p>
            <a:pPr marL="285750" indent="-285750">
              <a:buFont typeface="Wingdings" panose="05000000000000000000" pitchFamily="2" charset="2"/>
              <a:buChar char="§"/>
            </a:pPr>
            <a:r>
              <a:rPr lang="en-US" sz="2000" dirty="0"/>
              <a:t>Un thread </a:t>
            </a:r>
            <a:r>
              <a:rPr lang="en-US" sz="2000" dirty="0" err="1"/>
              <a:t>poate</a:t>
            </a:r>
            <a:r>
              <a:rPr lang="en-US" sz="2000" dirty="0"/>
              <a:t> face </a:t>
            </a:r>
            <a:r>
              <a:rPr lang="en-US" sz="2000" dirty="0" err="1"/>
              <a:t>aquire</a:t>
            </a:r>
            <a:r>
              <a:rPr lang="en-US" sz="2000" dirty="0"/>
              <a:t> pe un </a:t>
            </a:r>
            <a:r>
              <a:rPr lang="en-US" sz="2000" dirty="0" err="1"/>
              <a:t>lacat</a:t>
            </a:r>
            <a:r>
              <a:rPr lang="en-US" sz="2000" dirty="0"/>
              <a:t> pe care </a:t>
            </a:r>
            <a:r>
              <a:rPr lang="en-US" sz="2000" dirty="0" err="1"/>
              <a:t>deja</a:t>
            </a:r>
            <a:r>
              <a:rPr lang="en-US" sz="2000" dirty="0"/>
              <a:t> il </a:t>
            </a:r>
            <a:r>
              <a:rPr lang="en-US" sz="2000" dirty="0" err="1"/>
              <a:t>detine</a:t>
            </a:r>
            <a:r>
              <a:rPr lang="en-US" sz="2000" dirty="0"/>
              <a:t> (reentrant synchronization):</a:t>
            </a:r>
          </a:p>
          <a:p>
            <a:endParaRPr lang="en-US" sz="2000" dirty="0"/>
          </a:p>
          <a:p>
            <a:endParaRPr lang="en-US" b="1" dirty="0"/>
          </a:p>
          <a:p>
            <a:r>
              <a:rPr lang="en-US" dirty="0"/>
              <a:t> </a:t>
            </a:r>
          </a:p>
          <a:p>
            <a:endParaRPr lang="en-US" dirty="0"/>
          </a:p>
          <a:p>
            <a:endParaRPr lang="en-US" dirty="0"/>
          </a:p>
        </p:txBody>
      </p:sp>
      <p:sp>
        <p:nvSpPr>
          <p:cNvPr id="3" name="TextBox 2">
            <a:extLst>
              <a:ext uri="{FF2B5EF4-FFF2-40B4-BE49-F238E27FC236}">
                <a16:creationId xmlns:a16="http://schemas.microsoft.com/office/drawing/2014/main" id="{83EB7EF9-EB0B-4A18-8FFF-D6F9C3FA52A6}"/>
              </a:ext>
            </a:extLst>
          </p:cNvPr>
          <p:cNvSpPr txBox="1"/>
          <p:nvPr/>
        </p:nvSpPr>
        <p:spPr>
          <a:xfrm>
            <a:off x="1165023" y="4844772"/>
            <a:ext cx="5652337" cy="1323439"/>
          </a:xfrm>
          <a:prstGeom prst="rect">
            <a:avLst/>
          </a:prstGeom>
          <a:noFill/>
          <a:ln w="9525">
            <a:solidFill>
              <a:srgbClr val="00B050"/>
            </a:solidFill>
          </a:ln>
        </p:spPr>
        <p:txBody>
          <a:bodyPr wrap="square" rtlCol="0">
            <a:spAutoFit/>
          </a:bodyPr>
          <a:lstStyle/>
          <a:p>
            <a:r>
              <a:rPr lang="en-US" sz="2000" dirty="0"/>
              <a:t>public class </a:t>
            </a:r>
            <a:r>
              <a:rPr lang="en-US" sz="2000" dirty="0" err="1"/>
              <a:t>reentrantEx</a:t>
            </a:r>
            <a:r>
              <a:rPr lang="en-US" sz="2000" dirty="0"/>
              <a:t> {</a:t>
            </a:r>
          </a:p>
          <a:p>
            <a:r>
              <a:rPr lang="en-US" sz="2000" dirty="0"/>
              <a:t>      public synchronized void met1{}</a:t>
            </a:r>
          </a:p>
          <a:p>
            <a:r>
              <a:rPr lang="en-US" sz="2000" dirty="0"/>
              <a:t>      public synchronized void met2{  this.met1() ;}</a:t>
            </a:r>
          </a:p>
          <a:p>
            <a:r>
              <a:rPr lang="en-US" sz="2000" dirty="0"/>
              <a:t>} </a:t>
            </a:r>
            <a:endParaRPr lang="en-GB" sz="2000" dirty="0"/>
          </a:p>
        </p:txBody>
      </p:sp>
      <p:sp>
        <p:nvSpPr>
          <p:cNvPr id="6" name="TextBox 5">
            <a:extLst>
              <a:ext uri="{FF2B5EF4-FFF2-40B4-BE49-F238E27FC236}">
                <a16:creationId xmlns:a16="http://schemas.microsoft.com/office/drawing/2014/main" id="{45C6D299-1555-BE55-74EE-6AA882A41E2C}"/>
              </a:ext>
            </a:extLst>
          </p:cNvPr>
          <p:cNvSpPr txBox="1"/>
          <p:nvPr/>
        </p:nvSpPr>
        <p:spPr>
          <a:xfrm>
            <a:off x="7089086" y="5149572"/>
            <a:ext cx="4704749" cy="923330"/>
          </a:xfrm>
          <a:prstGeom prst="rect">
            <a:avLst/>
          </a:prstGeom>
          <a:noFill/>
        </p:spPr>
        <p:txBody>
          <a:bodyPr wrap="none" rtlCol="0">
            <a:spAutoFit/>
          </a:bodyPr>
          <a:lstStyle/>
          <a:p>
            <a:r>
              <a:rPr lang="en-US" dirty="0" err="1"/>
              <a:t>Astfel</a:t>
            </a:r>
            <a:r>
              <a:rPr lang="en-US" dirty="0"/>
              <a:t>, se </a:t>
            </a:r>
            <a:r>
              <a:rPr lang="en-US" dirty="0" err="1"/>
              <a:t>evita</a:t>
            </a:r>
            <a:r>
              <a:rPr lang="en-US" dirty="0"/>
              <a:t> </a:t>
            </a:r>
            <a:r>
              <a:rPr lang="en-US" dirty="0" err="1"/>
              <a:t>situatia</a:t>
            </a:r>
            <a:r>
              <a:rPr lang="en-US" dirty="0"/>
              <a:t> in care un thread intra in </a:t>
            </a:r>
          </a:p>
          <a:p>
            <a:r>
              <a:rPr lang="en-US" dirty="0"/>
              <a:t>deadlock </a:t>
            </a:r>
            <a:r>
              <a:rPr lang="en-US" dirty="0" err="1"/>
              <a:t>incercand</a:t>
            </a:r>
            <a:r>
              <a:rPr lang="en-US" dirty="0"/>
              <a:t> </a:t>
            </a:r>
            <a:r>
              <a:rPr lang="en-US" dirty="0" err="1"/>
              <a:t>sa</a:t>
            </a:r>
            <a:r>
              <a:rPr lang="en-US" dirty="0"/>
              <a:t> </a:t>
            </a:r>
            <a:r>
              <a:rPr lang="en-US" dirty="0" err="1"/>
              <a:t>detina</a:t>
            </a:r>
            <a:r>
              <a:rPr lang="en-US" dirty="0"/>
              <a:t> un </a:t>
            </a:r>
            <a:r>
              <a:rPr lang="en-US" dirty="0" err="1"/>
              <a:t>lacat</a:t>
            </a:r>
            <a:r>
              <a:rPr lang="en-US" dirty="0"/>
              <a:t> pe care </a:t>
            </a:r>
          </a:p>
          <a:p>
            <a:r>
              <a:rPr lang="en-US" dirty="0" err="1"/>
              <a:t>deja</a:t>
            </a:r>
            <a:r>
              <a:rPr lang="en-US" dirty="0"/>
              <a:t> il </a:t>
            </a:r>
            <a:r>
              <a:rPr lang="en-US" dirty="0" err="1"/>
              <a:t>detine</a:t>
            </a:r>
            <a:r>
              <a:rPr lang="en-US" dirty="0"/>
              <a:t>.</a:t>
            </a:r>
            <a:endParaRPr lang="en-GB" dirty="0"/>
          </a:p>
        </p:txBody>
      </p:sp>
    </p:spTree>
    <p:extLst>
      <p:ext uri="{BB962C8B-B14F-4D97-AF65-F5344CB8AC3E}">
        <p14:creationId xmlns:p14="http://schemas.microsoft.com/office/powerpoint/2010/main" val="2885850534"/>
      </p:ext>
    </p:extLst>
  </p:cSld>
  <p:clrMapOvr>
    <a:masterClrMapping/>
  </p:clrMapOvr>
</p:sld>
</file>

<file path=ppt/slides/slide4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extBox 1"/>
          <p:cNvSpPr txBox="1"/>
          <p:nvPr/>
        </p:nvSpPr>
        <p:spPr>
          <a:xfrm>
            <a:off x="761825" y="183925"/>
            <a:ext cx="3830472" cy="461665"/>
          </a:xfrm>
          <a:prstGeom prst="rect">
            <a:avLst/>
          </a:prstGeom>
          <a:noFill/>
        </p:spPr>
        <p:txBody>
          <a:bodyPr wrap="none" rtlCol="0">
            <a:spAutoFit/>
          </a:bodyPr>
          <a:lstStyle/>
          <a:p>
            <a:pPr marL="342900" indent="-342900">
              <a:buFont typeface="Wingdings" panose="05000000000000000000" pitchFamily="2" charset="2"/>
              <a:buChar char="Ø"/>
            </a:pPr>
            <a:r>
              <a:rPr lang="en-US" sz="2400" dirty="0" err="1"/>
              <a:t>Modelul</a:t>
            </a:r>
            <a:r>
              <a:rPr lang="en-US" sz="2400" dirty="0"/>
              <a:t> de </a:t>
            </a:r>
            <a:r>
              <a:rPr lang="en-US" sz="2400" dirty="0" err="1"/>
              <a:t>memorie</a:t>
            </a:r>
            <a:r>
              <a:rPr lang="en-US" sz="2400" dirty="0"/>
              <a:t> JAVA</a:t>
            </a:r>
          </a:p>
        </p:txBody>
      </p:sp>
      <p:sp>
        <p:nvSpPr>
          <p:cNvPr id="3" name="TextBox 2"/>
          <p:cNvSpPr txBox="1"/>
          <p:nvPr/>
        </p:nvSpPr>
        <p:spPr>
          <a:xfrm>
            <a:off x="420130" y="5700967"/>
            <a:ext cx="6907788" cy="369332"/>
          </a:xfrm>
          <a:prstGeom prst="rect">
            <a:avLst/>
          </a:prstGeom>
          <a:noFill/>
        </p:spPr>
        <p:txBody>
          <a:bodyPr wrap="none" rtlCol="0">
            <a:spAutoFit/>
          </a:bodyPr>
          <a:lstStyle/>
          <a:p>
            <a:r>
              <a:rPr lang="en-US" dirty="0">
                <a:hlinkClick r:id="rId2"/>
              </a:rPr>
              <a:t>https://docs.oracle.com/javase/specs/jls/se23/html/jls-17.html#jls-17.4</a:t>
            </a:r>
            <a:endParaRPr lang="en-US" dirty="0"/>
          </a:p>
        </p:txBody>
      </p:sp>
      <p:sp>
        <p:nvSpPr>
          <p:cNvPr id="4" name="TextBox 3"/>
          <p:cNvSpPr txBox="1"/>
          <p:nvPr/>
        </p:nvSpPr>
        <p:spPr>
          <a:xfrm>
            <a:off x="420130" y="5226908"/>
            <a:ext cx="7741415" cy="369332"/>
          </a:xfrm>
          <a:prstGeom prst="rect">
            <a:avLst/>
          </a:prstGeom>
          <a:noFill/>
        </p:spPr>
        <p:txBody>
          <a:bodyPr wrap="none" rtlCol="0">
            <a:spAutoFit/>
          </a:bodyPr>
          <a:lstStyle/>
          <a:p>
            <a:r>
              <a:rPr lang="en-US" dirty="0">
                <a:hlinkClick r:id="rId3"/>
              </a:rPr>
              <a:t>https://docs.oracle.com/javase/tutorial/essential/concurrency/memconsist.html</a:t>
            </a:r>
            <a:endParaRPr lang="en-US" dirty="0"/>
          </a:p>
        </p:txBody>
      </p:sp>
      <p:sp>
        <p:nvSpPr>
          <p:cNvPr id="5" name="TextBox 4"/>
          <p:cNvSpPr txBox="1"/>
          <p:nvPr/>
        </p:nvSpPr>
        <p:spPr>
          <a:xfrm>
            <a:off x="960213" y="972367"/>
            <a:ext cx="10528588" cy="4062651"/>
          </a:xfrm>
          <a:prstGeom prst="rect">
            <a:avLst/>
          </a:prstGeom>
          <a:noFill/>
        </p:spPr>
        <p:txBody>
          <a:bodyPr wrap="none" rtlCol="0">
            <a:spAutoFit/>
          </a:bodyPr>
          <a:lstStyle/>
          <a:p>
            <a:pPr marL="285750" indent="-285750">
              <a:buFont typeface="Wingdings" panose="05000000000000000000" pitchFamily="2" charset="2"/>
              <a:buChar char="§"/>
            </a:pPr>
            <a:r>
              <a:rPr lang="en-US" sz="2000" dirty="0" err="1"/>
              <a:t>Fiecare</a:t>
            </a:r>
            <a:r>
              <a:rPr lang="en-US" sz="2000" dirty="0"/>
              <a:t> thread are </a:t>
            </a:r>
            <a:r>
              <a:rPr lang="en-US" sz="2000" dirty="0" err="1"/>
              <a:t>propria</a:t>
            </a:r>
            <a:r>
              <a:rPr lang="en-US" sz="2000" dirty="0"/>
              <a:t> </a:t>
            </a:r>
            <a:r>
              <a:rPr lang="en-US" sz="2000" dirty="0" err="1"/>
              <a:t>stiva</a:t>
            </a:r>
            <a:r>
              <a:rPr lang="en-US" sz="2000" dirty="0"/>
              <a:t> de </a:t>
            </a:r>
            <a:r>
              <a:rPr lang="en-US" sz="2000" dirty="0" err="1"/>
              <a:t>executie</a:t>
            </a:r>
            <a:r>
              <a:rPr lang="en-US" sz="2000" dirty="0"/>
              <a:t>, heap-</a:t>
            </a:r>
            <a:r>
              <a:rPr lang="en-US" sz="2000" dirty="0" err="1"/>
              <a:t>ul</a:t>
            </a:r>
            <a:r>
              <a:rPr lang="en-US" sz="2000" dirty="0"/>
              <a:t> </a:t>
            </a:r>
            <a:r>
              <a:rPr lang="en-US" sz="2000" dirty="0" err="1"/>
              <a:t>este</a:t>
            </a:r>
            <a:r>
              <a:rPr lang="en-US" sz="2000" dirty="0"/>
              <a:t> </a:t>
            </a:r>
            <a:r>
              <a:rPr lang="en-US" sz="2000" dirty="0" err="1"/>
              <a:t>comun</a:t>
            </a:r>
            <a:r>
              <a:rPr lang="en-US" sz="2000" dirty="0"/>
              <a:t> </a:t>
            </a:r>
            <a:r>
              <a:rPr lang="en-US" sz="2000" dirty="0" err="1"/>
              <a:t>pentru</a:t>
            </a:r>
            <a:r>
              <a:rPr lang="en-US" sz="2000" dirty="0"/>
              <a:t> </a:t>
            </a:r>
            <a:r>
              <a:rPr lang="en-US" sz="2000" dirty="0" err="1"/>
              <a:t>toate</a:t>
            </a:r>
            <a:r>
              <a:rPr lang="en-US" sz="2000" dirty="0"/>
              <a:t> thread-</a:t>
            </a:r>
            <a:r>
              <a:rPr lang="en-US" sz="2000" dirty="0" err="1"/>
              <a:t>urile</a:t>
            </a:r>
            <a:r>
              <a:rPr lang="en-US" sz="2000" dirty="0"/>
              <a:t>.</a:t>
            </a:r>
          </a:p>
          <a:p>
            <a:endParaRPr lang="en-US" sz="2000" dirty="0"/>
          </a:p>
          <a:p>
            <a:pPr marL="285750" indent="-285750">
              <a:buFont typeface="Wingdings" panose="05000000000000000000" pitchFamily="2" charset="2"/>
              <a:buChar char="§"/>
            </a:pPr>
            <a:r>
              <a:rPr lang="en-US" sz="2000" dirty="0" err="1"/>
              <a:t>Erorile</a:t>
            </a:r>
            <a:r>
              <a:rPr lang="en-US" sz="2000" dirty="0"/>
              <a:t> de </a:t>
            </a:r>
            <a:r>
              <a:rPr lang="en-US" sz="2000" dirty="0" err="1"/>
              <a:t>consistenta</a:t>
            </a:r>
            <a:r>
              <a:rPr lang="en-US" sz="2000" dirty="0"/>
              <a:t> a </a:t>
            </a:r>
            <a:r>
              <a:rPr lang="en-US" sz="2000" dirty="0" err="1"/>
              <a:t>memoriei</a:t>
            </a:r>
            <a:r>
              <a:rPr lang="en-US" sz="2000" dirty="0"/>
              <a:t> </a:t>
            </a:r>
            <a:r>
              <a:rPr lang="en-US" sz="2000" dirty="0" err="1"/>
              <a:t>apar</a:t>
            </a:r>
            <a:r>
              <a:rPr lang="en-US" sz="2000" dirty="0"/>
              <a:t> </a:t>
            </a:r>
            <a:r>
              <a:rPr lang="en-US" sz="2000" dirty="0" err="1"/>
              <a:t>atunci</a:t>
            </a:r>
            <a:r>
              <a:rPr lang="en-US" sz="2000" dirty="0"/>
              <a:t> </a:t>
            </a:r>
            <a:r>
              <a:rPr lang="en-US" sz="2000" dirty="0" err="1"/>
              <a:t>cand</a:t>
            </a:r>
            <a:r>
              <a:rPr lang="en-US" sz="2000" dirty="0"/>
              <a:t> thread-</a:t>
            </a:r>
            <a:r>
              <a:rPr lang="en-US" sz="2000" dirty="0" err="1"/>
              <a:t>uri</a:t>
            </a:r>
            <a:r>
              <a:rPr lang="en-US" sz="2000" dirty="0"/>
              <a:t> </a:t>
            </a:r>
            <a:r>
              <a:rPr lang="en-US" sz="2000" dirty="0" err="1"/>
              <a:t>diferite</a:t>
            </a:r>
            <a:r>
              <a:rPr lang="en-US" sz="2000" dirty="0"/>
              <a:t> au </a:t>
            </a:r>
            <a:r>
              <a:rPr lang="en-US" sz="2000" dirty="0" err="1"/>
              <a:t>vad</a:t>
            </a:r>
            <a:r>
              <a:rPr lang="en-US" sz="2000" dirty="0"/>
              <a:t> in mod inconsistent</a:t>
            </a:r>
          </a:p>
          <a:p>
            <a:r>
              <a:rPr lang="en-US" sz="2000" dirty="0"/>
              <a:t>      </a:t>
            </a:r>
            <a:r>
              <a:rPr lang="en-US" sz="2000" dirty="0" err="1"/>
              <a:t>datele</a:t>
            </a:r>
            <a:r>
              <a:rPr lang="en-US" sz="2000" dirty="0"/>
              <a:t> </a:t>
            </a:r>
            <a:r>
              <a:rPr lang="en-US" sz="2000" dirty="0" err="1"/>
              <a:t>comune</a:t>
            </a:r>
            <a:r>
              <a:rPr lang="en-US" sz="2000" dirty="0"/>
              <a:t>.</a:t>
            </a:r>
          </a:p>
          <a:p>
            <a:endParaRPr lang="en-US" sz="2000" dirty="0"/>
          </a:p>
          <a:p>
            <a:pPr marL="285750" indent="-285750">
              <a:buFont typeface="Wingdings" panose="05000000000000000000" pitchFamily="2" charset="2"/>
              <a:buChar char="§"/>
            </a:pPr>
            <a:r>
              <a:rPr lang="en-US" sz="2000" dirty="0" err="1"/>
              <a:t>Accesul</a:t>
            </a:r>
            <a:r>
              <a:rPr lang="en-US" sz="2000" dirty="0"/>
              <a:t> la </a:t>
            </a:r>
            <a:r>
              <a:rPr lang="en-US" sz="2000" dirty="0" err="1"/>
              <a:t>memoria</a:t>
            </a:r>
            <a:r>
              <a:rPr lang="en-US" sz="2000" dirty="0"/>
              <a:t> </a:t>
            </a:r>
            <a:r>
              <a:rPr lang="en-US" sz="2000" dirty="0" err="1"/>
              <a:t>comuna</a:t>
            </a:r>
            <a:r>
              <a:rPr lang="en-US" sz="2000" dirty="0"/>
              <a:t> </a:t>
            </a:r>
            <a:r>
              <a:rPr lang="en-US" sz="2000" dirty="0" err="1"/>
              <a:t>este</a:t>
            </a:r>
            <a:r>
              <a:rPr lang="en-US" sz="2000" dirty="0"/>
              <a:t> </a:t>
            </a:r>
            <a:r>
              <a:rPr lang="en-US" sz="2000" dirty="0" err="1"/>
              <a:t>reglementat</a:t>
            </a:r>
            <a:r>
              <a:rPr lang="en-US" sz="2000" dirty="0"/>
              <a:t> de </a:t>
            </a:r>
            <a:r>
              <a:rPr lang="en-US" sz="2000" dirty="0" err="1"/>
              <a:t>relatia</a:t>
            </a:r>
            <a:r>
              <a:rPr lang="en-US" sz="2000" dirty="0"/>
              <a:t> </a:t>
            </a:r>
            <a:r>
              <a:rPr lang="en-US" sz="2000" b="1" i="1" dirty="0"/>
              <a:t>happens-before </a:t>
            </a:r>
            <a:r>
              <a:rPr lang="en-US" sz="2000" dirty="0"/>
              <a:t>care </a:t>
            </a:r>
            <a:r>
              <a:rPr lang="en-US" sz="2000" dirty="0" err="1"/>
              <a:t>stabileste</a:t>
            </a:r>
            <a:r>
              <a:rPr lang="en-US" sz="2000" dirty="0"/>
              <a:t> </a:t>
            </a:r>
            <a:r>
              <a:rPr lang="en-US" sz="2000" dirty="0" err="1"/>
              <a:t>cand</a:t>
            </a:r>
            <a:endParaRPr lang="en-US" sz="2000" dirty="0"/>
          </a:p>
          <a:p>
            <a:r>
              <a:rPr lang="en-US" sz="2000" dirty="0"/>
              <a:t>      </a:t>
            </a:r>
            <a:r>
              <a:rPr lang="en-US" sz="2000" dirty="0" err="1"/>
              <a:t>modificarile</a:t>
            </a:r>
            <a:r>
              <a:rPr lang="en-US" sz="2000" dirty="0"/>
              <a:t> </a:t>
            </a:r>
            <a:r>
              <a:rPr lang="en-US" sz="2000" dirty="0" err="1"/>
              <a:t>facute</a:t>
            </a:r>
            <a:r>
              <a:rPr lang="en-US" sz="2000" dirty="0"/>
              <a:t> de un thread </a:t>
            </a:r>
            <a:r>
              <a:rPr lang="en-US" sz="2000" dirty="0" err="1"/>
              <a:t>sunt</a:t>
            </a:r>
            <a:r>
              <a:rPr lang="en-US" sz="2000" dirty="0"/>
              <a:t> </a:t>
            </a:r>
            <a:r>
              <a:rPr lang="en-US" sz="2000" dirty="0" err="1"/>
              <a:t>vizibile</a:t>
            </a:r>
            <a:r>
              <a:rPr lang="en-US" sz="2000" dirty="0"/>
              <a:t> </a:t>
            </a:r>
            <a:r>
              <a:rPr lang="en-US" sz="2000" dirty="0" err="1"/>
              <a:t>altui</a:t>
            </a:r>
            <a:r>
              <a:rPr lang="en-US" sz="2000" dirty="0"/>
              <a:t> thread:</a:t>
            </a:r>
          </a:p>
          <a:p>
            <a:endParaRPr lang="en-US" sz="2000" dirty="0"/>
          </a:p>
          <a:p>
            <a:pPr algn="ctr"/>
            <a:r>
              <a:rPr lang="en-US" sz="2000" dirty="0"/>
              <a:t>     </a:t>
            </a:r>
            <a:r>
              <a:rPr lang="en-US" sz="2000" dirty="0" err="1"/>
              <a:t>daca</a:t>
            </a:r>
            <a:r>
              <a:rPr lang="en-US" sz="2000" dirty="0"/>
              <a:t> </a:t>
            </a:r>
            <a:r>
              <a:rPr lang="en-US" sz="2000" dirty="0" err="1"/>
              <a:t>actiunea</a:t>
            </a:r>
            <a:r>
              <a:rPr lang="en-US" sz="2000" dirty="0"/>
              <a:t> X </a:t>
            </a:r>
            <a:r>
              <a:rPr lang="en-US" sz="2000" dirty="0" err="1"/>
              <a:t>este</a:t>
            </a:r>
            <a:r>
              <a:rPr lang="en-US" sz="2000" dirty="0"/>
              <a:t> in </a:t>
            </a:r>
            <a:r>
              <a:rPr lang="en-US" sz="2000" dirty="0" err="1"/>
              <a:t>relatie</a:t>
            </a:r>
            <a:r>
              <a:rPr lang="en-US" sz="2000" dirty="0"/>
              <a:t> </a:t>
            </a:r>
            <a:r>
              <a:rPr lang="en-US" sz="2000" i="1" dirty="0"/>
              <a:t>happens-before</a:t>
            </a:r>
            <a:r>
              <a:rPr lang="en-US" sz="2000" dirty="0"/>
              <a:t> cu </a:t>
            </a:r>
            <a:r>
              <a:rPr lang="en-US" sz="2000" dirty="0" err="1"/>
              <a:t>actiunea</a:t>
            </a:r>
            <a:r>
              <a:rPr lang="en-US" sz="2000" dirty="0"/>
              <a:t> Y </a:t>
            </a:r>
            <a:r>
              <a:rPr lang="en-US" sz="2000" dirty="0" err="1"/>
              <a:t>atunci</a:t>
            </a:r>
            <a:r>
              <a:rPr lang="en-US" sz="2000" dirty="0"/>
              <a:t> </a:t>
            </a:r>
          </a:p>
          <a:p>
            <a:pPr algn="ctr"/>
            <a:r>
              <a:rPr lang="en-US" sz="2000" dirty="0"/>
              <a:t>     </a:t>
            </a:r>
            <a:r>
              <a:rPr lang="en-US" sz="2000" dirty="0" err="1"/>
              <a:t>exita</a:t>
            </a:r>
            <a:r>
              <a:rPr lang="en-US" sz="2000" dirty="0"/>
              <a:t> </a:t>
            </a:r>
            <a:r>
              <a:rPr lang="en-US" sz="2000" dirty="0" err="1"/>
              <a:t>garantia</a:t>
            </a:r>
            <a:r>
              <a:rPr lang="en-US" sz="2000" dirty="0"/>
              <a:t> ca thread-</a:t>
            </a:r>
            <a:r>
              <a:rPr lang="en-US" sz="2000" dirty="0" err="1"/>
              <a:t>ul</a:t>
            </a:r>
            <a:r>
              <a:rPr lang="en-US" sz="2000" dirty="0"/>
              <a:t> care  </a:t>
            </a:r>
            <a:r>
              <a:rPr lang="en-US" sz="2000" dirty="0" err="1"/>
              <a:t>executa</a:t>
            </a:r>
            <a:r>
              <a:rPr lang="en-US" sz="2000" dirty="0"/>
              <a:t> Y </a:t>
            </a:r>
            <a:r>
              <a:rPr lang="en-US" sz="2000" dirty="0" err="1"/>
              <a:t>va</a:t>
            </a:r>
            <a:r>
              <a:rPr lang="en-US" sz="2000" dirty="0"/>
              <a:t> </a:t>
            </a:r>
            <a:r>
              <a:rPr lang="en-US" sz="2000" dirty="0" err="1"/>
              <a:t>vedea</a:t>
            </a:r>
            <a:r>
              <a:rPr lang="en-US" sz="2000" dirty="0"/>
              <a:t> </a:t>
            </a:r>
            <a:r>
              <a:rPr lang="en-US" sz="2000" dirty="0" err="1"/>
              <a:t>rezultatele</a:t>
            </a:r>
            <a:r>
              <a:rPr lang="en-US" sz="2000" dirty="0"/>
              <a:t> </a:t>
            </a:r>
            <a:r>
              <a:rPr lang="en-US" sz="2000" dirty="0" err="1"/>
              <a:t>actiunii</a:t>
            </a:r>
            <a:r>
              <a:rPr lang="en-US" sz="2000" dirty="0"/>
              <a:t> X </a:t>
            </a:r>
          </a:p>
          <a:p>
            <a:endParaRPr lang="en-US" sz="2000" dirty="0"/>
          </a:p>
          <a:p>
            <a:pPr marL="285750" indent="-285750">
              <a:buFont typeface="Wingdings" panose="05000000000000000000" pitchFamily="2" charset="2"/>
              <a:buChar char="§"/>
            </a:pPr>
            <a:r>
              <a:rPr lang="en-US" sz="2000" dirty="0"/>
              <a:t>    In </a:t>
            </a:r>
            <a:r>
              <a:rPr lang="en-US" sz="2000" dirty="0" err="1"/>
              <a:t>absenta</a:t>
            </a:r>
            <a:r>
              <a:rPr lang="en-US" sz="2000" dirty="0"/>
              <a:t> </a:t>
            </a:r>
            <a:r>
              <a:rPr lang="en-US" sz="2000" dirty="0" err="1"/>
              <a:t>relatiei</a:t>
            </a:r>
            <a:r>
              <a:rPr lang="en-US" sz="2000" dirty="0"/>
              <a:t> </a:t>
            </a:r>
            <a:r>
              <a:rPr lang="en-US" sz="2000" i="1" dirty="0"/>
              <a:t>happens-before</a:t>
            </a:r>
            <a:r>
              <a:rPr lang="en-US" sz="2000" dirty="0"/>
              <a:t> </a:t>
            </a:r>
            <a:r>
              <a:rPr lang="en-US" sz="2000" dirty="0" err="1"/>
              <a:t>actiunile</a:t>
            </a:r>
            <a:r>
              <a:rPr lang="en-US" sz="2000" dirty="0"/>
              <a:t> pot fi </a:t>
            </a:r>
            <a:r>
              <a:rPr lang="en-US" sz="2000" dirty="0" err="1"/>
              <a:t>reordonate</a:t>
            </a:r>
            <a:r>
              <a:rPr lang="en-US" sz="2000" dirty="0"/>
              <a:t> (compiler optimization).</a:t>
            </a:r>
          </a:p>
          <a:p>
            <a:endParaRPr lang="en-US" dirty="0"/>
          </a:p>
        </p:txBody>
      </p:sp>
    </p:spTree>
    <p:extLst>
      <p:ext uri="{BB962C8B-B14F-4D97-AF65-F5344CB8AC3E}">
        <p14:creationId xmlns:p14="http://schemas.microsoft.com/office/powerpoint/2010/main" val="3832885824"/>
      </p:ext>
    </p:extLst>
  </p:cSld>
  <p:clrMapOvr>
    <a:masterClrMapping/>
  </p:clrMapOvr>
</p:sld>
</file>

<file path=ppt/slides/slide4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extBox 1"/>
          <p:cNvSpPr txBox="1"/>
          <p:nvPr/>
        </p:nvSpPr>
        <p:spPr>
          <a:xfrm>
            <a:off x="494268" y="229451"/>
            <a:ext cx="2545505" cy="461665"/>
          </a:xfrm>
          <a:prstGeom prst="rect">
            <a:avLst/>
          </a:prstGeom>
          <a:noFill/>
        </p:spPr>
        <p:txBody>
          <a:bodyPr wrap="none" rtlCol="0">
            <a:spAutoFit/>
          </a:bodyPr>
          <a:lstStyle/>
          <a:p>
            <a:pPr marL="342900" indent="-342900">
              <a:buFont typeface="Wingdings" panose="05000000000000000000" pitchFamily="2" charset="2"/>
              <a:buChar char="Ø"/>
            </a:pPr>
            <a:r>
              <a:rPr lang="en-US" sz="2400" dirty="0"/>
              <a:t>Happens-before</a:t>
            </a:r>
          </a:p>
        </p:txBody>
      </p:sp>
      <p:sp>
        <p:nvSpPr>
          <p:cNvPr id="3" name="TextBox 2"/>
          <p:cNvSpPr txBox="1"/>
          <p:nvPr/>
        </p:nvSpPr>
        <p:spPr>
          <a:xfrm>
            <a:off x="494268" y="1291281"/>
            <a:ext cx="8613384" cy="1200329"/>
          </a:xfrm>
          <a:prstGeom prst="rect">
            <a:avLst/>
          </a:prstGeom>
          <a:noFill/>
        </p:spPr>
        <p:txBody>
          <a:bodyPr wrap="none" rtlCol="0">
            <a:spAutoFit/>
          </a:bodyPr>
          <a:lstStyle/>
          <a:p>
            <a:pPr marL="285750" indent="-285750">
              <a:buFont typeface="Arial" panose="020B0604020202020204" pitchFamily="34" charset="0"/>
              <a:buChar char="•"/>
            </a:pPr>
            <a:r>
              <a:rPr lang="en-US" dirty="0" err="1"/>
              <a:t>Relatia</a:t>
            </a:r>
            <a:r>
              <a:rPr lang="en-US" dirty="0"/>
              <a:t> happens-before </a:t>
            </a:r>
            <a:r>
              <a:rPr lang="en-US" dirty="0" err="1"/>
              <a:t>este</a:t>
            </a:r>
            <a:r>
              <a:rPr lang="en-US" dirty="0"/>
              <a:t> o </a:t>
            </a:r>
            <a:r>
              <a:rPr lang="en-US" dirty="0" err="1"/>
              <a:t>relatie</a:t>
            </a:r>
            <a:r>
              <a:rPr lang="en-US" dirty="0"/>
              <a:t> de </a:t>
            </a:r>
            <a:r>
              <a:rPr lang="en-US" dirty="0" err="1"/>
              <a:t>ordine</a:t>
            </a:r>
            <a:r>
              <a:rPr lang="en-US" dirty="0"/>
              <a:t> partial </a:t>
            </a:r>
            <a:r>
              <a:rPr lang="en-US" dirty="0" err="1"/>
              <a:t>pe</a:t>
            </a:r>
            <a:r>
              <a:rPr lang="en-US" dirty="0"/>
              <a:t> </a:t>
            </a:r>
            <a:r>
              <a:rPr lang="en-US" dirty="0" err="1"/>
              <a:t>toate</a:t>
            </a:r>
            <a:r>
              <a:rPr lang="en-US" dirty="0"/>
              <a:t> </a:t>
            </a:r>
            <a:r>
              <a:rPr lang="en-US" dirty="0" err="1"/>
              <a:t>actiunile</a:t>
            </a:r>
            <a:r>
              <a:rPr lang="en-US" dirty="0"/>
              <a:t> </a:t>
            </a:r>
            <a:r>
              <a:rPr lang="en-US" dirty="0" err="1"/>
              <a:t>unui</a:t>
            </a:r>
            <a:r>
              <a:rPr lang="en-US" dirty="0"/>
              <a:t> program.</a:t>
            </a:r>
          </a:p>
          <a:p>
            <a:pPr marL="285750" indent="-285750">
              <a:buFont typeface="Arial" panose="020B0604020202020204" pitchFamily="34" charset="0"/>
              <a:buChar char="•"/>
            </a:pPr>
            <a:r>
              <a:rPr lang="en-US" dirty="0" err="1"/>
              <a:t>Relatia</a:t>
            </a:r>
            <a:r>
              <a:rPr lang="en-US" dirty="0"/>
              <a:t> happens-before </a:t>
            </a:r>
            <a:r>
              <a:rPr lang="en-US" dirty="0" err="1"/>
              <a:t>este</a:t>
            </a:r>
            <a:r>
              <a:rPr lang="en-US" dirty="0"/>
              <a:t> </a:t>
            </a:r>
            <a:r>
              <a:rPr lang="en-US" dirty="0" err="1"/>
              <a:t>tranzitiva</a:t>
            </a:r>
            <a:r>
              <a:rPr lang="en-US" dirty="0"/>
              <a:t>.</a:t>
            </a:r>
          </a:p>
          <a:p>
            <a:endParaRPr lang="en-US" dirty="0"/>
          </a:p>
          <a:p>
            <a:r>
              <a:rPr lang="en-US" dirty="0"/>
              <a:t> </a:t>
            </a:r>
            <a:r>
              <a:rPr lang="en-US" dirty="0" err="1"/>
              <a:t>Reguli</a:t>
            </a:r>
            <a:r>
              <a:rPr lang="en-US" dirty="0"/>
              <a:t> care </a:t>
            </a:r>
            <a:r>
              <a:rPr lang="en-US" dirty="0" err="1"/>
              <a:t>definesc</a:t>
            </a:r>
            <a:r>
              <a:rPr lang="en-US" dirty="0"/>
              <a:t> happens-before  </a:t>
            </a:r>
          </a:p>
        </p:txBody>
      </p:sp>
      <p:sp>
        <p:nvSpPr>
          <p:cNvPr id="4" name="TextBox 3"/>
          <p:cNvSpPr txBox="1"/>
          <p:nvPr/>
        </p:nvSpPr>
        <p:spPr>
          <a:xfrm>
            <a:off x="4066456" y="460284"/>
            <a:ext cx="7239610" cy="646331"/>
          </a:xfrm>
          <a:prstGeom prst="rect">
            <a:avLst/>
          </a:prstGeom>
          <a:ln>
            <a:solidFill>
              <a:srgbClr val="FF0000"/>
            </a:solidFill>
          </a:ln>
        </p:spPr>
        <p:style>
          <a:lnRef idx="2">
            <a:schemeClr val="accent1"/>
          </a:lnRef>
          <a:fillRef idx="1">
            <a:schemeClr val="lt1"/>
          </a:fillRef>
          <a:effectRef idx="0">
            <a:schemeClr val="accent1"/>
          </a:effectRef>
          <a:fontRef idx="minor">
            <a:schemeClr val="dk1"/>
          </a:fontRef>
        </p:style>
        <p:txBody>
          <a:bodyPr wrap="none" rtlCol="0">
            <a:spAutoFit/>
          </a:bodyPr>
          <a:lstStyle/>
          <a:p>
            <a:pPr algn="ctr"/>
            <a:r>
              <a:rPr lang="en-US" dirty="0" err="1"/>
              <a:t>daca</a:t>
            </a:r>
            <a:r>
              <a:rPr lang="en-US" dirty="0"/>
              <a:t> </a:t>
            </a:r>
            <a:r>
              <a:rPr lang="en-US" dirty="0" err="1"/>
              <a:t>actiunea</a:t>
            </a:r>
            <a:r>
              <a:rPr lang="en-US" dirty="0"/>
              <a:t> X </a:t>
            </a:r>
            <a:r>
              <a:rPr lang="en-US" dirty="0" err="1"/>
              <a:t>este</a:t>
            </a:r>
            <a:r>
              <a:rPr lang="en-US" dirty="0"/>
              <a:t> in </a:t>
            </a:r>
            <a:r>
              <a:rPr lang="en-US" dirty="0" err="1"/>
              <a:t>relatie</a:t>
            </a:r>
            <a:r>
              <a:rPr lang="en-US" dirty="0"/>
              <a:t> </a:t>
            </a:r>
            <a:r>
              <a:rPr lang="en-US" i="1" dirty="0"/>
              <a:t>happens-before</a:t>
            </a:r>
            <a:r>
              <a:rPr lang="en-US" dirty="0"/>
              <a:t> cu </a:t>
            </a:r>
            <a:r>
              <a:rPr lang="en-US" dirty="0" err="1"/>
              <a:t>actiunea</a:t>
            </a:r>
            <a:r>
              <a:rPr lang="en-US" dirty="0"/>
              <a:t> Y </a:t>
            </a:r>
            <a:r>
              <a:rPr lang="en-US" dirty="0" err="1"/>
              <a:t>atunci</a:t>
            </a:r>
            <a:r>
              <a:rPr lang="en-US" dirty="0"/>
              <a:t> </a:t>
            </a:r>
          </a:p>
          <a:p>
            <a:pPr algn="ctr"/>
            <a:r>
              <a:rPr lang="en-US" dirty="0"/>
              <a:t>     </a:t>
            </a:r>
            <a:r>
              <a:rPr lang="en-US" dirty="0" err="1"/>
              <a:t>exita</a:t>
            </a:r>
            <a:r>
              <a:rPr lang="en-US" dirty="0"/>
              <a:t> </a:t>
            </a:r>
            <a:r>
              <a:rPr lang="en-US" dirty="0" err="1"/>
              <a:t>garantia</a:t>
            </a:r>
            <a:r>
              <a:rPr lang="en-US" dirty="0"/>
              <a:t> ca thread-</a:t>
            </a:r>
            <a:r>
              <a:rPr lang="en-US" dirty="0" err="1"/>
              <a:t>ul</a:t>
            </a:r>
            <a:r>
              <a:rPr lang="en-US" dirty="0"/>
              <a:t> care  </a:t>
            </a:r>
            <a:r>
              <a:rPr lang="en-US" dirty="0" err="1"/>
              <a:t>executa</a:t>
            </a:r>
            <a:r>
              <a:rPr lang="en-US" dirty="0"/>
              <a:t> Y </a:t>
            </a:r>
            <a:r>
              <a:rPr lang="en-US" dirty="0" err="1"/>
              <a:t>va</a:t>
            </a:r>
            <a:r>
              <a:rPr lang="en-US" dirty="0"/>
              <a:t> </a:t>
            </a:r>
            <a:r>
              <a:rPr lang="en-US" dirty="0" err="1"/>
              <a:t>vedea</a:t>
            </a:r>
            <a:r>
              <a:rPr lang="en-US" dirty="0"/>
              <a:t> </a:t>
            </a:r>
            <a:r>
              <a:rPr lang="en-US" dirty="0" err="1"/>
              <a:t>rezultatele</a:t>
            </a:r>
            <a:r>
              <a:rPr lang="en-US" dirty="0"/>
              <a:t> </a:t>
            </a:r>
            <a:r>
              <a:rPr lang="en-US" dirty="0" err="1"/>
              <a:t>actiunii</a:t>
            </a:r>
            <a:r>
              <a:rPr lang="en-US" dirty="0"/>
              <a:t> X </a:t>
            </a:r>
          </a:p>
        </p:txBody>
      </p:sp>
      <p:sp>
        <p:nvSpPr>
          <p:cNvPr id="5" name="TextBox 4"/>
          <p:cNvSpPr txBox="1"/>
          <p:nvPr/>
        </p:nvSpPr>
        <p:spPr>
          <a:xfrm>
            <a:off x="413952" y="2491610"/>
            <a:ext cx="11483849" cy="1754326"/>
          </a:xfrm>
          <a:prstGeom prst="rect">
            <a:avLst/>
          </a:prstGeom>
          <a:noFill/>
          <a:ln>
            <a:solidFill>
              <a:srgbClr val="FF0000"/>
            </a:solidFill>
          </a:ln>
        </p:spPr>
        <p:txBody>
          <a:bodyPr wrap="none" rtlCol="0">
            <a:spAutoFit/>
          </a:bodyPr>
          <a:lstStyle/>
          <a:p>
            <a:r>
              <a:rPr lang="en-US" b="1" dirty="0"/>
              <a:t>Thread </a:t>
            </a:r>
            <a:r>
              <a:rPr lang="en-US" b="1" dirty="0" err="1"/>
              <a:t>unic</a:t>
            </a:r>
            <a:r>
              <a:rPr lang="en-US" b="1" dirty="0"/>
              <a:t>: </a:t>
            </a:r>
            <a:r>
              <a:rPr lang="en-US" dirty="0"/>
              <a:t>in </a:t>
            </a:r>
            <a:r>
              <a:rPr lang="en-US" dirty="0" err="1"/>
              <a:t>cadrul</a:t>
            </a:r>
            <a:r>
              <a:rPr lang="en-US" dirty="0"/>
              <a:t> </a:t>
            </a:r>
            <a:r>
              <a:rPr lang="en-US" dirty="0" err="1"/>
              <a:t>aceluiasi</a:t>
            </a:r>
            <a:r>
              <a:rPr lang="en-US" dirty="0"/>
              <a:t> thread, </a:t>
            </a:r>
            <a:r>
              <a:rPr lang="en-US" dirty="0" err="1"/>
              <a:t>relatia</a:t>
            </a:r>
            <a:r>
              <a:rPr lang="en-US" dirty="0"/>
              <a:t> </a:t>
            </a:r>
            <a:r>
              <a:rPr lang="en-US" i="1" dirty="0"/>
              <a:t>happens-before</a:t>
            </a:r>
            <a:r>
              <a:rPr lang="en-US" dirty="0"/>
              <a:t> </a:t>
            </a:r>
            <a:r>
              <a:rPr lang="en-US" dirty="0" err="1"/>
              <a:t>este</a:t>
            </a:r>
            <a:r>
              <a:rPr lang="en-US" dirty="0"/>
              <a:t> </a:t>
            </a:r>
            <a:r>
              <a:rPr lang="en-US" dirty="0" err="1"/>
              <a:t>stabilita</a:t>
            </a:r>
            <a:r>
              <a:rPr lang="en-US" dirty="0"/>
              <a:t> de </a:t>
            </a:r>
            <a:r>
              <a:rPr lang="en-US" dirty="0" err="1"/>
              <a:t>ordinea</a:t>
            </a:r>
            <a:r>
              <a:rPr lang="en-US" dirty="0"/>
              <a:t> </a:t>
            </a:r>
            <a:r>
              <a:rPr lang="en-US" dirty="0" err="1"/>
              <a:t>actiunilor</a:t>
            </a:r>
            <a:r>
              <a:rPr lang="en-US" dirty="0"/>
              <a:t> in program.</a:t>
            </a:r>
          </a:p>
          <a:p>
            <a:r>
              <a:rPr lang="en-US" b="1" dirty="0"/>
              <a:t>Monitor: </a:t>
            </a:r>
            <a:r>
              <a:rPr lang="en-US" dirty="0" err="1"/>
              <a:t>orice</a:t>
            </a:r>
            <a:r>
              <a:rPr lang="en-US" dirty="0"/>
              <a:t> </a:t>
            </a:r>
            <a:r>
              <a:rPr lang="en-US" dirty="0" err="1"/>
              <a:t>actiune</a:t>
            </a:r>
            <a:r>
              <a:rPr lang="en-US" dirty="0"/>
              <a:t> unlock </a:t>
            </a:r>
            <a:r>
              <a:rPr lang="en-US" dirty="0" err="1"/>
              <a:t>pe</a:t>
            </a:r>
            <a:r>
              <a:rPr lang="en-US" dirty="0"/>
              <a:t> un </a:t>
            </a:r>
            <a:r>
              <a:rPr lang="en-US" dirty="0" err="1"/>
              <a:t>lacat</a:t>
            </a:r>
            <a:r>
              <a:rPr lang="en-US" dirty="0"/>
              <a:t> </a:t>
            </a:r>
            <a:r>
              <a:rPr lang="en-US" dirty="0" err="1"/>
              <a:t>este</a:t>
            </a:r>
            <a:r>
              <a:rPr lang="en-US" dirty="0"/>
              <a:t> in </a:t>
            </a:r>
            <a:r>
              <a:rPr lang="en-US" dirty="0" err="1"/>
              <a:t>relatia</a:t>
            </a:r>
            <a:r>
              <a:rPr lang="en-US" dirty="0"/>
              <a:t> </a:t>
            </a:r>
            <a:r>
              <a:rPr lang="en-US" i="1" dirty="0"/>
              <a:t>happens-before</a:t>
            </a:r>
            <a:r>
              <a:rPr lang="en-US" dirty="0"/>
              <a:t> cu  </a:t>
            </a:r>
            <a:r>
              <a:rPr lang="en-US" dirty="0" err="1"/>
              <a:t>orice</a:t>
            </a:r>
            <a:r>
              <a:rPr lang="en-US" dirty="0"/>
              <a:t> </a:t>
            </a:r>
            <a:r>
              <a:rPr lang="en-US" dirty="0" err="1"/>
              <a:t>actiune</a:t>
            </a:r>
            <a:r>
              <a:rPr lang="en-US" dirty="0"/>
              <a:t> lock </a:t>
            </a:r>
            <a:r>
              <a:rPr lang="en-US" dirty="0" err="1"/>
              <a:t>ulterioara</a:t>
            </a:r>
            <a:r>
              <a:rPr lang="en-US" dirty="0"/>
              <a:t> </a:t>
            </a:r>
            <a:r>
              <a:rPr lang="en-US" dirty="0" err="1"/>
              <a:t>pe</a:t>
            </a:r>
            <a:r>
              <a:rPr lang="en-US" dirty="0"/>
              <a:t> </a:t>
            </a:r>
            <a:r>
              <a:rPr lang="en-US" dirty="0" err="1"/>
              <a:t>acelasi</a:t>
            </a:r>
            <a:r>
              <a:rPr lang="en-US" dirty="0"/>
              <a:t> </a:t>
            </a:r>
            <a:r>
              <a:rPr lang="en-US" dirty="0" err="1"/>
              <a:t>lacat</a:t>
            </a:r>
            <a:r>
              <a:rPr lang="en-US" dirty="0"/>
              <a:t>. </a:t>
            </a:r>
          </a:p>
          <a:p>
            <a:r>
              <a:rPr lang="en-US" b="1" dirty="0" err="1"/>
              <a:t>Variabile</a:t>
            </a:r>
            <a:r>
              <a:rPr lang="en-US" b="1" dirty="0"/>
              <a:t> volatile</a:t>
            </a:r>
            <a:r>
              <a:rPr lang="en-US" dirty="0"/>
              <a:t>:  </a:t>
            </a:r>
            <a:r>
              <a:rPr lang="en-US" dirty="0" err="1"/>
              <a:t>scrierea</a:t>
            </a:r>
            <a:r>
              <a:rPr lang="en-US" dirty="0"/>
              <a:t> </a:t>
            </a:r>
            <a:r>
              <a:rPr lang="en-US" dirty="0" err="1"/>
              <a:t>unei</a:t>
            </a:r>
            <a:r>
              <a:rPr lang="en-US" dirty="0"/>
              <a:t> </a:t>
            </a:r>
            <a:r>
              <a:rPr lang="en-US" dirty="0" err="1"/>
              <a:t>variabile</a:t>
            </a:r>
            <a:r>
              <a:rPr lang="en-US" dirty="0"/>
              <a:t> volatile </a:t>
            </a:r>
            <a:r>
              <a:rPr lang="en-US" dirty="0" err="1"/>
              <a:t>este</a:t>
            </a:r>
            <a:r>
              <a:rPr lang="en-US" dirty="0"/>
              <a:t> in </a:t>
            </a:r>
            <a:r>
              <a:rPr lang="en-US" dirty="0" err="1"/>
              <a:t>relatia</a:t>
            </a:r>
            <a:r>
              <a:rPr lang="en-US" dirty="0"/>
              <a:t> </a:t>
            </a:r>
            <a:r>
              <a:rPr lang="en-US" i="1" dirty="0"/>
              <a:t>happens-before</a:t>
            </a:r>
            <a:r>
              <a:rPr lang="en-US" dirty="0"/>
              <a:t> cu </a:t>
            </a:r>
            <a:r>
              <a:rPr lang="en-US" dirty="0" err="1"/>
              <a:t>orice</a:t>
            </a:r>
            <a:r>
              <a:rPr lang="en-US" dirty="0"/>
              <a:t> </a:t>
            </a:r>
            <a:r>
              <a:rPr lang="en-US" dirty="0" err="1"/>
              <a:t>citire</a:t>
            </a:r>
            <a:r>
              <a:rPr lang="en-US" dirty="0"/>
              <a:t> </a:t>
            </a:r>
            <a:r>
              <a:rPr lang="en-US" dirty="0" err="1"/>
              <a:t>ulterioara</a:t>
            </a:r>
            <a:r>
              <a:rPr lang="en-US" dirty="0"/>
              <a:t> a </a:t>
            </a:r>
            <a:r>
              <a:rPr lang="en-US" dirty="0" err="1"/>
              <a:t>variabilei</a:t>
            </a:r>
            <a:r>
              <a:rPr lang="en-US" dirty="0"/>
              <a:t>.</a:t>
            </a:r>
          </a:p>
          <a:p>
            <a:r>
              <a:rPr lang="en-US" b="1" dirty="0" err="1"/>
              <a:t>Thread.start</a:t>
            </a:r>
            <a:r>
              <a:rPr lang="en-US" b="1" dirty="0"/>
              <a:t>():  </a:t>
            </a:r>
            <a:r>
              <a:rPr lang="en-US" dirty="0" err="1"/>
              <a:t>actiunea</a:t>
            </a:r>
            <a:r>
              <a:rPr lang="en-US" dirty="0"/>
              <a:t> </a:t>
            </a:r>
            <a:r>
              <a:rPr lang="en-US" i="1" dirty="0"/>
              <a:t>thread1.start() </a:t>
            </a:r>
            <a:r>
              <a:rPr lang="en-US" dirty="0" err="1"/>
              <a:t>este</a:t>
            </a:r>
            <a:r>
              <a:rPr lang="en-US" dirty="0"/>
              <a:t> in </a:t>
            </a:r>
            <a:r>
              <a:rPr lang="en-US" dirty="0" err="1"/>
              <a:t>relatia</a:t>
            </a:r>
            <a:r>
              <a:rPr lang="en-US" dirty="0"/>
              <a:t> </a:t>
            </a:r>
            <a:r>
              <a:rPr lang="en-US" i="1" dirty="0"/>
              <a:t>happens-before</a:t>
            </a:r>
            <a:r>
              <a:rPr lang="en-US" dirty="0"/>
              <a:t> cu </a:t>
            </a:r>
            <a:r>
              <a:rPr lang="en-US" dirty="0" err="1"/>
              <a:t>orice</a:t>
            </a:r>
            <a:r>
              <a:rPr lang="en-US" dirty="0"/>
              <a:t> </a:t>
            </a:r>
            <a:r>
              <a:rPr lang="en-US" dirty="0" err="1"/>
              <a:t>actiune</a:t>
            </a:r>
            <a:r>
              <a:rPr lang="en-US" dirty="0"/>
              <a:t> din </a:t>
            </a:r>
            <a:r>
              <a:rPr lang="en-US" i="1" dirty="0"/>
              <a:t>thread1</a:t>
            </a:r>
          </a:p>
          <a:p>
            <a:r>
              <a:rPr lang="en-US" i="1" dirty="0"/>
              <a:t>    </a:t>
            </a:r>
            <a:r>
              <a:rPr lang="en-US" dirty="0" err="1"/>
              <a:t>actiunea</a:t>
            </a:r>
            <a:r>
              <a:rPr lang="en-US" dirty="0"/>
              <a:t> de </a:t>
            </a:r>
            <a:r>
              <a:rPr lang="en-US" dirty="0" err="1"/>
              <a:t>pornire</a:t>
            </a:r>
            <a:r>
              <a:rPr lang="en-US" dirty="0"/>
              <a:t> a </a:t>
            </a:r>
            <a:r>
              <a:rPr lang="en-US" dirty="0" err="1"/>
              <a:t>unui</a:t>
            </a:r>
            <a:r>
              <a:rPr lang="en-US" dirty="0"/>
              <a:t> thread </a:t>
            </a:r>
            <a:r>
              <a:rPr lang="en-US" dirty="0" err="1"/>
              <a:t>este</a:t>
            </a:r>
            <a:r>
              <a:rPr lang="en-US" dirty="0"/>
              <a:t> in </a:t>
            </a:r>
            <a:r>
              <a:rPr lang="en-US" dirty="0" err="1"/>
              <a:t>relatia</a:t>
            </a:r>
            <a:r>
              <a:rPr lang="en-US" dirty="0"/>
              <a:t> </a:t>
            </a:r>
            <a:r>
              <a:rPr lang="en-US" i="1" dirty="0"/>
              <a:t>happens-before </a:t>
            </a:r>
            <a:r>
              <a:rPr lang="en-US" dirty="0"/>
              <a:t>cu </a:t>
            </a:r>
            <a:r>
              <a:rPr lang="en-US" dirty="0" err="1"/>
              <a:t>orice</a:t>
            </a:r>
            <a:r>
              <a:rPr lang="en-US" dirty="0"/>
              <a:t> </a:t>
            </a:r>
            <a:r>
              <a:rPr lang="en-US" dirty="0" err="1"/>
              <a:t>alta</a:t>
            </a:r>
            <a:r>
              <a:rPr lang="en-US" dirty="0"/>
              <a:t> </a:t>
            </a:r>
            <a:r>
              <a:rPr lang="en-US" dirty="0" err="1"/>
              <a:t>actiune</a:t>
            </a:r>
            <a:r>
              <a:rPr lang="en-US" dirty="0"/>
              <a:t> din thread-</a:t>
            </a:r>
            <a:r>
              <a:rPr lang="en-US" dirty="0" err="1"/>
              <a:t>ul</a:t>
            </a:r>
            <a:r>
              <a:rPr lang="en-US" dirty="0"/>
              <a:t> respective</a:t>
            </a:r>
          </a:p>
          <a:p>
            <a:r>
              <a:rPr lang="en-US" b="1" dirty="0" err="1"/>
              <a:t>Thread.join</a:t>
            </a:r>
            <a:r>
              <a:rPr lang="en-US" b="1" dirty="0"/>
              <a:t>():  </a:t>
            </a:r>
            <a:r>
              <a:rPr lang="en-US" dirty="0" err="1"/>
              <a:t>orice</a:t>
            </a:r>
            <a:r>
              <a:rPr lang="en-US" dirty="0"/>
              <a:t> </a:t>
            </a:r>
            <a:r>
              <a:rPr lang="en-US" dirty="0" err="1"/>
              <a:t>actiune</a:t>
            </a:r>
            <a:r>
              <a:rPr lang="en-US" dirty="0"/>
              <a:t> din </a:t>
            </a:r>
            <a:r>
              <a:rPr lang="en-US" i="1" dirty="0"/>
              <a:t>thread1</a:t>
            </a:r>
            <a:r>
              <a:rPr lang="en-US" dirty="0"/>
              <a:t> </a:t>
            </a:r>
            <a:r>
              <a:rPr lang="en-US" dirty="0" err="1"/>
              <a:t>este</a:t>
            </a:r>
            <a:r>
              <a:rPr lang="en-US" dirty="0"/>
              <a:t> in </a:t>
            </a:r>
            <a:r>
              <a:rPr lang="en-US" dirty="0" err="1"/>
              <a:t>relatia</a:t>
            </a:r>
            <a:r>
              <a:rPr lang="en-US" dirty="0"/>
              <a:t> </a:t>
            </a:r>
            <a:r>
              <a:rPr lang="en-US" i="1" dirty="0"/>
              <a:t>happens-before </a:t>
            </a:r>
            <a:r>
              <a:rPr lang="en-US" dirty="0"/>
              <a:t>cu </a:t>
            </a:r>
            <a:r>
              <a:rPr lang="en-US" dirty="0" err="1"/>
              <a:t>orice</a:t>
            </a:r>
            <a:r>
              <a:rPr lang="en-US" dirty="0"/>
              <a:t> </a:t>
            </a:r>
            <a:r>
              <a:rPr lang="en-US" dirty="0" err="1"/>
              <a:t>actiune</a:t>
            </a:r>
            <a:r>
              <a:rPr lang="en-US" dirty="0"/>
              <a:t> </a:t>
            </a:r>
            <a:r>
              <a:rPr lang="en-US" dirty="0" err="1"/>
              <a:t>ulterioara</a:t>
            </a:r>
            <a:r>
              <a:rPr lang="en-US" dirty="0"/>
              <a:t> </a:t>
            </a:r>
            <a:r>
              <a:rPr lang="en-US" dirty="0" err="1"/>
              <a:t>lui</a:t>
            </a:r>
            <a:r>
              <a:rPr lang="en-US" dirty="0"/>
              <a:t> </a:t>
            </a:r>
            <a:r>
              <a:rPr lang="en-US" i="1" dirty="0"/>
              <a:t>thread1.join()</a:t>
            </a:r>
          </a:p>
        </p:txBody>
      </p:sp>
      <p:sp>
        <p:nvSpPr>
          <p:cNvPr id="6" name="TextBox 5"/>
          <p:cNvSpPr txBox="1"/>
          <p:nvPr/>
        </p:nvSpPr>
        <p:spPr>
          <a:xfrm>
            <a:off x="3561767" y="4245936"/>
            <a:ext cx="8248989" cy="338554"/>
          </a:xfrm>
          <a:prstGeom prst="rect">
            <a:avLst/>
          </a:prstGeom>
          <a:noFill/>
        </p:spPr>
        <p:txBody>
          <a:bodyPr wrap="none" rtlCol="0">
            <a:spAutoFit/>
          </a:bodyPr>
          <a:lstStyle/>
          <a:p>
            <a:r>
              <a:rPr lang="en-US" sz="1600" dirty="0">
                <a:hlinkClick r:id="rId2"/>
              </a:rPr>
              <a:t>https://www.logicbig.com/tutorials/core-java-tutorial/java-multi-threading/happens-before.html</a:t>
            </a:r>
            <a:endParaRPr lang="en-US" sz="1600" dirty="0"/>
          </a:p>
        </p:txBody>
      </p:sp>
      <p:sp>
        <p:nvSpPr>
          <p:cNvPr id="7" name="TextBox 6"/>
          <p:cNvSpPr txBox="1"/>
          <p:nvPr/>
        </p:nvSpPr>
        <p:spPr>
          <a:xfrm>
            <a:off x="731506" y="5076933"/>
            <a:ext cx="8398068" cy="646331"/>
          </a:xfrm>
          <a:prstGeom prst="rect">
            <a:avLst/>
          </a:prstGeom>
          <a:noFill/>
        </p:spPr>
        <p:txBody>
          <a:bodyPr wrap="none" rtlCol="0">
            <a:spAutoFit/>
          </a:bodyPr>
          <a:lstStyle/>
          <a:p>
            <a:r>
              <a:rPr lang="en-US" dirty="0" err="1"/>
              <a:t>Exista</a:t>
            </a:r>
            <a:r>
              <a:rPr lang="en-US" dirty="0"/>
              <a:t> </a:t>
            </a:r>
            <a:r>
              <a:rPr lang="en-US" dirty="0" err="1"/>
              <a:t>reguli</a:t>
            </a:r>
            <a:r>
              <a:rPr lang="en-US" dirty="0"/>
              <a:t> care defines </a:t>
            </a:r>
            <a:r>
              <a:rPr lang="en-US" dirty="0" err="1"/>
              <a:t>relatia</a:t>
            </a:r>
            <a:r>
              <a:rPr lang="en-US" dirty="0"/>
              <a:t> happens-before </a:t>
            </a:r>
            <a:r>
              <a:rPr lang="en-US" dirty="0" err="1"/>
              <a:t>pentru</a:t>
            </a:r>
            <a:r>
              <a:rPr lang="en-US" dirty="0"/>
              <a:t>  </a:t>
            </a:r>
            <a:r>
              <a:rPr lang="en-US" dirty="0" err="1"/>
              <a:t>clasele</a:t>
            </a:r>
            <a:r>
              <a:rPr lang="en-US" dirty="0"/>
              <a:t> din </a:t>
            </a:r>
            <a:r>
              <a:rPr lang="en-US" dirty="0" err="1"/>
              <a:t>java.util.concurrent</a:t>
            </a:r>
            <a:r>
              <a:rPr lang="en-US" dirty="0"/>
              <a:t>:</a:t>
            </a:r>
          </a:p>
          <a:p>
            <a:r>
              <a:rPr lang="en-US" dirty="0">
                <a:hlinkClick r:id="rId3"/>
              </a:rPr>
              <a:t> https://docs.oracle.com/javase/specs/jls/se23/html/jls-17.html#jls-17.4</a:t>
            </a:r>
            <a:endParaRPr lang="en-US" dirty="0"/>
          </a:p>
        </p:txBody>
      </p:sp>
    </p:spTree>
    <p:extLst>
      <p:ext uri="{BB962C8B-B14F-4D97-AF65-F5344CB8AC3E}">
        <p14:creationId xmlns:p14="http://schemas.microsoft.com/office/powerpoint/2010/main" val="380683769"/>
      </p:ext>
    </p:extLst>
  </p:cSld>
  <p:clrMapOvr>
    <a:masterClrMapping/>
  </p:clrMapOvr>
</p:sld>
</file>

<file path=ppt/slides/slide4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extBox 1"/>
          <p:cNvSpPr txBox="1"/>
          <p:nvPr/>
        </p:nvSpPr>
        <p:spPr>
          <a:xfrm>
            <a:off x="364525" y="247136"/>
            <a:ext cx="3609899" cy="461665"/>
          </a:xfrm>
          <a:prstGeom prst="rect">
            <a:avLst/>
          </a:prstGeom>
          <a:noFill/>
        </p:spPr>
        <p:txBody>
          <a:bodyPr wrap="none" rtlCol="0">
            <a:spAutoFit/>
          </a:bodyPr>
          <a:lstStyle/>
          <a:p>
            <a:pPr marL="342900" indent="-342900">
              <a:buFont typeface="Wingdings" panose="05000000000000000000" pitchFamily="2" charset="2"/>
              <a:buChar char="Ø"/>
            </a:pPr>
            <a:r>
              <a:rPr lang="en-US" sz="2400" dirty="0" err="1"/>
              <a:t>Vizibilitate</a:t>
            </a:r>
            <a:r>
              <a:rPr lang="en-US" sz="2400" dirty="0"/>
              <a:t> </a:t>
            </a:r>
            <a:r>
              <a:rPr lang="en-US" sz="2400" dirty="0" err="1"/>
              <a:t>si</a:t>
            </a:r>
            <a:r>
              <a:rPr lang="en-US" sz="2400" dirty="0"/>
              <a:t> </a:t>
            </a:r>
            <a:r>
              <a:rPr lang="en-US" sz="2400" dirty="0" err="1"/>
              <a:t>Atomicitate</a:t>
            </a:r>
            <a:endParaRPr lang="en-US" sz="2400" dirty="0"/>
          </a:p>
        </p:txBody>
      </p:sp>
      <p:sp>
        <p:nvSpPr>
          <p:cNvPr id="7" name="TextBox 6"/>
          <p:cNvSpPr txBox="1"/>
          <p:nvPr/>
        </p:nvSpPr>
        <p:spPr>
          <a:xfrm>
            <a:off x="716300" y="782122"/>
            <a:ext cx="184731" cy="984885"/>
          </a:xfrm>
          <a:prstGeom prst="rect">
            <a:avLst/>
          </a:prstGeom>
          <a:noFill/>
        </p:spPr>
        <p:txBody>
          <a:bodyPr wrap="none" rtlCol="0">
            <a:spAutoFit/>
          </a:bodyPr>
          <a:lstStyle/>
          <a:p>
            <a:endParaRPr lang="en-US" sz="2000" dirty="0"/>
          </a:p>
          <a:p>
            <a:endParaRPr lang="en-US" sz="2000" dirty="0"/>
          </a:p>
          <a:p>
            <a:endParaRPr lang="en-US" dirty="0"/>
          </a:p>
        </p:txBody>
      </p:sp>
      <p:sp>
        <p:nvSpPr>
          <p:cNvPr id="3" name="TextBox 2">
            <a:extLst>
              <a:ext uri="{FF2B5EF4-FFF2-40B4-BE49-F238E27FC236}">
                <a16:creationId xmlns:a16="http://schemas.microsoft.com/office/drawing/2014/main" id="{F6D313BD-6687-DA77-EB97-EB3C41CE68CE}"/>
              </a:ext>
            </a:extLst>
          </p:cNvPr>
          <p:cNvSpPr txBox="1"/>
          <p:nvPr/>
        </p:nvSpPr>
        <p:spPr>
          <a:xfrm>
            <a:off x="808665" y="1148080"/>
            <a:ext cx="5230214" cy="984885"/>
          </a:xfrm>
          <a:prstGeom prst="rect">
            <a:avLst/>
          </a:prstGeom>
          <a:noFill/>
        </p:spPr>
        <p:txBody>
          <a:bodyPr wrap="none" rtlCol="0">
            <a:spAutoFit/>
          </a:bodyPr>
          <a:lstStyle/>
          <a:p>
            <a:r>
              <a:rPr lang="en-US" sz="2000" dirty="0" err="1"/>
              <a:t>Interactiune</a:t>
            </a:r>
            <a:r>
              <a:rPr lang="en-US" sz="2000" dirty="0"/>
              <a:t> </a:t>
            </a:r>
            <a:r>
              <a:rPr lang="en-US" sz="2000" dirty="0" err="1"/>
              <a:t>dintre</a:t>
            </a:r>
            <a:r>
              <a:rPr lang="en-US" sz="2000" dirty="0"/>
              <a:t> thread-</a:t>
            </a:r>
            <a:r>
              <a:rPr lang="en-US" sz="2000" dirty="0" err="1"/>
              <a:t>uri</a:t>
            </a:r>
            <a:r>
              <a:rPr lang="en-US" sz="2000" dirty="0"/>
              <a:t> </a:t>
            </a:r>
            <a:r>
              <a:rPr lang="en-US" sz="2000" dirty="0" err="1"/>
              <a:t>trebuie</a:t>
            </a:r>
            <a:r>
              <a:rPr lang="en-US" sz="2000" dirty="0"/>
              <a:t> </a:t>
            </a:r>
            <a:r>
              <a:rPr lang="en-US" sz="2000" dirty="0" err="1"/>
              <a:t>sa</a:t>
            </a:r>
            <a:r>
              <a:rPr lang="en-US" sz="2000" dirty="0"/>
              <a:t> </a:t>
            </a:r>
            <a:r>
              <a:rPr lang="en-US" sz="2000" dirty="0" err="1"/>
              <a:t>asigure</a:t>
            </a:r>
            <a:r>
              <a:rPr lang="en-US" sz="2000" dirty="0"/>
              <a:t>:</a:t>
            </a:r>
          </a:p>
          <a:p>
            <a:endParaRPr lang="en-US" sz="2000" dirty="0"/>
          </a:p>
          <a:p>
            <a:endParaRPr lang="en-GB" dirty="0"/>
          </a:p>
        </p:txBody>
      </p:sp>
      <p:sp>
        <p:nvSpPr>
          <p:cNvPr id="5" name="TextBox 4">
            <a:extLst>
              <a:ext uri="{FF2B5EF4-FFF2-40B4-BE49-F238E27FC236}">
                <a16:creationId xmlns:a16="http://schemas.microsoft.com/office/drawing/2014/main" id="{C5CE02A3-C3ED-FF10-CED8-66392A7A3213}"/>
              </a:ext>
            </a:extLst>
          </p:cNvPr>
          <p:cNvSpPr txBox="1"/>
          <p:nvPr/>
        </p:nvSpPr>
        <p:spPr>
          <a:xfrm>
            <a:off x="716300" y="1910524"/>
            <a:ext cx="10923503" cy="1323439"/>
          </a:xfrm>
          <a:prstGeom prst="rect">
            <a:avLst/>
          </a:prstGeom>
          <a:noFill/>
        </p:spPr>
        <p:txBody>
          <a:bodyPr wrap="none" rtlCol="0">
            <a:spAutoFit/>
          </a:bodyPr>
          <a:lstStyle/>
          <a:p>
            <a:pPr marL="342900" indent="-342900">
              <a:buFont typeface="Arial" panose="020B0604020202020204" pitchFamily="34" charset="0"/>
              <a:buChar char="•"/>
            </a:pPr>
            <a:r>
              <a:rPr lang="en-US" sz="2000" i="1" dirty="0" err="1"/>
              <a:t>Excludere</a:t>
            </a:r>
            <a:r>
              <a:rPr lang="en-US" sz="2000" i="1" dirty="0"/>
              <a:t> </a:t>
            </a:r>
            <a:r>
              <a:rPr lang="en-US" sz="2000" i="1" dirty="0" err="1"/>
              <a:t>mutuala</a:t>
            </a:r>
            <a:r>
              <a:rPr lang="en-US" sz="2000" i="1" dirty="0"/>
              <a:t> </a:t>
            </a:r>
            <a:r>
              <a:rPr lang="en-US" sz="2000" dirty="0"/>
              <a:t>-  </a:t>
            </a:r>
            <a:r>
              <a:rPr lang="en-US" sz="2000" dirty="0" err="1"/>
              <a:t>numai</a:t>
            </a:r>
            <a:r>
              <a:rPr lang="en-US" sz="2000" dirty="0"/>
              <a:t> un thread </a:t>
            </a:r>
            <a:r>
              <a:rPr lang="en-US" sz="2000" dirty="0" err="1"/>
              <a:t>executa</a:t>
            </a:r>
            <a:r>
              <a:rPr lang="en-US" sz="2000" dirty="0"/>
              <a:t> o </a:t>
            </a:r>
            <a:r>
              <a:rPr lang="en-US" sz="2000" dirty="0" err="1"/>
              <a:t>sectiune</a:t>
            </a:r>
            <a:r>
              <a:rPr lang="en-US" sz="2000" dirty="0"/>
              <a:t> </a:t>
            </a:r>
            <a:r>
              <a:rPr lang="en-US" sz="2000" dirty="0" err="1"/>
              <a:t>critica</a:t>
            </a:r>
            <a:r>
              <a:rPr lang="en-US" sz="2000" dirty="0"/>
              <a:t> </a:t>
            </a:r>
          </a:p>
          <a:p>
            <a:r>
              <a:rPr lang="en-US" sz="2000" dirty="0"/>
              <a:t>                                                                                       (o </a:t>
            </a:r>
            <a:r>
              <a:rPr lang="en-US" sz="2000" dirty="0" err="1"/>
              <a:t>parte</a:t>
            </a:r>
            <a:r>
              <a:rPr lang="en-US" sz="2000" dirty="0"/>
              <a:t> in care </a:t>
            </a:r>
            <a:r>
              <a:rPr lang="en-US" sz="2000" dirty="0" err="1"/>
              <a:t>accesul</a:t>
            </a:r>
            <a:r>
              <a:rPr lang="en-US" sz="2000" dirty="0"/>
              <a:t> la </a:t>
            </a:r>
            <a:r>
              <a:rPr lang="en-US" sz="2000" dirty="0" err="1"/>
              <a:t>resurse</a:t>
            </a:r>
            <a:r>
              <a:rPr lang="en-US" sz="2000" dirty="0"/>
              <a:t> </a:t>
            </a:r>
            <a:r>
              <a:rPr lang="en-US" sz="2000" dirty="0" err="1"/>
              <a:t>trebuie</a:t>
            </a:r>
            <a:r>
              <a:rPr lang="en-US" sz="2000" dirty="0"/>
              <a:t> </a:t>
            </a:r>
            <a:r>
              <a:rPr lang="en-US" sz="2000" dirty="0" err="1"/>
              <a:t>sincronizat</a:t>
            </a:r>
            <a:r>
              <a:rPr lang="en-US" sz="2000" dirty="0"/>
              <a:t>)</a:t>
            </a:r>
          </a:p>
          <a:p>
            <a:endParaRPr lang="en-US" sz="2000" dirty="0"/>
          </a:p>
          <a:p>
            <a:pPr marL="342900" indent="-342900">
              <a:buFont typeface="Arial" panose="020B0604020202020204" pitchFamily="34" charset="0"/>
              <a:buChar char="•"/>
            </a:pPr>
            <a:r>
              <a:rPr lang="en-US" sz="2000" i="1" dirty="0" err="1"/>
              <a:t>Vizibilitate</a:t>
            </a:r>
            <a:r>
              <a:rPr lang="en-US" sz="2000" dirty="0"/>
              <a:t> – </a:t>
            </a:r>
            <a:r>
              <a:rPr lang="en-US" sz="2000" dirty="0" err="1"/>
              <a:t>modificarile</a:t>
            </a:r>
            <a:r>
              <a:rPr lang="en-US" sz="2000" dirty="0"/>
              <a:t>  </a:t>
            </a:r>
            <a:r>
              <a:rPr lang="en-US" sz="2000" dirty="0" err="1"/>
              <a:t>datelor</a:t>
            </a:r>
            <a:r>
              <a:rPr lang="en-US" sz="2000" dirty="0"/>
              <a:t> </a:t>
            </a:r>
            <a:r>
              <a:rPr lang="en-US" sz="2000" dirty="0" err="1"/>
              <a:t>partajate</a:t>
            </a:r>
            <a:r>
              <a:rPr lang="en-US" sz="2000" dirty="0"/>
              <a:t> </a:t>
            </a:r>
            <a:r>
              <a:rPr lang="en-US" sz="2000" dirty="0" err="1"/>
              <a:t>facute</a:t>
            </a:r>
            <a:r>
              <a:rPr lang="en-US" sz="2000" dirty="0"/>
              <a:t> de un thread sunt </a:t>
            </a:r>
            <a:r>
              <a:rPr lang="en-US" sz="2000" dirty="0" err="1"/>
              <a:t>vizibile</a:t>
            </a:r>
            <a:r>
              <a:rPr lang="en-US" sz="2000" dirty="0"/>
              <a:t> </a:t>
            </a:r>
            <a:r>
              <a:rPr lang="en-US" sz="2000" dirty="0" err="1"/>
              <a:t>celorlalte</a:t>
            </a:r>
            <a:r>
              <a:rPr lang="en-US" sz="2000" dirty="0"/>
              <a:t> thread-</a:t>
            </a:r>
            <a:r>
              <a:rPr lang="en-US" sz="2000" dirty="0" err="1"/>
              <a:t>uri</a:t>
            </a:r>
            <a:endParaRPr lang="en-GB" sz="2000" dirty="0"/>
          </a:p>
        </p:txBody>
      </p:sp>
      <p:sp>
        <p:nvSpPr>
          <p:cNvPr id="6" name="TextBox 5">
            <a:extLst>
              <a:ext uri="{FF2B5EF4-FFF2-40B4-BE49-F238E27FC236}">
                <a16:creationId xmlns:a16="http://schemas.microsoft.com/office/drawing/2014/main" id="{EC8A1624-4300-7ECD-09D2-5C63E56020E5}"/>
              </a:ext>
            </a:extLst>
          </p:cNvPr>
          <p:cNvSpPr txBox="1"/>
          <p:nvPr/>
        </p:nvSpPr>
        <p:spPr>
          <a:xfrm>
            <a:off x="1026160" y="3996407"/>
            <a:ext cx="10692158" cy="1631216"/>
          </a:xfrm>
          <a:prstGeom prst="rect">
            <a:avLst/>
          </a:prstGeom>
          <a:noFill/>
        </p:spPr>
        <p:txBody>
          <a:bodyPr wrap="none" rtlCol="0">
            <a:spAutoFit/>
          </a:bodyPr>
          <a:lstStyle/>
          <a:p>
            <a:r>
              <a:rPr lang="en-US" sz="2000" dirty="0" err="1"/>
              <a:t>Metodele</a:t>
            </a:r>
            <a:r>
              <a:rPr lang="en-US" sz="2000" dirty="0"/>
              <a:t> </a:t>
            </a:r>
            <a:r>
              <a:rPr lang="en-US" sz="2000" dirty="0" err="1"/>
              <a:t>sincronizate</a:t>
            </a:r>
            <a:r>
              <a:rPr lang="en-US" sz="2000" dirty="0"/>
              <a:t>  (</a:t>
            </a:r>
            <a:r>
              <a:rPr lang="en-US" sz="2000" dirty="0" err="1"/>
              <a:t>si</a:t>
            </a:r>
            <a:r>
              <a:rPr lang="en-US" sz="2000" dirty="0"/>
              <a:t> </a:t>
            </a:r>
            <a:r>
              <a:rPr lang="en-US" sz="2000" dirty="0" err="1"/>
              <a:t>lacatele</a:t>
            </a:r>
            <a:r>
              <a:rPr lang="en-US" sz="2000" dirty="0"/>
              <a:t>) </a:t>
            </a:r>
            <a:r>
              <a:rPr lang="en-US" sz="2000" dirty="0" err="1"/>
              <a:t>asigura</a:t>
            </a:r>
            <a:r>
              <a:rPr lang="en-US" sz="2000" dirty="0"/>
              <a:t> </a:t>
            </a:r>
            <a:r>
              <a:rPr lang="en-US" sz="2000" dirty="0" err="1"/>
              <a:t>ambele</a:t>
            </a:r>
            <a:r>
              <a:rPr lang="en-US" sz="2000" dirty="0"/>
              <a:t> </a:t>
            </a:r>
            <a:r>
              <a:rPr lang="en-US" sz="2000" dirty="0" err="1"/>
              <a:t>proprietati</a:t>
            </a:r>
            <a:r>
              <a:rPr lang="en-US" sz="2000" dirty="0"/>
              <a:t>, </a:t>
            </a:r>
            <a:r>
              <a:rPr lang="en-US" sz="2000" dirty="0" err="1"/>
              <a:t>dar</a:t>
            </a:r>
            <a:r>
              <a:rPr lang="en-US" sz="2000" dirty="0"/>
              <a:t> au cost computational </a:t>
            </a:r>
            <a:r>
              <a:rPr lang="en-US" sz="2000" dirty="0" err="1"/>
              <a:t>mai</a:t>
            </a:r>
            <a:r>
              <a:rPr lang="en-US" sz="2000" dirty="0"/>
              <a:t> </a:t>
            </a:r>
            <a:r>
              <a:rPr lang="en-US" sz="2000" dirty="0" err="1"/>
              <a:t>ridicat</a:t>
            </a:r>
            <a:r>
              <a:rPr lang="en-US" sz="2000" dirty="0"/>
              <a:t>.</a:t>
            </a:r>
          </a:p>
          <a:p>
            <a:endParaRPr lang="en-US" sz="2000" dirty="0"/>
          </a:p>
          <a:p>
            <a:r>
              <a:rPr lang="en-US" sz="2000" dirty="0" err="1"/>
              <a:t>Metode</a:t>
            </a:r>
            <a:r>
              <a:rPr lang="en-US" sz="2000" dirty="0"/>
              <a:t> </a:t>
            </a:r>
            <a:r>
              <a:rPr lang="en-US" sz="2000" dirty="0" err="1"/>
              <a:t>mai</a:t>
            </a:r>
            <a:r>
              <a:rPr lang="en-US" sz="2000" dirty="0"/>
              <a:t> simple: </a:t>
            </a:r>
          </a:p>
          <a:p>
            <a:pPr marL="342900" indent="-342900">
              <a:buFont typeface="Arial" panose="020B0604020202020204" pitchFamily="34" charset="0"/>
              <a:buChar char="•"/>
            </a:pPr>
            <a:r>
              <a:rPr lang="en-US" sz="2000" dirty="0"/>
              <a:t>     </a:t>
            </a:r>
            <a:r>
              <a:rPr lang="en-US" sz="2000" dirty="0" err="1"/>
              <a:t>variabilele</a:t>
            </a:r>
            <a:r>
              <a:rPr lang="en-US" sz="2000" dirty="0"/>
              <a:t> </a:t>
            </a:r>
            <a:r>
              <a:rPr lang="en-US" sz="2000" b="1" dirty="0" err="1"/>
              <a:t>atomice</a:t>
            </a:r>
            <a:r>
              <a:rPr lang="en-US" sz="2000" dirty="0"/>
              <a:t>: </a:t>
            </a:r>
            <a:r>
              <a:rPr lang="en-US" sz="2000" dirty="0" err="1"/>
              <a:t>operatiile</a:t>
            </a:r>
            <a:r>
              <a:rPr lang="en-US" sz="2000" dirty="0"/>
              <a:t> sunt </a:t>
            </a:r>
            <a:r>
              <a:rPr lang="en-US" sz="2000" dirty="0" err="1"/>
              <a:t>implementate</a:t>
            </a:r>
            <a:r>
              <a:rPr lang="en-US" sz="2000" dirty="0"/>
              <a:t> </a:t>
            </a:r>
            <a:r>
              <a:rPr lang="en-US" sz="2000" dirty="0" err="1"/>
              <a:t>prin</a:t>
            </a:r>
            <a:r>
              <a:rPr lang="en-US" sz="2000" dirty="0"/>
              <a:t> </a:t>
            </a:r>
            <a:r>
              <a:rPr lang="en-US" sz="2000" dirty="0" err="1"/>
              <a:t>instructiuni</a:t>
            </a:r>
            <a:r>
              <a:rPr lang="en-US" sz="2000" dirty="0"/>
              <a:t> compare-and-swap</a:t>
            </a:r>
          </a:p>
          <a:p>
            <a:pPr marL="342900" indent="-342900">
              <a:buFont typeface="Arial" panose="020B0604020202020204" pitchFamily="34" charset="0"/>
              <a:buChar char="•"/>
            </a:pPr>
            <a:r>
              <a:rPr lang="en-US" sz="2000" dirty="0"/>
              <a:t>     </a:t>
            </a:r>
            <a:r>
              <a:rPr lang="en-US" sz="2000" dirty="0" err="1"/>
              <a:t>variabilele</a:t>
            </a:r>
            <a:r>
              <a:rPr lang="en-US" sz="2000" dirty="0"/>
              <a:t> </a:t>
            </a:r>
            <a:r>
              <a:rPr lang="en-US" sz="2000" b="1" dirty="0"/>
              <a:t>volatile</a:t>
            </a:r>
            <a:r>
              <a:rPr lang="en-US" sz="2000" dirty="0"/>
              <a:t> : </a:t>
            </a:r>
            <a:r>
              <a:rPr lang="en-US" sz="2000" dirty="0" err="1"/>
              <a:t>asigura</a:t>
            </a:r>
            <a:r>
              <a:rPr lang="en-US" sz="2000" dirty="0"/>
              <a:t> </a:t>
            </a:r>
            <a:r>
              <a:rPr lang="en-US" sz="2000" dirty="0" err="1"/>
              <a:t>vizibilitatea</a:t>
            </a:r>
            <a:r>
              <a:rPr lang="en-US" sz="2000" dirty="0"/>
              <a:t> </a:t>
            </a:r>
            <a:r>
              <a:rPr lang="en-US" sz="2000" dirty="0" err="1"/>
              <a:t>dar</a:t>
            </a:r>
            <a:r>
              <a:rPr lang="en-US" sz="2000" dirty="0"/>
              <a:t> nu </a:t>
            </a:r>
            <a:r>
              <a:rPr lang="en-US" sz="2000" dirty="0" err="1"/>
              <a:t>si</a:t>
            </a:r>
            <a:r>
              <a:rPr lang="en-US" sz="2000" dirty="0"/>
              <a:t> </a:t>
            </a:r>
            <a:r>
              <a:rPr lang="en-US" sz="2000" dirty="0" err="1"/>
              <a:t>atomicitatea</a:t>
            </a:r>
            <a:endParaRPr lang="en-GB" sz="2000" dirty="0"/>
          </a:p>
        </p:txBody>
      </p:sp>
    </p:spTree>
    <p:extLst>
      <p:ext uri="{BB962C8B-B14F-4D97-AF65-F5344CB8AC3E}">
        <p14:creationId xmlns:p14="http://schemas.microsoft.com/office/powerpoint/2010/main" val="930187728"/>
      </p:ext>
    </p:extLst>
  </p:cSld>
  <p:clrMapOvr>
    <a:masterClrMapping/>
  </p:clrMapOvr>
</p:sld>
</file>

<file path=ppt/slides/slide4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extBox 1"/>
          <p:cNvSpPr txBox="1"/>
          <p:nvPr/>
        </p:nvSpPr>
        <p:spPr>
          <a:xfrm>
            <a:off x="216243" y="284206"/>
            <a:ext cx="6570517" cy="1138773"/>
          </a:xfrm>
          <a:prstGeom prst="rect">
            <a:avLst/>
          </a:prstGeom>
          <a:noFill/>
        </p:spPr>
        <p:txBody>
          <a:bodyPr wrap="none" rtlCol="0">
            <a:spAutoFit/>
          </a:bodyPr>
          <a:lstStyle/>
          <a:p>
            <a:pPr marL="285750" indent="-285750">
              <a:buFont typeface="Wingdings" panose="05000000000000000000" pitchFamily="2" charset="2"/>
              <a:buChar char="Ø"/>
            </a:pPr>
            <a:r>
              <a:rPr lang="en-US" sz="2400" dirty="0" err="1"/>
              <a:t>Variabile</a:t>
            </a:r>
            <a:r>
              <a:rPr lang="en-US" sz="2400" dirty="0"/>
              <a:t> </a:t>
            </a:r>
            <a:r>
              <a:rPr lang="en-US" sz="2400" dirty="0" err="1"/>
              <a:t>atomice</a:t>
            </a:r>
            <a:endParaRPr lang="en-US" sz="2400" dirty="0"/>
          </a:p>
          <a:p>
            <a:r>
              <a:rPr lang="en-US" sz="2400" dirty="0"/>
              <a:t>   </a:t>
            </a:r>
            <a:r>
              <a:rPr lang="en-US" sz="2000" dirty="0" err="1"/>
              <a:t>sunt</a:t>
            </a:r>
            <a:r>
              <a:rPr lang="en-US" sz="2000" dirty="0"/>
              <a:t> </a:t>
            </a:r>
            <a:r>
              <a:rPr lang="en-US" sz="2000" dirty="0" err="1"/>
              <a:t>implementate</a:t>
            </a:r>
            <a:r>
              <a:rPr lang="en-US" sz="2000" dirty="0"/>
              <a:t> </a:t>
            </a:r>
            <a:r>
              <a:rPr lang="en-US" sz="2000" dirty="0" err="1"/>
              <a:t>folosind</a:t>
            </a:r>
            <a:r>
              <a:rPr lang="en-US" sz="2000" dirty="0"/>
              <a:t> </a:t>
            </a:r>
            <a:r>
              <a:rPr lang="en-US" sz="2000" dirty="0" err="1"/>
              <a:t>instructiuni</a:t>
            </a:r>
            <a:r>
              <a:rPr lang="en-US" sz="2000" dirty="0"/>
              <a:t> compare-and-swap</a:t>
            </a:r>
          </a:p>
          <a:p>
            <a:r>
              <a:rPr lang="en-US" sz="2000" dirty="0"/>
              <a:t>   care </a:t>
            </a:r>
            <a:r>
              <a:rPr lang="en-US" sz="2000" dirty="0" err="1"/>
              <a:t>sunt</a:t>
            </a:r>
            <a:r>
              <a:rPr lang="en-US" sz="2000" dirty="0"/>
              <a:t> </a:t>
            </a:r>
            <a:r>
              <a:rPr lang="en-US" sz="2000" dirty="0" err="1"/>
              <a:t>mai</a:t>
            </a:r>
            <a:r>
              <a:rPr lang="en-US" sz="2000" dirty="0"/>
              <a:t> </a:t>
            </a:r>
            <a:r>
              <a:rPr lang="en-US" sz="2000" dirty="0" err="1"/>
              <a:t>rapide</a:t>
            </a:r>
            <a:endParaRPr lang="en-US" sz="2000" dirty="0"/>
          </a:p>
        </p:txBody>
      </p:sp>
      <p:sp>
        <p:nvSpPr>
          <p:cNvPr id="3" name="TextBox 2"/>
          <p:cNvSpPr txBox="1"/>
          <p:nvPr/>
        </p:nvSpPr>
        <p:spPr>
          <a:xfrm>
            <a:off x="216243" y="1633081"/>
            <a:ext cx="8581768" cy="4524315"/>
          </a:xfrm>
          <a:prstGeom prst="rect">
            <a:avLst/>
          </a:prstGeom>
          <a:noFill/>
          <a:ln>
            <a:solidFill>
              <a:srgbClr val="00B050"/>
            </a:solidFill>
          </a:ln>
        </p:spPr>
        <p:txBody>
          <a:bodyPr wrap="square" rtlCol="0">
            <a:spAutoFit/>
          </a:bodyPr>
          <a:lstStyle/>
          <a:p>
            <a:r>
              <a:rPr lang="en-US" dirty="0"/>
              <a:t>import </a:t>
            </a:r>
            <a:r>
              <a:rPr lang="en-US" dirty="0" err="1"/>
              <a:t>java.util.concurrent.atomic.AtomicInteger</a:t>
            </a:r>
            <a:r>
              <a:rPr lang="en-US" dirty="0"/>
              <a:t>;</a:t>
            </a:r>
          </a:p>
          <a:p>
            <a:r>
              <a:rPr lang="en-GB" dirty="0"/>
              <a:t>public class </a:t>
            </a:r>
            <a:r>
              <a:rPr lang="en-GB" dirty="0" err="1"/>
              <a:t>AtomicCounter</a:t>
            </a:r>
            <a:r>
              <a:rPr lang="en-GB" dirty="0"/>
              <a:t> {</a:t>
            </a:r>
          </a:p>
          <a:p>
            <a:r>
              <a:rPr lang="en-GB" dirty="0"/>
              <a:t> private static  </a:t>
            </a:r>
            <a:r>
              <a:rPr lang="en-GB" b="1" dirty="0" err="1"/>
              <a:t>AtomicInteger</a:t>
            </a:r>
            <a:r>
              <a:rPr lang="en-GB" b="1" dirty="0"/>
              <a:t> counter = new </a:t>
            </a:r>
            <a:r>
              <a:rPr lang="en-GB" b="1" dirty="0" err="1"/>
              <a:t>AtomicInteger</a:t>
            </a:r>
            <a:r>
              <a:rPr lang="en-GB" b="1" dirty="0"/>
              <a:t>();</a:t>
            </a:r>
          </a:p>
          <a:p>
            <a:endParaRPr lang="en-GB" dirty="0"/>
          </a:p>
          <a:p>
            <a:r>
              <a:rPr lang="en-GB" dirty="0"/>
              <a:t>public static void main(String[] </a:t>
            </a:r>
            <a:r>
              <a:rPr lang="en-GB" dirty="0" err="1"/>
              <a:t>args</a:t>
            </a:r>
            <a:r>
              <a:rPr lang="en-GB" dirty="0"/>
              <a:t>) throws </a:t>
            </a:r>
            <a:r>
              <a:rPr lang="en-GB" dirty="0" err="1"/>
              <a:t>InterruptedException</a:t>
            </a:r>
            <a:r>
              <a:rPr lang="en-GB" dirty="0"/>
              <a:t>{</a:t>
            </a:r>
          </a:p>
          <a:p>
            <a:r>
              <a:rPr lang="en-GB" dirty="0"/>
              <a:t>Thread t1 = new Thread(new Runnable() {</a:t>
            </a:r>
          </a:p>
          <a:p>
            <a:r>
              <a:rPr lang="en-GB" dirty="0"/>
              <a:t>                             public void run() {for (int </a:t>
            </a:r>
            <a:r>
              <a:rPr lang="en-GB" dirty="0" err="1"/>
              <a:t>i</a:t>
            </a:r>
            <a:r>
              <a:rPr lang="en-GB" dirty="0"/>
              <a:t> = 0; </a:t>
            </a:r>
            <a:r>
              <a:rPr lang="en-GB" dirty="0" err="1"/>
              <a:t>i</a:t>
            </a:r>
            <a:r>
              <a:rPr lang="en-GB" dirty="0"/>
              <a:t> &lt; 1000; </a:t>
            </a:r>
            <a:r>
              <a:rPr lang="en-GB" dirty="0" err="1"/>
              <a:t>i</a:t>
            </a:r>
            <a:r>
              <a:rPr lang="en-GB" dirty="0"/>
              <a:t>++) </a:t>
            </a:r>
            <a:r>
              <a:rPr lang="en-GB" b="1" dirty="0" err="1"/>
              <a:t>counter.incrementAndGet</a:t>
            </a:r>
            <a:r>
              <a:rPr lang="en-GB" b="1" dirty="0"/>
              <a:t>()</a:t>
            </a:r>
            <a:r>
              <a:rPr lang="en-GB" dirty="0"/>
              <a:t>;  });</a:t>
            </a:r>
          </a:p>
          <a:p>
            <a:endParaRPr lang="en-GB" dirty="0"/>
          </a:p>
          <a:p>
            <a:r>
              <a:rPr lang="en-GB" dirty="0"/>
              <a:t>Thread t2 = new Thread(new Runnable() {</a:t>
            </a:r>
          </a:p>
          <a:p>
            <a:r>
              <a:rPr lang="en-GB" dirty="0"/>
              <a:t>                            public void run() {for (int </a:t>
            </a:r>
            <a:r>
              <a:rPr lang="en-GB" dirty="0" err="1"/>
              <a:t>i</a:t>
            </a:r>
            <a:r>
              <a:rPr lang="en-GB" dirty="0"/>
              <a:t> = 0; </a:t>
            </a:r>
            <a:r>
              <a:rPr lang="en-GB" dirty="0" err="1"/>
              <a:t>i</a:t>
            </a:r>
            <a:r>
              <a:rPr lang="en-GB" dirty="0"/>
              <a:t> &lt; 1000; </a:t>
            </a:r>
            <a:r>
              <a:rPr lang="en-GB" dirty="0" err="1"/>
              <a:t>i</a:t>
            </a:r>
            <a:r>
              <a:rPr lang="en-GB" dirty="0"/>
              <a:t>++) </a:t>
            </a:r>
            <a:r>
              <a:rPr lang="en-GB" b="1" dirty="0" err="1"/>
              <a:t>counter.incrementAndGet</a:t>
            </a:r>
            <a:r>
              <a:rPr lang="en-GB" b="1" dirty="0"/>
              <a:t>()</a:t>
            </a:r>
            <a:r>
              <a:rPr lang="en-GB" dirty="0"/>
              <a:t>;}</a:t>
            </a:r>
          </a:p>
          <a:p>
            <a:r>
              <a:rPr lang="en-GB" dirty="0"/>
              <a:t>});</a:t>
            </a:r>
          </a:p>
          <a:p>
            <a:endParaRPr lang="en-GB" dirty="0"/>
          </a:p>
          <a:p>
            <a:r>
              <a:rPr lang="en-GB" dirty="0"/>
              <a:t>t1.start(); t2.start();</a:t>
            </a:r>
          </a:p>
          <a:p>
            <a:r>
              <a:rPr lang="en-GB" dirty="0"/>
              <a:t>t1.join(); t2.join(); </a:t>
            </a:r>
          </a:p>
          <a:p>
            <a:r>
              <a:rPr lang="en-GB" dirty="0" err="1"/>
              <a:t>System.out.println</a:t>
            </a:r>
            <a:r>
              <a:rPr lang="en-GB" dirty="0"/>
              <a:t>(</a:t>
            </a:r>
            <a:r>
              <a:rPr lang="en-GB" b="1" dirty="0" err="1"/>
              <a:t>counter.get</a:t>
            </a:r>
            <a:r>
              <a:rPr lang="en-GB" b="1" dirty="0"/>
              <a:t>()</a:t>
            </a:r>
            <a:r>
              <a:rPr lang="en-GB" dirty="0"/>
              <a:t>); </a:t>
            </a:r>
            <a:endParaRPr lang="en-US" dirty="0"/>
          </a:p>
        </p:txBody>
      </p:sp>
      <p:sp>
        <p:nvSpPr>
          <p:cNvPr id="6" name="TextBox 5"/>
          <p:cNvSpPr txBox="1"/>
          <p:nvPr/>
        </p:nvSpPr>
        <p:spPr>
          <a:xfrm>
            <a:off x="7772400" y="284206"/>
            <a:ext cx="3656065" cy="2554545"/>
          </a:xfrm>
          <a:prstGeom prst="rect">
            <a:avLst/>
          </a:prstGeom>
          <a:solidFill>
            <a:schemeClr val="bg1"/>
          </a:solidFill>
          <a:ln>
            <a:solidFill>
              <a:srgbClr val="00B050"/>
            </a:solidFill>
          </a:ln>
        </p:spPr>
        <p:txBody>
          <a:bodyPr wrap="none" rtlCol="0">
            <a:spAutoFit/>
          </a:bodyPr>
          <a:lstStyle/>
          <a:p>
            <a:r>
              <a:rPr lang="en-US" sz="2000" dirty="0"/>
              <a:t>public class </a:t>
            </a:r>
            <a:r>
              <a:rPr lang="en-US" sz="2000" dirty="0" err="1"/>
              <a:t>AtomicInteger</a:t>
            </a:r>
            <a:endParaRPr lang="en-US" sz="2000" dirty="0"/>
          </a:p>
          <a:p>
            <a:r>
              <a:rPr lang="en-US" sz="2000" dirty="0"/>
              <a:t>extends Number</a:t>
            </a:r>
          </a:p>
          <a:p>
            <a:endParaRPr lang="en-US" sz="2000" dirty="0"/>
          </a:p>
          <a:p>
            <a:r>
              <a:rPr lang="en-US" sz="2000" dirty="0" err="1"/>
              <a:t>Metode</a:t>
            </a:r>
            <a:r>
              <a:rPr lang="en-US" sz="2000" dirty="0"/>
              <a:t>: </a:t>
            </a:r>
          </a:p>
          <a:p>
            <a:r>
              <a:rPr lang="en-US" sz="2000" b="1" dirty="0"/>
              <a:t>get(), set(),</a:t>
            </a:r>
          </a:p>
          <a:p>
            <a:r>
              <a:rPr lang="en-US" sz="2000" b="1" dirty="0" err="1"/>
              <a:t>incrementAndGet</a:t>
            </a:r>
            <a:r>
              <a:rPr lang="en-US" sz="2000" b="1" dirty="0"/>
              <a:t>()</a:t>
            </a:r>
          </a:p>
          <a:p>
            <a:r>
              <a:rPr lang="en-US" sz="2000" b="1" dirty="0" err="1"/>
              <a:t>addAndGet</a:t>
            </a:r>
            <a:r>
              <a:rPr lang="en-US" sz="2000" b="1" dirty="0"/>
              <a:t>(</a:t>
            </a:r>
            <a:r>
              <a:rPr lang="en-US" sz="2000" b="1" dirty="0" err="1"/>
              <a:t>int</a:t>
            </a:r>
            <a:r>
              <a:rPr lang="en-US" sz="2000" b="1" dirty="0"/>
              <a:t> d)</a:t>
            </a:r>
          </a:p>
          <a:p>
            <a:r>
              <a:rPr lang="en-US" sz="2000" b="1" dirty="0" err="1"/>
              <a:t>compareAndSet</a:t>
            </a:r>
            <a:r>
              <a:rPr lang="en-US" sz="2000" b="1" dirty="0"/>
              <a:t>(int old, int new)</a:t>
            </a:r>
          </a:p>
        </p:txBody>
      </p:sp>
    </p:spTree>
    <p:extLst>
      <p:ext uri="{BB962C8B-B14F-4D97-AF65-F5344CB8AC3E}">
        <p14:creationId xmlns:p14="http://schemas.microsoft.com/office/powerpoint/2010/main" val="46449995"/>
      </p:ext>
    </p:extLst>
  </p:cSld>
  <p:clrMapOvr>
    <a:masterClrMapping/>
  </p:clrMapOvr>
</p:sld>
</file>

<file path=ppt/slides/slide4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extBox 1"/>
          <p:cNvSpPr txBox="1"/>
          <p:nvPr/>
        </p:nvSpPr>
        <p:spPr>
          <a:xfrm>
            <a:off x="216243" y="284206"/>
            <a:ext cx="5602624" cy="830997"/>
          </a:xfrm>
          <a:prstGeom prst="rect">
            <a:avLst/>
          </a:prstGeom>
          <a:noFill/>
        </p:spPr>
        <p:txBody>
          <a:bodyPr wrap="none" rtlCol="0">
            <a:spAutoFit/>
          </a:bodyPr>
          <a:lstStyle/>
          <a:p>
            <a:pPr marL="285750" indent="-285750">
              <a:buFont typeface="Wingdings" panose="05000000000000000000" pitchFamily="2" charset="2"/>
              <a:buChar char="Ø"/>
            </a:pPr>
            <a:r>
              <a:rPr lang="en-US" sz="2400" dirty="0" err="1"/>
              <a:t>Variabile</a:t>
            </a:r>
            <a:r>
              <a:rPr lang="en-US" sz="2400" dirty="0"/>
              <a:t> volatile </a:t>
            </a:r>
            <a:r>
              <a:rPr lang="en-US" sz="2400" dirty="0">
                <a:solidFill>
                  <a:srgbClr val="FF0000"/>
                </a:solidFill>
              </a:rPr>
              <a:t>NU</a:t>
            </a:r>
            <a:r>
              <a:rPr lang="en-US" sz="2400" dirty="0"/>
              <a:t> </a:t>
            </a:r>
            <a:r>
              <a:rPr lang="en-US" sz="2400" dirty="0" err="1"/>
              <a:t>asigura</a:t>
            </a:r>
            <a:r>
              <a:rPr lang="en-US" sz="2400" dirty="0"/>
              <a:t> </a:t>
            </a:r>
            <a:r>
              <a:rPr lang="en-US" sz="2400" dirty="0" err="1"/>
              <a:t>atomicitatea</a:t>
            </a:r>
            <a:endParaRPr lang="en-US" sz="2400" dirty="0"/>
          </a:p>
          <a:p>
            <a:r>
              <a:rPr lang="en-US" sz="2400" dirty="0"/>
              <a:t>   </a:t>
            </a:r>
            <a:endParaRPr lang="en-US" sz="2000" dirty="0"/>
          </a:p>
        </p:txBody>
      </p:sp>
      <p:sp>
        <p:nvSpPr>
          <p:cNvPr id="3" name="TextBox 2"/>
          <p:cNvSpPr txBox="1"/>
          <p:nvPr/>
        </p:nvSpPr>
        <p:spPr>
          <a:xfrm>
            <a:off x="378803" y="1166842"/>
            <a:ext cx="8581768" cy="4247317"/>
          </a:xfrm>
          <a:prstGeom prst="rect">
            <a:avLst/>
          </a:prstGeom>
          <a:noFill/>
          <a:ln>
            <a:solidFill>
              <a:srgbClr val="00B050"/>
            </a:solidFill>
          </a:ln>
        </p:spPr>
        <p:txBody>
          <a:bodyPr wrap="square" rtlCol="0">
            <a:spAutoFit/>
          </a:bodyPr>
          <a:lstStyle/>
          <a:p>
            <a:r>
              <a:rPr lang="en-US" dirty="0"/>
              <a:t>import </a:t>
            </a:r>
            <a:r>
              <a:rPr lang="en-US" dirty="0" err="1"/>
              <a:t>java.util.concurrent.atomic.AtomicInteger</a:t>
            </a:r>
            <a:r>
              <a:rPr lang="en-US" dirty="0"/>
              <a:t>;</a:t>
            </a:r>
          </a:p>
          <a:p>
            <a:r>
              <a:rPr lang="en-GB" dirty="0"/>
              <a:t>public class </a:t>
            </a:r>
            <a:r>
              <a:rPr lang="en-GB" dirty="0" err="1"/>
              <a:t>AtomicCounter</a:t>
            </a:r>
            <a:r>
              <a:rPr lang="en-GB" dirty="0"/>
              <a:t> {</a:t>
            </a:r>
          </a:p>
          <a:p>
            <a:r>
              <a:rPr lang="en-GB" dirty="0"/>
              <a:t> private static </a:t>
            </a:r>
            <a:r>
              <a:rPr lang="en-GB" b="1" dirty="0"/>
              <a:t>volatile</a:t>
            </a:r>
            <a:r>
              <a:rPr lang="en-GB" dirty="0"/>
              <a:t> int   </a:t>
            </a:r>
            <a:r>
              <a:rPr lang="en-GB" b="1" dirty="0"/>
              <a:t>counter = 0;</a:t>
            </a:r>
          </a:p>
          <a:p>
            <a:endParaRPr lang="en-GB" dirty="0"/>
          </a:p>
          <a:p>
            <a:r>
              <a:rPr lang="en-GB" dirty="0"/>
              <a:t>public static void main(String[] </a:t>
            </a:r>
            <a:r>
              <a:rPr lang="en-GB" dirty="0" err="1"/>
              <a:t>args</a:t>
            </a:r>
            <a:r>
              <a:rPr lang="en-GB" dirty="0"/>
              <a:t>) throws </a:t>
            </a:r>
            <a:r>
              <a:rPr lang="en-GB" dirty="0" err="1"/>
              <a:t>InterruptedException</a:t>
            </a:r>
            <a:r>
              <a:rPr lang="en-GB" dirty="0"/>
              <a:t>{</a:t>
            </a:r>
          </a:p>
          <a:p>
            <a:r>
              <a:rPr lang="en-GB" dirty="0"/>
              <a:t>Thread t1 = new Thread(new Runnable() {</a:t>
            </a:r>
          </a:p>
          <a:p>
            <a:r>
              <a:rPr lang="en-GB" dirty="0"/>
              <a:t>                             public void run() {for (int </a:t>
            </a:r>
            <a:r>
              <a:rPr lang="en-GB" dirty="0" err="1"/>
              <a:t>i</a:t>
            </a:r>
            <a:r>
              <a:rPr lang="en-GB" dirty="0"/>
              <a:t> = 0; </a:t>
            </a:r>
            <a:r>
              <a:rPr lang="en-GB" dirty="0" err="1"/>
              <a:t>i</a:t>
            </a:r>
            <a:r>
              <a:rPr lang="en-GB" dirty="0"/>
              <a:t> &lt; 1000; </a:t>
            </a:r>
            <a:r>
              <a:rPr lang="en-GB" dirty="0" err="1"/>
              <a:t>i</a:t>
            </a:r>
            <a:r>
              <a:rPr lang="en-GB" dirty="0"/>
              <a:t>++) </a:t>
            </a:r>
            <a:r>
              <a:rPr lang="en-GB" b="1" dirty="0"/>
              <a:t>counter++;</a:t>
            </a:r>
            <a:r>
              <a:rPr lang="en-GB" dirty="0"/>
              <a:t>  });</a:t>
            </a:r>
          </a:p>
          <a:p>
            <a:endParaRPr lang="en-GB" dirty="0"/>
          </a:p>
          <a:p>
            <a:r>
              <a:rPr lang="en-GB" dirty="0"/>
              <a:t>Thread t2 = new Thread(new Runnable() {</a:t>
            </a:r>
          </a:p>
          <a:p>
            <a:r>
              <a:rPr lang="en-GB" dirty="0"/>
              <a:t>                            public void run() {for (int </a:t>
            </a:r>
            <a:r>
              <a:rPr lang="en-GB" dirty="0" err="1"/>
              <a:t>i</a:t>
            </a:r>
            <a:r>
              <a:rPr lang="en-GB" dirty="0"/>
              <a:t> = 0; </a:t>
            </a:r>
            <a:r>
              <a:rPr lang="en-GB" dirty="0" err="1"/>
              <a:t>i</a:t>
            </a:r>
            <a:r>
              <a:rPr lang="en-GB" dirty="0"/>
              <a:t> &lt; 1000; </a:t>
            </a:r>
            <a:r>
              <a:rPr lang="en-GB" dirty="0" err="1"/>
              <a:t>i</a:t>
            </a:r>
            <a:r>
              <a:rPr lang="en-GB" dirty="0"/>
              <a:t>++) </a:t>
            </a:r>
            <a:r>
              <a:rPr lang="en-GB" b="1" dirty="0"/>
              <a:t>counter++</a:t>
            </a:r>
            <a:r>
              <a:rPr lang="en-GB" dirty="0"/>
              <a:t>;}</a:t>
            </a:r>
          </a:p>
          <a:p>
            <a:r>
              <a:rPr lang="en-GB" dirty="0"/>
              <a:t>});</a:t>
            </a:r>
          </a:p>
          <a:p>
            <a:endParaRPr lang="en-GB" dirty="0"/>
          </a:p>
          <a:p>
            <a:r>
              <a:rPr lang="en-GB" dirty="0"/>
              <a:t>t1.start(); t2.start();</a:t>
            </a:r>
          </a:p>
          <a:p>
            <a:r>
              <a:rPr lang="en-GB" dirty="0"/>
              <a:t>t1.join(); t2.join();</a:t>
            </a:r>
          </a:p>
          <a:p>
            <a:r>
              <a:rPr lang="en-GB" dirty="0" err="1"/>
              <a:t>System.out.println</a:t>
            </a:r>
            <a:r>
              <a:rPr lang="en-GB" dirty="0"/>
              <a:t>(</a:t>
            </a:r>
            <a:r>
              <a:rPr lang="en-GB" b="1" dirty="0"/>
              <a:t>counter</a:t>
            </a:r>
            <a:r>
              <a:rPr lang="en-GB" dirty="0"/>
              <a:t>);  </a:t>
            </a:r>
            <a:endParaRPr lang="en-US" dirty="0"/>
          </a:p>
        </p:txBody>
      </p:sp>
      <p:pic>
        <p:nvPicPr>
          <p:cNvPr id="5" name="Picture 4">
            <a:extLst>
              <a:ext uri="{FF2B5EF4-FFF2-40B4-BE49-F238E27FC236}">
                <a16:creationId xmlns:a16="http://schemas.microsoft.com/office/drawing/2014/main" id="{6C16D872-23ED-DA8D-1C8F-2764AE3967DF}"/>
              </a:ext>
            </a:extLst>
          </p:cNvPr>
          <p:cNvPicPr>
            <a:picLocks noChangeAspect="1"/>
          </p:cNvPicPr>
          <p:nvPr/>
        </p:nvPicPr>
        <p:blipFill>
          <a:blip r:embed="rId2"/>
          <a:stretch>
            <a:fillRect/>
          </a:stretch>
        </p:blipFill>
        <p:spPr>
          <a:xfrm>
            <a:off x="4677103" y="4037330"/>
            <a:ext cx="7136094" cy="2272030"/>
          </a:xfrm>
          <a:prstGeom prst="rect">
            <a:avLst/>
          </a:prstGeom>
        </p:spPr>
      </p:pic>
      <p:sp>
        <p:nvSpPr>
          <p:cNvPr id="7" name="TextBox 6">
            <a:extLst>
              <a:ext uri="{FF2B5EF4-FFF2-40B4-BE49-F238E27FC236}">
                <a16:creationId xmlns:a16="http://schemas.microsoft.com/office/drawing/2014/main" id="{F0C6B7C0-DB02-A632-4040-054ACEE85EE3}"/>
              </a:ext>
            </a:extLst>
          </p:cNvPr>
          <p:cNvSpPr txBox="1"/>
          <p:nvPr/>
        </p:nvSpPr>
        <p:spPr>
          <a:xfrm>
            <a:off x="3942080" y="5940028"/>
            <a:ext cx="652743" cy="369332"/>
          </a:xfrm>
          <a:prstGeom prst="rect">
            <a:avLst/>
          </a:prstGeom>
          <a:solidFill>
            <a:srgbClr val="FF0000"/>
          </a:solidFill>
        </p:spPr>
        <p:txBody>
          <a:bodyPr wrap="none" rtlCol="0">
            <a:spAutoFit/>
          </a:bodyPr>
          <a:lstStyle/>
          <a:p>
            <a:r>
              <a:rPr lang="en-US" dirty="0"/>
              <a:t>1979</a:t>
            </a:r>
            <a:endParaRPr lang="en-GB" dirty="0"/>
          </a:p>
        </p:txBody>
      </p:sp>
    </p:spTree>
    <p:extLst>
      <p:ext uri="{BB962C8B-B14F-4D97-AF65-F5344CB8AC3E}">
        <p14:creationId xmlns:p14="http://schemas.microsoft.com/office/powerpoint/2010/main" val="286101954"/>
      </p:ext>
    </p:extLst>
  </p:cSld>
  <p:clrMapOvr>
    <a:masterClrMapping/>
  </p:clrMapOvr>
</p:sld>
</file>

<file path=ppt/slides/slide4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extBox 1">
            <a:extLst>
              <a:ext uri="{FF2B5EF4-FFF2-40B4-BE49-F238E27FC236}">
                <a16:creationId xmlns:a16="http://schemas.microsoft.com/office/drawing/2014/main" id="{784959C6-9F96-F803-0E90-D6BEB625F74C}"/>
              </a:ext>
            </a:extLst>
          </p:cNvPr>
          <p:cNvSpPr txBox="1"/>
          <p:nvPr/>
        </p:nvSpPr>
        <p:spPr>
          <a:xfrm>
            <a:off x="416560" y="345440"/>
            <a:ext cx="9468939" cy="1569660"/>
          </a:xfrm>
          <a:prstGeom prst="rect">
            <a:avLst/>
          </a:prstGeom>
          <a:noFill/>
        </p:spPr>
        <p:txBody>
          <a:bodyPr wrap="none" rtlCol="0">
            <a:spAutoFit/>
          </a:bodyPr>
          <a:lstStyle/>
          <a:p>
            <a:pPr marL="285750" indent="-285750">
              <a:buFont typeface="Wingdings" panose="05000000000000000000" pitchFamily="2" charset="2"/>
              <a:buChar char="Ø"/>
            </a:pPr>
            <a:r>
              <a:rPr lang="en-US" sz="2400" dirty="0" err="1"/>
              <a:t>Variabilele</a:t>
            </a:r>
            <a:r>
              <a:rPr lang="en-US" sz="2400" dirty="0"/>
              <a:t> </a:t>
            </a:r>
            <a:r>
              <a:rPr lang="en-US" sz="2400" b="1" dirty="0"/>
              <a:t>volatile </a:t>
            </a:r>
          </a:p>
          <a:p>
            <a:endParaRPr lang="en-US" dirty="0"/>
          </a:p>
          <a:p>
            <a:r>
              <a:rPr lang="en-US" dirty="0"/>
              <a:t>sunt </a:t>
            </a:r>
            <a:r>
              <a:rPr lang="en-US" dirty="0" err="1"/>
              <a:t>folosite</a:t>
            </a:r>
            <a:r>
              <a:rPr lang="en-US" dirty="0"/>
              <a:t> </a:t>
            </a:r>
            <a:r>
              <a:rPr lang="en-US" dirty="0" err="1"/>
              <a:t>atunci</a:t>
            </a:r>
            <a:r>
              <a:rPr lang="en-US" dirty="0"/>
              <a:t> cand </a:t>
            </a:r>
            <a:r>
              <a:rPr lang="en-US" dirty="0" err="1"/>
              <a:t>exista</a:t>
            </a:r>
            <a:r>
              <a:rPr lang="en-US" dirty="0"/>
              <a:t> un thread care le </a:t>
            </a:r>
            <a:r>
              <a:rPr lang="en-US" dirty="0" err="1"/>
              <a:t>actualizeaza</a:t>
            </a:r>
            <a:r>
              <a:rPr lang="en-US" dirty="0"/>
              <a:t> </a:t>
            </a:r>
            <a:r>
              <a:rPr lang="en-US" dirty="0" err="1"/>
              <a:t>si</a:t>
            </a:r>
            <a:r>
              <a:rPr lang="en-US" dirty="0"/>
              <a:t> (eventual) </a:t>
            </a:r>
            <a:r>
              <a:rPr lang="en-US" dirty="0" err="1"/>
              <a:t>mai</a:t>
            </a:r>
            <a:r>
              <a:rPr lang="en-US" dirty="0"/>
              <a:t> </a:t>
            </a:r>
            <a:r>
              <a:rPr lang="en-US" dirty="0" err="1"/>
              <a:t>multe</a:t>
            </a:r>
            <a:r>
              <a:rPr lang="en-US" dirty="0"/>
              <a:t> care le </a:t>
            </a:r>
            <a:r>
              <a:rPr lang="en-US" dirty="0" err="1"/>
              <a:t>citesc</a:t>
            </a:r>
            <a:r>
              <a:rPr lang="en-US" dirty="0"/>
              <a:t>, </a:t>
            </a:r>
          </a:p>
          <a:p>
            <a:r>
              <a:rPr lang="en-US" dirty="0" err="1"/>
              <a:t>situatia</a:t>
            </a:r>
            <a:r>
              <a:rPr lang="en-US" dirty="0"/>
              <a:t> tipica </a:t>
            </a:r>
            <a:r>
              <a:rPr lang="en-US" dirty="0" err="1"/>
              <a:t>fiind</a:t>
            </a:r>
            <a:r>
              <a:rPr lang="en-US" dirty="0"/>
              <a:t> </a:t>
            </a:r>
            <a:r>
              <a:rPr lang="en-US" dirty="0" err="1"/>
              <a:t>variabila</a:t>
            </a:r>
            <a:r>
              <a:rPr lang="en-US" dirty="0"/>
              <a:t> de control a </a:t>
            </a:r>
            <a:r>
              <a:rPr lang="en-US" dirty="0" err="1"/>
              <a:t>unui</a:t>
            </a:r>
            <a:r>
              <a:rPr lang="en-US" dirty="0"/>
              <a:t> </a:t>
            </a:r>
            <a:r>
              <a:rPr lang="en-US" dirty="0" err="1"/>
              <a:t>ciclu</a:t>
            </a:r>
            <a:endParaRPr lang="en-US" dirty="0"/>
          </a:p>
          <a:p>
            <a:endParaRPr lang="en-GB" dirty="0"/>
          </a:p>
        </p:txBody>
      </p:sp>
      <p:sp>
        <p:nvSpPr>
          <p:cNvPr id="4" name="TextBox 3">
            <a:extLst>
              <a:ext uri="{FF2B5EF4-FFF2-40B4-BE49-F238E27FC236}">
                <a16:creationId xmlns:a16="http://schemas.microsoft.com/office/drawing/2014/main" id="{94F5CE7F-877E-00AB-D272-4FD88C7290D2}"/>
              </a:ext>
            </a:extLst>
          </p:cNvPr>
          <p:cNvSpPr txBox="1"/>
          <p:nvPr/>
        </p:nvSpPr>
        <p:spPr>
          <a:xfrm>
            <a:off x="386080" y="1737023"/>
            <a:ext cx="8686800" cy="4247317"/>
          </a:xfrm>
          <a:prstGeom prst="rect">
            <a:avLst/>
          </a:prstGeom>
          <a:noFill/>
          <a:ln w="28575">
            <a:solidFill>
              <a:srgbClr val="00B050"/>
            </a:solidFill>
          </a:ln>
        </p:spPr>
        <p:txBody>
          <a:bodyPr wrap="square">
            <a:spAutoFit/>
          </a:bodyPr>
          <a:lstStyle/>
          <a:p>
            <a:r>
              <a:rPr lang="en-GB" dirty="0"/>
              <a:t>public class </a:t>
            </a:r>
            <a:r>
              <a:rPr lang="en-GB" dirty="0" err="1"/>
              <a:t>VolatileEx</a:t>
            </a:r>
            <a:r>
              <a:rPr lang="en-GB" dirty="0"/>
              <a:t> {</a:t>
            </a:r>
          </a:p>
          <a:p>
            <a:r>
              <a:rPr lang="en-GB" dirty="0"/>
              <a:t>static </a:t>
            </a:r>
            <a:r>
              <a:rPr lang="en-GB" b="1" dirty="0"/>
              <a:t>volatile </a:t>
            </a:r>
            <a:r>
              <a:rPr lang="en-GB" dirty="0"/>
              <a:t> </a:t>
            </a:r>
            <a:r>
              <a:rPr lang="en-GB" dirty="0" err="1"/>
              <a:t>boolean</a:t>
            </a:r>
            <a:r>
              <a:rPr lang="en-GB" dirty="0"/>
              <a:t> </a:t>
            </a:r>
            <a:r>
              <a:rPr lang="en-GB" b="1" dirty="0"/>
              <a:t>stop</a:t>
            </a:r>
            <a:r>
              <a:rPr lang="en-GB" dirty="0"/>
              <a:t>=false;</a:t>
            </a:r>
          </a:p>
          <a:p>
            <a:endParaRPr lang="en-GB" dirty="0"/>
          </a:p>
          <a:p>
            <a:r>
              <a:rPr lang="en-GB" dirty="0"/>
              <a:t>public static void main(String[] </a:t>
            </a:r>
            <a:r>
              <a:rPr lang="en-GB" dirty="0" err="1"/>
              <a:t>args</a:t>
            </a:r>
            <a:r>
              <a:rPr lang="en-GB" dirty="0"/>
              <a:t>) throws </a:t>
            </a:r>
            <a:r>
              <a:rPr lang="en-GB" dirty="0" err="1"/>
              <a:t>InterruptedException</a:t>
            </a:r>
            <a:r>
              <a:rPr lang="en-GB" dirty="0"/>
              <a:t>{</a:t>
            </a:r>
          </a:p>
          <a:p>
            <a:r>
              <a:rPr lang="en-GB" dirty="0"/>
              <a:t>Thread t1 = new Thread(new Runnable() {</a:t>
            </a:r>
          </a:p>
          <a:p>
            <a:r>
              <a:rPr lang="en-GB" dirty="0"/>
              <a:t>                             public void run() {int count =0;</a:t>
            </a:r>
          </a:p>
          <a:p>
            <a:r>
              <a:rPr lang="en-GB" dirty="0"/>
              <a:t>                                                             while </a:t>
            </a:r>
            <a:r>
              <a:rPr lang="en-GB" b="1" dirty="0"/>
              <a:t>(</a:t>
            </a:r>
            <a:r>
              <a:rPr lang="en-GB" b="1" dirty="0">
                <a:solidFill>
                  <a:srgbClr val="00B050"/>
                </a:solidFill>
              </a:rPr>
              <a:t>!stop</a:t>
            </a:r>
            <a:r>
              <a:rPr lang="en-GB" dirty="0"/>
              <a:t>) {count++; </a:t>
            </a:r>
            <a:r>
              <a:rPr lang="en-GB" dirty="0" err="1"/>
              <a:t>System.out.println</a:t>
            </a:r>
            <a:r>
              <a:rPr lang="en-GB" dirty="0"/>
              <a:t>(count); }</a:t>
            </a:r>
          </a:p>
          <a:p>
            <a:r>
              <a:rPr lang="en-GB" dirty="0"/>
              <a:t>                                                             </a:t>
            </a:r>
            <a:r>
              <a:rPr lang="en-GB" dirty="0" err="1"/>
              <a:t>System.out.println</a:t>
            </a:r>
            <a:r>
              <a:rPr lang="en-GB" dirty="0"/>
              <a:t>(count); });</a:t>
            </a:r>
          </a:p>
          <a:p>
            <a:endParaRPr lang="en-GB" dirty="0"/>
          </a:p>
          <a:p>
            <a:r>
              <a:rPr lang="en-GB" dirty="0"/>
              <a:t>Thread t2 = new Thread(new Runnable() {</a:t>
            </a:r>
          </a:p>
          <a:p>
            <a:r>
              <a:rPr lang="en-GB" dirty="0"/>
              <a:t>                            public void run() {try{</a:t>
            </a:r>
            <a:r>
              <a:rPr lang="en-GB" dirty="0" err="1"/>
              <a:t>Thread.sleep</a:t>
            </a:r>
            <a:r>
              <a:rPr lang="en-GB" dirty="0"/>
              <a:t>(10);} catch (</a:t>
            </a:r>
            <a:r>
              <a:rPr lang="en-GB" dirty="0" err="1"/>
              <a:t>InterruptedException</a:t>
            </a:r>
            <a:r>
              <a:rPr lang="en-GB" dirty="0"/>
              <a:t> e) {}</a:t>
            </a:r>
          </a:p>
          <a:p>
            <a:r>
              <a:rPr lang="en-GB" dirty="0"/>
              <a:t>                                                           </a:t>
            </a:r>
            <a:r>
              <a:rPr lang="en-GB" b="1" dirty="0">
                <a:solidFill>
                  <a:srgbClr val="FF0000"/>
                </a:solidFill>
              </a:rPr>
              <a:t>stop</a:t>
            </a:r>
            <a:r>
              <a:rPr lang="en-GB" b="1" dirty="0"/>
              <a:t>=true</a:t>
            </a:r>
            <a:r>
              <a:rPr lang="en-GB" dirty="0"/>
              <a:t>;}});</a:t>
            </a:r>
          </a:p>
          <a:p>
            <a:r>
              <a:rPr lang="en-GB" dirty="0"/>
              <a:t>t1.start(); t2.start(); </a:t>
            </a:r>
          </a:p>
          <a:p>
            <a:r>
              <a:rPr lang="en-GB" dirty="0"/>
              <a:t> t1.join(); t2.join(); </a:t>
            </a:r>
          </a:p>
          <a:p>
            <a:r>
              <a:rPr lang="en-GB" dirty="0" err="1"/>
              <a:t>System.out.println</a:t>
            </a:r>
            <a:r>
              <a:rPr lang="en-GB" dirty="0"/>
              <a:t>("STOP"); }</a:t>
            </a:r>
          </a:p>
        </p:txBody>
      </p:sp>
      <p:sp>
        <p:nvSpPr>
          <p:cNvPr id="3" name="TextBox 2">
            <a:extLst>
              <a:ext uri="{FF2B5EF4-FFF2-40B4-BE49-F238E27FC236}">
                <a16:creationId xmlns:a16="http://schemas.microsoft.com/office/drawing/2014/main" id="{6A61D82A-08CC-13D3-8E3D-02078BBBEF3C}"/>
              </a:ext>
            </a:extLst>
          </p:cNvPr>
          <p:cNvSpPr txBox="1"/>
          <p:nvPr/>
        </p:nvSpPr>
        <p:spPr>
          <a:xfrm>
            <a:off x="9621520" y="2214880"/>
            <a:ext cx="1310640" cy="646331"/>
          </a:xfrm>
          <a:prstGeom prst="rect">
            <a:avLst/>
          </a:prstGeom>
        </p:spPr>
        <p:style>
          <a:lnRef idx="2">
            <a:schemeClr val="dk1">
              <a:shade val="15000"/>
            </a:schemeClr>
          </a:lnRef>
          <a:fillRef idx="1">
            <a:schemeClr val="dk1"/>
          </a:fillRef>
          <a:effectRef idx="0">
            <a:schemeClr val="dk1"/>
          </a:effectRef>
          <a:fontRef idx="minor">
            <a:schemeClr val="lt1"/>
          </a:fontRef>
        </p:style>
        <p:txBody>
          <a:bodyPr wrap="square" rtlCol="0">
            <a:spAutoFit/>
          </a:bodyPr>
          <a:lstStyle/>
          <a:p>
            <a:r>
              <a:rPr lang="en-GB" dirty="0"/>
              <a:t>30606937</a:t>
            </a:r>
          </a:p>
          <a:p>
            <a:r>
              <a:rPr lang="en-GB" dirty="0"/>
              <a:t>STOP</a:t>
            </a:r>
          </a:p>
        </p:txBody>
      </p:sp>
      <p:sp>
        <p:nvSpPr>
          <p:cNvPr id="5" name="TextBox 4">
            <a:extLst>
              <a:ext uri="{FF2B5EF4-FFF2-40B4-BE49-F238E27FC236}">
                <a16:creationId xmlns:a16="http://schemas.microsoft.com/office/drawing/2014/main" id="{76454043-D5E8-0D3F-0E1C-65B92245002D}"/>
              </a:ext>
            </a:extLst>
          </p:cNvPr>
          <p:cNvSpPr txBox="1"/>
          <p:nvPr/>
        </p:nvSpPr>
        <p:spPr>
          <a:xfrm>
            <a:off x="9621520" y="1838960"/>
            <a:ext cx="184731" cy="369332"/>
          </a:xfrm>
          <a:prstGeom prst="rect">
            <a:avLst/>
          </a:prstGeom>
          <a:noFill/>
        </p:spPr>
        <p:txBody>
          <a:bodyPr wrap="none" rtlCol="0">
            <a:spAutoFit/>
          </a:bodyPr>
          <a:lstStyle/>
          <a:p>
            <a:endParaRPr lang="en-GB" b="1" dirty="0"/>
          </a:p>
        </p:txBody>
      </p:sp>
      <p:sp>
        <p:nvSpPr>
          <p:cNvPr id="7" name="TextBox 6">
            <a:extLst>
              <a:ext uri="{FF2B5EF4-FFF2-40B4-BE49-F238E27FC236}">
                <a16:creationId xmlns:a16="http://schemas.microsoft.com/office/drawing/2014/main" id="{EDE549E7-5D25-78F7-8A74-41FEEA72BCD8}"/>
              </a:ext>
            </a:extLst>
          </p:cNvPr>
          <p:cNvSpPr txBox="1"/>
          <p:nvPr/>
        </p:nvSpPr>
        <p:spPr>
          <a:xfrm>
            <a:off x="9555948" y="4177884"/>
            <a:ext cx="1790490" cy="646331"/>
          </a:xfrm>
          <a:prstGeom prst="rect">
            <a:avLst/>
          </a:prstGeom>
        </p:spPr>
        <p:style>
          <a:lnRef idx="2">
            <a:schemeClr val="dk1"/>
          </a:lnRef>
          <a:fillRef idx="1">
            <a:schemeClr val="lt1"/>
          </a:fillRef>
          <a:effectRef idx="0">
            <a:schemeClr val="dk1"/>
          </a:effectRef>
          <a:fontRef idx="minor">
            <a:schemeClr val="dk1"/>
          </a:fontRef>
        </p:style>
        <p:txBody>
          <a:bodyPr wrap="none" rtlCol="0">
            <a:spAutoFit/>
          </a:bodyPr>
          <a:lstStyle/>
          <a:p>
            <a:r>
              <a:rPr lang="en-US" dirty="0" err="1"/>
              <a:t>fara</a:t>
            </a:r>
            <a:r>
              <a:rPr lang="en-US" dirty="0"/>
              <a:t> volatile </a:t>
            </a:r>
          </a:p>
          <a:p>
            <a:r>
              <a:rPr lang="en-US" dirty="0"/>
              <a:t>nu </a:t>
            </a:r>
            <a:r>
              <a:rPr lang="en-US" dirty="0" err="1"/>
              <a:t>afiseaza</a:t>
            </a:r>
            <a:r>
              <a:rPr lang="en-US" dirty="0"/>
              <a:t> </a:t>
            </a:r>
            <a:r>
              <a:rPr lang="en-US" dirty="0" err="1"/>
              <a:t>nimic</a:t>
            </a:r>
            <a:endParaRPr lang="en-GB" dirty="0"/>
          </a:p>
        </p:txBody>
      </p:sp>
      <p:sp>
        <p:nvSpPr>
          <p:cNvPr id="9" name="TextBox 8">
            <a:extLst>
              <a:ext uri="{FF2B5EF4-FFF2-40B4-BE49-F238E27FC236}">
                <a16:creationId xmlns:a16="http://schemas.microsoft.com/office/drawing/2014/main" id="{62C3D92F-71D2-78D7-6195-B4D7C34D0723}"/>
              </a:ext>
            </a:extLst>
          </p:cNvPr>
          <p:cNvSpPr txBox="1"/>
          <p:nvPr/>
        </p:nvSpPr>
        <p:spPr>
          <a:xfrm>
            <a:off x="9621520" y="1838960"/>
            <a:ext cx="1163075" cy="369332"/>
          </a:xfrm>
          <a:prstGeom prst="rect">
            <a:avLst/>
          </a:prstGeom>
        </p:spPr>
        <p:style>
          <a:lnRef idx="2">
            <a:schemeClr val="dk1"/>
          </a:lnRef>
          <a:fillRef idx="1">
            <a:schemeClr val="lt1"/>
          </a:fillRef>
          <a:effectRef idx="0">
            <a:schemeClr val="dk1"/>
          </a:effectRef>
          <a:fontRef idx="minor">
            <a:schemeClr val="dk1"/>
          </a:fontRef>
        </p:style>
        <p:txBody>
          <a:bodyPr wrap="none" rtlCol="0">
            <a:spAutoFit/>
          </a:bodyPr>
          <a:lstStyle/>
          <a:p>
            <a:r>
              <a:rPr lang="en-US" dirty="0"/>
              <a:t>cu </a:t>
            </a:r>
            <a:r>
              <a:rPr lang="en-US" b="1" dirty="0"/>
              <a:t>volatile</a:t>
            </a:r>
          </a:p>
        </p:txBody>
      </p:sp>
    </p:spTree>
    <p:extLst>
      <p:ext uri="{BB962C8B-B14F-4D97-AF65-F5344CB8AC3E}">
        <p14:creationId xmlns:p14="http://schemas.microsoft.com/office/powerpoint/2010/main" val="1978564433"/>
      </p:ext>
    </p:extLst>
  </p:cSld>
  <p:clrMapOvr>
    <a:masterClrMapping/>
  </p:clrMapOvr>
</p:sld>
</file>

<file path=ppt/slides/slide4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extBox 1">
            <a:extLst>
              <a:ext uri="{FF2B5EF4-FFF2-40B4-BE49-F238E27FC236}">
                <a16:creationId xmlns:a16="http://schemas.microsoft.com/office/drawing/2014/main" id="{50FD286A-EB54-BE0D-2825-F14D8F09A22D}"/>
              </a:ext>
            </a:extLst>
          </p:cNvPr>
          <p:cNvSpPr txBox="1"/>
          <p:nvPr/>
        </p:nvSpPr>
        <p:spPr>
          <a:xfrm>
            <a:off x="4521200" y="2570480"/>
            <a:ext cx="3053336" cy="461665"/>
          </a:xfrm>
          <a:prstGeom prst="rect">
            <a:avLst/>
          </a:prstGeom>
          <a:noFill/>
        </p:spPr>
        <p:txBody>
          <a:bodyPr wrap="none" rtlCol="0">
            <a:spAutoFit/>
          </a:bodyPr>
          <a:lstStyle/>
          <a:p>
            <a:r>
              <a:rPr lang="en-US" sz="2400" dirty="0"/>
              <a:t>Pe s</a:t>
            </a:r>
            <a:r>
              <a:rPr lang="ro-RO" sz="2400" dirty="0"/>
              <a:t>ă</a:t>
            </a:r>
            <a:r>
              <a:rPr lang="en-US" sz="2400" dirty="0"/>
              <a:t>pt</a:t>
            </a:r>
            <a:r>
              <a:rPr lang="ro-RO" sz="2400" dirty="0"/>
              <a:t>ă</a:t>
            </a:r>
            <a:r>
              <a:rPr lang="en-US" sz="2400" dirty="0"/>
              <a:t>m</a:t>
            </a:r>
            <a:r>
              <a:rPr lang="ro-RO" sz="2400" dirty="0"/>
              <a:t>â</a:t>
            </a:r>
            <a:r>
              <a:rPr lang="en-US" sz="2400" dirty="0" err="1"/>
              <a:t>na</a:t>
            </a:r>
            <a:r>
              <a:rPr lang="en-US" sz="2400" dirty="0"/>
              <a:t> </a:t>
            </a:r>
            <a:r>
              <a:rPr lang="en-US" sz="2400" dirty="0" err="1"/>
              <a:t>viitoare</a:t>
            </a:r>
            <a:r>
              <a:rPr lang="en-US" sz="2400" dirty="0"/>
              <a:t>!</a:t>
            </a:r>
            <a:endParaRPr lang="en-GB" sz="2400" dirty="0"/>
          </a:p>
        </p:txBody>
      </p:sp>
    </p:spTree>
    <p:extLst>
      <p:ext uri="{BB962C8B-B14F-4D97-AF65-F5344CB8AC3E}">
        <p14:creationId xmlns:p14="http://schemas.microsoft.com/office/powerpoint/2010/main" val="3650701398"/>
      </p:ext>
    </p:extLst>
  </p:cSld>
  <p:clrMapOvr>
    <a:masterClrMapping/>
  </p:clrMapOvr>
</p:sld>
</file>

<file path=ppt/theme/theme1.xml><?xml version="1.0" encoding="utf-8"?>
<a:theme xmlns:a="http://schemas.openxmlformats.org/drawingml/2006/main" name="Retrospect">
  <a:themeElements>
    <a:clrScheme name="Retrospect">
      <a:dk1>
        <a:srgbClr val="000000"/>
      </a:dk1>
      <a:lt1>
        <a:sysClr val="window" lastClr="FFFFFF"/>
      </a:lt1>
      <a:dk2>
        <a:srgbClr val="637052"/>
      </a:dk2>
      <a:lt2>
        <a:srgbClr val="CCDDEA"/>
      </a:lt2>
      <a:accent1>
        <a:srgbClr val="E48312"/>
      </a:accent1>
      <a:accent2>
        <a:srgbClr val="BD582C"/>
      </a:accent2>
      <a:accent3>
        <a:srgbClr val="865640"/>
      </a:accent3>
      <a:accent4>
        <a:srgbClr val="9B8357"/>
      </a:accent4>
      <a:accent5>
        <a:srgbClr val="C2BC80"/>
      </a:accent5>
      <a:accent6>
        <a:srgbClr val="94A088"/>
      </a:accent6>
      <a:hlink>
        <a:srgbClr val="2998E3"/>
      </a:hlink>
      <a:folHlink>
        <a:srgbClr val="8C8C8C"/>
      </a:folHlink>
    </a:clrScheme>
    <a:fontScheme name="Retrospect">
      <a:majorFont>
        <a:latin typeface="Calibri Light" panose="020F0302020204030204"/>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panose="020F0502020204030204"/>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Retrospect">
      <a:fillStyleLst>
        <a:solidFill>
          <a:schemeClr val="phClr"/>
        </a:solidFill>
        <a:gradFill rotWithShape="1">
          <a:gsLst>
            <a:gs pos="0">
              <a:schemeClr val="phClr">
                <a:tint val="65000"/>
                <a:shade val="92000"/>
                <a:satMod val="130000"/>
              </a:schemeClr>
            </a:gs>
            <a:gs pos="45000">
              <a:schemeClr val="phClr">
                <a:tint val="60000"/>
                <a:shade val="99000"/>
                <a:satMod val="120000"/>
              </a:schemeClr>
            </a:gs>
            <a:gs pos="100000">
              <a:schemeClr val="phClr">
                <a:tint val="55000"/>
                <a:satMod val="140000"/>
              </a:schemeClr>
            </a:gs>
          </a:gsLst>
          <a:path path="circle">
            <a:fillToRect l="100000" t="100000" r="100000" b="100000"/>
          </a:path>
        </a:gradFill>
        <a:gradFill rotWithShape="1">
          <a:gsLst>
            <a:gs pos="0">
              <a:schemeClr val="phClr">
                <a:shade val="85000"/>
                <a:satMod val="130000"/>
              </a:schemeClr>
            </a:gs>
            <a:gs pos="34000">
              <a:schemeClr val="phClr">
                <a:shade val="87000"/>
                <a:satMod val="125000"/>
              </a:schemeClr>
            </a:gs>
            <a:gs pos="70000">
              <a:schemeClr val="phClr">
                <a:tint val="100000"/>
                <a:shade val="90000"/>
                <a:satMod val="130000"/>
              </a:schemeClr>
            </a:gs>
            <a:gs pos="100000">
              <a:schemeClr val="phClr">
                <a:tint val="100000"/>
                <a:shade val="100000"/>
                <a:satMod val="110000"/>
              </a:schemeClr>
            </a:gs>
          </a:gsLst>
          <a:path path="circle">
            <a:fillToRect l="100000" t="100000" r="100000" b="100000"/>
          </a:path>
        </a:gradFill>
      </a:fillStyleLst>
      <a:lnStyleLst>
        <a:ln w="12700" cap="flat" cmpd="sng" algn="ctr">
          <a:solidFill>
            <a:schemeClr val="phClr"/>
          </a:solidFill>
          <a:prstDash val="solid"/>
        </a:ln>
        <a:ln w="15875" cap="flat" cmpd="sng" algn="ctr">
          <a:solidFill>
            <a:schemeClr val="phClr"/>
          </a:solidFill>
          <a:prstDash val="solid"/>
        </a:ln>
        <a:ln w="25400" cap="flat" cmpd="sng" algn="ctr">
          <a:solidFill>
            <a:schemeClr val="phClr"/>
          </a:solidFill>
          <a:prstDash val="solid"/>
        </a:ln>
      </a:lnStyleLst>
      <a:effectStyleLst>
        <a:effectStyle>
          <a:effectLst/>
        </a:effectStyle>
        <a:effectStyle>
          <a:effectLst>
            <a:outerShdw blurRad="38100" dist="25400" dir="2700000" algn="br" rotWithShape="0">
              <a:srgbClr val="000000">
                <a:alpha val="60000"/>
              </a:srgbClr>
            </a:outerShdw>
          </a:effectLst>
        </a:effectStyle>
        <a:effectStyle>
          <a:effectLst>
            <a:outerShdw blurRad="44450" dist="25400" dir="2700000" algn="br" rotWithShape="0">
              <a:srgbClr val="000000">
                <a:alpha val="60000"/>
              </a:srgbClr>
            </a:outerShdw>
          </a:effectLst>
          <a:scene3d>
            <a:camera prst="orthographicFront">
              <a:rot lat="0" lon="0" rev="0"/>
            </a:camera>
            <a:lightRig rig="threePt" dir="t">
              <a:rot lat="0" lon="0" rev="19800000"/>
            </a:lightRig>
          </a:scene3d>
          <a:sp3d prstMaterial="flat">
            <a:bevelT w="25400" h="31750"/>
          </a:sp3d>
        </a:effectStyle>
      </a:effectStyleLst>
      <a:bgFillStyleLst>
        <a:solidFill>
          <a:schemeClr val="phClr"/>
        </a:solidFill>
        <a:solidFill>
          <a:schemeClr val="phClr">
            <a:tint val="90000"/>
            <a:shade val="97000"/>
            <a:satMod val="130000"/>
          </a:schemeClr>
        </a:solidFill>
        <a:gradFill rotWithShape="1">
          <a:gsLst>
            <a:gs pos="0">
              <a:schemeClr val="phClr">
                <a:tint val="96000"/>
                <a:shade val="99000"/>
                <a:satMod val="140000"/>
              </a:schemeClr>
            </a:gs>
            <a:gs pos="65000">
              <a:schemeClr val="phClr">
                <a:tint val="100000"/>
                <a:shade val="80000"/>
                <a:satMod val="130000"/>
              </a:schemeClr>
            </a:gs>
            <a:gs pos="100000">
              <a:schemeClr val="phClr">
                <a:tint val="100000"/>
                <a:shade val="48000"/>
                <a:satMod val="120000"/>
              </a:schemeClr>
            </a:gs>
          </a:gsLst>
          <a:lin ang="16200000" scaled="0"/>
        </a:gradFill>
      </a:bgFillStyleLst>
    </a:fmtScheme>
  </a:themeElements>
  <a:objectDefaults/>
  <a:extraClrSchemeLst/>
  <a:extLst>
    <a:ext uri="{05A4C25C-085E-4340-85A3-A5531E510DB2}">
      <thm15:themeFamily xmlns:thm15="http://schemas.microsoft.com/office/thememl/2012/main" name="Retrospect" id="{5F128B03-DCCA-4EEB-AB3B-CF2899314A46}" vid="{3F1AAB62-24C6-49D2-8E01-B56FAC9A3DCD}"/>
    </a:ext>
  </a:extLst>
</a:theme>
</file>

<file path=docProps/app.xml><?xml version="1.0" encoding="utf-8"?>
<Properties xmlns="http://schemas.openxmlformats.org/officeDocument/2006/extended-properties" xmlns:vt="http://schemas.openxmlformats.org/officeDocument/2006/docPropsVTypes">
  <Template>Retrospect</Template>
  <TotalTime>16827</TotalTime>
  <Words>5459</Words>
  <Application>Microsoft Office PowerPoint</Application>
  <PresentationFormat>Widescreen</PresentationFormat>
  <Paragraphs>760</Paragraphs>
  <Slides>48</Slides>
  <Notes>0</Notes>
  <HiddenSlides>0</HiddenSlides>
  <MMClips>0</MMClips>
  <ScaleCrop>false</ScaleCrop>
  <HeadingPairs>
    <vt:vector size="8" baseType="variant">
      <vt:variant>
        <vt:lpstr>Fonts Used</vt:lpstr>
      </vt:variant>
      <vt:variant>
        <vt:i4>6</vt:i4>
      </vt:variant>
      <vt:variant>
        <vt:lpstr>Theme</vt:lpstr>
      </vt:variant>
      <vt:variant>
        <vt:i4>1</vt:i4>
      </vt:variant>
      <vt:variant>
        <vt:lpstr>Embedded OLE Servers</vt:lpstr>
      </vt:variant>
      <vt:variant>
        <vt:i4>1</vt:i4>
      </vt:variant>
      <vt:variant>
        <vt:lpstr>Slide Titles</vt:lpstr>
      </vt:variant>
      <vt:variant>
        <vt:i4>48</vt:i4>
      </vt:variant>
    </vt:vector>
  </HeadingPairs>
  <TitlesOfParts>
    <vt:vector size="56" baseType="lpstr">
      <vt:lpstr>Arial</vt:lpstr>
      <vt:lpstr>Calibri</vt:lpstr>
      <vt:lpstr>Calibri Light</vt:lpstr>
      <vt:lpstr>Consolas</vt:lpstr>
      <vt:lpstr>Courier New</vt:lpstr>
      <vt:lpstr>Wingdings</vt:lpstr>
      <vt:lpstr>Retrospect</vt:lpstr>
      <vt:lpstr>Bitmap Image</vt:lpstr>
      <vt:lpstr>IMPLEMENTAREA CONCURENTEI IN LIMBAJE DE PROGRAMARE </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vector>
  </TitlesOfParts>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PowerPoint Presentation</dc:title>
  <dc:creator>Ioana Leustean</dc:creator>
  <cp:lastModifiedBy>IOANA GABRIELA LEUSTEAN</cp:lastModifiedBy>
  <cp:revision>801</cp:revision>
  <cp:lastPrinted>2025-10-03T04:30:08Z</cp:lastPrinted>
  <dcterms:created xsi:type="dcterms:W3CDTF">2015-03-31T05:03:29Z</dcterms:created>
  <dcterms:modified xsi:type="dcterms:W3CDTF">2025-10-03T18:39:37Z</dcterms:modified>
</cp:coreProperties>
</file>