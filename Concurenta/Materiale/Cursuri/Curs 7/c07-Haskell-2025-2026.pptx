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0"/>
  </p:notesMasterIdLst>
  <p:sldIdLst>
    <p:sldId id="504" r:id="rId2"/>
    <p:sldId id="347" r:id="rId3"/>
    <p:sldId id="378" r:id="rId4"/>
    <p:sldId id="379" r:id="rId5"/>
    <p:sldId id="402" r:id="rId6"/>
    <p:sldId id="403" r:id="rId7"/>
    <p:sldId id="404" r:id="rId8"/>
    <p:sldId id="380" r:id="rId9"/>
    <p:sldId id="383" r:id="rId10"/>
    <p:sldId id="322" r:id="rId11"/>
    <p:sldId id="324" r:id="rId12"/>
    <p:sldId id="434" r:id="rId13"/>
    <p:sldId id="323" r:id="rId14"/>
    <p:sldId id="442" r:id="rId15"/>
    <p:sldId id="443" r:id="rId16"/>
    <p:sldId id="360" r:id="rId17"/>
    <p:sldId id="499" r:id="rId18"/>
    <p:sldId id="327" r:id="rId19"/>
    <p:sldId id="328" r:id="rId20"/>
    <p:sldId id="329" r:id="rId21"/>
    <p:sldId id="330" r:id="rId22"/>
    <p:sldId id="335" r:id="rId23"/>
    <p:sldId id="497" r:id="rId24"/>
    <p:sldId id="331" r:id="rId25"/>
    <p:sldId id="332" r:id="rId26"/>
    <p:sldId id="334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498" r:id="rId39"/>
    <p:sldId id="348" r:id="rId40"/>
    <p:sldId id="349" r:id="rId41"/>
    <p:sldId id="350" r:id="rId42"/>
    <p:sldId id="351" r:id="rId43"/>
    <p:sldId id="352" r:id="rId44"/>
    <p:sldId id="353" r:id="rId45"/>
    <p:sldId id="357" r:id="rId46"/>
    <p:sldId id="354" r:id="rId47"/>
    <p:sldId id="355" r:id="rId48"/>
    <p:sldId id="356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a Leustean" initials="I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D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5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5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89B0C-026D-405D-8A8C-034AA1C266DD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5CF61-7540-4C3F-9DC1-9B8957F6FF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31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Implementarea</a:t>
            </a:r>
            <a:r>
              <a:rPr lang="en-US" dirty="0"/>
              <a:t> retry: </a:t>
            </a:r>
            <a:r>
              <a:rPr lang="en-US" dirty="0" err="1"/>
              <a:t>threadul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blocat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se face o </a:t>
            </a:r>
            <a:r>
              <a:rPr lang="en-US" dirty="0" err="1"/>
              <a:t>scriere</a:t>
            </a:r>
            <a:r>
              <a:rPr lang="en-US" dirty="0"/>
              <a:t> 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varaiabila</a:t>
            </a:r>
            <a:r>
              <a:rPr lang="en-US" dirty="0"/>
              <a:t> </a:t>
            </a:r>
            <a:r>
              <a:rPr lang="en-US" dirty="0" err="1"/>
              <a:t>TVar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threadul</a:t>
            </a:r>
            <a:r>
              <a:rPr lang="en-US" dirty="0"/>
              <a:t> o </a:t>
            </a:r>
            <a:r>
              <a:rPr lang="en-US" dirty="0" err="1"/>
              <a:t>citeste</a:t>
            </a:r>
            <a:r>
              <a:rPr lang="en-US" dirty="0"/>
              <a:t>;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theradul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deblocat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reia</a:t>
            </a:r>
            <a:r>
              <a:rPr lang="en-US" dirty="0"/>
              <a:t> </a:t>
            </a:r>
            <a:r>
              <a:rPr lang="en-US" dirty="0" err="1"/>
              <a:t>executia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4BE05-3A07-49D1-A943-50AE4F2DA29E}" type="slidenum">
              <a:rPr lang="ro-RO" smtClean="0"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7800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84BE05-3A07-49D1-A943-50AE4F2DA29E}" type="slidenum">
              <a:rPr lang="ro-RO" smtClean="0"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77355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skell.org/hoogle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7" y="6292850"/>
            <a:ext cx="673100" cy="6731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4550173" y="6439790"/>
            <a:ext cx="328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https://www.haskell.org/hoogle/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monmar.github.io/pages/pcp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ackage.haskell.org/package/base-4.20.0.1/docs/Control-Concurrent.html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net.microsoft.com/en-us/library/ms190612(v=sql.105).aspx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age.haskell.org/package/base-4.16.1.0/docs/Data-IORef.html#t:IORef" TargetMode="External"/><Relationship Id="rId2" Type="http://schemas.openxmlformats.org/officeDocument/2006/relationships/hyperlink" Target="https://hackage.haskell.org/package/base-4.16.1.0/docs/System-IO.html#t:IO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8.png"/><Relationship Id="rId2" Type="http://schemas.openxmlformats.org/officeDocument/2006/relationships/hyperlink" Target="https://www.dropbox.com/scl/fo/3d0sn4uvu71tp2gw2lnnk/ANrJ6gCfFvZxTiRPNU4fs7g?rlkey=phn3xqwtzs6npn4hr8db393mi&amp;dl=0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wmf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pcomplete.com/school/advanced-haskell/beautiful-concurrency/3-software-transactional-memor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pcomplete.com/school/advanced-haskell/beautiful-concurrency/3-software-transactional-memor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obiasmuehlbauer.com/2011/07/24/stm-haskell-dining-philosophers-problem/" TargetMode="External"/><Relationship Id="rId2" Type="http://schemas.openxmlformats.org/officeDocument/2006/relationships/hyperlink" Target="http://rosettacode.org/wiki/Dining_philosophers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hyperlink" Target="http://www-ps.informatik.uni-kiel.de/~fhu/projects/stm.pdf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10.html#sec_stm-blockng" TargetMode="External"/><Relationship Id="rId2" Type="http://schemas.openxmlformats.org/officeDocument/2006/relationships/hyperlink" Target="http://research.microsoft.com/pubs/67418/2005-ppopp-composable.pdf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10.html#sec_stm-async" TargetMode="External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IMPLEMENTAREA</a:t>
            </a:r>
            <a:br>
              <a:rPr lang="en-US" sz="3200" dirty="0"/>
            </a:br>
            <a:r>
              <a:rPr lang="en-US" sz="3200" dirty="0"/>
              <a:t>CONCURENTEI</a:t>
            </a:r>
            <a:br>
              <a:rPr lang="en-US" sz="3200" dirty="0"/>
            </a:br>
            <a:r>
              <a:rPr lang="en-US" sz="3200" dirty="0"/>
              <a:t>IN LIMBAJE DE</a:t>
            </a:r>
            <a:br>
              <a:rPr lang="en-US" sz="3200" dirty="0"/>
            </a:br>
            <a:r>
              <a:rPr lang="en-US" sz="3200" dirty="0"/>
              <a:t>PROGRAMARE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5100" dirty="0" err="1"/>
              <a:t>Concurenta</a:t>
            </a:r>
            <a:r>
              <a:rPr lang="en-US" sz="5100" dirty="0"/>
              <a:t> </a:t>
            </a:r>
          </a:p>
          <a:p>
            <a:r>
              <a:rPr lang="en-US" sz="5100" dirty="0" err="1"/>
              <a:t>Threaduri</a:t>
            </a:r>
            <a:endParaRPr lang="en-US" sz="5100" dirty="0"/>
          </a:p>
          <a:p>
            <a:r>
              <a:rPr lang="en-US" sz="5100" dirty="0" err="1"/>
              <a:t>Memorie</a:t>
            </a:r>
            <a:r>
              <a:rPr lang="en-US" sz="5100" dirty="0"/>
              <a:t> </a:t>
            </a:r>
            <a:r>
              <a:rPr lang="en-US" sz="5100" dirty="0" err="1"/>
              <a:t>Partajata</a:t>
            </a:r>
            <a:endParaRPr lang="en-US" sz="5100" dirty="0"/>
          </a:p>
          <a:p>
            <a:endParaRPr lang="en-US" sz="4000" dirty="0"/>
          </a:p>
          <a:p>
            <a:endParaRPr lang="en-US" sz="4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800" dirty="0"/>
              <a:t>Ioana Leustean</a:t>
            </a:r>
          </a:p>
          <a:p>
            <a:r>
              <a:rPr lang="en-US" sz="3800" dirty="0"/>
              <a:t>	</a:t>
            </a:r>
          </a:p>
        </p:txBody>
      </p:sp>
      <p:pic>
        <p:nvPicPr>
          <p:cNvPr id="3" name="Content Placeholder 2" descr="http://www.multiparadigmgroup.com/wp-content/uploads/2012/10/Haskell_Logo.-e135010103759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512" y="3961108"/>
            <a:ext cx="3566829" cy="14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91093" y="2926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328253" y="5153165"/>
            <a:ext cx="307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Part II. Concurrent Haskell</a:t>
            </a:r>
          </a:p>
          <a:p>
            <a:r>
              <a:rPr lang="en-US" dirty="0">
                <a:solidFill>
                  <a:srgbClr val="0070C0"/>
                </a:solidFill>
                <a:hlinkClick r:id="rId3"/>
              </a:rPr>
              <a:t>Cap.7 &amp; 8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254" y="1458154"/>
            <a:ext cx="2719141" cy="355863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382518" y="1086962"/>
            <a:ext cx="2253802" cy="2220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 rot="290212">
            <a:off x="5853698" y="1457735"/>
            <a:ext cx="553792" cy="1455312"/>
          </a:xfrm>
          <a:custGeom>
            <a:avLst/>
            <a:gdLst>
              <a:gd name="connsiteX0" fmla="*/ 0 w 553792"/>
              <a:gd name="connsiteY0" fmla="*/ 25757 h 1455312"/>
              <a:gd name="connsiteX1" fmla="*/ 64395 w 553792"/>
              <a:gd name="connsiteY1" fmla="*/ 12879 h 1455312"/>
              <a:gd name="connsiteX2" fmla="*/ 103031 w 553792"/>
              <a:gd name="connsiteY2" fmla="*/ 0 h 1455312"/>
              <a:gd name="connsiteX3" fmla="*/ 206062 w 553792"/>
              <a:gd name="connsiteY3" fmla="*/ 12879 h 1455312"/>
              <a:gd name="connsiteX4" fmla="*/ 244699 w 553792"/>
              <a:gd name="connsiteY4" fmla="*/ 38636 h 1455312"/>
              <a:gd name="connsiteX5" fmla="*/ 283336 w 553792"/>
              <a:gd name="connsiteY5" fmla="*/ 51515 h 1455312"/>
              <a:gd name="connsiteX6" fmla="*/ 347730 w 553792"/>
              <a:gd name="connsiteY6" fmla="*/ 128788 h 1455312"/>
              <a:gd name="connsiteX7" fmla="*/ 334851 w 553792"/>
              <a:gd name="connsiteY7" fmla="*/ 180304 h 1455312"/>
              <a:gd name="connsiteX8" fmla="*/ 296214 w 553792"/>
              <a:gd name="connsiteY8" fmla="*/ 206062 h 1455312"/>
              <a:gd name="connsiteX9" fmla="*/ 167426 w 553792"/>
              <a:gd name="connsiteY9" fmla="*/ 244698 h 1455312"/>
              <a:gd name="connsiteX10" fmla="*/ 128789 w 553792"/>
              <a:gd name="connsiteY10" fmla="*/ 257577 h 1455312"/>
              <a:gd name="connsiteX11" fmla="*/ 51516 w 553792"/>
              <a:gd name="connsiteY11" fmla="*/ 309093 h 1455312"/>
              <a:gd name="connsiteX12" fmla="*/ 38637 w 553792"/>
              <a:gd name="connsiteY12" fmla="*/ 463639 h 1455312"/>
              <a:gd name="connsiteX13" fmla="*/ 128789 w 553792"/>
              <a:gd name="connsiteY13" fmla="*/ 502276 h 1455312"/>
              <a:gd name="connsiteX14" fmla="*/ 309093 w 553792"/>
              <a:gd name="connsiteY14" fmla="*/ 528033 h 1455312"/>
              <a:gd name="connsiteX15" fmla="*/ 347730 w 553792"/>
              <a:gd name="connsiteY15" fmla="*/ 540912 h 1455312"/>
              <a:gd name="connsiteX16" fmla="*/ 425003 w 553792"/>
              <a:gd name="connsiteY16" fmla="*/ 592428 h 1455312"/>
              <a:gd name="connsiteX17" fmla="*/ 463640 w 553792"/>
              <a:gd name="connsiteY17" fmla="*/ 669701 h 1455312"/>
              <a:gd name="connsiteX18" fmla="*/ 476519 w 553792"/>
              <a:gd name="connsiteY18" fmla="*/ 708338 h 1455312"/>
              <a:gd name="connsiteX19" fmla="*/ 425003 w 553792"/>
              <a:gd name="connsiteY19" fmla="*/ 746974 h 1455312"/>
              <a:gd name="connsiteX20" fmla="*/ 360609 w 553792"/>
              <a:gd name="connsiteY20" fmla="*/ 759853 h 1455312"/>
              <a:gd name="connsiteX21" fmla="*/ 283336 w 553792"/>
              <a:gd name="connsiteY21" fmla="*/ 785611 h 1455312"/>
              <a:gd name="connsiteX22" fmla="*/ 218941 w 553792"/>
              <a:gd name="connsiteY22" fmla="*/ 798490 h 1455312"/>
              <a:gd name="connsiteX23" fmla="*/ 141668 w 553792"/>
              <a:gd name="connsiteY23" fmla="*/ 824248 h 1455312"/>
              <a:gd name="connsiteX24" fmla="*/ 115910 w 553792"/>
              <a:gd name="connsiteY24" fmla="*/ 862884 h 1455312"/>
              <a:gd name="connsiteX25" fmla="*/ 128789 w 553792"/>
              <a:gd name="connsiteY25" fmla="*/ 978794 h 1455312"/>
              <a:gd name="connsiteX26" fmla="*/ 154547 w 553792"/>
              <a:gd name="connsiteY26" fmla="*/ 1017431 h 1455312"/>
              <a:gd name="connsiteX27" fmla="*/ 437882 w 553792"/>
              <a:gd name="connsiteY27" fmla="*/ 1081825 h 1455312"/>
              <a:gd name="connsiteX28" fmla="*/ 489398 w 553792"/>
              <a:gd name="connsiteY28" fmla="*/ 1133341 h 1455312"/>
              <a:gd name="connsiteX29" fmla="*/ 553792 w 553792"/>
              <a:gd name="connsiteY29" fmla="*/ 1249250 h 1455312"/>
              <a:gd name="connsiteX30" fmla="*/ 528034 w 553792"/>
              <a:gd name="connsiteY30" fmla="*/ 1365160 h 1455312"/>
              <a:gd name="connsiteX31" fmla="*/ 502276 w 553792"/>
              <a:gd name="connsiteY31" fmla="*/ 1403797 h 1455312"/>
              <a:gd name="connsiteX32" fmla="*/ 463640 w 553792"/>
              <a:gd name="connsiteY32" fmla="*/ 1455312 h 1455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53792" h="1455312">
                <a:moveTo>
                  <a:pt x="0" y="25757"/>
                </a:moveTo>
                <a:cubicBezTo>
                  <a:pt x="21465" y="21464"/>
                  <a:pt x="43159" y="18188"/>
                  <a:pt x="64395" y="12879"/>
                </a:cubicBezTo>
                <a:cubicBezTo>
                  <a:pt x="77565" y="9587"/>
                  <a:pt x="89456" y="0"/>
                  <a:pt x="103031" y="0"/>
                </a:cubicBezTo>
                <a:cubicBezTo>
                  <a:pt x="137642" y="0"/>
                  <a:pt x="171718" y="8586"/>
                  <a:pt x="206062" y="12879"/>
                </a:cubicBezTo>
                <a:cubicBezTo>
                  <a:pt x="218941" y="21465"/>
                  <a:pt x="230855" y="31714"/>
                  <a:pt x="244699" y="38636"/>
                </a:cubicBezTo>
                <a:cubicBezTo>
                  <a:pt x="256842" y="44707"/>
                  <a:pt x="272040" y="43985"/>
                  <a:pt x="283336" y="51515"/>
                </a:cubicBezTo>
                <a:cubicBezTo>
                  <a:pt x="313082" y="71346"/>
                  <a:pt x="328725" y="100281"/>
                  <a:pt x="347730" y="128788"/>
                </a:cubicBezTo>
                <a:cubicBezTo>
                  <a:pt x="343437" y="145960"/>
                  <a:pt x="344669" y="165576"/>
                  <a:pt x="334851" y="180304"/>
                </a:cubicBezTo>
                <a:cubicBezTo>
                  <a:pt x="326265" y="193183"/>
                  <a:pt x="310359" y="199776"/>
                  <a:pt x="296214" y="206062"/>
                </a:cubicBezTo>
                <a:cubicBezTo>
                  <a:pt x="241129" y="230544"/>
                  <a:pt x="219869" y="229714"/>
                  <a:pt x="167426" y="244698"/>
                </a:cubicBezTo>
                <a:cubicBezTo>
                  <a:pt x="154373" y="248428"/>
                  <a:pt x="140656" y="250984"/>
                  <a:pt x="128789" y="257577"/>
                </a:cubicBezTo>
                <a:cubicBezTo>
                  <a:pt x="101728" y="272611"/>
                  <a:pt x="51516" y="309093"/>
                  <a:pt x="51516" y="309093"/>
                </a:cubicBezTo>
                <a:cubicBezTo>
                  <a:pt x="34748" y="359396"/>
                  <a:pt x="4706" y="409349"/>
                  <a:pt x="38637" y="463639"/>
                </a:cubicBezTo>
                <a:cubicBezTo>
                  <a:pt x="44246" y="472613"/>
                  <a:pt x="112986" y="499487"/>
                  <a:pt x="128789" y="502276"/>
                </a:cubicBezTo>
                <a:cubicBezTo>
                  <a:pt x="188577" y="512827"/>
                  <a:pt x="309093" y="528033"/>
                  <a:pt x="309093" y="528033"/>
                </a:cubicBezTo>
                <a:cubicBezTo>
                  <a:pt x="321972" y="532326"/>
                  <a:pt x="335863" y="534319"/>
                  <a:pt x="347730" y="540912"/>
                </a:cubicBezTo>
                <a:cubicBezTo>
                  <a:pt x="374791" y="555946"/>
                  <a:pt x="425003" y="592428"/>
                  <a:pt x="425003" y="592428"/>
                </a:cubicBezTo>
                <a:cubicBezTo>
                  <a:pt x="457376" y="689543"/>
                  <a:pt x="413706" y="569834"/>
                  <a:pt x="463640" y="669701"/>
                </a:cubicBezTo>
                <a:cubicBezTo>
                  <a:pt x="469711" y="681843"/>
                  <a:pt x="472226" y="695459"/>
                  <a:pt x="476519" y="708338"/>
                </a:cubicBezTo>
                <a:cubicBezTo>
                  <a:pt x="459347" y="721217"/>
                  <a:pt x="444618" y="738256"/>
                  <a:pt x="425003" y="746974"/>
                </a:cubicBezTo>
                <a:cubicBezTo>
                  <a:pt x="405000" y="755864"/>
                  <a:pt x="381727" y="754093"/>
                  <a:pt x="360609" y="759853"/>
                </a:cubicBezTo>
                <a:cubicBezTo>
                  <a:pt x="334415" y="766997"/>
                  <a:pt x="309960" y="780286"/>
                  <a:pt x="283336" y="785611"/>
                </a:cubicBezTo>
                <a:cubicBezTo>
                  <a:pt x="261871" y="789904"/>
                  <a:pt x="240060" y="792730"/>
                  <a:pt x="218941" y="798490"/>
                </a:cubicBezTo>
                <a:cubicBezTo>
                  <a:pt x="192747" y="805634"/>
                  <a:pt x="141668" y="824248"/>
                  <a:pt x="141668" y="824248"/>
                </a:cubicBezTo>
                <a:cubicBezTo>
                  <a:pt x="133082" y="837127"/>
                  <a:pt x="117195" y="847459"/>
                  <a:pt x="115910" y="862884"/>
                </a:cubicBezTo>
                <a:cubicBezTo>
                  <a:pt x="112682" y="901624"/>
                  <a:pt x="119361" y="941080"/>
                  <a:pt x="128789" y="978794"/>
                </a:cubicBezTo>
                <a:cubicBezTo>
                  <a:pt x="132543" y="993810"/>
                  <a:pt x="142898" y="1007238"/>
                  <a:pt x="154547" y="1017431"/>
                </a:cubicBezTo>
                <a:cubicBezTo>
                  <a:pt x="254586" y="1104965"/>
                  <a:pt x="277615" y="1071808"/>
                  <a:pt x="437882" y="1081825"/>
                </a:cubicBezTo>
                <a:cubicBezTo>
                  <a:pt x="503448" y="1103680"/>
                  <a:pt x="458176" y="1077142"/>
                  <a:pt x="489398" y="1133341"/>
                </a:cubicBezTo>
                <a:cubicBezTo>
                  <a:pt x="563206" y="1266196"/>
                  <a:pt x="524650" y="1161825"/>
                  <a:pt x="553792" y="1249250"/>
                </a:cubicBezTo>
                <a:cubicBezTo>
                  <a:pt x="548845" y="1278930"/>
                  <a:pt x="543887" y="1333454"/>
                  <a:pt x="528034" y="1365160"/>
                </a:cubicBezTo>
                <a:cubicBezTo>
                  <a:pt x="521112" y="1379004"/>
                  <a:pt x="510862" y="1390918"/>
                  <a:pt x="502276" y="1403797"/>
                </a:cubicBezTo>
                <a:cubicBezTo>
                  <a:pt x="486363" y="1451540"/>
                  <a:pt x="501540" y="1436362"/>
                  <a:pt x="463640" y="1455312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7768">
            <a:off x="6557293" y="1408084"/>
            <a:ext cx="652329" cy="1554615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AD477854-6015-9AAB-D406-7F12DD9814DE}"/>
              </a:ext>
            </a:extLst>
          </p:cNvPr>
          <p:cNvSpPr txBox="1"/>
          <p:nvPr/>
        </p:nvSpPr>
        <p:spPr>
          <a:xfrm>
            <a:off x="4339269" y="5935872"/>
            <a:ext cx="787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6"/>
              </a:rPr>
              <a:t>https://hackage.haskell.org/package/base-4.20.0.1/docs/Control-Concurrent.html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685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8794" y="5537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0608" y="146153"/>
            <a:ext cx="29766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0070C0"/>
                </a:solidFill>
              </a:rPr>
              <a:t>data </a:t>
            </a:r>
            <a:r>
              <a:rPr lang="en-US" sz="2800" dirty="0" err="1">
                <a:solidFill>
                  <a:srgbClr val="0070C0"/>
                </a:solidFill>
              </a:rPr>
              <a:t>MVar</a:t>
            </a:r>
            <a:r>
              <a:rPr lang="en-US" sz="2800" dirty="0">
                <a:solidFill>
                  <a:srgbClr val="0070C0"/>
                </a:solidFill>
              </a:rPr>
              <a:t> a        </a:t>
            </a:r>
          </a:p>
          <a:p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4883" y="568251"/>
            <a:ext cx="888064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r>
              <a:rPr lang="en-US" sz="2000" dirty="0">
                <a:solidFill>
                  <a:srgbClr val="0070C0"/>
                </a:solidFill>
              </a:rPr>
              <a:t> :: IO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  <a:r>
              <a:rPr lang="en-US" sz="2000" dirty="0"/>
              <a:t>  -- </a:t>
            </a:r>
            <a:r>
              <a:rPr lang="en-US" sz="2000" dirty="0">
                <a:solidFill>
                  <a:srgbClr val="0070C0"/>
                </a:solidFill>
              </a:rPr>
              <a:t>m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/>
              <a:t>                                                        --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o </a:t>
            </a:r>
            <a:r>
              <a:rPr lang="en-US" sz="2000" dirty="0" err="1"/>
              <a:t>locatie</a:t>
            </a:r>
            <a:r>
              <a:rPr lang="en-US" sz="2000" dirty="0"/>
              <a:t> </a:t>
            </a:r>
            <a:r>
              <a:rPr lang="en-US" sz="2000" dirty="0" err="1"/>
              <a:t>goala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newMVar</a:t>
            </a:r>
            <a:r>
              <a:rPr lang="en-US" sz="2000" dirty="0">
                <a:solidFill>
                  <a:srgbClr val="0070C0"/>
                </a:solidFill>
              </a:rPr>
              <a:t> :: a -&gt; IO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    </a:t>
            </a:r>
            <a:r>
              <a:rPr lang="en-US" sz="2000" dirty="0"/>
              <a:t>-- </a:t>
            </a:r>
            <a:r>
              <a:rPr lang="en-US" sz="2000" dirty="0">
                <a:solidFill>
                  <a:srgbClr val="0070C0"/>
                </a:solidFill>
              </a:rPr>
              <a:t>m &lt;- </a:t>
            </a:r>
            <a:r>
              <a:rPr lang="en-US" sz="2000" dirty="0" err="1">
                <a:solidFill>
                  <a:srgbClr val="0070C0"/>
                </a:solidFill>
              </a:rPr>
              <a:t>newMVar</a:t>
            </a:r>
            <a:r>
              <a:rPr lang="en-US" sz="2000" dirty="0">
                <a:solidFill>
                  <a:srgbClr val="0070C0"/>
                </a:solidFill>
              </a:rPr>
              <a:t> v </a:t>
            </a:r>
          </a:p>
          <a:p>
            <a:r>
              <a:rPr lang="en-US" sz="2000" dirty="0"/>
              <a:t>                                                     --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o </a:t>
            </a:r>
            <a:r>
              <a:rPr lang="en-US" sz="2000" dirty="0" err="1"/>
              <a:t>locatie</a:t>
            </a:r>
            <a:r>
              <a:rPr lang="en-US" sz="2000" dirty="0"/>
              <a:t> care </a:t>
            </a:r>
            <a:r>
              <a:rPr lang="en-US" sz="2000" dirty="0" err="1"/>
              <a:t>contine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 -&gt; a -&gt; IO()  </a:t>
            </a:r>
            <a:r>
              <a:rPr lang="en-US" sz="2000" dirty="0"/>
              <a:t>--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m v </a:t>
            </a:r>
          </a:p>
          <a:p>
            <a:r>
              <a:rPr lang="en-US" sz="2000" dirty="0"/>
              <a:t>                                                      -- </a:t>
            </a:r>
            <a:r>
              <a:rPr lang="en-US" sz="2000" dirty="0" err="1"/>
              <a:t>pune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</a:p>
          <a:p>
            <a:r>
              <a:rPr lang="en-US" sz="2000" dirty="0"/>
              <a:t>                                                      -- </a:t>
            </a:r>
            <a:r>
              <a:rPr lang="en-US" sz="2000" dirty="0" err="1"/>
              <a:t>asteapta</a:t>
            </a:r>
            <a:r>
              <a:rPr lang="en-US" sz="2000" dirty="0"/>
              <a:t> (</a:t>
            </a:r>
            <a:r>
              <a:rPr lang="en-US" sz="2000" dirty="0" err="1"/>
              <a:t>blocheaza</a:t>
            </a:r>
            <a:r>
              <a:rPr lang="en-US" sz="2000" dirty="0"/>
              <a:t> thread-</a:t>
            </a:r>
            <a:r>
              <a:rPr lang="en-US" sz="2000" dirty="0" err="1"/>
              <a:t>ul</a:t>
            </a:r>
            <a:r>
              <a:rPr lang="en-US" sz="2000" dirty="0"/>
              <a:t>)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plina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  -&gt; IO a    </a:t>
            </a:r>
            <a:r>
              <a:rPr lang="en-US" sz="2000" dirty="0"/>
              <a:t>-- </a:t>
            </a:r>
            <a:r>
              <a:rPr lang="en-US" sz="2000" dirty="0">
                <a:solidFill>
                  <a:srgbClr val="0070C0"/>
                </a:solidFill>
              </a:rPr>
              <a:t>v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m </a:t>
            </a:r>
          </a:p>
          <a:p>
            <a:r>
              <a:rPr lang="en-US" sz="2000" dirty="0"/>
              <a:t>                                                    -- </a:t>
            </a:r>
            <a:r>
              <a:rPr lang="en-US" sz="2000" dirty="0" err="1"/>
              <a:t>intoarce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din</a:t>
            </a:r>
            <a:r>
              <a:rPr lang="en-US" sz="2000" dirty="0">
                <a:solidFill>
                  <a:srgbClr val="0070C0"/>
                </a:solidFill>
              </a:rPr>
              <a:t> m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b="1" dirty="0" err="1"/>
              <a:t>goleste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</a:p>
          <a:p>
            <a:r>
              <a:rPr lang="en-US" sz="2000" dirty="0"/>
              <a:t>                                                    -- </a:t>
            </a:r>
            <a:r>
              <a:rPr lang="en-US" sz="2000" dirty="0" err="1"/>
              <a:t>asteapta</a:t>
            </a:r>
            <a:r>
              <a:rPr lang="en-US" sz="2000" dirty="0"/>
              <a:t> (</a:t>
            </a:r>
            <a:r>
              <a:rPr lang="en-US" sz="2000" dirty="0" err="1"/>
              <a:t>blocheaza</a:t>
            </a:r>
            <a:r>
              <a:rPr lang="en-US" sz="2000" dirty="0"/>
              <a:t> thread-</a:t>
            </a:r>
            <a:r>
              <a:rPr lang="en-US" sz="2000" dirty="0" err="1"/>
              <a:t>ul</a:t>
            </a:r>
            <a:r>
              <a:rPr lang="en-US" sz="2000" dirty="0"/>
              <a:t>) 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goala</a:t>
            </a:r>
            <a:endParaRPr lang="en-US" sz="2000" dirty="0"/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  -&gt; IO a    </a:t>
            </a:r>
            <a:r>
              <a:rPr lang="en-US" sz="2000" dirty="0"/>
              <a:t>-- </a:t>
            </a:r>
            <a:r>
              <a:rPr lang="en-US" sz="2000" dirty="0">
                <a:solidFill>
                  <a:srgbClr val="0070C0"/>
                </a:solidFill>
              </a:rPr>
              <a:t>v &lt;- </a:t>
            </a:r>
            <a:r>
              <a:rPr lang="en-US" sz="2000" dirty="0" err="1">
                <a:solidFill>
                  <a:srgbClr val="0070C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m  </a:t>
            </a:r>
            <a:r>
              <a:rPr lang="en-US" sz="2000" dirty="0" err="1"/>
              <a:t>citeste</a:t>
            </a:r>
            <a:r>
              <a:rPr lang="en-US" sz="2000" dirty="0"/>
              <a:t> atomic </a:t>
            </a:r>
            <a:r>
              <a:rPr lang="en-US" sz="2000" dirty="0" err="1"/>
              <a:t>continutul</a:t>
            </a:r>
            <a:r>
              <a:rPr lang="en-US" sz="2000" dirty="0"/>
              <a:t> </a:t>
            </a:r>
            <a:r>
              <a:rPr lang="en-US" sz="2000" dirty="0" err="1"/>
              <a:t>lui</a:t>
            </a:r>
            <a:r>
              <a:rPr lang="en-US" sz="2000" dirty="0">
                <a:solidFill>
                  <a:srgbClr val="0070C0"/>
                </a:solidFill>
              </a:rPr>
              <a:t> m</a:t>
            </a:r>
          </a:p>
          <a:p>
            <a:r>
              <a:rPr lang="en-US" sz="2000" dirty="0"/>
              <a:t>                                                    -- </a:t>
            </a:r>
            <a:r>
              <a:rPr lang="en-US" sz="2000" dirty="0" err="1"/>
              <a:t>intoarce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din</a:t>
            </a:r>
            <a:r>
              <a:rPr lang="en-US" sz="2000" dirty="0">
                <a:solidFill>
                  <a:srgbClr val="0070C0"/>
                </a:solidFill>
              </a:rPr>
              <a:t> m </a:t>
            </a:r>
            <a:r>
              <a:rPr lang="en-US" sz="2000" dirty="0" err="1"/>
              <a:t>dar</a:t>
            </a:r>
            <a:r>
              <a:rPr lang="en-US" sz="2000" dirty="0"/>
              <a:t> </a:t>
            </a:r>
            <a:r>
              <a:rPr lang="en-US" sz="2000" dirty="0" err="1"/>
              <a:t>aceasta</a:t>
            </a:r>
            <a:r>
              <a:rPr lang="en-US" sz="2000" dirty="0"/>
              <a:t> </a:t>
            </a:r>
            <a:r>
              <a:rPr lang="en-US" sz="2000" dirty="0" err="1"/>
              <a:t>ramane</a:t>
            </a:r>
            <a:r>
              <a:rPr lang="en-US" sz="2000" dirty="0"/>
              <a:t> in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                                                                                                      </a:t>
            </a:r>
          </a:p>
          <a:p>
            <a:r>
              <a:rPr lang="en-US" sz="2000" dirty="0"/>
              <a:t>                                                    -- </a:t>
            </a:r>
            <a:r>
              <a:rPr lang="en-US" sz="2000" dirty="0" err="1"/>
              <a:t>asteapta</a:t>
            </a:r>
            <a:r>
              <a:rPr lang="en-US" sz="2000" dirty="0"/>
              <a:t> (</a:t>
            </a:r>
            <a:r>
              <a:rPr lang="en-US" sz="2000" dirty="0" err="1"/>
              <a:t>blocheaza</a:t>
            </a:r>
            <a:r>
              <a:rPr lang="en-US" sz="2000" dirty="0"/>
              <a:t> thread-</a:t>
            </a:r>
            <a:r>
              <a:rPr lang="en-US" sz="2000" dirty="0" err="1"/>
              <a:t>ul</a:t>
            </a:r>
            <a:r>
              <a:rPr lang="en-US" sz="2000" dirty="0"/>
              <a:t>) 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goala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244" y="2950262"/>
            <a:ext cx="2143125" cy="2143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47969" y="3872093"/>
            <a:ext cx="513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646276" y="2704563"/>
            <a:ext cx="241388" cy="437882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9646276" y="1970469"/>
            <a:ext cx="241388" cy="479084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Up Arrow 14"/>
          <p:cNvSpPr/>
          <p:nvPr/>
        </p:nvSpPr>
        <p:spPr>
          <a:xfrm flipH="1">
            <a:off x="10675302" y="2646609"/>
            <a:ext cx="207346" cy="42822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302" y="1955715"/>
            <a:ext cx="262151" cy="45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13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443" y="163064"/>
            <a:ext cx="1139818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Concurrent computing</a:t>
            </a:r>
            <a:r>
              <a:rPr lang="en-US" dirty="0"/>
              <a:t> is a form of computing in which several computations are executing during overlapping </a:t>
            </a:r>
          </a:p>
          <a:p>
            <a:r>
              <a:rPr lang="en-US" dirty="0"/>
              <a:t> time periods—</a:t>
            </a:r>
            <a:r>
              <a:rPr lang="en-US" i="1" dirty="0"/>
              <a:t>concurrently</a:t>
            </a:r>
            <a:r>
              <a:rPr lang="en-US" dirty="0"/>
              <a:t>—instead of </a:t>
            </a:r>
            <a:r>
              <a:rPr lang="en-US" i="1" dirty="0"/>
              <a:t>sequentially</a:t>
            </a:r>
            <a:r>
              <a:rPr lang="en-US" dirty="0"/>
              <a:t> (one completing before the next starts)[…] </a:t>
            </a:r>
          </a:p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i="1" dirty="0">
                <a:solidFill>
                  <a:srgbClr val="FF0000"/>
                </a:solidFill>
              </a:rPr>
              <a:t>concurrent system</a:t>
            </a:r>
            <a:r>
              <a:rPr lang="en-US" dirty="0">
                <a:solidFill>
                  <a:srgbClr val="FF0000"/>
                </a:solidFill>
              </a:rPr>
              <a:t> is one where a computation  can advance  without waiting for all other computations to complete; </a:t>
            </a:r>
          </a:p>
          <a:p>
            <a:r>
              <a:rPr lang="en-US" dirty="0">
                <a:solidFill>
                  <a:srgbClr val="FF0000"/>
                </a:solidFill>
              </a:rPr>
              <a:t>where more than one computation can advance at </a:t>
            </a:r>
            <a:r>
              <a:rPr lang="en-US" i="1" dirty="0">
                <a:solidFill>
                  <a:srgbClr val="FF0000"/>
                </a:solidFill>
              </a:rPr>
              <a:t>the same time</a:t>
            </a:r>
            <a:r>
              <a:rPr lang="en-US" dirty="0"/>
              <a:t>.”</a:t>
            </a:r>
          </a:p>
          <a:p>
            <a:r>
              <a:rPr lang="en-US" sz="1600" i="1" dirty="0"/>
              <a:t>Operating System Concepts 9th edition, Abraham </a:t>
            </a:r>
            <a:r>
              <a:rPr lang="en-US" sz="1600" i="1" dirty="0" err="1"/>
              <a:t>Silberschatz</a:t>
            </a:r>
            <a:endParaRPr lang="en-US" sz="16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77344" y="1795494"/>
            <a:ext cx="556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Exemplu</a:t>
            </a:r>
            <a:r>
              <a:rPr lang="en-US" sz="2400" dirty="0"/>
              <a:t>: </a:t>
            </a:r>
            <a:r>
              <a:rPr lang="en-US" sz="2400" dirty="0" err="1"/>
              <a:t>incarcarea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multor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785611" y="3258354"/>
            <a:ext cx="2653048" cy="309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38659" y="3258354"/>
            <a:ext cx="1571222" cy="3090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85611" y="4763037"/>
            <a:ext cx="2653048" cy="309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5611" y="5085008"/>
            <a:ext cx="1571222" cy="3090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5611" y="2805001"/>
            <a:ext cx="1118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secvential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69701" y="4393705"/>
            <a:ext cx="11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concurent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17464" y="4763037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7464" y="5089162"/>
            <a:ext cx="168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512" y="1491245"/>
            <a:ext cx="5069053" cy="4801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Data.ByteString</a:t>
            </a:r>
            <a:r>
              <a:rPr lang="en-US" dirty="0">
                <a:solidFill>
                  <a:srgbClr val="0070C0"/>
                </a:solidFill>
              </a:rPr>
              <a:t> as B</a:t>
            </a:r>
          </a:p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    </a:t>
            </a:r>
          </a:p>
          <a:p>
            <a:r>
              <a:rPr lang="en-US" dirty="0">
                <a:solidFill>
                  <a:srgbClr val="0070C0"/>
                </a:solidFill>
              </a:rPr>
              <a:t>main = do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m1 &lt;- </a:t>
            </a:r>
            <a:r>
              <a:rPr lang="en-US" dirty="0" err="1">
                <a:solidFill>
                  <a:srgbClr val="0070C0"/>
                </a:solidFill>
              </a:rPr>
              <a:t>newEmptyMVar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</a:t>
            </a:r>
            <a:r>
              <a:rPr lang="en-US" dirty="0" err="1">
                <a:solidFill>
                  <a:srgbClr val="0070C0"/>
                </a:solidFill>
              </a:rPr>
              <a:t>forkIO</a:t>
            </a:r>
            <a:r>
              <a:rPr lang="en-US" dirty="0">
                <a:solidFill>
                  <a:srgbClr val="0070C0"/>
                </a:solidFill>
              </a:rPr>
              <a:t> $ do                         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r  &lt;-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"http://..."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</a:t>
            </a:r>
            <a:r>
              <a:rPr lang="en-US" dirty="0" err="1">
                <a:solidFill>
                  <a:srgbClr val="0070C0"/>
                </a:solidFill>
              </a:rPr>
              <a:t>putMVar</a:t>
            </a:r>
            <a:r>
              <a:rPr lang="en-US" dirty="0">
                <a:solidFill>
                  <a:srgbClr val="0070C0"/>
                </a:solidFill>
              </a:rPr>
              <a:t> m1 r 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m2 &lt;- </a:t>
            </a:r>
            <a:r>
              <a:rPr lang="en-US" dirty="0" err="1">
                <a:solidFill>
                  <a:srgbClr val="0070C0"/>
                </a:solidFill>
              </a:rPr>
              <a:t>newEmptyMVar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</a:t>
            </a:r>
            <a:r>
              <a:rPr lang="en-US" dirty="0" err="1">
                <a:solidFill>
                  <a:srgbClr val="0070C0"/>
                </a:solidFill>
              </a:rPr>
              <a:t>forkIO</a:t>
            </a:r>
            <a:r>
              <a:rPr lang="en-US" dirty="0">
                <a:solidFill>
                  <a:srgbClr val="0070C0"/>
                </a:solidFill>
              </a:rPr>
              <a:t> $ do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r &lt;-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"http://..."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</a:t>
            </a:r>
            <a:r>
              <a:rPr lang="en-US" dirty="0" err="1">
                <a:solidFill>
                  <a:srgbClr val="0070C0"/>
                </a:solidFill>
              </a:rPr>
              <a:t>putMVar</a:t>
            </a:r>
            <a:r>
              <a:rPr lang="en-US" dirty="0">
                <a:solidFill>
                  <a:srgbClr val="0070C0"/>
                </a:solidFill>
              </a:rPr>
              <a:t> m2 r 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r1 &lt;- </a:t>
            </a:r>
            <a:r>
              <a:rPr lang="en-US" dirty="0" err="1">
                <a:solidFill>
                  <a:srgbClr val="0070C0"/>
                </a:solidFill>
              </a:rPr>
              <a:t>takeMVar</a:t>
            </a:r>
            <a:r>
              <a:rPr lang="en-US" dirty="0">
                <a:solidFill>
                  <a:srgbClr val="0070C0"/>
                </a:solidFill>
              </a:rPr>
              <a:t> m1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r2 &lt;- </a:t>
            </a:r>
            <a:r>
              <a:rPr lang="en-US" dirty="0" err="1">
                <a:solidFill>
                  <a:srgbClr val="0070C0"/>
                </a:solidFill>
              </a:rPr>
              <a:t>takeMVar</a:t>
            </a:r>
            <a:r>
              <a:rPr lang="en-US" dirty="0">
                <a:solidFill>
                  <a:srgbClr val="0070C0"/>
                </a:solidFill>
              </a:rPr>
              <a:t> m2 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print (</a:t>
            </a:r>
            <a:r>
              <a:rPr lang="en-US" dirty="0" err="1">
                <a:solidFill>
                  <a:srgbClr val="0070C0"/>
                </a:solidFill>
              </a:rPr>
              <a:t>B.length</a:t>
            </a:r>
            <a:r>
              <a:rPr lang="en-US" dirty="0">
                <a:solidFill>
                  <a:srgbClr val="0070C0"/>
                </a:solidFill>
              </a:rPr>
              <a:t> r1, </a:t>
            </a:r>
            <a:r>
              <a:rPr lang="en-US" dirty="0" err="1">
                <a:solidFill>
                  <a:srgbClr val="0070C0"/>
                </a:solidFill>
              </a:rPr>
              <a:t>B.length</a:t>
            </a:r>
            <a:r>
              <a:rPr lang="en-US" dirty="0">
                <a:solidFill>
                  <a:srgbClr val="0070C0"/>
                </a:solidFill>
              </a:rPr>
              <a:t> r2)</a:t>
            </a:r>
          </a:p>
        </p:txBody>
      </p:sp>
      <p:sp>
        <p:nvSpPr>
          <p:cNvPr id="13" name="Rectangle 12"/>
          <p:cNvSpPr/>
          <p:nvPr/>
        </p:nvSpPr>
        <p:spPr>
          <a:xfrm flipH="1">
            <a:off x="9101070" y="6268550"/>
            <a:ext cx="309093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geturl1.hs ©2012, Simon Marlow</a:t>
            </a:r>
          </a:p>
        </p:txBody>
      </p:sp>
    </p:spTree>
    <p:extLst>
      <p:ext uri="{BB962C8B-B14F-4D97-AF65-F5344CB8AC3E}">
        <p14:creationId xmlns:p14="http://schemas.microsoft.com/office/powerpoint/2010/main" val="330187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4826" y="1216402"/>
            <a:ext cx="4993354" cy="3785652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=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:: IO a -&gt; IO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(do r &lt;- action;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return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wait ::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wait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 = </a:t>
            </a:r>
            <a:r>
              <a:rPr lang="en-US" sz="2400" b="1" dirty="0" err="1">
                <a:solidFill>
                  <a:srgbClr val="0070C0"/>
                </a:solidFill>
              </a:rPr>
              <a:t>readMVar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3517" y="1673610"/>
            <a:ext cx="6113544" cy="221599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var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$ do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r  &lt;- </a:t>
            </a:r>
            <a:r>
              <a:rPr lang="en-US" sz="2400" dirty="0" err="1">
                <a:solidFill>
                  <a:srgbClr val="0070C0"/>
                </a:solidFill>
              </a:rPr>
              <a:t>getURL</a:t>
            </a:r>
            <a:r>
              <a:rPr lang="en-US" sz="2400" dirty="0">
                <a:solidFill>
                  <a:srgbClr val="0070C0"/>
                </a:solidFill>
              </a:rPr>
              <a:t> "http://... "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var  r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var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3517" y="4465697"/>
            <a:ext cx="4083618" cy="83099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 &lt;- async (</a:t>
            </a:r>
            <a:r>
              <a:rPr lang="en-US" sz="2400" dirty="0" err="1">
                <a:solidFill>
                  <a:srgbClr val="0070C0"/>
                </a:solidFill>
              </a:rPr>
              <a:t>getURL</a:t>
            </a:r>
            <a:r>
              <a:rPr lang="en-US" sz="2400" dirty="0">
                <a:solidFill>
                  <a:srgbClr val="0070C0"/>
                </a:solidFill>
              </a:rPr>
              <a:t> "http://... " 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wait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9839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  </a:t>
            </a:r>
          </a:p>
          <a:p>
            <a:r>
              <a:rPr lang="en-US" sz="2400" dirty="0"/>
              <a:t>    Se </a:t>
            </a:r>
            <a:r>
              <a:rPr lang="en-US" sz="2400" dirty="0" err="1"/>
              <a:t>creaza</a:t>
            </a:r>
            <a:r>
              <a:rPr lang="en-US" sz="2400" dirty="0"/>
              <a:t> un thread </a:t>
            </a:r>
            <a:r>
              <a:rPr lang="en-US" sz="2400" dirty="0" err="1"/>
              <a:t>separat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actiune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se </a:t>
            </a:r>
            <a:r>
              <a:rPr lang="en-US" sz="2400" dirty="0" err="1"/>
              <a:t>asteapta</a:t>
            </a:r>
            <a:r>
              <a:rPr lang="en-US" sz="2400" dirty="0"/>
              <a:t> </a:t>
            </a:r>
            <a:r>
              <a:rPr lang="en-US" sz="2400" dirty="0" err="1"/>
              <a:t>rezultatul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747713" y="5184390"/>
            <a:ext cx="6090770" cy="1015663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dirty="0" err="1"/>
              <a:t>readMVar</a:t>
            </a:r>
            <a:r>
              <a:rPr lang="en-US" sz="2000" dirty="0"/>
              <a:t> nu </a:t>
            </a:r>
            <a:r>
              <a:rPr lang="en-US" sz="2000" dirty="0" err="1"/>
              <a:t>devine</a:t>
            </a:r>
            <a:r>
              <a:rPr lang="en-US" sz="2000" dirty="0"/>
              <a:t> </a:t>
            </a:r>
            <a:r>
              <a:rPr lang="en-US" sz="2000" dirty="0" err="1"/>
              <a:t>goala</a:t>
            </a:r>
            <a:r>
              <a:rPr lang="en-US" sz="2000" dirty="0"/>
              <a:t> </a:t>
            </a:r>
            <a:r>
              <a:rPr lang="en-US" sz="2000" dirty="0" err="1"/>
              <a:t>dupa</a:t>
            </a:r>
            <a:r>
              <a:rPr lang="en-US" sz="2000" dirty="0"/>
              <a:t> </a:t>
            </a:r>
            <a:r>
              <a:rPr lang="en-US" sz="2000" dirty="0" err="1"/>
              <a:t>citire</a:t>
            </a:r>
            <a:r>
              <a:rPr lang="en-US" sz="2000" dirty="0"/>
              <a:t> (multiple-wakeup)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deci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apeluri</a:t>
            </a:r>
            <a:r>
              <a:rPr lang="en-US" sz="2000" dirty="0"/>
              <a:t> </a:t>
            </a:r>
            <a:r>
              <a:rPr lang="en-US" sz="2000" b="1" dirty="0"/>
              <a:t>wait </a:t>
            </a:r>
            <a:r>
              <a:rPr lang="en-US" sz="2000" dirty="0"/>
              <a:t>pot fi </a:t>
            </a:r>
            <a:r>
              <a:rPr lang="en-US" sz="2000" dirty="0" err="1"/>
              <a:t>facute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aceeasi</a:t>
            </a:r>
            <a:r>
              <a:rPr lang="en-US" sz="2000" dirty="0"/>
              <a:t> </a:t>
            </a:r>
            <a:r>
              <a:rPr lang="en-US" sz="2000" dirty="0" err="1"/>
              <a:t>operatie</a:t>
            </a:r>
            <a:r>
              <a:rPr lang="en-US" sz="2000" dirty="0"/>
              <a:t> </a:t>
            </a:r>
            <a:r>
              <a:rPr lang="en-US" sz="2000" dirty="0" err="1"/>
              <a:t>asincrona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891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517" y="1262159"/>
            <a:ext cx="5102403" cy="3785652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=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:: IO a -&gt; IO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(do r &lt;- action;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return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wait ::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wait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 = </a:t>
            </a:r>
            <a:r>
              <a:rPr lang="en-US" sz="2400" dirty="0" err="1">
                <a:solidFill>
                  <a:srgbClr val="0070C0"/>
                </a:solidFill>
              </a:rPr>
              <a:t>readMVar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9839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  </a:t>
            </a:r>
          </a:p>
          <a:p>
            <a:r>
              <a:rPr lang="en-US" sz="2400" dirty="0"/>
              <a:t>    Se </a:t>
            </a:r>
            <a:r>
              <a:rPr lang="en-US" sz="2400" dirty="0" err="1"/>
              <a:t>creaza</a:t>
            </a:r>
            <a:r>
              <a:rPr lang="en-US" sz="2400" dirty="0"/>
              <a:t> un thread </a:t>
            </a:r>
            <a:r>
              <a:rPr lang="en-US" sz="2400" dirty="0" err="1"/>
              <a:t>separat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actiune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se </a:t>
            </a:r>
            <a:r>
              <a:rPr lang="en-US" sz="2400" dirty="0" err="1"/>
              <a:t>asteapta</a:t>
            </a:r>
            <a:r>
              <a:rPr lang="en-US" sz="2400" dirty="0"/>
              <a:t> </a:t>
            </a:r>
            <a:r>
              <a:rPr lang="en-US" sz="2400" dirty="0" err="1"/>
              <a:t>rezultatul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71334-CCF1-40A8-B578-191632BE8E8B}"/>
              </a:ext>
            </a:extLst>
          </p:cNvPr>
          <p:cNvSpPr txBox="1"/>
          <p:nvPr/>
        </p:nvSpPr>
        <p:spPr>
          <a:xfrm>
            <a:off x="6736082" y="1723824"/>
            <a:ext cx="4399280" cy="28623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Data.ByteString</a:t>
            </a:r>
            <a:r>
              <a:rPr lang="en-US" sz="2000" dirty="0">
                <a:solidFill>
                  <a:srgbClr val="0070C0"/>
                </a:solidFill>
              </a:rPr>
              <a:t> as B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a1 &lt;-  async (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"http://..." )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a2 &lt;-  async (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"http://..." )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r1 &lt;- wait a1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r2 &lt;- wait a2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print (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r1, 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r2)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BFF4A-36F9-4FA5-B6EE-6D32BE4E50AC}"/>
              </a:ext>
            </a:extLst>
          </p:cNvPr>
          <p:cNvSpPr txBox="1"/>
          <p:nvPr/>
        </p:nvSpPr>
        <p:spPr>
          <a:xfrm>
            <a:off x="353517" y="5290760"/>
            <a:ext cx="2511603" cy="830997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 &lt;- async </a:t>
            </a:r>
            <a:r>
              <a:rPr lang="en-US" sz="2400" dirty="0"/>
              <a:t>action</a:t>
            </a:r>
          </a:p>
          <a:p>
            <a:r>
              <a:rPr lang="en-US" sz="2400" dirty="0">
                <a:solidFill>
                  <a:srgbClr val="0070C0"/>
                </a:solidFill>
              </a:rPr>
              <a:t>r &lt;- wait a</a:t>
            </a:r>
          </a:p>
        </p:txBody>
      </p:sp>
    </p:spTree>
    <p:extLst>
      <p:ext uri="{BB962C8B-B14F-4D97-AF65-F5344CB8AC3E}">
        <p14:creationId xmlns:p14="http://schemas.microsoft.com/office/powerpoint/2010/main" val="54232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517" y="1416048"/>
            <a:ext cx="4218483" cy="3170099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data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=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:: IO a -&gt; IO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(do r &lt;- action;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return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wait ::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wait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 = </a:t>
            </a:r>
            <a:r>
              <a:rPr lang="en-US" sz="2000" dirty="0" err="1">
                <a:solidFill>
                  <a:srgbClr val="0070C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3380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71334-CCF1-40A8-B578-191632BE8E8B}"/>
              </a:ext>
            </a:extLst>
          </p:cNvPr>
          <p:cNvSpPr txBox="1"/>
          <p:nvPr/>
        </p:nvSpPr>
        <p:spPr>
          <a:xfrm>
            <a:off x="5110480" y="497350"/>
            <a:ext cx="6837680" cy="501675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Data.ByteString</a:t>
            </a:r>
            <a:r>
              <a:rPr lang="en-US" sz="2000" dirty="0">
                <a:solidFill>
                  <a:srgbClr val="0070C0"/>
                </a:solidFill>
              </a:rPr>
              <a:t> as B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TimeIt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GB" sz="2000" dirty="0">
                <a:solidFill>
                  <a:srgbClr val="0070C0"/>
                </a:solidFill>
              </a:rPr>
              <a:t>import </a:t>
            </a:r>
            <a:r>
              <a:rPr lang="en-GB" sz="2000" dirty="0" err="1">
                <a:solidFill>
                  <a:srgbClr val="0070C0"/>
                </a:solidFill>
              </a:rPr>
              <a:t>Text.Printf</a:t>
            </a:r>
            <a:endParaRPr lang="en-GB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:: String -&gt; IO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= do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(page, time) &lt;- </a:t>
            </a:r>
            <a:r>
              <a:rPr lang="en-US" sz="2000" dirty="0" err="1">
                <a:solidFill>
                  <a:srgbClr val="0070C0"/>
                </a:solidFill>
              </a:rPr>
              <a:t>timeit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</a:t>
            </a:r>
            <a:r>
              <a:rPr lang="en-US" sz="2000" dirty="0" err="1">
                <a:solidFill>
                  <a:srgbClr val="0070C0"/>
                </a:solidFill>
              </a:rPr>
              <a:t>printf</a:t>
            </a:r>
            <a:r>
              <a:rPr lang="en-US" sz="2000" dirty="0">
                <a:solidFill>
                  <a:srgbClr val="0070C0"/>
                </a:solidFill>
              </a:rPr>
              <a:t> " %s (%d bytes, %.2fs)\n"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page) time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 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             a1 &lt;-  async (</a:t>
            </a:r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"http://..." )   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             a2 &lt;-  async (</a:t>
            </a:r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"http://..." )   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              wait a1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             wait a2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BFF4A-36F9-4FA5-B6EE-6D32BE4E50AC}"/>
              </a:ext>
            </a:extLst>
          </p:cNvPr>
          <p:cNvSpPr txBox="1"/>
          <p:nvPr/>
        </p:nvSpPr>
        <p:spPr>
          <a:xfrm>
            <a:off x="447040" y="4904680"/>
            <a:ext cx="3342640" cy="830997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 &lt;- async </a:t>
            </a:r>
            <a:r>
              <a:rPr lang="en-US" sz="2400" dirty="0"/>
              <a:t>action</a:t>
            </a:r>
          </a:p>
          <a:p>
            <a:r>
              <a:rPr lang="en-US" sz="2400" dirty="0">
                <a:solidFill>
                  <a:srgbClr val="0070C0"/>
                </a:solidFill>
              </a:rPr>
              <a:t>r &lt;- wait a</a:t>
            </a:r>
          </a:p>
        </p:txBody>
      </p:sp>
    </p:spTree>
    <p:extLst>
      <p:ext uri="{BB962C8B-B14F-4D97-AF65-F5344CB8AC3E}">
        <p14:creationId xmlns:p14="http://schemas.microsoft.com/office/powerpoint/2010/main" val="141473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3517" y="266518"/>
            <a:ext cx="3380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71334-CCF1-40A8-B578-191632BE8E8B}"/>
              </a:ext>
            </a:extLst>
          </p:cNvPr>
          <p:cNvSpPr txBox="1"/>
          <p:nvPr/>
        </p:nvSpPr>
        <p:spPr>
          <a:xfrm>
            <a:off x="568960" y="728183"/>
            <a:ext cx="7691120" cy="42473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Data.ByteString</a:t>
            </a:r>
            <a:r>
              <a:rPr lang="en-US" dirty="0">
                <a:solidFill>
                  <a:srgbClr val="0070C0"/>
                </a:solidFill>
              </a:rPr>
              <a:t> as B</a:t>
            </a:r>
          </a:p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  </a:t>
            </a:r>
          </a:p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TimeIt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import </a:t>
            </a:r>
            <a:r>
              <a:rPr lang="en-GB" dirty="0" err="1">
                <a:solidFill>
                  <a:srgbClr val="0070C0"/>
                </a:solidFill>
              </a:rPr>
              <a:t>Text.Printf</a:t>
            </a:r>
            <a:endParaRPr lang="en-GB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 err="1">
                <a:solidFill>
                  <a:srgbClr val="0070C0"/>
                </a:solidFill>
              </a:rPr>
              <a:t>timeDownload</a:t>
            </a:r>
            <a:r>
              <a:rPr lang="en-US" dirty="0">
                <a:solidFill>
                  <a:srgbClr val="0070C0"/>
                </a:solidFill>
              </a:rPr>
              <a:t> :: String -&gt; IO ()</a:t>
            </a:r>
          </a:p>
          <a:p>
            <a:r>
              <a:rPr lang="en-US" dirty="0" err="1">
                <a:solidFill>
                  <a:srgbClr val="0070C0"/>
                </a:solidFill>
              </a:rPr>
              <a:t>timeDownload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 = do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(page, time) &lt;- </a:t>
            </a:r>
            <a:r>
              <a:rPr lang="en-US" dirty="0" err="1">
                <a:solidFill>
                  <a:srgbClr val="0070C0"/>
                </a:solidFill>
              </a:rPr>
              <a:t>timeit</a:t>
            </a:r>
            <a:r>
              <a:rPr lang="en-US" dirty="0">
                <a:solidFill>
                  <a:srgbClr val="0070C0"/>
                </a:solidFill>
              </a:rPr>
              <a:t> $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</a:t>
            </a:r>
            <a:r>
              <a:rPr lang="en-US" dirty="0" err="1">
                <a:solidFill>
                  <a:srgbClr val="0070C0"/>
                </a:solidFill>
              </a:rPr>
              <a:t>printf</a:t>
            </a:r>
            <a:r>
              <a:rPr lang="en-US" dirty="0">
                <a:solidFill>
                  <a:srgbClr val="0070C0"/>
                </a:solidFill>
              </a:rPr>
              <a:t> "downloaded: %s (%d bytes, %.2fs)\n"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B.length</a:t>
            </a:r>
            <a:r>
              <a:rPr lang="en-US" dirty="0">
                <a:solidFill>
                  <a:srgbClr val="0070C0"/>
                </a:solidFill>
              </a:rPr>
              <a:t> page) time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main = do 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        a1 &lt;-  async (</a:t>
            </a:r>
            <a:r>
              <a:rPr lang="en-US" dirty="0" err="1">
                <a:solidFill>
                  <a:srgbClr val="0070C0"/>
                </a:solidFill>
              </a:rPr>
              <a:t>timeDownload</a:t>
            </a:r>
            <a:r>
              <a:rPr lang="en-US" dirty="0">
                <a:solidFill>
                  <a:srgbClr val="0070C0"/>
                </a:solidFill>
              </a:rPr>
              <a:t> "http://..." )   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        a2 &lt;-  async (</a:t>
            </a:r>
            <a:r>
              <a:rPr lang="en-US" dirty="0" err="1">
                <a:solidFill>
                  <a:srgbClr val="0070C0"/>
                </a:solidFill>
              </a:rPr>
              <a:t>timeDownload</a:t>
            </a:r>
            <a:r>
              <a:rPr lang="en-US" dirty="0">
                <a:solidFill>
                  <a:srgbClr val="0070C0"/>
                </a:solidFill>
              </a:rPr>
              <a:t> "http://..." )   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        wait a1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        wait a2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6DCEF97-43DD-437E-A077-CD9411EC8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4082" y="4693439"/>
          <a:ext cx="7082558" cy="1487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930480" imgH="825480" progId="Paint.Picture">
                  <p:embed/>
                </p:oleObj>
              </mc:Choice>
              <mc:Fallback>
                <p:oleObj name="Bitmap Image" r:id="rId2" imgW="3930480" imgH="825480" progId="Paint.Pictur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6DCEF97-43DD-437E-A077-CD9411EC86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34082" y="4693439"/>
                        <a:ext cx="7082558" cy="14874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3A9D09-DB81-425C-ABD8-ECB162F48C07}"/>
              </a:ext>
            </a:extLst>
          </p:cNvPr>
          <p:cNvCxnSpPr/>
          <p:nvPr/>
        </p:nvCxnSpPr>
        <p:spPr>
          <a:xfrm>
            <a:off x="10434320" y="5557520"/>
            <a:ext cx="6807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A64E96D-AB7D-48D9-BC7D-9FD43B101D73}"/>
              </a:ext>
            </a:extLst>
          </p:cNvPr>
          <p:cNvSpPr txBox="1"/>
          <p:nvPr/>
        </p:nvSpPr>
        <p:spPr>
          <a:xfrm>
            <a:off x="6455238" y="4205463"/>
            <a:ext cx="465980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afisate</a:t>
            </a:r>
            <a:r>
              <a:rPr lang="en-US" dirty="0"/>
              <a:t> </a:t>
            </a:r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executie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5758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80593" y="1066746"/>
            <a:ext cx="4496760" cy="3170099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data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=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:: IO a -&gt; IO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(do r &lt;- action;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return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wait ::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wait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 = </a:t>
            </a:r>
            <a:r>
              <a:rPr lang="en-US" sz="2000" dirty="0" err="1">
                <a:solidFill>
                  <a:srgbClr val="0070C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8234" y="1066745"/>
            <a:ext cx="6676315" cy="317009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Text.Printf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qualified </a:t>
            </a:r>
            <a:r>
              <a:rPr lang="en-US" sz="2000" dirty="0" err="1">
                <a:solidFill>
                  <a:srgbClr val="0070C0"/>
                </a:solidFill>
              </a:rPr>
              <a:t>Data.ByteString</a:t>
            </a:r>
            <a:r>
              <a:rPr lang="en-US" sz="2000" dirty="0">
                <a:solidFill>
                  <a:srgbClr val="0070C0"/>
                </a:solidFill>
              </a:rPr>
              <a:t> as B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/>
              <a:t>--  </a:t>
            </a:r>
            <a:r>
              <a:rPr lang="en-US" dirty="0" err="1"/>
              <a:t>parconc</a:t>
            </a:r>
            <a:r>
              <a:rPr lang="en-US" dirty="0"/>
              <a:t>-examples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TimeIt</a:t>
            </a:r>
            <a:r>
              <a:rPr lang="en-US" sz="2000" dirty="0">
                <a:solidFill>
                  <a:srgbClr val="0070C0"/>
                </a:solidFill>
              </a:rPr>
              <a:t>    </a:t>
            </a:r>
            <a:r>
              <a:rPr lang="en-US" sz="2000" dirty="0"/>
              <a:t>--   </a:t>
            </a:r>
            <a:r>
              <a:rPr lang="en-US" dirty="0" err="1"/>
              <a:t>parconc</a:t>
            </a:r>
            <a:r>
              <a:rPr lang="en-US" dirty="0"/>
              <a:t>-examples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:: String -&gt; IO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= do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(page, time) &lt;- </a:t>
            </a:r>
            <a:r>
              <a:rPr lang="en-US" sz="2000" dirty="0" err="1">
                <a:solidFill>
                  <a:srgbClr val="0070C0"/>
                </a:solidFill>
              </a:rPr>
              <a:t>timeit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</a:t>
            </a:r>
            <a:r>
              <a:rPr lang="en-US" sz="2000" dirty="0" err="1">
                <a:solidFill>
                  <a:srgbClr val="0070C0"/>
                </a:solidFill>
              </a:rPr>
              <a:t>printf</a:t>
            </a:r>
            <a:r>
              <a:rPr lang="en-US" sz="2000" dirty="0">
                <a:solidFill>
                  <a:srgbClr val="0070C0"/>
                </a:solidFill>
              </a:rPr>
              <a:t> " %s (%d bytes, %.2fs)\n"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page)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517" y="4549857"/>
            <a:ext cx="6952031" cy="156966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sites =["url1","url2",…]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main = 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as &lt;-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. </a:t>
            </a:r>
            <a:r>
              <a:rPr lang="en-US" sz="2400" dirty="0" err="1">
                <a:solidFill>
                  <a:srgbClr val="0070C0"/>
                </a:solidFill>
              </a:rPr>
              <a:t>timeDownload</a:t>
            </a:r>
            <a:r>
              <a:rPr lang="en-US" sz="2400" dirty="0">
                <a:solidFill>
                  <a:srgbClr val="0070C0"/>
                </a:solidFill>
              </a:rPr>
              <a:t>) sites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_ wait as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3242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7775524" y="5804182"/>
            <a:ext cx="3314497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geturl3.hs ©2012, Simon Marlow</a:t>
            </a:r>
          </a:p>
        </p:txBody>
      </p:sp>
    </p:spTree>
    <p:extLst>
      <p:ext uri="{BB962C8B-B14F-4D97-AF65-F5344CB8AC3E}">
        <p14:creationId xmlns:p14="http://schemas.microsoft.com/office/powerpoint/2010/main" val="144018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80593" y="1066746"/>
            <a:ext cx="4496760" cy="2554545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data </a:t>
            </a:r>
            <a:r>
              <a:rPr lang="en-US" sz="1600" dirty="0" err="1">
                <a:solidFill>
                  <a:srgbClr val="0070C0"/>
                </a:solidFill>
              </a:rPr>
              <a:t>Async</a:t>
            </a:r>
            <a:r>
              <a:rPr lang="en-US" sz="1600" dirty="0">
                <a:solidFill>
                  <a:srgbClr val="0070C0"/>
                </a:solidFill>
              </a:rPr>
              <a:t> a = </a:t>
            </a:r>
            <a:r>
              <a:rPr lang="en-US" sz="1600" dirty="0" err="1">
                <a:solidFill>
                  <a:srgbClr val="0070C0"/>
                </a:solidFill>
              </a:rPr>
              <a:t>Async</a:t>
            </a:r>
            <a:r>
              <a:rPr lang="en-US" sz="1600" dirty="0">
                <a:solidFill>
                  <a:srgbClr val="0070C0"/>
                </a:solidFill>
              </a:rPr>
              <a:t> (</a:t>
            </a:r>
            <a:r>
              <a:rPr lang="en-US" sz="1600" dirty="0" err="1">
                <a:solidFill>
                  <a:srgbClr val="0070C0"/>
                </a:solidFill>
              </a:rPr>
              <a:t>MVar</a:t>
            </a:r>
            <a:r>
              <a:rPr lang="en-US" sz="1600" dirty="0">
                <a:solidFill>
                  <a:srgbClr val="0070C0"/>
                </a:solidFill>
              </a:rPr>
              <a:t> a)</a:t>
            </a:r>
          </a:p>
          <a:p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 err="1">
                <a:solidFill>
                  <a:srgbClr val="0070C0"/>
                </a:solidFill>
              </a:rPr>
              <a:t>async</a:t>
            </a:r>
            <a:r>
              <a:rPr lang="en-US" sz="1600" dirty="0">
                <a:solidFill>
                  <a:srgbClr val="0070C0"/>
                </a:solidFill>
              </a:rPr>
              <a:t> :: IO a -&gt; IO (</a:t>
            </a:r>
            <a:r>
              <a:rPr lang="en-US" sz="1600" dirty="0" err="1">
                <a:solidFill>
                  <a:srgbClr val="0070C0"/>
                </a:solidFill>
              </a:rPr>
              <a:t>Async</a:t>
            </a:r>
            <a:r>
              <a:rPr lang="en-US" sz="16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1600" dirty="0" err="1">
                <a:solidFill>
                  <a:srgbClr val="0070C0"/>
                </a:solidFill>
              </a:rPr>
              <a:t>async</a:t>
            </a:r>
            <a:r>
              <a:rPr lang="en-US" sz="16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</a:t>
            </a:r>
            <a:r>
              <a:rPr lang="en-US" sz="1600" dirty="0" err="1">
                <a:solidFill>
                  <a:srgbClr val="0070C0"/>
                </a:solidFill>
              </a:rPr>
              <a:t>var</a:t>
            </a:r>
            <a:r>
              <a:rPr lang="en-US" sz="1600" dirty="0">
                <a:solidFill>
                  <a:srgbClr val="0070C0"/>
                </a:solidFill>
              </a:rPr>
              <a:t> &lt;- </a:t>
            </a:r>
            <a:r>
              <a:rPr lang="en-US" sz="1600" dirty="0" err="1">
                <a:solidFill>
                  <a:srgbClr val="0070C0"/>
                </a:solidFill>
              </a:rPr>
              <a:t>newEmptyMVar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     </a:t>
            </a:r>
            <a:r>
              <a:rPr lang="en-US" sz="1600" dirty="0" err="1">
                <a:solidFill>
                  <a:srgbClr val="0070C0"/>
                </a:solidFill>
              </a:rPr>
              <a:t>forkIO</a:t>
            </a:r>
            <a:r>
              <a:rPr lang="en-US" sz="1600" dirty="0">
                <a:solidFill>
                  <a:srgbClr val="0070C0"/>
                </a:solidFill>
              </a:rPr>
              <a:t> (do r &lt;- action; </a:t>
            </a:r>
            <a:r>
              <a:rPr lang="en-US" sz="1600" dirty="0" err="1">
                <a:solidFill>
                  <a:srgbClr val="0070C0"/>
                </a:solidFill>
              </a:rPr>
              <a:t>putMVar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var</a:t>
            </a:r>
            <a:r>
              <a:rPr lang="en-US" sz="16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return (</a:t>
            </a:r>
            <a:r>
              <a:rPr lang="en-US" sz="1600" dirty="0" err="1">
                <a:solidFill>
                  <a:srgbClr val="0070C0"/>
                </a:solidFill>
              </a:rPr>
              <a:t>Async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var</a:t>
            </a:r>
            <a:r>
              <a:rPr lang="en-US" sz="1600" dirty="0">
                <a:solidFill>
                  <a:srgbClr val="0070C0"/>
                </a:solidFill>
              </a:rPr>
              <a:t>)</a:t>
            </a:r>
          </a:p>
          <a:p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wait :: </a:t>
            </a:r>
            <a:r>
              <a:rPr lang="en-US" sz="1600" dirty="0" err="1">
                <a:solidFill>
                  <a:srgbClr val="0070C0"/>
                </a:solidFill>
              </a:rPr>
              <a:t>Async</a:t>
            </a:r>
            <a:r>
              <a:rPr lang="en-US" sz="16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1600" dirty="0">
                <a:solidFill>
                  <a:srgbClr val="0070C0"/>
                </a:solidFill>
              </a:rPr>
              <a:t>wait (</a:t>
            </a:r>
            <a:r>
              <a:rPr lang="en-US" sz="1600" dirty="0" err="1">
                <a:solidFill>
                  <a:srgbClr val="0070C0"/>
                </a:solidFill>
              </a:rPr>
              <a:t>Async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var</a:t>
            </a:r>
            <a:r>
              <a:rPr lang="en-US" sz="1600" dirty="0">
                <a:solidFill>
                  <a:srgbClr val="0070C0"/>
                </a:solidFill>
              </a:rPr>
              <a:t>) = </a:t>
            </a:r>
            <a:r>
              <a:rPr lang="en-US" sz="1600" dirty="0" err="1">
                <a:solidFill>
                  <a:srgbClr val="0070C0"/>
                </a:solidFill>
              </a:rPr>
              <a:t>readMVar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var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8234" y="1066745"/>
            <a:ext cx="6676315" cy="255454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import </a:t>
            </a:r>
            <a:r>
              <a:rPr lang="en-US" sz="1600" dirty="0" err="1">
                <a:solidFill>
                  <a:srgbClr val="0070C0"/>
                </a:solidFill>
              </a:rPr>
              <a:t>Control.Concurrent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import </a:t>
            </a:r>
            <a:r>
              <a:rPr lang="en-US" sz="1600" dirty="0" err="1">
                <a:solidFill>
                  <a:srgbClr val="0070C0"/>
                </a:solidFill>
              </a:rPr>
              <a:t>Text.Printf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import qualified </a:t>
            </a:r>
            <a:r>
              <a:rPr lang="en-US" sz="1600" dirty="0" err="1">
                <a:solidFill>
                  <a:srgbClr val="0070C0"/>
                </a:solidFill>
              </a:rPr>
              <a:t>Data.ByteString</a:t>
            </a:r>
            <a:r>
              <a:rPr lang="en-US" sz="1600" dirty="0">
                <a:solidFill>
                  <a:srgbClr val="0070C0"/>
                </a:solidFill>
              </a:rPr>
              <a:t> as B</a:t>
            </a:r>
          </a:p>
          <a:p>
            <a:r>
              <a:rPr lang="en-US" sz="1600" dirty="0">
                <a:solidFill>
                  <a:srgbClr val="0070C0"/>
                </a:solidFill>
              </a:rPr>
              <a:t>import </a:t>
            </a:r>
            <a:r>
              <a:rPr lang="en-US" sz="1600" dirty="0" err="1">
                <a:solidFill>
                  <a:srgbClr val="0070C0"/>
                </a:solidFill>
              </a:rPr>
              <a:t>GetURL</a:t>
            </a:r>
            <a:r>
              <a:rPr lang="en-US" sz="1600" dirty="0">
                <a:solidFill>
                  <a:srgbClr val="0070C0"/>
                </a:solidFill>
              </a:rPr>
              <a:t>  </a:t>
            </a:r>
            <a:r>
              <a:rPr lang="en-US" sz="1600" dirty="0">
                <a:solidFill>
                  <a:srgbClr val="000000"/>
                </a:solidFill>
              </a:rPr>
              <a:t>--  </a:t>
            </a:r>
            <a:r>
              <a:rPr lang="en-US" sz="1600" dirty="0" err="1">
                <a:solidFill>
                  <a:srgbClr val="000000"/>
                </a:solidFill>
              </a:rPr>
              <a:t>parconc</a:t>
            </a:r>
            <a:r>
              <a:rPr lang="en-US" sz="1600" dirty="0">
                <a:solidFill>
                  <a:srgbClr val="000000"/>
                </a:solidFill>
              </a:rPr>
              <a:t>-examples</a:t>
            </a:r>
          </a:p>
          <a:p>
            <a:r>
              <a:rPr lang="en-US" sz="1600" dirty="0">
                <a:solidFill>
                  <a:srgbClr val="0070C0"/>
                </a:solidFill>
              </a:rPr>
              <a:t>import </a:t>
            </a:r>
            <a:r>
              <a:rPr lang="en-US" sz="1600" dirty="0" err="1">
                <a:solidFill>
                  <a:srgbClr val="0070C0"/>
                </a:solidFill>
              </a:rPr>
              <a:t>TimeIt</a:t>
            </a:r>
            <a:r>
              <a:rPr lang="en-US" sz="1600" dirty="0">
                <a:solidFill>
                  <a:srgbClr val="0070C0"/>
                </a:solidFill>
              </a:rPr>
              <a:t>    </a:t>
            </a:r>
            <a:r>
              <a:rPr lang="en-US" sz="1600" dirty="0">
                <a:solidFill>
                  <a:srgbClr val="000000"/>
                </a:solidFill>
              </a:rPr>
              <a:t>--   </a:t>
            </a:r>
            <a:r>
              <a:rPr lang="en-US" sz="1600" dirty="0" err="1">
                <a:solidFill>
                  <a:srgbClr val="000000"/>
                </a:solidFill>
              </a:rPr>
              <a:t>parconc</a:t>
            </a:r>
            <a:r>
              <a:rPr lang="en-US" sz="1600" dirty="0">
                <a:solidFill>
                  <a:srgbClr val="000000"/>
                </a:solidFill>
              </a:rPr>
              <a:t>-examples</a:t>
            </a:r>
          </a:p>
          <a:p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 err="1">
                <a:solidFill>
                  <a:srgbClr val="0070C0"/>
                </a:solidFill>
              </a:rPr>
              <a:t>timeDownload</a:t>
            </a:r>
            <a:r>
              <a:rPr lang="en-US" sz="1600" dirty="0">
                <a:solidFill>
                  <a:srgbClr val="0070C0"/>
                </a:solidFill>
              </a:rPr>
              <a:t> :: String -&gt; IO ()</a:t>
            </a:r>
          </a:p>
          <a:p>
            <a:r>
              <a:rPr lang="en-US" sz="1600" dirty="0" err="1">
                <a:solidFill>
                  <a:srgbClr val="0070C0"/>
                </a:solidFill>
              </a:rPr>
              <a:t>timeDownload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url</a:t>
            </a:r>
            <a:r>
              <a:rPr lang="en-US" sz="1600" dirty="0">
                <a:solidFill>
                  <a:srgbClr val="0070C0"/>
                </a:solidFill>
              </a:rPr>
              <a:t> = do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(page, time) &lt;- </a:t>
            </a:r>
            <a:r>
              <a:rPr lang="en-US" sz="1600" dirty="0" err="1">
                <a:solidFill>
                  <a:srgbClr val="0070C0"/>
                </a:solidFill>
              </a:rPr>
              <a:t>timeit</a:t>
            </a:r>
            <a:r>
              <a:rPr lang="en-US" sz="1600" dirty="0">
                <a:solidFill>
                  <a:srgbClr val="0070C0"/>
                </a:solidFill>
              </a:rPr>
              <a:t> $ </a:t>
            </a:r>
            <a:r>
              <a:rPr lang="en-US" sz="1600" dirty="0" err="1">
                <a:solidFill>
                  <a:srgbClr val="0070C0"/>
                </a:solidFill>
              </a:rPr>
              <a:t>getURL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url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</a:t>
            </a:r>
            <a:r>
              <a:rPr lang="en-US" sz="1600" dirty="0" err="1">
                <a:solidFill>
                  <a:srgbClr val="0070C0"/>
                </a:solidFill>
              </a:rPr>
              <a:t>printf</a:t>
            </a:r>
            <a:r>
              <a:rPr lang="en-US" sz="1600" dirty="0">
                <a:solidFill>
                  <a:srgbClr val="0070C0"/>
                </a:solidFill>
              </a:rPr>
              <a:t> " %s (%d bytes, %.2fs)\n" </a:t>
            </a:r>
            <a:r>
              <a:rPr lang="en-US" sz="1600" dirty="0" err="1">
                <a:solidFill>
                  <a:srgbClr val="0070C0"/>
                </a:solidFill>
              </a:rPr>
              <a:t>url</a:t>
            </a:r>
            <a:r>
              <a:rPr lang="en-US" sz="1600" dirty="0">
                <a:solidFill>
                  <a:srgbClr val="0070C0"/>
                </a:solidFill>
              </a:rPr>
              <a:t> (</a:t>
            </a:r>
            <a:r>
              <a:rPr lang="en-US" sz="1600" dirty="0" err="1">
                <a:solidFill>
                  <a:srgbClr val="0070C0"/>
                </a:solidFill>
              </a:rPr>
              <a:t>B.length</a:t>
            </a:r>
            <a:r>
              <a:rPr lang="en-US" sz="1600" dirty="0">
                <a:solidFill>
                  <a:srgbClr val="0070C0"/>
                </a:solidFill>
              </a:rPr>
              <a:t> page)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5301" y="3848152"/>
            <a:ext cx="10037684" cy="120032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main = 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as &lt;-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. </a:t>
            </a:r>
            <a:r>
              <a:rPr lang="en-US" sz="2400" dirty="0" err="1">
                <a:solidFill>
                  <a:srgbClr val="0070C0"/>
                </a:solidFill>
              </a:rPr>
              <a:t>timeDownload</a:t>
            </a:r>
            <a:r>
              <a:rPr lang="en-US" sz="2400" dirty="0">
                <a:solidFill>
                  <a:srgbClr val="0070C0"/>
                </a:solidFill>
              </a:rPr>
              <a:t>) sites     -- sites =["url1","url2",…]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_ wait as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6296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dirty="0" err="1">
                <a:solidFill>
                  <a:srgbClr val="000000"/>
                </a:solidFill>
              </a:rPr>
              <a:t>comunicare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asincrona</a:t>
            </a:r>
            <a:r>
              <a:rPr lang="en-US" sz="2400" dirty="0">
                <a:solidFill>
                  <a:srgbClr val="000000"/>
                </a:solidFill>
              </a:rPr>
              <a:t>  (</a:t>
            </a:r>
            <a:r>
              <a:rPr lang="en-US" sz="2400" dirty="0" err="1">
                <a:solidFill>
                  <a:srgbClr val="000000"/>
                </a:solidFill>
              </a:rPr>
              <a:t>folosind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0000"/>
                </a:solidFill>
              </a:rPr>
              <a:t>) 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3952" y="128018"/>
            <a:ext cx="3314497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geturl3.hs ©2012, Simon Marlow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9595" y="4820141"/>
            <a:ext cx="6594882" cy="101566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err="1"/>
              <a:t>asteapta</a:t>
            </a:r>
            <a:r>
              <a:rPr lang="en-US" sz="2000" b="1" dirty="0"/>
              <a:t> ca </a:t>
            </a:r>
            <a:r>
              <a:rPr lang="en-US" sz="2000" b="1" dirty="0" err="1"/>
              <a:t>toate</a:t>
            </a:r>
            <a:r>
              <a:rPr lang="en-US" sz="2000" b="1" dirty="0"/>
              <a:t> </a:t>
            </a:r>
            <a:r>
              <a:rPr lang="en-US" sz="2000" b="1" dirty="0" err="1"/>
              <a:t>actiunile</a:t>
            </a:r>
            <a:r>
              <a:rPr lang="en-US" sz="2000" b="1" dirty="0"/>
              <a:t> </a:t>
            </a:r>
            <a:r>
              <a:rPr lang="en-US" sz="2000" b="1" dirty="0" err="1"/>
              <a:t>asincrone</a:t>
            </a:r>
            <a:r>
              <a:rPr lang="en-US" sz="2000" b="1" dirty="0"/>
              <a:t> </a:t>
            </a:r>
            <a:r>
              <a:rPr lang="en-US" sz="2000" b="1" dirty="0" err="1"/>
              <a:t>sa</a:t>
            </a:r>
            <a:r>
              <a:rPr lang="en-US" sz="2000" b="1" dirty="0"/>
              <a:t> se </a:t>
            </a:r>
            <a:r>
              <a:rPr lang="en-US" sz="2000" b="1" dirty="0" err="1"/>
              <a:t>termine</a:t>
            </a:r>
            <a:r>
              <a:rPr lang="en-US" sz="2000" b="1" dirty="0"/>
              <a:t>, </a:t>
            </a:r>
          </a:p>
          <a:p>
            <a:r>
              <a:rPr lang="en-US" sz="2000" b="1" dirty="0" err="1"/>
              <a:t>monitorizand</a:t>
            </a:r>
            <a:r>
              <a:rPr lang="en-US" sz="2000" b="1" dirty="0"/>
              <a:t> </a:t>
            </a:r>
            <a:r>
              <a:rPr lang="en-US" sz="2000" b="1" dirty="0" err="1"/>
              <a:t>fiecare</a:t>
            </a:r>
            <a:r>
              <a:rPr lang="en-US" sz="2000" b="1" dirty="0"/>
              <a:t> </a:t>
            </a:r>
            <a:r>
              <a:rPr lang="en-US" sz="2000" b="1" dirty="0" err="1"/>
              <a:t>actiune</a:t>
            </a:r>
            <a:r>
              <a:rPr lang="en-US" sz="2000" b="1" dirty="0"/>
              <a:t> in parte; </a:t>
            </a:r>
            <a:r>
              <a:rPr lang="en-US" sz="2000" dirty="0">
                <a:solidFill>
                  <a:srgbClr val="FF0000"/>
                </a:solidFill>
              </a:rPr>
              <a:t>un alt thread </a:t>
            </a:r>
            <a:r>
              <a:rPr lang="en-US" sz="2000" dirty="0" err="1">
                <a:solidFill>
                  <a:srgbClr val="FF0000"/>
                </a:solidFill>
              </a:rPr>
              <a:t>ar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putea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r>
              <a:rPr lang="en-US" sz="2000" dirty="0" err="1">
                <a:solidFill>
                  <a:srgbClr val="FF0000"/>
                </a:solidFill>
              </a:rPr>
              <a:t>interveni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inainte</a:t>
            </a:r>
            <a:r>
              <a:rPr lang="en-US" sz="2000" dirty="0">
                <a:solidFill>
                  <a:srgbClr val="FF0000"/>
                </a:solidFill>
              </a:rPr>
              <a:t> ca </a:t>
            </a:r>
            <a:r>
              <a:rPr lang="en-US" sz="2000" dirty="0" err="1">
                <a:solidFill>
                  <a:srgbClr val="FF0000"/>
                </a:solidFill>
              </a:rPr>
              <a:t>toate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actiunile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</a:t>
            </a:r>
            <a:r>
              <a:rPr lang="en-US" sz="2000" dirty="0">
                <a:solidFill>
                  <a:srgbClr val="FF0000"/>
                </a:solidFill>
              </a:rPr>
              <a:t> se </a:t>
            </a:r>
            <a:r>
              <a:rPr lang="en-US" sz="2000" dirty="0" err="1">
                <a:solidFill>
                  <a:srgbClr val="FF0000"/>
                </a:solidFill>
              </a:rPr>
              <a:t>termine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75512" y="5820415"/>
            <a:ext cx="3689023" cy="400110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Cum </a:t>
            </a:r>
            <a:r>
              <a:rPr lang="en-US" sz="2000" dirty="0" err="1"/>
              <a:t>rezolvam</a:t>
            </a:r>
            <a:r>
              <a:rPr lang="en-US" sz="2000" dirty="0"/>
              <a:t> </a:t>
            </a:r>
            <a:r>
              <a:rPr lang="en-US" sz="2000" dirty="0" err="1"/>
              <a:t>aceasta</a:t>
            </a:r>
            <a:r>
              <a:rPr lang="en-US" sz="2000" dirty="0"/>
              <a:t> </a:t>
            </a:r>
            <a:r>
              <a:rPr lang="en-US" sz="2000" dirty="0" err="1"/>
              <a:t>problema</a:t>
            </a:r>
            <a:r>
              <a:rPr lang="en-US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8176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335" y="167425"/>
            <a:ext cx="3825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/>
              <a:t>Exemplu</a:t>
            </a:r>
            <a:r>
              <a:rPr lang="en-US" sz="2000" dirty="0"/>
              <a:t>: o </a:t>
            </a:r>
            <a:r>
              <a:rPr lang="en-US" sz="2000" dirty="0" err="1"/>
              <a:t>tranzactie</a:t>
            </a:r>
            <a:r>
              <a:rPr lang="en-US" sz="2000" dirty="0"/>
              <a:t> </a:t>
            </a:r>
            <a:r>
              <a:rPr lang="en-US" sz="2000" dirty="0" err="1"/>
              <a:t>bancara</a:t>
            </a:r>
            <a:r>
              <a:rPr lang="en-US" sz="2000" dirty="0"/>
              <a:t>(I)</a:t>
            </a:r>
          </a:p>
        </p:txBody>
      </p:sp>
      <p:sp>
        <p:nvSpPr>
          <p:cNvPr id="3" name="Rectangle 2"/>
          <p:cNvSpPr/>
          <p:nvPr/>
        </p:nvSpPr>
        <p:spPr>
          <a:xfrm>
            <a:off x="931571" y="1887483"/>
            <a:ext cx="4863922" cy="160043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deposit ::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IO() -- </a:t>
            </a:r>
            <a:r>
              <a:rPr lang="en-US" sz="2000" dirty="0" err="1">
                <a:solidFill>
                  <a:srgbClr val="0070C0"/>
                </a:solidFill>
              </a:rPr>
              <a:t>depunere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deposit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amount  = do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x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(x + amount)</a:t>
            </a:r>
          </a:p>
          <a:p>
            <a:r>
              <a:rPr lang="en-US" dirty="0"/>
              <a:t>    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6825803" y="2025983"/>
            <a:ext cx="5151549" cy="132343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withdraw  ::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IO() -- </a:t>
            </a:r>
            <a:r>
              <a:rPr lang="en-US" sz="2000" dirty="0" err="1">
                <a:solidFill>
                  <a:srgbClr val="0070C0"/>
                </a:solidFill>
              </a:rPr>
              <a:t>retragere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withdraw 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amount  = do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x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(x - amount)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9882" y="682580"/>
            <a:ext cx="2709075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type Account =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73509" y="4269655"/>
            <a:ext cx="6717801" cy="16312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showBalance</a:t>
            </a:r>
            <a:r>
              <a:rPr lang="en-US" sz="2000" dirty="0">
                <a:solidFill>
                  <a:srgbClr val="0070C0"/>
                </a:solidFill>
              </a:rPr>
              <a:t>  ::  Account -&gt; String -&gt; IO()  -- sold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showBalance</a:t>
            </a:r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str</a:t>
            </a:r>
            <a:r>
              <a:rPr lang="en-US" sz="2000" dirty="0">
                <a:solidFill>
                  <a:srgbClr val="0070C0"/>
                </a:solidFill>
              </a:rPr>
              <a:t>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x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x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("</a:t>
            </a:r>
            <a:r>
              <a:rPr lang="en-US" sz="2000" dirty="0" err="1">
                <a:solidFill>
                  <a:srgbClr val="0070C0"/>
                </a:solidFill>
              </a:rPr>
              <a:t>Contul</a:t>
            </a:r>
            <a:r>
              <a:rPr lang="en-US" sz="2000" dirty="0">
                <a:solidFill>
                  <a:srgbClr val="0070C0"/>
                </a:solidFill>
              </a:rPr>
              <a:t> " ++ </a:t>
            </a:r>
            <a:r>
              <a:rPr lang="en-US" sz="2000" dirty="0" err="1">
                <a:solidFill>
                  <a:srgbClr val="0070C0"/>
                </a:solidFill>
              </a:rPr>
              <a:t>str</a:t>
            </a:r>
            <a:r>
              <a:rPr lang="en-US" sz="2000" dirty="0">
                <a:solidFill>
                  <a:srgbClr val="0070C0"/>
                </a:solidFill>
              </a:rPr>
              <a:t> ++ ": " ++ (show x</a:t>
            </a:r>
            <a:r>
              <a:rPr lang="en-US" dirty="0">
                <a:solidFill>
                  <a:srgbClr val="0070C0"/>
                </a:solidFill>
              </a:rPr>
              <a:t>))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5859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335" y="167425"/>
            <a:ext cx="354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Exemplu</a:t>
            </a:r>
            <a:r>
              <a:rPr lang="en-US" dirty="0"/>
              <a:t>: o </a:t>
            </a:r>
            <a:r>
              <a:rPr lang="en-US" dirty="0" err="1"/>
              <a:t>tranzactie</a:t>
            </a:r>
            <a:r>
              <a:rPr lang="en-US" dirty="0"/>
              <a:t> </a:t>
            </a:r>
            <a:r>
              <a:rPr lang="en-US" dirty="0" err="1"/>
              <a:t>bancara</a:t>
            </a:r>
            <a:r>
              <a:rPr lang="en-US" dirty="0"/>
              <a:t> (I)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16461" y="1101872"/>
            <a:ext cx="4413161" cy="452431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Control.Concurrent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Control.Monad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type Account = 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main = do </a:t>
            </a:r>
          </a:p>
          <a:p>
            <a:r>
              <a:rPr lang="en-US" dirty="0">
                <a:solidFill>
                  <a:srgbClr val="0070C0"/>
                </a:solidFill>
              </a:rPr>
              <a:t>  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aMVar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newMVar</a:t>
            </a:r>
            <a:r>
              <a:rPr lang="en-US" dirty="0">
                <a:solidFill>
                  <a:srgbClr val="0070C0"/>
                </a:solidFill>
              </a:rPr>
              <a:t> 1000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bMVar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newMVar</a:t>
            </a:r>
            <a:r>
              <a:rPr lang="en-US" dirty="0">
                <a:solidFill>
                  <a:srgbClr val="0070C0"/>
                </a:solidFill>
              </a:rPr>
              <a:t> 1000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forkIO</a:t>
            </a:r>
            <a:r>
              <a:rPr lang="en-US" dirty="0">
                <a:solidFill>
                  <a:srgbClr val="0070C0"/>
                </a:solidFill>
              </a:rPr>
              <a:t>(transfer </a:t>
            </a:r>
            <a:r>
              <a:rPr lang="en-US" dirty="0" err="1">
                <a:solidFill>
                  <a:srgbClr val="0070C0"/>
                </a:solidFill>
              </a:rPr>
              <a:t>aMVar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bMVar</a:t>
            </a:r>
            <a:r>
              <a:rPr lang="en-US" dirty="0">
                <a:solidFill>
                  <a:srgbClr val="0070C0"/>
                </a:solidFill>
              </a:rPr>
              <a:t> 300)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forkIO</a:t>
            </a:r>
            <a:r>
              <a:rPr lang="en-US" dirty="0">
                <a:solidFill>
                  <a:srgbClr val="0070C0"/>
                </a:solidFill>
              </a:rPr>
              <a:t> (transfer </a:t>
            </a:r>
            <a:r>
              <a:rPr lang="en-US" dirty="0" err="1">
                <a:solidFill>
                  <a:srgbClr val="0070C0"/>
                </a:solidFill>
              </a:rPr>
              <a:t>bMVar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aMVar</a:t>
            </a:r>
            <a:r>
              <a:rPr lang="en-US" dirty="0">
                <a:solidFill>
                  <a:srgbClr val="0070C0"/>
                </a:solidFill>
              </a:rPr>
              <a:t> 500)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showBalance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aMVar</a:t>
            </a:r>
            <a:r>
              <a:rPr lang="en-US" dirty="0">
                <a:solidFill>
                  <a:srgbClr val="0070C0"/>
                </a:solidFill>
              </a:rPr>
              <a:t> "a"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showBalance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bMVar</a:t>
            </a:r>
            <a:r>
              <a:rPr lang="en-US" dirty="0">
                <a:solidFill>
                  <a:srgbClr val="0070C0"/>
                </a:solidFill>
              </a:rPr>
              <a:t> "b" </a:t>
            </a:r>
          </a:p>
          <a:p>
            <a:r>
              <a:rPr lang="en-US" dirty="0"/>
              <a:t>        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735" y="1983346"/>
            <a:ext cx="4162934" cy="17543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transfer :: Account -&gt; Account -&gt; </a:t>
            </a: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-&gt; IO()</a:t>
            </a:r>
          </a:p>
          <a:p>
            <a:r>
              <a:rPr lang="en-US" dirty="0">
                <a:solidFill>
                  <a:srgbClr val="0070C0"/>
                </a:solidFill>
              </a:rPr>
              <a:t>transfer from to amount = do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withdraw from amount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deposit to amount</a:t>
            </a:r>
          </a:p>
          <a:p>
            <a:r>
              <a:rPr lang="en-US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276" y="3606084"/>
            <a:ext cx="3961405" cy="6463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un alt thread </a:t>
            </a:r>
            <a:r>
              <a:rPr lang="en-US" b="1" dirty="0" err="1"/>
              <a:t>ar</a:t>
            </a:r>
            <a:r>
              <a:rPr lang="en-US" b="1" dirty="0"/>
              <a:t> </a:t>
            </a:r>
            <a:r>
              <a:rPr lang="en-US" b="1" dirty="0" err="1"/>
              <a:t>putea</a:t>
            </a:r>
            <a:r>
              <a:rPr lang="en-US" b="1" dirty="0"/>
              <a:t> </a:t>
            </a:r>
            <a:r>
              <a:rPr lang="en-US" b="1" dirty="0" err="1"/>
              <a:t>observa</a:t>
            </a:r>
            <a:r>
              <a:rPr lang="en-US" b="1" dirty="0"/>
              <a:t> o stare </a:t>
            </a:r>
          </a:p>
          <a:p>
            <a:r>
              <a:rPr lang="en-US" b="1" dirty="0"/>
              <a:t>in care </a:t>
            </a:r>
            <a:r>
              <a:rPr lang="en-US" b="1" dirty="0" err="1"/>
              <a:t>banii</a:t>
            </a:r>
            <a:r>
              <a:rPr lang="en-US" b="1" dirty="0"/>
              <a:t> nu se </a:t>
            </a:r>
            <a:r>
              <a:rPr lang="en-US" b="1" dirty="0" err="1"/>
              <a:t>gasesc</a:t>
            </a:r>
            <a:r>
              <a:rPr lang="en-US" b="1" dirty="0"/>
              <a:t> in </a:t>
            </a:r>
            <a:r>
              <a:rPr lang="en-US" b="1" dirty="0" err="1"/>
              <a:t>nici</a:t>
            </a:r>
            <a:r>
              <a:rPr lang="en-US" b="1" dirty="0"/>
              <a:t> un </a:t>
            </a:r>
            <a:r>
              <a:rPr lang="en-US" b="1" dirty="0" err="1"/>
              <a:t>cont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827414" y="2860509"/>
            <a:ext cx="1066510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race</a:t>
            </a:r>
          </a:p>
        </p:txBody>
      </p:sp>
      <p:sp>
        <p:nvSpPr>
          <p:cNvPr id="10" name="Left Arrow 9"/>
          <p:cNvSpPr/>
          <p:nvPr/>
        </p:nvSpPr>
        <p:spPr>
          <a:xfrm>
            <a:off x="4463681" y="3065172"/>
            <a:ext cx="327260" cy="4571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9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335" y="167425"/>
            <a:ext cx="3537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Exemplu</a:t>
            </a:r>
            <a:r>
              <a:rPr lang="en-US" dirty="0"/>
              <a:t>: o </a:t>
            </a:r>
            <a:r>
              <a:rPr lang="en-US" dirty="0" err="1"/>
              <a:t>tranzactie</a:t>
            </a:r>
            <a:r>
              <a:rPr lang="en-US" dirty="0"/>
              <a:t> </a:t>
            </a:r>
            <a:r>
              <a:rPr lang="en-US" dirty="0" err="1"/>
              <a:t>bancara</a:t>
            </a:r>
            <a:r>
              <a:rPr lang="en-US" dirty="0"/>
              <a:t> (I)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397" y="1050356"/>
            <a:ext cx="4162934" cy="17543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transfer :: Account -&gt; Account -&gt; </a:t>
            </a: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-&gt; IO()</a:t>
            </a:r>
          </a:p>
          <a:p>
            <a:r>
              <a:rPr lang="en-US" dirty="0">
                <a:solidFill>
                  <a:srgbClr val="0070C0"/>
                </a:solidFill>
              </a:rPr>
              <a:t>transfer from to amount = do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withdraw from amount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--      </a:t>
            </a:r>
            <a:r>
              <a:rPr lang="en-US" b="1" dirty="0" err="1">
                <a:solidFill>
                  <a:srgbClr val="0070C0"/>
                </a:solidFill>
              </a:rPr>
              <a:t>threadDelay</a:t>
            </a:r>
            <a:r>
              <a:rPr lang="en-US" b="1" dirty="0">
                <a:solidFill>
                  <a:srgbClr val="0070C0"/>
                </a:solidFill>
              </a:rPr>
              <a:t> (5^6)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    deposit to amount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526108" y="3475742"/>
            <a:ext cx="4342106" cy="230832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main = do 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aMVar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newMVar</a:t>
            </a:r>
            <a:r>
              <a:rPr lang="en-US" dirty="0">
                <a:solidFill>
                  <a:srgbClr val="0070C0"/>
                </a:solidFill>
              </a:rPr>
              <a:t> 1000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bMVar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newMVar</a:t>
            </a:r>
            <a:r>
              <a:rPr lang="en-US" dirty="0">
                <a:solidFill>
                  <a:srgbClr val="0070C0"/>
                </a:solidFill>
              </a:rPr>
              <a:t> 1000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forkIO</a:t>
            </a:r>
            <a:r>
              <a:rPr lang="en-US" dirty="0">
                <a:solidFill>
                  <a:srgbClr val="0070C0"/>
                </a:solidFill>
              </a:rPr>
              <a:t>(transfer </a:t>
            </a:r>
            <a:r>
              <a:rPr lang="en-US" dirty="0" err="1">
                <a:solidFill>
                  <a:srgbClr val="0070C0"/>
                </a:solidFill>
              </a:rPr>
              <a:t>aMVar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bMVar</a:t>
            </a:r>
            <a:r>
              <a:rPr lang="en-US" dirty="0">
                <a:solidFill>
                  <a:srgbClr val="0070C0"/>
                </a:solidFill>
              </a:rPr>
              <a:t> 300)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forkIO</a:t>
            </a:r>
            <a:r>
              <a:rPr lang="en-US" dirty="0">
                <a:solidFill>
                  <a:srgbClr val="0070C0"/>
                </a:solidFill>
              </a:rPr>
              <a:t> (transfer </a:t>
            </a:r>
            <a:r>
              <a:rPr lang="en-US" dirty="0" err="1">
                <a:solidFill>
                  <a:srgbClr val="0070C0"/>
                </a:solidFill>
              </a:rPr>
              <a:t>bMVar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aMVar</a:t>
            </a:r>
            <a:r>
              <a:rPr lang="en-US" dirty="0">
                <a:solidFill>
                  <a:srgbClr val="0070C0"/>
                </a:solidFill>
              </a:rPr>
              <a:t> 500)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showBalance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aMVar</a:t>
            </a:r>
            <a:r>
              <a:rPr lang="en-US" dirty="0">
                <a:solidFill>
                  <a:srgbClr val="0070C0"/>
                </a:solidFill>
              </a:rPr>
              <a:t> "a"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showBalance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bMVar</a:t>
            </a:r>
            <a:r>
              <a:rPr lang="en-US" dirty="0">
                <a:solidFill>
                  <a:srgbClr val="0070C0"/>
                </a:solidFill>
              </a:rPr>
              <a:t> "b"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76" y="3475742"/>
            <a:ext cx="5236017" cy="23825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956545" y="1050356"/>
            <a:ext cx="5020872" cy="147732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transfer :: Account -&gt; Account -&gt; </a:t>
            </a:r>
            <a:r>
              <a:rPr lang="en-US" dirty="0" err="1"/>
              <a:t>Int</a:t>
            </a:r>
            <a:r>
              <a:rPr lang="en-US" dirty="0"/>
              <a:t> -&gt; IO()</a:t>
            </a:r>
          </a:p>
          <a:p>
            <a:r>
              <a:rPr lang="en-US" dirty="0">
                <a:solidFill>
                  <a:srgbClr val="FF0000"/>
                </a:solidFill>
              </a:rPr>
              <a:t>transfer </a:t>
            </a:r>
            <a:r>
              <a:rPr lang="en-US" dirty="0"/>
              <a:t>from to amount = do </a:t>
            </a:r>
          </a:p>
          <a:p>
            <a:r>
              <a:rPr lang="en-US" dirty="0"/>
              <a:t>                   </a:t>
            </a:r>
            <a:r>
              <a:rPr lang="en-US" dirty="0">
                <a:solidFill>
                  <a:srgbClr val="00B050"/>
                </a:solidFill>
              </a:rPr>
              <a:t>withdraw </a:t>
            </a:r>
            <a:r>
              <a:rPr lang="en-US" dirty="0"/>
              <a:t>from amount </a:t>
            </a:r>
          </a:p>
          <a:p>
            <a:r>
              <a:rPr lang="en-US" dirty="0"/>
              <a:t>              --  </a:t>
            </a:r>
            <a:r>
              <a:rPr lang="en-US" dirty="0" err="1"/>
              <a:t>threadDelay</a:t>
            </a:r>
            <a:r>
              <a:rPr lang="en-US" dirty="0"/>
              <a:t> (5^6)  </a:t>
            </a:r>
          </a:p>
          <a:p>
            <a:r>
              <a:rPr lang="en-US" dirty="0"/>
              <a:t>                   </a:t>
            </a:r>
            <a:r>
              <a:rPr lang="en-US" dirty="0">
                <a:solidFill>
                  <a:srgbClr val="00B050"/>
                </a:solidFill>
              </a:rPr>
              <a:t>deposit</a:t>
            </a:r>
            <a:r>
              <a:rPr lang="en-US" dirty="0"/>
              <a:t> to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850" y="2047742"/>
            <a:ext cx="2546466" cy="120032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compunerea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unor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operatii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corecte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poate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avea</a:t>
            </a:r>
            <a:r>
              <a:rPr lang="en-US" b="1" dirty="0">
                <a:solidFill>
                  <a:schemeClr val="bg1"/>
                </a:solidFill>
              </a:rPr>
              <a:t> ca </a:t>
            </a:r>
            <a:r>
              <a:rPr lang="en-US" b="1" dirty="0" err="1">
                <a:solidFill>
                  <a:schemeClr val="bg1"/>
                </a:solidFill>
              </a:rPr>
              <a:t>rezultat</a:t>
            </a:r>
            <a:r>
              <a:rPr lang="en-US" b="1" dirty="0">
                <a:solidFill>
                  <a:schemeClr val="bg1"/>
                </a:solidFill>
              </a:rPr>
              <a:t> o 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operatie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eronata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265" y="5008733"/>
            <a:ext cx="2530252" cy="11696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3676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487" y="154546"/>
            <a:ext cx="5346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err="1"/>
              <a:t>Ideea</a:t>
            </a:r>
            <a:r>
              <a:rPr lang="en-US" sz="2800" dirty="0"/>
              <a:t>: </a:t>
            </a:r>
            <a:r>
              <a:rPr lang="en-US" sz="2800" dirty="0" err="1"/>
              <a:t>tranzactiile</a:t>
            </a:r>
            <a:r>
              <a:rPr lang="en-US" sz="2800" dirty="0"/>
              <a:t> in </a:t>
            </a:r>
            <a:r>
              <a:rPr lang="en-US" sz="2800" dirty="0" err="1"/>
              <a:t>baze</a:t>
            </a:r>
            <a:r>
              <a:rPr lang="en-US" sz="2800" dirty="0"/>
              <a:t> de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39650" y="1098250"/>
            <a:ext cx="959905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transaction</a:t>
            </a:r>
            <a:r>
              <a:rPr lang="en-US" dirty="0"/>
              <a:t> is a sequence of operations performed as a single logical unit of work. A logical unit of work must exhibit four properties, called the atomicity, consistency, isolation, and durability (</a:t>
            </a:r>
            <a:r>
              <a:rPr lang="en-US" b="1" dirty="0"/>
              <a:t>ACID</a:t>
            </a:r>
            <a:r>
              <a:rPr lang="en-US" dirty="0"/>
              <a:t>) properties, to qualify as a transaction.</a:t>
            </a:r>
          </a:p>
          <a:p>
            <a:endParaRPr lang="en-US" dirty="0"/>
          </a:p>
          <a:p>
            <a:r>
              <a:rPr lang="en-US" b="1" dirty="0"/>
              <a:t>Atomicity</a:t>
            </a:r>
            <a:r>
              <a:rPr lang="en-US" dirty="0"/>
              <a:t> -  A transaction must be an atomic unit of work; either all of its data modifications are performed, or none of them is performed.</a:t>
            </a:r>
          </a:p>
          <a:p>
            <a:endParaRPr lang="en-US" dirty="0"/>
          </a:p>
          <a:p>
            <a:r>
              <a:rPr lang="en-US" b="1" dirty="0"/>
              <a:t>Consistency</a:t>
            </a:r>
            <a:r>
              <a:rPr lang="en-US" dirty="0"/>
              <a:t> - When completed, a transaction must leave all data in a consistent state. </a:t>
            </a:r>
          </a:p>
          <a:p>
            <a:endParaRPr lang="en-US" dirty="0"/>
          </a:p>
          <a:p>
            <a:r>
              <a:rPr lang="en-US" b="1" dirty="0"/>
              <a:t>Isolation</a:t>
            </a:r>
            <a:r>
              <a:rPr lang="en-US" dirty="0"/>
              <a:t> -  Modifications made by concurrent transactions must be isolated from the modifications made by any other concurrent transactions. </a:t>
            </a:r>
          </a:p>
          <a:p>
            <a:endParaRPr lang="en-US" dirty="0"/>
          </a:p>
          <a:p>
            <a:r>
              <a:rPr lang="en-US" b="1" dirty="0"/>
              <a:t>Durability</a:t>
            </a:r>
            <a:r>
              <a:rPr lang="en-US" dirty="0"/>
              <a:t> - After a transaction has completed, its effects are permanently in place in the system. The modifications persist even in the event of a system failure.</a:t>
            </a:r>
          </a:p>
        </p:txBody>
      </p:sp>
      <p:sp>
        <p:nvSpPr>
          <p:cNvPr id="4" name="TextBox 3">
            <a:hlinkClick r:id="rId2"/>
          </p:cNvPr>
          <p:cNvSpPr txBox="1"/>
          <p:nvPr/>
        </p:nvSpPr>
        <p:spPr>
          <a:xfrm>
            <a:off x="639651" y="5318975"/>
            <a:ext cx="809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https://technet.microsoft.com/en-us/library/ms190612%28v=sql.105%29.aspx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289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D8657E-89AE-34F0-4672-9D72BD278C4C}"/>
              </a:ext>
            </a:extLst>
          </p:cNvPr>
          <p:cNvSpPr txBox="1"/>
          <p:nvPr/>
        </p:nvSpPr>
        <p:spPr>
          <a:xfrm>
            <a:off x="660400" y="254000"/>
            <a:ext cx="2159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err="1"/>
              <a:t>Atomicitate</a:t>
            </a:r>
            <a:endParaRPr lang="en-GB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C611D-07F1-7C69-4A26-833CE1EA3114}"/>
              </a:ext>
            </a:extLst>
          </p:cNvPr>
          <p:cNvSpPr txBox="1"/>
          <p:nvPr/>
        </p:nvSpPr>
        <p:spPr>
          <a:xfrm>
            <a:off x="660400" y="1224260"/>
            <a:ext cx="1124712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Courier New" panose="02070309020205020404" pitchFamily="49" charset="0"/>
              <a:buChar char="o"/>
            </a:pPr>
            <a:r>
              <a:rPr lang="en-GB" sz="2000" dirty="0" err="1"/>
              <a:t>Modalități</a:t>
            </a:r>
            <a:r>
              <a:rPr lang="en-GB" sz="2000" dirty="0"/>
              <a:t> de </a:t>
            </a:r>
            <a:r>
              <a:rPr lang="en-GB" sz="2000" dirty="0" err="1"/>
              <a:t>sincronizare</a:t>
            </a:r>
            <a:r>
              <a:rPr lang="en-GB" sz="2000" dirty="0"/>
              <a:t> de </a:t>
            </a:r>
            <a:r>
              <a:rPr lang="en-GB" sz="2000" dirty="0" err="1"/>
              <a:t>nivel</a:t>
            </a:r>
            <a:r>
              <a:rPr lang="en-GB" sz="2000" dirty="0"/>
              <a:t> </a:t>
            </a:r>
            <a:r>
              <a:rPr lang="en-GB" sz="2000" dirty="0" err="1"/>
              <a:t>scăzut</a:t>
            </a:r>
            <a:r>
              <a:rPr lang="en-GB" sz="2000" dirty="0"/>
              <a:t>: </a:t>
            </a:r>
            <a:r>
              <a:rPr lang="en-GB" sz="2000" dirty="0" err="1"/>
              <a:t>variabile</a:t>
            </a:r>
            <a:r>
              <a:rPr lang="en-GB" sz="2000" dirty="0"/>
              <a:t> </a:t>
            </a:r>
            <a:r>
              <a:rPr lang="en-GB" sz="2000" dirty="0" err="1"/>
              <a:t>atomice</a:t>
            </a:r>
            <a:endParaRPr lang="en-GB" sz="2000" dirty="0"/>
          </a:p>
          <a:p>
            <a:endParaRPr lang="en-GB" sz="20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GB" sz="2000" dirty="0" err="1"/>
              <a:t>Atomicitate</a:t>
            </a:r>
            <a:r>
              <a:rPr lang="en-GB" sz="2000" dirty="0"/>
              <a:t> </a:t>
            </a:r>
            <a:r>
              <a:rPr lang="en-GB" sz="2000" dirty="0" err="1"/>
              <a:t>fără</a:t>
            </a:r>
            <a:r>
              <a:rPr lang="en-GB" sz="2000" dirty="0"/>
              <a:t> </a:t>
            </a:r>
            <a:r>
              <a:rPr lang="en-GB" sz="2000" dirty="0" err="1"/>
              <a:t>sincronizare</a:t>
            </a:r>
            <a:r>
              <a:rPr lang="en-GB" sz="2000" dirty="0"/>
              <a:t>. </a:t>
            </a:r>
            <a:r>
              <a:rPr lang="en-GB" sz="2000" dirty="0" err="1"/>
              <a:t>mult</a:t>
            </a:r>
            <a:r>
              <a:rPr lang="en-GB" sz="2000" dirty="0"/>
              <a:t> </a:t>
            </a:r>
            <a:r>
              <a:rPr lang="en-GB" sz="2000" dirty="0" err="1"/>
              <a:t>mai</a:t>
            </a:r>
            <a:r>
              <a:rPr lang="en-GB" sz="2000" dirty="0"/>
              <a:t> </a:t>
            </a:r>
            <a:r>
              <a:rPr lang="en-GB" sz="2000" dirty="0" err="1"/>
              <a:t>rapide</a:t>
            </a:r>
            <a:r>
              <a:rPr lang="en-GB" sz="2000" dirty="0"/>
              <a:t> </a:t>
            </a:r>
            <a:r>
              <a:rPr lang="en-GB" sz="2000" dirty="0" err="1"/>
              <a:t>decât</a:t>
            </a:r>
            <a:r>
              <a:rPr lang="en-GB" sz="2000" dirty="0"/>
              <a:t> cu locks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GB" sz="2000" dirty="0"/>
              <a:t>Java:   </a:t>
            </a:r>
            <a:r>
              <a:rPr lang="en-GB" sz="2000" b="1" dirty="0" err="1"/>
              <a:t>AtomicInteger</a:t>
            </a:r>
            <a:r>
              <a:rPr lang="en-GB" sz="2000" b="1" dirty="0"/>
              <a:t>, </a:t>
            </a:r>
            <a:r>
              <a:rPr lang="en-GB" sz="2000" b="1" dirty="0" err="1"/>
              <a:t>AtomicBoolean</a:t>
            </a:r>
            <a:r>
              <a:rPr lang="en-GB" sz="2000" b="1" dirty="0"/>
              <a:t>, …</a:t>
            </a:r>
          </a:p>
          <a:p>
            <a:r>
              <a:rPr lang="en-GB" sz="2000" dirty="0"/>
              <a:t>                                  </a:t>
            </a:r>
            <a:r>
              <a:rPr lang="en-US" sz="2000" b="1" dirty="0"/>
              <a:t>get(), set(), </a:t>
            </a:r>
            <a:r>
              <a:rPr lang="en-US" sz="2000" b="1" dirty="0" err="1"/>
              <a:t>incrementAndGet</a:t>
            </a:r>
            <a:r>
              <a:rPr lang="en-US" sz="2000" b="1" dirty="0"/>
              <a:t>(), </a:t>
            </a:r>
            <a:r>
              <a:rPr lang="en-US" sz="2000" b="1" dirty="0" err="1"/>
              <a:t>addAndGet</a:t>
            </a:r>
            <a:r>
              <a:rPr lang="en-US" sz="2000" b="1" dirty="0"/>
              <a:t>(int d), </a:t>
            </a:r>
            <a:r>
              <a:rPr lang="en-US" sz="2000" b="1" dirty="0" err="1"/>
              <a:t>compareAndSet</a:t>
            </a:r>
            <a:r>
              <a:rPr lang="en-US" sz="2000" b="1" dirty="0"/>
              <a:t>(int old, int new)</a:t>
            </a:r>
            <a:endParaRPr lang="en-GB" sz="20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GB" sz="2000" dirty="0"/>
              <a:t>Haskell: </a:t>
            </a:r>
            <a:r>
              <a:rPr lang="en-GB" sz="2000" b="1" dirty="0" err="1"/>
              <a:t>IORef</a:t>
            </a:r>
            <a:r>
              <a:rPr lang="en-GB" sz="2000" b="1" dirty="0"/>
              <a:t> a</a:t>
            </a:r>
          </a:p>
          <a:p>
            <a:pPr lvl="2"/>
            <a:r>
              <a:rPr lang="en-GB" sz="2000" b="1" dirty="0"/>
              <a:t>                     </a:t>
            </a:r>
            <a:r>
              <a:rPr lang="en-GB" sz="2000" b="1" dirty="0" err="1"/>
              <a:t>newIORef</a:t>
            </a:r>
            <a:r>
              <a:rPr lang="en-GB" sz="2000" b="1" dirty="0"/>
              <a:t>, </a:t>
            </a:r>
            <a:r>
              <a:rPr lang="en-GB" sz="2000" b="1" dirty="0" err="1"/>
              <a:t>readIORef</a:t>
            </a:r>
            <a:r>
              <a:rPr lang="en-GB" sz="2000" b="1" dirty="0"/>
              <a:t>, </a:t>
            </a:r>
            <a:r>
              <a:rPr lang="en-GB" sz="2000" b="1" dirty="0" err="1"/>
              <a:t>writeIORef</a:t>
            </a:r>
            <a:r>
              <a:rPr lang="en-GB" sz="2000" b="1" dirty="0"/>
              <a:t>, </a:t>
            </a:r>
            <a:r>
              <a:rPr lang="en-GB" sz="2000" b="1" dirty="0" err="1"/>
              <a:t>atomicModifyIORef</a:t>
            </a:r>
            <a:r>
              <a:rPr lang="en-GB" sz="2000" b="1" dirty="0"/>
              <a:t>, </a:t>
            </a:r>
            <a:r>
              <a:rPr lang="en-GB" sz="2000" b="1" dirty="0" err="1"/>
              <a:t>atomicWriteIORef</a:t>
            </a:r>
            <a:endParaRPr lang="en-GB" sz="2000" b="1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GB" sz="2000" dirty="0" err="1"/>
              <a:t>Metodele</a:t>
            </a:r>
            <a:r>
              <a:rPr lang="en-GB" sz="2000" dirty="0"/>
              <a:t> sunt </a:t>
            </a:r>
            <a:r>
              <a:rPr lang="en-GB" sz="2000" dirty="0" err="1"/>
              <a:t>implementate</a:t>
            </a:r>
            <a:r>
              <a:rPr lang="en-GB" sz="2000" dirty="0"/>
              <a:t> </a:t>
            </a:r>
            <a:r>
              <a:rPr lang="en-GB" sz="2000" dirty="0" err="1"/>
              <a:t>folosind</a:t>
            </a:r>
            <a:r>
              <a:rPr lang="en-GB" sz="2000" dirty="0"/>
              <a:t> </a:t>
            </a:r>
            <a:r>
              <a:rPr lang="en-GB" sz="2000" dirty="0" err="1"/>
              <a:t>instrucțiuni</a:t>
            </a:r>
            <a:r>
              <a:rPr lang="en-GB" sz="2000" dirty="0"/>
              <a:t> hardware compare-and-swap</a:t>
            </a:r>
          </a:p>
          <a:p>
            <a:endParaRPr lang="en-GB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000" dirty="0" err="1"/>
              <a:t>Modalitati</a:t>
            </a:r>
            <a:r>
              <a:rPr lang="en-GB" sz="2000" dirty="0"/>
              <a:t> de </a:t>
            </a:r>
            <a:r>
              <a:rPr lang="en-GB" sz="2000" dirty="0" err="1"/>
              <a:t>sincronizare</a:t>
            </a:r>
            <a:r>
              <a:rPr lang="en-GB" sz="2000" dirty="0"/>
              <a:t> de </a:t>
            </a:r>
            <a:r>
              <a:rPr lang="en-GB" sz="2000" dirty="0" err="1"/>
              <a:t>nivel</a:t>
            </a:r>
            <a:r>
              <a:rPr lang="en-GB" sz="2000" dirty="0"/>
              <a:t> </a:t>
            </a:r>
            <a:r>
              <a:rPr lang="en-GB" sz="2000" dirty="0" err="1"/>
              <a:t>inalt</a:t>
            </a:r>
            <a:r>
              <a:rPr lang="en-GB" sz="2000" dirty="0"/>
              <a:t>: Software Transactional Memory (STM)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sz="20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GB" sz="2000" dirty="0"/>
              <a:t> </a:t>
            </a:r>
            <a:r>
              <a:rPr lang="en-GB" sz="2000" dirty="0" err="1"/>
              <a:t>sincronizare</a:t>
            </a:r>
            <a:r>
              <a:rPr lang="en-GB" sz="2000" dirty="0"/>
              <a:t> </a:t>
            </a:r>
            <a:r>
              <a:rPr lang="en-GB" sz="2000" dirty="0" err="1"/>
              <a:t>fara</a:t>
            </a:r>
            <a:r>
              <a:rPr lang="en-GB" sz="2000" dirty="0"/>
              <a:t> </a:t>
            </a:r>
            <a:r>
              <a:rPr lang="en-GB" sz="2000" dirty="0" err="1"/>
              <a:t>lacate</a:t>
            </a:r>
            <a:endParaRPr lang="en-GB" sz="20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GB" sz="2000" dirty="0"/>
              <a:t> </a:t>
            </a:r>
            <a:r>
              <a:rPr lang="en-GB" sz="2000" dirty="0" err="1"/>
              <a:t>blocuri</a:t>
            </a:r>
            <a:r>
              <a:rPr lang="en-GB" sz="2000" dirty="0"/>
              <a:t> de </a:t>
            </a:r>
            <a:r>
              <a:rPr lang="en-GB" sz="2000" dirty="0" err="1"/>
              <a:t>instructiuni</a:t>
            </a:r>
            <a:r>
              <a:rPr lang="en-GB" sz="2000" dirty="0"/>
              <a:t> </a:t>
            </a:r>
            <a:r>
              <a:rPr lang="en-GB" sz="2000" dirty="0" err="1"/>
              <a:t>executate</a:t>
            </a:r>
            <a:r>
              <a:rPr lang="en-GB" sz="2000" dirty="0"/>
              <a:t> atomic</a:t>
            </a:r>
          </a:p>
        </p:txBody>
      </p:sp>
    </p:spTree>
    <p:extLst>
      <p:ext uri="{BB962C8B-B14F-4D97-AF65-F5344CB8AC3E}">
        <p14:creationId xmlns:p14="http://schemas.microsoft.com/office/powerpoint/2010/main" val="266537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9A127B-7B04-2289-4ACF-4180ED0A9BF7}"/>
              </a:ext>
            </a:extLst>
          </p:cNvPr>
          <p:cNvSpPr txBox="1"/>
          <p:nvPr/>
        </p:nvSpPr>
        <p:spPr>
          <a:xfrm>
            <a:off x="452121" y="1172815"/>
            <a:ext cx="7076439" cy="507831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import </a:t>
            </a:r>
            <a:r>
              <a:rPr lang="en-GB" dirty="0" err="1"/>
              <a:t>Control.Concurrent</a:t>
            </a:r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Control.Monad</a:t>
            </a:r>
            <a:endParaRPr lang="en-GB" dirty="0"/>
          </a:p>
          <a:p>
            <a:r>
              <a:rPr lang="en-GB" dirty="0"/>
              <a:t>import </a:t>
            </a:r>
            <a:r>
              <a:rPr lang="en-GB" dirty="0" err="1"/>
              <a:t>Data.IORef</a:t>
            </a:r>
            <a:r>
              <a:rPr lang="en-GB" dirty="0"/>
              <a:t> (</a:t>
            </a:r>
            <a:r>
              <a:rPr lang="en-GB" dirty="0" err="1"/>
              <a:t>newIORef</a:t>
            </a:r>
            <a:r>
              <a:rPr lang="en-GB" dirty="0"/>
              <a:t>, </a:t>
            </a:r>
            <a:r>
              <a:rPr lang="en-GB" dirty="0" err="1"/>
              <a:t>readIORef</a:t>
            </a:r>
            <a:r>
              <a:rPr lang="en-GB" dirty="0"/>
              <a:t>, </a:t>
            </a:r>
            <a:r>
              <a:rPr lang="en-GB" dirty="0" err="1"/>
              <a:t>atomicModifyIORef</a:t>
            </a:r>
            <a:r>
              <a:rPr lang="en-GB" dirty="0"/>
              <a:t>')</a:t>
            </a:r>
          </a:p>
          <a:p>
            <a:endParaRPr lang="en-GB" dirty="0"/>
          </a:p>
          <a:p>
            <a:r>
              <a:rPr lang="en-GB" dirty="0"/>
              <a:t>data Async a = Async (</a:t>
            </a:r>
            <a:r>
              <a:rPr lang="en-GB" dirty="0" err="1"/>
              <a:t>MVar</a:t>
            </a:r>
            <a:r>
              <a:rPr lang="en-GB" dirty="0"/>
              <a:t> a)</a:t>
            </a:r>
          </a:p>
          <a:p>
            <a:r>
              <a:rPr lang="en-GB" dirty="0"/>
              <a:t>async :: IO a -&gt; IO (Async a)</a:t>
            </a:r>
          </a:p>
          <a:p>
            <a:r>
              <a:rPr lang="en-GB" dirty="0"/>
              <a:t>wait :: Async a -&gt; IO a</a:t>
            </a:r>
          </a:p>
          <a:p>
            <a:endParaRPr lang="en-GB" dirty="0"/>
          </a:p>
          <a:p>
            <a:r>
              <a:rPr lang="en-GB" dirty="0"/>
              <a:t>add m  =  </a:t>
            </a:r>
            <a:r>
              <a:rPr lang="en-GB" dirty="0" err="1"/>
              <a:t>replicateM</a:t>
            </a:r>
            <a:r>
              <a:rPr lang="en-GB" dirty="0"/>
              <a:t>_ 1000 $ </a:t>
            </a:r>
            <a:r>
              <a:rPr lang="en-GB" dirty="0" err="1"/>
              <a:t>atomicModifyIORef</a:t>
            </a:r>
            <a:r>
              <a:rPr lang="en-GB" dirty="0"/>
              <a:t>' m (\x -&gt; (x+1,()))</a:t>
            </a:r>
          </a:p>
          <a:p>
            <a:r>
              <a:rPr lang="en-GB" dirty="0"/>
              <a:t>                                                          </a:t>
            </a:r>
          </a:p>
          <a:p>
            <a:r>
              <a:rPr lang="en-GB" dirty="0"/>
              <a:t>main = do  </a:t>
            </a:r>
          </a:p>
          <a:p>
            <a:r>
              <a:rPr lang="en-GB" dirty="0"/>
              <a:t>                    m &lt;- </a:t>
            </a:r>
            <a:r>
              <a:rPr lang="en-GB" dirty="0" err="1"/>
              <a:t>newIORef</a:t>
            </a:r>
            <a:r>
              <a:rPr lang="en-GB" dirty="0"/>
              <a:t> 0 </a:t>
            </a:r>
          </a:p>
          <a:p>
            <a:r>
              <a:rPr lang="en-GB" dirty="0"/>
              <a:t>                    a1&lt;-async (add m )</a:t>
            </a:r>
          </a:p>
          <a:p>
            <a:r>
              <a:rPr lang="en-GB" dirty="0"/>
              <a:t>                    a2&lt;-async (add m ) </a:t>
            </a:r>
          </a:p>
          <a:p>
            <a:r>
              <a:rPr lang="en-GB" dirty="0"/>
              <a:t>                    r1 &lt;- wait a1</a:t>
            </a:r>
          </a:p>
          <a:p>
            <a:r>
              <a:rPr lang="en-GB" dirty="0"/>
              <a:t>                    r2 &lt;- wait a2</a:t>
            </a:r>
          </a:p>
          <a:p>
            <a:r>
              <a:rPr lang="en-GB" dirty="0"/>
              <a:t>                    x  &lt;- </a:t>
            </a:r>
            <a:r>
              <a:rPr lang="en-GB" dirty="0" err="1"/>
              <a:t>readIORef</a:t>
            </a:r>
            <a:r>
              <a:rPr lang="en-GB" dirty="0"/>
              <a:t> m </a:t>
            </a:r>
          </a:p>
          <a:p>
            <a:r>
              <a:rPr lang="en-GB" dirty="0"/>
              <a:t>                    print x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B31C5D-7B45-D7DF-11D8-4DFF0F11579D}"/>
              </a:ext>
            </a:extLst>
          </p:cNvPr>
          <p:cNvSpPr txBox="1"/>
          <p:nvPr/>
        </p:nvSpPr>
        <p:spPr>
          <a:xfrm>
            <a:off x="7923043" y="896352"/>
            <a:ext cx="3162725" cy="101566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data </a:t>
            </a:r>
            <a:r>
              <a:rPr lang="en-US" sz="2000" dirty="0" err="1"/>
              <a:t>IORef</a:t>
            </a:r>
            <a:r>
              <a:rPr lang="en-US" sz="2000" dirty="0"/>
              <a:t> a</a:t>
            </a:r>
          </a:p>
          <a:p>
            <a:r>
              <a:rPr lang="it-IT" sz="2000" dirty="0" err="1"/>
              <a:t>newIORef</a:t>
            </a:r>
            <a:r>
              <a:rPr lang="it-IT" sz="2000" dirty="0"/>
              <a:t> :: a -&gt; </a:t>
            </a:r>
            <a:r>
              <a:rPr lang="it-IT" sz="2000" dirty="0">
                <a:hlinkClick r:id="rId2" tooltip="System.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</a:t>
            </a:r>
            <a:r>
              <a:rPr lang="it-IT" sz="2000" dirty="0"/>
              <a:t> (</a:t>
            </a:r>
            <a:r>
              <a:rPr lang="it-IT" sz="2000" dirty="0" err="1">
                <a:hlinkClick r:id="rId3" tooltip="Data.IORe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IORef</a:t>
            </a:r>
            <a:r>
              <a:rPr lang="it-IT" sz="2000" dirty="0"/>
              <a:t> a) </a:t>
            </a:r>
            <a:endParaRPr lang="en-US" sz="2000" dirty="0"/>
          </a:p>
          <a:p>
            <a:r>
              <a:rPr lang="it-IT" sz="2000" dirty="0" err="1"/>
              <a:t>readIORef</a:t>
            </a:r>
            <a:r>
              <a:rPr lang="it-IT" sz="2000" dirty="0"/>
              <a:t> :: </a:t>
            </a:r>
            <a:r>
              <a:rPr lang="it-IT" sz="2000" dirty="0" err="1">
                <a:hlinkClick r:id="rId3" tooltip="Data.IORe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IORef</a:t>
            </a:r>
            <a:r>
              <a:rPr lang="it-IT" sz="2000" dirty="0"/>
              <a:t> a -&gt; </a:t>
            </a:r>
            <a:r>
              <a:rPr lang="it-IT" sz="2000" dirty="0">
                <a:hlinkClick r:id="rId2" tooltip="System.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</a:t>
            </a:r>
            <a:r>
              <a:rPr lang="it-IT" sz="2000" dirty="0"/>
              <a:t>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25379-CD08-3627-EF79-EA075DD4BA18}"/>
              </a:ext>
            </a:extLst>
          </p:cNvPr>
          <p:cNvSpPr txBox="1"/>
          <p:nvPr/>
        </p:nvSpPr>
        <p:spPr>
          <a:xfrm>
            <a:off x="6217920" y="3835400"/>
            <a:ext cx="5161280" cy="370840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1800" dirty="0" err="1"/>
              <a:t>atomicModifyIORef</a:t>
            </a:r>
            <a:r>
              <a:rPr lang="it-IT" sz="1800" dirty="0"/>
              <a:t>' :: </a:t>
            </a:r>
            <a:r>
              <a:rPr lang="it-IT" sz="1800" dirty="0" err="1">
                <a:hlinkClick r:id="rId3" tooltip="Data.IORe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IORef</a:t>
            </a:r>
            <a:r>
              <a:rPr lang="it-IT" sz="1800" dirty="0"/>
              <a:t> a -&gt; (a -&gt; (a, b)) -&gt; </a:t>
            </a:r>
            <a:r>
              <a:rPr lang="it-IT" sz="1800" dirty="0">
                <a:hlinkClick r:id="rId2" tooltip="System.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</a:t>
            </a:r>
            <a:r>
              <a:rPr lang="it-IT" sz="1800" dirty="0"/>
              <a:t> b  </a:t>
            </a:r>
            <a:endParaRPr lang="en-GB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4469C2-8092-5DE3-AF05-56390766A5E6}"/>
              </a:ext>
            </a:extLst>
          </p:cNvPr>
          <p:cNvSpPr txBox="1"/>
          <p:nvPr/>
        </p:nvSpPr>
        <p:spPr>
          <a:xfrm>
            <a:off x="452121" y="157688"/>
            <a:ext cx="846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Haskell: </a:t>
            </a:r>
            <a:r>
              <a:rPr lang="en-US" sz="2400" b="1" dirty="0" err="1"/>
              <a:t>variabile</a:t>
            </a:r>
            <a:r>
              <a:rPr lang="en-US" sz="2400" b="1" dirty="0"/>
              <a:t> </a:t>
            </a:r>
            <a:r>
              <a:rPr lang="en-US" sz="2400" b="1" dirty="0" err="1"/>
              <a:t>atomice</a:t>
            </a:r>
            <a:endParaRPr lang="en-US" sz="2400" b="1" dirty="0"/>
          </a:p>
          <a:p>
            <a:r>
              <a:rPr lang="en-US" dirty="0" err="1"/>
              <a:t>doua</a:t>
            </a:r>
            <a:r>
              <a:rPr lang="en-US" dirty="0"/>
              <a:t> thread-</a:t>
            </a:r>
            <a:r>
              <a:rPr lang="en-US" dirty="0" err="1"/>
              <a:t>uri</a:t>
            </a:r>
            <a:r>
              <a:rPr lang="en-US" dirty="0"/>
              <a:t> care </a:t>
            </a:r>
            <a:r>
              <a:rPr lang="en-US" dirty="0" err="1"/>
              <a:t>incrementeaza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contor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18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F97A9D-22E0-2C7F-F84A-F32699AD2E9F}"/>
              </a:ext>
            </a:extLst>
          </p:cNvPr>
          <p:cNvSpPr txBox="1"/>
          <p:nvPr/>
        </p:nvSpPr>
        <p:spPr>
          <a:xfrm>
            <a:off x="457200" y="2110922"/>
            <a:ext cx="7477760" cy="317009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/>
              <a:t>main = do</a:t>
            </a:r>
          </a:p>
          <a:p>
            <a:r>
              <a:rPr lang="en-GB" sz="2000" dirty="0"/>
              <a:t>  </a:t>
            </a:r>
            <a:r>
              <a:rPr lang="en-GB" sz="2000" dirty="0" err="1"/>
              <a:t>st</a:t>
            </a:r>
            <a:r>
              <a:rPr lang="en-GB" sz="2000" dirty="0"/>
              <a:t> &lt;- </a:t>
            </a:r>
            <a:r>
              <a:rPr lang="en-GB" sz="2000" dirty="0" err="1"/>
              <a:t>newIORef</a:t>
            </a:r>
            <a:r>
              <a:rPr lang="en-GB" sz="2000" dirty="0"/>
              <a:t> ""</a:t>
            </a:r>
          </a:p>
          <a:p>
            <a:r>
              <a:rPr lang="en-GB" sz="2000" dirty="0"/>
              <a:t>  a1 &lt;-async $ </a:t>
            </a:r>
            <a:r>
              <a:rPr lang="en-GB" sz="2000" dirty="0" err="1"/>
              <a:t>replicateM</a:t>
            </a:r>
            <a:r>
              <a:rPr lang="en-GB" sz="2000" dirty="0"/>
              <a:t> 5 $ </a:t>
            </a:r>
            <a:r>
              <a:rPr lang="en-GB" sz="2000" dirty="0" err="1"/>
              <a:t>atomicModifyIORef</a:t>
            </a:r>
            <a:r>
              <a:rPr lang="en-GB" sz="2000" dirty="0"/>
              <a:t>' </a:t>
            </a:r>
            <a:r>
              <a:rPr lang="en-GB" sz="2000" dirty="0" err="1"/>
              <a:t>st</a:t>
            </a:r>
            <a:r>
              <a:rPr lang="en-GB" sz="2000" dirty="0"/>
              <a:t> (\s -&gt; s ++ "A")</a:t>
            </a:r>
          </a:p>
          <a:p>
            <a:r>
              <a:rPr lang="en-GB" sz="2000" dirty="0"/>
              <a:t>  a2 &lt;- async $ </a:t>
            </a:r>
            <a:r>
              <a:rPr lang="en-GB" sz="2000" dirty="0" err="1"/>
              <a:t>replicateM</a:t>
            </a:r>
            <a:r>
              <a:rPr lang="en-GB" sz="2000" dirty="0"/>
              <a:t> 5 $ </a:t>
            </a:r>
            <a:r>
              <a:rPr lang="en-GB" sz="2000" dirty="0" err="1"/>
              <a:t>atomicModifyIORef</a:t>
            </a:r>
            <a:r>
              <a:rPr lang="en-GB" sz="2000" dirty="0"/>
              <a:t>' </a:t>
            </a:r>
            <a:r>
              <a:rPr lang="en-GB" sz="2000" dirty="0" err="1"/>
              <a:t>st</a:t>
            </a:r>
            <a:r>
              <a:rPr lang="en-GB" sz="2000" dirty="0"/>
              <a:t> (\s -&gt; s ++ "B")</a:t>
            </a:r>
          </a:p>
          <a:p>
            <a:r>
              <a:rPr lang="en-GB" sz="2000" dirty="0"/>
              <a:t>  a3 &lt;- async $ </a:t>
            </a:r>
            <a:r>
              <a:rPr lang="en-GB" sz="2000" dirty="0" err="1"/>
              <a:t>replicateM</a:t>
            </a:r>
            <a:r>
              <a:rPr lang="en-GB" sz="2000" dirty="0"/>
              <a:t> 5$ </a:t>
            </a:r>
            <a:r>
              <a:rPr lang="en-GB" sz="2000" dirty="0" err="1"/>
              <a:t>atomicModifyIORef</a:t>
            </a:r>
            <a:r>
              <a:rPr lang="en-GB" sz="2000" dirty="0"/>
              <a:t>' </a:t>
            </a:r>
            <a:r>
              <a:rPr lang="en-GB" sz="2000" dirty="0" err="1"/>
              <a:t>st</a:t>
            </a:r>
            <a:r>
              <a:rPr lang="en-GB" sz="2000" dirty="0"/>
              <a:t> (\s -&gt; s ++ "C")</a:t>
            </a:r>
          </a:p>
          <a:p>
            <a:r>
              <a:rPr lang="en-GB" sz="2000" dirty="0"/>
              <a:t>  r1 &lt;- wait a1</a:t>
            </a:r>
          </a:p>
          <a:p>
            <a:r>
              <a:rPr lang="en-GB" sz="2000" dirty="0"/>
              <a:t>  r2 &lt;- wait a2</a:t>
            </a:r>
          </a:p>
          <a:p>
            <a:r>
              <a:rPr lang="en-GB" sz="2000" dirty="0"/>
              <a:t>  r3 &lt;- wait a3</a:t>
            </a:r>
          </a:p>
          <a:p>
            <a:r>
              <a:rPr lang="en-GB" sz="2000" dirty="0"/>
              <a:t>  x &lt;- </a:t>
            </a:r>
            <a:r>
              <a:rPr lang="en-GB" sz="2000" dirty="0" err="1"/>
              <a:t>readIORef</a:t>
            </a:r>
            <a:r>
              <a:rPr lang="en-GB" sz="2000" dirty="0"/>
              <a:t> </a:t>
            </a:r>
            <a:r>
              <a:rPr lang="en-GB" sz="2000" dirty="0" err="1"/>
              <a:t>st</a:t>
            </a:r>
            <a:r>
              <a:rPr lang="en-GB" sz="2000" dirty="0"/>
              <a:t> </a:t>
            </a:r>
          </a:p>
          <a:p>
            <a:r>
              <a:rPr lang="en-GB" sz="2000" dirty="0"/>
              <a:t>  print x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3238CEC-D1D0-46A0-5FEE-83C6197F9E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72474" y="3054032"/>
          <a:ext cx="3016885" cy="2929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960" imgH="1498680" progId="Paint.Picture">
                  <p:embed/>
                </p:oleObj>
              </mc:Choice>
              <mc:Fallback>
                <p:oleObj name="Bitmap Image" r:id="rId2" imgW="1542960" imgH="1498680" progId="Paint.Pictur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3238CEC-D1D0-46A0-5FEE-83C6197F9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72474" y="3054032"/>
                        <a:ext cx="3016885" cy="2929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1A1EFF4-0ACD-0B68-FB48-4984C165AB7D}"/>
              </a:ext>
            </a:extLst>
          </p:cNvPr>
          <p:cNvSpPr txBox="1"/>
          <p:nvPr/>
        </p:nvSpPr>
        <p:spPr>
          <a:xfrm>
            <a:off x="721360" y="274607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Haskell: </a:t>
            </a:r>
            <a:r>
              <a:rPr lang="en-US" sz="2400" b="1" dirty="0" err="1"/>
              <a:t>variabile</a:t>
            </a:r>
            <a:r>
              <a:rPr lang="en-US" sz="2400" b="1" dirty="0"/>
              <a:t> </a:t>
            </a:r>
            <a:r>
              <a:rPr lang="en-US" sz="2400" b="1" dirty="0" err="1"/>
              <a:t>atomice</a:t>
            </a:r>
            <a:endParaRPr lang="en-US" sz="2400" b="1" dirty="0"/>
          </a:p>
          <a:p>
            <a:r>
              <a:rPr lang="en-US" dirty="0" err="1"/>
              <a:t>doua</a:t>
            </a:r>
            <a:r>
              <a:rPr lang="en-US" dirty="0"/>
              <a:t> thread-</a:t>
            </a:r>
            <a:r>
              <a:rPr lang="en-US" dirty="0" err="1"/>
              <a:t>uri</a:t>
            </a:r>
            <a:r>
              <a:rPr lang="en-US" dirty="0"/>
              <a:t> care </a:t>
            </a:r>
            <a:r>
              <a:rPr lang="en-US" dirty="0" err="1"/>
              <a:t>incrementeaza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contor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C6C27-3536-16F7-634D-806DC0DEF6DB}"/>
              </a:ext>
            </a:extLst>
          </p:cNvPr>
          <p:cNvSpPr txBox="1"/>
          <p:nvPr/>
        </p:nvSpPr>
        <p:spPr>
          <a:xfrm>
            <a:off x="6177280" y="583023"/>
            <a:ext cx="5557520" cy="132343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data </a:t>
            </a:r>
            <a:r>
              <a:rPr lang="en-US" sz="2000" dirty="0" err="1"/>
              <a:t>IORef</a:t>
            </a:r>
            <a:r>
              <a:rPr lang="en-US" sz="2000" dirty="0"/>
              <a:t> a</a:t>
            </a:r>
          </a:p>
          <a:p>
            <a:r>
              <a:rPr lang="it-IT" sz="2000" dirty="0" err="1"/>
              <a:t>newIORef</a:t>
            </a:r>
            <a:r>
              <a:rPr lang="it-IT" sz="2000" dirty="0"/>
              <a:t> :: a -&gt; IO (</a:t>
            </a:r>
            <a:r>
              <a:rPr lang="it-IT" sz="2000" dirty="0" err="1"/>
              <a:t>IORef</a:t>
            </a:r>
            <a:r>
              <a:rPr lang="it-IT" sz="2000" dirty="0"/>
              <a:t> a) </a:t>
            </a:r>
            <a:endParaRPr lang="en-US" sz="2000" dirty="0"/>
          </a:p>
          <a:p>
            <a:r>
              <a:rPr lang="it-IT" sz="2000" dirty="0" err="1"/>
              <a:t>readIORef</a:t>
            </a:r>
            <a:r>
              <a:rPr lang="it-IT" sz="2000" dirty="0"/>
              <a:t> :: </a:t>
            </a:r>
            <a:r>
              <a:rPr lang="it-IT" sz="2000" dirty="0" err="1"/>
              <a:t>IORef</a:t>
            </a:r>
            <a:r>
              <a:rPr lang="it-IT" sz="2000" dirty="0"/>
              <a:t> a -&gt; IO a</a:t>
            </a:r>
          </a:p>
          <a:p>
            <a:r>
              <a:rPr lang="it-IT" sz="2000" dirty="0" err="1"/>
              <a:t>atomicModifyIORef</a:t>
            </a:r>
            <a:r>
              <a:rPr lang="it-IT" sz="2000" dirty="0"/>
              <a:t>' :: </a:t>
            </a:r>
            <a:r>
              <a:rPr lang="it-IT" sz="2000" dirty="0" err="1"/>
              <a:t>IORef</a:t>
            </a:r>
            <a:r>
              <a:rPr lang="it-IT" sz="2000" dirty="0"/>
              <a:t> a -&gt; (a -&gt; (a, b)) -&gt; IO b 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43148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FD33-DCBB-8E61-C622-F19E7549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55DCF-C3B3-B9C9-02A6-A7E832842FCB}"/>
              </a:ext>
            </a:extLst>
          </p:cNvPr>
          <p:cNvSpPr txBox="1"/>
          <p:nvPr/>
        </p:nvSpPr>
        <p:spPr>
          <a:xfrm>
            <a:off x="568960" y="787555"/>
            <a:ext cx="6024880" cy="532453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/>
              <a:t>import </a:t>
            </a:r>
            <a:r>
              <a:rPr lang="en-GB" sz="2000" dirty="0" err="1"/>
              <a:t>System.Random</a:t>
            </a:r>
            <a:endParaRPr lang="en-GB" sz="2000" dirty="0"/>
          </a:p>
          <a:p>
            <a:r>
              <a:rPr lang="en-GB" sz="2000" dirty="0"/>
              <a:t>act m x = do</a:t>
            </a:r>
          </a:p>
          <a:p>
            <a:r>
              <a:rPr lang="en-GB" sz="2000" dirty="0"/>
              <a:t>          --  t &lt;- </a:t>
            </a:r>
            <a:r>
              <a:rPr lang="en-GB" sz="2000" dirty="0" err="1"/>
              <a:t>getStdRandom</a:t>
            </a:r>
            <a:r>
              <a:rPr lang="en-GB" sz="2000" dirty="0"/>
              <a:t> (</a:t>
            </a:r>
            <a:r>
              <a:rPr lang="en-GB" sz="2000" dirty="0" err="1"/>
              <a:t>randomR</a:t>
            </a:r>
            <a:r>
              <a:rPr lang="en-GB" sz="2000" dirty="0"/>
              <a:t> (100, 1000))</a:t>
            </a:r>
          </a:p>
          <a:p>
            <a:r>
              <a:rPr lang="en-GB" sz="2000" dirty="0"/>
              <a:t>          --  </a:t>
            </a:r>
            <a:r>
              <a:rPr lang="en-GB" sz="2000" dirty="0" err="1"/>
              <a:t>threadDelay</a:t>
            </a:r>
            <a:r>
              <a:rPr lang="en-GB" sz="2000" dirty="0"/>
              <a:t>  t</a:t>
            </a:r>
          </a:p>
          <a:p>
            <a:r>
              <a:rPr lang="en-GB" sz="2000" dirty="0"/>
              <a:t>           s &lt;- </a:t>
            </a:r>
            <a:r>
              <a:rPr lang="en-GB" sz="2000" dirty="0" err="1"/>
              <a:t>takeMVar</a:t>
            </a:r>
            <a:r>
              <a:rPr lang="en-GB" sz="2000" dirty="0"/>
              <a:t> m </a:t>
            </a:r>
          </a:p>
          <a:p>
            <a:r>
              <a:rPr lang="en-GB" sz="2000" dirty="0"/>
              <a:t>           </a:t>
            </a:r>
            <a:r>
              <a:rPr lang="en-GB" sz="2000" dirty="0" err="1"/>
              <a:t>putMVar</a:t>
            </a:r>
            <a:r>
              <a:rPr lang="en-GB" sz="2000" dirty="0"/>
              <a:t> m (s ++ x) </a:t>
            </a:r>
          </a:p>
          <a:p>
            <a:endParaRPr lang="en-GB" sz="2000" dirty="0"/>
          </a:p>
          <a:p>
            <a:r>
              <a:rPr lang="en-GB" sz="2000" dirty="0"/>
              <a:t>main = do</a:t>
            </a:r>
          </a:p>
          <a:p>
            <a:r>
              <a:rPr lang="en-GB" sz="2000" dirty="0"/>
              <a:t>  </a:t>
            </a:r>
            <a:r>
              <a:rPr lang="en-GB" sz="2000" dirty="0" err="1"/>
              <a:t>st</a:t>
            </a:r>
            <a:r>
              <a:rPr lang="en-GB" sz="2000" dirty="0"/>
              <a:t> &lt;- </a:t>
            </a:r>
            <a:r>
              <a:rPr lang="en-GB" sz="2000" dirty="0" err="1"/>
              <a:t>newMVar</a:t>
            </a:r>
            <a:r>
              <a:rPr lang="en-GB" sz="2000" dirty="0"/>
              <a:t> ""</a:t>
            </a:r>
          </a:p>
          <a:p>
            <a:r>
              <a:rPr lang="en-GB" sz="2000" dirty="0"/>
              <a:t>  a1 &lt;-async $ </a:t>
            </a:r>
            <a:r>
              <a:rPr lang="en-GB" sz="2000" dirty="0" err="1"/>
              <a:t>replicateM</a:t>
            </a:r>
            <a:r>
              <a:rPr lang="en-GB" sz="2000" dirty="0"/>
              <a:t> 5 $ act </a:t>
            </a:r>
            <a:r>
              <a:rPr lang="en-GB" sz="2000" dirty="0" err="1"/>
              <a:t>st</a:t>
            </a:r>
            <a:r>
              <a:rPr lang="en-GB" sz="2000" dirty="0"/>
              <a:t> "A"</a:t>
            </a:r>
          </a:p>
          <a:p>
            <a:r>
              <a:rPr lang="en-GB" sz="2000" dirty="0"/>
              <a:t>  a2 &lt;- async $ </a:t>
            </a:r>
            <a:r>
              <a:rPr lang="en-GB" sz="2000" dirty="0" err="1"/>
              <a:t>replicateM</a:t>
            </a:r>
            <a:r>
              <a:rPr lang="en-GB" sz="2000" dirty="0"/>
              <a:t> 5 $ act </a:t>
            </a:r>
            <a:r>
              <a:rPr lang="en-GB" sz="2000" dirty="0" err="1"/>
              <a:t>st</a:t>
            </a:r>
            <a:r>
              <a:rPr lang="en-GB" sz="2000" dirty="0"/>
              <a:t> "B"</a:t>
            </a:r>
          </a:p>
          <a:p>
            <a:r>
              <a:rPr lang="en-GB" sz="2000" dirty="0"/>
              <a:t>  a3 &lt;- async $ </a:t>
            </a:r>
            <a:r>
              <a:rPr lang="en-GB" sz="2000" dirty="0" err="1"/>
              <a:t>replicateM</a:t>
            </a:r>
            <a:r>
              <a:rPr lang="en-GB" sz="2000" dirty="0"/>
              <a:t> 5 $ act </a:t>
            </a:r>
            <a:r>
              <a:rPr lang="en-GB" sz="2000" dirty="0" err="1"/>
              <a:t>st</a:t>
            </a:r>
            <a:r>
              <a:rPr lang="en-GB" sz="2000" dirty="0"/>
              <a:t> "C"</a:t>
            </a:r>
          </a:p>
          <a:p>
            <a:r>
              <a:rPr lang="en-GB" sz="2000" dirty="0"/>
              <a:t>  r1 &lt;- wait a1</a:t>
            </a:r>
          </a:p>
          <a:p>
            <a:r>
              <a:rPr lang="en-GB" sz="2000" dirty="0"/>
              <a:t>  r2 &lt;- wait a2</a:t>
            </a:r>
          </a:p>
          <a:p>
            <a:r>
              <a:rPr lang="en-GB" sz="2000" dirty="0"/>
              <a:t>  r3 &lt;- wait a3</a:t>
            </a:r>
          </a:p>
          <a:p>
            <a:r>
              <a:rPr lang="en-GB" sz="2000" dirty="0"/>
              <a:t>  x &lt;- </a:t>
            </a:r>
            <a:r>
              <a:rPr lang="en-GB" sz="2000" dirty="0" err="1"/>
              <a:t>readMVar</a:t>
            </a:r>
            <a:r>
              <a:rPr lang="en-GB" sz="2000" dirty="0"/>
              <a:t> </a:t>
            </a:r>
            <a:r>
              <a:rPr lang="en-GB" sz="2000" dirty="0" err="1"/>
              <a:t>st</a:t>
            </a:r>
            <a:r>
              <a:rPr lang="en-GB" sz="2000" dirty="0"/>
              <a:t> </a:t>
            </a:r>
          </a:p>
          <a:p>
            <a:r>
              <a:rPr lang="en-GB" sz="2000" dirty="0"/>
              <a:t>  print 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32660-A2DB-3688-4C2E-C2B01CDB94AD}"/>
              </a:ext>
            </a:extLst>
          </p:cNvPr>
          <p:cNvSpPr txBox="1"/>
          <p:nvPr/>
        </p:nvSpPr>
        <p:spPr>
          <a:xfrm>
            <a:off x="497840" y="48891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Haskell: </a:t>
            </a:r>
            <a:r>
              <a:rPr lang="en-US" sz="2400" b="1" dirty="0" err="1"/>
              <a:t>MVar</a:t>
            </a:r>
            <a:endParaRPr lang="en-US" sz="2400" b="1" dirty="0"/>
          </a:p>
          <a:p>
            <a:r>
              <a:rPr lang="en-US" dirty="0" err="1"/>
              <a:t>trei</a:t>
            </a:r>
            <a:r>
              <a:rPr lang="en-US" dirty="0"/>
              <a:t> thread-</a:t>
            </a:r>
            <a:r>
              <a:rPr lang="en-US" dirty="0" err="1"/>
              <a:t>uri</a:t>
            </a:r>
            <a:r>
              <a:rPr lang="en-US" dirty="0"/>
              <a:t> care </a:t>
            </a:r>
            <a:r>
              <a:rPr lang="en-US" dirty="0" err="1"/>
              <a:t>incrementeaza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contor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75EA68-BCB0-0D93-3CD0-0F51D16B1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429" y="291560"/>
            <a:ext cx="2264481" cy="59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38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648" y="1438318"/>
            <a:ext cx="5982535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transfer :: Account -&gt; Account -&gt; 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-&gt; IO()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transfer from to amount = </a:t>
            </a:r>
            <a:r>
              <a:rPr lang="en-US" sz="2400" dirty="0">
                <a:solidFill>
                  <a:srgbClr val="92D050"/>
                </a:solidFill>
              </a:rPr>
              <a:t>atomically </a:t>
            </a:r>
            <a:r>
              <a:rPr lang="en-US" sz="2400" dirty="0">
                <a:solidFill>
                  <a:srgbClr val="0070C0"/>
                </a:solidFill>
              </a:rPr>
              <a:t> $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withdraw from amount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deposit to amount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2579" y="1438318"/>
            <a:ext cx="5844677" cy="480131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just"/>
            <a:r>
              <a:rPr lang="en-US" dirty="0">
                <a:solidFill>
                  <a:srgbClr val="92D050"/>
                </a:solidFill>
              </a:rPr>
              <a:t>atomically</a:t>
            </a:r>
            <a:endParaRPr lang="en-US" dirty="0"/>
          </a:p>
          <a:p>
            <a:pPr algn="just"/>
            <a:r>
              <a:rPr lang="en-US" dirty="0"/>
              <a:t>"takes an action as its argument, and performs it atomically. </a:t>
            </a:r>
          </a:p>
          <a:p>
            <a:pPr algn="just"/>
            <a:r>
              <a:rPr lang="en-US" dirty="0"/>
              <a:t>More precisely, it makes two guarantees: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Atomicity:  </a:t>
            </a:r>
            <a:r>
              <a:rPr lang="en-US" dirty="0"/>
              <a:t>the effects of atomically act become </a:t>
            </a:r>
          </a:p>
          <a:p>
            <a:pPr algn="just"/>
            <a:r>
              <a:rPr lang="en-US" dirty="0"/>
              <a:t>                     visible to another thread all at once. </a:t>
            </a:r>
          </a:p>
          <a:p>
            <a:pPr algn="just"/>
            <a:r>
              <a:rPr lang="en-US" dirty="0"/>
              <a:t>                     This ensures that no other thread can see </a:t>
            </a:r>
          </a:p>
          <a:p>
            <a:pPr algn="just"/>
            <a:r>
              <a:rPr lang="en-US" dirty="0"/>
              <a:t>                      a state in which money has been deposited </a:t>
            </a:r>
          </a:p>
          <a:p>
            <a:pPr algn="just"/>
            <a:r>
              <a:rPr lang="en-US" dirty="0"/>
              <a:t>                      in to but not  yet withdrawn from </a:t>
            </a:r>
            <a:r>
              <a:rPr lang="en-US" dirty="0" err="1"/>
              <a:t>from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Isolation:   </a:t>
            </a:r>
            <a:r>
              <a:rPr lang="en-US" dirty="0"/>
              <a:t>during a call atomically act, </a:t>
            </a:r>
          </a:p>
          <a:p>
            <a:pPr algn="just"/>
            <a:r>
              <a:rPr lang="en-US" dirty="0"/>
              <a:t>                    the action act is completely unaffected </a:t>
            </a:r>
          </a:p>
          <a:p>
            <a:pPr algn="just"/>
            <a:r>
              <a:rPr lang="en-US" dirty="0"/>
              <a:t>                    by other threads.  It is as if act takes </a:t>
            </a:r>
          </a:p>
          <a:p>
            <a:pPr algn="just"/>
            <a:r>
              <a:rPr lang="en-US" dirty="0"/>
              <a:t>                    a snapshot of the state of the world </a:t>
            </a:r>
          </a:p>
          <a:p>
            <a:pPr algn="just"/>
            <a:r>
              <a:rPr lang="en-US" dirty="0"/>
              <a:t>                    when it begins running, and then executes </a:t>
            </a:r>
          </a:p>
          <a:p>
            <a:pPr algn="just"/>
            <a:r>
              <a:rPr lang="en-US" dirty="0"/>
              <a:t>                    against that snapshot."</a:t>
            </a:r>
          </a:p>
          <a:p>
            <a:pPr algn="just"/>
            <a:r>
              <a:rPr lang="en-US" sz="1600" i="1" dirty="0"/>
              <a:t>Simon Peyton Jones, Beautiful 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9442" y="3284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48" y="4625569"/>
            <a:ext cx="6555950" cy="9933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01E424-1AC8-CCDE-5EFE-B77FBE5ABEFD}"/>
              </a:ext>
            </a:extLst>
          </p:cNvPr>
          <p:cNvSpPr txBox="1"/>
          <p:nvPr/>
        </p:nvSpPr>
        <p:spPr>
          <a:xfrm>
            <a:off x="660400" y="203200"/>
            <a:ext cx="3428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STM: </a:t>
            </a:r>
            <a:r>
              <a:rPr lang="ro-RO" sz="2400" dirty="0" err="1"/>
              <a:t>Tranzactii</a:t>
            </a:r>
            <a:r>
              <a:rPr lang="ro-RO" sz="2400" dirty="0"/>
              <a:t> bancare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60688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1628" y="3480527"/>
            <a:ext cx="5031506" cy="16004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transfer :: Account -&gt;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IO()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transfer from to amount = </a:t>
            </a:r>
            <a:r>
              <a:rPr lang="en-US" sz="2000" b="1" dirty="0">
                <a:solidFill>
                  <a:srgbClr val="0070C0"/>
                </a:solidFill>
              </a:rPr>
              <a:t>atomically</a:t>
            </a:r>
            <a:r>
              <a:rPr lang="en-US" sz="2000" dirty="0">
                <a:solidFill>
                  <a:srgbClr val="0070C0"/>
                </a:solidFill>
              </a:rPr>
              <a:t>  $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withdraw from amount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deposit to amount</a:t>
            </a:r>
          </a:p>
          <a:p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8511" y="604538"/>
            <a:ext cx="2614498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type Account = </a:t>
            </a:r>
            <a:r>
              <a:rPr lang="en-US" sz="2000" b="1" dirty="0" err="1">
                <a:solidFill>
                  <a:srgbClr val="0070C0"/>
                </a:solidFill>
              </a:rPr>
              <a:t>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89442" y="3284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08989" y="1683675"/>
            <a:ext cx="4160726" cy="160043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deposit ::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</a:t>
            </a:r>
            <a:r>
              <a:rPr lang="en-US" sz="2000" b="1" dirty="0">
                <a:solidFill>
                  <a:srgbClr val="0070C0"/>
                </a:solidFill>
              </a:rPr>
              <a:t>STM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deposit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amount  = do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x &lt;- </a:t>
            </a:r>
            <a:r>
              <a:rPr lang="en-US" sz="2000" b="1" dirty="0" err="1">
                <a:solidFill>
                  <a:srgbClr val="0070C0"/>
                </a:solidFill>
              </a:rPr>
              <a:t>readTVar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b="1" dirty="0" err="1">
                <a:solidFill>
                  <a:srgbClr val="0070C0"/>
                </a:solidFill>
              </a:rPr>
              <a:t>writeTVar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(x + amount)</a:t>
            </a:r>
          </a:p>
          <a:p>
            <a:r>
              <a:rPr lang="en-US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7093389" y="1563104"/>
            <a:ext cx="4074017" cy="163121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withdraw  ::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</a:t>
            </a:r>
            <a:r>
              <a:rPr lang="en-US" sz="2000" b="1" dirty="0">
                <a:solidFill>
                  <a:srgbClr val="0070C0"/>
                </a:solidFill>
              </a:rPr>
              <a:t>STM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withdraw 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amount  = do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x &lt;- </a:t>
            </a:r>
            <a:r>
              <a:rPr lang="en-US" sz="2000" b="1" dirty="0" err="1">
                <a:solidFill>
                  <a:srgbClr val="0070C0"/>
                </a:solidFill>
              </a:rPr>
              <a:t>readTVar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b="1" dirty="0" err="1">
                <a:solidFill>
                  <a:srgbClr val="0070C0"/>
                </a:solidFill>
              </a:rPr>
              <a:t>writeTVar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(x - amount)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19" y="5235424"/>
            <a:ext cx="6584251" cy="1018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0226" y="154399"/>
            <a:ext cx="4085670" cy="830997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Monada</a:t>
            </a:r>
            <a:r>
              <a:rPr lang="en-US" sz="2400" dirty="0"/>
              <a:t> STM</a:t>
            </a:r>
          </a:p>
          <a:p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asemanatoare</a:t>
            </a:r>
            <a:r>
              <a:rPr lang="en-US" sz="2400" dirty="0"/>
              <a:t> </a:t>
            </a:r>
            <a:r>
              <a:rPr lang="en-US" sz="2400" dirty="0" err="1"/>
              <a:t>monadei</a:t>
            </a:r>
            <a:r>
              <a:rPr lang="en-US" sz="2400" dirty="0"/>
              <a:t> 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833" y="3059155"/>
            <a:ext cx="1370888" cy="646331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deposit</a:t>
            </a:r>
          </a:p>
          <a:p>
            <a:r>
              <a:rPr lang="en-US" dirty="0" err="1"/>
              <a:t>actiune</a:t>
            </a:r>
            <a:r>
              <a:rPr lang="en-US" dirty="0"/>
              <a:t> STM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2601" y="3014258"/>
            <a:ext cx="1370888" cy="646331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withdraw</a:t>
            </a:r>
          </a:p>
          <a:p>
            <a:r>
              <a:rPr lang="en-US" dirty="0" err="1"/>
              <a:t>actiune</a:t>
            </a:r>
            <a:r>
              <a:rPr lang="en-US" dirty="0"/>
              <a:t> STM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6806" y="5489396"/>
            <a:ext cx="3047181" cy="646331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atomically :: STM a -&gt; IO a</a:t>
            </a:r>
          </a:p>
          <a:p>
            <a:r>
              <a:rPr lang="en-US" dirty="0" err="1"/>
              <a:t>executa</a:t>
            </a:r>
            <a:r>
              <a:rPr lang="en-US" dirty="0"/>
              <a:t> atomic o </a:t>
            </a:r>
            <a:r>
              <a:rPr lang="en-US" dirty="0" err="1"/>
              <a:t>actiune</a:t>
            </a:r>
            <a:r>
              <a:rPr lang="en-US" dirty="0"/>
              <a:t> STM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4173" y="456379"/>
            <a:ext cx="2615973" cy="70788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</a:rPr>
              <a:t>TVar</a:t>
            </a:r>
            <a:endParaRPr lang="en-US" sz="2000" b="1" dirty="0">
              <a:solidFill>
                <a:srgbClr val="0070C0"/>
              </a:solidFill>
            </a:endParaRPr>
          </a:p>
          <a:p>
            <a:r>
              <a:rPr lang="en-US" sz="2000" dirty="0" err="1"/>
              <a:t>variabile</a:t>
            </a:r>
            <a:r>
              <a:rPr lang="en-US" sz="2000" dirty="0"/>
              <a:t> </a:t>
            </a:r>
            <a:r>
              <a:rPr lang="en-US" sz="2000" dirty="0" err="1"/>
              <a:t>tranzactionale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228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831" y="309093"/>
            <a:ext cx="2207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Monada</a:t>
            </a:r>
            <a:r>
              <a:rPr lang="en-US" sz="2400" dirty="0"/>
              <a:t> STM </a:t>
            </a:r>
          </a:p>
        </p:txBody>
      </p:sp>
      <p:sp>
        <p:nvSpPr>
          <p:cNvPr id="3" name="Rectangle 2"/>
          <p:cNvSpPr/>
          <p:nvPr/>
        </p:nvSpPr>
        <p:spPr>
          <a:xfrm>
            <a:off x="526450" y="1479516"/>
            <a:ext cx="4177048" cy="341632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STM a 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instance Monad STM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atomically :: STM a -&gt; IO a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r>
              <a:rPr lang="en-US" sz="2400" dirty="0">
                <a:solidFill>
                  <a:srgbClr val="0070C0"/>
                </a:solidFill>
              </a:rPr>
              <a:t> a 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newTVar</a:t>
            </a:r>
            <a:r>
              <a:rPr lang="en-US" sz="2400" dirty="0">
                <a:solidFill>
                  <a:srgbClr val="0070C0"/>
                </a:solidFill>
              </a:rPr>
              <a:t>   :: a -&gt; STM (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readTVar</a:t>
            </a:r>
            <a:r>
              <a:rPr lang="en-US" sz="2400" dirty="0">
                <a:solidFill>
                  <a:srgbClr val="0070C0"/>
                </a:solidFill>
              </a:rPr>
              <a:t>  :: 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r>
              <a:rPr lang="en-US" sz="2400" dirty="0">
                <a:solidFill>
                  <a:srgbClr val="0070C0"/>
                </a:solidFill>
              </a:rPr>
              <a:t> a -&gt; STM a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writeTVar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r>
              <a:rPr lang="en-US" sz="2400" dirty="0">
                <a:solidFill>
                  <a:srgbClr val="0070C0"/>
                </a:solidFill>
              </a:rPr>
              <a:t> a -&gt; a -&gt; STM 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8523" y="1017431"/>
            <a:ext cx="5620706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Operatiile</a:t>
            </a:r>
            <a:r>
              <a:rPr lang="en-US" sz="2400" dirty="0"/>
              <a:t> de </a:t>
            </a:r>
            <a:r>
              <a:rPr lang="en-US" sz="2400" dirty="0" err="1"/>
              <a:t>baza</a:t>
            </a:r>
            <a:r>
              <a:rPr lang="en-US" sz="2400" dirty="0"/>
              <a:t> ale </a:t>
            </a:r>
            <a:r>
              <a:rPr lang="en-US" sz="2400" dirty="0" err="1"/>
              <a:t>monadei</a:t>
            </a:r>
            <a:r>
              <a:rPr lang="en-US" sz="2400" dirty="0"/>
              <a:t> STM </a:t>
            </a:r>
            <a:r>
              <a:rPr lang="en-US" sz="2400" dirty="0" err="1"/>
              <a:t>sunt</a:t>
            </a:r>
            <a:endParaRPr lang="en-US" sz="2400" dirty="0"/>
          </a:p>
          <a:p>
            <a:r>
              <a:rPr lang="en-US" sz="2400" dirty="0" err="1"/>
              <a:t>scrierea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citirea</a:t>
            </a:r>
            <a:r>
              <a:rPr lang="en-US" sz="2400" dirty="0"/>
              <a:t> </a:t>
            </a:r>
            <a:r>
              <a:rPr lang="en-US" sz="2400" dirty="0" err="1"/>
              <a:t>variabilelor</a:t>
            </a:r>
            <a:r>
              <a:rPr lang="en-US" sz="2400" dirty="0"/>
              <a:t> </a:t>
            </a:r>
            <a:r>
              <a:rPr lang="en-US" sz="2400" dirty="0" err="1"/>
              <a:t>tranzactionale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Variabilele</a:t>
            </a:r>
            <a:r>
              <a:rPr lang="en-US" sz="2400" dirty="0"/>
              <a:t> </a:t>
            </a:r>
            <a:r>
              <a:rPr lang="en-US" sz="2400" dirty="0" err="1"/>
              <a:t>tranzactionale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mutabile</a:t>
            </a:r>
            <a:r>
              <a:rPr lang="en-US" sz="2400" dirty="0"/>
              <a:t>. </a:t>
            </a:r>
          </a:p>
          <a:p>
            <a:r>
              <a:rPr lang="en-US" sz="2400" dirty="0"/>
              <a:t>O </a:t>
            </a:r>
            <a:r>
              <a:rPr lang="en-US" sz="2400" dirty="0" err="1"/>
              <a:t>variabila</a:t>
            </a:r>
            <a:r>
              <a:rPr lang="en-US" sz="2400" dirty="0"/>
              <a:t> </a:t>
            </a:r>
            <a:r>
              <a:rPr lang="en-US" sz="2400" dirty="0" err="1"/>
              <a:t>TVar</a:t>
            </a:r>
            <a:r>
              <a:rPr lang="en-US" sz="2400" dirty="0"/>
              <a:t> </a:t>
            </a:r>
            <a:r>
              <a:rPr lang="en-US" sz="2400" b="1" dirty="0"/>
              <a:t>nu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goala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Scrierea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citirea</a:t>
            </a:r>
            <a:r>
              <a:rPr lang="en-US" sz="2400" dirty="0"/>
              <a:t> </a:t>
            </a:r>
            <a:r>
              <a:rPr lang="en-US" sz="2400" dirty="0" err="1"/>
              <a:t>variabilelor</a:t>
            </a:r>
            <a:r>
              <a:rPr lang="en-US" sz="2400" dirty="0"/>
              <a:t> </a:t>
            </a:r>
            <a:r>
              <a:rPr lang="en-US" sz="2400" dirty="0" err="1"/>
              <a:t>tranzactionale</a:t>
            </a:r>
            <a:endParaRPr lang="en-US" sz="2400" dirty="0"/>
          </a:p>
          <a:p>
            <a:r>
              <a:rPr lang="en-US" sz="2400" dirty="0"/>
              <a:t>se face </a:t>
            </a:r>
            <a:r>
              <a:rPr lang="en-US" sz="2400" b="1" dirty="0" err="1"/>
              <a:t>fara</a:t>
            </a:r>
            <a:r>
              <a:rPr lang="en-US" sz="2400" b="1" dirty="0"/>
              <a:t> </a:t>
            </a:r>
            <a:r>
              <a:rPr lang="en-US" sz="2400" b="1" dirty="0" err="1"/>
              <a:t>blocare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Actiunile</a:t>
            </a:r>
            <a:r>
              <a:rPr lang="en-US" sz="2400" dirty="0"/>
              <a:t> STM au </a:t>
            </a:r>
            <a:r>
              <a:rPr lang="en-US" sz="2400" dirty="0" err="1"/>
              <a:t>loc</a:t>
            </a:r>
            <a:r>
              <a:rPr lang="en-US" sz="2400" dirty="0"/>
              <a:t> </a:t>
            </a:r>
            <a:r>
              <a:rPr lang="en-US" sz="2400" b="1" dirty="0"/>
              <a:t>atomic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 O </a:t>
            </a:r>
            <a:r>
              <a:rPr lang="en-US" sz="2400" b="1" dirty="0" err="1"/>
              <a:t>tranzactie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o </a:t>
            </a:r>
            <a:r>
              <a:rPr lang="en-US" sz="2400" dirty="0" err="1"/>
              <a:t>actiune</a:t>
            </a:r>
            <a:r>
              <a:rPr lang="en-US" sz="2400" dirty="0"/>
              <a:t> STM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executata</a:t>
            </a:r>
            <a:r>
              <a:rPr lang="en-US" sz="2400" dirty="0"/>
              <a:t> in </a:t>
            </a:r>
            <a:r>
              <a:rPr lang="en-US" sz="2400" dirty="0" err="1"/>
              <a:t>monada</a:t>
            </a:r>
            <a:r>
              <a:rPr lang="en-US" sz="2400" dirty="0"/>
              <a:t> IO </a:t>
            </a:r>
            <a:r>
              <a:rPr lang="en-US" sz="2400" dirty="0" err="1"/>
              <a:t>folosind</a:t>
            </a:r>
            <a:r>
              <a:rPr lang="en-US" sz="2400" dirty="0">
                <a:solidFill>
                  <a:srgbClr val="0070C0"/>
                </a:solidFill>
              </a:rPr>
              <a:t> atomically</a:t>
            </a:r>
          </a:p>
        </p:txBody>
      </p:sp>
    </p:spTree>
    <p:extLst>
      <p:ext uri="{BB962C8B-B14F-4D97-AF65-F5344CB8AC3E}">
        <p14:creationId xmlns:p14="http://schemas.microsoft.com/office/powerpoint/2010/main" val="660160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921" y="74901"/>
            <a:ext cx="301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Implementarea</a:t>
            </a:r>
            <a:r>
              <a:rPr lang="en-US" sz="2400" dirty="0"/>
              <a:t> STM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9656" y="536566"/>
            <a:ext cx="10049815" cy="7571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"One particularly attractive implementation is well established in the database world, namely optimistic execution. When (</a:t>
            </a:r>
            <a:r>
              <a:rPr lang="en-US" sz="2000" dirty="0">
                <a:solidFill>
                  <a:srgbClr val="0070C0"/>
                </a:solidFill>
              </a:rPr>
              <a:t>atomically act</a:t>
            </a:r>
            <a:r>
              <a:rPr lang="en-US" sz="2000" dirty="0"/>
              <a:t>) is performed, a </a:t>
            </a:r>
            <a:r>
              <a:rPr lang="en-US" sz="2000" b="1" dirty="0"/>
              <a:t>thread-local transaction log is allocated, initially empty</a:t>
            </a:r>
            <a:r>
              <a:rPr lang="en-US" sz="2000" dirty="0"/>
              <a:t>. Then the action act is performed, </a:t>
            </a:r>
            <a:r>
              <a:rPr lang="en-US" sz="2000" b="1" dirty="0"/>
              <a:t>without taking any locks at all</a:t>
            </a:r>
            <a:r>
              <a:rPr lang="en-US" sz="2000" dirty="0"/>
              <a:t>. While performing act, each call to </a:t>
            </a:r>
            <a:r>
              <a:rPr lang="en-US" sz="2000" dirty="0" err="1">
                <a:solidFill>
                  <a:srgbClr val="0070C0"/>
                </a:solidFill>
              </a:rPr>
              <a:t>writeTVar</a:t>
            </a:r>
            <a:r>
              <a:rPr lang="en-US" sz="2000" dirty="0"/>
              <a:t> writes the address of the </a:t>
            </a:r>
            <a:r>
              <a:rPr lang="en-US" sz="2000" dirty="0" err="1">
                <a:solidFill>
                  <a:srgbClr val="0070C0"/>
                </a:solidFill>
              </a:rPr>
              <a:t>TVar</a:t>
            </a:r>
            <a:r>
              <a:rPr lang="en-US" sz="2000" dirty="0"/>
              <a:t> and its new value into the log; it does not write to the </a:t>
            </a:r>
            <a:r>
              <a:rPr lang="en-US" sz="2000" dirty="0" err="1">
                <a:solidFill>
                  <a:srgbClr val="0070C0"/>
                </a:solidFill>
              </a:rPr>
              <a:t>TVar</a:t>
            </a:r>
            <a:r>
              <a:rPr lang="en-US" sz="2000" dirty="0"/>
              <a:t> itself. Each call to </a:t>
            </a:r>
            <a:r>
              <a:rPr lang="en-US" sz="2000" dirty="0" err="1">
                <a:solidFill>
                  <a:srgbClr val="0070C0"/>
                </a:solidFill>
              </a:rPr>
              <a:t>readTVar</a:t>
            </a:r>
            <a:r>
              <a:rPr lang="en-US" sz="2000" dirty="0"/>
              <a:t> first searches the log (in case the </a:t>
            </a:r>
            <a:r>
              <a:rPr lang="en-US" sz="2000" dirty="0" err="1">
                <a:solidFill>
                  <a:srgbClr val="0070C0"/>
                </a:solidFill>
              </a:rPr>
              <a:t>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was written by an earlier call to </a:t>
            </a:r>
            <a:r>
              <a:rPr lang="en-US" sz="2000" dirty="0" err="1">
                <a:solidFill>
                  <a:srgbClr val="0070C0"/>
                </a:solidFill>
              </a:rPr>
              <a:t>writeTVar</a:t>
            </a:r>
            <a:r>
              <a:rPr lang="en-US" sz="2000" dirty="0"/>
              <a:t>); if no such record is found, the value is read from the </a:t>
            </a:r>
            <a:r>
              <a:rPr lang="en-US" sz="2000" dirty="0" err="1">
                <a:solidFill>
                  <a:srgbClr val="0070C0"/>
                </a:solidFill>
              </a:rPr>
              <a:t>TVar</a:t>
            </a:r>
            <a:r>
              <a:rPr lang="en-US" sz="2000" dirty="0"/>
              <a:t> itself, and the </a:t>
            </a:r>
            <a:r>
              <a:rPr lang="en-US" sz="2000" dirty="0" err="1">
                <a:solidFill>
                  <a:srgbClr val="0070C0"/>
                </a:solidFill>
              </a:rPr>
              <a:t>TVar</a:t>
            </a:r>
            <a:r>
              <a:rPr lang="en-US" sz="2000" dirty="0"/>
              <a:t> and value read are recorded in the log. In the meantime, other threads might be running their own atomic blocks, reading and writing </a:t>
            </a:r>
            <a:r>
              <a:rPr lang="en-US" sz="2000" dirty="0" err="1">
                <a:solidFill>
                  <a:srgbClr val="0070C0"/>
                </a:solidFill>
              </a:rPr>
              <a:t>TVars</a:t>
            </a:r>
            <a:r>
              <a:rPr lang="en-US" sz="2000" dirty="0"/>
              <a:t> like crazy.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When the action act is finished, the implementation first validates the log and, if validation is successful, commits the log. </a:t>
            </a:r>
            <a:r>
              <a:rPr lang="en-US" sz="2000" dirty="0"/>
              <a:t>The validation step examines each </a:t>
            </a:r>
            <a:r>
              <a:rPr lang="en-US" sz="2000" dirty="0" err="1">
                <a:solidFill>
                  <a:srgbClr val="0070C0"/>
                </a:solidFill>
              </a:rPr>
              <a:t>readTVar</a:t>
            </a:r>
            <a:r>
              <a:rPr lang="en-US" sz="2000" dirty="0"/>
              <a:t> recorded in the log, and checks that the value in the log matches the value currently in the real </a:t>
            </a:r>
            <a:r>
              <a:rPr lang="en-US" sz="2000" dirty="0" err="1">
                <a:solidFill>
                  <a:srgbClr val="0070C0"/>
                </a:solidFill>
              </a:rPr>
              <a:t>TVar</a:t>
            </a:r>
            <a:r>
              <a:rPr lang="en-US" sz="2000" dirty="0"/>
              <a:t>. If so, validation succeeds, and the commit step takes all the writes recorded in the log and writes them into the real </a:t>
            </a:r>
            <a:r>
              <a:rPr lang="en-US" sz="2000" dirty="0" err="1">
                <a:solidFill>
                  <a:srgbClr val="0070C0"/>
                </a:solidFill>
              </a:rPr>
              <a:t>TVars</a:t>
            </a:r>
            <a:r>
              <a:rPr lang="en-US" sz="2000" dirty="0"/>
              <a:t>.  </a:t>
            </a:r>
          </a:p>
          <a:p>
            <a:pPr algn="just"/>
            <a:endParaRPr lang="en-US" sz="2000" dirty="0"/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What if validation fails? Then the transaction has had an inconsistent view of memory.  So we abort the transaction, re-</a:t>
            </a:r>
            <a:r>
              <a:rPr lang="en-US" altLang="en-US" sz="2000" b="1" dirty="0" err="1"/>
              <a:t>initialise</a:t>
            </a:r>
            <a:r>
              <a:rPr lang="en-US" altLang="en-US" sz="2000" b="1" dirty="0"/>
              <a:t> the log</a:t>
            </a:r>
            <a:r>
              <a:rPr lang="en-US" altLang="en-US" sz="2000" dirty="0"/>
              <a:t>, and run act all over again"</a:t>
            </a:r>
            <a:endParaRPr lang="en-US" i="1" dirty="0">
              <a:hlinkClick r:id="" action="ppaction://noaction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i="1" dirty="0">
                <a:hlinkClick r:id="" action="ppaction://noaction"/>
              </a:rPr>
              <a:t>Simon Peyton Jones, Beautiful Concurrency</a:t>
            </a:r>
            <a:endParaRPr lang="en-US" dirty="0"/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i="1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41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hlinkClick r:id="rId2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765745"/>
              </p:ext>
            </p:extLst>
          </p:nvPr>
        </p:nvGraphicFramePr>
        <p:xfrm>
          <a:off x="4723634" y="517629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3" imgW="914400" imgH="771480" progId="PowerPoint.Show.8">
                  <p:embed/>
                </p:oleObj>
              </mc:Choice>
              <mc:Fallback>
                <p:oleObj name="Presentation" showAsIcon="1" r:id="rId3" imgW="914400" imgH="771480" progId="PowerPoint.Show.8">
                  <p:embed/>
                  <p:pic>
                    <p:nvPicPr>
                      <p:cNvPr id="2" name="Object 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3634" y="5176290"/>
                        <a:ext cx="914400" cy="771525"/>
                      </a:xfrm>
                      <a:prstGeom prst="rect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56" y="224216"/>
            <a:ext cx="2612584" cy="19594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956" y="2301585"/>
            <a:ext cx="2612584" cy="19594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145" y="4312992"/>
            <a:ext cx="2672206" cy="20041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8274" y="242195"/>
            <a:ext cx="2923687" cy="21927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667" y="2671479"/>
            <a:ext cx="2972284" cy="22292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866" y="228463"/>
            <a:ext cx="3099516" cy="23246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1695" y="2742032"/>
            <a:ext cx="3116687" cy="23375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68980" y="5504617"/>
            <a:ext cx="503564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GB" altLang="en-US" b="1" dirty="0"/>
              <a:t>T. Harris, M. </a:t>
            </a:r>
            <a:r>
              <a:rPr lang="en-GB" altLang="en-US" b="1" dirty="0" err="1"/>
              <a:t>Herlihy</a:t>
            </a:r>
            <a:r>
              <a:rPr lang="en-GB" altLang="en-US" b="1" dirty="0"/>
              <a:t>, S. Marlow, S. Peyton Jones,</a:t>
            </a:r>
          </a:p>
          <a:p>
            <a:pPr>
              <a:lnSpc>
                <a:spcPct val="80000"/>
              </a:lnSpc>
              <a:defRPr/>
            </a:pPr>
            <a:r>
              <a:rPr lang="en-GB" altLang="en-US" b="1" dirty="0"/>
              <a:t>Concurrency unlocked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24986" y="5947815"/>
            <a:ext cx="1943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click </a:t>
            </a:r>
            <a:r>
              <a:rPr lang="en-US" dirty="0" err="1">
                <a:solidFill>
                  <a:srgbClr val="FF0000"/>
                </a:solidFill>
              </a:rPr>
              <a:t>pe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prezentare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E0038-F9C2-1C94-963F-11B8191F95B8}"/>
              </a:ext>
            </a:extLst>
          </p:cNvPr>
          <p:cNvSpPr txBox="1"/>
          <p:nvPr/>
        </p:nvSpPr>
        <p:spPr>
          <a:xfrm>
            <a:off x="193040" y="528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1FAE0D-36FB-0611-94AB-9D7B5AD8C69A}"/>
              </a:ext>
            </a:extLst>
          </p:cNvPr>
          <p:cNvSpPr txBox="1"/>
          <p:nvPr/>
        </p:nvSpPr>
        <p:spPr>
          <a:xfrm>
            <a:off x="191483" y="24212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461CDE-42EE-5971-F912-EEAE1DB0A459}"/>
              </a:ext>
            </a:extLst>
          </p:cNvPr>
          <p:cNvSpPr txBox="1"/>
          <p:nvPr/>
        </p:nvSpPr>
        <p:spPr>
          <a:xfrm>
            <a:off x="191483" y="45313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A74D84-D394-62CB-0690-F08C59E03068}"/>
              </a:ext>
            </a:extLst>
          </p:cNvPr>
          <p:cNvSpPr txBox="1"/>
          <p:nvPr/>
        </p:nvSpPr>
        <p:spPr>
          <a:xfrm>
            <a:off x="3830320" y="9101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6A285-A60D-64E1-386F-84AD4F1A991B}"/>
              </a:ext>
            </a:extLst>
          </p:cNvPr>
          <p:cNvSpPr txBox="1"/>
          <p:nvPr/>
        </p:nvSpPr>
        <p:spPr>
          <a:xfrm>
            <a:off x="383032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796F86-75C1-D618-1094-C591CC8B1B94}"/>
              </a:ext>
            </a:extLst>
          </p:cNvPr>
          <p:cNvSpPr txBox="1"/>
          <p:nvPr/>
        </p:nvSpPr>
        <p:spPr>
          <a:xfrm>
            <a:off x="7792720" y="7129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C30299-F2B9-0809-FF44-570D43580712}"/>
              </a:ext>
            </a:extLst>
          </p:cNvPr>
          <p:cNvSpPr txBox="1"/>
          <p:nvPr/>
        </p:nvSpPr>
        <p:spPr>
          <a:xfrm>
            <a:off x="7867972" y="30966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049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8794" y="5537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3791" y="291853"/>
            <a:ext cx="5200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Variabile</a:t>
            </a:r>
            <a:r>
              <a:rPr lang="en-US" sz="2400" dirty="0"/>
              <a:t> </a:t>
            </a:r>
            <a:r>
              <a:rPr lang="en-US" sz="2400" dirty="0" err="1"/>
              <a:t>mutabile</a:t>
            </a:r>
            <a:r>
              <a:rPr lang="en-US" sz="2400" dirty="0"/>
              <a:t>: </a:t>
            </a:r>
            <a:r>
              <a:rPr lang="en-US" sz="2400" dirty="0" err="1"/>
              <a:t>IORef</a:t>
            </a:r>
            <a:r>
              <a:rPr lang="en-US" sz="2400" dirty="0"/>
              <a:t>,  </a:t>
            </a:r>
            <a:r>
              <a:rPr lang="en-US" sz="2400" dirty="0" err="1"/>
              <a:t>MVar</a:t>
            </a:r>
            <a:r>
              <a:rPr lang="en-US" sz="2400" dirty="0"/>
              <a:t>, </a:t>
            </a:r>
            <a:r>
              <a:rPr lang="en-US" sz="2400" b="1" dirty="0" err="1"/>
              <a:t>TVar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399244" y="898516"/>
            <a:ext cx="3902299" cy="221599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Data.IORef</a:t>
            </a:r>
            <a:r>
              <a:rPr lang="en-US" sz="2000" dirty="0"/>
              <a:t> </a:t>
            </a:r>
          </a:p>
          <a:p>
            <a:r>
              <a:rPr lang="en-US" sz="2000" dirty="0"/>
              <a:t>-- </a:t>
            </a:r>
            <a:r>
              <a:rPr lang="en-US" sz="2000" dirty="0" err="1"/>
              <a:t>variabile</a:t>
            </a:r>
            <a:r>
              <a:rPr lang="en-US" sz="2000" dirty="0"/>
              <a:t> </a:t>
            </a:r>
            <a:r>
              <a:rPr lang="en-US" sz="2000" dirty="0" err="1"/>
              <a:t>mutabile</a:t>
            </a:r>
            <a:r>
              <a:rPr lang="en-US" sz="2000" dirty="0"/>
              <a:t> in </a:t>
            </a:r>
            <a:r>
              <a:rPr lang="en-US" sz="2000" dirty="0" err="1"/>
              <a:t>monada</a:t>
            </a:r>
            <a:r>
              <a:rPr lang="en-US" sz="2000" dirty="0"/>
              <a:t> IO</a:t>
            </a:r>
          </a:p>
          <a:p>
            <a:endParaRPr lang="it-IT" sz="2000" dirty="0">
              <a:solidFill>
                <a:srgbClr val="0070C0"/>
              </a:solidFill>
            </a:endParaRPr>
          </a:p>
          <a:p>
            <a:r>
              <a:rPr lang="it-IT" sz="2000" dirty="0">
                <a:solidFill>
                  <a:srgbClr val="0070C0"/>
                </a:solidFill>
              </a:rPr>
              <a:t>newIORef :: a -&gt; IO (IORef a)</a:t>
            </a:r>
          </a:p>
          <a:p>
            <a:r>
              <a:rPr lang="it-IT" sz="2000" dirty="0">
                <a:solidFill>
                  <a:srgbClr val="0070C0"/>
                </a:solidFill>
              </a:rPr>
              <a:t>readIORef :: IORef a -&gt; IO a </a:t>
            </a:r>
          </a:p>
          <a:p>
            <a:r>
              <a:rPr lang="it-IT" sz="2000" dirty="0">
                <a:solidFill>
                  <a:srgbClr val="0070C0"/>
                </a:solidFill>
              </a:rPr>
              <a:t>writeIORef :: IORef a -&gt; a -&gt; IO ()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9244" y="3284113"/>
            <a:ext cx="3580327" cy="28623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add :: </a:t>
            </a:r>
            <a:r>
              <a:rPr lang="en-US" dirty="0" err="1">
                <a:solidFill>
                  <a:srgbClr val="0070C0"/>
                </a:solidFill>
              </a:rPr>
              <a:t>IORef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-&gt; </a:t>
            </a: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-&gt;  IO()</a:t>
            </a:r>
          </a:p>
          <a:p>
            <a:r>
              <a:rPr lang="en-US" dirty="0">
                <a:solidFill>
                  <a:srgbClr val="0070C0"/>
                </a:solidFill>
              </a:rPr>
              <a:t>add </a:t>
            </a:r>
            <a:r>
              <a:rPr lang="en-US" dirty="0" err="1">
                <a:solidFill>
                  <a:srgbClr val="0070C0"/>
                </a:solidFill>
              </a:rPr>
              <a:t>rref</a:t>
            </a:r>
            <a:r>
              <a:rPr lang="en-US" dirty="0">
                <a:solidFill>
                  <a:srgbClr val="0070C0"/>
                </a:solidFill>
              </a:rPr>
              <a:t>  n = do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</a:t>
            </a:r>
            <a:r>
              <a:rPr lang="en-US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readIORef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rref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  </a:t>
            </a:r>
            <a:r>
              <a:rPr lang="en-US" dirty="0" err="1">
                <a:solidFill>
                  <a:srgbClr val="0070C0"/>
                </a:solidFill>
              </a:rPr>
              <a:t>writeIORef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rref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main = do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</a:t>
            </a:r>
            <a:r>
              <a:rPr lang="en-US" dirty="0" err="1">
                <a:solidFill>
                  <a:srgbClr val="0070C0"/>
                </a:solidFill>
              </a:rPr>
              <a:t>rref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newIORef</a:t>
            </a:r>
            <a:r>
              <a:rPr lang="en-US" dirty="0">
                <a:solidFill>
                  <a:srgbClr val="0070C0"/>
                </a:solidFill>
              </a:rPr>
              <a:t> 0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add </a:t>
            </a:r>
            <a:r>
              <a:rPr lang="en-US" dirty="0" err="1">
                <a:solidFill>
                  <a:srgbClr val="0070C0"/>
                </a:solidFill>
              </a:rPr>
              <a:t>rref</a:t>
            </a:r>
            <a:r>
              <a:rPr lang="en-US" dirty="0">
                <a:solidFill>
                  <a:srgbClr val="0070C0"/>
                </a:solidFill>
              </a:rPr>
              <a:t> 10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</a:t>
            </a:r>
            <a:r>
              <a:rPr lang="en-US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readIORef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rref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print </a:t>
            </a:r>
            <a:r>
              <a:rPr lang="en-US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5924282" y="981674"/>
            <a:ext cx="4357352" cy="224676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0070C0"/>
                </a:solidFill>
              </a:rPr>
              <a:t>import Control.Concurrent.STM.TVar </a:t>
            </a:r>
          </a:p>
          <a:p>
            <a:r>
              <a:rPr lang="it-IT" sz="2000" dirty="0"/>
              <a:t>-- variabile tranzactionale</a:t>
            </a:r>
          </a:p>
          <a:p>
            <a:r>
              <a:rPr lang="it-IT" sz="2000" dirty="0"/>
              <a:t>-- variabile mutabile in monada STM</a:t>
            </a:r>
          </a:p>
          <a:p>
            <a:endParaRPr lang="it-IT" sz="2000" dirty="0">
              <a:solidFill>
                <a:srgbClr val="0070C0"/>
              </a:solidFill>
            </a:endParaRPr>
          </a:p>
          <a:p>
            <a:r>
              <a:rPr lang="it-IT" sz="2000" dirty="0">
                <a:solidFill>
                  <a:srgbClr val="0070C0"/>
                </a:solidFill>
              </a:rPr>
              <a:t>newTVar :: a -&gt; STM (TVar a)</a:t>
            </a:r>
          </a:p>
          <a:p>
            <a:r>
              <a:rPr lang="it-IT" sz="2000" dirty="0">
                <a:solidFill>
                  <a:srgbClr val="0070C0"/>
                </a:solidFill>
              </a:rPr>
              <a:t>readTVar :: TVar a -&gt; STM a </a:t>
            </a:r>
          </a:p>
          <a:p>
            <a:r>
              <a:rPr lang="it-IT" sz="2000" dirty="0">
                <a:solidFill>
                  <a:srgbClr val="0070C0"/>
                </a:solidFill>
              </a:rPr>
              <a:t>writeTVar :: TVar a -&gt; a -&gt; STM () </a:t>
            </a:r>
          </a:p>
        </p:txBody>
      </p:sp>
      <p:sp>
        <p:nvSpPr>
          <p:cNvPr id="9" name="Rectangle 8"/>
          <p:cNvSpPr/>
          <p:nvPr/>
        </p:nvSpPr>
        <p:spPr>
          <a:xfrm>
            <a:off x="5924282" y="3586786"/>
            <a:ext cx="5765442" cy="255454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Control.Concurrent.MVar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/>
              <a:t>-- </a:t>
            </a:r>
            <a:r>
              <a:rPr lang="en-US" sz="2000" dirty="0" err="1"/>
              <a:t>variabile</a:t>
            </a:r>
            <a:r>
              <a:rPr lang="en-US" sz="2000" dirty="0"/>
              <a:t> de </a:t>
            </a:r>
            <a:r>
              <a:rPr lang="en-US" sz="2000" dirty="0" err="1"/>
              <a:t>sincronizare</a:t>
            </a:r>
            <a:r>
              <a:rPr lang="en-US" sz="2000" dirty="0"/>
              <a:t> </a:t>
            </a:r>
          </a:p>
          <a:p>
            <a:r>
              <a:rPr lang="en-US" sz="2000" dirty="0"/>
              <a:t>-- </a:t>
            </a:r>
            <a:r>
              <a:rPr lang="en-US" sz="2000" dirty="0" err="1"/>
              <a:t>variabile</a:t>
            </a:r>
            <a:r>
              <a:rPr lang="en-US" sz="2000" dirty="0"/>
              <a:t> </a:t>
            </a:r>
            <a:r>
              <a:rPr lang="en-US" sz="2000" dirty="0" err="1"/>
              <a:t>mutabile</a:t>
            </a:r>
            <a:r>
              <a:rPr lang="en-US" sz="2000" dirty="0"/>
              <a:t> in </a:t>
            </a:r>
            <a:r>
              <a:rPr lang="en-US" sz="2000" dirty="0" err="1"/>
              <a:t>monada</a:t>
            </a:r>
            <a:r>
              <a:rPr lang="en-US" sz="2000" dirty="0"/>
              <a:t> IO</a:t>
            </a:r>
          </a:p>
          <a:p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r>
              <a:rPr lang="en-US" sz="2000" dirty="0">
                <a:solidFill>
                  <a:srgbClr val="0070C0"/>
                </a:solidFill>
              </a:rPr>
              <a:t> :: IO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newMVar</a:t>
            </a:r>
            <a:r>
              <a:rPr lang="en-US" sz="2000" dirty="0">
                <a:solidFill>
                  <a:srgbClr val="0070C0"/>
                </a:solidFill>
              </a:rPr>
              <a:t> :: a -&gt; IO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 -&gt; IO a       </a:t>
            </a:r>
            <a:r>
              <a:rPr lang="en-US" sz="2000" dirty="0"/>
              <a:t>-- </a:t>
            </a:r>
            <a:r>
              <a:rPr lang="en-US" sz="2000" dirty="0" err="1"/>
              <a:t>blocheaza</a:t>
            </a:r>
            <a:r>
              <a:rPr lang="en-US" sz="2000" dirty="0"/>
              <a:t> thread-</a:t>
            </a:r>
            <a:r>
              <a:rPr lang="en-US" sz="2000" dirty="0" err="1"/>
              <a:t>ul</a:t>
            </a:r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 -&gt; a -&gt; IO () </a:t>
            </a:r>
            <a:r>
              <a:rPr lang="en-US" sz="2000" dirty="0"/>
              <a:t>-- </a:t>
            </a:r>
            <a:r>
              <a:rPr lang="en-US" sz="2000" dirty="0" err="1"/>
              <a:t>blocheaza</a:t>
            </a:r>
            <a:r>
              <a:rPr lang="en-US" sz="2000" dirty="0"/>
              <a:t> thread-</a:t>
            </a:r>
            <a:r>
              <a:rPr lang="en-US" sz="2000" dirty="0" err="1"/>
              <a:t>ul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9066727" y="4494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967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2071" y="117112"/>
            <a:ext cx="6636913" cy="624786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Control.Monad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Control.Concurrent.STM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type Account = </a:t>
            </a:r>
            <a:r>
              <a:rPr lang="en-US" sz="2000" dirty="0" err="1">
                <a:solidFill>
                  <a:srgbClr val="0070C0"/>
                </a:solidFill>
              </a:rPr>
              <a:t>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deposit ::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STM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deposit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amount  = do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x &lt;- </a:t>
            </a:r>
            <a:r>
              <a:rPr lang="en-US" sz="2000" dirty="0" err="1">
                <a:solidFill>
                  <a:srgbClr val="0070C0"/>
                </a:solidFill>
              </a:rPr>
              <a:t>readTVar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dirty="0" err="1">
                <a:solidFill>
                  <a:srgbClr val="0070C0"/>
                </a:solidFill>
              </a:rPr>
              <a:t>writeTVar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(x + amount)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withdraw  ::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STM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withdraw 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amount  = do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x &lt;- </a:t>
            </a:r>
            <a:r>
              <a:rPr lang="en-US" sz="2000" dirty="0" err="1">
                <a:solidFill>
                  <a:srgbClr val="0070C0"/>
                </a:solidFill>
              </a:rPr>
              <a:t>readTVar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dirty="0" err="1">
                <a:solidFill>
                  <a:srgbClr val="0070C0"/>
                </a:solidFill>
              </a:rPr>
              <a:t>writeTVar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(x - amount)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showBalance</a:t>
            </a:r>
            <a:r>
              <a:rPr lang="en-US" sz="2000" dirty="0">
                <a:solidFill>
                  <a:srgbClr val="0070C0"/>
                </a:solidFill>
              </a:rPr>
              <a:t> :: Account -&gt; String -&gt; IO()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showBalance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str</a:t>
            </a:r>
            <a:r>
              <a:rPr lang="en-US" sz="2000" dirty="0">
                <a:solidFill>
                  <a:srgbClr val="0070C0"/>
                </a:solidFill>
              </a:rPr>
              <a:t> = 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x &lt;- atomically $ </a:t>
            </a:r>
            <a:r>
              <a:rPr lang="en-US" sz="2000" dirty="0" err="1">
                <a:solidFill>
                  <a:srgbClr val="0070C0"/>
                </a:solidFill>
              </a:rPr>
              <a:t>readTVar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("</a:t>
            </a:r>
            <a:r>
              <a:rPr lang="en-US" sz="2000" dirty="0" err="1">
                <a:solidFill>
                  <a:srgbClr val="0070C0"/>
                </a:solidFill>
              </a:rPr>
              <a:t>Contul</a:t>
            </a:r>
            <a:r>
              <a:rPr lang="en-US" sz="2000" dirty="0">
                <a:solidFill>
                  <a:srgbClr val="0070C0"/>
                </a:solidFill>
              </a:rPr>
              <a:t> " ++ </a:t>
            </a:r>
            <a:r>
              <a:rPr lang="en-US" sz="2000" dirty="0" err="1">
                <a:solidFill>
                  <a:srgbClr val="0070C0"/>
                </a:solidFill>
              </a:rPr>
              <a:t>str</a:t>
            </a:r>
            <a:r>
              <a:rPr lang="en-US" sz="2000" dirty="0">
                <a:solidFill>
                  <a:srgbClr val="0070C0"/>
                </a:solidFill>
              </a:rPr>
              <a:t> ++ ": " ++ (show x))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439" y="369332"/>
            <a:ext cx="5732513" cy="498598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transfer :: Account -&gt;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IO()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transfer from to amount = atomically  $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withdraw from amount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deposit to amount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main =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(</a:t>
            </a:r>
            <a:r>
              <a:rPr lang="en-US" sz="2000" dirty="0" err="1">
                <a:solidFill>
                  <a:srgbClr val="0070C0"/>
                </a:solidFill>
              </a:rPr>
              <a:t>a,b</a:t>
            </a:r>
            <a:r>
              <a:rPr lang="en-US" sz="2000" dirty="0">
                <a:solidFill>
                  <a:srgbClr val="0070C0"/>
                </a:solidFill>
              </a:rPr>
              <a:t>) &lt;- atomically $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a &lt;- </a:t>
            </a:r>
            <a:r>
              <a:rPr lang="en-US" sz="2000" dirty="0" err="1">
                <a:solidFill>
                  <a:srgbClr val="0070C0"/>
                </a:solidFill>
              </a:rPr>
              <a:t>newTVar</a:t>
            </a:r>
            <a:r>
              <a:rPr lang="en-US" sz="2000" dirty="0">
                <a:solidFill>
                  <a:srgbClr val="0070C0"/>
                </a:solidFill>
              </a:rPr>
              <a:t> 1000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b &lt;- </a:t>
            </a:r>
            <a:r>
              <a:rPr lang="en-US" sz="2000" dirty="0" err="1">
                <a:solidFill>
                  <a:srgbClr val="0070C0"/>
                </a:solidFill>
              </a:rPr>
              <a:t>newTVar</a:t>
            </a:r>
            <a:r>
              <a:rPr lang="en-US" sz="2000" dirty="0">
                <a:solidFill>
                  <a:srgbClr val="0070C0"/>
                </a:solidFill>
              </a:rPr>
              <a:t> 1000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return (</a:t>
            </a:r>
            <a:r>
              <a:rPr lang="en-US" sz="2000" dirty="0" err="1">
                <a:solidFill>
                  <a:srgbClr val="0070C0"/>
                </a:solidFill>
              </a:rPr>
              <a:t>a,b</a:t>
            </a:r>
            <a:r>
              <a:rPr lang="en-US" sz="2000" dirty="0">
                <a:solidFill>
                  <a:srgbClr val="0070C0"/>
                </a:solidFill>
              </a:rPr>
              <a:t>)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(transfer a b 300)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(transfer b a 500)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</a:t>
            </a:r>
            <a:r>
              <a:rPr lang="en-US" sz="2000" dirty="0" err="1">
                <a:solidFill>
                  <a:srgbClr val="0070C0"/>
                </a:solidFill>
              </a:rPr>
              <a:t>showBalance</a:t>
            </a:r>
            <a:r>
              <a:rPr lang="en-US" sz="2000" dirty="0">
                <a:solidFill>
                  <a:srgbClr val="0070C0"/>
                </a:solidFill>
              </a:rPr>
              <a:t> a  "a"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</a:t>
            </a:r>
            <a:r>
              <a:rPr lang="en-US" sz="2000" dirty="0" err="1">
                <a:solidFill>
                  <a:srgbClr val="0070C0"/>
                </a:solidFill>
              </a:rPr>
              <a:t>showBalance</a:t>
            </a:r>
            <a:r>
              <a:rPr lang="en-US" sz="2000" dirty="0">
                <a:solidFill>
                  <a:srgbClr val="0070C0"/>
                </a:solidFill>
              </a:rPr>
              <a:t> b  "b"       </a:t>
            </a:r>
          </a:p>
          <a:p>
            <a:r>
              <a:rPr lang="en-US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3848" y="0"/>
            <a:ext cx="1543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mybankstm.hs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848" y="4729721"/>
            <a:ext cx="2943557" cy="1554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15135" y="1171978"/>
            <a:ext cx="2178097" cy="40011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compozitionalitate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44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7924" y="31902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53217" y="697238"/>
            <a:ext cx="11479437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"Suppose that a thread should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it attempts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overdraw an account 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(i.e. withdraw more than the current balance). 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Situations like this are common in concurrent programs: for example, a thread should block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it reads from an empty buffer, or when it waits for an event. We achieve this in STM by adding the single function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retry,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whose type 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The semantics of </a:t>
            </a:r>
            <a:r>
              <a:rPr lang="en-US" altLang="en-US" sz="2000" dirty="0">
                <a:solidFill>
                  <a:srgbClr val="0070C0"/>
                </a:solidFill>
              </a:rPr>
              <a:t>retry</a:t>
            </a:r>
            <a:r>
              <a:rPr lang="en-US" altLang="en-US" sz="2000" dirty="0"/>
              <a:t> are simple: if a retry action is performed,  the current transaction is abandoned and retried at some later time."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217" y="49677"/>
            <a:ext cx="2699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Blocare</a:t>
            </a:r>
            <a:r>
              <a:rPr lang="en-US" sz="2400" dirty="0"/>
              <a:t> (blocking)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5964" y="4745432"/>
            <a:ext cx="3064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3723" y="3955702"/>
            <a:ext cx="5117863" cy="193899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limitedWithdraw</a:t>
            </a:r>
            <a:r>
              <a:rPr lang="en-US" sz="2000" dirty="0">
                <a:solidFill>
                  <a:srgbClr val="0070C0"/>
                </a:solidFill>
              </a:rPr>
              <a:t> ::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STM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limitedWithdraw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amount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</a:t>
            </a:r>
            <a:r>
              <a:rPr lang="en-US" sz="2000" dirty="0" err="1">
                <a:solidFill>
                  <a:srgbClr val="0070C0"/>
                </a:solidFill>
              </a:rPr>
              <a:t>bal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readTVar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if amount &gt; 0 &amp;&amp; amount &gt; </a:t>
            </a:r>
            <a:r>
              <a:rPr lang="en-US" sz="2000" dirty="0" err="1">
                <a:solidFill>
                  <a:srgbClr val="0070C0"/>
                </a:solidFill>
              </a:rPr>
              <a:t>bal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then retry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else </a:t>
            </a:r>
            <a:r>
              <a:rPr lang="en-US" sz="2000" dirty="0" err="1">
                <a:solidFill>
                  <a:srgbClr val="0070C0"/>
                </a:solidFill>
              </a:rPr>
              <a:t>writeTVar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acc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bal</a:t>
            </a:r>
            <a:r>
              <a:rPr lang="en-US" sz="2000" dirty="0">
                <a:solidFill>
                  <a:srgbClr val="0070C0"/>
                </a:solidFill>
              </a:rPr>
              <a:t> - amount)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861" y="3690831"/>
            <a:ext cx="2273379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check :: </a:t>
            </a:r>
            <a:r>
              <a:rPr lang="en-US" dirty="0" err="1">
                <a:solidFill>
                  <a:srgbClr val="0070C0"/>
                </a:solidFill>
              </a:rPr>
              <a:t>Bool</a:t>
            </a:r>
            <a:r>
              <a:rPr lang="en-US" dirty="0">
                <a:solidFill>
                  <a:srgbClr val="0070C0"/>
                </a:solidFill>
              </a:rPr>
              <a:t> -&gt; STM ()</a:t>
            </a:r>
          </a:p>
          <a:p>
            <a:r>
              <a:rPr lang="en-US" dirty="0">
                <a:solidFill>
                  <a:srgbClr val="0070C0"/>
                </a:solidFill>
              </a:rPr>
              <a:t>check True  = return ()</a:t>
            </a:r>
          </a:p>
          <a:p>
            <a:r>
              <a:rPr lang="en-US" dirty="0">
                <a:solidFill>
                  <a:srgbClr val="0070C0"/>
                </a:solidFill>
              </a:rPr>
              <a:t>check False = retry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59392" y="4745432"/>
            <a:ext cx="4640687" cy="147732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limitedWithdraw</a:t>
            </a:r>
            <a:r>
              <a:rPr lang="en-US" dirty="0">
                <a:solidFill>
                  <a:srgbClr val="0070C0"/>
                </a:solidFill>
              </a:rPr>
              <a:t> :: Account -&gt; </a:t>
            </a: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-&gt; STM ()</a:t>
            </a:r>
          </a:p>
          <a:p>
            <a:r>
              <a:rPr lang="en-US" dirty="0" err="1">
                <a:solidFill>
                  <a:srgbClr val="0070C0"/>
                </a:solidFill>
              </a:rPr>
              <a:t>limitedWithdraw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acc</a:t>
            </a:r>
            <a:r>
              <a:rPr lang="en-US" dirty="0">
                <a:solidFill>
                  <a:srgbClr val="0070C0"/>
                </a:solidFill>
              </a:rPr>
              <a:t> amount = do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bal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readTVar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acc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check (amount &lt;= 0 || amount &lt;= </a:t>
            </a:r>
            <a:r>
              <a:rPr lang="en-US" dirty="0" err="1">
                <a:solidFill>
                  <a:srgbClr val="0070C0"/>
                </a:solidFill>
              </a:rPr>
              <a:t>bal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  <a:r>
              <a:rPr lang="en-US" dirty="0" err="1">
                <a:solidFill>
                  <a:srgbClr val="0070C0"/>
                </a:solidFill>
              </a:rPr>
              <a:t>writeTVar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acc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bal</a:t>
            </a:r>
            <a:r>
              <a:rPr lang="en-US" dirty="0">
                <a:solidFill>
                  <a:srgbClr val="0070C0"/>
                </a:solidFill>
              </a:rPr>
              <a:t> - amount)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4738" y="4925198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sau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28789" y="5983986"/>
            <a:ext cx="3741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hlinkClick r:id="rId3"/>
              </a:rPr>
              <a:t>Simon Peyton Jones, Beautiful Concurrency</a:t>
            </a:r>
            <a:endParaRPr lang="en-US" sz="16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3559629" y="2191141"/>
            <a:ext cx="1861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retry :: STM a</a:t>
            </a:r>
            <a:endParaRPr lang="ro-RO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18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7924" y="31902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84217" y="539227"/>
            <a:ext cx="11479437" cy="3170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lang="en-US" altLang="en-US" sz="2000" dirty="0"/>
              <a:t>Suppose you want to withdraw money from account A if it has enough money, but if not then withdraw 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from account B? For that, we need the ability to choose an alternative  action if the first one retries.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To support choice, STM Haskell has one further primitive action, called </a:t>
            </a:r>
            <a:r>
              <a:rPr lang="en-US" altLang="en-US" sz="2000" dirty="0" err="1"/>
              <a:t>orElse</a:t>
            </a:r>
            <a:r>
              <a:rPr lang="en-US" altLang="en-US" sz="2000" dirty="0"/>
              <a:t>, whose type is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Its semantics are as follows:     </a:t>
            </a:r>
            <a:r>
              <a:rPr lang="en-US" altLang="en-US" sz="2000" b="1" dirty="0"/>
              <a:t>the action  </a:t>
            </a:r>
            <a:r>
              <a:rPr lang="en-US" altLang="en-US" sz="2000" b="1" dirty="0">
                <a:solidFill>
                  <a:srgbClr val="0070C0"/>
                </a:solidFill>
              </a:rPr>
              <a:t>(</a:t>
            </a:r>
            <a:r>
              <a:rPr lang="en-US" altLang="en-US" sz="2000" b="1" dirty="0" err="1">
                <a:solidFill>
                  <a:srgbClr val="0070C0"/>
                </a:solidFill>
              </a:rPr>
              <a:t>orElse</a:t>
            </a:r>
            <a:r>
              <a:rPr lang="en-US" altLang="en-US" sz="2000" b="1" dirty="0">
                <a:solidFill>
                  <a:srgbClr val="0070C0"/>
                </a:solidFill>
              </a:rPr>
              <a:t> a1 a2) </a:t>
            </a:r>
            <a:r>
              <a:rPr lang="en-US" altLang="en-US" sz="2000" b="1" dirty="0"/>
              <a:t>first performs </a:t>
            </a:r>
            <a:r>
              <a:rPr lang="en-US" altLang="en-US" sz="2000" b="1" dirty="0">
                <a:solidFill>
                  <a:srgbClr val="0070C0"/>
                </a:solidFill>
              </a:rPr>
              <a:t>a1</a:t>
            </a:r>
            <a:r>
              <a:rPr lang="en-US" altLang="en-US" sz="2000" b="1" dirty="0"/>
              <a:t>;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                                                        if </a:t>
            </a:r>
            <a:r>
              <a:rPr lang="en-US" altLang="en-US" sz="2000" b="1" dirty="0">
                <a:solidFill>
                  <a:srgbClr val="0070C0"/>
                </a:solidFill>
              </a:rPr>
              <a:t>a1</a:t>
            </a:r>
            <a:r>
              <a:rPr lang="en-US" altLang="en-US" sz="2000" b="1" dirty="0"/>
              <a:t> retries (i.e. calls retry), it tries </a:t>
            </a:r>
            <a:r>
              <a:rPr lang="en-US" altLang="en-US" sz="2000" b="1" dirty="0">
                <a:solidFill>
                  <a:srgbClr val="0070C0"/>
                </a:solidFill>
              </a:rPr>
              <a:t>a2</a:t>
            </a:r>
            <a:r>
              <a:rPr lang="en-US" altLang="en-US" sz="2000" b="1" dirty="0"/>
              <a:t> instead;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                                                        if </a:t>
            </a:r>
            <a:r>
              <a:rPr lang="en-US" altLang="en-US" sz="2000" b="1" dirty="0">
                <a:solidFill>
                  <a:srgbClr val="0070C0"/>
                </a:solidFill>
              </a:rPr>
              <a:t>a2</a:t>
            </a:r>
            <a:r>
              <a:rPr lang="en-US" altLang="en-US" sz="2000" b="1" dirty="0"/>
              <a:t> also retries, the whole action retries</a:t>
            </a:r>
            <a:r>
              <a:rPr lang="en-US" altLang="en-US" sz="2000" dirty="0"/>
              <a:t>. 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217" y="49677"/>
            <a:ext cx="2707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Alegerea</a:t>
            </a:r>
            <a:r>
              <a:rPr lang="en-US" sz="2400" dirty="0"/>
              <a:t>  </a:t>
            </a:r>
            <a:r>
              <a:rPr lang="en-US" sz="2400"/>
              <a:t>(choice)</a:t>
            </a:r>
            <a:endParaRPr lang="en-US" sz="2400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5964" y="4745432"/>
            <a:ext cx="3064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2583" y="4229660"/>
            <a:ext cx="4408934" cy="175432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limitedWithdraw</a:t>
            </a:r>
            <a:r>
              <a:rPr lang="en-US" dirty="0">
                <a:solidFill>
                  <a:srgbClr val="0070C0"/>
                </a:solidFill>
              </a:rPr>
              <a:t> :: Account -&gt; </a:t>
            </a: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-&gt; STM ()</a:t>
            </a:r>
          </a:p>
          <a:p>
            <a:r>
              <a:rPr lang="en-US" dirty="0" err="1">
                <a:solidFill>
                  <a:srgbClr val="0070C0"/>
                </a:solidFill>
              </a:rPr>
              <a:t>limitedWithdraw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acc</a:t>
            </a:r>
            <a:r>
              <a:rPr lang="en-US" dirty="0">
                <a:solidFill>
                  <a:srgbClr val="0070C0"/>
                </a:solidFill>
              </a:rPr>
              <a:t> amount = do</a:t>
            </a:r>
          </a:p>
          <a:p>
            <a:r>
              <a:rPr lang="en-US" dirty="0">
                <a:solidFill>
                  <a:srgbClr val="0070C0"/>
                </a:solidFill>
              </a:rPr>
              <a:t>    </a:t>
            </a:r>
            <a:r>
              <a:rPr lang="en-US" dirty="0" err="1">
                <a:solidFill>
                  <a:srgbClr val="0070C0"/>
                </a:solidFill>
              </a:rPr>
              <a:t>bal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readTVar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acc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if amount &gt; 0 &amp;&amp; amount &gt; </a:t>
            </a:r>
            <a:r>
              <a:rPr lang="en-US" dirty="0" err="1">
                <a:solidFill>
                  <a:srgbClr val="0070C0"/>
                </a:solidFill>
              </a:rPr>
              <a:t>bal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then retry</a:t>
            </a:r>
          </a:p>
          <a:p>
            <a:r>
              <a:rPr lang="en-US" dirty="0">
                <a:solidFill>
                  <a:srgbClr val="0070C0"/>
                </a:solidFill>
              </a:rPr>
              <a:t>    else </a:t>
            </a:r>
            <a:r>
              <a:rPr lang="en-US" dirty="0" err="1">
                <a:solidFill>
                  <a:srgbClr val="0070C0"/>
                </a:solidFill>
              </a:rPr>
              <a:t>writeTVar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acc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bal</a:t>
            </a:r>
            <a:r>
              <a:rPr lang="en-US" dirty="0">
                <a:solidFill>
                  <a:srgbClr val="0070C0"/>
                </a:solidFill>
              </a:rPr>
              <a:t> - amount)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789" y="5983986"/>
            <a:ext cx="3741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hlinkClick r:id="rId3"/>
              </a:rPr>
              <a:t>Simon Peyton Jones, Beautiful Concurrency</a:t>
            </a:r>
            <a:endParaRPr lang="en-US" sz="1600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924" y="1797435"/>
            <a:ext cx="5311016" cy="6536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4863079" y="4459704"/>
            <a:ext cx="7099145" cy="101566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limitedWithdraw2 :: Account -&gt; Account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STM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limitedWithdraw2 acc1 acc2 </a:t>
            </a:r>
            <a:r>
              <a:rPr lang="en-US" sz="2000" dirty="0" err="1">
                <a:solidFill>
                  <a:srgbClr val="0070C0"/>
                </a:solidFill>
              </a:rPr>
              <a:t>amt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= </a:t>
            </a:r>
            <a:r>
              <a:rPr lang="en-US" sz="2000" dirty="0" err="1">
                <a:solidFill>
                  <a:srgbClr val="0070C0"/>
                </a:solidFill>
              </a:rPr>
              <a:t>orElse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limitedWithdraw</a:t>
            </a:r>
            <a:r>
              <a:rPr lang="en-US" sz="2000" dirty="0">
                <a:solidFill>
                  <a:srgbClr val="0070C0"/>
                </a:solidFill>
              </a:rPr>
              <a:t> acc1 </a:t>
            </a:r>
            <a:r>
              <a:rPr lang="en-US" sz="2000" dirty="0" err="1">
                <a:solidFill>
                  <a:srgbClr val="0070C0"/>
                </a:solidFill>
              </a:rPr>
              <a:t>amt</a:t>
            </a:r>
            <a:r>
              <a:rPr lang="en-US" sz="2000" dirty="0">
                <a:solidFill>
                  <a:srgbClr val="0070C0"/>
                </a:solidFill>
              </a:rPr>
              <a:t>) (</a:t>
            </a:r>
            <a:r>
              <a:rPr lang="en-US" sz="2000" dirty="0" err="1">
                <a:solidFill>
                  <a:srgbClr val="0070C0"/>
                </a:solidFill>
              </a:rPr>
              <a:t>limitedWithdraw</a:t>
            </a:r>
            <a:r>
              <a:rPr lang="en-US" sz="2000" dirty="0">
                <a:solidFill>
                  <a:srgbClr val="0070C0"/>
                </a:solidFill>
              </a:rPr>
              <a:t> acc2 </a:t>
            </a:r>
            <a:r>
              <a:rPr lang="en-US" sz="2000" dirty="0" err="1">
                <a:solidFill>
                  <a:srgbClr val="0070C0"/>
                </a:solidFill>
              </a:rPr>
              <a:t>amt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3432" y="5783931"/>
            <a:ext cx="639354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/>
              <a:t>Exercitiu</a:t>
            </a:r>
            <a:r>
              <a:rPr lang="en-US" sz="2000" dirty="0"/>
              <a:t>: </a:t>
            </a:r>
            <a:r>
              <a:rPr lang="en-US" sz="2000" dirty="0" err="1"/>
              <a:t>Modificati</a:t>
            </a:r>
            <a:r>
              <a:rPr lang="en-US" sz="2000" dirty="0"/>
              <a:t> </a:t>
            </a:r>
            <a:r>
              <a:rPr lang="en-US" sz="2000" dirty="0" err="1"/>
              <a:t>mybankstm.hs</a:t>
            </a:r>
            <a:r>
              <a:rPr lang="en-US" sz="2000" dirty="0"/>
              <a:t> </a:t>
            </a:r>
            <a:r>
              <a:rPr lang="en-US" sz="2000" dirty="0" err="1"/>
              <a:t>adaugand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retry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0C0"/>
                </a:solidFill>
              </a:rPr>
              <a:t>orElse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0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3295" y="5030368"/>
            <a:ext cx="8742458" cy="12003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linkClick r:id="" action="ppaction://noaction"/>
            </a:endParaRPr>
          </a:p>
          <a:p>
            <a:r>
              <a:rPr lang="en-US" dirty="0">
                <a:hlinkClick r:id="" action="ppaction://noaction"/>
              </a:rPr>
              <a:t>http</a:t>
            </a:r>
            <a:r>
              <a:rPr lang="en-US" dirty="0">
                <a:hlinkClick r:id="rId2"/>
              </a:rPr>
              <a:t>://rosettacode.org/wiki/Dining_philosophers</a:t>
            </a:r>
            <a:endParaRPr lang="en-US" dirty="0"/>
          </a:p>
          <a:p>
            <a:r>
              <a:rPr lang="en-US" dirty="0">
                <a:hlinkClick r:id="rId3"/>
              </a:rPr>
              <a:t>http://www.tobiasmuehlbauer.com/2011/07/24/stm-haskell-dining-philosophers-problem/</a:t>
            </a:r>
            <a:endParaRPr lang="en-US" dirty="0"/>
          </a:p>
          <a:p>
            <a:r>
              <a:rPr lang="en-US" dirty="0">
                <a:hlinkClick r:id="rId4"/>
              </a:rPr>
              <a:t>http://www-ps.informatik.uni-kiel.de/~fhu/projects/stm.pdf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319713" y="306345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Times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8391" y="252658"/>
            <a:ext cx="4065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The Dining Philosophers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012" y="481008"/>
            <a:ext cx="54387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0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1019" y="104852"/>
            <a:ext cx="9071019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"In ancient times, a wealthy philanthropist endowed a College to accommodate</a:t>
            </a:r>
          </a:p>
          <a:p>
            <a:r>
              <a:rPr lang="en-US" dirty="0"/>
              <a:t>five eminent philosophers. Each philosopher had a room in which he could engage in his professional activity of thinking; there was also a common dining</a:t>
            </a:r>
          </a:p>
          <a:p>
            <a:r>
              <a:rPr lang="en-US" dirty="0"/>
              <a:t>room, furnished with a circular table, surrounded by five chairs, each labelled</a:t>
            </a:r>
          </a:p>
          <a:p>
            <a:r>
              <a:rPr lang="en-US" dirty="0"/>
              <a:t>by the name of the philosopher who was to sit in it. The names of the philosophers were   PHIL0, PHIL1, PHIL2, PHIL3, PHIL4, and they were disposed in this</a:t>
            </a:r>
          </a:p>
          <a:p>
            <a:r>
              <a:rPr lang="en-US" dirty="0"/>
              <a:t>order anticlockwise around the table. To the left of each philosopher there was</a:t>
            </a:r>
          </a:p>
          <a:p>
            <a:r>
              <a:rPr lang="en-US" dirty="0"/>
              <a:t>laid a golden fork, and in the center stood a large bowl of spaghetti, which was</a:t>
            </a:r>
          </a:p>
          <a:p>
            <a:r>
              <a:rPr lang="en-US" dirty="0"/>
              <a:t>constantly replenished.</a:t>
            </a:r>
          </a:p>
          <a:p>
            <a:endParaRPr lang="en-US" dirty="0"/>
          </a:p>
          <a:p>
            <a:r>
              <a:rPr lang="en-US" dirty="0"/>
              <a:t>A philosopher was expected to spend most of his time thinking; but when</a:t>
            </a:r>
          </a:p>
          <a:p>
            <a:r>
              <a:rPr lang="en-US" dirty="0"/>
              <a:t>he felt hungry, he went to the dining room, sat down in his own chair, picked</a:t>
            </a:r>
          </a:p>
          <a:p>
            <a:r>
              <a:rPr lang="en-US" dirty="0"/>
              <a:t>up his own fork on his left, and plunged it into the spaghetti. But such is the</a:t>
            </a:r>
          </a:p>
          <a:p>
            <a:r>
              <a:rPr lang="en-US" dirty="0"/>
              <a:t>tangled nature of spaghetti that a second fork is required to carry it to the</a:t>
            </a:r>
          </a:p>
          <a:p>
            <a:r>
              <a:rPr lang="en-US" dirty="0"/>
              <a:t>mouth. The philosopher therefore had also to pick up the fork on his right.</a:t>
            </a:r>
          </a:p>
          <a:p>
            <a:r>
              <a:rPr lang="en-US" dirty="0"/>
              <a:t>When we was finished he would put down both his forks, get up from his chair,</a:t>
            </a:r>
          </a:p>
          <a:p>
            <a:r>
              <a:rPr lang="en-US" dirty="0"/>
              <a:t>and continue thinking. Of course, a fork can be used by only one philosopher</a:t>
            </a:r>
          </a:p>
          <a:p>
            <a:r>
              <a:rPr lang="en-US" dirty="0"/>
              <a:t>at a time. If the other philosopher wants it, he just has to wait until the fork</a:t>
            </a:r>
          </a:p>
          <a:p>
            <a:r>
              <a:rPr lang="en-US" dirty="0"/>
              <a:t>is available again."</a:t>
            </a:r>
          </a:p>
          <a:p>
            <a:endParaRPr lang="en-US" dirty="0"/>
          </a:p>
          <a:p>
            <a:r>
              <a:rPr lang="en-US" i="1" dirty="0"/>
              <a:t>C.A.R. Hoare, Communicating Sequential Processes, 2004</a:t>
            </a:r>
            <a:r>
              <a:rPr lang="en-US" dirty="0"/>
              <a:t>  </a:t>
            </a:r>
          </a:p>
          <a:p>
            <a:r>
              <a:rPr lang="en-US" i="1" dirty="0"/>
              <a:t>(formulate initial de E. </a:t>
            </a:r>
            <a:r>
              <a:rPr lang="en-US" i="1" dirty="0" err="1"/>
              <a:t>Dijkstra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4660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6666" y="1492182"/>
            <a:ext cx="3972099" cy="4524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asteapta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manance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 err="1"/>
              <a:t>ia</a:t>
            </a:r>
            <a:r>
              <a:rPr lang="en-US" sz="2400" dirty="0"/>
              <a:t> </a:t>
            </a:r>
            <a:r>
              <a:rPr lang="en-US" sz="2400" dirty="0" err="1"/>
              <a:t>furculita</a:t>
            </a:r>
            <a:r>
              <a:rPr lang="en-US" sz="2400" dirty="0"/>
              <a:t> </a:t>
            </a:r>
            <a:r>
              <a:rPr lang="en-US" sz="2400" dirty="0" err="1"/>
              <a:t>stanga</a:t>
            </a:r>
            <a:endParaRPr lang="en-US" sz="2400" dirty="0"/>
          </a:p>
          <a:p>
            <a:r>
              <a:rPr lang="en-US" sz="2400" dirty="0" err="1"/>
              <a:t>Ia</a:t>
            </a:r>
            <a:r>
              <a:rPr lang="en-US" sz="2400" dirty="0"/>
              <a:t> </a:t>
            </a:r>
            <a:r>
              <a:rPr lang="en-US" sz="2400" dirty="0" err="1"/>
              <a:t>furculita</a:t>
            </a:r>
            <a:r>
              <a:rPr lang="en-US" sz="2400" dirty="0"/>
              <a:t> </a:t>
            </a:r>
            <a:r>
              <a:rPr lang="en-US" sz="2400" dirty="0" err="1"/>
              <a:t>dreapta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mananca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elibereaza</a:t>
            </a:r>
            <a:r>
              <a:rPr lang="en-US" sz="2400" dirty="0"/>
              <a:t> </a:t>
            </a:r>
            <a:r>
              <a:rPr lang="en-US" sz="2400" dirty="0" err="1"/>
              <a:t>furculita</a:t>
            </a:r>
            <a:r>
              <a:rPr lang="en-US" sz="2400" dirty="0"/>
              <a:t> </a:t>
            </a:r>
            <a:r>
              <a:rPr lang="en-US" sz="2400" dirty="0" err="1"/>
              <a:t>stanga</a:t>
            </a:r>
            <a:endParaRPr lang="en-US" sz="2400" dirty="0"/>
          </a:p>
          <a:p>
            <a:r>
              <a:rPr lang="en-US" sz="2400" dirty="0" err="1"/>
              <a:t>elibereaza</a:t>
            </a:r>
            <a:r>
              <a:rPr lang="en-US" sz="2400" dirty="0"/>
              <a:t> </a:t>
            </a:r>
            <a:r>
              <a:rPr lang="en-US" sz="2400" dirty="0" err="1"/>
              <a:t>furculita</a:t>
            </a:r>
            <a:r>
              <a:rPr lang="en-US" sz="2400" dirty="0"/>
              <a:t> </a:t>
            </a:r>
            <a:r>
              <a:rPr lang="en-US" sz="2400" dirty="0" err="1"/>
              <a:t>dreapta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mediteaza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31720" y="768907"/>
            <a:ext cx="26757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filozof</a:t>
            </a:r>
            <a:r>
              <a:rPr lang="en-US" sz="2000" dirty="0"/>
              <a:t> </a:t>
            </a:r>
            <a:r>
              <a:rPr lang="en-US" sz="2000" dirty="0" err="1"/>
              <a:t>executa</a:t>
            </a:r>
            <a:r>
              <a:rPr lang="en-US" sz="2000" dirty="0"/>
              <a:t> </a:t>
            </a:r>
          </a:p>
          <a:p>
            <a:r>
              <a:rPr lang="en-US" sz="2000" dirty="0"/>
              <a:t>la </a:t>
            </a:r>
            <a:r>
              <a:rPr lang="en-US" sz="2000" dirty="0" err="1"/>
              <a:t>infinit</a:t>
            </a:r>
            <a:r>
              <a:rPr lang="en-US" sz="2000" dirty="0"/>
              <a:t> </a:t>
            </a:r>
            <a:r>
              <a:rPr lang="en-US" sz="2000" dirty="0" err="1"/>
              <a:t>urmatorul</a:t>
            </a:r>
            <a:r>
              <a:rPr lang="en-US" sz="2000" dirty="0"/>
              <a:t> </a:t>
            </a:r>
            <a:r>
              <a:rPr lang="en-US" sz="2000" dirty="0" err="1"/>
              <a:t>ciclu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7345970" y="2758934"/>
            <a:ext cx="1081825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310648" y="2524259"/>
            <a:ext cx="12879" cy="1429555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0238" y="2501356"/>
            <a:ext cx="97544" cy="1475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59824" y="4108360"/>
            <a:ext cx="785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Phil </a:t>
            </a:r>
            <a:r>
              <a:rPr lang="en-US" sz="2400" dirty="0" err="1"/>
              <a:t>i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832847" y="4159876"/>
            <a:ext cx="1241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i</a:t>
            </a:r>
            <a:r>
              <a:rPr lang="en-US" sz="2400" dirty="0"/>
              <a:t>(mod 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9504" y="4159876"/>
            <a:ext cx="1619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i+1 (mod 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526" y="1122850"/>
            <a:ext cx="298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 = </a:t>
            </a:r>
            <a:r>
              <a:rPr lang="en-US" sz="2400" dirty="0" err="1"/>
              <a:t>numarul</a:t>
            </a:r>
            <a:r>
              <a:rPr lang="en-US" sz="2400" dirty="0"/>
              <a:t> de </a:t>
            </a:r>
            <a:r>
              <a:rPr lang="en-US" sz="2400" dirty="0" err="1"/>
              <a:t>filozofi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564917" y="207215"/>
            <a:ext cx="233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Dining Philosophers</a:t>
            </a:r>
          </a:p>
        </p:txBody>
      </p:sp>
    </p:spTree>
    <p:extLst>
      <p:ext uri="{BB962C8B-B14F-4D97-AF65-F5344CB8AC3E}">
        <p14:creationId xmlns:p14="http://schemas.microsoft.com/office/powerpoint/2010/main" val="2394143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23493" y="334851"/>
            <a:ext cx="1681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Probleme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40158" y="1352282"/>
            <a:ext cx="10009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Excludere</a:t>
            </a:r>
            <a:r>
              <a:rPr lang="en-US" sz="2400" dirty="0"/>
              <a:t> </a:t>
            </a:r>
            <a:r>
              <a:rPr lang="en-US" sz="2400" dirty="0" err="1"/>
              <a:t>mutuala</a:t>
            </a:r>
            <a:r>
              <a:rPr lang="en-US" sz="2400" dirty="0"/>
              <a:t>  - </a:t>
            </a:r>
            <a:r>
              <a:rPr lang="en-US" sz="2400" dirty="0" err="1"/>
              <a:t>doi</a:t>
            </a:r>
            <a:r>
              <a:rPr lang="en-US" sz="2400" dirty="0"/>
              <a:t> </a:t>
            </a:r>
            <a:r>
              <a:rPr lang="en-US" sz="2400" dirty="0" err="1"/>
              <a:t>filozofi</a:t>
            </a:r>
            <a:r>
              <a:rPr lang="en-US" sz="2400" dirty="0"/>
              <a:t> </a:t>
            </a:r>
            <a:r>
              <a:rPr lang="en-US" sz="2400" dirty="0" err="1"/>
              <a:t>diferiti</a:t>
            </a:r>
            <a:r>
              <a:rPr lang="en-US" sz="2400" dirty="0"/>
              <a:t>  nu pot </a:t>
            </a:r>
            <a:r>
              <a:rPr lang="en-US" sz="2400" dirty="0" err="1"/>
              <a:t>folosi</a:t>
            </a:r>
            <a:r>
              <a:rPr lang="en-US" sz="2400" dirty="0"/>
              <a:t> </a:t>
            </a:r>
            <a:r>
              <a:rPr lang="en-US" sz="2400" dirty="0" err="1"/>
              <a:t>aceeasi</a:t>
            </a:r>
            <a:r>
              <a:rPr lang="en-US" sz="2400" dirty="0"/>
              <a:t>  </a:t>
            </a:r>
            <a:r>
              <a:rPr lang="en-US" sz="2400" dirty="0" err="1"/>
              <a:t>furculita</a:t>
            </a:r>
            <a:r>
              <a:rPr lang="en-US" sz="2400" dirty="0"/>
              <a:t> </a:t>
            </a:r>
            <a:r>
              <a:rPr lang="en-US" sz="2400" dirty="0" err="1"/>
              <a:t>simultan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78795" y="2000381"/>
            <a:ext cx="6746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Coada</a:t>
            </a:r>
            <a:r>
              <a:rPr lang="en-US" sz="2400" dirty="0"/>
              <a:t> </a:t>
            </a:r>
            <a:r>
              <a:rPr lang="en-US" sz="2400" dirty="0" err="1"/>
              <a:t>circulara</a:t>
            </a:r>
            <a:r>
              <a:rPr lang="en-US" sz="2400" dirty="0"/>
              <a:t> – </a:t>
            </a:r>
            <a:r>
              <a:rPr lang="en-US" sz="2400" dirty="0" err="1"/>
              <a:t>filozofii</a:t>
            </a:r>
            <a:r>
              <a:rPr lang="en-US" sz="2400" dirty="0"/>
              <a:t> se </a:t>
            </a:r>
            <a:r>
              <a:rPr lang="en-US" sz="2400" dirty="0" err="1"/>
              <a:t>asteapta</a:t>
            </a:r>
            <a:r>
              <a:rPr lang="en-US" sz="2400" dirty="0"/>
              <a:t> </a:t>
            </a:r>
            <a:r>
              <a:rPr lang="en-US" sz="2400" dirty="0" err="1"/>
              <a:t>unul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celalat</a:t>
            </a:r>
            <a:r>
              <a:rPr lang="en-US" sz="2400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039" y="3176721"/>
            <a:ext cx="5128392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Deadlock</a:t>
            </a:r>
          </a:p>
          <a:p>
            <a:endParaRPr lang="en-US" sz="2400" dirty="0"/>
          </a:p>
          <a:p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filozof</a:t>
            </a:r>
            <a:r>
              <a:rPr lang="en-US" sz="2400" dirty="0"/>
              <a:t> are o </a:t>
            </a:r>
            <a:r>
              <a:rPr lang="en-US" sz="2400" dirty="0" err="1"/>
              <a:t>furculita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asteapta</a:t>
            </a:r>
            <a:endParaRPr lang="en-US" sz="2400" dirty="0"/>
          </a:p>
          <a:p>
            <a:r>
              <a:rPr lang="en-US" sz="2400" dirty="0"/>
              <a:t>ca </a:t>
            </a:r>
            <a:r>
              <a:rPr lang="en-US" sz="2400" dirty="0" err="1"/>
              <a:t>ceilalti</a:t>
            </a:r>
            <a:r>
              <a:rPr lang="en-US" sz="2400" dirty="0"/>
              <a:t> </a:t>
            </a:r>
            <a:r>
              <a:rPr lang="en-US" sz="2400" dirty="0" err="1"/>
              <a:t>vecini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elibereze</a:t>
            </a:r>
            <a:r>
              <a:rPr lang="en-US" sz="2400" dirty="0"/>
              <a:t> o </a:t>
            </a:r>
            <a:r>
              <a:rPr lang="en-US" sz="2400" dirty="0" err="1"/>
              <a:t>furculita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375043" y="3176721"/>
            <a:ext cx="5532797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Starvation</a:t>
            </a:r>
          </a:p>
          <a:p>
            <a:endParaRPr lang="en-US" sz="2400" dirty="0"/>
          </a:p>
          <a:p>
            <a:r>
              <a:rPr lang="en-US" sz="2400" dirty="0"/>
              <a:t>Un </a:t>
            </a:r>
            <a:r>
              <a:rPr lang="en-US" sz="2400" dirty="0" err="1"/>
              <a:t>filozof</a:t>
            </a:r>
            <a:r>
              <a:rPr lang="en-US" sz="2400" dirty="0"/>
              <a:t> nu </a:t>
            </a:r>
            <a:r>
              <a:rPr lang="en-US" sz="2400" dirty="0" err="1"/>
              <a:t>mananca</a:t>
            </a:r>
            <a:r>
              <a:rPr lang="en-US" sz="2400" dirty="0"/>
              <a:t> </a:t>
            </a:r>
            <a:r>
              <a:rPr lang="en-US" sz="2400" dirty="0" err="1"/>
              <a:t>niciodata</a:t>
            </a:r>
            <a:r>
              <a:rPr lang="en-US" sz="2400" dirty="0"/>
              <a:t> </a:t>
            </a:r>
          </a:p>
          <a:p>
            <a:r>
              <a:rPr lang="en-US" sz="2400" dirty="0"/>
              <a:t>(ex: </a:t>
            </a:r>
            <a:r>
              <a:rPr lang="en-US" sz="2400" dirty="0" err="1"/>
              <a:t>unul</a:t>
            </a:r>
            <a:r>
              <a:rPr lang="en-US" sz="2400" dirty="0"/>
              <a:t> din </a:t>
            </a:r>
            <a:r>
              <a:rPr lang="en-US" sz="2400" dirty="0" err="1"/>
              <a:t>vecini</a:t>
            </a:r>
            <a:r>
              <a:rPr lang="en-US" sz="2400" dirty="0"/>
              <a:t> nu </a:t>
            </a:r>
            <a:r>
              <a:rPr lang="en-US" sz="2400" dirty="0" err="1"/>
              <a:t>elibereaza</a:t>
            </a:r>
            <a:r>
              <a:rPr lang="en-US" sz="2400" dirty="0"/>
              <a:t> </a:t>
            </a:r>
            <a:r>
              <a:rPr lang="en-US" sz="2400" dirty="0" err="1"/>
              <a:t>furculita</a:t>
            </a:r>
            <a:r>
              <a:rPr lang="en-US" sz="2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52126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7934" y="1202112"/>
            <a:ext cx="5272262" cy="4401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-- </a:t>
            </a:r>
            <a:r>
              <a:rPr lang="en-US" sz="2800" dirty="0" err="1"/>
              <a:t>asteapta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manance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mananca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mediteaza</a:t>
            </a:r>
            <a:r>
              <a:rPr lang="en-US" sz="2800" dirty="0"/>
              <a:t>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63929" y="276012"/>
            <a:ext cx="6455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filozof</a:t>
            </a:r>
            <a:r>
              <a:rPr lang="en-US" sz="2400" dirty="0"/>
              <a:t> </a:t>
            </a:r>
            <a:r>
              <a:rPr lang="en-US" sz="2400" dirty="0" err="1"/>
              <a:t>executa</a:t>
            </a:r>
            <a:r>
              <a:rPr lang="en-US" sz="2400" dirty="0"/>
              <a:t>  la </a:t>
            </a:r>
            <a:r>
              <a:rPr lang="en-US" sz="2400" dirty="0" err="1"/>
              <a:t>infinit</a:t>
            </a:r>
            <a:r>
              <a:rPr lang="en-US" sz="2400" dirty="0"/>
              <a:t> </a:t>
            </a:r>
            <a:r>
              <a:rPr lang="en-US" sz="2400" dirty="0" err="1"/>
              <a:t>urmatorul</a:t>
            </a:r>
            <a:r>
              <a:rPr lang="en-US" sz="2400" dirty="0"/>
              <a:t> </a:t>
            </a:r>
            <a:r>
              <a:rPr lang="en-US" sz="2400" dirty="0" err="1"/>
              <a:t>ciclu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171977" y="1764405"/>
            <a:ext cx="2953565" cy="954107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err="1"/>
              <a:t>ia</a:t>
            </a:r>
            <a:r>
              <a:rPr lang="en-US" sz="2800" dirty="0"/>
              <a:t> </a:t>
            </a:r>
            <a:r>
              <a:rPr lang="en-US" sz="2800" dirty="0" err="1"/>
              <a:t>furculita</a:t>
            </a:r>
            <a:r>
              <a:rPr lang="en-US" sz="2800" dirty="0"/>
              <a:t> </a:t>
            </a:r>
            <a:r>
              <a:rPr lang="en-US" sz="2800" dirty="0" err="1"/>
              <a:t>stanga</a:t>
            </a:r>
            <a:endParaRPr lang="en-US" sz="2800" dirty="0"/>
          </a:p>
          <a:p>
            <a:r>
              <a:rPr lang="en-US" sz="2800" dirty="0" err="1"/>
              <a:t>Ia</a:t>
            </a:r>
            <a:r>
              <a:rPr lang="en-US" sz="2800" dirty="0"/>
              <a:t> </a:t>
            </a:r>
            <a:r>
              <a:rPr lang="en-US" sz="2800" dirty="0" err="1"/>
              <a:t>furculita</a:t>
            </a:r>
            <a:r>
              <a:rPr lang="en-US" sz="2800" dirty="0"/>
              <a:t> </a:t>
            </a:r>
            <a:r>
              <a:rPr lang="en-US" sz="2800" dirty="0" err="1"/>
              <a:t>dreapta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1171977" y="3850783"/>
            <a:ext cx="4177169" cy="954107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err="1"/>
              <a:t>elibereaza</a:t>
            </a:r>
            <a:r>
              <a:rPr lang="en-US" sz="2800" dirty="0"/>
              <a:t> </a:t>
            </a:r>
            <a:r>
              <a:rPr lang="en-US" sz="2800" dirty="0" err="1"/>
              <a:t>furculita</a:t>
            </a:r>
            <a:r>
              <a:rPr lang="en-US" sz="2800" dirty="0"/>
              <a:t> </a:t>
            </a:r>
            <a:r>
              <a:rPr lang="en-US" sz="2800" dirty="0" err="1"/>
              <a:t>stanga</a:t>
            </a:r>
            <a:endParaRPr lang="en-US" sz="2800" dirty="0"/>
          </a:p>
          <a:p>
            <a:r>
              <a:rPr lang="en-US" sz="2800" dirty="0" err="1"/>
              <a:t>elibereaza</a:t>
            </a:r>
            <a:r>
              <a:rPr lang="en-US" sz="2800" dirty="0"/>
              <a:t> </a:t>
            </a:r>
            <a:r>
              <a:rPr lang="en-US" sz="2800" dirty="0" err="1"/>
              <a:t>furculita</a:t>
            </a:r>
            <a:r>
              <a:rPr lang="en-US" sz="2800" dirty="0"/>
              <a:t> </a:t>
            </a:r>
            <a:r>
              <a:rPr lang="en-US" sz="2800" dirty="0" err="1"/>
              <a:t>dreapta</a:t>
            </a:r>
            <a:endParaRPr lang="en-US" sz="28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4391696" y="2150772"/>
            <a:ext cx="3528811" cy="5677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5447763" y="2718512"/>
            <a:ext cx="2446986" cy="160932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19124" y="2349180"/>
            <a:ext cx="3517310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/>
              <a:t>actiuni</a:t>
            </a:r>
            <a:r>
              <a:rPr lang="en-US" sz="2400" dirty="0"/>
              <a:t> </a:t>
            </a:r>
            <a:r>
              <a:rPr lang="en-US" sz="2400" dirty="0" err="1"/>
              <a:t>atomice</a:t>
            </a:r>
            <a:r>
              <a:rPr lang="en-US" sz="2400" dirty="0"/>
              <a:t>  - </a:t>
            </a:r>
            <a:r>
              <a:rPr lang="en-US" sz="2400" dirty="0" err="1"/>
              <a:t>elimina</a:t>
            </a:r>
            <a:r>
              <a:rPr lang="en-US" sz="2400" dirty="0"/>
              <a:t> </a:t>
            </a:r>
          </a:p>
          <a:p>
            <a:r>
              <a:rPr lang="en-US" sz="2400" dirty="0"/>
              <a:t>                                deadlock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2798754" y="3180177"/>
            <a:ext cx="5817212" cy="1327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29416" y="4224805"/>
            <a:ext cx="3226653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/>
              <a:t>durata</a:t>
            </a:r>
            <a:r>
              <a:rPr lang="en-US" sz="2400" dirty="0"/>
              <a:t> </a:t>
            </a:r>
            <a:r>
              <a:rPr lang="en-US" sz="2400" dirty="0" err="1"/>
              <a:t>finita</a:t>
            </a:r>
            <a:r>
              <a:rPr lang="en-US" sz="2400" dirty="0"/>
              <a:t> – </a:t>
            </a:r>
            <a:r>
              <a:rPr lang="en-US" sz="2400" dirty="0" err="1"/>
              <a:t>elimina</a:t>
            </a:r>
            <a:endParaRPr lang="en-US" sz="2400" dirty="0"/>
          </a:p>
          <a:p>
            <a:r>
              <a:rPr lang="en-US" sz="2400" dirty="0"/>
              <a:t>                          starvation</a:t>
            </a:r>
          </a:p>
        </p:txBody>
      </p:sp>
    </p:spTree>
    <p:extLst>
      <p:ext uri="{BB962C8B-B14F-4D97-AF65-F5344CB8AC3E}">
        <p14:creationId xmlns:p14="http://schemas.microsoft.com/office/powerpoint/2010/main" val="2611370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0331" y="2340398"/>
            <a:ext cx="9013725" cy="369331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type Fork = 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Bool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takeFork</a:t>
            </a:r>
            <a:r>
              <a:rPr lang="en-US" sz="2400" dirty="0">
                <a:solidFill>
                  <a:srgbClr val="0070C0"/>
                </a:solidFill>
              </a:rPr>
              <a:t> :: Fork -&gt; STM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takeFork</a:t>
            </a:r>
            <a:r>
              <a:rPr lang="en-US" sz="2400" dirty="0">
                <a:solidFill>
                  <a:srgbClr val="0070C0"/>
                </a:solidFill>
              </a:rPr>
              <a:t> s = do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b &lt;- </a:t>
            </a:r>
            <a:r>
              <a:rPr lang="en-US" sz="2400" dirty="0" err="1">
                <a:solidFill>
                  <a:srgbClr val="0070C0"/>
                </a:solidFill>
              </a:rPr>
              <a:t>readTVar</a:t>
            </a:r>
            <a:r>
              <a:rPr lang="en-US" sz="2400" dirty="0">
                <a:solidFill>
                  <a:srgbClr val="0070C0"/>
                </a:solidFill>
              </a:rPr>
              <a:t> 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if b then </a:t>
            </a:r>
            <a:r>
              <a:rPr lang="en-US" sz="2400" dirty="0" err="1">
                <a:solidFill>
                  <a:srgbClr val="0070C0"/>
                </a:solidFill>
              </a:rPr>
              <a:t>writeTVar</a:t>
            </a:r>
            <a:r>
              <a:rPr lang="en-US" sz="2400" dirty="0">
                <a:solidFill>
                  <a:srgbClr val="0070C0"/>
                </a:solidFill>
              </a:rPr>
              <a:t> s False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else retry   </a:t>
            </a:r>
            <a:r>
              <a:rPr lang="en-US" sz="2400" dirty="0"/>
              <a:t>-- </a:t>
            </a:r>
            <a:r>
              <a:rPr lang="en-US" sz="2400" dirty="0" err="1"/>
              <a:t>asteapta</a:t>
            </a:r>
            <a:r>
              <a:rPr lang="en-US" sz="2400" dirty="0"/>
              <a:t> </a:t>
            </a:r>
            <a:r>
              <a:rPr lang="en-US" sz="2400" dirty="0" err="1"/>
              <a:t>pana</a:t>
            </a:r>
            <a:r>
              <a:rPr lang="en-US" sz="2400" dirty="0"/>
              <a:t> se </a:t>
            </a:r>
            <a:r>
              <a:rPr lang="en-US" sz="2400" dirty="0" err="1"/>
              <a:t>elibereaza</a:t>
            </a:r>
            <a:r>
              <a:rPr lang="en-US" sz="2400" dirty="0"/>
              <a:t> </a:t>
            </a:r>
            <a:r>
              <a:rPr lang="en-US" sz="2400" dirty="0" err="1"/>
              <a:t>furculita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releaseFork</a:t>
            </a:r>
            <a:r>
              <a:rPr lang="en-US" sz="2400" dirty="0">
                <a:solidFill>
                  <a:srgbClr val="0070C0"/>
                </a:solidFill>
              </a:rPr>
              <a:t> ::  Fork -&gt; STM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releaseFork</a:t>
            </a:r>
            <a:r>
              <a:rPr lang="en-US" sz="2400" dirty="0">
                <a:solidFill>
                  <a:srgbClr val="0070C0"/>
                </a:solidFill>
              </a:rPr>
              <a:t> fork = </a:t>
            </a:r>
            <a:r>
              <a:rPr lang="en-US" sz="2400" dirty="0" err="1">
                <a:solidFill>
                  <a:srgbClr val="0070C0"/>
                </a:solidFill>
              </a:rPr>
              <a:t>writeTVar</a:t>
            </a:r>
            <a:r>
              <a:rPr lang="en-US" sz="2400" dirty="0">
                <a:solidFill>
                  <a:srgbClr val="0070C0"/>
                </a:solidFill>
              </a:rPr>
              <a:t> fork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8210" y="849214"/>
            <a:ext cx="730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Fork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383370" y="601191"/>
            <a:ext cx="0" cy="923724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14495" y="1633534"/>
            <a:ext cx="11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 :: </a:t>
            </a:r>
            <a:r>
              <a:rPr lang="en-US" sz="2400" dirty="0" err="1"/>
              <a:t>TVar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9359" y="152681"/>
            <a:ext cx="3872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Dining Philosophers – </a:t>
            </a:r>
            <a:r>
              <a:rPr lang="en-US" sz="2000" dirty="0" err="1"/>
              <a:t>varianta</a:t>
            </a:r>
            <a:r>
              <a:rPr lang="en-US" sz="2000" dirty="0"/>
              <a:t> 1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979" y="433519"/>
            <a:ext cx="1466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dinnersrc1.hs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475" y="391245"/>
            <a:ext cx="1582326" cy="1360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8405" y="837808"/>
            <a:ext cx="1040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 :: </a:t>
            </a:r>
            <a:r>
              <a:rPr lang="en-US" sz="2000" dirty="0" err="1"/>
              <a:t>Bool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784787" y="2340398"/>
            <a:ext cx="425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--  </a:t>
            </a:r>
            <a:r>
              <a:rPr lang="en-US" sz="2400" dirty="0">
                <a:solidFill>
                  <a:srgbClr val="0070C0"/>
                </a:solidFill>
              </a:rPr>
              <a:t>True  </a:t>
            </a:r>
            <a:r>
              <a:rPr lang="en-US" sz="2400" dirty="0" err="1"/>
              <a:t>daca</a:t>
            </a:r>
            <a:r>
              <a:rPr lang="en-US" sz="2400" dirty="0"/>
              <a:t> </a:t>
            </a:r>
            <a:r>
              <a:rPr lang="en-US" sz="2400" dirty="0" err="1"/>
              <a:t>furculita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libera</a:t>
            </a:r>
            <a:r>
              <a:rPr lang="en-US" sz="2400" dirty="0"/>
              <a:t> 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532625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03312" y="191010"/>
            <a:ext cx="7282287" cy="563231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System.Random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type Name = String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:: (Name, (Fork, Fork)) -&gt; </a:t>
            </a:r>
            <a:r>
              <a:rPr lang="en-US" sz="2000" b="1" dirty="0">
                <a:solidFill>
                  <a:srgbClr val="0070C0"/>
                </a:solidFill>
              </a:rPr>
              <a:t>IO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(name, (left, right)) = </a:t>
            </a:r>
            <a:r>
              <a:rPr lang="en-US" sz="2000" b="1" dirty="0">
                <a:solidFill>
                  <a:srgbClr val="0070C0"/>
                </a:solidFill>
              </a:rPr>
              <a:t>forever $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(name ++ " is hungry.")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atomically $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</a:t>
            </a:r>
            <a:r>
              <a:rPr lang="en-US" sz="2000" dirty="0" err="1">
                <a:solidFill>
                  <a:srgbClr val="0070C0"/>
                </a:solidFill>
              </a:rPr>
              <a:t>takeFork</a:t>
            </a:r>
            <a:r>
              <a:rPr lang="en-US" sz="2000" dirty="0">
                <a:solidFill>
                  <a:srgbClr val="0070C0"/>
                </a:solidFill>
              </a:rPr>
              <a:t> left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</a:t>
            </a:r>
            <a:r>
              <a:rPr lang="en-US" sz="2000" dirty="0" err="1">
                <a:solidFill>
                  <a:srgbClr val="0070C0"/>
                </a:solidFill>
              </a:rPr>
              <a:t>takeFork</a:t>
            </a:r>
            <a:r>
              <a:rPr lang="en-US" sz="2000" dirty="0">
                <a:solidFill>
                  <a:srgbClr val="0070C0"/>
                </a:solidFill>
              </a:rPr>
              <a:t> right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(name ++ " got two forks  and is now eating.")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/>
              <a:t>delay &lt;- </a:t>
            </a:r>
            <a:r>
              <a:rPr lang="en-US" sz="2000" dirty="0" err="1"/>
              <a:t>randomRIO</a:t>
            </a:r>
            <a:r>
              <a:rPr lang="en-US" sz="2000" dirty="0"/>
              <a:t> (1,10)</a:t>
            </a:r>
          </a:p>
          <a:p>
            <a:r>
              <a:rPr lang="en-US" sz="2000" dirty="0"/>
              <a:t>       </a:t>
            </a:r>
            <a:r>
              <a:rPr lang="en-US" sz="2000" dirty="0" err="1"/>
              <a:t>threadDelay</a:t>
            </a:r>
            <a:r>
              <a:rPr lang="en-US" sz="2000" dirty="0"/>
              <a:t> (delay * 1000000)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(name ++ " is done eating. Going back to thinking.")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atomically $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</a:t>
            </a:r>
            <a:r>
              <a:rPr lang="en-US" sz="2000" dirty="0" err="1">
                <a:solidFill>
                  <a:srgbClr val="0070C0"/>
                </a:solidFill>
              </a:rPr>
              <a:t>releaseFork</a:t>
            </a:r>
            <a:r>
              <a:rPr lang="en-US" sz="2000" dirty="0">
                <a:solidFill>
                  <a:srgbClr val="0070C0"/>
                </a:solidFill>
              </a:rPr>
              <a:t> left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</a:t>
            </a:r>
            <a:r>
              <a:rPr lang="en-US" sz="2000" dirty="0" err="1">
                <a:solidFill>
                  <a:srgbClr val="0070C0"/>
                </a:solidFill>
              </a:rPr>
              <a:t>releaseFork</a:t>
            </a:r>
            <a:r>
              <a:rPr lang="en-US" sz="2000" dirty="0">
                <a:solidFill>
                  <a:srgbClr val="0070C0"/>
                </a:solidFill>
              </a:rPr>
              <a:t> right</a:t>
            </a:r>
          </a:p>
          <a:p>
            <a:r>
              <a:rPr lang="en-US" sz="2000" dirty="0"/>
              <a:t>       delay &lt;- </a:t>
            </a:r>
            <a:r>
              <a:rPr lang="en-US" sz="2000" dirty="0" err="1"/>
              <a:t>randomRIO</a:t>
            </a:r>
            <a:r>
              <a:rPr lang="en-US" sz="2000" dirty="0"/>
              <a:t> (1, 10)</a:t>
            </a:r>
          </a:p>
          <a:p>
            <a:r>
              <a:rPr lang="en-US" sz="2000" dirty="0"/>
              <a:t>       </a:t>
            </a:r>
            <a:r>
              <a:rPr lang="en-US" sz="2000" dirty="0" err="1"/>
              <a:t>threadDelay</a:t>
            </a:r>
            <a:r>
              <a:rPr lang="en-US" sz="2000" dirty="0"/>
              <a:t> (delay * 1000000)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4653" y="1798113"/>
            <a:ext cx="2992191" cy="341632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asteapta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manance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furculita</a:t>
            </a:r>
            <a:r>
              <a:rPr lang="en-US" dirty="0"/>
              <a:t> </a:t>
            </a:r>
            <a:r>
              <a:rPr lang="en-US" dirty="0" err="1"/>
              <a:t>stanga</a:t>
            </a:r>
            <a:endParaRPr lang="en-US" dirty="0"/>
          </a:p>
          <a:p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furculita</a:t>
            </a:r>
            <a:r>
              <a:rPr lang="en-US" dirty="0"/>
              <a:t> </a:t>
            </a:r>
            <a:r>
              <a:rPr lang="en-US" dirty="0" err="1"/>
              <a:t>dreapta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mananca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elibereaza</a:t>
            </a:r>
            <a:r>
              <a:rPr lang="en-US" dirty="0"/>
              <a:t> </a:t>
            </a:r>
            <a:r>
              <a:rPr lang="en-US" dirty="0" err="1"/>
              <a:t>furculita</a:t>
            </a:r>
            <a:r>
              <a:rPr lang="en-US" dirty="0"/>
              <a:t> </a:t>
            </a:r>
            <a:r>
              <a:rPr lang="en-US" dirty="0" err="1"/>
              <a:t>stanga</a:t>
            </a:r>
            <a:endParaRPr lang="en-US" dirty="0"/>
          </a:p>
          <a:p>
            <a:r>
              <a:rPr lang="en-US" dirty="0" err="1"/>
              <a:t>elibereaza</a:t>
            </a:r>
            <a:r>
              <a:rPr lang="en-US" dirty="0"/>
              <a:t> </a:t>
            </a:r>
            <a:r>
              <a:rPr lang="en-US" dirty="0" err="1"/>
              <a:t>furculita</a:t>
            </a:r>
            <a:r>
              <a:rPr lang="en-US" dirty="0"/>
              <a:t> </a:t>
            </a:r>
            <a:r>
              <a:rPr lang="en-US" dirty="0" err="1"/>
              <a:t>dreapta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mediteaza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653" y="1081824"/>
            <a:ext cx="1377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 </a:t>
            </a:r>
            <a:r>
              <a:rPr lang="en-US" sz="2400" dirty="0" err="1"/>
              <a:t>filozof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8042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6469" y="435081"/>
            <a:ext cx="7796010" cy="532453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philosophers :: [String]</a:t>
            </a:r>
          </a:p>
          <a:p>
            <a:r>
              <a:rPr lang="en-US" sz="2000" dirty="0">
                <a:solidFill>
                  <a:srgbClr val="0070C0"/>
                </a:solidFill>
              </a:rPr>
              <a:t>philosophers = ["Aristotle", "Kant", "Spinoza", "Marx", "</a:t>
            </a:r>
            <a:r>
              <a:rPr lang="en-US" sz="2000" dirty="0" err="1">
                <a:solidFill>
                  <a:srgbClr val="0070C0"/>
                </a:solidFill>
              </a:rPr>
              <a:t>Russel</a:t>
            </a:r>
            <a:r>
              <a:rPr lang="en-US" sz="2000" dirty="0">
                <a:solidFill>
                  <a:srgbClr val="0070C0"/>
                </a:solidFill>
              </a:rPr>
              <a:t>"]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forks &lt;- atomically $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sticks &lt;- </a:t>
            </a:r>
            <a:r>
              <a:rPr lang="en-US" sz="2000" dirty="0" err="1">
                <a:solidFill>
                  <a:srgbClr val="0070C0"/>
                </a:solidFill>
              </a:rPr>
              <a:t>mapM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const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newTVar</a:t>
            </a:r>
            <a:r>
              <a:rPr lang="en-US" sz="2000" dirty="0">
                <a:solidFill>
                  <a:srgbClr val="0070C0"/>
                </a:solidFill>
              </a:rPr>
              <a:t> True)) [1..5]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return sticks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let </a:t>
            </a:r>
            <a:r>
              <a:rPr lang="en-US" sz="2000" dirty="0" err="1">
                <a:solidFill>
                  <a:srgbClr val="0070C0"/>
                </a:solidFill>
              </a:rPr>
              <a:t>forkPairs</a:t>
            </a:r>
            <a:r>
              <a:rPr lang="en-US" sz="2000" dirty="0">
                <a:solidFill>
                  <a:srgbClr val="0070C0"/>
                </a:solidFill>
              </a:rPr>
              <a:t>  = zip forks ((tail  forks) ++ [head forks])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dirty="0" err="1">
                <a:solidFill>
                  <a:srgbClr val="0070C0"/>
                </a:solidFill>
              </a:rPr>
              <a:t>philosophersWithForks</a:t>
            </a:r>
            <a:r>
              <a:rPr lang="en-US" sz="2000" dirty="0">
                <a:solidFill>
                  <a:srgbClr val="0070C0"/>
                </a:solidFill>
              </a:rPr>
              <a:t> = zip philosophers </a:t>
            </a:r>
            <a:r>
              <a:rPr lang="en-US" sz="2000" dirty="0" err="1">
                <a:solidFill>
                  <a:srgbClr val="0070C0"/>
                </a:solidFill>
              </a:rPr>
              <a:t>forkPairs</a:t>
            </a:r>
            <a:r>
              <a:rPr lang="en-US" sz="2000" dirty="0">
                <a:solidFill>
                  <a:srgbClr val="0070C0"/>
                </a:solidFill>
              </a:rPr>
              <a:t>   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"Running the philosophers. Press enter to quit."    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mapM</a:t>
            </a:r>
            <a:r>
              <a:rPr lang="en-US" sz="2000" dirty="0">
                <a:solidFill>
                  <a:srgbClr val="0070C0"/>
                </a:solidFill>
              </a:rPr>
              <a:t>_ (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. </a:t>
            </a:r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) </a:t>
            </a:r>
            <a:r>
              <a:rPr lang="en-US" sz="2000" dirty="0" err="1">
                <a:solidFill>
                  <a:srgbClr val="0070C0"/>
                </a:solidFill>
              </a:rPr>
              <a:t>philosophersWithForks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getLine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118" y="2014567"/>
            <a:ext cx="4076452" cy="4188249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989" y="655184"/>
            <a:ext cx="2533650" cy="7143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510243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14319" y="4900096"/>
            <a:ext cx="405874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err="1">
                <a:hlinkClick r:id="rId2"/>
              </a:rPr>
              <a:t>Composable</a:t>
            </a:r>
            <a:r>
              <a:rPr lang="en-US" i="1" dirty="0">
                <a:hlinkClick r:id="rId2"/>
              </a:rPr>
              <a:t> Memory  Transactions</a:t>
            </a:r>
            <a:endParaRPr lang="en-US" i="1" dirty="0"/>
          </a:p>
          <a:p>
            <a:r>
              <a:rPr lang="en-US" dirty="0"/>
              <a:t>T. Harris, S. Marlow, S.P. Jones, M. </a:t>
            </a:r>
            <a:r>
              <a:rPr lang="en-US" dirty="0" err="1"/>
              <a:t>Herlihy</a:t>
            </a:r>
            <a:endParaRPr lang="en-US" dirty="0"/>
          </a:p>
          <a:p>
            <a:r>
              <a:rPr lang="en-US" dirty="0" err="1"/>
              <a:t>PPoPP</a:t>
            </a:r>
            <a:r>
              <a:rPr lang="en-US" dirty="0"/>
              <a:t> ' 05  </a:t>
            </a:r>
          </a:p>
          <a:p>
            <a:r>
              <a:rPr lang="en-US" dirty="0">
                <a:hlinkClick r:id="rId3"/>
              </a:rPr>
              <a:t>PCPH, Cap.10, Blocking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31305"/>
            <a:ext cx="4833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2068" y="1073425"/>
            <a:ext cx="100652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 data de tip </a:t>
            </a:r>
            <a:r>
              <a:rPr lang="en-US" sz="2000" dirty="0" err="1"/>
              <a:t>MVar</a:t>
            </a:r>
            <a:r>
              <a:rPr lang="en-US" sz="2000" dirty="0"/>
              <a:t>  are </a:t>
            </a:r>
            <a:r>
              <a:rPr lang="en-US" sz="2000" dirty="0" err="1"/>
              <a:t>doua</a:t>
            </a:r>
            <a:r>
              <a:rPr lang="en-US" sz="2000" dirty="0"/>
              <a:t> </a:t>
            </a:r>
            <a:r>
              <a:rPr lang="en-US" sz="2000" dirty="0" err="1"/>
              <a:t>stari</a:t>
            </a:r>
            <a:r>
              <a:rPr lang="en-US" sz="2000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goala</a:t>
            </a:r>
            <a:r>
              <a:rPr lang="en-US" sz="2000" dirty="0"/>
              <a:t> -  nu </a:t>
            </a:r>
            <a:r>
              <a:rPr lang="en-US" sz="2000" dirty="0" err="1"/>
              <a:t>contine</a:t>
            </a:r>
            <a:r>
              <a:rPr lang="en-US" sz="2000" dirty="0"/>
              <a:t> </a:t>
            </a:r>
            <a:r>
              <a:rPr lang="en-US" sz="2000" dirty="0" err="1"/>
              <a:t>nici</a:t>
            </a:r>
            <a:r>
              <a:rPr lang="en-US" sz="2000" dirty="0"/>
              <a:t> o </a:t>
            </a:r>
            <a:r>
              <a:rPr lang="en-US" sz="2000" dirty="0" err="1"/>
              <a:t>valoare</a:t>
            </a:r>
            <a:r>
              <a:rPr lang="en-US" sz="2000" dirty="0"/>
              <a:t>  (</a:t>
            </a:r>
            <a:r>
              <a:rPr lang="en-US" sz="2000" dirty="0" err="1"/>
              <a:t>blocheaza</a:t>
            </a:r>
            <a:r>
              <a:rPr lang="en-US" sz="2000" dirty="0"/>
              <a:t> </a:t>
            </a:r>
            <a:r>
              <a:rPr lang="en-US" sz="2000" dirty="0" err="1"/>
              <a:t>operatia</a:t>
            </a:r>
            <a:r>
              <a:rPr lang="en-US" sz="2000" dirty="0"/>
              <a:t> </a:t>
            </a:r>
            <a:r>
              <a:rPr lang="en-US" sz="2000" dirty="0" err="1"/>
              <a:t>takeMVar</a:t>
            </a:r>
            <a:r>
              <a:rPr lang="en-US" sz="2000" dirty="0"/>
              <a:t>;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operatia</a:t>
            </a:r>
            <a:r>
              <a:rPr lang="en-US" sz="2000" dirty="0"/>
              <a:t> </a:t>
            </a:r>
            <a:r>
              <a:rPr lang="en-US" sz="2000" dirty="0" err="1"/>
              <a:t>putMVar</a:t>
            </a:r>
            <a:r>
              <a:rPr lang="en-US" sz="2000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plina</a:t>
            </a:r>
            <a:r>
              <a:rPr lang="en-US" sz="2000" dirty="0"/>
              <a:t> -   </a:t>
            </a:r>
            <a:r>
              <a:rPr lang="en-US" sz="2000" dirty="0" err="1"/>
              <a:t>contine</a:t>
            </a:r>
            <a:r>
              <a:rPr lang="en-US" sz="2000" dirty="0"/>
              <a:t> o </a:t>
            </a:r>
            <a:r>
              <a:rPr lang="en-US" sz="2000" dirty="0" err="1"/>
              <a:t>valoare</a:t>
            </a:r>
            <a:r>
              <a:rPr lang="en-US" sz="2000" dirty="0"/>
              <a:t>  (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operatia</a:t>
            </a:r>
            <a:r>
              <a:rPr lang="en-US" sz="2000" dirty="0"/>
              <a:t> </a:t>
            </a:r>
            <a:r>
              <a:rPr lang="en-US" sz="2000" dirty="0" err="1"/>
              <a:t>takeMVar</a:t>
            </a:r>
            <a:r>
              <a:rPr lang="en-US" sz="2000" dirty="0"/>
              <a:t>; </a:t>
            </a:r>
            <a:r>
              <a:rPr lang="en-US" sz="2000" dirty="0" err="1"/>
              <a:t>blocheaza</a:t>
            </a:r>
            <a:r>
              <a:rPr lang="en-US" sz="2000" dirty="0"/>
              <a:t> </a:t>
            </a:r>
            <a:r>
              <a:rPr lang="en-US" sz="2000" dirty="0" err="1"/>
              <a:t>operatia</a:t>
            </a:r>
            <a:r>
              <a:rPr lang="en-US" sz="2000" dirty="0"/>
              <a:t>  </a:t>
            </a:r>
            <a:r>
              <a:rPr lang="en-US" sz="2000" dirty="0" err="1"/>
              <a:t>putMVar</a:t>
            </a:r>
            <a:r>
              <a:rPr lang="en-US" sz="2000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793" y="2624362"/>
            <a:ext cx="577728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data   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r>
              <a:rPr lang="en-US" sz="2400" dirty="0">
                <a:solidFill>
                  <a:srgbClr val="0070C0"/>
                </a:solidFill>
              </a:rPr>
              <a:t> a = 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r>
              <a:rPr lang="en-US" sz="2400" dirty="0">
                <a:solidFill>
                  <a:srgbClr val="0070C0"/>
                </a:solidFill>
              </a:rPr>
              <a:t> (Maybe a))</a:t>
            </a:r>
          </a:p>
          <a:p>
            <a:endParaRPr lang="en-US" sz="2400" dirty="0"/>
          </a:p>
          <a:p>
            <a:r>
              <a:rPr lang="en-US" sz="2400" dirty="0"/>
              <a:t> --</a:t>
            </a:r>
            <a:r>
              <a:rPr lang="en-US" sz="2400" dirty="0">
                <a:solidFill>
                  <a:srgbClr val="0070C0"/>
                </a:solidFill>
              </a:rPr>
              <a:t> Nothing </a:t>
            </a:r>
            <a:r>
              <a:rPr lang="en-US" sz="2400" dirty="0" err="1"/>
              <a:t>indica</a:t>
            </a:r>
            <a:r>
              <a:rPr lang="en-US" sz="2400" dirty="0"/>
              <a:t> </a:t>
            </a:r>
            <a:r>
              <a:rPr lang="en-US" sz="2400" dirty="0" err="1"/>
              <a:t>faptul</a:t>
            </a:r>
            <a:r>
              <a:rPr lang="en-US" sz="2400" dirty="0"/>
              <a:t> ca </a:t>
            </a:r>
            <a:r>
              <a:rPr lang="en-US" sz="2400" dirty="0" err="1"/>
              <a:t>variabila</a:t>
            </a:r>
            <a:r>
              <a:rPr lang="en-US" sz="2400" dirty="0"/>
              <a:t> e </a:t>
            </a:r>
            <a:r>
              <a:rPr lang="en-US" sz="2400" dirty="0" err="1"/>
              <a:t>goala</a:t>
            </a:r>
            <a:r>
              <a:rPr lang="en-US" sz="2400"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0261" y="4359965"/>
            <a:ext cx="4494435" cy="156966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newEmptyTMVar</a:t>
            </a:r>
            <a:r>
              <a:rPr lang="en-US" sz="2400" dirty="0">
                <a:solidFill>
                  <a:srgbClr val="0070C0"/>
                </a:solidFill>
              </a:rPr>
              <a:t> :: STM (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newEmptyTMVar</a:t>
            </a:r>
            <a:r>
              <a:rPr lang="en-US" sz="2400" dirty="0">
                <a:solidFill>
                  <a:srgbClr val="0070C0"/>
                </a:solidFill>
              </a:rPr>
              <a:t> =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t &lt;- </a:t>
            </a:r>
            <a:r>
              <a:rPr lang="en-US" sz="2400" dirty="0" err="1">
                <a:solidFill>
                  <a:srgbClr val="0070C0"/>
                </a:solidFill>
              </a:rPr>
              <a:t>newTVar</a:t>
            </a:r>
            <a:r>
              <a:rPr lang="en-US" sz="2400" dirty="0">
                <a:solidFill>
                  <a:srgbClr val="0070C0"/>
                </a:solidFill>
              </a:rPr>
              <a:t> Nothing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return (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r>
              <a:rPr lang="en-US" sz="2400" dirty="0">
                <a:solidFill>
                  <a:srgbClr val="0070C0"/>
                </a:solidFill>
              </a:rPr>
              <a:t> t)  </a:t>
            </a:r>
          </a:p>
        </p:txBody>
      </p:sp>
    </p:spTree>
    <p:extLst>
      <p:ext uri="{BB962C8B-B14F-4D97-AF65-F5344CB8AC3E}">
        <p14:creationId xmlns:p14="http://schemas.microsoft.com/office/powerpoint/2010/main" val="2501158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078" y="238539"/>
            <a:ext cx="5944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</a:rPr>
              <a:t>TMVar</a:t>
            </a:r>
            <a:r>
              <a:rPr lang="en-US" sz="2400" dirty="0"/>
              <a:t> – </a:t>
            </a: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TVar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7078" y="1820552"/>
            <a:ext cx="5433392" cy="3046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takeTMVar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::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TMVar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a -&gt; STM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takeTMVar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TMVar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t) = 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</a:rPr>
              <a:t>            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m &lt;- </a:t>
            </a:r>
            <a:r>
              <a:rPr lang="en-US" altLang="en-US" sz="2400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readTVar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case m of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        Nothing -&gt; retry </a:t>
            </a:r>
            <a:r>
              <a:rPr lang="en-US" altLang="en-US" sz="2400" dirty="0">
                <a:latin typeface="Arial Unicode MS" panose="020B0604020202020204" pitchFamily="34" charset="-128"/>
              </a:rPr>
              <a:t>-- </a:t>
            </a:r>
            <a:r>
              <a:rPr lang="en-US" altLang="en-US" sz="2400" dirty="0" err="1">
                <a:latin typeface="Arial Unicode MS" panose="020B0604020202020204" pitchFamily="34" charset="-128"/>
              </a:rPr>
              <a:t>blocare</a:t>
            </a:r>
            <a:endParaRPr lang="en-US" altLang="en-US" sz="2400" dirty="0">
              <a:latin typeface="Arial Unicode MS" panose="020B0604020202020204" pitchFamily="34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        Just a -&gt; do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            </a:t>
            </a:r>
            <a:r>
              <a:rPr lang="en-US" altLang="en-US" sz="2400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writeTVar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t Nothing                                     	           return a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endParaRPr lang="en-US" altLang="en-US" sz="2400" dirty="0">
              <a:solidFill>
                <a:srgbClr val="0070C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5269" y="1820552"/>
            <a:ext cx="5711688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putTMVar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:: </a:t>
            </a:r>
            <a:r>
              <a:rPr lang="en-US" altLang="en-US" sz="2400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TMVar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a -&gt; a -&gt; STM ()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putTMVar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(</a:t>
            </a:r>
            <a:r>
              <a:rPr lang="en-US" altLang="en-US" sz="2400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TMVar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t) = do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</a:rPr>
              <a:t>            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m &lt;- </a:t>
            </a:r>
            <a:r>
              <a:rPr lang="en-US" altLang="en-US" sz="2400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readTVar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case m of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       Just _ -&gt; retry   </a:t>
            </a:r>
            <a:r>
              <a:rPr lang="en-US" altLang="en-US" sz="2400" dirty="0">
                <a:latin typeface="Arial Unicode MS" panose="020B0604020202020204" pitchFamily="34" charset="-128"/>
              </a:rPr>
              <a:t>-- </a:t>
            </a:r>
            <a:r>
              <a:rPr lang="en-US" altLang="en-US" sz="2400" dirty="0" err="1">
                <a:latin typeface="Arial Unicode MS" panose="020B0604020202020204" pitchFamily="34" charset="-128"/>
              </a:rPr>
              <a:t>blocare</a:t>
            </a:r>
            <a:endParaRPr lang="en-US" altLang="en-US" sz="2400" dirty="0">
              <a:latin typeface="Arial Unicode MS" panose="020B0604020202020204" pitchFamily="34" charset="-128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       Nothing  -&gt; do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                   </a:t>
            </a:r>
            <a:r>
              <a:rPr lang="en-US" altLang="en-US" sz="2400" dirty="0" err="1">
                <a:solidFill>
                  <a:srgbClr val="0070C0"/>
                </a:solidFill>
                <a:latin typeface="Arial Unicode MS" panose="020B0604020202020204" pitchFamily="34" charset="-128"/>
              </a:rPr>
              <a:t>writeTVar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t  (Just a)                                    	                   return ()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endParaRPr lang="en-US" altLang="en-US" sz="2400" dirty="0">
              <a:solidFill>
                <a:srgbClr val="0070C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52521" y="5147966"/>
            <a:ext cx="4174436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i="1" dirty="0" err="1"/>
              <a:t>Composable</a:t>
            </a:r>
            <a:r>
              <a:rPr lang="en-US" i="1" dirty="0"/>
              <a:t> Memory  Transactions</a:t>
            </a:r>
          </a:p>
          <a:p>
            <a:r>
              <a:rPr lang="en-US" dirty="0"/>
              <a:t>T. Harris, S. Marlow, S.P. Jones, M. </a:t>
            </a:r>
            <a:r>
              <a:rPr lang="en-US" dirty="0" err="1"/>
              <a:t>Herlihy</a:t>
            </a:r>
            <a:endParaRPr lang="en-US" dirty="0"/>
          </a:p>
          <a:p>
            <a:r>
              <a:rPr lang="en-US" dirty="0" err="1"/>
              <a:t>PPoPP</a:t>
            </a:r>
            <a:r>
              <a:rPr lang="en-US" dirty="0"/>
              <a:t> ' 05  </a:t>
            </a:r>
          </a:p>
          <a:p>
            <a:r>
              <a:rPr lang="en-US" dirty="0"/>
              <a:t>PCPH, Cap.10, Blocking</a:t>
            </a:r>
          </a:p>
        </p:txBody>
      </p:sp>
    </p:spTree>
    <p:extLst>
      <p:ext uri="{BB962C8B-B14F-4D97-AF65-F5344CB8AC3E}">
        <p14:creationId xmlns:p14="http://schemas.microsoft.com/office/powerpoint/2010/main" val="3328202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4577" y="133455"/>
            <a:ext cx="2370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MVar</a:t>
            </a:r>
            <a:r>
              <a:rPr lang="en-US" sz="2400" dirty="0"/>
              <a:t> vs </a:t>
            </a:r>
            <a:r>
              <a:rPr lang="en-US" sz="2400" dirty="0" err="1"/>
              <a:t>TMVar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50903" y="918328"/>
            <a:ext cx="5776581" cy="193899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takeBothMVar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a -&gt;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b -&gt; IO (</a:t>
            </a:r>
            <a:r>
              <a:rPr lang="en-US" sz="2400" dirty="0" err="1">
                <a:solidFill>
                  <a:srgbClr val="0070C0"/>
                </a:solidFill>
              </a:rPr>
              <a:t>a,b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takeBothMVar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tv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tw</a:t>
            </a:r>
            <a:r>
              <a:rPr lang="en-US" sz="2400" dirty="0">
                <a:solidFill>
                  <a:srgbClr val="0070C0"/>
                </a:solidFill>
              </a:rPr>
              <a:t>  =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v &lt; 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tv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w &lt;-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tw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return (</a:t>
            </a:r>
            <a:r>
              <a:rPr lang="en-US" sz="2400" dirty="0" err="1">
                <a:solidFill>
                  <a:srgbClr val="0070C0"/>
                </a:solidFill>
              </a:rPr>
              <a:t>v,w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92007" y="3134340"/>
            <a:ext cx="6228628" cy="221599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takeBothTMVar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r>
              <a:rPr lang="en-US" sz="2400" dirty="0">
                <a:solidFill>
                  <a:srgbClr val="0070C0"/>
                </a:solidFill>
              </a:rPr>
              <a:t> a -&gt; 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r>
              <a:rPr lang="en-US" sz="2400" dirty="0">
                <a:solidFill>
                  <a:srgbClr val="0070C0"/>
                </a:solidFill>
              </a:rPr>
              <a:t> b -&gt; IO (</a:t>
            </a:r>
            <a:r>
              <a:rPr lang="en-US" sz="2400" dirty="0" err="1">
                <a:solidFill>
                  <a:srgbClr val="0070C0"/>
                </a:solidFill>
              </a:rPr>
              <a:t>a,b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takeBothTMVar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tv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tw</a:t>
            </a:r>
            <a:r>
              <a:rPr lang="en-US" sz="2400" dirty="0">
                <a:solidFill>
                  <a:srgbClr val="0070C0"/>
                </a:solidFill>
              </a:rPr>
              <a:t>  =  </a:t>
            </a:r>
            <a:r>
              <a:rPr lang="en-US" sz="2400" b="1" dirty="0">
                <a:solidFill>
                  <a:srgbClr val="0070C0"/>
                </a:solidFill>
              </a:rPr>
              <a:t>atomically</a:t>
            </a:r>
            <a:r>
              <a:rPr lang="en-US" sz="2400" dirty="0">
                <a:solidFill>
                  <a:srgbClr val="0070C0"/>
                </a:solidFill>
              </a:rPr>
              <a:t> $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v &lt; - </a:t>
            </a:r>
            <a:r>
              <a:rPr lang="en-US" sz="2400" dirty="0" err="1">
                <a:solidFill>
                  <a:srgbClr val="0070C0"/>
                </a:solidFill>
              </a:rPr>
              <a:t>takeTMVar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tv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w &lt;- </a:t>
            </a:r>
            <a:r>
              <a:rPr lang="en-US" sz="2400" dirty="0" err="1">
                <a:solidFill>
                  <a:srgbClr val="0070C0"/>
                </a:solidFill>
              </a:rPr>
              <a:t>takeTMVar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tw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return (</a:t>
            </a:r>
            <a:r>
              <a:rPr lang="en-US" sz="2400" dirty="0" err="1">
                <a:solidFill>
                  <a:srgbClr val="0070C0"/>
                </a:solidFill>
              </a:rPr>
              <a:t>v,w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10895" y="1887824"/>
            <a:ext cx="2060620" cy="461665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putMVar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tv</a:t>
            </a:r>
            <a:r>
              <a:rPr lang="en-US" sz="2400" b="1" dirty="0">
                <a:solidFill>
                  <a:schemeClr val="bg1"/>
                </a:solidFill>
              </a:rPr>
              <a:t> x 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636394" y="2086378"/>
            <a:ext cx="9144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03" y="5436431"/>
            <a:ext cx="6198430" cy="69875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862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5003" y="1133341"/>
            <a:ext cx="3863622" cy="347787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type Fork = </a:t>
            </a:r>
            <a:r>
              <a:rPr lang="en-US" sz="2000" dirty="0" err="1">
                <a:solidFill>
                  <a:srgbClr val="0070C0"/>
                </a:solidFill>
              </a:rPr>
              <a:t>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newFork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STM Fork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newFork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r>
              <a:rPr lang="en-US" sz="2000" dirty="0">
                <a:solidFill>
                  <a:srgbClr val="0070C0"/>
                </a:solidFill>
              </a:rPr>
              <a:t> = </a:t>
            </a:r>
            <a:r>
              <a:rPr lang="en-US" sz="2000" dirty="0" err="1">
                <a:solidFill>
                  <a:srgbClr val="0070C0"/>
                </a:solidFill>
              </a:rPr>
              <a:t>newTMVar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takeFork</a:t>
            </a:r>
            <a:r>
              <a:rPr lang="en-US" sz="2000" dirty="0">
                <a:solidFill>
                  <a:srgbClr val="0070C0"/>
                </a:solidFill>
              </a:rPr>
              <a:t> :: Fork -&gt; STM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takeFork</a:t>
            </a:r>
            <a:r>
              <a:rPr lang="en-US" sz="2000" dirty="0">
                <a:solidFill>
                  <a:srgbClr val="0070C0"/>
                </a:solidFill>
              </a:rPr>
              <a:t> fork = </a:t>
            </a:r>
            <a:r>
              <a:rPr lang="en-US" sz="2000" dirty="0" err="1">
                <a:solidFill>
                  <a:srgbClr val="0070C0"/>
                </a:solidFill>
              </a:rPr>
              <a:t>takeTMVar</a:t>
            </a:r>
            <a:r>
              <a:rPr lang="en-US" sz="2000" dirty="0">
                <a:solidFill>
                  <a:srgbClr val="0070C0"/>
                </a:solidFill>
              </a:rPr>
              <a:t> fork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releaseFork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Fork -&gt; STM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releaseFork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r>
              <a:rPr lang="en-US" sz="2000" dirty="0">
                <a:solidFill>
                  <a:srgbClr val="0070C0"/>
                </a:solidFill>
              </a:rPr>
              <a:t> fork = </a:t>
            </a:r>
            <a:r>
              <a:rPr lang="en-US" sz="2000" dirty="0" err="1">
                <a:solidFill>
                  <a:srgbClr val="0070C0"/>
                </a:solidFill>
              </a:rPr>
              <a:t>putTMVar</a:t>
            </a:r>
            <a:r>
              <a:rPr lang="en-US" sz="2000" dirty="0">
                <a:solidFill>
                  <a:srgbClr val="0070C0"/>
                </a:solidFill>
              </a:rPr>
              <a:t> fork </a:t>
            </a:r>
            <a:r>
              <a:rPr lang="en-US" sz="2000" dirty="0" err="1">
                <a:solidFill>
                  <a:srgbClr val="0070C0"/>
                </a:solidFill>
              </a:rPr>
              <a:t>i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2761" y="123447"/>
            <a:ext cx="6838681" cy="624786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System.Random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type Name = String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:: (Name, (Fork, Fork)) -&gt; IO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(name, (left, right)) = forever $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(name ++ " is hungry.")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(</a:t>
            </a:r>
            <a:r>
              <a:rPr lang="en-US" sz="2000" dirty="0" err="1">
                <a:solidFill>
                  <a:srgbClr val="0070C0"/>
                </a:solidFill>
              </a:rPr>
              <a:t>leftv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r>
              <a:rPr lang="en-US" sz="2000" dirty="0" err="1">
                <a:solidFill>
                  <a:srgbClr val="0070C0"/>
                </a:solidFill>
              </a:rPr>
              <a:t>rightv</a:t>
            </a:r>
            <a:r>
              <a:rPr lang="en-US" sz="2000" dirty="0">
                <a:solidFill>
                  <a:srgbClr val="0070C0"/>
                </a:solidFill>
              </a:rPr>
              <a:t>)&lt;- atomically $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leftv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takeFork</a:t>
            </a:r>
            <a:r>
              <a:rPr lang="en-US" sz="2000" dirty="0">
                <a:solidFill>
                  <a:srgbClr val="0070C0"/>
                </a:solidFill>
              </a:rPr>
              <a:t> left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rightv</a:t>
            </a:r>
            <a:r>
              <a:rPr lang="en-US" sz="2000" dirty="0">
                <a:solidFill>
                  <a:srgbClr val="0070C0"/>
                </a:solidFill>
              </a:rPr>
              <a:t> &lt;-</a:t>
            </a:r>
            <a:r>
              <a:rPr lang="en-US" sz="2000" dirty="0" err="1">
                <a:solidFill>
                  <a:srgbClr val="0070C0"/>
                </a:solidFill>
              </a:rPr>
              <a:t>takeFork</a:t>
            </a:r>
            <a:r>
              <a:rPr lang="en-US" sz="2000" dirty="0">
                <a:solidFill>
                  <a:srgbClr val="0070C0"/>
                </a:solidFill>
              </a:rPr>
              <a:t> right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return (</a:t>
            </a:r>
            <a:r>
              <a:rPr lang="en-US" sz="2000" dirty="0" err="1">
                <a:solidFill>
                  <a:srgbClr val="0070C0"/>
                </a:solidFill>
              </a:rPr>
              <a:t>leftv,rightv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(name ++ " got forks"++ (show </a:t>
            </a:r>
            <a:r>
              <a:rPr lang="en-US" sz="2000" dirty="0" err="1">
                <a:solidFill>
                  <a:srgbClr val="0070C0"/>
                </a:solidFill>
              </a:rPr>
              <a:t>leftv</a:t>
            </a:r>
            <a:r>
              <a:rPr lang="en-US" sz="2000" dirty="0">
                <a:solidFill>
                  <a:srgbClr val="0070C0"/>
                </a:solidFill>
              </a:rPr>
              <a:t>)++","++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(show </a:t>
            </a:r>
            <a:r>
              <a:rPr lang="en-US" sz="2000" dirty="0" err="1">
                <a:solidFill>
                  <a:srgbClr val="0070C0"/>
                </a:solidFill>
              </a:rPr>
              <a:t>rightv</a:t>
            </a:r>
            <a:r>
              <a:rPr lang="en-US" sz="2000" dirty="0">
                <a:solidFill>
                  <a:srgbClr val="0070C0"/>
                </a:solidFill>
              </a:rPr>
              <a:t>)++  " and is now eating.")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delay &lt;- </a:t>
            </a:r>
            <a:r>
              <a:rPr lang="en-US" sz="2000" dirty="0" err="1">
                <a:solidFill>
                  <a:srgbClr val="0070C0"/>
                </a:solidFill>
              </a:rPr>
              <a:t>randomRIO</a:t>
            </a:r>
            <a:r>
              <a:rPr lang="en-US" sz="2000" dirty="0">
                <a:solidFill>
                  <a:srgbClr val="0070C0"/>
                </a:solidFill>
              </a:rPr>
              <a:t> (1,10)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threadDelay</a:t>
            </a:r>
            <a:r>
              <a:rPr lang="en-US" sz="2000" dirty="0">
                <a:solidFill>
                  <a:srgbClr val="0070C0"/>
                </a:solidFill>
              </a:rPr>
              <a:t> (delay * 1000000)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(name ++ " is done eating. Going back to thinking.")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atomically $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</a:t>
            </a:r>
            <a:r>
              <a:rPr lang="en-US" sz="2000" dirty="0" err="1">
                <a:solidFill>
                  <a:srgbClr val="0070C0"/>
                </a:solidFill>
              </a:rPr>
              <a:t>releaseFork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leftv</a:t>
            </a:r>
            <a:r>
              <a:rPr lang="en-US" sz="2000" dirty="0">
                <a:solidFill>
                  <a:srgbClr val="0070C0"/>
                </a:solidFill>
              </a:rPr>
              <a:t> left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</a:t>
            </a:r>
            <a:r>
              <a:rPr lang="en-US" sz="2000" dirty="0" err="1">
                <a:solidFill>
                  <a:srgbClr val="0070C0"/>
                </a:solidFill>
              </a:rPr>
              <a:t>releaseFork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rightv</a:t>
            </a:r>
            <a:r>
              <a:rPr lang="en-US" sz="2000" dirty="0">
                <a:solidFill>
                  <a:srgbClr val="0070C0"/>
                </a:solidFill>
              </a:rPr>
              <a:t> right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delay &lt;- </a:t>
            </a:r>
            <a:r>
              <a:rPr lang="en-US" sz="2000" dirty="0" err="1">
                <a:solidFill>
                  <a:srgbClr val="0070C0"/>
                </a:solidFill>
              </a:rPr>
              <a:t>randomRIO</a:t>
            </a:r>
            <a:r>
              <a:rPr lang="en-US" sz="2000" dirty="0">
                <a:solidFill>
                  <a:srgbClr val="0070C0"/>
                </a:solidFill>
              </a:rPr>
              <a:t> (1, 10)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threadDelay</a:t>
            </a:r>
            <a:r>
              <a:rPr lang="en-US" sz="2000" dirty="0">
                <a:solidFill>
                  <a:srgbClr val="0070C0"/>
                </a:solidFill>
              </a:rPr>
              <a:t> (delay * 1000000)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432" y="123447"/>
            <a:ext cx="338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Dining Philosophers - varianta2</a:t>
            </a:r>
          </a:p>
          <a:p>
            <a:r>
              <a:rPr lang="en-US" dirty="0"/>
              <a:t>   dinnersrc3.hs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5362D-3B6A-CE84-2113-D10499742970}"/>
              </a:ext>
            </a:extLst>
          </p:cNvPr>
          <p:cNvSpPr txBox="1"/>
          <p:nvPr/>
        </p:nvSpPr>
        <p:spPr>
          <a:xfrm>
            <a:off x="476730" y="5324549"/>
            <a:ext cx="3307475" cy="40011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</a:rPr>
              <a:t>forks &lt;- </a:t>
            </a:r>
            <a:r>
              <a:rPr lang="en-GB" sz="2000" dirty="0" err="1">
                <a:solidFill>
                  <a:srgbClr val="0070C0"/>
                </a:solidFill>
              </a:rPr>
              <a:t>mapM</a:t>
            </a:r>
            <a:r>
              <a:rPr lang="en-GB" sz="2000" dirty="0">
                <a:solidFill>
                  <a:srgbClr val="0070C0"/>
                </a:solidFill>
              </a:rPr>
              <a:t> </a:t>
            </a:r>
            <a:r>
              <a:rPr lang="en-GB" sz="2000" dirty="0" err="1">
                <a:solidFill>
                  <a:srgbClr val="0070C0"/>
                </a:solidFill>
              </a:rPr>
              <a:t>newFork</a:t>
            </a:r>
            <a:r>
              <a:rPr lang="en-GB" sz="2000" dirty="0">
                <a:solidFill>
                  <a:srgbClr val="0070C0"/>
                </a:solidFill>
              </a:rPr>
              <a:t> [1..5]</a:t>
            </a:r>
          </a:p>
        </p:txBody>
      </p:sp>
    </p:spTree>
    <p:extLst>
      <p:ext uri="{BB962C8B-B14F-4D97-AF65-F5344CB8AC3E}">
        <p14:creationId xmlns:p14="http://schemas.microsoft.com/office/powerpoint/2010/main" val="2642647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89010" y="1842769"/>
            <a:ext cx="4993354" cy="3785652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=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:: IO a -&gt; IO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(do r &lt;- action;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return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wait ::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wait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 = </a:t>
            </a:r>
            <a:r>
              <a:rPr lang="en-US" sz="2400" dirty="0" err="1">
                <a:solidFill>
                  <a:srgbClr val="0070C0"/>
                </a:solidFill>
              </a:rPr>
              <a:t>readMVar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3547" y="-102815"/>
            <a:ext cx="98974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dirty="0" err="1">
                <a:solidFill>
                  <a:srgbClr val="000000"/>
                </a:solidFill>
              </a:rPr>
              <a:t>comunicare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asincrona</a:t>
            </a:r>
            <a:r>
              <a:rPr lang="en-US" sz="2400" dirty="0">
                <a:solidFill>
                  <a:srgbClr val="000000"/>
                </a:solidFill>
              </a:rPr>
              <a:t>  (</a:t>
            </a:r>
            <a:r>
              <a:rPr lang="en-US" sz="2400" dirty="0" err="1">
                <a:solidFill>
                  <a:srgbClr val="000000"/>
                </a:solidFill>
              </a:rPr>
              <a:t>folosind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0000"/>
                </a:solidFill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</a:rPr>
              <a:t>    Se </a:t>
            </a:r>
            <a:r>
              <a:rPr lang="en-US" sz="2400" dirty="0" err="1">
                <a:solidFill>
                  <a:srgbClr val="000000"/>
                </a:solidFill>
              </a:rPr>
              <a:t>creaza</a:t>
            </a:r>
            <a:r>
              <a:rPr lang="en-US" sz="2400" dirty="0">
                <a:solidFill>
                  <a:srgbClr val="000000"/>
                </a:solidFill>
              </a:rPr>
              <a:t> un thread </a:t>
            </a:r>
            <a:r>
              <a:rPr lang="en-US" sz="2400" dirty="0" err="1">
                <a:solidFill>
                  <a:srgbClr val="000000"/>
                </a:solidFill>
              </a:rPr>
              <a:t>separat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pentru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fiecare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actiune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si</a:t>
            </a:r>
            <a:r>
              <a:rPr lang="en-US" sz="2400" dirty="0">
                <a:solidFill>
                  <a:srgbClr val="000000"/>
                </a:solidFill>
              </a:rPr>
              <a:t> se </a:t>
            </a:r>
            <a:r>
              <a:rPr lang="en-US" sz="2400" dirty="0" err="1">
                <a:solidFill>
                  <a:srgbClr val="000000"/>
                </a:solidFill>
              </a:rPr>
              <a:t>asteapta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rezultatul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001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80593" y="1066746"/>
            <a:ext cx="4496760" cy="3170099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data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=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:: IO a -&gt; IO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(do r &lt;- action;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return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wait ::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wait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 = </a:t>
            </a:r>
            <a:r>
              <a:rPr lang="en-US" sz="2000" dirty="0" err="1">
                <a:solidFill>
                  <a:srgbClr val="0070C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8234" y="1066745"/>
            <a:ext cx="6676315" cy="317009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Text.Printf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qualified </a:t>
            </a:r>
            <a:r>
              <a:rPr lang="en-US" sz="2000" dirty="0" err="1">
                <a:solidFill>
                  <a:srgbClr val="0070C0"/>
                </a:solidFill>
              </a:rPr>
              <a:t>Data.ByteString</a:t>
            </a:r>
            <a:r>
              <a:rPr lang="en-US" sz="2000" dirty="0">
                <a:solidFill>
                  <a:srgbClr val="0070C0"/>
                </a:solidFill>
              </a:rPr>
              <a:t> as B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>
                <a:solidFill>
                  <a:srgbClr val="000000"/>
                </a:solidFill>
              </a:rPr>
              <a:t>--  </a:t>
            </a:r>
            <a:r>
              <a:rPr lang="en-US" dirty="0" err="1">
                <a:solidFill>
                  <a:srgbClr val="000000"/>
                </a:solidFill>
              </a:rPr>
              <a:t>parconc</a:t>
            </a:r>
            <a:r>
              <a:rPr lang="en-US" dirty="0">
                <a:solidFill>
                  <a:srgbClr val="000000"/>
                </a:solidFill>
              </a:rPr>
              <a:t>-examples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TimeIt</a:t>
            </a:r>
            <a:r>
              <a:rPr lang="en-US" sz="2000" dirty="0">
                <a:solidFill>
                  <a:srgbClr val="0070C0"/>
                </a:solidFill>
              </a:rPr>
              <a:t>    </a:t>
            </a:r>
            <a:r>
              <a:rPr lang="en-US" sz="2000" dirty="0">
                <a:solidFill>
                  <a:srgbClr val="000000"/>
                </a:solidFill>
              </a:rPr>
              <a:t>--   </a:t>
            </a:r>
            <a:r>
              <a:rPr lang="en-US" dirty="0" err="1">
                <a:solidFill>
                  <a:srgbClr val="000000"/>
                </a:solidFill>
              </a:rPr>
              <a:t>parconc</a:t>
            </a:r>
            <a:r>
              <a:rPr lang="en-US" dirty="0">
                <a:solidFill>
                  <a:srgbClr val="000000"/>
                </a:solidFill>
              </a:rPr>
              <a:t>-examples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:: String -&gt; IO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= do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(page, time) &lt;- </a:t>
            </a:r>
            <a:r>
              <a:rPr lang="en-US" sz="2000" dirty="0" err="1">
                <a:solidFill>
                  <a:srgbClr val="0070C0"/>
                </a:solidFill>
              </a:rPr>
              <a:t>timeit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</a:t>
            </a:r>
            <a:r>
              <a:rPr lang="en-US" sz="2000" dirty="0" err="1">
                <a:solidFill>
                  <a:srgbClr val="0070C0"/>
                </a:solidFill>
              </a:rPr>
              <a:t>printf</a:t>
            </a:r>
            <a:r>
              <a:rPr lang="en-US" sz="2000" dirty="0">
                <a:solidFill>
                  <a:srgbClr val="0070C0"/>
                </a:solidFill>
              </a:rPr>
              <a:t> " %s (%d bytes, %.2fs)\n"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page)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517" y="4378003"/>
            <a:ext cx="10037684" cy="120032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main = 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as &lt;-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. </a:t>
            </a:r>
            <a:r>
              <a:rPr lang="en-US" sz="2400" dirty="0" err="1">
                <a:solidFill>
                  <a:srgbClr val="0070C0"/>
                </a:solidFill>
              </a:rPr>
              <a:t>timeDownload</a:t>
            </a:r>
            <a:r>
              <a:rPr lang="en-US" sz="2400" dirty="0">
                <a:solidFill>
                  <a:srgbClr val="0070C0"/>
                </a:solidFill>
              </a:rPr>
              <a:t>) sites     -- sites =["url1","url2",…]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_ wait as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6296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dirty="0" err="1">
                <a:solidFill>
                  <a:srgbClr val="000000"/>
                </a:solidFill>
              </a:rPr>
              <a:t>comunicare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asincrona</a:t>
            </a:r>
            <a:r>
              <a:rPr lang="en-US" sz="2400" dirty="0">
                <a:solidFill>
                  <a:srgbClr val="000000"/>
                </a:solidFill>
              </a:rPr>
              <a:t>  (</a:t>
            </a:r>
            <a:r>
              <a:rPr lang="en-US" sz="2400" dirty="0" err="1">
                <a:solidFill>
                  <a:srgbClr val="000000"/>
                </a:solidFill>
              </a:rPr>
              <a:t>folosind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0000"/>
                </a:solidFill>
              </a:rPr>
              <a:t>) 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3952" y="128018"/>
            <a:ext cx="3314497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geturl3.hs ©2012, Simon Marlow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9082" y="5394730"/>
            <a:ext cx="6594882" cy="1015663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err="1"/>
              <a:t>asteapta</a:t>
            </a:r>
            <a:r>
              <a:rPr lang="en-US" sz="2000" b="1" dirty="0"/>
              <a:t> ca </a:t>
            </a:r>
            <a:r>
              <a:rPr lang="en-US" sz="2000" b="1" dirty="0" err="1"/>
              <a:t>toate</a:t>
            </a:r>
            <a:r>
              <a:rPr lang="en-US" sz="2000" b="1" dirty="0"/>
              <a:t> </a:t>
            </a:r>
            <a:r>
              <a:rPr lang="en-US" sz="2000" b="1" dirty="0" err="1"/>
              <a:t>actiunile</a:t>
            </a:r>
            <a:r>
              <a:rPr lang="en-US" sz="2000" b="1" dirty="0"/>
              <a:t> </a:t>
            </a:r>
            <a:r>
              <a:rPr lang="en-US" sz="2000" b="1" dirty="0" err="1"/>
              <a:t>asincrone</a:t>
            </a:r>
            <a:r>
              <a:rPr lang="en-US" sz="2000" b="1" dirty="0"/>
              <a:t> </a:t>
            </a:r>
            <a:r>
              <a:rPr lang="en-US" sz="2000" b="1" dirty="0" err="1"/>
              <a:t>sa</a:t>
            </a:r>
            <a:r>
              <a:rPr lang="en-US" sz="2000" b="1" dirty="0"/>
              <a:t> se </a:t>
            </a:r>
            <a:r>
              <a:rPr lang="en-US" sz="2000" b="1" dirty="0" err="1"/>
              <a:t>termine</a:t>
            </a:r>
            <a:r>
              <a:rPr lang="en-US" sz="2000" b="1" dirty="0"/>
              <a:t>, </a:t>
            </a:r>
          </a:p>
          <a:p>
            <a:r>
              <a:rPr lang="en-US" sz="2000" b="1" dirty="0" err="1"/>
              <a:t>monitorizand</a:t>
            </a:r>
            <a:r>
              <a:rPr lang="en-US" sz="2000" b="1" dirty="0"/>
              <a:t> </a:t>
            </a:r>
            <a:r>
              <a:rPr lang="en-US" sz="2000" b="1" dirty="0" err="1"/>
              <a:t>fiecare</a:t>
            </a:r>
            <a:r>
              <a:rPr lang="en-US" sz="2000" b="1" dirty="0"/>
              <a:t> </a:t>
            </a:r>
            <a:r>
              <a:rPr lang="en-US" sz="2000" b="1" dirty="0" err="1"/>
              <a:t>actiune</a:t>
            </a:r>
            <a:r>
              <a:rPr lang="en-US" sz="2000" b="1" dirty="0"/>
              <a:t> in parte; </a:t>
            </a:r>
            <a:r>
              <a:rPr lang="en-US" sz="2000" dirty="0">
                <a:solidFill>
                  <a:srgbClr val="FF0000"/>
                </a:solidFill>
              </a:rPr>
              <a:t>un alt thread </a:t>
            </a:r>
            <a:r>
              <a:rPr lang="en-US" sz="2000" dirty="0" err="1">
                <a:solidFill>
                  <a:srgbClr val="FF0000"/>
                </a:solidFill>
              </a:rPr>
              <a:t>ar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putea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r>
              <a:rPr lang="en-US" sz="2000" dirty="0" err="1">
                <a:solidFill>
                  <a:srgbClr val="FF0000"/>
                </a:solidFill>
              </a:rPr>
              <a:t>interveni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inainte</a:t>
            </a:r>
            <a:r>
              <a:rPr lang="en-US" sz="2000" dirty="0">
                <a:solidFill>
                  <a:srgbClr val="FF0000"/>
                </a:solidFill>
              </a:rPr>
              <a:t> ca </a:t>
            </a:r>
            <a:r>
              <a:rPr lang="en-US" sz="2000" dirty="0" err="1">
                <a:solidFill>
                  <a:srgbClr val="FF0000"/>
                </a:solidFill>
              </a:rPr>
              <a:t>toate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actiunile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</a:t>
            </a:r>
            <a:r>
              <a:rPr lang="en-US" sz="2000" dirty="0">
                <a:solidFill>
                  <a:srgbClr val="FF0000"/>
                </a:solidFill>
              </a:rPr>
              <a:t> se </a:t>
            </a:r>
            <a:r>
              <a:rPr lang="en-US" sz="2000" dirty="0" err="1">
                <a:solidFill>
                  <a:srgbClr val="FF0000"/>
                </a:solidFill>
              </a:rPr>
              <a:t>termine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158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5254" y="1255077"/>
            <a:ext cx="9371308" cy="4524315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=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:: IO a -&gt; IO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&lt;- atomically $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newEmptyTMVar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 return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(do r &lt;- action; (atomically. </a:t>
            </a:r>
            <a:r>
              <a:rPr lang="en-US" sz="2400" dirty="0" err="1">
                <a:solidFill>
                  <a:srgbClr val="0070C0"/>
                </a:solidFill>
              </a:rPr>
              <a:t>putTMVar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  r)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return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waitSTM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-&gt; STM a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waitSTM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 = </a:t>
            </a:r>
            <a:r>
              <a:rPr lang="en-US" sz="2400" dirty="0" err="1">
                <a:solidFill>
                  <a:srgbClr val="0070C0"/>
                </a:solidFill>
              </a:rPr>
              <a:t>readTMVar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3547" y="-102815"/>
            <a:ext cx="2452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cu 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555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7229" y="312683"/>
            <a:ext cx="5874346" cy="3785652"/>
          </a:xfrm>
          <a:prstGeom prst="rect">
            <a:avLst/>
          </a:prstGeom>
          <a:ln w="127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data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=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TMVar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:: IO a -&gt; IO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&lt;- atomically $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newEmptyTMVar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return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(do r &lt;- action; (atomically. </a:t>
            </a:r>
            <a:r>
              <a:rPr lang="en-US" sz="2000" dirty="0" err="1">
                <a:solidFill>
                  <a:srgbClr val="0070C0"/>
                </a:solidFill>
              </a:rPr>
              <a:t>putTMVar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  r)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return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waitSTM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-&gt; STM a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waitSTM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 = </a:t>
            </a:r>
            <a:r>
              <a:rPr lang="en-US" sz="2000" dirty="0" err="1">
                <a:solidFill>
                  <a:srgbClr val="0070C0"/>
                </a:solidFill>
              </a:rPr>
              <a:t>readTMVar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3547" y="-102815"/>
            <a:ext cx="2452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cu 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6986" y="4487855"/>
            <a:ext cx="6797245" cy="83099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waitAll</a:t>
            </a:r>
            <a:r>
              <a:rPr lang="en-US" sz="2400" dirty="0">
                <a:solidFill>
                  <a:srgbClr val="0070C0"/>
                </a:solidFill>
              </a:rPr>
              <a:t> :: [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a] -&gt; IO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waitAll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asyncs</a:t>
            </a:r>
            <a:r>
              <a:rPr lang="en-US" sz="2400" dirty="0">
                <a:solidFill>
                  <a:srgbClr val="0070C0"/>
                </a:solidFill>
              </a:rPr>
              <a:t> = atomically $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_ </a:t>
            </a:r>
            <a:r>
              <a:rPr lang="en-US" sz="2400" dirty="0" err="1">
                <a:solidFill>
                  <a:srgbClr val="0070C0"/>
                </a:solidFill>
              </a:rPr>
              <a:t>waitSTM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asyncs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6206" y="5528068"/>
            <a:ext cx="5690340" cy="70788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err="1"/>
              <a:t>monitorizeaza</a:t>
            </a:r>
            <a:r>
              <a:rPr lang="en-US" sz="2000" b="1" dirty="0"/>
              <a:t> </a:t>
            </a:r>
            <a:r>
              <a:rPr lang="en-US" sz="2000" b="1" dirty="0" err="1"/>
              <a:t>terminarea</a:t>
            </a:r>
            <a:r>
              <a:rPr lang="en-US" sz="2000" b="1" dirty="0"/>
              <a:t> </a:t>
            </a:r>
            <a:r>
              <a:rPr lang="en-US" sz="2000" b="1" dirty="0" err="1"/>
              <a:t>actiunilor</a:t>
            </a:r>
            <a:r>
              <a:rPr lang="en-US" sz="2000" b="1" dirty="0"/>
              <a:t> global,</a:t>
            </a:r>
          </a:p>
          <a:p>
            <a:r>
              <a:rPr lang="en-US" sz="2000" b="1" dirty="0" err="1"/>
              <a:t>intoarce</a:t>
            </a:r>
            <a:r>
              <a:rPr lang="en-US" sz="2000" b="1" dirty="0"/>
              <a:t> </a:t>
            </a:r>
            <a:r>
              <a:rPr lang="en-US" sz="2000" b="1" dirty="0" err="1"/>
              <a:t>dupa</a:t>
            </a:r>
            <a:r>
              <a:rPr lang="en-US" sz="2000" b="1" dirty="0"/>
              <a:t> </a:t>
            </a:r>
            <a:r>
              <a:rPr lang="en-US" sz="2000" b="1" dirty="0" err="1"/>
              <a:t>terminarea</a:t>
            </a:r>
            <a:r>
              <a:rPr lang="en-US" sz="2000" b="1" dirty="0"/>
              <a:t> </a:t>
            </a:r>
            <a:r>
              <a:rPr lang="en-US" sz="2000" b="1" dirty="0" err="1"/>
              <a:t>tuturor</a:t>
            </a:r>
            <a:r>
              <a:rPr lang="en-US" sz="2000" b="1" dirty="0"/>
              <a:t> </a:t>
            </a:r>
            <a:r>
              <a:rPr lang="en-US" sz="2000" b="1" dirty="0" err="1"/>
              <a:t>actiunilor</a:t>
            </a:r>
            <a:r>
              <a:rPr lang="en-US" sz="2000" b="1" dirty="0"/>
              <a:t> din </a:t>
            </a:r>
            <a:r>
              <a:rPr lang="en-US" sz="2000" b="1" dirty="0" err="1"/>
              <a:t>lista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44705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4614" y="864107"/>
            <a:ext cx="8667719" cy="224676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"Running the philosophers."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as0 &lt;-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2  (</a:t>
            </a:r>
            <a:r>
              <a:rPr lang="en-US" sz="2000" dirty="0" err="1">
                <a:solidFill>
                  <a:srgbClr val="0070C0"/>
                </a:solidFill>
              </a:rPr>
              <a:t>philosophersWithForks</a:t>
            </a:r>
            <a:r>
              <a:rPr lang="en-US" sz="2000" dirty="0">
                <a:solidFill>
                  <a:srgbClr val="0070C0"/>
                </a:solidFill>
              </a:rPr>
              <a:t> !! 0)    --</a:t>
            </a:r>
            <a:r>
              <a:rPr lang="en-US" sz="2000" dirty="0" err="1">
                <a:solidFill>
                  <a:srgbClr val="0070C0"/>
                </a:solidFill>
              </a:rPr>
              <a:t>Aristotel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as1 &lt;-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1  (</a:t>
            </a:r>
            <a:r>
              <a:rPr lang="en-US" sz="2000" dirty="0" err="1">
                <a:solidFill>
                  <a:srgbClr val="0070C0"/>
                </a:solidFill>
              </a:rPr>
              <a:t>philosophersWithForks</a:t>
            </a:r>
            <a:r>
              <a:rPr lang="en-US" sz="2000" dirty="0">
                <a:solidFill>
                  <a:srgbClr val="0070C0"/>
                </a:solidFill>
              </a:rPr>
              <a:t> !! 1)    -- Kant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as2 &lt;-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3  (</a:t>
            </a:r>
            <a:r>
              <a:rPr lang="en-US" sz="2000" dirty="0" err="1">
                <a:solidFill>
                  <a:srgbClr val="0070C0"/>
                </a:solidFill>
              </a:rPr>
              <a:t>philosophersWithForks</a:t>
            </a:r>
            <a:r>
              <a:rPr lang="en-US" sz="2000" dirty="0">
                <a:solidFill>
                  <a:srgbClr val="0070C0"/>
                </a:solidFill>
              </a:rPr>
              <a:t> !! 2)    -- Spinoza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waitAll</a:t>
            </a:r>
            <a:r>
              <a:rPr lang="en-US" sz="2000" dirty="0">
                <a:solidFill>
                  <a:srgbClr val="0070C0"/>
                </a:solidFill>
              </a:rPr>
              <a:t> [as0,as1,as2]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"WAIT RETURNED"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getLine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06062"/>
            <a:ext cx="1328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</a:rPr>
              <a:t>waitAll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46987" y="2607153"/>
            <a:ext cx="7010399" cy="21852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(Name, (Fork, Fork)) -&gt; IO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n (name, (left, right)) = if (n==0) then return ()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else 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(name ++ " is hungry.")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       ….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(n-1) (name, (left, right))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99" y="3499613"/>
            <a:ext cx="5774133" cy="2619053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409" y="3482841"/>
            <a:ext cx="981541" cy="335309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3018265" y="4252747"/>
            <a:ext cx="811369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200" y="5487665"/>
            <a:ext cx="981541" cy="3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50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6062" y="180305"/>
            <a:ext cx="9913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Dining Philosophers – </a:t>
            </a:r>
            <a:r>
              <a:rPr lang="en-US" sz="2400" dirty="0" err="1"/>
              <a:t>varianta</a:t>
            </a:r>
            <a:r>
              <a:rPr lang="en-US" sz="2400" dirty="0"/>
              <a:t> in care </a:t>
            </a:r>
            <a:r>
              <a:rPr lang="en-US" sz="2400" dirty="0" err="1"/>
              <a:t>astept</a:t>
            </a:r>
            <a:r>
              <a:rPr lang="en-US" sz="2400" dirty="0"/>
              <a:t> ca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manance</a:t>
            </a:r>
            <a:r>
              <a:rPr lang="en-US" sz="2400" dirty="0"/>
              <a:t> de n </a:t>
            </a:r>
            <a:r>
              <a:rPr lang="en-US" sz="2400" dirty="0" err="1"/>
              <a:t>ori</a:t>
            </a:r>
            <a:r>
              <a:rPr lang="en-US" sz="24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2124" y="1580136"/>
            <a:ext cx="6722738" cy="397031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runPhilosopher</a:t>
            </a:r>
            <a:r>
              <a:rPr lang="en-US" dirty="0">
                <a:solidFill>
                  <a:srgbClr val="0070C0"/>
                </a:solidFill>
              </a:rPr>
              <a:t> n (name, (left, right)) =   …….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forks &lt;- atomically $ do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sticks &lt;- </a:t>
            </a:r>
            <a:r>
              <a:rPr lang="en-US" dirty="0" err="1">
                <a:solidFill>
                  <a:srgbClr val="0070C0"/>
                </a:solidFill>
              </a:rPr>
              <a:t>mapM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const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newTVar</a:t>
            </a:r>
            <a:r>
              <a:rPr lang="en-US" dirty="0">
                <a:solidFill>
                  <a:srgbClr val="0070C0"/>
                </a:solidFill>
              </a:rPr>
              <a:t> True)) [1..5]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return sticks</a:t>
            </a:r>
          </a:p>
          <a:p>
            <a:r>
              <a:rPr lang="en-US" dirty="0">
                <a:solidFill>
                  <a:srgbClr val="0070C0"/>
                </a:solidFill>
              </a:rPr>
              <a:t>   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let </a:t>
            </a:r>
            <a:r>
              <a:rPr lang="en-US" dirty="0" err="1">
                <a:solidFill>
                  <a:srgbClr val="0070C0"/>
                </a:solidFill>
              </a:rPr>
              <a:t>forkPairs</a:t>
            </a:r>
            <a:r>
              <a:rPr lang="en-US" dirty="0">
                <a:solidFill>
                  <a:srgbClr val="0070C0"/>
                </a:solidFill>
              </a:rPr>
              <a:t>  = zip forks ((tail  forks) ++ [head forks])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</a:t>
            </a:r>
            <a:r>
              <a:rPr lang="en-US" dirty="0" err="1">
                <a:solidFill>
                  <a:srgbClr val="0070C0"/>
                </a:solidFill>
              </a:rPr>
              <a:t>philosophersWithForks</a:t>
            </a:r>
            <a:r>
              <a:rPr lang="en-US" dirty="0">
                <a:solidFill>
                  <a:srgbClr val="0070C0"/>
                </a:solidFill>
              </a:rPr>
              <a:t> = zip philosophers </a:t>
            </a:r>
            <a:r>
              <a:rPr lang="en-US" dirty="0" err="1">
                <a:solidFill>
                  <a:srgbClr val="0070C0"/>
                </a:solidFill>
              </a:rPr>
              <a:t>forkPairs</a:t>
            </a:r>
            <a:r>
              <a:rPr lang="en-US" dirty="0">
                <a:solidFill>
                  <a:srgbClr val="0070C0"/>
                </a:solidFill>
              </a:rPr>
              <a:t>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n = 2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</a:t>
            </a:r>
            <a:r>
              <a:rPr lang="en-US" dirty="0" err="1">
                <a:solidFill>
                  <a:srgbClr val="0070C0"/>
                </a:solidFill>
              </a:rPr>
              <a:t>putStrLn</a:t>
            </a:r>
            <a:r>
              <a:rPr lang="en-US" dirty="0">
                <a:solidFill>
                  <a:srgbClr val="0070C0"/>
                </a:solidFill>
              </a:rPr>
              <a:t> "Running the philosophers. "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as &lt;- </a:t>
            </a:r>
            <a:r>
              <a:rPr lang="en-US" dirty="0" err="1">
                <a:solidFill>
                  <a:srgbClr val="0070C0"/>
                </a:solidFill>
              </a:rPr>
              <a:t>mapM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async</a:t>
            </a:r>
            <a:r>
              <a:rPr lang="en-US" dirty="0">
                <a:solidFill>
                  <a:srgbClr val="0070C0"/>
                </a:solidFill>
              </a:rPr>
              <a:t> . (</a:t>
            </a:r>
            <a:r>
              <a:rPr lang="en-US" dirty="0" err="1">
                <a:solidFill>
                  <a:srgbClr val="0070C0"/>
                </a:solidFill>
              </a:rPr>
              <a:t>runPhilosopher</a:t>
            </a:r>
            <a:r>
              <a:rPr lang="en-US" dirty="0">
                <a:solidFill>
                  <a:srgbClr val="0070C0"/>
                </a:solidFill>
              </a:rPr>
              <a:t> n)) </a:t>
            </a:r>
            <a:r>
              <a:rPr lang="en-US" dirty="0" err="1">
                <a:solidFill>
                  <a:srgbClr val="0070C0"/>
                </a:solidFill>
              </a:rPr>
              <a:t>philosophersWithForks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</a:t>
            </a:r>
            <a:r>
              <a:rPr lang="en-US" dirty="0" err="1">
                <a:solidFill>
                  <a:srgbClr val="0070C0"/>
                </a:solidFill>
              </a:rPr>
              <a:t>waitAll</a:t>
            </a:r>
            <a:r>
              <a:rPr lang="en-US" dirty="0">
                <a:solidFill>
                  <a:srgbClr val="0070C0"/>
                </a:solidFill>
              </a:rPr>
              <a:t> as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</a:t>
            </a:r>
            <a:r>
              <a:rPr lang="en-US" dirty="0" err="1">
                <a:solidFill>
                  <a:srgbClr val="0070C0"/>
                </a:solidFill>
              </a:rPr>
              <a:t>getLine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958" y="1004551"/>
            <a:ext cx="4743602" cy="50098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73488" y="1258354"/>
            <a:ext cx="1466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dinnersrc4.hs</a:t>
            </a:r>
          </a:p>
        </p:txBody>
      </p:sp>
    </p:spTree>
    <p:extLst>
      <p:ext uri="{BB962C8B-B14F-4D97-AF65-F5344CB8AC3E}">
        <p14:creationId xmlns:p14="http://schemas.microsoft.com/office/powerpoint/2010/main" val="19228661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6062" y="180305"/>
            <a:ext cx="9913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Dining Philosophers – </a:t>
            </a:r>
            <a:r>
              <a:rPr lang="en-US" sz="2400" dirty="0" err="1"/>
              <a:t>varianta</a:t>
            </a:r>
            <a:r>
              <a:rPr lang="en-US" sz="2400" dirty="0"/>
              <a:t> in care </a:t>
            </a:r>
            <a:r>
              <a:rPr lang="en-US" sz="2400" dirty="0" err="1"/>
              <a:t>astept</a:t>
            </a:r>
            <a:r>
              <a:rPr lang="en-US" sz="2400" dirty="0"/>
              <a:t> ca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manance</a:t>
            </a:r>
            <a:r>
              <a:rPr lang="en-US" sz="2400" dirty="0"/>
              <a:t> de n </a:t>
            </a:r>
            <a:r>
              <a:rPr lang="en-US" sz="2400" dirty="0" err="1"/>
              <a:t>ori</a:t>
            </a:r>
            <a:r>
              <a:rPr lang="en-US" sz="24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2124" y="827586"/>
            <a:ext cx="11483240" cy="535531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runPhilosopher</a:t>
            </a:r>
            <a:r>
              <a:rPr lang="en-US" dirty="0">
                <a:solidFill>
                  <a:srgbClr val="0070C0"/>
                </a:solidFill>
              </a:rPr>
              <a:t> :: </a:t>
            </a: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-&gt;  (Name, (Fork, Fork)) -&gt; IO ()</a:t>
            </a:r>
          </a:p>
          <a:p>
            <a:r>
              <a:rPr lang="en-US" dirty="0" err="1">
                <a:solidFill>
                  <a:srgbClr val="0070C0"/>
                </a:solidFill>
              </a:rPr>
              <a:t>runPhilosopher</a:t>
            </a:r>
            <a:r>
              <a:rPr lang="en-US" dirty="0">
                <a:solidFill>
                  <a:srgbClr val="0070C0"/>
                </a:solidFill>
              </a:rPr>
              <a:t> n (name, (left, right)) =  if n == 0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then return ()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else do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putStrLn</a:t>
            </a:r>
            <a:r>
              <a:rPr lang="en-US" dirty="0">
                <a:solidFill>
                  <a:srgbClr val="0070C0"/>
                </a:solidFill>
              </a:rPr>
              <a:t> (name ++ " is hungry.")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 atomically $ do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takeFork</a:t>
            </a:r>
            <a:r>
              <a:rPr lang="en-US" dirty="0">
                <a:solidFill>
                  <a:srgbClr val="0070C0"/>
                </a:solidFill>
              </a:rPr>
              <a:t> left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takeFork</a:t>
            </a:r>
            <a:r>
              <a:rPr lang="en-US" dirty="0">
                <a:solidFill>
                  <a:srgbClr val="0070C0"/>
                </a:solidFill>
              </a:rPr>
              <a:t> right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putStrLn</a:t>
            </a:r>
            <a:r>
              <a:rPr lang="en-US" dirty="0">
                <a:solidFill>
                  <a:srgbClr val="0070C0"/>
                </a:solidFill>
              </a:rPr>
              <a:t> (name ++ " got two forks  and is now eating.")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delay &lt;- </a:t>
            </a:r>
            <a:r>
              <a:rPr lang="en-US" dirty="0" err="1">
                <a:solidFill>
                  <a:srgbClr val="0070C0"/>
                </a:solidFill>
              </a:rPr>
              <a:t>randomRIO</a:t>
            </a:r>
            <a:r>
              <a:rPr lang="en-US" dirty="0">
                <a:solidFill>
                  <a:srgbClr val="0070C0"/>
                </a:solidFill>
              </a:rPr>
              <a:t> (1,10)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threadDelay</a:t>
            </a:r>
            <a:r>
              <a:rPr lang="en-US" dirty="0">
                <a:solidFill>
                  <a:srgbClr val="0070C0"/>
                </a:solidFill>
              </a:rPr>
              <a:t> (delay * 1000000)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if (n&gt; 1) then   </a:t>
            </a:r>
            <a:r>
              <a:rPr lang="en-US" dirty="0" err="1">
                <a:solidFill>
                  <a:srgbClr val="0070C0"/>
                </a:solidFill>
              </a:rPr>
              <a:t>putStrLn</a:t>
            </a:r>
            <a:r>
              <a:rPr lang="en-US" dirty="0">
                <a:solidFill>
                  <a:srgbClr val="0070C0"/>
                </a:solidFill>
              </a:rPr>
              <a:t> (name ++ " is done eating. Going back to thinking.")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              else   </a:t>
            </a:r>
            <a:r>
              <a:rPr lang="en-US" dirty="0" err="1">
                <a:solidFill>
                  <a:srgbClr val="0070C0"/>
                </a:solidFill>
              </a:rPr>
              <a:t>putStrLn</a:t>
            </a:r>
            <a:r>
              <a:rPr lang="en-US" dirty="0">
                <a:solidFill>
                  <a:srgbClr val="0070C0"/>
                </a:solidFill>
              </a:rPr>
              <a:t> (name ++ " is leaving.")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atomically $ do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releaseFork</a:t>
            </a:r>
            <a:r>
              <a:rPr lang="en-US" dirty="0">
                <a:solidFill>
                  <a:srgbClr val="0070C0"/>
                </a:solidFill>
              </a:rPr>
              <a:t> left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releaseFork</a:t>
            </a:r>
            <a:r>
              <a:rPr lang="en-US" dirty="0">
                <a:solidFill>
                  <a:srgbClr val="0070C0"/>
                </a:solidFill>
              </a:rPr>
              <a:t> right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delay &lt;- </a:t>
            </a:r>
            <a:r>
              <a:rPr lang="en-US" dirty="0" err="1">
                <a:solidFill>
                  <a:srgbClr val="0070C0"/>
                </a:solidFill>
              </a:rPr>
              <a:t>randomRIO</a:t>
            </a:r>
            <a:r>
              <a:rPr lang="en-US" dirty="0">
                <a:solidFill>
                  <a:srgbClr val="0070C0"/>
                </a:solidFill>
              </a:rPr>
              <a:t> (1, 10)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threadDelay</a:t>
            </a:r>
            <a:r>
              <a:rPr lang="en-US" dirty="0">
                <a:solidFill>
                  <a:srgbClr val="0070C0"/>
                </a:solidFill>
              </a:rPr>
              <a:t> (delay * 1000000)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</a:t>
            </a:r>
            <a:r>
              <a:rPr lang="en-US" dirty="0" err="1">
                <a:solidFill>
                  <a:srgbClr val="0070C0"/>
                </a:solidFill>
              </a:rPr>
              <a:t>runPhilosopher</a:t>
            </a:r>
            <a:r>
              <a:rPr lang="en-US" dirty="0">
                <a:solidFill>
                  <a:srgbClr val="0070C0"/>
                </a:solidFill>
              </a:rPr>
              <a:t> (n-1) (name, (left, right))</a:t>
            </a:r>
          </a:p>
        </p:txBody>
      </p:sp>
    </p:spTree>
    <p:extLst>
      <p:ext uri="{BB962C8B-B14F-4D97-AF65-F5344CB8AC3E}">
        <p14:creationId xmlns:p14="http://schemas.microsoft.com/office/powerpoint/2010/main" val="35673585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88" y="776458"/>
            <a:ext cx="7841025" cy="1925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/>
          <p:cNvSpPr txBox="1"/>
          <p:nvPr/>
        </p:nvSpPr>
        <p:spPr>
          <a:xfrm>
            <a:off x="373488" y="60107"/>
            <a:ext cx="2837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Monada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Either a b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38001" y="3857030"/>
            <a:ext cx="6902852" cy="193899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waitEither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::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Async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a -&gt;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Async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b -&gt; IO (Either a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waitEither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= atomically $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   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fmap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Left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waitSTM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70C0"/>
                </a:solidFill>
                <a:latin typeface="Arial Unicode MS" panose="020B0604020202020204" pitchFamily="34" charset="-128"/>
              </a:rPr>
              <a:t>              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`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orElse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`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            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fmap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Right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waitSTM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Unicode MS" panose="020B0604020202020204" pitchFamily="34" charset="-128"/>
              </a:rPr>
              <a:t> y)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82593" y="5974135"/>
            <a:ext cx="6149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3"/>
              </a:rPr>
              <a:t>http://chimera.labs.oreilly.com/books/1230000000929/ch10.html#sec_stm-async</a:t>
            </a:r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89" y="2908651"/>
            <a:ext cx="5966351" cy="7702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A90064-62BA-B4B1-3CB3-D82E1881DA83}"/>
              </a:ext>
            </a:extLst>
          </p:cNvPr>
          <p:cNvSpPr txBox="1"/>
          <p:nvPr/>
        </p:nvSpPr>
        <p:spPr>
          <a:xfrm>
            <a:off x="7636049" y="3857030"/>
            <a:ext cx="430489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/>
              <a:t>waitSTM</a:t>
            </a:r>
            <a:r>
              <a:rPr lang="en-US" b="1" dirty="0"/>
              <a:t> : Async a -&gt; STM a</a:t>
            </a:r>
          </a:p>
          <a:p>
            <a:r>
              <a:rPr lang="en-US" b="1" dirty="0" err="1"/>
              <a:t>waitSTM</a:t>
            </a:r>
            <a:r>
              <a:rPr lang="en-US" b="1" dirty="0"/>
              <a:t> x :: STM a</a:t>
            </a:r>
          </a:p>
          <a:p>
            <a:r>
              <a:rPr lang="en-US" b="1" dirty="0" err="1"/>
              <a:t>waitSTM</a:t>
            </a:r>
            <a:r>
              <a:rPr lang="en-US" b="1" dirty="0"/>
              <a:t> y :: STM b</a:t>
            </a:r>
          </a:p>
          <a:p>
            <a:endParaRPr lang="en-US" b="1" dirty="0"/>
          </a:p>
          <a:p>
            <a:r>
              <a:rPr lang="en-US" b="1" dirty="0" err="1"/>
              <a:t>fmap</a:t>
            </a:r>
            <a:r>
              <a:rPr lang="en-US" b="1" dirty="0"/>
              <a:t> Left (</a:t>
            </a:r>
            <a:r>
              <a:rPr lang="en-US" b="1" dirty="0" err="1"/>
              <a:t>waitSTM</a:t>
            </a:r>
            <a:r>
              <a:rPr lang="en-US" b="1" dirty="0"/>
              <a:t> x) :: STM (Either a b)</a:t>
            </a:r>
          </a:p>
          <a:p>
            <a:r>
              <a:rPr lang="en-US" b="1" dirty="0" err="1"/>
              <a:t>fmap</a:t>
            </a:r>
            <a:r>
              <a:rPr lang="en-US" b="1" dirty="0"/>
              <a:t> Right  (</a:t>
            </a:r>
            <a:r>
              <a:rPr lang="en-US" b="1" dirty="0" err="1"/>
              <a:t>waitSTM</a:t>
            </a:r>
            <a:r>
              <a:rPr lang="en-US" b="1" dirty="0"/>
              <a:t> y) ::  STM (Either a b)</a:t>
            </a:r>
          </a:p>
          <a:p>
            <a:r>
              <a:rPr lang="en-US" b="1" dirty="0" err="1"/>
              <a:t>waitEither</a:t>
            </a:r>
            <a:r>
              <a:rPr lang="en-US" b="1" dirty="0"/>
              <a:t> x y :: IO (Either a b)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E2338-D428-B772-9068-BEB27F542514}"/>
              </a:ext>
            </a:extLst>
          </p:cNvPr>
          <p:cNvSpPr txBox="1"/>
          <p:nvPr/>
        </p:nvSpPr>
        <p:spPr>
          <a:xfrm>
            <a:off x="7660439" y="2817686"/>
            <a:ext cx="394191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fmap</a:t>
            </a:r>
            <a:r>
              <a:rPr lang="en-US" dirty="0"/>
              <a:t> </a:t>
            </a:r>
            <a:r>
              <a:rPr lang="en-US" dirty="0" err="1"/>
              <a:t>aplicat</a:t>
            </a:r>
            <a:r>
              <a:rPr lang="en-US" dirty="0"/>
              <a:t> </a:t>
            </a:r>
            <a:r>
              <a:rPr lang="en-US" dirty="0" err="1"/>
              <a:t>functorului</a:t>
            </a:r>
            <a:r>
              <a:rPr lang="en-US" dirty="0"/>
              <a:t> STM:</a:t>
            </a:r>
          </a:p>
          <a:p>
            <a:r>
              <a:rPr lang="en-US" b="1" dirty="0"/>
              <a:t> </a:t>
            </a:r>
            <a:r>
              <a:rPr lang="en-US" b="1" dirty="0" err="1"/>
              <a:t>fmap</a:t>
            </a:r>
            <a:r>
              <a:rPr lang="en-US" b="1" dirty="0"/>
              <a:t> Left :: STM a -&gt; STM (Either a b)</a:t>
            </a:r>
          </a:p>
          <a:p>
            <a:r>
              <a:rPr lang="en-US" b="1" dirty="0"/>
              <a:t> </a:t>
            </a:r>
            <a:r>
              <a:rPr lang="en-US" b="1" dirty="0" err="1"/>
              <a:t>fmap</a:t>
            </a:r>
            <a:r>
              <a:rPr lang="en-US" b="1" dirty="0"/>
              <a:t> Right :: STM b -&gt; STM (Either a b)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21830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7229" y="312683"/>
            <a:ext cx="5874346" cy="3785652"/>
          </a:xfrm>
          <a:prstGeom prst="rect">
            <a:avLst/>
          </a:prstGeom>
          <a:ln w="127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data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=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TMVar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:: IO a -&gt; IO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&lt;- atomically $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newEmptyTMVar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return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(do r &lt;- action; (atomically. </a:t>
            </a:r>
            <a:r>
              <a:rPr lang="en-US" sz="2000" dirty="0" err="1">
                <a:solidFill>
                  <a:srgbClr val="0070C0"/>
                </a:solidFill>
              </a:rPr>
              <a:t>putTMVar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  r)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return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waitSTM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-&gt; STM a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waitSTM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 = </a:t>
            </a:r>
            <a:r>
              <a:rPr lang="en-US" sz="2000" dirty="0" err="1">
                <a:solidFill>
                  <a:srgbClr val="0070C0"/>
                </a:solidFill>
              </a:rPr>
              <a:t>readTMVar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3547" y="-102815"/>
            <a:ext cx="2452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cu </a:t>
            </a:r>
            <a:r>
              <a:rPr lang="en-US" sz="2400" dirty="0" err="1">
                <a:solidFill>
                  <a:srgbClr val="0070C0"/>
                </a:solidFill>
              </a:rPr>
              <a:t>TMVar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1978" y="4487855"/>
            <a:ext cx="8927252" cy="83099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waitAny</a:t>
            </a:r>
            <a:r>
              <a:rPr lang="en-US" sz="2400" dirty="0">
                <a:solidFill>
                  <a:srgbClr val="0070C0"/>
                </a:solidFill>
              </a:rPr>
              <a:t> :: [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a] -&gt; IO a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waitAny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asyncs</a:t>
            </a:r>
            <a:r>
              <a:rPr lang="en-US" sz="2400" dirty="0">
                <a:solidFill>
                  <a:srgbClr val="0070C0"/>
                </a:solidFill>
              </a:rPr>
              <a:t> = atomically $ </a:t>
            </a:r>
            <a:r>
              <a:rPr lang="en-US" sz="2400" dirty="0" err="1">
                <a:solidFill>
                  <a:srgbClr val="0070C0"/>
                </a:solidFill>
              </a:rPr>
              <a:t>foldr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orElse</a:t>
            </a:r>
            <a:r>
              <a:rPr lang="en-US" sz="2400" dirty="0">
                <a:solidFill>
                  <a:srgbClr val="0070C0"/>
                </a:solidFill>
              </a:rPr>
              <a:t> retry $ map </a:t>
            </a:r>
            <a:r>
              <a:rPr lang="en-US" sz="2400" dirty="0" err="1">
                <a:solidFill>
                  <a:srgbClr val="0070C0"/>
                </a:solidFill>
              </a:rPr>
              <a:t>waitSTM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asyncs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76377" y="5708372"/>
            <a:ext cx="4449936" cy="40011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 err="1"/>
              <a:t>intoarce</a:t>
            </a:r>
            <a:r>
              <a:rPr lang="en-US" sz="2000" b="1" dirty="0"/>
              <a:t> </a:t>
            </a:r>
            <a:r>
              <a:rPr lang="en-US" sz="2000" b="1" dirty="0" err="1"/>
              <a:t>cand</a:t>
            </a:r>
            <a:r>
              <a:rPr lang="en-US" sz="2000" b="1" dirty="0"/>
              <a:t> </a:t>
            </a:r>
            <a:r>
              <a:rPr lang="en-US" sz="2000" b="1" dirty="0" err="1"/>
              <a:t>una</a:t>
            </a:r>
            <a:r>
              <a:rPr lang="en-US" sz="2000" b="1" dirty="0"/>
              <a:t> din </a:t>
            </a:r>
            <a:r>
              <a:rPr lang="en-US" sz="2000" b="1" dirty="0" err="1"/>
              <a:t>actiuni</a:t>
            </a:r>
            <a:r>
              <a:rPr lang="en-US" sz="2000" b="1" dirty="0"/>
              <a:t> se </a:t>
            </a:r>
            <a:r>
              <a:rPr lang="en-US" sz="2000" b="1" dirty="0" err="1"/>
              <a:t>termina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392173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2226" y="943633"/>
            <a:ext cx="9457385" cy="224676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"Running the philosophers."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as0 &lt;-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3  (</a:t>
            </a:r>
            <a:r>
              <a:rPr lang="en-US" sz="2000" dirty="0" err="1">
                <a:solidFill>
                  <a:srgbClr val="0070C0"/>
                </a:solidFill>
              </a:rPr>
              <a:t>philosophersWithForks</a:t>
            </a:r>
            <a:r>
              <a:rPr lang="en-US" sz="2000" dirty="0">
                <a:solidFill>
                  <a:srgbClr val="0070C0"/>
                </a:solidFill>
              </a:rPr>
              <a:t> !! 0)  -- </a:t>
            </a:r>
            <a:r>
              <a:rPr lang="en-US" sz="2000" dirty="0" err="1">
                <a:solidFill>
                  <a:srgbClr val="0070C0"/>
                </a:solidFill>
              </a:rPr>
              <a:t>Aristotel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as1 &lt;-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1  (</a:t>
            </a:r>
            <a:r>
              <a:rPr lang="en-US" sz="2000" dirty="0" err="1">
                <a:solidFill>
                  <a:srgbClr val="0070C0"/>
                </a:solidFill>
              </a:rPr>
              <a:t>philosophersWithForks</a:t>
            </a:r>
            <a:r>
              <a:rPr lang="en-US" sz="2000" dirty="0">
                <a:solidFill>
                  <a:srgbClr val="0070C0"/>
                </a:solidFill>
              </a:rPr>
              <a:t> !! 1)  -- Kant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as2 &lt;-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runPhilosopher</a:t>
            </a:r>
            <a:r>
              <a:rPr lang="en-US" sz="2000" dirty="0">
                <a:solidFill>
                  <a:srgbClr val="0070C0"/>
                </a:solidFill>
              </a:rPr>
              <a:t> 3  (</a:t>
            </a:r>
            <a:r>
              <a:rPr lang="en-US" sz="2000" dirty="0" err="1">
                <a:solidFill>
                  <a:srgbClr val="0070C0"/>
                </a:solidFill>
              </a:rPr>
              <a:t>philosophersWithForks</a:t>
            </a:r>
            <a:r>
              <a:rPr lang="en-US" sz="2000" dirty="0">
                <a:solidFill>
                  <a:srgbClr val="0070C0"/>
                </a:solidFill>
              </a:rPr>
              <a:t> !! 2)  -- Spinoza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waitAny</a:t>
            </a:r>
            <a:r>
              <a:rPr lang="en-US" sz="2000" dirty="0">
                <a:solidFill>
                  <a:srgbClr val="0070C0"/>
                </a:solidFill>
              </a:rPr>
              <a:t> [as0,as1,as2]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"WAIT RETURNED"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getLine</a:t>
            </a:r>
            <a:r>
              <a:rPr lang="en-US" sz="2000" dirty="0">
                <a:solidFill>
                  <a:srgbClr val="0070C0"/>
                </a:solidFill>
              </a:rPr>
              <a:t>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577" y="168648"/>
            <a:ext cx="1825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0070C0"/>
                </a:solidFill>
              </a:rPr>
              <a:t>waitAny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799" y="2658702"/>
            <a:ext cx="5794812" cy="35371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6" name="Straight Arrow Connector 5"/>
          <p:cNvCxnSpPr/>
          <p:nvPr/>
        </p:nvCxnSpPr>
        <p:spPr>
          <a:xfrm flipH="1" flipV="1">
            <a:off x="6156441" y="2809723"/>
            <a:ext cx="811369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50028" y="3431036"/>
            <a:ext cx="1403797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33207" y="5596971"/>
            <a:ext cx="299280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/>
              <a:t>Programul</a:t>
            </a:r>
            <a:r>
              <a:rPr lang="en-US" sz="2000" dirty="0"/>
              <a:t> continua</a:t>
            </a:r>
          </a:p>
          <a:p>
            <a:r>
              <a:rPr lang="en-US" sz="2000" dirty="0" err="1"/>
              <a:t>pana</a:t>
            </a:r>
            <a:r>
              <a:rPr lang="en-US" sz="2000" dirty="0"/>
              <a:t> se </a:t>
            </a:r>
            <a:r>
              <a:rPr lang="en-US" sz="2000" dirty="0" err="1"/>
              <a:t>efectueaza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0C0"/>
                </a:solidFill>
              </a:rPr>
              <a:t>getLine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89684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11709</TotalTime>
  <Words>6221</Words>
  <Application>Microsoft Office PowerPoint</Application>
  <PresentationFormat>Widescreen</PresentationFormat>
  <Paragraphs>958</Paragraphs>
  <Slides>48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Aptos</vt:lpstr>
      <vt:lpstr>Arial</vt:lpstr>
      <vt:lpstr>Arial Unicode MS</vt:lpstr>
      <vt:lpstr>Calibri</vt:lpstr>
      <vt:lpstr>Calibri Light</vt:lpstr>
      <vt:lpstr>Courier New</vt:lpstr>
      <vt:lpstr>Times</vt:lpstr>
      <vt:lpstr>Wingdings</vt:lpstr>
      <vt:lpstr>Retrospect</vt:lpstr>
      <vt:lpstr>Bitmap Image</vt:lpstr>
      <vt:lpstr>Presentation</vt:lpstr>
      <vt:lpstr>IMPLEMENTAREA CONCURENTEI IN LIMBAJE DE PROGRAMARE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Ioana Leustean</dc:creator>
  <cp:lastModifiedBy>IOANA GABRIELA LEUSTEAN</cp:lastModifiedBy>
  <cp:revision>580</cp:revision>
  <cp:lastPrinted>2025-11-13T11:41:27Z</cp:lastPrinted>
  <dcterms:created xsi:type="dcterms:W3CDTF">2015-03-31T05:03:29Z</dcterms:created>
  <dcterms:modified xsi:type="dcterms:W3CDTF">2025-11-13T11:53:08Z</dcterms:modified>
</cp:coreProperties>
</file>