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84" r:id="rId2"/>
    <p:sldId id="288" r:id="rId3"/>
    <p:sldId id="286" r:id="rId4"/>
    <p:sldId id="294" r:id="rId5"/>
    <p:sldId id="314" r:id="rId6"/>
    <p:sldId id="289" r:id="rId7"/>
    <p:sldId id="257" r:id="rId8"/>
    <p:sldId id="301" r:id="rId9"/>
    <p:sldId id="304" r:id="rId10"/>
    <p:sldId id="302" r:id="rId11"/>
    <p:sldId id="290" r:id="rId12"/>
    <p:sldId id="292" r:id="rId13"/>
    <p:sldId id="296" r:id="rId14"/>
    <p:sldId id="305" r:id="rId15"/>
    <p:sldId id="293" r:id="rId16"/>
    <p:sldId id="312" r:id="rId17"/>
    <p:sldId id="291" r:id="rId18"/>
    <p:sldId id="297" r:id="rId19"/>
    <p:sldId id="295" r:id="rId20"/>
    <p:sldId id="307" r:id="rId21"/>
    <p:sldId id="298" r:id="rId22"/>
    <p:sldId id="308" r:id="rId23"/>
    <p:sldId id="309" r:id="rId24"/>
    <p:sldId id="299" r:id="rId25"/>
    <p:sldId id="303" r:id="rId26"/>
    <p:sldId id="300" r:id="rId27"/>
    <p:sldId id="306" r:id="rId28"/>
    <p:sldId id="376" r:id="rId29"/>
    <p:sldId id="313" r:id="rId30"/>
    <p:sldId id="315" r:id="rId31"/>
    <p:sldId id="316" r:id="rId32"/>
    <p:sldId id="317" r:id="rId33"/>
    <p:sldId id="318" r:id="rId34"/>
    <p:sldId id="319" r:id="rId35"/>
    <p:sldId id="333" r:id="rId36"/>
    <p:sldId id="322" r:id="rId37"/>
    <p:sldId id="323" r:id="rId38"/>
    <p:sldId id="324" r:id="rId39"/>
    <p:sldId id="325" r:id="rId40"/>
    <p:sldId id="326" r:id="rId41"/>
    <p:sldId id="327" r:id="rId42"/>
    <p:sldId id="335" r:id="rId43"/>
    <p:sldId id="336" r:id="rId44"/>
    <p:sldId id="329" r:id="rId45"/>
    <p:sldId id="330" r:id="rId46"/>
    <p:sldId id="331" r:id="rId47"/>
    <p:sldId id="332" r:id="rId48"/>
    <p:sldId id="334" r:id="rId49"/>
    <p:sldId id="346" r:id="rId50"/>
    <p:sldId id="353" r:id="rId51"/>
    <p:sldId id="355" r:id="rId52"/>
    <p:sldId id="347" r:id="rId53"/>
    <p:sldId id="348" r:id="rId54"/>
    <p:sldId id="356" r:id="rId55"/>
    <p:sldId id="373" r:id="rId56"/>
    <p:sldId id="374" r:id="rId57"/>
    <p:sldId id="375" r:id="rId58"/>
    <p:sldId id="320" r:id="rId59"/>
    <p:sldId id="371" r:id="rId60"/>
    <p:sldId id="372"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A14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38" autoAdjust="0"/>
    <p:restoredTop sz="94660"/>
  </p:normalViewPr>
  <p:slideViewPr>
    <p:cSldViewPr snapToGrid="0">
      <p:cViewPr varScale="1">
        <p:scale>
          <a:sx n="63" d="100"/>
          <a:sy n="63" d="100"/>
        </p:scale>
        <p:origin x="73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lang.org/docs"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11/28/2025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11/28/2025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11/28/2025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7" name="Date Placeholder 6"/>
          <p:cNvSpPr>
            <a:spLocks noGrp="1"/>
          </p:cNvSpPr>
          <p:nvPr>
            <p:ph type="dt" sz="half" idx="10"/>
          </p:nvPr>
        </p:nvSpPr>
        <p:spPr/>
        <p:txBody>
          <a:bodyPr/>
          <a:lstStyle/>
          <a:p>
            <a:fld id="{4D94136C-8742-45B2-AF27-D93DF72833A9}" type="datetimeFigureOut">
              <a:rPr lang="en-US" dirty="0"/>
              <a:t>11/28/2025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
        <p:nvSpPr>
          <p:cNvPr id="3" name="TextBox 2"/>
          <p:cNvSpPr txBox="1"/>
          <p:nvPr userDrawn="1"/>
        </p:nvSpPr>
        <p:spPr>
          <a:xfrm>
            <a:off x="4550173" y="6439790"/>
            <a:ext cx="2843599" cy="369332"/>
          </a:xfrm>
          <a:prstGeom prst="rect">
            <a:avLst/>
          </a:prstGeom>
          <a:noFill/>
        </p:spPr>
        <p:txBody>
          <a:bodyPr wrap="none" rtlCol="0">
            <a:spAutoFit/>
          </a:bodyPr>
          <a:lstStyle/>
          <a:p>
            <a:r>
              <a:rPr lang="en-US" dirty="0">
                <a:hlinkClick r:id="rId2"/>
              </a:rPr>
              <a:t>http://www.erlang.org/docs</a:t>
            </a:r>
            <a:endParaRPr lang="en-US" dirty="0"/>
          </a:p>
        </p:txBody>
      </p:sp>
      <p:pic>
        <p:nvPicPr>
          <p:cNvPr id="1026" name="Picture 2" descr="http://erlang.org/doc/erlang-logo.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82381" y="6391223"/>
            <a:ext cx="482905" cy="4178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11/28/2025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11/28/2025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11/28/2025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erlang.org/" TargetMode="External"/><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media.pragprog.com/titles/jaerlang/Concurrent.pdf" TargetMode="External"/><Relationship Id="rId2" Type="http://schemas.openxmlformats.org/officeDocument/2006/relationships/hyperlink" Target="https://erlang.org/download/erlang-book-part1.pdf" TargetMode="External"/><Relationship Id="rId1" Type="http://schemas.openxmlformats.org/officeDocument/2006/relationships/slideLayout" Target="../slideLayouts/slideLayout7.xml"/><Relationship Id="rId5" Type="http://schemas.openxmlformats.org/officeDocument/2006/relationships/hyperlink" Target="https://www.erlang.org/doc/" TargetMode="External"/><Relationship Id="rId4" Type="http://schemas.openxmlformats.org/officeDocument/2006/relationships/hyperlink" Target="https://learnyousomeerlang.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erlang.org/doc/man/shell.html" TargetMode="External"/><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hyperlink" Target="http://erlang.org/doc/reference_manual/data_types.html"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erlang.org/doc/reference_manual/data_types.html" TargetMode="External"/><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hyperlink" Target="http://erlang.org/doc/man/lists.html" TargetMode="External"/><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hyperlink" Target="http://erlang.org/doc/reference_manual/data_types.html" TargetMode="External"/><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hyperlink" Target="http://erlang.org/doc/man/string.html" TargetMode="External"/><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hyperlink" Target="http://erlang.org/doc/reference_manual/data_types.html"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erlang.org/doc/programming_examples/funs.html" TargetMode="External"/><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hyperlink" Target="http://erlang.org/doc/programming_examples/funs.html"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erlang.org/doc/reference_manual/modules.html"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hyperlink" Target="https://www.erlang.org/docs/28/apps/stdlib/io.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hyperlink" Target="http://erlang.org/doc/reference_manual/functions.html"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hyperlink" Target="https://purijatin.github.io/newsletters/erlang-99/"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https://www.erlang.org/doc/reference_manual/data_types.html#pid" TargetMode="External"/><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4.emf"/></Relationships>
</file>

<file path=ppt/slides/_rels/slide34.xml.rels><?xml version="1.0" encoding="UTF-8" standalone="yes"?>
<Relationships xmlns="http://schemas.openxmlformats.org/package/2006/relationships"><Relationship Id="rId3" Type="http://schemas.openxmlformats.org/officeDocument/2006/relationships/hyperlink" Target="http://erlang.org/doc/man/timer.html" TargetMode="External"/><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hyperlink" Target="http://erlang.org/doc/getting_started/conc_prog.html" TargetMode="Externa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hyperlink" Target="http://learnyousomeerlang.com/the-hitchhikers-guide-to-concurrency#dont-panic" TargetMode="External"/><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hyperlink" Target="https://www.erlang.org/doc/man/erlang.html#spawn-4"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erlang.org/doc/getting_started/conc_prog.html"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hyperlink" Target="http://erlang.org/doc/getting_started/conc_prog.html"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hyperlink" Target="http://learnyousomeerlang.com/introduction#what-is-erlang" TargetMode="External"/><Relationship Id="rId2" Type="http://schemas.openxmlformats.org/officeDocument/2006/relationships/hyperlink" Target="https://youtu.be/7erJ1DV_Tlo" TargetMode="External"/><Relationship Id="rId1" Type="http://schemas.openxmlformats.org/officeDocument/2006/relationships/slideLayout" Target="../slideLayouts/slideLayout8.xml"/><Relationship Id="rId5" Type="http://schemas.openxmlformats.org/officeDocument/2006/relationships/hyperlink" Target="http://learnyousomeerlang.com/" TargetMode="External"/><Relationship Id="rId4" Type="http://schemas.openxmlformats.org/officeDocument/2006/relationships/image" Target="../media/image4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hyperlink" Target="http://erlang.org/doc/man/rpc.html#call-4" TargetMode="External"/><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hyperlink" Target="https://www.erlang.org/doc/apps/erts/erlang#spawn/4" TargetMode="External"/><Relationship Id="rId2" Type="http://schemas.openxmlformats.org/officeDocument/2006/relationships/image" Target="../media/image5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200" dirty="0"/>
              <a:t>IMPLEMENTAREA</a:t>
            </a:r>
            <a:br>
              <a:rPr lang="en-US" sz="3200" dirty="0"/>
            </a:br>
            <a:r>
              <a:rPr lang="en-US" sz="3200" dirty="0"/>
              <a:t>CONCURENTEI</a:t>
            </a:r>
            <a:br>
              <a:rPr lang="en-US" sz="3200" dirty="0"/>
            </a:br>
            <a:r>
              <a:rPr lang="en-US" sz="3200" dirty="0"/>
              <a:t>IN LIMBAJE DE</a:t>
            </a:r>
            <a:br>
              <a:rPr lang="en-US" sz="3200" dirty="0"/>
            </a:br>
            <a:r>
              <a:rPr lang="en-US" sz="3200" dirty="0"/>
              <a:t>PROGRAMARE</a:t>
            </a:r>
            <a:br>
              <a:rPr lang="en-US" sz="3200" dirty="0"/>
            </a:br>
            <a:endParaRPr lang="en-US" sz="3200" dirty="0"/>
          </a:p>
        </p:txBody>
      </p:sp>
      <p:sp>
        <p:nvSpPr>
          <p:cNvPr id="6" name="Text Placeholder 5"/>
          <p:cNvSpPr>
            <a:spLocks noGrp="1"/>
          </p:cNvSpPr>
          <p:nvPr>
            <p:ph type="body" sz="half" idx="2"/>
          </p:nvPr>
        </p:nvSpPr>
        <p:spPr/>
        <p:txBody>
          <a:bodyPr>
            <a:normAutofit/>
          </a:bodyPr>
          <a:lstStyle/>
          <a:p>
            <a:r>
              <a:rPr lang="en-US" sz="2400" dirty="0"/>
              <a:t>Ioana Leustean</a:t>
            </a:r>
          </a:p>
          <a:p>
            <a:endParaRPr lang="en-US" sz="2400" dirty="0"/>
          </a:p>
          <a:p>
            <a:r>
              <a:rPr lang="en-US" sz="2400" dirty="0"/>
              <a:t>INTRODUCERE IN</a:t>
            </a:r>
          </a:p>
          <a:p>
            <a:r>
              <a:rPr lang="en-US" sz="2400" dirty="0"/>
              <a:t>ERLANG</a:t>
            </a:r>
          </a:p>
        </p:txBody>
      </p:sp>
      <p:sp>
        <p:nvSpPr>
          <p:cNvPr id="2" name="AutoShape 2" descr="Imagini pentru Erla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Imagini pentru Erla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0" name="Picture 6" descr="http://erlang.org/doc/erlang-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4811" y="1159624"/>
            <a:ext cx="3342822" cy="289282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139213" y="4987636"/>
            <a:ext cx="4094018" cy="523220"/>
          </a:xfrm>
          <a:prstGeom prst="rect">
            <a:avLst/>
          </a:prstGeom>
          <a:noFill/>
        </p:spPr>
        <p:txBody>
          <a:bodyPr wrap="square" rtlCol="0">
            <a:spAutoFit/>
          </a:bodyPr>
          <a:lstStyle/>
          <a:p>
            <a:r>
              <a:rPr lang="en-US" sz="2800" dirty="0">
                <a:hlinkClick r:id="rId3"/>
              </a:rPr>
              <a:t>http://www.erlang.org/</a:t>
            </a:r>
            <a:endParaRPr lang="en-US" sz="2800" dirty="0"/>
          </a:p>
        </p:txBody>
      </p:sp>
    </p:spTree>
    <p:extLst>
      <p:ext uri="{BB962C8B-B14F-4D97-AF65-F5344CB8AC3E}">
        <p14:creationId xmlns:p14="http://schemas.microsoft.com/office/powerpoint/2010/main" val="3680970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73110" y="3610445"/>
            <a:ext cx="3200400" cy="2286000"/>
          </a:xfrm>
        </p:spPr>
        <p:txBody>
          <a:bodyPr>
            <a:normAutofit fontScale="90000"/>
          </a:bodyPr>
          <a:lstStyle/>
          <a:p>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r>
              <a:rPr lang="en-US" sz="3200" dirty="0"/>
              <a:t>PARALELISM</a:t>
            </a:r>
            <a:br>
              <a:rPr lang="en-US" sz="3200" dirty="0"/>
            </a:br>
            <a:br>
              <a:rPr lang="en-US" sz="3200" dirty="0"/>
            </a:br>
            <a:br>
              <a:rPr lang="en-US" sz="3200" dirty="0"/>
            </a:br>
            <a:r>
              <a:rPr lang="en-US" sz="3200" dirty="0"/>
              <a:t>CONCURENTA</a:t>
            </a:r>
            <a:br>
              <a:rPr lang="en-US" sz="3200" dirty="0"/>
            </a:br>
            <a:br>
              <a:rPr lang="en-US" sz="3200" dirty="0"/>
            </a:br>
            <a:br>
              <a:rPr lang="en-US" sz="3200" dirty="0"/>
            </a:br>
            <a:r>
              <a:rPr lang="en-US" sz="3200" dirty="0"/>
              <a:t>SISTEME </a:t>
            </a:r>
            <a:br>
              <a:rPr lang="en-US" sz="3200" dirty="0"/>
            </a:br>
            <a:r>
              <a:rPr lang="en-US" sz="3200" dirty="0"/>
              <a:t>DISTRIBUITE</a:t>
            </a:r>
            <a:br>
              <a:rPr lang="en-US" sz="3200" dirty="0"/>
            </a:br>
            <a:br>
              <a:rPr lang="en-US" sz="3200" dirty="0"/>
            </a:br>
            <a:br>
              <a:rPr lang="en-US" sz="3200" dirty="0"/>
            </a:br>
            <a:br>
              <a:rPr lang="en-US" sz="3200" dirty="0"/>
            </a:br>
            <a:endParaRPr lang="en-US" sz="3200" dirty="0"/>
          </a:p>
        </p:txBody>
      </p:sp>
      <p:sp>
        <p:nvSpPr>
          <p:cNvPr id="6" name="Text Placeholder 5"/>
          <p:cNvSpPr>
            <a:spLocks noGrp="1"/>
          </p:cNvSpPr>
          <p:nvPr>
            <p:ph type="body" sz="half" idx="2"/>
          </p:nvPr>
        </p:nvSpPr>
        <p:spPr>
          <a:xfrm>
            <a:off x="4350716" y="1101729"/>
            <a:ext cx="7489066" cy="4794716"/>
          </a:xfrm>
        </p:spPr>
        <p:style>
          <a:lnRef idx="3">
            <a:schemeClr val="lt1"/>
          </a:lnRef>
          <a:fillRef idx="1">
            <a:schemeClr val="accent1"/>
          </a:fillRef>
          <a:effectRef idx="1">
            <a:schemeClr val="accent1"/>
          </a:effectRef>
          <a:fontRef idx="minor">
            <a:schemeClr val="lt1"/>
          </a:fontRef>
        </p:style>
        <p:txBody>
          <a:bodyPr>
            <a:normAutofit/>
          </a:bodyPr>
          <a:lstStyle/>
          <a:p>
            <a:endParaRPr lang="en-US" dirty="0"/>
          </a:p>
          <a:p>
            <a:r>
              <a:rPr lang="en-US" sz="1800" dirty="0"/>
              <a:t>"</a:t>
            </a:r>
            <a:r>
              <a:rPr lang="en-US" sz="1800" dirty="0" err="1"/>
              <a:t>Erlang</a:t>
            </a:r>
            <a:r>
              <a:rPr lang="en-US" sz="1800" dirty="0"/>
              <a:t> was designed from the bottom up to program concurrent, distributed,</a:t>
            </a:r>
          </a:p>
          <a:p>
            <a:r>
              <a:rPr lang="en-US" sz="1800" dirty="0"/>
              <a:t>fault-tolerant, scalable, soft, real-time systems. […]</a:t>
            </a:r>
          </a:p>
          <a:p>
            <a:r>
              <a:rPr lang="en-US" sz="1800" dirty="0"/>
              <a:t>If your problem is concurrent, if you are building a multiuser system, or if</a:t>
            </a:r>
          </a:p>
          <a:p>
            <a:r>
              <a:rPr lang="en-US" sz="1800" dirty="0"/>
              <a:t>you are building a system that evolves with time, then using </a:t>
            </a:r>
            <a:r>
              <a:rPr lang="en-US" sz="1800" dirty="0" err="1"/>
              <a:t>Erlang</a:t>
            </a:r>
            <a:r>
              <a:rPr lang="en-US" sz="1800" dirty="0"/>
              <a:t> might</a:t>
            </a:r>
          </a:p>
          <a:p>
            <a:r>
              <a:rPr lang="en-US" sz="1800" dirty="0"/>
              <a:t>save you a lot of work, since </a:t>
            </a:r>
            <a:r>
              <a:rPr lang="en-US" sz="1800" dirty="0" err="1"/>
              <a:t>Erlang</a:t>
            </a:r>
            <a:r>
              <a:rPr lang="en-US" sz="1800" dirty="0"/>
              <a:t> was explicitly designed for building such</a:t>
            </a:r>
          </a:p>
          <a:p>
            <a:r>
              <a:rPr lang="en-US" sz="1800" dirty="0"/>
              <a:t>systems. […]</a:t>
            </a:r>
          </a:p>
          <a:p>
            <a:r>
              <a:rPr lang="en-US" sz="1800" dirty="0"/>
              <a:t>Processes interact by one method, and one method only, by exchanging</a:t>
            </a:r>
          </a:p>
          <a:p>
            <a:r>
              <a:rPr lang="en-US" sz="1800" dirty="0"/>
              <a:t>messages. Processes share no data with other processes. This is the reason</a:t>
            </a:r>
          </a:p>
          <a:p>
            <a:r>
              <a:rPr lang="en-US" sz="1800" dirty="0"/>
              <a:t>why we can easily distribute </a:t>
            </a:r>
            <a:r>
              <a:rPr lang="en-US" sz="1800" dirty="0" err="1"/>
              <a:t>Erlang</a:t>
            </a:r>
            <a:r>
              <a:rPr lang="en-US" sz="1800" dirty="0"/>
              <a:t> programs over multicores or networks. "</a:t>
            </a:r>
          </a:p>
          <a:p>
            <a:r>
              <a:rPr lang="en-US" sz="1800" dirty="0"/>
              <a:t>Joe Armstrong, Programming </a:t>
            </a:r>
            <a:r>
              <a:rPr lang="en-US" sz="1800" dirty="0" err="1"/>
              <a:t>Erlang</a:t>
            </a:r>
            <a:r>
              <a:rPr lang="en-US" sz="1800" dirty="0"/>
              <a:t>, Second Edition 2013</a:t>
            </a:r>
          </a:p>
          <a:p>
            <a:endParaRPr lang="en-US" sz="1800" dirty="0">
              <a:solidFill>
                <a:schemeClr val="bg1"/>
              </a:solidFill>
            </a:endParaRPr>
          </a:p>
        </p:txBody>
      </p:sp>
    </p:spTree>
    <p:extLst>
      <p:ext uri="{BB962C8B-B14F-4D97-AF65-F5344CB8AC3E}">
        <p14:creationId xmlns:p14="http://schemas.microsoft.com/office/powerpoint/2010/main" val="3563418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2243" y="624049"/>
            <a:ext cx="2395592" cy="584775"/>
          </a:xfrm>
          <a:prstGeom prst="rect">
            <a:avLst/>
          </a:prstGeom>
          <a:noFill/>
        </p:spPr>
        <p:txBody>
          <a:bodyPr wrap="none" rtlCol="0">
            <a:spAutoFit/>
          </a:bodyPr>
          <a:lstStyle/>
          <a:p>
            <a:pPr marL="285750" indent="-285750">
              <a:buFont typeface="Wingdings" panose="05000000000000000000" pitchFamily="2" charset="2"/>
              <a:buChar char="Ø"/>
            </a:pPr>
            <a:r>
              <a:rPr lang="en-US" sz="3200" dirty="0" err="1"/>
              <a:t>Bibliografie</a:t>
            </a:r>
            <a:endParaRPr lang="en-US" sz="3200" dirty="0"/>
          </a:p>
        </p:txBody>
      </p:sp>
      <p:sp>
        <p:nvSpPr>
          <p:cNvPr id="7" name="TextBox 6"/>
          <p:cNvSpPr txBox="1"/>
          <p:nvPr/>
        </p:nvSpPr>
        <p:spPr>
          <a:xfrm>
            <a:off x="752243" y="1924600"/>
            <a:ext cx="11141448" cy="3662541"/>
          </a:xfrm>
          <a:prstGeom prst="rect">
            <a:avLst/>
          </a:prstGeom>
          <a:noFill/>
        </p:spPr>
        <p:txBody>
          <a:bodyPr wrap="none" rtlCol="0">
            <a:spAutoFit/>
          </a:bodyPr>
          <a:lstStyle/>
          <a:p>
            <a:r>
              <a:rPr lang="en-GB" sz="2400" dirty="0">
                <a:hlinkClick r:id="rId2"/>
              </a:rPr>
              <a:t>Joe Armstrong, Robert </a:t>
            </a:r>
            <a:r>
              <a:rPr lang="en-GB" sz="2400" dirty="0" err="1">
                <a:hlinkClick r:id="rId2"/>
              </a:rPr>
              <a:t>Virding</a:t>
            </a:r>
            <a:r>
              <a:rPr lang="en-GB" sz="2400" dirty="0">
                <a:hlinkClick r:id="rId2"/>
              </a:rPr>
              <a:t>, Mike Williams, Concurrent Programming in Erlang, 1993 </a:t>
            </a:r>
            <a:endParaRPr lang="en-GB" sz="2400" dirty="0"/>
          </a:p>
          <a:p>
            <a:endParaRPr lang="en-US" sz="2400" dirty="0">
              <a:hlinkClick r:id="rId3"/>
            </a:endParaRPr>
          </a:p>
          <a:p>
            <a:r>
              <a:rPr lang="en-US" sz="2400" dirty="0">
                <a:hlinkClick r:id="rId3"/>
              </a:rPr>
              <a:t>Joe Armstrong, Programming Erlang, Second Edition 2013</a:t>
            </a:r>
            <a:endParaRPr lang="en-US" sz="2400" dirty="0"/>
          </a:p>
          <a:p>
            <a:endParaRPr lang="en-US" sz="2400" dirty="0">
              <a:solidFill>
                <a:schemeClr val="bg1"/>
              </a:solidFill>
            </a:endParaRPr>
          </a:p>
          <a:p>
            <a:r>
              <a:rPr lang="en-US" sz="2400" dirty="0">
                <a:hlinkClick r:id="rId4"/>
              </a:rPr>
              <a:t>Fred Hébert, Learn You Some Erlang For Great Good, 2013</a:t>
            </a:r>
            <a:endParaRPr lang="en-US" sz="2400" dirty="0"/>
          </a:p>
          <a:p>
            <a:endParaRPr lang="en-US" sz="2400" dirty="0"/>
          </a:p>
          <a:p>
            <a:r>
              <a:rPr lang="en-US" sz="2400" dirty="0">
                <a:hlinkClick r:id="rId5"/>
              </a:rPr>
              <a:t>https://www.erlang.org/doc/</a:t>
            </a:r>
            <a:endParaRPr lang="en-US" sz="2400" dirty="0"/>
          </a:p>
          <a:p>
            <a:endParaRPr lang="en-US" sz="3200" dirty="0"/>
          </a:p>
          <a:p>
            <a:r>
              <a:rPr lang="en-US" sz="3200" dirty="0"/>
              <a:t> </a:t>
            </a:r>
          </a:p>
        </p:txBody>
      </p:sp>
      <p:sp>
        <p:nvSpPr>
          <p:cNvPr id="2" name="TextBox 1"/>
          <p:cNvSpPr txBox="1"/>
          <p:nvPr/>
        </p:nvSpPr>
        <p:spPr>
          <a:xfrm>
            <a:off x="850739" y="4543063"/>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164687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5637" y="457200"/>
            <a:ext cx="10874644" cy="4524315"/>
          </a:xfrm>
          <a:prstGeom prst="rect">
            <a:avLst/>
          </a:prstGeom>
          <a:noFill/>
        </p:spPr>
        <p:txBody>
          <a:bodyPr wrap="none" rtlCol="0">
            <a:spAutoFit/>
          </a:bodyPr>
          <a:lstStyle/>
          <a:p>
            <a:pPr marL="285750" indent="-285750">
              <a:buFont typeface="Wingdings" panose="05000000000000000000" pitchFamily="2" charset="2"/>
              <a:buChar char="§"/>
            </a:pPr>
            <a:r>
              <a:rPr lang="en-US" sz="2400" dirty="0" err="1"/>
              <a:t>Erlang</a:t>
            </a:r>
            <a:r>
              <a:rPr lang="en-US" sz="2400" dirty="0"/>
              <a:t> </a:t>
            </a:r>
            <a:r>
              <a:rPr lang="en-US" sz="2400" dirty="0" err="1"/>
              <a:t>este</a:t>
            </a:r>
            <a:r>
              <a:rPr lang="en-US" sz="2400" dirty="0"/>
              <a:t> </a:t>
            </a:r>
            <a:r>
              <a:rPr lang="en-US" sz="2400" dirty="0" err="1"/>
              <a:t>dezvoltat</a:t>
            </a:r>
            <a:r>
              <a:rPr lang="en-US" sz="2400" dirty="0"/>
              <a:t> de Ericsson (initial in 1986)</a:t>
            </a:r>
          </a:p>
          <a:p>
            <a:r>
              <a:rPr lang="en-US" sz="2400" dirty="0"/>
              <a:t>          </a:t>
            </a:r>
            <a:r>
              <a:rPr lang="en-US" sz="2400" dirty="0" err="1"/>
              <a:t>Creatorii</a:t>
            </a:r>
            <a:r>
              <a:rPr lang="en-US" sz="2400" dirty="0"/>
              <a:t>: Joe Armstrong, Robert </a:t>
            </a:r>
            <a:r>
              <a:rPr lang="en-US" sz="2400" dirty="0" err="1"/>
              <a:t>Virding</a:t>
            </a:r>
            <a:r>
              <a:rPr lang="en-US" sz="2400" dirty="0"/>
              <a:t>, and Mike Williams</a:t>
            </a:r>
          </a:p>
          <a:p>
            <a:endParaRPr lang="en-US" sz="2400" dirty="0"/>
          </a:p>
          <a:p>
            <a:pPr marL="285750" indent="-285750">
              <a:buFont typeface="Wingdings" panose="05000000000000000000" pitchFamily="2" charset="2"/>
              <a:buChar char="§"/>
            </a:pPr>
            <a:r>
              <a:rPr lang="en-US" sz="2400" dirty="0" err="1"/>
              <a:t>Erlang</a:t>
            </a:r>
            <a:r>
              <a:rPr lang="en-US" sz="2400" dirty="0"/>
              <a:t> </a:t>
            </a:r>
            <a:r>
              <a:rPr lang="en-US" sz="2400" dirty="0" err="1"/>
              <a:t>este</a:t>
            </a:r>
            <a:r>
              <a:rPr lang="en-US" sz="2400" dirty="0"/>
              <a:t> un </a:t>
            </a:r>
            <a:r>
              <a:rPr lang="en-US" sz="2400" dirty="0" err="1"/>
              <a:t>limbaj</a:t>
            </a:r>
            <a:r>
              <a:rPr lang="en-US" sz="2400" dirty="0"/>
              <a:t> functional </a:t>
            </a:r>
          </a:p>
          <a:p>
            <a:r>
              <a:rPr lang="en-US" sz="2400" dirty="0"/>
              <a:t>               Nu are </a:t>
            </a:r>
            <a:r>
              <a:rPr lang="en-US" sz="2400" dirty="0" err="1"/>
              <a:t>variabile</a:t>
            </a:r>
            <a:r>
              <a:rPr lang="en-US" sz="2400" dirty="0"/>
              <a:t> </a:t>
            </a:r>
            <a:r>
              <a:rPr lang="en-US" sz="2400" dirty="0" err="1"/>
              <a:t>mutabile</a:t>
            </a:r>
            <a:r>
              <a:rPr lang="en-US" sz="2400" dirty="0"/>
              <a:t>.</a:t>
            </a:r>
          </a:p>
          <a:p>
            <a:r>
              <a:rPr lang="en-US" sz="2400" dirty="0"/>
              <a:t>               Are </a:t>
            </a:r>
            <a:r>
              <a:rPr lang="en-US" sz="2400" dirty="0" err="1"/>
              <a:t>functii</a:t>
            </a:r>
            <a:r>
              <a:rPr lang="en-US" sz="2400" dirty="0"/>
              <a:t> de </a:t>
            </a:r>
            <a:r>
              <a:rPr lang="en-US" sz="2400" dirty="0" err="1"/>
              <a:t>nivel</a:t>
            </a:r>
            <a:r>
              <a:rPr lang="en-US" sz="2400" dirty="0"/>
              <a:t> </a:t>
            </a:r>
            <a:r>
              <a:rPr lang="en-US" sz="2400" dirty="0" err="1"/>
              <a:t>inalt</a:t>
            </a:r>
            <a:r>
              <a:rPr lang="en-US" sz="2400" dirty="0"/>
              <a:t>.</a:t>
            </a:r>
          </a:p>
          <a:p>
            <a:r>
              <a:rPr lang="en-US" sz="2400" dirty="0"/>
              <a:t>               </a:t>
            </a:r>
            <a:r>
              <a:rPr lang="en-US" sz="2400" dirty="0" err="1"/>
              <a:t>Sistemul</a:t>
            </a:r>
            <a:r>
              <a:rPr lang="en-US" sz="2400" dirty="0"/>
              <a:t> </a:t>
            </a:r>
            <a:r>
              <a:rPr lang="en-US" sz="2400" dirty="0" err="1"/>
              <a:t>tipurilor</a:t>
            </a:r>
            <a:r>
              <a:rPr lang="en-US" sz="2400" dirty="0"/>
              <a:t> </a:t>
            </a:r>
            <a:r>
              <a:rPr lang="en-US" sz="2400" dirty="0" err="1"/>
              <a:t>este</a:t>
            </a:r>
            <a:r>
              <a:rPr lang="en-US" sz="2400" dirty="0"/>
              <a:t> </a:t>
            </a:r>
            <a:r>
              <a:rPr lang="en-US" sz="2400" dirty="0" err="1"/>
              <a:t>dinamic</a:t>
            </a:r>
            <a:r>
              <a:rPr lang="en-US" sz="2400" dirty="0"/>
              <a:t>, </a:t>
            </a:r>
            <a:r>
              <a:rPr lang="en-US" sz="2400" dirty="0" err="1"/>
              <a:t>verificarea</a:t>
            </a:r>
            <a:r>
              <a:rPr lang="en-US" sz="2400" dirty="0"/>
              <a:t> </a:t>
            </a:r>
            <a:r>
              <a:rPr lang="en-US" sz="2400" dirty="0" err="1"/>
              <a:t>corectitudinii</a:t>
            </a:r>
            <a:r>
              <a:rPr lang="en-US" sz="2400" dirty="0"/>
              <a:t> se face la </a:t>
            </a:r>
            <a:r>
              <a:rPr lang="en-US" sz="2400" dirty="0" err="1"/>
              <a:t>rulare</a:t>
            </a:r>
            <a:r>
              <a:rPr lang="en-US" sz="2400" dirty="0"/>
              <a:t>.</a:t>
            </a:r>
          </a:p>
          <a:p>
            <a:r>
              <a:rPr lang="en-US" sz="2400" dirty="0"/>
              <a:t>                </a:t>
            </a:r>
          </a:p>
          <a:p>
            <a:pPr marL="285750" indent="-285750">
              <a:buFont typeface="Wingdings" panose="05000000000000000000" pitchFamily="2" charset="2"/>
              <a:buChar char="§"/>
            </a:pPr>
            <a:r>
              <a:rPr lang="en-US" sz="2400" dirty="0" err="1"/>
              <a:t>Codul</a:t>
            </a:r>
            <a:r>
              <a:rPr lang="en-US" sz="2400" dirty="0"/>
              <a:t> </a:t>
            </a:r>
            <a:r>
              <a:rPr lang="en-US" sz="2400" dirty="0" err="1"/>
              <a:t>este</a:t>
            </a:r>
            <a:r>
              <a:rPr lang="en-US" sz="2400" dirty="0"/>
              <a:t> </a:t>
            </a:r>
            <a:r>
              <a:rPr lang="en-US" sz="2400" dirty="0" err="1"/>
              <a:t>compilat</a:t>
            </a:r>
            <a:r>
              <a:rPr lang="en-US" sz="2400" dirty="0"/>
              <a:t> </a:t>
            </a:r>
            <a:r>
              <a:rPr lang="en-US" sz="2400" dirty="0" err="1"/>
              <a:t>si</a:t>
            </a:r>
            <a:r>
              <a:rPr lang="en-US" sz="2400" dirty="0"/>
              <a:t> </a:t>
            </a:r>
            <a:r>
              <a:rPr lang="en-US" sz="2400" dirty="0" err="1"/>
              <a:t>rulat</a:t>
            </a:r>
            <a:r>
              <a:rPr lang="en-US" sz="2400" dirty="0"/>
              <a:t> </a:t>
            </a:r>
            <a:r>
              <a:rPr lang="en-US" sz="2400" dirty="0" err="1"/>
              <a:t>pe</a:t>
            </a:r>
            <a:r>
              <a:rPr lang="en-US" sz="2400" dirty="0"/>
              <a:t> o </a:t>
            </a:r>
            <a:r>
              <a:rPr lang="en-US" sz="2400" dirty="0" err="1"/>
              <a:t>masina</a:t>
            </a:r>
            <a:r>
              <a:rPr lang="en-US" sz="2400" dirty="0"/>
              <a:t> </a:t>
            </a:r>
            <a:r>
              <a:rPr lang="en-US" sz="2400" dirty="0" err="1"/>
              <a:t>virtuala</a:t>
            </a:r>
            <a:r>
              <a:rPr lang="en-US" sz="2400" dirty="0"/>
              <a:t>  </a:t>
            </a:r>
            <a:r>
              <a:rPr lang="en-US" sz="2400" dirty="0" err="1"/>
              <a:t>numita</a:t>
            </a:r>
            <a:r>
              <a:rPr lang="en-US" sz="2400" dirty="0"/>
              <a:t> BEAM.</a:t>
            </a:r>
          </a:p>
          <a:p>
            <a:pPr marL="285750" indent="-285750">
              <a:buFont typeface="Wingdings" panose="05000000000000000000" pitchFamily="2" charset="2"/>
              <a:buChar char="§"/>
            </a:pPr>
            <a:r>
              <a:rPr lang="en-US" sz="2400" dirty="0" err="1"/>
              <a:t>Erlang</a:t>
            </a:r>
            <a:r>
              <a:rPr lang="en-US" sz="2400" dirty="0"/>
              <a:t>/OTP (Open Telecom Platform)</a:t>
            </a:r>
          </a:p>
          <a:p>
            <a:r>
              <a:rPr lang="en-US" sz="2400" dirty="0"/>
              <a:t>      OTP </a:t>
            </a:r>
            <a:r>
              <a:rPr lang="en-US" sz="2400" dirty="0" err="1"/>
              <a:t>este</a:t>
            </a:r>
            <a:r>
              <a:rPr lang="en-US" sz="2400" dirty="0"/>
              <a:t> o </a:t>
            </a:r>
            <a:r>
              <a:rPr lang="en-US" sz="2400" dirty="0" err="1"/>
              <a:t>multime</a:t>
            </a:r>
            <a:r>
              <a:rPr lang="en-US" sz="2400" dirty="0"/>
              <a:t> de </a:t>
            </a:r>
            <a:r>
              <a:rPr lang="en-US" sz="2400" dirty="0" err="1"/>
              <a:t>librarii</a:t>
            </a:r>
            <a:r>
              <a:rPr lang="en-US" sz="2400" dirty="0"/>
              <a:t> </a:t>
            </a:r>
            <a:r>
              <a:rPr lang="en-US" sz="2400" dirty="0" err="1"/>
              <a:t>si</a:t>
            </a:r>
            <a:r>
              <a:rPr lang="en-US" sz="2400" dirty="0"/>
              <a:t> tool-</a:t>
            </a:r>
            <a:r>
              <a:rPr lang="en-US" sz="2400" dirty="0" err="1"/>
              <a:t>uri</a:t>
            </a:r>
            <a:r>
              <a:rPr lang="en-US" sz="2400" dirty="0"/>
              <a:t>  </a:t>
            </a:r>
            <a:r>
              <a:rPr lang="en-US" sz="2400" dirty="0" err="1"/>
              <a:t>folosite</a:t>
            </a:r>
            <a:r>
              <a:rPr lang="en-US" sz="2400" dirty="0"/>
              <a:t> </a:t>
            </a:r>
            <a:r>
              <a:rPr lang="en-US" sz="2400" dirty="0" err="1"/>
              <a:t>pentru</a:t>
            </a:r>
            <a:r>
              <a:rPr lang="en-US" sz="2400" dirty="0"/>
              <a:t> a </a:t>
            </a:r>
            <a:r>
              <a:rPr lang="en-US" sz="2400" dirty="0" err="1"/>
              <a:t>crea</a:t>
            </a:r>
            <a:r>
              <a:rPr lang="en-US" sz="2400" dirty="0"/>
              <a:t> </a:t>
            </a:r>
            <a:r>
              <a:rPr lang="en-US" sz="2400" dirty="0" err="1"/>
              <a:t>aplicatii</a:t>
            </a:r>
            <a:r>
              <a:rPr lang="en-US" sz="2400" dirty="0"/>
              <a:t> </a:t>
            </a:r>
            <a:r>
              <a:rPr lang="en-US" sz="2400" dirty="0" err="1"/>
              <a:t>distribuite</a:t>
            </a:r>
            <a:r>
              <a:rPr lang="en-US" sz="2400" dirty="0"/>
              <a:t>  </a:t>
            </a:r>
          </a:p>
          <a:p>
            <a:r>
              <a:rPr lang="en-US" sz="2400" dirty="0"/>
              <a:t>         </a:t>
            </a:r>
          </a:p>
        </p:txBody>
      </p:sp>
      <p:sp>
        <p:nvSpPr>
          <p:cNvPr id="5" name="TextBox 4"/>
          <p:cNvSpPr txBox="1"/>
          <p:nvPr/>
        </p:nvSpPr>
        <p:spPr>
          <a:xfrm>
            <a:off x="1588330" y="4981515"/>
            <a:ext cx="8529258" cy="1200329"/>
          </a:xfrm>
          <a:prstGeom prst="rect">
            <a:avLst/>
          </a:prstGeom>
          <a:solidFill>
            <a:srgbClr val="CA1421"/>
          </a:solidFill>
          <a:ln>
            <a:solidFill>
              <a:srgbClr val="CA1421"/>
            </a:solidFill>
          </a:ln>
        </p:spPr>
        <p:txBody>
          <a:bodyPr wrap="none" rtlCol="0">
            <a:spAutoFit/>
          </a:bodyPr>
          <a:lstStyle/>
          <a:p>
            <a:r>
              <a:rPr lang="en-US" sz="2400" dirty="0" err="1">
                <a:solidFill>
                  <a:schemeClr val="bg1"/>
                </a:solidFill>
              </a:rPr>
              <a:t>Numele</a:t>
            </a:r>
            <a:r>
              <a:rPr lang="en-US" sz="2400" dirty="0">
                <a:solidFill>
                  <a:schemeClr val="bg1"/>
                </a:solidFill>
              </a:rPr>
              <a:t> vine de la</a:t>
            </a:r>
          </a:p>
          <a:p>
            <a:pPr marL="285750" indent="-285750">
              <a:buFont typeface="Wingdings" panose="05000000000000000000" pitchFamily="2" charset="2"/>
              <a:buChar char="v"/>
            </a:pPr>
            <a:r>
              <a:rPr lang="en-US" sz="2400" dirty="0">
                <a:solidFill>
                  <a:schemeClr val="bg1"/>
                </a:solidFill>
              </a:rPr>
              <a:t> Agner </a:t>
            </a:r>
            <a:r>
              <a:rPr lang="en-US" sz="2400" dirty="0" err="1">
                <a:solidFill>
                  <a:schemeClr val="bg1"/>
                </a:solidFill>
              </a:rPr>
              <a:t>Krarup</a:t>
            </a:r>
            <a:r>
              <a:rPr lang="en-US" sz="2400" dirty="0">
                <a:solidFill>
                  <a:schemeClr val="bg1"/>
                </a:solidFill>
              </a:rPr>
              <a:t> Erlang (1878-1929) </a:t>
            </a:r>
            <a:r>
              <a:rPr lang="en-US" sz="2400" dirty="0" err="1">
                <a:solidFill>
                  <a:schemeClr val="bg1"/>
                </a:solidFill>
              </a:rPr>
              <a:t>matematician</a:t>
            </a:r>
            <a:r>
              <a:rPr lang="en-US" sz="2400" dirty="0">
                <a:solidFill>
                  <a:schemeClr val="bg1"/>
                </a:solidFill>
              </a:rPr>
              <a:t> </a:t>
            </a:r>
            <a:r>
              <a:rPr lang="en-US" sz="2400" dirty="0" err="1">
                <a:solidFill>
                  <a:schemeClr val="bg1"/>
                </a:solidFill>
              </a:rPr>
              <a:t>si</a:t>
            </a:r>
            <a:r>
              <a:rPr lang="en-US" sz="2400" dirty="0">
                <a:solidFill>
                  <a:schemeClr val="bg1"/>
                </a:solidFill>
              </a:rPr>
              <a:t> </a:t>
            </a:r>
            <a:r>
              <a:rPr lang="en-US" sz="2400" dirty="0" err="1">
                <a:solidFill>
                  <a:schemeClr val="bg1"/>
                </a:solidFill>
              </a:rPr>
              <a:t>inginer</a:t>
            </a:r>
            <a:r>
              <a:rPr lang="en-US" sz="2400" dirty="0">
                <a:solidFill>
                  <a:schemeClr val="bg1"/>
                </a:solidFill>
              </a:rPr>
              <a:t> </a:t>
            </a:r>
            <a:r>
              <a:rPr lang="en-US" sz="2400" dirty="0" err="1">
                <a:solidFill>
                  <a:schemeClr val="bg1"/>
                </a:solidFill>
              </a:rPr>
              <a:t>danez</a:t>
            </a:r>
            <a:endParaRPr lang="en-US" sz="2400" dirty="0">
              <a:solidFill>
                <a:schemeClr val="bg1"/>
              </a:solidFill>
            </a:endParaRPr>
          </a:p>
          <a:p>
            <a:pPr marL="285750" indent="-285750">
              <a:buFont typeface="Wingdings" panose="05000000000000000000" pitchFamily="2" charset="2"/>
              <a:buChar char="v"/>
            </a:pPr>
            <a:r>
              <a:rPr lang="en-US" sz="2400" dirty="0">
                <a:solidFill>
                  <a:schemeClr val="bg1"/>
                </a:solidFill>
              </a:rPr>
              <a:t> </a:t>
            </a:r>
            <a:r>
              <a:rPr lang="en-US" sz="2400" b="1" dirty="0">
                <a:solidFill>
                  <a:schemeClr val="bg1"/>
                </a:solidFill>
              </a:rPr>
              <a:t>Er</a:t>
            </a:r>
            <a:r>
              <a:rPr lang="en-US" sz="2400" dirty="0">
                <a:solidFill>
                  <a:schemeClr val="bg1"/>
                </a:solidFill>
              </a:rPr>
              <a:t>icsson </a:t>
            </a:r>
            <a:r>
              <a:rPr lang="en-US" sz="2400" b="1" dirty="0">
                <a:solidFill>
                  <a:schemeClr val="bg1"/>
                </a:solidFill>
              </a:rPr>
              <a:t>Lang</a:t>
            </a:r>
            <a:r>
              <a:rPr lang="en-US" sz="2400" dirty="0">
                <a:solidFill>
                  <a:schemeClr val="bg1"/>
                </a:solidFill>
              </a:rPr>
              <a:t>uage</a:t>
            </a:r>
          </a:p>
        </p:txBody>
      </p:sp>
    </p:spTree>
    <p:extLst>
      <p:ext uri="{BB962C8B-B14F-4D97-AF65-F5344CB8AC3E}">
        <p14:creationId xmlns:p14="http://schemas.microsoft.com/office/powerpoint/2010/main" val="3994220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3501D8-EE1F-8B29-1911-5FA80D39151B}"/>
              </a:ext>
            </a:extLst>
          </p:cNvPr>
          <p:cNvSpPr txBox="1"/>
          <p:nvPr/>
        </p:nvSpPr>
        <p:spPr>
          <a:xfrm>
            <a:off x="3098800" y="2296160"/>
            <a:ext cx="5588196" cy="646331"/>
          </a:xfrm>
          <a:prstGeom prst="rect">
            <a:avLst/>
          </a:prstGeom>
          <a:noFill/>
        </p:spPr>
        <p:txBody>
          <a:bodyPr wrap="none" rtlCol="0">
            <a:spAutoFit/>
          </a:bodyPr>
          <a:lstStyle/>
          <a:p>
            <a:r>
              <a:rPr lang="en-US" sz="3600" dirty="0" err="1"/>
              <a:t>Limbajul</a:t>
            </a:r>
            <a:r>
              <a:rPr lang="en-US" sz="3600" dirty="0"/>
              <a:t> Erlang - </a:t>
            </a:r>
            <a:r>
              <a:rPr lang="en-US" sz="3600" dirty="0" err="1"/>
              <a:t>introducere</a:t>
            </a:r>
            <a:endParaRPr lang="en-GB" sz="3600" dirty="0"/>
          </a:p>
        </p:txBody>
      </p:sp>
    </p:spTree>
    <p:extLst>
      <p:ext uri="{BB962C8B-B14F-4D97-AF65-F5344CB8AC3E}">
        <p14:creationId xmlns:p14="http://schemas.microsoft.com/office/powerpoint/2010/main" val="3921611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47816" y="1087779"/>
            <a:ext cx="8307231" cy="5199711"/>
          </a:xfrm>
          <a:prstGeom prst="rect">
            <a:avLst/>
          </a:prstGeom>
        </p:spPr>
        <p:style>
          <a:lnRef idx="2">
            <a:schemeClr val="dk1"/>
          </a:lnRef>
          <a:fillRef idx="1">
            <a:schemeClr val="lt1"/>
          </a:fillRef>
          <a:effectRef idx="0">
            <a:schemeClr val="dk1"/>
          </a:effectRef>
          <a:fontRef idx="minor">
            <a:schemeClr val="dk1"/>
          </a:fontRef>
        </p:style>
      </p:pic>
      <p:sp>
        <p:nvSpPr>
          <p:cNvPr id="3" name="TextBox 2"/>
          <p:cNvSpPr txBox="1"/>
          <p:nvPr/>
        </p:nvSpPr>
        <p:spPr>
          <a:xfrm>
            <a:off x="1633949" y="45650"/>
            <a:ext cx="1321708" cy="461665"/>
          </a:xfrm>
          <a:prstGeom prst="rect">
            <a:avLst/>
          </a:prstGeom>
          <a:noFill/>
        </p:spPr>
        <p:txBody>
          <a:bodyPr wrap="none" rtlCol="0">
            <a:spAutoFit/>
          </a:bodyPr>
          <a:lstStyle/>
          <a:p>
            <a:r>
              <a:rPr lang="en-US" sz="2400" dirty="0" err="1"/>
              <a:t>erl</a:t>
            </a:r>
            <a:r>
              <a:rPr lang="en-US" sz="2400" dirty="0"/>
              <a:t> / </a:t>
            </a:r>
            <a:r>
              <a:rPr lang="en-US" sz="2400" dirty="0" err="1"/>
              <a:t>werl</a:t>
            </a:r>
            <a:endParaRPr lang="en-US" sz="2400" dirty="0"/>
          </a:p>
        </p:txBody>
      </p:sp>
      <p:sp>
        <p:nvSpPr>
          <p:cNvPr id="4" name="TextBox 3"/>
          <p:cNvSpPr txBox="1"/>
          <p:nvPr/>
        </p:nvSpPr>
        <p:spPr>
          <a:xfrm>
            <a:off x="5230851" y="332978"/>
            <a:ext cx="4892301" cy="461665"/>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a:hlinkClick r:id="rId3"/>
              </a:rPr>
              <a:t>http://erlang.org/doc/man/shell.html</a:t>
            </a:r>
            <a:endParaRPr lang="en-US" sz="2400" dirty="0"/>
          </a:p>
        </p:txBody>
      </p:sp>
      <p:pic>
        <p:nvPicPr>
          <p:cNvPr id="8" name="Picture 7">
            <a:extLst>
              <a:ext uri="{FF2B5EF4-FFF2-40B4-BE49-F238E27FC236}">
                <a16:creationId xmlns:a16="http://schemas.microsoft.com/office/drawing/2014/main" id="{2826B983-EFE3-39FF-5CB3-92F5D3710CF0}"/>
              </a:ext>
            </a:extLst>
          </p:cNvPr>
          <p:cNvPicPr>
            <a:picLocks noChangeAspect="1"/>
          </p:cNvPicPr>
          <p:nvPr/>
        </p:nvPicPr>
        <p:blipFill>
          <a:blip r:embed="rId4"/>
          <a:stretch>
            <a:fillRect/>
          </a:stretch>
        </p:blipFill>
        <p:spPr>
          <a:xfrm>
            <a:off x="6359196" y="2976940"/>
            <a:ext cx="4966663" cy="2397700"/>
          </a:xfrm>
          <a:prstGeom prst="rect">
            <a:avLst/>
          </a:prstGeom>
        </p:spPr>
      </p:pic>
      <p:sp>
        <p:nvSpPr>
          <p:cNvPr id="10" name="TextBox 9">
            <a:extLst>
              <a:ext uri="{FF2B5EF4-FFF2-40B4-BE49-F238E27FC236}">
                <a16:creationId xmlns:a16="http://schemas.microsoft.com/office/drawing/2014/main" id="{622F0D6C-AD06-56FA-E354-070D27EB2E96}"/>
              </a:ext>
            </a:extLst>
          </p:cNvPr>
          <p:cNvSpPr txBox="1"/>
          <p:nvPr/>
        </p:nvSpPr>
        <p:spPr>
          <a:xfrm>
            <a:off x="7345680" y="5031774"/>
            <a:ext cx="4183379" cy="101566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f()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Calibri" panose="020F0502020204030204"/>
              </a:rPr>
              <a:t>e</a:t>
            </a: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limina </a:t>
            </a:r>
            <a:r>
              <a:rPr kumimoji="0" lang="en-US" sz="1800" b="0" i="0" u="none" strike="noStrike" kern="1200" cap="none" spc="0" normalizeH="0" baseline="0" noProof="0" dirty="0" err="1">
                <a:ln>
                  <a:noFill/>
                </a:ln>
                <a:solidFill>
                  <a:srgbClr val="000000"/>
                </a:solidFill>
                <a:effectLst/>
                <a:uLnTx/>
                <a:uFillTx/>
                <a:latin typeface="Calibri" panose="020F0502020204030204"/>
                <a:ea typeface="+mn-ea"/>
                <a:cs typeface="+mn-cs"/>
              </a:rPr>
              <a:t>legaturile</a:t>
            </a: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srgbClr val="000000"/>
                </a:solidFill>
                <a:effectLst/>
                <a:uLnTx/>
                <a:uFillTx/>
                <a:latin typeface="Calibri" panose="020F0502020204030204"/>
                <a:ea typeface="+mn-ea"/>
                <a:cs typeface="+mn-cs"/>
              </a:rPr>
              <a:t>variabilelor</a:t>
            </a: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hlinkClick r:id="rId3"/>
              </a:rPr>
              <a:t>http://erlang.org/doc/man/shell.html </a:t>
            </a: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A2734872-8A02-8B56-B8A5-E6F11606EDE0}"/>
              </a:ext>
            </a:extLst>
          </p:cNvPr>
          <p:cNvSpPr txBox="1"/>
          <p:nvPr/>
        </p:nvSpPr>
        <p:spPr>
          <a:xfrm>
            <a:off x="10194406" y="2515275"/>
            <a:ext cx="643773" cy="461665"/>
          </a:xfrm>
          <a:prstGeom prst="rect">
            <a:avLst/>
          </a:prstGeom>
          <a:noFill/>
        </p:spPr>
        <p:txBody>
          <a:bodyPr wrap="square" rtlCol="0">
            <a:spAutoFit/>
          </a:bodyPr>
          <a:lstStyle/>
          <a:p>
            <a:r>
              <a:rPr lang="en-US" sz="2400" dirty="0" err="1"/>
              <a:t>erl</a:t>
            </a:r>
            <a:endParaRPr lang="en-GB" sz="2400" dirty="0"/>
          </a:p>
        </p:txBody>
      </p:sp>
      <p:sp>
        <p:nvSpPr>
          <p:cNvPr id="7" name="TextBox 6">
            <a:extLst>
              <a:ext uri="{FF2B5EF4-FFF2-40B4-BE49-F238E27FC236}">
                <a16:creationId xmlns:a16="http://schemas.microsoft.com/office/drawing/2014/main" id="{0B736E38-7EAB-F503-34BB-827BB976DB79}"/>
              </a:ext>
            </a:extLst>
          </p:cNvPr>
          <p:cNvSpPr txBox="1"/>
          <p:nvPr/>
        </p:nvSpPr>
        <p:spPr>
          <a:xfrm>
            <a:off x="1038992" y="618117"/>
            <a:ext cx="733406" cy="461665"/>
          </a:xfrm>
          <a:prstGeom prst="rect">
            <a:avLst/>
          </a:prstGeom>
          <a:noFill/>
        </p:spPr>
        <p:txBody>
          <a:bodyPr wrap="none" rtlCol="0">
            <a:spAutoFit/>
          </a:bodyPr>
          <a:lstStyle/>
          <a:p>
            <a:r>
              <a:rPr lang="en-US" sz="2400" dirty="0" err="1"/>
              <a:t>werl</a:t>
            </a:r>
            <a:endParaRPr lang="en-GB" sz="2400" dirty="0"/>
          </a:p>
        </p:txBody>
      </p:sp>
    </p:spTree>
    <p:extLst>
      <p:ext uri="{BB962C8B-B14F-4D97-AF65-F5344CB8AC3E}">
        <p14:creationId xmlns:p14="http://schemas.microsoft.com/office/powerpoint/2010/main" val="1809009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0834" y="737999"/>
            <a:ext cx="5872930" cy="1569660"/>
          </a:xfrm>
          <a:prstGeom prst="rect">
            <a:avLst/>
          </a:prstGeom>
          <a:noFill/>
        </p:spPr>
        <p:txBody>
          <a:bodyPr wrap="square" rtlCol="0">
            <a:spAutoFit/>
          </a:bodyPr>
          <a:lstStyle/>
          <a:p>
            <a:pPr marL="285750" indent="-285750">
              <a:buFont typeface="Wingdings" panose="05000000000000000000" pitchFamily="2" charset="2"/>
              <a:buChar char="Ø"/>
            </a:pPr>
            <a:r>
              <a:rPr lang="en-US" sz="2400" dirty="0" err="1"/>
              <a:t>comentariile</a:t>
            </a:r>
            <a:r>
              <a:rPr lang="en-US" sz="2400" dirty="0"/>
              <a:t> </a:t>
            </a:r>
            <a:r>
              <a:rPr lang="en-US" sz="2400" dirty="0" err="1"/>
              <a:t>incep</a:t>
            </a:r>
            <a:r>
              <a:rPr lang="en-US" sz="2400" dirty="0"/>
              <a:t> cu %  </a:t>
            </a:r>
          </a:p>
          <a:p>
            <a:r>
              <a:rPr lang="en-US" sz="2400" dirty="0"/>
              <a:t>     % </a:t>
            </a:r>
            <a:r>
              <a:rPr lang="en-US" sz="2400" dirty="0" err="1"/>
              <a:t>comentariu</a:t>
            </a:r>
            <a:r>
              <a:rPr lang="en-US" sz="2400" dirty="0"/>
              <a:t> </a:t>
            </a:r>
            <a:r>
              <a:rPr lang="en-US" sz="2400" dirty="0" err="1"/>
              <a:t>pe</a:t>
            </a:r>
            <a:r>
              <a:rPr lang="en-US" sz="2400" dirty="0"/>
              <a:t> o </a:t>
            </a:r>
            <a:r>
              <a:rPr lang="en-US" sz="2400" dirty="0" err="1"/>
              <a:t>linie</a:t>
            </a:r>
            <a:endParaRPr lang="en-US" sz="2400" dirty="0"/>
          </a:p>
          <a:p>
            <a:endParaRPr lang="en-US" sz="2400" dirty="0"/>
          </a:p>
          <a:p>
            <a:pPr marL="285750" indent="-285750">
              <a:buFont typeface="Wingdings" panose="05000000000000000000" pitchFamily="2" charset="2"/>
              <a:buChar char="Ø"/>
            </a:pPr>
            <a:endParaRPr lang="en-US" sz="2400" dirty="0"/>
          </a:p>
        </p:txBody>
      </p:sp>
      <p:sp>
        <p:nvSpPr>
          <p:cNvPr id="3" name="TextBox 2"/>
          <p:cNvSpPr txBox="1"/>
          <p:nvPr/>
        </p:nvSpPr>
        <p:spPr>
          <a:xfrm>
            <a:off x="486307" y="2307659"/>
            <a:ext cx="8913722" cy="3416320"/>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400" dirty="0" err="1"/>
              <a:t>atomii</a:t>
            </a:r>
            <a:r>
              <a:rPr lang="en-US" sz="2400" dirty="0"/>
              <a:t> </a:t>
            </a:r>
            <a:r>
              <a:rPr lang="en-US" sz="2400" dirty="0" err="1"/>
              <a:t>incep</a:t>
            </a:r>
            <a:r>
              <a:rPr lang="en-US" sz="2400" dirty="0"/>
              <a:t> cu </a:t>
            </a:r>
            <a:r>
              <a:rPr lang="en-US" sz="2400" dirty="0" err="1"/>
              <a:t>litera</a:t>
            </a:r>
            <a:r>
              <a:rPr lang="en-US" sz="2400" dirty="0"/>
              <a:t> mica; </a:t>
            </a:r>
            <a:r>
              <a:rPr lang="en-US" sz="2400" dirty="0" err="1"/>
              <a:t>numele</a:t>
            </a:r>
            <a:r>
              <a:rPr lang="en-US" sz="2400" dirty="0"/>
              <a:t> </a:t>
            </a:r>
            <a:r>
              <a:rPr lang="en-US" sz="2400" dirty="0" err="1"/>
              <a:t>functiilor</a:t>
            </a:r>
            <a:r>
              <a:rPr lang="en-US" sz="2400" dirty="0"/>
              <a:t> </a:t>
            </a:r>
            <a:r>
              <a:rPr lang="en-US" sz="2400" dirty="0" err="1"/>
              <a:t>sunt</a:t>
            </a:r>
            <a:r>
              <a:rPr lang="en-US" sz="2400" dirty="0"/>
              <a:t> </a:t>
            </a:r>
            <a:r>
              <a:rPr lang="en-US" sz="2400" dirty="0" err="1"/>
              <a:t>atomi</a:t>
            </a:r>
            <a:endParaRPr lang="en-US" sz="2400" dirty="0"/>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r>
              <a:rPr lang="en-US" sz="2400" dirty="0" err="1"/>
              <a:t>termen</a:t>
            </a:r>
            <a:r>
              <a:rPr lang="en-US" sz="2400" dirty="0"/>
              <a:t> = data de </a:t>
            </a:r>
            <a:r>
              <a:rPr lang="en-US" sz="2400" dirty="0" err="1"/>
              <a:t>orice</a:t>
            </a:r>
            <a:r>
              <a:rPr lang="en-US" sz="2400" dirty="0"/>
              <a:t> tip</a:t>
            </a:r>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r>
              <a:rPr lang="en-US" sz="2400" dirty="0" err="1"/>
              <a:t>orice</a:t>
            </a:r>
            <a:r>
              <a:rPr lang="en-US" sz="2400" dirty="0"/>
              <a:t> </a:t>
            </a:r>
            <a:r>
              <a:rPr lang="en-US" sz="2400" dirty="0" err="1"/>
              <a:t>instructiune</a:t>
            </a:r>
            <a:r>
              <a:rPr lang="en-US" sz="2400" dirty="0"/>
              <a:t> se </a:t>
            </a:r>
            <a:r>
              <a:rPr lang="en-US" sz="2400" dirty="0" err="1"/>
              <a:t>termina</a:t>
            </a:r>
            <a:r>
              <a:rPr lang="en-US" sz="2400" dirty="0"/>
              <a:t> cu </a:t>
            </a:r>
            <a:r>
              <a:rPr lang="en-US" sz="2400" dirty="0" err="1"/>
              <a:t>punct</a:t>
            </a:r>
            <a:r>
              <a:rPr lang="en-US" sz="2400" dirty="0"/>
              <a:t> .</a:t>
            </a:r>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r>
              <a:rPr lang="en-US" sz="2400" dirty="0"/>
              <a:t>un program </a:t>
            </a:r>
            <a:r>
              <a:rPr lang="en-US" sz="2400" dirty="0" err="1"/>
              <a:t>este</a:t>
            </a:r>
            <a:r>
              <a:rPr lang="en-US" sz="2400" dirty="0"/>
              <a:t> format din  module; </a:t>
            </a:r>
          </a:p>
          <a:p>
            <a:r>
              <a:rPr lang="en-US" sz="2400" dirty="0"/>
              <a:t>     </a:t>
            </a:r>
            <a:r>
              <a:rPr lang="en-US" sz="2400" dirty="0" err="1"/>
              <a:t>numele</a:t>
            </a:r>
            <a:r>
              <a:rPr lang="en-US" sz="2400" dirty="0"/>
              <a:t>  </a:t>
            </a:r>
            <a:r>
              <a:rPr lang="en-US" sz="2400" dirty="0" err="1"/>
              <a:t>fisierului</a:t>
            </a:r>
            <a:r>
              <a:rPr lang="en-US" sz="2400" dirty="0"/>
              <a:t> coincide cu </a:t>
            </a:r>
            <a:r>
              <a:rPr lang="en-US" sz="2400" dirty="0" err="1"/>
              <a:t>numele</a:t>
            </a:r>
            <a:r>
              <a:rPr lang="en-US" sz="2400" dirty="0"/>
              <a:t> </a:t>
            </a:r>
            <a:r>
              <a:rPr lang="en-US" sz="2400" dirty="0" err="1"/>
              <a:t>modulului</a:t>
            </a:r>
            <a:r>
              <a:rPr lang="en-US" sz="2400" dirty="0"/>
              <a:t> </a:t>
            </a:r>
            <a:r>
              <a:rPr lang="en-US" sz="2400" dirty="0" err="1"/>
              <a:t>si</a:t>
            </a:r>
            <a:r>
              <a:rPr lang="en-US" sz="2400" dirty="0"/>
              <a:t> are </a:t>
            </a:r>
            <a:r>
              <a:rPr lang="en-US" sz="2400" dirty="0" err="1"/>
              <a:t>extensia</a:t>
            </a:r>
            <a:r>
              <a:rPr lang="en-US" sz="2400" dirty="0"/>
              <a:t> .</a:t>
            </a:r>
            <a:r>
              <a:rPr lang="en-US" sz="2400" dirty="0" err="1"/>
              <a:t>erl</a:t>
            </a:r>
            <a:r>
              <a:rPr lang="en-US" sz="2400" dirty="0"/>
              <a:t>;</a:t>
            </a:r>
          </a:p>
          <a:p>
            <a:r>
              <a:rPr lang="en-US" sz="2400" dirty="0"/>
              <a:t>     </a:t>
            </a:r>
            <a:r>
              <a:rPr lang="en-US" sz="2400" dirty="0" err="1"/>
              <a:t>compilarea</a:t>
            </a:r>
            <a:r>
              <a:rPr lang="en-US" sz="2400" dirty="0"/>
              <a:t> se face </a:t>
            </a:r>
            <a:r>
              <a:rPr lang="en-US" sz="2400" dirty="0" err="1"/>
              <a:t>folosind</a:t>
            </a:r>
            <a:r>
              <a:rPr lang="en-US" sz="2400" dirty="0"/>
              <a:t> </a:t>
            </a:r>
            <a:r>
              <a:rPr lang="en-US" sz="2400" dirty="0" err="1"/>
              <a:t>comanda</a:t>
            </a:r>
            <a:r>
              <a:rPr lang="en-US" sz="2400" dirty="0"/>
              <a:t> c(</a:t>
            </a:r>
            <a:r>
              <a:rPr lang="en-US" sz="2400" dirty="0" err="1"/>
              <a:t>nume_fisier</a:t>
            </a:r>
            <a:r>
              <a:rPr lang="en-US" sz="2400" dirty="0"/>
              <a:t>)</a:t>
            </a:r>
          </a:p>
        </p:txBody>
      </p:sp>
      <p:sp>
        <p:nvSpPr>
          <p:cNvPr id="4" name="TextBox 3"/>
          <p:cNvSpPr txBox="1"/>
          <p:nvPr/>
        </p:nvSpPr>
        <p:spPr>
          <a:xfrm>
            <a:off x="486307" y="1673472"/>
            <a:ext cx="11077135" cy="461665"/>
          </a:xfrm>
          <a:prstGeom prst="rect">
            <a:avLst/>
          </a:prstGeom>
          <a:noFill/>
        </p:spPr>
        <p:txBody>
          <a:bodyPr wrap="none" rtlCol="0">
            <a:spAutoFit/>
          </a:bodyPr>
          <a:lstStyle/>
          <a:p>
            <a:pPr marL="285750" indent="-285750">
              <a:buFont typeface="Wingdings" panose="05000000000000000000" pitchFamily="2" charset="2"/>
              <a:buChar char="Ø"/>
            </a:pPr>
            <a:r>
              <a:rPr lang="en-US" sz="2000" dirty="0"/>
              <a:t> </a:t>
            </a:r>
            <a:r>
              <a:rPr lang="en-US" sz="2400" dirty="0" err="1"/>
              <a:t>variabilele</a:t>
            </a:r>
            <a:r>
              <a:rPr lang="en-US" sz="2400" dirty="0"/>
              <a:t> </a:t>
            </a:r>
            <a:r>
              <a:rPr lang="en-US" sz="2400" dirty="0" err="1"/>
              <a:t>incep</a:t>
            </a:r>
            <a:r>
              <a:rPr lang="en-US" sz="2400" dirty="0"/>
              <a:t> cu </a:t>
            </a:r>
            <a:r>
              <a:rPr lang="en-US" sz="2400" dirty="0" err="1"/>
              <a:t>litera</a:t>
            </a:r>
            <a:r>
              <a:rPr lang="en-US" sz="2400" dirty="0"/>
              <a:t>  mare  </a:t>
            </a:r>
            <a:r>
              <a:rPr lang="en-US" sz="2400" dirty="0" err="1"/>
              <a:t>sau</a:t>
            </a:r>
            <a:r>
              <a:rPr lang="en-US" sz="2400" dirty="0"/>
              <a:t> _  (</a:t>
            </a:r>
            <a:r>
              <a:rPr lang="en-US" sz="2400" dirty="0" err="1"/>
              <a:t>celelalte</a:t>
            </a:r>
            <a:r>
              <a:rPr lang="en-US" sz="2400" dirty="0"/>
              <a:t> </a:t>
            </a:r>
            <a:r>
              <a:rPr lang="en-US" sz="2400" dirty="0" err="1"/>
              <a:t>caractere</a:t>
            </a:r>
            <a:r>
              <a:rPr lang="en-US" sz="2400" dirty="0"/>
              <a:t> sunt </a:t>
            </a:r>
            <a:r>
              <a:rPr lang="en-US" sz="2400" dirty="0" err="1"/>
              <a:t>alfanumerice</a:t>
            </a:r>
            <a:r>
              <a:rPr lang="en-US" sz="2400" dirty="0"/>
              <a:t>, @,_)</a:t>
            </a:r>
          </a:p>
        </p:txBody>
      </p:sp>
      <p:sp>
        <p:nvSpPr>
          <p:cNvPr id="5" name="TextBox 4"/>
          <p:cNvSpPr txBox="1"/>
          <p:nvPr/>
        </p:nvSpPr>
        <p:spPr>
          <a:xfrm>
            <a:off x="340834" y="42257"/>
            <a:ext cx="1095172" cy="523220"/>
          </a:xfrm>
          <a:prstGeom prst="rect">
            <a:avLst/>
          </a:prstGeom>
          <a:noFill/>
        </p:spPr>
        <p:txBody>
          <a:bodyPr wrap="none" rtlCol="0">
            <a:spAutoFit/>
          </a:bodyPr>
          <a:lstStyle/>
          <a:p>
            <a:r>
              <a:rPr lang="en-US" sz="2800" dirty="0" err="1"/>
              <a:t>Erlang</a:t>
            </a:r>
            <a:endParaRPr lang="en-US" sz="2800" dirty="0"/>
          </a:p>
        </p:txBody>
      </p:sp>
    </p:spTree>
    <p:extLst>
      <p:ext uri="{BB962C8B-B14F-4D97-AF65-F5344CB8AC3E}">
        <p14:creationId xmlns:p14="http://schemas.microsoft.com/office/powerpoint/2010/main" val="2109851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807957" y="2744889"/>
            <a:ext cx="2957177" cy="2328777"/>
          </a:xfrm>
          <a:prstGeom prst="rect">
            <a:avLst/>
          </a:prstGeom>
          <a:ln>
            <a:solidFill>
              <a:schemeClr val="tx1"/>
            </a:solidFill>
          </a:ln>
        </p:spPr>
      </p:pic>
      <p:pic>
        <p:nvPicPr>
          <p:cNvPr id="14" name="Picture 13"/>
          <p:cNvPicPr>
            <a:picLocks noChangeAspect="1"/>
          </p:cNvPicPr>
          <p:nvPr/>
        </p:nvPicPr>
        <p:blipFill>
          <a:blip r:embed="rId3"/>
          <a:stretch>
            <a:fillRect/>
          </a:stretch>
        </p:blipFill>
        <p:spPr>
          <a:xfrm>
            <a:off x="4092184" y="2748321"/>
            <a:ext cx="4229042" cy="2937352"/>
          </a:xfrm>
          <a:prstGeom prst="rect">
            <a:avLst/>
          </a:prstGeom>
        </p:spPr>
        <p:style>
          <a:lnRef idx="2">
            <a:schemeClr val="dk1"/>
          </a:lnRef>
          <a:fillRef idx="1">
            <a:schemeClr val="lt1"/>
          </a:fillRef>
          <a:effectRef idx="0">
            <a:schemeClr val="dk1"/>
          </a:effectRef>
          <a:fontRef idx="minor">
            <a:schemeClr val="dk1"/>
          </a:fontRef>
        </p:style>
      </p:pic>
      <p:sp>
        <p:nvSpPr>
          <p:cNvPr id="5" name="TextBox 4"/>
          <p:cNvSpPr txBox="1"/>
          <p:nvPr/>
        </p:nvSpPr>
        <p:spPr>
          <a:xfrm>
            <a:off x="561917" y="581891"/>
            <a:ext cx="2208490" cy="1384995"/>
          </a:xfrm>
          <a:prstGeom prst="rect">
            <a:avLst/>
          </a:prstGeom>
          <a:noFill/>
        </p:spPr>
        <p:txBody>
          <a:bodyPr wrap="none" rtlCol="0">
            <a:spAutoFit/>
          </a:bodyPr>
          <a:lstStyle/>
          <a:p>
            <a:r>
              <a:rPr lang="en-US" sz="2800" dirty="0" err="1"/>
              <a:t>Tipuri</a:t>
            </a:r>
            <a:r>
              <a:rPr lang="en-US" sz="2800" dirty="0"/>
              <a:t> de date</a:t>
            </a:r>
          </a:p>
          <a:p>
            <a:endParaRPr lang="en-US" sz="2800" dirty="0"/>
          </a:p>
          <a:p>
            <a:pPr marL="457200" indent="-457200">
              <a:buFont typeface="Wingdings" panose="05000000000000000000" pitchFamily="2" charset="2"/>
              <a:buChar char="§"/>
            </a:pPr>
            <a:r>
              <a:rPr lang="en-US" sz="2800" dirty="0"/>
              <a:t>Number:</a:t>
            </a:r>
          </a:p>
        </p:txBody>
      </p:sp>
      <p:sp>
        <p:nvSpPr>
          <p:cNvPr id="15" name="TextBox 14"/>
          <p:cNvSpPr txBox="1"/>
          <p:nvPr/>
        </p:nvSpPr>
        <p:spPr>
          <a:xfrm>
            <a:off x="623226" y="4749423"/>
            <a:ext cx="184731" cy="800219"/>
          </a:xfrm>
          <a:prstGeom prst="rect">
            <a:avLst/>
          </a:prstGeom>
          <a:noFill/>
        </p:spPr>
        <p:txBody>
          <a:bodyPr wrap="none" rtlCol="0">
            <a:spAutoFit/>
          </a:bodyPr>
          <a:lstStyle/>
          <a:p>
            <a:endParaRPr lang="en-US" sz="2800" dirty="0"/>
          </a:p>
          <a:p>
            <a:endParaRPr lang="en-US" dirty="0"/>
          </a:p>
        </p:txBody>
      </p:sp>
      <p:sp>
        <p:nvSpPr>
          <p:cNvPr id="17" name="TextBox 16"/>
          <p:cNvSpPr txBox="1"/>
          <p:nvPr/>
        </p:nvSpPr>
        <p:spPr>
          <a:xfrm>
            <a:off x="3567154" y="5765085"/>
            <a:ext cx="5635132" cy="646331"/>
          </a:xfrm>
          <a:prstGeom prst="rect">
            <a:avLst/>
          </a:prstGeom>
          <a:noFill/>
        </p:spPr>
        <p:txBody>
          <a:bodyPr wrap="none" rtlCol="0">
            <a:spAutoFit/>
          </a:bodyPr>
          <a:lstStyle/>
          <a:p>
            <a:r>
              <a:rPr lang="en-US" dirty="0">
                <a:hlinkClick r:id="rId4"/>
              </a:rPr>
              <a:t>http://erlang.org/doc/reference_manual/data_types.html</a:t>
            </a:r>
            <a:endParaRPr lang="en-US" dirty="0"/>
          </a:p>
          <a:p>
            <a:endParaRPr lang="en-US" dirty="0"/>
          </a:p>
        </p:txBody>
      </p:sp>
      <p:sp>
        <p:nvSpPr>
          <p:cNvPr id="2" name="TextBox 1"/>
          <p:cNvSpPr txBox="1"/>
          <p:nvPr/>
        </p:nvSpPr>
        <p:spPr>
          <a:xfrm>
            <a:off x="1440554" y="2074264"/>
            <a:ext cx="1222899" cy="523220"/>
          </a:xfrm>
          <a:prstGeom prst="rect">
            <a:avLst/>
          </a:prstGeom>
          <a:noFill/>
        </p:spPr>
        <p:txBody>
          <a:bodyPr wrap="none" rtlCol="0">
            <a:spAutoFit/>
          </a:bodyPr>
          <a:lstStyle/>
          <a:p>
            <a:r>
              <a:rPr lang="en-US" sz="2800" dirty="0"/>
              <a:t>Integer</a:t>
            </a:r>
          </a:p>
        </p:txBody>
      </p:sp>
      <p:sp>
        <p:nvSpPr>
          <p:cNvPr id="3" name="TextBox 2"/>
          <p:cNvSpPr txBox="1"/>
          <p:nvPr/>
        </p:nvSpPr>
        <p:spPr>
          <a:xfrm>
            <a:off x="5532699" y="2135529"/>
            <a:ext cx="1050159" cy="523220"/>
          </a:xfrm>
          <a:prstGeom prst="rect">
            <a:avLst/>
          </a:prstGeom>
          <a:noFill/>
        </p:spPr>
        <p:txBody>
          <a:bodyPr wrap="none" rtlCol="0">
            <a:spAutoFit/>
          </a:bodyPr>
          <a:lstStyle/>
          <a:p>
            <a:r>
              <a:rPr lang="en-US" sz="2800" dirty="0"/>
              <a:t>Floats</a:t>
            </a:r>
          </a:p>
        </p:txBody>
      </p:sp>
      <p:sp>
        <p:nvSpPr>
          <p:cNvPr id="4" name="TextBox 3"/>
          <p:cNvSpPr txBox="1"/>
          <p:nvPr/>
        </p:nvSpPr>
        <p:spPr>
          <a:xfrm>
            <a:off x="8657863" y="1966886"/>
            <a:ext cx="2345001" cy="707886"/>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a:t>$char   % </a:t>
            </a:r>
            <a:r>
              <a:rPr lang="en-US" sz="2000" dirty="0" err="1"/>
              <a:t>codul</a:t>
            </a:r>
            <a:r>
              <a:rPr lang="en-US" sz="2000" dirty="0"/>
              <a:t> ASCII</a:t>
            </a:r>
          </a:p>
          <a:p>
            <a:r>
              <a:rPr lang="en-US" sz="2000" dirty="0" err="1"/>
              <a:t>base#integer</a:t>
            </a:r>
            <a:r>
              <a:rPr lang="en-US" sz="2000" dirty="0"/>
              <a:t> </a:t>
            </a:r>
          </a:p>
        </p:txBody>
      </p:sp>
      <p:pic>
        <p:nvPicPr>
          <p:cNvPr id="9" name="Picture 8"/>
          <p:cNvPicPr>
            <a:picLocks noChangeAspect="1"/>
          </p:cNvPicPr>
          <p:nvPr/>
        </p:nvPicPr>
        <p:blipFill>
          <a:blip r:embed="rId5"/>
          <a:stretch>
            <a:fillRect/>
          </a:stretch>
        </p:blipFill>
        <p:spPr>
          <a:xfrm>
            <a:off x="8555118" y="2831699"/>
            <a:ext cx="2427818" cy="2070179"/>
          </a:xfrm>
          <a:prstGeom prst="rect">
            <a:avLst/>
          </a:prstGeom>
        </p:spPr>
        <p:style>
          <a:lnRef idx="2">
            <a:schemeClr val="dk1"/>
          </a:lnRef>
          <a:fillRef idx="1">
            <a:schemeClr val="lt1"/>
          </a:fillRef>
          <a:effectRef idx="0">
            <a:schemeClr val="dk1"/>
          </a:effectRef>
          <a:fontRef idx="minor">
            <a:schemeClr val="dk1"/>
          </a:fontRef>
        </p:style>
      </p:pic>
      <p:sp>
        <p:nvSpPr>
          <p:cNvPr id="6" name="TextBox 5">
            <a:extLst>
              <a:ext uri="{FF2B5EF4-FFF2-40B4-BE49-F238E27FC236}">
                <a16:creationId xmlns:a16="http://schemas.microsoft.com/office/drawing/2014/main" id="{4F65065F-20DD-3072-2098-9B325AE429F9}"/>
              </a:ext>
            </a:extLst>
          </p:cNvPr>
          <p:cNvSpPr txBox="1"/>
          <p:nvPr/>
        </p:nvSpPr>
        <p:spPr>
          <a:xfrm>
            <a:off x="375920" y="5354320"/>
            <a:ext cx="2731517"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  face </a:t>
            </a:r>
            <a:r>
              <a:rPr lang="en-US" dirty="0" err="1"/>
              <a:t>conversie</a:t>
            </a:r>
            <a:r>
              <a:rPr lang="en-US" dirty="0"/>
              <a:t> </a:t>
            </a:r>
            <a:r>
              <a:rPr lang="en-US" dirty="0" err="1"/>
              <a:t>explicita</a:t>
            </a:r>
            <a:r>
              <a:rPr lang="en-US" dirty="0"/>
              <a:t> </a:t>
            </a:r>
          </a:p>
          <a:p>
            <a:r>
              <a:rPr lang="en-US" dirty="0"/>
              <a:t>      </a:t>
            </a:r>
            <a:r>
              <a:rPr lang="en-US" dirty="0" err="1"/>
              <a:t>pentru</a:t>
            </a:r>
            <a:r>
              <a:rPr lang="en-US" dirty="0"/>
              <a:t> </a:t>
            </a:r>
            <a:r>
              <a:rPr lang="en-US" dirty="0" err="1"/>
              <a:t>numere</a:t>
            </a:r>
            <a:endParaRPr lang="en-GB" dirty="0"/>
          </a:p>
        </p:txBody>
      </p:sp>
    </p:spTree>
    <p:extLst>
      <p:ext uri="{BB962C8B-B14F-4D97-AF65-F5344CB8AC3E}">
        <p14:creationId xmlns:p14="http://schemas.microsoft.com/office/powerpoint/2010/main" val="1767445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2770407" y="1554267"/>
            <a:ext cx="2075036" cy="2736642"/>
          </a:xfrm>
          <a:prstGeom prst="rect">
            <a:avLst/>
          </a:prstGeom>
        </p:spPr>
        <p:style>
          <a:lnRef idx="2">
            <a:schemeClr val="dk1"/>
          </a:lnRef>
          <a:fillRef idx="1">
            <a:schemeClr val="lt1"/>
          </a:fillRef>
          <a:effectRef idx="0">
            <a:schemeClr val="dk1"/>
          </a:effectRef>
          <a:fontRef idx="minor">
            <a:schemeClr val="dk1"/>
          </a:fontRef>
        </p:style>
      </p:pic>
      <p:sp>
        <p:nvSpPr>
          <p:cNvPr id="6" name="Rectangle 1"/>
          <p:cNvSpPr>
            <a:spLocks noChangeArrowheads="1"/>
          </p:cNvSpPr>
          <p:nvPr/>
        </p:nvSpPr>
        <p:spPr bwMode="auto">
          <a:xfrm>
            <a:off x="5581326" y="1966886"/>
            <a:ext cx="2622834" cy="707886"/>
          </a:xfrm>
          <a:prstGeom prst="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panose="020B0604020202020204" pitchFamily="34" charset="-128"/>
              </a:rPr>
              <a:t>Expr1 </a:t>
            </a:r>
            <a:r>
              <a:rPr kumimoji="0" lang="en-US" altLang="en-US" sz="2000" b="1" i="0" u="none" strike="noStrike" cap="none" normalizeH="0" baseline="0" dirty="0" err="1">
                <a:ln>
                  <a:noFill/>
                </a:ln>
                <a:solidFill>
                  <a:schemeClr val="tx1"/>
                </a:solidFill>
                <a:effectLst/>
                <a:latin typeface="Arial Unicode MS" panose="020B0604020202020204" pitchFamily="34" charset="-128"/>
              </a:rPr>
              <a:t>orelse</a:t>
            </a:r>
            <a:r>
              <a:rPr kumimoji="0" lang="en-US" altLang="en-US" sz="2000" b="0" i="0" u="none" strike="noStrike" cap="none" normalizeH="0" baseline="0" dirty="0">
                <a:ln>
                  <a:noFill/>
                </a:ln>
                <a:solidFill>
                  <a:schemeClr val="tx1"/>
                </a:solidFill>
                <a:effectLst/>
                <a:latin typeface="Arial Unicode MS" panose="020B0604020202020204" pitchFamily="34" charset="-128"/>
              </a:rPr>
              <a:t> Expr2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panose="020B0604020202020204" pitchFamily="34" charset="-128"/>
              </a:rPr>
              <a:t>Expr1 </a:t>
            </a:r>
            <a:r>
              <a:rPr kumimoji="0" lang="en-US" altLang="en-US" sz="2000" b="1" i="0" u="none" strike="noStrike" cap="none" normalizeH="0" baseline="0" dirty="0" err="1">
                <a:ln>
                  <a:noFill/>
                </a:ln>
                <a:solidFill>
                  <a:schemeClr val="tx1"/>
                </a:solidFill>
                <a:effectLst/>
                <a:latin typeface="Arial Unicode MS" panose="020B0604020202020204" pitchFamily="34" charset="-128"/>
              </a:rPr>
              <a:t>andalso</a:t>
            </a:r>
            <a:r>
              <a:rPr kumimoji="0" lang="en-US" altLang="en-US" sz="2000" b="0" i="0" u="none" strike="noStrike" cap="none" normalizeH="0" baseline="0" dirty="0">
                <a:ln>
                  <a:noFill/>
                </a:ln>
                <a:solidFill>
                  <a:schemeClr val="tx1"/>
                </a:solidFill>
                <a:effectLst/>
                <a:latin typeface="Arial Unicode MS" panose="020B0604020202020204" pitchFamily="34" charset="-128"/>
              </a:rPr>
              <a:t> Expr2</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5" name="TextBox 4"/>
          <p:cNvSpPr txBox="1"/>
          <p:nvPr/>
        </p:nvSpPr>
        <p:spPr>
          <a:xfrm>
            <a:off x="561917" y="581891"/>
            <a:ext cx="2208490" cy="1384995"/>
          </a:xfrm>
          <a:prstGeom prst="rect">
            <a:avLst/>
          </a:prstGeom>
          <a:noFill/>
        </p:spPr>
        <p:txBody>
          <a:bodyPr wrap="none" rtlCol="0">
            <a:spAutoFit/>
          </a:bodyPr>
          <a:lstStyle/>
          <a:p>
            <a:r>
              <a:rPr lang="en-US" sz="2800" dirty="0" err="1"/>
              <a:t>Tipuri</a:t>
            </a:r>
            <a:r>
              <a:rPr lang="en-US" sz="2800" dirty="0"/>
              <a:t> de date</a:t>
            </a:r>
          </a:p>
          <a:p>
            <a:endParaRPr lang="en-US" sz="2800" dirty="0"/>
          </a:p>
          <a:p>
            <a:pPr marL="457200" indent="-457200">
              <a:buFont typeface="Wingdings" panose="05000000000000000000" pitchFamily="2" charset="2"/>
              <a:buChar char="§"/>
            </a:pPr>
            <a:r>
              <a:rPr lang="en-US" sz="2800" dirty="0"/>
              <a:t>Boolean</a:t>
            </a:r>
          </a:p>
        </p:txBody>
      </p:sp>
      <p:sp>
        <p:nvSpPr>
          <p:cNvPr id="15" name="TextBox 14"/>
          <p:cNvSpPr txBox="1"/>
          <p:nvPr/>
        </p:nvSpPr>
        <p:spPr>
          <a:xfrm>
            <a:off x="623226" y="4749423"/>
            <a:ext cx="5561010" cy="1661993"/>
          </a:xfrm>
          <a:prstGeom prst="rect">
            <a:avLst/>
          </a:prstGeom>
          <a:noFill/>
        </p:spPr>
        <p:txBody>
          <a:bodyPr wrap="none" rtlCol="0">
            <a:spAutoFit/>
          </a:bodyPr>
          <a:lstStyle/>
          <a:p>
            <a:pPr marL="285750" indent="-285750">
              <a:buFont typeface="Wingdings" panose="05000000000000000000" pitchFamily="2" charset="2"/>
              <a:buChar char="§"/>
            </a:pPr>
            <a:r>
              <a:rPr lang="en-US" sz="2800" dirty="0"/>
              <a:t>Atoms (named symbolic constants)</a:t>
            </a:r>
          </a:p>
          <a:p>
            <a:r>
              <a:rPr lang="en-US" sz="2800" dirty="0"/>
              <a:t>         </a:t>
            </a:r>
            <a:r>
              <a:rPr lang="en-US" sz="2800" dirty="0" err="1"/>
              <a:t>luni</a:t>
            </a:r>
            <a:r>
              <a:rPr lang="en-US" sz="2800" dirty="0"/>
              <a:t>,  '</a:t>
            </a:r>
            <a:r>
              <a:rPr lang="en-US" sz="2800" dirty="0" err="1"/>
              <a:t>Luni</a:t>
            </a:r>
            <a:r>
              <a:rPr lang="en-US" sz="2800" dirty="0"/>
              <a:t>', 'Prima </a:t>
            </a:r>
            <a:r>
              <a:rPr lang="en-US" sz="2800" dirty="0" err="1"/>
              <a:t>zi</a:t>
            </a:r>
            <a:r>
              <a:rPr lang="en-US" sz="2800" dirty="0"/>
              <a:t>'  </a:t>
            </a:r>
          </a:p>
          <a:p>
            <a:endParaRPr lang="en-US" sz="2800" dirty="0"/>
          </a:p>
          <a:p>
            <a:endParaRPr lang="en-US" dirty="0"/>
          </a:p>
        </p:txBody>
      </p:sp>
      <p:sp>
        <p:nvSpPr>
          <p:cNvPr id="16" name="TextBox 15"/>
          <p:cNvSpPr txBox="1"/>
          <p:nvPr/>
        </p:nvSpPr>
        <p:spPr>
          <a:xfrm>
            <a:off x="5660226" y="2757201"/>
            <a:ext cx="2465034" cy="646331"/>
          </a:xfrm>
          <a:prstGeom prst="rect">
            <a:avLst/>
          </a:prstGeom>
          <a:noFill/>
        </p:spPr>
        <p:txBody>
          <a:bodyPr wrap="none" rtlCol="0">
            <a:spAutoFit/>
          </a:bodyPr>
          <a:lstStyle/>
          <a:p>
            <a:r>
              <a:rPr lang="en-US" dirty="0"/>
              <a:t>al </a:t>
            </a:r>
            <a:r>
              <a:rPr lang="en-US" dirty="0" err="1"/>
              <a:t>doilea</a:t>
            </a:r>
            <a:r>
              <a:rPr lang="en-US" dirty="0"/>
              <a:t> argument </a:t>
            </a:r>
            <a:r>
              <a:rPr lang="en-US" dirty="0" err="1"/>
              <a:t>este</a:t>
            </a:r>
            <a:r>
              <a:rPr lang="en-US" dirty="0"/>
              <a:t> </a:t>
            </a:r>
          </a:p>
          <a:p>
            <a:r>
              <a:rPr lang="en-US" dirty="0" err="1"/>
              <a:t>evaluat</a:t>
            </a:r>
            <a:r>
              <a:rPr lang="en-US" dirty="0"/>
              <a:t> </a:t>
            </a:r>
            <a:r>
              <a:rPr lang="en-US" dirty="0" err="1"/>
              <a:t>numai</a:t>
            </a:r>
            <a:r>
              <a:rPr lang="en-US" dirty="0"/>
              <a:t> la </a:t>
            </a:r>
            <a:r>
              <a:rPr lang="en-US" dirty="0" err="1"/>
              <a:t>nevoie</a:t>
            </a:r>
            <a:endParaRPr lang="en-US" dirty="0"/>
          </a:p>
        </p:txBody>
      </p:sp>
      <p:sp>
        <p:nvSpPr>
          <p:cNvPr id="17" name="TextBox 16"/>
          <p:cNvSpPr txBox="1"/>
          <p:nvPr/>
        </p:nvSpPr>
        <p:spPr>
          <a:xfrm>
            <a:off x="3567154" y="5765085"/>
            <a:ext cx="5635132" cy="646331"/>
          </a:xfrm>
          <a:prstGeom prst="rect">
            <a:avLst/>
          </a:prstGeom>
          <a:noFill/>
        </p:spPr>
        <p:txBody>
          <a:bodyPr wrap="none" rtlCol="0">
            <a:spAutoFit/>
          </a:bodyPr>
          <a:lstStyle/>
          <a:p>
            <a:r>
              <a:rPr lang="en-US" dirty="0">
                <a:hlinkClick r:id="rId3"/>
              </a:rPr>
              <a:t>http://erlang.org/doc/reference_manual/data_types.html</a:t>
            </a:r>
            <a:endParaRPr lang="en-US" dirty="0"/>
          </a:p>
          <a:p>
            <a:endParaRPr lang="en-US" dirty="0"/>
          </a:p>
        </p:txBody>
      </p:sp>
      <p:sp>
        <p:nvSpPr>
          <p:cNvPr id="2" name="TextBox 1"/>
          <p:cNvSpPr txBox="1"/>
          <p:nvPr/>
        </p:nvSpPr>
        <p:spPr>
          <a:xfrm>
            <a:off x="6184236" y="1515125"/>
            <a:ext cx="1572097" cy="369332"/>
          </a:xfrm>
          <a:prstGeom prst="rect">
            <a:avLst/>
          </a:prstGeom>
          <a:noFill/>
        </p:spPr>
        <p:txBody>
          <a:bodyPr wrap="none" rtlCol="0">
            <a:spAutoFit/>
          </a:bodyPr>
          <a:lstStyle/>
          <a:p>
            <a:r>
              <a:rPr lang="en-US" dirty="0" err="1"/>
              <a:t>orelse</a:t>
            </a:r>
            <a:r>
              <a:rPr lang="en-US" dirty="0"/>
              <a:t>/</a:t>
            </a:r>
            <a:r>
              <a:rPr lang="en-US" dirty="0" err="1"/>
              <a:t>andalso</a:t>
            </a:r>
            <a:endParaRPr lang="en-US" dirty="0"/>
          </a:p>
        </p:txBody>
      </p:sp>
    </p:spTree>
    <p:extLst>
      <p:ext uri="{BB962C8B-B14F-4D97-AF65-F5344CB8AC3E}">
        <p14:creationId xmlns:p14="http://schemas.microsoft.com/office/powerpoint/2010/main" val="2813733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294114" y="3511672"/>
            <a:ext cx="5236108" cy="613606"/>
          </a:xfrm>
          <a:prstGeom prst="rect">
            <a:avLst/>
          </a:prstGeom>
        </p:spPr>
        <p:style>
          <a:lnRef idx="2">
            <a:schemeClr val="dk1"/>
          </a:lnRef>
          <a:fillRef idx="1">
            <a:schemeClr val="lt1"/>
          </a:fillRef>
          <a:effectRef idx="0">
            <a:schemeClr val="dk1"/>
          </a:effectRef>
          <a:fontRef idx="minor">
            <a:schemeClr val="dk1"/>
          </a:fontRef>
        </p:style>
      </p:pic>
      <p:pic>
        <p:nvPicPr>
          <p:cNvPr id="12" name="Picture 11"/>
          <p:cNvPicPr>
            <a:picLocks noChangeAspect="1"/>
          </p:cNvPicPr>
          <p:nvPr/>
        </p:nvPicPr>
        <p:blipFill>
          <a:blip r:embed="rId3"/>
          <a:stretch>
            <a:fillRect/>
          </a:stretch>
        </p:blipFill>
        <p:spPr>
          <a:xfrm>
            <a:off x="300613" y="1107146"/>
            <a:ext cx="5048603" cy="1740898"/>
          </a:xfrm>
          <a:prstGeom prst="rect">
            <a:avLst/>
          </a:prstGeom>
        </p:spPr>
        <p:style>
          <a:lnRef idx="2">
            <a:schemeClr val="dk1"/>
          </a:lnRef>
          <a:fillRef idx="1">
            <a:schemeClr val="lt1"/>
          </a:fillRef>
          <a:effectRef idx="0">
            <a:schemeClr val="dk1"/>
          </a:effectRef>
          <a:fontRef idx="minor">
            <a:schemeClr val="dk1"/>
          </a:fontRef>
        </p:style>
      </p:pic>
      <p:sp>
        <p:nvSpPr>
          <p:cNvPr id="13" name="TextBox 12"/>
          <p:cNvSpPr txBox="1"/>
          <p:nvPr/>
        </p:nvSpPr>
        <p:spPr>
          <a:xfrm>
            <a:off x="2719825" y="2742981"/>
            <a:ext cx="2249334"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 ++ right-associative</a:t>
            </a:r>
          </a:p>
        </p:txBody>
      </p:sp>
      <p:sp>
        <p:nvSpPr>
          <p:cNvPr id="2" name="TextBox 1"/>
          <p:cNvSpPr txBox="1"/>
          <p:nvPr/>
        </p:nvSpPr>
        <p:spPr>
          <a:xfrm>
            <a:off x="536540" y="54996"/>
            <a:ext cx="2208490" cy="523220"/>
          </a:xfrm>
          <a:prstGeom prst="rect">
            <a:avLst/>
          </a:prstGeom>
          <a:noFill/>
        </p:spPr>
        <p:txBody>
          <a:bodyPr wrap="none" rtlCol="0">
            <a:spAutoFit/>
          </a:bodyPr>
          <a:lstStyle/>
          <a:p>
            <a:r>
              <a:rPr lang="en-US" sz="2800" dirty="0" err="1"/>
              <a:t>Tipuri</a:t>
            </a:r>
            <a:r>
              <a:rPr lang="en-US" sz="2800" dirty="0"/>
              <a:t> de date</a:t>
            </a:r>
          </a:p>
        </p:txBody>
      </p:sp>
      <p:sp>
        <p:nvSpPr>
          <p:cNvPr id="3" name="TextBox 2"/>
          <p:cNvSpPr txBox="1"/>
          <p:nvPr/>
        </p:nvSpPr>
        <p:spPr>
          <a:xfrm>
            <a:off x="417466" y="554442"/>
            <a:ext cx="1223319" cy="523220"/>
          </a:xfrm>
          <a:prstGeom prst="rect">
            <a:avLst/>
          </a:prstGeom>
          <a:noFill/>
        </p:spPr>
        <p:txBody>
          <a:bodyPr wrap="square" rtlCol="0">
            <a:spAutoFit/>
          </a:bodyPr>
          <a:lstStyle/>
          <a:p>
            <a:pPr marL="285750" indent="-285750">
              <a:buFont typeface="Wingdings" panose="05000000000000000000" pitchFamily="2" charset="2"/>
              <a:buChar char="§"/>
            </a:pPr>
            <a:r>
              <a:rPr lang="en-US" sz="2800" dirty="0" err="1"/>
              <a:t>Liste</a:t>
            </a:r>
            <a:endParaRPr lang="en-US" sz="2800" dirty="0"/>
          </a:p>
        </p:txBody>
      </p:sp>
      <p:sp>
        <p:nvSpPr>
          <p:cNvPr id="4" name="TextBox 3"/>
          <p:cNvSpPr txBox="1"/>
          <p:nvPr/>
        </p:nvSpPr>
        <p:spPr>
          <a:xfrm>
            <a:off x="7062115" y="578216"/>
            <a:ext cx="1481688" cy="523220"/>
          </a:xfrm>
          <a:prstGeom prst="rect">
            <a:avLst/>
          </a:prstGeom>
          <a:noFill/>
        </p:spPr>
        <p:txBody>
          <a:bodyPr wrap="none" rtlCol="0">
            <a:spAutoFit/>
          </a:bodyPr>
          <a:lstStyle/>
          <a:p>
            <a:pPr marL="285750" indent="-285750">
              <a:buFont typeface="Wingdings" panose="05000000000000000000" pitchFamily="2" charset="2"/>
              <a:buChar char="§"/>
            </a:pPr>
            <a:r>
              <a:rPr lang="en-US" sz="2800" dirty="0" err="1"/>
              <a:t>Tupluri</a:t>
            </a:r>
            <a:endParaRPr lang="en-US" sz="2800" dirty="0"/>
          </a:p>
        </p:txBody>
      </p:sp>
      <p:pic>
        <p:nvPicPr>
          <p:cNvPr id="9" name="Picture 8"/>
          <p:cNvPicPr>
            <a:picLocks noChangeAspect="1"/>
          </p:cNvPicPr>
          <p:nvPr/>
        </p:nvPicPr>
        <p:blipFill>
          <a:blip r:embed="rId4"/>
          <a:stretch>
            <a:fillRect/>
          </a:stretch>
        </p:blipFill>
        <p:spPr>
          <a:xfrm>
            <a:off x="6096000" y="1101436"/>
            <a:ext cx="4971634" cy="4011594"/>
          </a:xfrm>
          <a:prstGeom prst="rect">
            <a:avLst/>
          </a:prstGeom>
        </p:spPr>
        <p:style>
          <a:lnRef idx="2">
            <a:schemeClr val="dk1"/>
          </a:lnRef>
          <a:fillRef idx="1">
            <a:schemeClr val="lt1"/>
          </a:fillRef>
          <a:effectRef idx="0">
            <a:schemeClr val="dk1"/>
          </a:effectRef>
          <a:fontRef idx="minor">
            <a:schemeClr val="dk1"/>
          </a:fontRef>
        </p:style>
      </p:pic>
      <p:pic>
        <p:nvPicPr>
          <p:cNvPr id="10" name="Picture 9"/>
          <p:cNvPicPr>
            <a:picLocks noChangeAspect="1"/>
          </p:cNvPicPr>
          <p:nvPr/>
        </p:nvPicPr>
        <p:blipFill>
          <a:blip r:embed="rId5"/>
          <a:stretch>
            <a:fillRect/>
          </a:stretch>
        </p:blipFill>
        <p:spPr>
          <a:xfrm>
            <a:off x="8109142" y="3036650"/>
            <a:ext cx="3911318" cy="3243134"/>
          </a:xfrm>
          <a:prstGeom prst="rect">
            <a:avLst/>
          </a:prstGeom>
        </p:spPr>
        <p:style>
          <a:lnRef idx="2">
            <a:schemeClr val="dk1"/>
          </a:lnRef>
          <a:fillRef idx="1">
            <a:schemeClr val="lt1"/>
          </a:fillRef>
          <a:effectRef idx="0">
            <a:schemeClr val="dk1"/>
          </a:effectRef>
          <a:fontRef idx="minor">
            <a:schemeClr val="dk1"/>
          </a:fontRef>
        </p:style>
      </p:pic>
      <p:sp>
        <p:nvSpPr>
          <p:cNvPr id="5" name="TextBox 4"/>
          <p:cNvSpPr txBox="1"/>
          <p:nvPr/>
        </p:nvSpPr>
        <p:spPr>
          <a:xfrm>
            <a:off x="164512" y="4635976"/>
            <a:ext cx="5648599" cy="89255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b="1" dirty="0"/>
              <a:t>[1,2,a,c] </a:t>
            </a:r>
          </a:p>
          <a:p>
            <a:r>
              <a:rPr lang="en-US" sz="2800" dirty="0"/>
              <a:t> </a:t>
            </a:r>
            <a:r>
              <a:rPr lang="en-US" sz="2400" dirty="0" err="1"/>
              <a:t>listele</a:t>
            </a:r>
            <a:r>
              <a:rPr lang="en-US" sz="2400" dirty="0"/>
              <a:t> pot </a:t>
            </a:r>
            <a:r>
              <a:rPr lang="en-US" sz="2400" dirty="0" err="1"/>
              <a:t>avea</a:t>
            </a:r>
            <a:r>
              <a:rPr lang="en-US" sz="2400" dirty="0"/>
              <a:t> </a:t>
            </a:r>
            <a:r>
              <a:rPr lang="en-US" sz="2400" dirty="0" err="1"/>
              <a:t>elemente</a:t>
            </a:r>
            <a:r>
              <a:rPr lang="en-US" sz="2400" dirty="0"/>
              <a:t> de </a:t>
            </a:r>
            <a:r>
              <a:rPr lang="en-US" sz="2400" dirty="0" err="1"/>
              <a:t>tipuri</a:t>
            </a:r>
            <a:r>
              <a:rPr lang="en-US" sz="2400" dirty="0"/>
              <a:t> </a:t>
            </a:r>
            <a:r>
              <a:rPr lang="en-US" sz="2400" dirty="0" err="1"/>
              <a:t>diferite</a:t>
            </a:r>
            <a:endParaRPr lang="en-US" sz="2400" dirty="0"/>
          </a:p>
        </p:txBody>
      </p:sp>
      <p:sp>
        <p:nvSpPr>
          <p:cNvPr id="15" name="TextBox 14"/>
          <p:cNvSpPr txBox="1"/>
          <p:nvPr/>
        </p:nvSpPr>
        <p:spPr>
          <a:xfrm>
            <a:off x="3172463" y="3946373"/>
            <a:ext cx="1868845"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 </a:t>
            </a:r>
            <a:r>
              <a:rPr lang="en-US" dirty="0" err="1"/>
              <a:t>este</a:t>
            </a:r>
            <a:r>
              <a:rPr lang="en-US" dirty="0"/>
              <a:t> constructor</a:t>
            </a:r>
          </a:p>
        </p:txBody>
      </p:sp>
    </p:spTree>
    <p:extLst>
      <p:ext uri="{BB962C8B-B14F-4D97-AF65-F5344CB8AC3E}">
        <p14:creationId xmlns:p14="http://schemas.microsoft.com/office/powerpoint/2010/main" val="1123215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35214" y="987311"/>
            <a:ext cx="9302239" cy="4865316"/>
          </a:xfrm>
          <a:prstGeom prst="rect">
            <a:avLst/>
          </a:prstGeom>
        </p:spPr>
        <p:style>
          <a:lnRef idx="2">
            <a:schemeClr val="dk1"/>
          </a:lnRef>
          <a:fillRef idx="1">
            <a:schemeClr val="lt1"/>
          </a:fillRef>
          <a:effectRef idx="0">
            <a:schemeClr val="dk1"/>
          </a:effectRef>
          <a:fontRef idx="minor">
            <a:schemeClr val="dk1"/>
          </a:fontRef>
        </p:style>
      </p:pic>
      <p:sp>
        <p:nvSpPr>
          <p:cNvPr id="3" name="TextBox 2"/>
          <p:cNvSpPr txBox="1"/>
          <p:nvPr/>
        </p:nvSpPr>
        <p:spPr>
          <a:xfrm>
            <a:off x="2982630" y="802645"/>
            <a:ext cx="499817" cy="369332"/>
          </a:xfrm>
          <a:prstGeom prst="rect">
            <a:avLst/>
          </a:prstGeom>
        </p:spPr>
        <p:style>
          <a:lnRef idx="3">
            <a:schemeClr val="lt1"/>
          </a:lnRef>
          <a:fillRef idx="1">
            <a:schemeClr val="dk1"/>
          </a:fillRef>
          <a:effectRef idx="1">
            <a:schemeClr val="dk1"/>
          </a:effectRef>
          <a:fontRef idx="minor">
            <a:schemeClr val="lt1"/>
          </a:fontRef>
        </p:style>
        <p:txBody>
          <a:bodyPr wrap="none" rtlCol="0">
            <a:spAutoFit/>
          </a:bodyPr>
          <a:lstStyle/>
          <a:p>
            <a:r>
              <a:rPr lang="en-US" b="1" dirty="0"/>
              <a:t>tab</a:t>
            </a:r>
          </a:p>
        </p:txBody>
      </p:sp>
      <p:sp>
        <p:nvSpPr>
          <p:cNvPr id="4" name="TextBox 3"/>
          <p:cNvSpPr txBox="1"/>
          <p:nvPr/>
        </p:nvSpPr>
        <p:spPr>
          <a:xfrm>
            <a:off x="1587688" y="5907818"/>
            <a:ext cx="3657220" cy="646331"/>
          </a:xfrm>
          <a:prstGeom prst="rect">
            <a:avLst/>
          </a:prstGeom>
          <a:noFill/>
        </p:spPr>
        <p:txBody>
          <a:bodyPr wrap="none" rtlCol="0">
            <a:spAutoFit/>
          </a:bodyPr>
          <a:lstStyle/>
          <a:p>
            <a:r>
              <a:rPr lang="en-US" dirty="0">
                <a:hlinkClick r:id="rId3"/>
              </a:rPr>
              <a:t>http://erlang.org/doc/man/lists.html</a:t>
            </a:r>
            <a:endParaRPr lang="en-US" dirty="0"/>
          </a:p>
          <a:p>
            <a:endParaRPr lang="en-US" dirty="0"/>
          </a:p>
        </p:txBody>
      </p:sp>
      <p:sp>
        <p:nvSpPr>
          <p:cNvPr id="5" name="TextBox 4"/>
          <p:cNvSpPr txBox="1"/>
          <p:nvPr/>
        </p:nvSpPr>
        <p:spPr>
          <a:xfrm>
            <a:off x="1635214" y="207818"/>
            <a:ext cx="3945952" cy="523220"/>
          </a:xfrm>
          <a:prstGeom prst="rect">
            <a:avLst/>
          </a:prstGeom>
          <a:noFill/>
        </p:spPr>
        <p:txBody>
          <a:bodyPr wrap="none" rtlCol="0">
            <a:spAutoFit/>
          </a:bodyPr>
          <a:lstStyle/>
          <a:p>
            <a:r>
              <a:rPr lang="en-US" sz="2800" dirty="0" err="1"/>
              <a:t>Continutul</a:t>
            </a:r>
            <a:r>
              <a:rPr lang="en-US" sz="2800" dirty="0"/>
              <a:t> </a:t>
            </a:r>
            <a:r>
              <a:rPr lang="en-US" sz="2800" dirty="0" err="1"/>
              <a:t>modulului</a:t>
            </a:r>
            <a:r>
              <a:rPr lang="en-US" sz="2800" dirty="0"/>
              <a:t> </a:t>
            </a:r>
            <a:r>
              <a:rPr lang="en-US" sz="2800" b="1" dirty="0"/>
              <a:t>lists</a:t>
            </a:r>
          </a:p>
        </p:txBody>
      </p:sp>
      <p:pic>
        <p:nvPicPr>
          <p:cNvPr id="6" name="Picture 5"/>
          <p:cNvPicPr>
            <a:picLocks noChangeAspect="1"/>
          </p:cNvPicPr>
          <p:nvPr/>
        </p:nvPicPr>
        <p:blipFill>
          <a:blip r:embed="rId4"/>
          <a:stretch>
            <a:fillRect/>
          </a:stretch>
        </p:blipFill>
        <p:spPr>
          <a:xfrm>
            <a:off x="7178836" y="5313022"/>
            <a:ext cx="4777812" cy="580688"/>
          </a:xfrm>
          <a:prstGeom prst="rect">
            <a:avLst/>
          </a:prstGeom>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p:nvPicPr>
        <p:blipFill>
          <a:blip r:embed="rId5"/>
          <a:stretch>
            <a:fillRect/>
          </a:stretch>
        </p:blipFill>
        <p:spPr>
          <a:xfrm>
            <a:off x="7835448" y="5852627"/>
            <a:ext cx="3733447" cy="652959"/>
          </a:xfrm>
          <a:prstGeom prst="rect">
            <a:avLst/>
          </a:prstGeom>
        </p:spPr>
      </p:pic>
      <p:sp>
        <p:nvSpPr>
          <p:cNvPr id="7" name="TextBox 6">
            <a:extLst>
              <a:ext uri="{FF2B5EF4-FFF2-40B4-BE49-F238E27FC236}">
                <a16:creationId xmlns:a16="http://schemas.microsoft.com/office/drawing/2014/main" id="{27C3FAA1-1605-AACD-BF11-6D3EB416C47A}"/>
              </a:ext>
            </a:extLst>
          </p:cNvPr>
          <p:cNvSpPr txBox="1"/>
          <p:nvPr/>
        </p:nvSpPr>
        <p:spPr>
          <a:xfrm>
            <a:off x="1567368" y="674509"/>
            <a:ext cx="596189" cy="369332"/>
          </a:xfrm>
          <a:prstGeom prst="rect">
            <a:avLst/>
          </a:prstGeom>
          <a:noFill/>
        </p:spPr>
        <p:txBody>
          <a:bodyPr wrap="none" rtlCol="0">
            <a:spAutoFit/>
          </a:bodyPr>
          <a:lstStyle/>
          <a:p>
            <a:r>
              <a:rPr lang="en-US" dirty="0" err="1"/>
              <a:t>werl</a:t>
            </a:r>
            <a:endParaRPr lang="en-GB" dirty="0"/>
          </a:p>
        </p:txBody>
      </p:sp>
    </p:spTree>
    <p:extLst>
      <p:ext uri="{BB962C8B-B14F-4D97-AF65-F5344CB8AC3E}">
        <p14:creationId xmlns:p14="http://schemas.microsoft.com/office/powerpoint/2010/main" val="474499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56853" y="1154803"/>
            <a:ext cx="7710711" cy="2428874"/>
          </a:xfrm>
          <a:prstGeom prst="rect">
            <a:avLst/>
          </a:prstGeom>
        </p:spPr>
        <p:style>
          <a:lnRef idx="2">
            <a:schemeClr val="dk1"/>
          </a:lnRef>
          <a:fillRef idx="1">
            <a:schemeClr val="lt1"/>
          </a:fillRef>
          <a:effectRef idx="0">
            <a:schemeClr val="dk1"/>
          </a:effectRef>
          <a:fontRef idx="minor">
            <a:schemeClr val="dk1"/>
          </a:fontRef>
        </p:style>
      </p:pic>
      <p:sp>
        <p:nvSpPr>
          <p:cNvPr id="3" name="TextBox 2"/>
          <p:cNvSpPr txBox="1"/>
          <p:nvPr/>
        </p:nvSpPr>
        <p:spPr>
          <a:xfrm>
            <a:off x="2871989" y="5859887"/>
            <a:ext cx="5635132" cy="369332"/>
          </a:xfrm>
          <a:prstGeom prst="rect">
            <a:avLst/>
          </a:prstGeom>
          <a:noFill/>
        </p:spPr>
        <p:txBody>
          <a:bodyPr wrap="none" rtlCol="0">
            <a:spAutoFit/>
          </a:bodyPr>
          <a:lstStyle/>
          <a:p>
            <a:r>
              <a:rPr lang="en-US" dirty="0">
                <a:hlinkClick r:id="rId3"/>
              </a:rPr>
              <a:t>http://erlang.org/doc/reference_manual/data_types.html</a:t>
            </a:r>
            <a:endParaRPr lang="en-US" dirty="0"/>
          </a:p>
        </p:txBody>
      </p:sp>
      <p:sp>
        <p:nvSpPr>
          <p:cNvPr id="4" name="TextBox 3"/>
          <p:cNvSpPr txBox="1"/>
          <p:nvPr/>
        </p:nvSpPr>
        <p:spPr>
          <a:xfrm>
            <a:off x="810491" y="0"/>
            <a:ext cx="2208490" cy="523220"/>
          </a:xfrm>
          <a:prstGeom prst="rect">
            <a:avLst/>
          </a:prstGeom>
          <a:noFill/>
        </p:spPr>
        <p:txBody>
          <a:bodyPr wrap="square" rtlCol="0">
            <a:spAutoFit/>
          </a:bodyPr>
          <a:lstStyle/>
          <a:p>
            <a:r>
              <a:rPr lang="en-US" sz="2800" dirty="0" err="1"/>
              <a:t>Tipuri</a:t>
            </a:r>
            <a:r>
              <a:rPr lang="en-US" sz="2800" dirty="0"/>
              <a:t> de date</a:t>
            </a:r>
          </a:p>
        </p:txBody>
      </p:sp>
      <p:sp>
        <p:nvSpPr>
          <p:cNvPr id="5" name="TextBox 4"/>
          <p:cNvSpPr txBox="1"/>
          <p:nvPr/>
        </p:nvSpPr>
        <p:spPr>
          <a:xfrm>
            <a:off x="975796" y="608179"/>
            <a:ext cx="6026330" cy="461665"/>
          </a:xfrm>
          <a:prstGeom prst="rect">
            <a:avLst/>
          </a:prstGeom>
          <a:noFill/>
        </p:spPr>
        <p:txBody>
          <a:bodyPr wrap="none" rtlCol="0">
            <a:spAutoFit/>
          </a:bodyPr>
          <a:lstStyle/>
          <a:p>
            <a:pPr marL="342900" indent="-342900">
              <a:buFont typeface="Wingdings" panose="05000000000000000000" pitchFamily="2" charset="2"/>
              <a:buChar char="§"/>
            </a:pPr>
            <a:r>
              <a:rPr lang="en-US" sz="2400" dirty="0" err="1"/>
              <a:t>Liste</a:t>
            </a:r>
            <a:r>
              <a:rPr lang="en-US" sz="2400" dirty="0"/>
              <a:t>: </a:t>
            </a:r>
            <a:r>
              <a:rPr lang="en-US" sz="2400" dirty="0" err="1"/>
              <a:t>definirea</a:t>
            </a:r>
            <a:r>
              <a:rPr lang="en-US" sz="2400" dirty="0"/>
              <a:t> </a:t>
            </a:r>
            <a:r>
              <a:rPr lang="en-US" sz="2400" dirty="0" err="1"/>
              <a:t>listelor</a:t>
            </a:r>
            <a:r>
              <a:rPr lang="en-US" sz="2400" dirty="0"/>
              <a:t> </a:t>
            </a:r>
            <a:r>
              <a:rPr lang="en-US" sz="2400" dirty="0" err="1"/>
              <a:t>prin</a:t>
            </a:r>
            <a:r>
              <a:rPr lang="en-US" sz="2400" dirty="0"/>
              <a:t> </a:t>
            </a:r>
            <a:r>
              <a:rPr lang="en-US" sz="2400" dirty="0" err="1"/>
              <a:t>comprehensiune</a:t>
            </a:r>
            <a:endParaRPr lang="en-US" sz="2400" dirty="0"/>
          </a:p>
        </p:txBody>
      </p:sp>
      <p:sp>
        <p:nvSpPr>
          <p:cNvPr id="6" name="TextBox 5"/>
          <p:cNvSpPr txBox="1"/>
          <p:nvPr/>
        </p:nvSpPr>
        <p:spPr>
          <a:xfrm>
            <a:off x="975796" y="3990109"/>
            <a:ext cx="6814558" cy="461665"/>
          </a:xfrm>
          <a:prstGeom prst="rect">
            <a:avLst/>
          </a:prstGeom>
          <a:noFill/>
        </p:spPr>
        <p:txBody>
          <a:bodyPr wrap="none" rtlCol="0">
            <a:spAutoFit/>
          </a:bodyPr>
          <a:lstStyle/>
          <a:p>
            <a:pPr marL="285750" indent="-285750">
              <a:buFont typeface="Wingdings" panose="05000000000000000000" pitchFamily="2" charset="2"/>
              <a:buChar char="§"/>
            </a:pPr>
            <a:r>
              <a:rPr lang="en-US" sz="2400" dirty="0"/>
              <a:t>String:  "hello"  (</a:t>
            </a:r>
            <a:r>
              <a:rPr lang="en-US" sz="2400" dirty="0" err="1"/>
              <a:t>notatii</a:t>
            </a:r>
            <a:r>
              <a:rPr lang="en-US" sz="2400" dirty="0"/>
              <a:t> </a:t>
            </a:r>
            <a:r>
              <a:rPr lang="en-US" sz="2400" dirty="0" err="1"/>
              <a:t>pentru</a:t>
            </a:r>
            <a:r>
              <a:rPr lang="en-US" sz="2400" dirty="0"/>
              <a:t> </a:t>
            </a:r>
            <a:r>
              <a:rPr lang="en-US" sz="2400" dirty="0" err="1"/>
              <a:t>lista</a:t>
            </a:r>
            <a:r>
              <a:rPr lang="en-US" sz="2400" dirty="0"/>
              <a:t> </a:t>
            </a:r>
            <a:r>
              <a:rPr lang="en-US" sz="2400" dirty="0" err="1"/>
              <a:t>codurilor</a:t>
            </a:r>
            <a:r>
              <a:rPr lang="en-US" sz="2400" dirty="0"/>
              <a:t> ASCII)</a:t>
            </a:r>
          </a:p>
        </p:txBody>
      </p:sp>
      <p:pic>
        <p:nvPicPr>
          <p:cNvPr id="7" name="Picture 6"/>
          <p:cNvPicPr>
            <a:picLocks noChangeAspect="1"/>
          </p:cNvPicPr>
          <p:nvPr/>
        </p:nvPicPr>
        <p:blipFill>
          <a:blip r:embed="rId4"/>
          <a:stretch>
            <a:fillRect/>
          </a:stretch>
        </p:blipFill>
        <p:spPr>
          <a:xfrm>
            <a:off x="1394975" y="4507056"/>
            <a:ext cx="5187971" cy="1205655"/>
          </a:xfrm>
          <a:prstGeom prst="rect">
            <a:avLst/>
          </a:prstGeom>
        </p:spPr>
        <p:style>
          <a:lnRef idx="2">
            <a:schemeClr val="dk1"/>
          </a:lnRef>
          <a:fillRef idx="1">
            <a:schemeClr val="lt1"/>
          </a:fillRef>
          <a:effectRef idx="0">
            <a:schemeClr val="dk1"/>
          </a:effectRef>
          <a:fontRef idx="minor">
            <a:schemeClr val="dk1"/>
          </a:fontRef>
        </p:style>
      </p:pic>
      <p:sp>
        <p:nvSpPr>
          <p:cNvPr id="8" name="TextBox 7">
            <a:extLst>
              <a:ext uri="{FF2B5EF4-FFF2-40B4-BE49-F238E27FC236}">
                <a16:creationId xmlns:a16="http://schemas.microsoft.com/office/drawing/2014/main" id="{5414E61B-7AF3-226D-EE6D-3CBE17CA948B}"/>
              </a:ext>
            </a:extLst>
          </p:cNvPr>
          <p:cNvSpPr txBox="1"/>
          <p:nvPr/>
        </p:nvSpPr>
        <p:spPr>
          <a:xfrm>
            <a:off x="7002126" y="4826000"/>
            <a:ext cx="4741554"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Nu </a:t>
            </a:r>
            <a:r>
              <a:rPr lang="en-US" dirty="0" err="1"/>
              <a:t>exista</a:t>
            </a:r>
            <a:r>
              <a:rPr lang="en-US" dirty="0"/>
              <a:t> un tip char. </a:t>
            </a:r>
          </a:p>
          <a:p>
            <a:r>
              <a:rPr lang="en-US" dirty="0" err="1"/>
              <a:t>Caracterele</a:t>
            </a:r>
            <a:r>
              <a:rPr lang="en-US" dirty="0"/>
              <a:t> sunt </a:t>
            </a:r>
            <a:r>
              <a:rPr lang="en-US" dirty="0" err="1"/>
              <a:t>reprezentate</a:t>
            </a:r>
            <a:r>
              <a:rPr lang="en-US" dirty="0"/>
              <a:t> </a:t>
            </a:r>
            <a:r>
              <a:rPr lang="en-US" dirty="0" err="1"/>
              <a:t>prin</a:t>
            </a:r>
            <a:r>
              <a:rPr lang="en-US" dirty="0"/>
              <a:t> </a:t>
            </a:r>
            <a:r>
              <a:rPr lang="en-US" dirty="0" err="1"/>
              <a:t>codurile</a:t>
            </a:r>
            <a:r>
              <a:rPr lang="en-US" dirty="0"/>
              <a:t> ASCII</a:t>
            </a:r>
            <a:endParaRPr lang="en-GB" dirty="0"/>
          </a:p>
        </p:txBody>
      </p:sp>
    </p:spTree>
    <p:extLst>
      <p:ext uri="{BB962C8B-B14F-4D97-AF65-F5344CB8AC3E}">
        <p14:creationId xmlns:p14="http://schemas.microsoft.com/office/powerpoint/2010/main" val="1554129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22215" y="1343556"/>
            <a:ext cx="10040803" cy="2312027"/>
          </a:xfrm>
          <a:prstGeom prst="rect">
            <a:avLst/>
          </a:prstGeom>
        </p:spPr>
        <p:style>
          <a:lnRef idx="2">
            <a:schemeClr val="dk1"/>
          </a:lnRef>
          <a:fillRef idx="1">
            <a:schemeClr val="lt1"/>
          </a:fillRef>
          <a:effectRef idx="0">
            <a:schemeClr val="dk1"/>
          </a:effectRef>
          <a:fontRef idx="minor">
            <a:schemeClr val="dk1"/>
          </a:fontRef>
        </p:style>
      </p:pic>
      <p:sp>
        <p:nvSpPr>
          <p:cNvPr id="3" name="TextBox 2"/>
          <p:cNvSpPr txBox="1"/>
          <p:nvPr/>
        </p:nvSpPr>
        <p:spPr>
          <a:xfrm>
            <a:off x="1059869" y="3861932"/>
            <a:ext cx="3821111" cy="369332"/>
          </a:xfrm>
          <a:prstGeom prst="rect">
            <a:avLst/>
          </a:prstGeom>
          <a:noFill/>
        </p:spPr>
        <p:txBody>
          <a:bodyPr wrap="none" rtlCol="0">
            <a:spAutoFit/>
          </a:bodyPr>
          <a:lstStyle/>
          <a:p>
            <a:r>
              <a:rPr lang="en-US" dirty="0">
                <a:hlinkClick r:id="rId3"/>
              </a:rPr>
              <a:t>http://erlang.org/doc/man/string.html</a:t>
            </a:r>
            <a:endParaRPr lang="en-US" dirty="0"/>
          </a:p>
        </p:txBody>
      </p:sp>
      <p:sp>
        <p:nvSpPr>
          <p:cNvPr id="4" name="TextBox 3"/>
          <p:cNvSpPr txBox="1"/>
          <p:nvPr/>
        </p:nvSpPr>
        <p:spPr>
          <a:xfrm>
            <a:off x="1122215" y="613987"/>
            <a:ext cx="4301819" cy="523220"/>
          </a:xfrm>
          <a:prstGeom prst="rect">
            <a:avLst/>
          </a:prstGeom>
          <a:noFill/>
        </p:spPr>
        <p:txBody>
          <a:bodyPr wrap="none" rtlCol="0">
            <a:spAutoFit/>
          </a:bodyPr>
          <a:lstStyle/>
          <a:p>
            <a:r>
              <a:rPr lang="en-US" sz="2800" dirty="0" err="1"/>
              <a:t>Continutul</a:t>
            </a:r>
            <a:r>
              <a:rPr lang="en-US" sz="2800" dirty="0"/>
              <a:t> </a:t>
            </a:r>
            <a:r>
              <a:rPr lang="en-US" sz="2800" dirty="0" err="1"/>
              <a:t>modulului</a:t>
            </a:r>
            <a:r>
              <a:rPr lang="en-US" sz="2800" dirty="0"/>
              <a:t> </a:t>
            </a:r>
            <a:r>
              <a:rPr lang="en-US" sz="2800" b="1" dirty="0"/>
              <a:t>string</a:t>
            </a:r>
            <a:r>
              <a:rPr lang="en-US" sz="2800" dirty="0"/>
              <a:t>:</a:t>
            </a:r>
          </a:p>
        </p:txBody>
      </p:sp>
      <p:pic>
        <p:nvPicPr>
          <p:cNvPr id="5" name="Picture 4"/>
          <p:cNvPicPr>
            <a:picLocks noChangeAspect="1"/>
          </p:cNvPicPr>
          <p:nvPr/>
        </p:nvPicPr>
        <p:blipFill>
          <a:blip r:embed="rId4"/>
          <a:stretch>
            <a:fillRect/>
          </a:stretch>
        </p:blipFill>
        <p:spPr>
          <a:xfrm>
            <a:off x="317775" y="4885488"/>
            <a:ext cx="7306443" cy="660689"/>
          </a:xfrm>
          <a:prstGeom prst="rect">
            <a:avLst/>
          </a:prstGeom>
        </p:spPr>
        <p:style>
          <a:lnRef idx="2">
            <a:schemeClr val="dk1"/>
          </a:lnRef>
          <a:fillRef idx="1">
            <a:schemeClr val="lt1"/>
          </a:fillRef>
          <a:effectRef idx="0">
            <a:schemeClr val="dk1"/>
          </a:effectRef>
          <a:fontRef idx="minor">
            <a:schemeClr val="dk1"/>
          </a:fontRef>
        </p:style>
      </p:pic>
      <p:sp>
        <p:nvSpPr>
          <p:cNvPr id="6" name="TextBox 5"/>
          <p:cNvSpPr txBox="1"/>
          <p:nvPr/>
        </p:nvSpPr>
        <p:spPr>
          <a:xfrm>
            <a:off x="1533116" y="5709392"/>
            <a:ext cx="4139979" cy="523220"/>
          </a:xfrm>
          <a:prstGeom prst="rect">
            <a:avLst/>
          </a:prstGeom>
          <a:solidFill>
            <a:srgbClr val="CA1421"/>
          </a:solidFill>
        </p:spPr>
        <p:txBody>
          <a:bodyPr wrap="none" rtlCol="0">
            <a:spAutoFit/>
          </a:bodyPr>
          <a:lstStyle/>
          <a:p>
            <a:r>
              <a:rPr lang="en-US" sz="2800" dirty="0" err="1">
                <a:solidFill>
                  <a:schemeClr val="bg1"/>
                </a:solidFill>
              </a:rPr>
              <a:t>modul:functie</a:t>
            </a:r>
            <a:r>
              <a:rPr lang="en-US" sz="2800" dirty="0">
                <a:solidFill>
                  <a:schemeClr val="bg1"/>
                </a:solidFill>
              </a:rPr>
              <a:t>(</a:t>
            </a:r>
            <a:r>
              <a:rPr lang="en-US" sz="2800" dirty="0" err="1">
                <a:solidFill>
                  <a:schemeClr val="bg1"/>
                </a:solidFill>
              </a:rPr>
              <a:t>argumente</a:t>
            </a:r>
            <a:r>
              <a:rPr lang="en-US" sz="2800" dirty="0">
                <a:solidFill>
                  <a:schemeClr val="bg1"/>
                </a:solidFill>
              </a:rPr>
              <a:t>).</a:t>
            </a:r>
          </a:p>
        </p:txBody>
      </p:sp>
      <p:sp>
        <p:nvSpPr>
          <p:cNvPr id="7" name="TextBox 6"/>
          <p:cNvSpPr txBox="1"/>
          <p:nvPr/>
        </p:nvSpPr>
        <p:spPr>
          <a:xfrm>
            <a:off x="7122376" y="3421664"/>
            <a:ext cx="4679614" cy="101566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a:solidFill>
                  <a:srgbClr val="CA1421"/>
                </a:solidFill>
              </a:rPr>
              <a:t>words/1 , words/2</a:t>
            </a:r>
          </a:p>
          <a:p>
            <a:r>
              <a:rPr lang="en-US" sz="2000" dirty="0" err="1"/>
              <a:t>doua</a:t>
            </a:r>
            <a:r>
              <a:rPr lang="en-US" sz="2000" dirty="0"/>
              <a:t> </a:t>
            </a:r>
            <a:r>
              <a:rPr lang="en-US" sz="2000" dirty="0" err="1"/>
              <a:t>functii</a:t>
            </a:r>
            <a:r>
              <a:rPr lang="en-US" sz="2000" dirty="0"/>
              <a:t> </a:t>
            </a:r>
            <a:r>
              <a:rPr lang="en-US" sz="2000" dirty="0" err="1"/>
              <a:t>diferite</a:t>
            </a:r>
            <a:r>
              <a:rPr lang="en-US" sz="2000" dirty="0"/>
              <a:t> pot </a:t>
            </a:r>
            <a:r>
              <a:rPr lang="en-US" sz="2000" dirty="0" err="1"/>
              <a:t>avea</a:t>
            </a:r>
            <a:r>
              <a:rPr lang="en-US" sz="2000" dirty="0"/>
              <a:t> </a:t>
            </a:r>
            <a:r>
              <a:rPr lang="en-US" sz="2000" dirty="0" err="1"/>
              <a:t>acelasi</a:t>
            </a:r>
            <a:r>
              <a:rPr lang="en-US" sz="2000" dirty="0"/>
              <a:t> </a:t>
            </a:r>
            <a:r>
              <a:rPr lang="en-US" sz="2000" dirty="0" err="1"/>
              <a:t>nume</a:t>
            </a:r>
            <a:r>
              <a:rPr lang="en-US" sz="2000" dirty="0"/>
              <a:t> </a:t>
            </a:r>
          </a:p>
          <a:p>
            <a:r>
              <a:rPr lang="en-US" sz="2000" dirty="0" err="1"/>
              <a:t>daca</a:t>
            </a:r>
            <a:r>
              <a:rPr lang="en-US" sz="2000" dirty="0"/>
              <a:t> au un </a:t>
            </a:r>
            <a:r>
              <a:rPr lang="en-US" sz="2000" dirty="0" err="1"/>
              <a:t>numar</a:t>
            </a:r>
            <a:r>
              <a:rPr lang="en-US" sz="2000" dirty="0"/>
              <a:t> </a:t>
            </a:r>
            <a:r>
              <a:rPr lang="en-US" sz="2000" dirty="0" err="1"/>
              <a:t>diferit</a:t>
            </a:r>
            <a:r>
              <a:rPr lang="en-US" sz="2000" dirty="0"/>
              <a:t> de </a:t>
            </a:r>
            <a:r>
              <a:rPr lang="en-US" sz="2000" dirty="0" err="1"/>
              <a:t>argumente</a:t>
            </a:r>
            <a:r>
              <a:rPr lang="en-US" sz="2000" dirty="0"/>
              <a:t> </a:t>
            </a:r>
          </a:p>
        </p:txBody>
      </p:sp>
      <p:pic>
        <p:nvPicPr>
          <p:cNvPr id="8" name="Picture 7"/>
          <p:cNvPicPr>
            <a:picLocks noChangeAspect="1"/>
          </p:cNvPicPr>
          <p:nvPr/>
        </p:nvPicPr>
        <p:blipFill>
          <a:blip r:embed="rId5"/>
          <a:stretch>
            <a:fillRect/>
          </a:stretch>
        </p:blipFill>
        <p:spPr>
          <a:xfrm>
            <a:off x="7928177" y="4393768"/>
            <a:ext cx="4144219" cy="1009936"/>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22450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63782" y="249382"/>
            <a:ext cx="2894447" cy="523220"/>
          </a:xfrm>
          <a:prstGeom prst="rect">
            <a:avLst/>
          </a:prstGeom>
          <a:noFill/>
        </p:spPr>
        <p:txBody>
          <a:bodyPr wrap="none" rtlCol="0">
            <a:spAutoFit/>
          </a:bodyPr>
          <a:lstStyle/>
          <a:p>
            <a:r>
              <a:rPr lang="en-US" sz="2800" dirty="0" err="1"/>
              <a:t>Conversii</a:t>
            </a:r>
            <a:r>
              <a:rPr lang="en-US" sz="2800" dirty="0"/>
              <a:t> </a:t>
            </a:r>
            <a:r>
              <a:rPr lang="en-US" sz="2800" dirty="0" err="1"/>
              <a:t>explicite</a:t>
            </a:r>
            <a:r>
              <a:rPr lang="en-US" sz="2800" dirty="0"/>
              <a:t>:</a:t>
            </a:r>
          </a:p>
        </p:txBody>
      </p:sp>
      <p:sp>
        <p:nvSpPr>
          <p:cNvPr id="4" name="TextBox 3"/>
          <p:cNvSpPr txBox="1"/>
          <p:nvPr/>
        </p:nvSpPr>
        <p:spPr>
          <a:xfrm>
            <a:off x="1143000" y="5777345"/>
            <a:ext cx="5635132" cy="369332"/>
          </a:xfrm>
          <a:prstGeom prst="rect">
            <a:avLst/>
          </a:prstGeom>
          <a:noFill/>
        </p:spPr>
        <p:txBody>
          <a:bodyPr wrap="none" rtlCol="0">
            <a:spAutoFit/>
          </a:bodyPr>
          <a:lstStyle/>
          <a:p>
            <a:r>
              <a:rPr lang="en-US" dirty="0">
                <a:hlinkClick r:id="rId2"/>
              </a:rPr>
              <a:t>http://erlang.org/doc/reference_manual/data_types.html</a:t>
            </a:r>
            <a:endParaRPr lang="en-US" dirty="0"/>
          </a:p>
        </p:txBody>
      </p:sp>
      <p:sp>
        <p:nvSpPr>
          <p:cNvPr id="10" name="TextBox 9"/>
          <p:cNvSpPr txBox="1"/>
          <p:nvPr/>
        </p:nvSpPr>
        <p:spPr>
          <a:xfrm>
            <a:off x="2019783" y="1070658"/>
            <a:ext cx="3740937" cy="454782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1&gt; </a:t>
            </a:r>
            <a:r>
              <a:rPr lang="en-US" dirty="0" err="1"/>
              <a:t>atom_to_list</a:t>
            </a:r>
            <a:r>
              <a:rPr lang="en-US" dirty="0"/>
              <a:t>(hello).</a:t>
            </a:r>
          </a:p>
          <a:p>
            <a:r>
              <a:rPr lang="en-US" dirty="0"/>
              <a:t>"hello"</a:t>
            </a:r>
          </a:p>
          <a:p>
            <a:r>
              <a:rPr lang="en-US" dirty="0"/>
              <a:t>2&gt; </a:t>
            </a:r>
            <a:r>
              <a:rPr lang="en-US" dirty="0" err="1"/>
              <a:t>list_to_atom</a:t>
            </a:r>
            <a:r>
              <a:rPr lang="en-US" dirty="0"/>
              <a:t>("hello").</a:t>
            </a:r>
          </a:p>
          <a:p>
            <a:r>
              <a:rPr lang="en-US" dirty="0"/>
              <a:t>Hello</a:t>
            </a:r>
          </a:p>
          <a:p>
            <a:r>
              <a:rPr lang="en-US" dirty="0"/>
              <a:t>3&gt; </a:t>
            </a:r>
            <a:r>
              <a:rPr lang="en-US" dirty="0" err="1"/>
              <a:t>float_to_list</a:t>
            </a:r>
            <a:r>
              <a:rPr lang="en-US" dirty="0"/>
              <a:t>(7.0).</a:t>
            </a:r>
          </a:p>
          <a:p>
            <a:r>
              <a:rPr lang="en-US" dirty="0"/>
              <a:t>"7.00000000000000000000e+00"</a:t>
            </a:r>
          </a:p>
          <a:p>
            <a:r>
              <a:rPr lang="en-US" dirty="0"/>
              <a:t>4&gt; </a:t>
            </a:r>
            <a:r>
              <a:rPr lang="en-US" dirty="0" err="1"/>
              <a:t>list_to_float</a:t>
            </a:r>
            <a:r>
              <a:rPr lang="en-US" dirty="0"/>
              <a:t>("7.000e+00").</a:t>
            </a:r>
          </a:p>
          <a:p>
            <a:r>
              <a:rPr lang="en-US" dirty="0"/>
              <a:t>7.0</a:t>
            </a:r>
          </a:p>
          <a:p>
            <a:r>
              <a:rPr lang="en-US" dirty="0"/>
              <a:t>5&gt; </a:t>
            </a:r>
            <a:r>
              <a:rPr lang="en-US" dirty="0" err="1"/>
              <a:t>integer_to_list</a:t>
            </a:r>
            <a:r>
              <a:rPr lang="en-US" dirty="0"/>
              <a:t>(77).</a:t>
            </a:r>
          </a:p>
          <a:p>
            <a:r>
              <a:rPr lang="en-US" dirty="0"/>
              <a:t>"77"</a:t>
            </a:r>
          </a:p>
          <a:p>
            <a:r>
              <a:rPr lang="en-US" dirty="0"/>
              <a:t>6&gt; </a:t>
            </a:r>
            <a:r>
              <a:rPr lang="en-US" dirty="0" err="1"/>
              <a:t>list_to_integer</a:t>
            </a:r>
            <a:r>
              <a:rPr lang="en-US" dirty="0"/>
              <a:t>("77").</a:t>
            </a:r>
          </a:p>
          <a:p>
            <a:r>
              <a:rPr lang="en-US" dirty="0"/>
              <a:t>77</a:t>
            </a:r>
          </a:p>
          <a:p>
            <a:r>
              <a:rPr lang="en-US" dirty="0"/>
              <a:t>7&gt; </a:t>
            </a:r>
            <a:r>
              <a:rPr lang="en-US" dirty="0" err="1"/>
              <a:t>tuple_to_list</a:t>
            </a:r>
            <a:r>
              <a:rPr lang="en-US" dirty="0"/>
              <a:t>({</a:t>
            </a:r>
            <a:r>
              <a:rPr lang="en-US" dirty="0" err="1"/>
              <a:t>a,b,c</a:t>
            </a:r>
            <a:r>
              <a:rPr lang="en-US" dirty="0"/>
              <a:t>}).</a:t>
            </a:r>
          </a:p>
          <a:p>
            <a:r>
              <a:rPr lang="en-US" dirty="0"/>
              <a:t>[</a:t>
            </a:r>
            <a:r>
              <a:rPr lang="en-US" dirty="0" err="1"/>
              <a:t>a,b,c</a:t>
            </a:r>
            <a:r>
              <a:rPr lang="en-US" dirty="0"/>
              <a:t>]</a:t>
            </a:r>
          </a:p>
          <a:p>
            <a:r>
              <a:rPr lang="en-US" dirty="0"/>
              <a:t>8&gt; </a:t>
            </a:r>
            <a:r>
              <a:rPr lang="en-US" dirty="0" err="1"/>
              <a:t>list_to_tuple</a:t>
            </a:r>
            <a:r>
              <a:rPr lang="en-US" dirty="0"/>
              <a:t>([</a:t>
            </a:r>
            <a:r>
              <a:rPr lang="en-US" dirty="0" err="1"/>
              <a:t>a,b,c</a:t>
            </a:r>
            <a:r>
              <a:rPr lang="en-US" dirty="0"/>
              <a:t>]).</a:t>
            </a:r>
          </a:p>
          <a:p>
            <a:r>
              <a:rPr lang="en-US" dirty="0"/>
              <a:t>{</a:t>
            </a:r>
            <a:r>
              <a:rPr lang="en-US" dirty="0" err="1"/>
              <a:t>a,b,c</a:t>
            </a:r>
            <a:r>
              <a:rPr lang="en-US" dirty="0"/>
              <a:t>}</a:t>
            </a:r>
          </a:p>
        </p:txBody>
      </p:sp>
      <p:pic>
        <p:nvPicPr>
          <p:cNvPr id="14" name="Picture 13"/>
          <p:cNvPicPr>
            <a:picLocks noChangeAspect="1"/>
          </p:cNvPicPr>
          <p:nvPr/>
        </p:nvPicPr>
        <p:blipFill>
          <a:blip r:embed="rId3"/>
          <a:stretch>
            <a:fillRect/>
          </a:stretch>
        </p:blipFill>
        <p:spPr>
          <a:xfrm>
            <a:off x="7045731" y="1494894"/>
            <a:ext cx="3969429" cy="2172866"/>
          </a:xfrm>
          <a:prstGeom prst="rect">
            <a:avLst/>
          </a:prstGeom>
        </p:spPr>
        <p:style>
          <a:lnRef idx="2">
            <a:schemeClr val="dk1"/>
          </a:lnRef>
          <a:fillRef idx="1">
            <a:schemeClr val="lt1"/>
          </a:fillRef>
          <a:effectRef idx="0">
            <a:schemeClr val="dk1"/>
          </a:effectRef>
          <a:fontRef idx="minor">
            <a:schemeClr val="dk1"/>
          </a:fontRef>
        </p:style>
      </p:pic>
      <p:sp>
        <p:nvSpPr>
          <p:cNvPr id="15" name="TextBox 14"/>
          <p:cNvSpPr txBox="1"/>
          <p:nvPr/>
        </p:nvSpPr>
        <p:spPr>
          <a:xfrm>
            <a:off x="8096491" y="387752"/>
            <a:ext cx="1771511" cy="523220"/>
          </a:xfrm>
          <a:prstGeom prst="rect">
            <a:avLst/>
          </a:prstGeom>
          <a:noFill/>
        </p:spPr>
        <p:txBody>
          <a:bodyPr wrap="none" rtlCol="0">
            <a:spAutoFit/>
          </a:bodyPr>
          <a:lstStyle/>
          <a:p>
            <a:r>
              <a:rPr lang="en-US" sz="2800" dirty="0"/>
              <a:t>Type-tests:</a:t>
            </a:r>
          </a:p>
        </p:txBody>
      </p:sp>
    </p:spTree>
    <p:extLst>
      <p:ext uri="{BB962C8B-B14F-4D97-AF65-F5344CB8AC3E}">
        <p14:creationId xmlns:p14="http://schemas.microsoft.com/office/powerpoint/2010/main" val="3075287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49768" y="948146"/>
            <a:ext cx="6229301" cy="4653654"/>
          </a:xfrm>
          <a:prstGeom prst="rect">
            <a:avLst/>
          </a:prstGeom>
        </p:spPr>
        <p:style>
          <a:lnRef idx="2">
            <a:schemeClr val="dk1"/>
          </a:lnRef>
          <a:fillRef idx="1">
            <a:schemeClr val="lt1"/>
          </a:fillRef>
          <a:effectRef idx="0">
            <a:schemeClr val="dk1"/>
          </a:effectRef>
          <a:fontRef idx="minor">
            <a:schemeClr val="dk1"/>
          </a:fontRef>
        </p:style>
      </p:pic>
      <p:sp>
        <p:nvSpPr>
          <p:cNvPr id="3" name="TextBox 2"/>
          <p:cNvSpPr txBox="1"/>
          <p:nvPr/>
        </p:nvSpPr>
        <p:spPr>
          <a:xfrm>
            <a:off x="1163782" y="249382"/>
            <a:ext cx="3109826" cy="523220"/>
          </a:xfrm>
          <a:prstGeom prst="rect">
            <a:avLst/>
          </a:prstGeom>
          <a:noFill/>
        </p:spPr>
        <p:txBody>
          <a:bodyPr wrap="none" rtlCol="0">
            <a:spAutoFit/>
          </a:bodyPr>
          <a:lstStyle/>
          <a:p>
            <a:r>
              <a:rPr lang="en-US" sz="2800" dirty="0" err="1"/>
              <a:t>Functii</a:t>
            </a:r>
            <a:r>
              <a:rPr lang="en-US" sz="2800" dirty="0"/>
              <a:t> de </a:t>
            </a:r>
            <a:r>
              <a:rPr lang="en-US" sz="2800" dirty="0" err="1"/>
              <a:t>nivel</a:t>
            </a:r>
            <a:r>
              <a:rPr lang="en-US" sz="2800" dirty="0"/>
              <a:t> </a:t>
            </a:r>
            <a:r>
              <a:rPr lang="en-US" sz="2800" dirty="0" err="1"/>
              <a:t>inalt</a:t>
            </a:r>
            <a:endParaRPr lang="en-US" sz="2800" dirty="0"/>
          </a:p>
        </p:txBody>
      </p:sp>
      <p:sp>
        <p:nvSpPr>
          <p:cNvPr id="4" name="TextBox 3"/>
          <p:cNvSpPr txBox="1"/>
          <p:nvPr/>
        </p:nvSpPr>
        <p:spPr>
          <a:xfrm>
            <a:off x="1143000" y="5777345"/>
            <a:ext cx="5549661" cy="369332"/>
          </a:xfrm>
          <a:prstGeom prst="rect">
            <a:avLst/>
          </a:prstGeom>
          <a:noFill/>
        </p:spPr>
        <p:txBody>
          <a:bodyPr wrap="none" rtlCol="0">
            <a:spAutoFit/>
          </a:bodyPr>
          <a:lstStyle/>
          <a:p>
            <a:r>
              <a:rPr lang="en-US" dirty="0">
                <a:hlinkClick r:id="rId3"/>
              </a:rPr>
              <a:t>http://erlang.org/doc/programming_examples/funs.html</a:t>
            </a:r>
            <a:endParaRPr lang="en-US" dirty="0"/>
          </a:p>
        </p:txBody>
      </p:sp>
      <p:sp>
        <p:nvSpPr>
          <p:cNvPr id="5" name="TextBox 4"/>
          <p:cNvSpPr txBox="1"/>
          <p:nvPr/>
        </p:nvSpPr>
        <p:spPr>
          <a:xfrm>
            <a:off x="7938654" y="2223655"/>
            <a:ext cx="3291735" cy="1200329"/>
          </a:xfrm>
          <a:prstGeom prst="rect">
            <a:avLst/>
          </a:prstGeom>
          <a:ln/>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err="1"/>
              <a:t>Atentie</a:t>
            </a:r>
            <a:r>
              <a:rPr lang="en-US" sz="2400" dirty="0"/>
              <a:t>!</a:t>
            </a:r>
          </a:p>
          <a:p>
            <a:r>
              <a:rPr lang="en-US" sz="2400" dirty="0"/>
              <a:t> </a:t>
            </a:r>
            <a:r>
              <a:rPr lang="en-US" sz="2400" dirty="0">
                <a:solidFill>
                  <a:srgbClr val="CA1421"/>
                </a:solidFill>
              </a:rPr>
              <a:t>map, zip, </a:t>
            </a:r>
            <a:r>
              <a:rPr lang="en-US" sz="2400" dirty="0" err="1">
                <a:solidFill>
                  <a:srgbClr val="CA1421"/>
                </a:solidFill>
              </a:rPr>
              <a:t>foldl</a:t>
            </a:r>
            <a:r>
              <a:rPr lang="en-US" sz="2400" dirty="0">
                <a:solidFill>
                  <a:srgbClr val="CA1421"/>
                </a:solidFill>
              </a:rPr>
              <a:t> </a:t>
            </a:r>
          </a:p>
          <a:p>
            <a:r>
              <a:rPr lang="en-US" sz="2400" dirty="0"/>
              <a:t>se </a:t>
            </a:r>
            <a:r>
              <a:rPr lang="en-US" sz="2400" dirty="0" err="1"/>
              <a:t>gasesc</a:t>
            </a:r>
            <a:r>
              <a:rPr lang="en-US" sz="2400" dirty="0"/>
              <a:t> in </a:t>
            </a:r>
            <a:r>
              <a:rPr lang="en-US" sz="2400" dirty="0" err="1"/>
              <a:t>modulul</a:t>
            </a:r>
            <a:r>
              <a:rPr lang="en-US" sz="2400" dirty="0"/>
              <a:t> </a:t>
            </a:r>
            <a:r>
              <a:rPr lang="en-US" sz="2400" dirty="0">
                <a:solidFill>
                  <a:srgbClr val="CA1421"/>
                </a:solidFill>
              </a:rPr>
              <a:t>lists</a:t>
            </a:r>
          </a:p>
        </p:txBody>
      </p:sp>
    </p:spTree>
    <p:extLst>
      <p:ext uri="{BB962C8B-B14F-4D97-AF65-F5344CB8AC3E}">
        <p14:creationId xmlns:p14="http://schemas.microsoft.com/office/powerpoint/2010/main" val="4036370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63782" y="249382"/>
            <a:ext cx="3109826" cy="523220"/>
          </a:xfrm>
          <a:prstGeom prst="rect">
            <a:avLst/>
          </a:prstGeom>
          <a:noFill/>
        </p:spPr>
        <p:txBody>
          <a:bodyPr wrap="none" rtlCol="0">
            <a:spAutoFit/>
          </a:bodyPr>
          <a:lstStyle/>
          <a:p>
            <a:r>
              <a:rPr lang="en-US" sz="2800" dirty="0" err="1"/>
              <a:t>Functii</a:t>
            </a:r>
            <a:r>
              <a:rPr lang="en-US" sz="2800" dirty="0"/>
              <a:t> de </a:t>
            </a:r>
            <a:r>
              <a:rPr lang="en-US" sz="2800" dirty="0" err="1"/>
              <a:t>nivel</a:t>
            </a:r>
            <a:r>
              <a:rPr lang="en-US" sz="2800" dirty="0"/>
              <a:t> </a:t>
            </a:r>
            <a:r>
              <a:rPr lang="en-US" sz="2800" dirty="0" err="1"/>
              <a:t>inalt</a:t>
            </a:r>
            <a:endParaRPr lang="en-US" sz="2800" dirty="0"/>
          </a:p>
        </p:txBody>
      </p:sp>
      <p:sp>
        <p:nvSpPr>
          <p:cNvPr id="4" name="TextBox 3"/>
          <p:cNvSpPr txBox="1"/>
          <p:nvPr/>
        </p:nvSpPr>
        <p:spPr>
          <a:xfrm>
            <a:off x="1143000" y="5777345"/>
            <a:ext cx="5549661" cy="369332"/>
          </a:xfrm>
          <a:prstGeom prst="rect">
            <a:avLst/>
          </a:prstGeom>
          <a:noFill/>
        </p:spPr>
        <p:txBody>
          <a:bodyPr wrap="none" rtlCol="0">
            <a:spAutoFit/>
          </a:bodyPr>
          <a:lstStyle/>
          <a:p>
            <a:r>
              <a:rPr lang="en-US" dirty="0">
                <a:hlinkClick r:id="rId2"/>
              </a:rPr>
              <a:t>http://erlang.org/doc/programming_examples/funs.html</a:t>
            </a:r>
            <a:endParaRPr lang="en-US" dirty="0"/>
          </a:p>
        </p:txBody>
      </p:sp>
      <p:pic>
        <p:nvPicPr>
          <p:cNvPr id="6" name="Picture 5"/>
          <p:cNvPicPr>
            <a:picLocks noChangeAspect="1"/>
          </p:cNvPicPr>
          <p:nvPr/>
        </p:nvPicPr>
        <p:blipFill>
          <a:blip r:embed="rId3"/>
          <a:stretch>
            <a:fillRect/>
          </a:stretch>
        </p:blipFill>
        <p:spPr>
          <a:xfrm>
            <a:off x="1527041" y="2188959"/>
            <a:ext cx="9651760" cy="2139972"/>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590819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59107" y="1637006"/>
            <a:ext cx="5796538" cy="4065627"/>
          </a:xfrm>
          <a:prstGeom prst="rect">
            <a:avLst/>
          </a:prstGeom>
        </p:spPr>
        <p:style>
          <a:lnRef idx="2">
            <a:schemeClr val="dk1"/>
          </a:lnRef>
          <a:fillRef idx="1">
            <a:schemeClr val="lt1"/>
          </a:fillRef>
          <a:effectRef idx="0">
            <a:schemeClr val="dk1"/>
          </a:effectRef>
          <a:fontRef idx="minor">
            <a:schemeClr val="dk1"/>
          </a:fontRef>
        </p:style>
      </p:pic>
      <p:sp>
        <p:nvSpPr>
          <p:cNvPr id="3" name="TextBox 2"/>
          <p:cNvSpPr txBox="1"/>
          <p:nvPr/>
        </p:nvSpPr>
        <p:spPr>
          <a:xfrm>
            <a:off x="706156" y="227279"/>
            <a:ext cx="3051220" cy="1138773"/>
          </a:xfrm>
          <a:prstGeom prst="rect">
            <a:avLst/>
          </a:prstGeom>
          <a:noFill/>
        </p:spPr>
        <p:txBody>
          <a:bodyPr wrap="none" rtlCol="0">
            <a:spAutoFit/>
          </a:bodyPr>
          <a:lstStyle/>
          <a:p>
            <a:r>
              <a:rPr lang="en-US" sz="3200" dirty="0"/>
              <a:t>Pattern matching</a:t>
            </a:r>
          </a:p>
          <a:p>
            <a:endParaRPr lang="en-US" dirty="0"/>
          </a:p>
          <a:p>
            <a:endParaRPr lang="en-US" dirty="0"/>
          </a:p>
        </p:txBody>
      </p:sp>
      <p:sp>
        <p:nvSpPr>
          <p:cNvPr id="4" name="TextBox 3"/>
          <p:cNvSpPr txBox="1"/>
          <p:nvPr/>
        </p:nvSpPr>
        <p:spPr>
          <a:xfrm>
            <a:off x="5527963" y="3726818"/>
            <a:ext cx="5942524" cy="224676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800" b="1" dirty="0"/>
              <a:t>pattern = </a:t>
            </a:r>
            <a:r>
              <a:rPr lang="en-US" sz="2800" b="1" dirty="0" err="1"/>
              <a:t>termen</a:t>
            </a:r>
            <a:endParaRPr lang="en-US" sz="2800" b="1" dirty="0"/>
          </a:p>
          <a:p>
            <a:endParaRPr lang="en-US" sz="2800" dirty="0"/>
          </a:p>
          <a:p>
            <a:r>
              <a:rPr lang="en-US" sz="2800" dirty="0"/>
              <a:t>In </a:t>
            </a:r>
            <a:r>
              <a:rPr lang="en-US" sz="2800" b="1" dirty="0" err="1"/>
              <a:t>termen</a:t>
            </a:r>
            <a:r>
              <a:rPr lang="en-US" sz="2800" dirty="0"/>
              <a:t> </a:t>
            </a:r>
            <a:r>
              <a:rPr lang="en-US" sz="2800" dirty="0" err="1"/>
              <a:t>toate</a:t>
            </a:r>
            <a:r>
              <a:rPr lang="en-US" sz="2800" dirty="0"/>
              <a:t>  </a:t>
            </a:r>
            <a:r>
              <a:rPr lang="en-US" sz="2800" dirty="0" err="1"/>
              <a:t>variabilele</a:t>
            </a:r>
            <a:r>
              <a:rPr lang="en-US" sz="2800" dirty="0"/>
              <a:t> </a:t>
            </a:r>
            <a:r>
              <a:rPr lang="en-US" sz="2800" dirty="0" err="1"/>
              <a:t>sunt</a:t>
            </a:r>
            <a:r>
              <a:rPr lang="en-US" sz="2800" dirty="0"/>
              <a:t> legate </a:t>
            </a:r>
          </a:p>
          <a:p>
            <a:r>
              <a:rPr lang="en-US" sz="2800" dirty="0"/>
              <a:t>Un </a:t>
            </a:r>
            <a:r>
              <a:rPr lang="en-US" sz="2800" b="1" dirty="0"/>
              <a:t>pattern</a:t>
            </a:r>
            <a:r>
              <a:rPr lang="en-US" sz="2800" dirty="0"/>
              <a:t> </a:t>
            </a:r>
            <a:r>
              <a:rPr lang="en-US" sz="2800" dirty="0" err="1"/>
              <a:t>este</a:t>
            </a:r>
            <a:r>
              <a:rPr lang="en-US" sz="2800" dirty="0"/>
              <a:t>  ca un  </a:t>
            </a:r>
            <a:r>
              <a:rPr lang="en-US" sz="2800" dirty="0" err="1"/>
              <a:t>termen</a:t>
            </a:r>
            <a:r>
              <a:rPr lang="en-US" sz="2800" dirty="0"/>
              <a:t> in care </a:t>
            </a:r>
          </a:p>
          <a:p>
            <a:r>
              <a:rPr lang="en-US" sz="2800" dirty="0" err="1"/>
              <a:t>sunt</a:t>
            </a:r>
            <a:r>
              <a:rPr lang="en-US" sz="2800" dirty="0"/>
              <a:t> </a:t>
            </a:r>
            <a:r>
              <a:rPr lang="en-US" sz="2800" dirty="0" err="1"/>
              <a:t>si</a:t>
            </a:r>
            <a:r>
              <a:rPr lang="en-US" sz="2800" dirty="0"/>
              <a:t> </a:t>
            </a:r>
            <a:r>
              <a:rPr lang="en-US" sz="2800" dirty="0" err="1"/>
              <a:t>variabile</a:t>
            </a:r>
            <a:r>
              <a:rPr lang="en-US" sz="2800" dirty="0"/>
              <a:t> </a:t>
            </a:r>
            <a:r>
              <a:rPr lang="en-US" sz="2800" dirty="0" err="1"/>
              <a:t>libere</a:t>
            </a:r>
            <a:endParaRPr lang="en-US" sz="2800" dirty="0"/>
          </a:p>
        </p:txBody>
      </p:sp>
    </p:spTree>
    <p:extLst>
      <p:ext uri="{BB962C8B-B14F-4D97-AF65-F5344CB8AC3E}">
        <p14:creationId xmlns:p14="http://schemas.microsoft.com/office/powerpoint/2010/main" val="1087233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6430" y="813375"/>
            <a:ext cx="9109657" cy="4893647"/>
          </a:xfrm>
          <a:prstGeom prst="rect">
            <a:avLst/>
          </a:prstGeom>
          <a:solidFill>
            <a:schemeClr val="bg1"/>
          </a:solidFill>
          <a:ln w="38100">
            <a:solidFill>
              <a:srgbClr val="CA1421"/>
            </a:solidFill>
          </a:ln>
        </p:spPr>
        <p:txBody>
          <a:bodyPr wrap="square">
            <a:spAutoFit/>
          </a:bodyPr>
          <a:lstStyle/>
          <a:p>
            <a:r>
              <a:rPr lang="en-US" sz="2400" dirty="0"/>
              <a:t>-module(</a:t>
            </a:r>
            <a:r>
              <a:rPr lang="en-US" sz="2400" dirty="0" err="1"/>
              <a:t>mymod</a:t>
            </a:r>
            <a:r>
              <a:rPr lang="en-US" sz="2400" dirty="0"/>
              <a:t>). </a:t>
            </a:r>
          </a:p>
          <a:p>
            <a:r>
              <a:rPr lang="en-US" sz="2400" dirty="0"/>
              <a:t>-export([hello/2,factorial/1, start/0]).    </a:t>
            </a:r>
          </a:p>
          <a:p>
            <a:endParaRPr lang="en-US" sz="2400" dirty="0"/>
          </a:p>
          <a:p>
            <a:endParaRPr lang="en-US" sz="2400" dirty="0"/>
          </a:p>
          <a:p>
            <a:r>
              <a:rPr lang="en-US" sz="2400" dirty="0"/>
              <a:t>hello(S,X) -&gt; </a:t>
            </a:r>
            <a:r>
              <a:rPr lang="en-US" sz="2400" dirty="0" err="1"/>
              <a:t>io:format</a:t>
            </a:r>
            <a:r>
              <a:rPr lang="en-US" sz="2400" dirty="0"/>
              <a:t>("Hello ~s, </a:t>
            </a:r>
            <a:r>
              <a:rPr lang="en-US" sz="2400" dirty="0" err="1"/>
              <a:t>factorialul</a:t>
            </a:r>
            <a:r>
              <a:rPr lang="en-US" sz="2400" dirty="0"/>
              <a:t> </a:t>
            </a:r>
            <a:r>
              <a:rPr lang="en-US" sz="2400" dirty="0" err="1"/>
              <a:t>este</a:t>
            </a:r>
            <a:r>
              <a:rPr lang="en-US" sz="2400" dirty="0"/>
              <a:t> ~p!~n",[S,X]).</a:t>
            </a:r>
          </a:p>
          <a:p>
            <a:endParaRPr lang="en-US" sz="2400" dirty="0"/>
          </a:p>
          <a:p>
            <a:r>
              <a:rPr lang="en-US" sz="2400" dirty="0"/>
              <a:t>factorial(0) -&gt; 1;</a:t>
            </a:r>
          </a:p>
          <a:p>
            <a:r>
              <a:rPr lang="en-US" sz="2400" dirty="0"/>
              <a:t>factorial(N) -&gt; N * factorial(N-1).	    </a:t>
            </a:r>
          </a:p>
          <a:p>
            <a:endParaRPr lang="en-US" sz="2400" dirty="0"/>
          </a:p>
          <a:p>
            <a:r>
              <a:rPr lang="en-US" sz="2400" dirty="0"/>
              <a:t>start() -&gt;   </a:t>
            </a:r>
          </a:p>
          <a:p>
            <a:r>
              <a:rPr lang="en-US" sz="2400" dirty="0"/>
              <a:t>   {ok,[Name]}= </a:t>
            </a:r>
            <a:r>
              <a:rPr lang="en-US" sz="2400" dirty="0" err="1"/>
              <a:t>io:fread</a:t>
            </a:r>
            <a:r>
              <a:rPr lang="en-US" sz="2400" dirty="0"/>
              <a:t>("Your Name:", "~s"),	</a:t>
            </a:r>
          </a:p>
          <a:p>
            <a:r>
              <a:rPr lang="en-US" sz="2400" dirty="0"/>
              <a:t>   {ok,[Val]}= </a:t>
            </a:r>
            <a:r>
              <a:rPr lang="en-US" sz="2400" dirty="0" err="1"/>
              <a:t>io:fread</a:t>
            </a:r>
            <a:r>
              <a:rPr lang="en-US" sz="2400" dirty="0"/>
              <a:t>("Your No:", "~d"),   	</a:t>
            </a:r>
          </a:p>
          <a:p>
            <a:r>
              <a:rPr lang="en-US" sz="2400" dirty="0"/>
              <a:t>   hello(Name, factorial(Val)).</a:t>
            </a:r>
          </a:p>
        </p:txBody>
      </p:sp>
      <p:sp>
        <p:nvSpPr>
          <p:cNvPr id="3" name="TextBox 2"/>
          <p:cNvSpPr txBox="1"/>
          <p:nvPr/>
        </p:nvSpPr>
        <p:spPr>
          <a:xfrm>
            <a:off x="636430" y="82959"/>
            <a:ext cx="1483098" cy="584775"/>
          </a:xfrm>
          <a:prstGeom prst="rect">
            <a:avLst/>
          </a:prstGeom>
          <a:noFill/>
        </p:spPr>
        <p:txBody>
          <a:bodyPr wrap="none" rtlCol="0">
            <a:spAutoFit/>
          </a:bodyPr>
          <a:lstStyle/>
          <a:p>
            <a:r>
              <a:rPr lang="en-US" sz="3200" dirty="0"/>
              <a:t>Module</a:t>
            </a:r>
          </a:p>
        </p:txBody>
      </p:sp>
      <p:sp>
        <p:nvSpPr>
          <p:cNvPr id="4" name="TextBox 3"/>
          <p:cNvSpPr txBox="1"/>
          <p:nvPr/>
        </p:nvSpPr>
        <p:spPr>
          <a:xfrm>
            <a:off x="6089074" y="1033564"/>
            <a:ext cx="1246907" cy="461665"/>
          </a:xfrm>
          <a:prstGeom prst="rect">
            <a:avLst/>
          </a:prstGeom>
          <a:solidFill>
            <a:srgbClr val="CA1421"/>
          </a:solidFill>
        </p:spPr>
        <p:txBody>
          <a:bodyPr wrap="square" rtlCol="0">
            <a:spAutoFit/>
          </a:bodyPr>
          <a:lstStyle/>
          <a:p>
            <a:r>
              <a:rPr lang="en-US" sz="2400" dirty="0" err="1">
                <a:solidFill>
                  <a:schemeClr val="bg1"/>
                </a:solidFill>
              </a:rPr>
              <a:t>atribute</a:t>
            </a:r>
            <a:endParaRPr lang="en-US" sz="2400" dirty="0">
              <a:solidFill>
                <a:schemeClr val="bg1"/>
              </a:solidFill>
            </a:endParaRPr>
          </a:p>
        </p:txBody>
      </p:sp>
      <p:sp>
        <p:nvSpPr>
          <p:cNvPr id="5" name="TextBox 4"/>
          <p:cNvSpPr txBox="1"/>
          <p:nvPr/>
        </p:nvSpPr>
        <p:spPr>
          <a:xfrm>
            <a:off x="7567725" y="3846078"/>
            <a:ext cx="2583208" cy="461665"/>
          </a:xfrm>
          <a:prstGeom prst="rect">
            <a:avLst/>
          </a:prstGeom>
          <a:solidFill>
            <a:srgbClr val="CA1421"/>
          </a:solidFill>
        </p:spPr>
        <p:txBody>
          <a:bodyPr wrap="none" rtlCol="0">
            <a:spAutoFit/>
          </a:bodyPr>
          <a:lstStyle/>
          <a:p>
            <a:r>
              <a:rPr lang="en-US" sz="2400" dirty="0" err="1">
                <a:solidFill>
                  <a:schemeClr val="bg1"/>
                </a:solidFill>
              </a:rPr>
              <a:t>declaratii</a:t>
            </a:r>
            <a:r>
              <a:rPr lang="en-US" sz="2400" dirty="0">
                <a:solidFill>
                  <a:schemeClr val="bg1"/>
                </a:solidFill>
              </a:rPr>
              <a:t> de </a:t>
            </a:r>
            <a:r>
              <a:rPr lang="en-US" sz="2400" dirty="0" err="1">
                <a:solidFill>
                  <a:schemeClr val="bg1"/>
                </a:solidFill>
              </a:rPr>
              <a:t>functii</a:t>
            </a:r>
            <a:endParaRPr lang="en-US" sz="2400" dirty="0">
              <a:solidFill>
                <a:schemeClr val="bg1"/>
              </a:solidFill>
            </a:endParaRPr>
          </a:p>
        </p:txBody>
      </p:sp>
      <p:sp>
        <p:nvSpPr>
          <p:cNvPr id="6" name="TextBox 5"/>
          <p:cNvSpPr txBox="1"/>
          <p:nvPr/>
        </p:nvSpPr>
        <p:spPr>
          <a:xfrm>
            <a:off x="2867893" y="5852663"/>
            <a:ext cx="5404428" cy="369332"/>
          </a:xfrm>
          <a:prstGeom prst="rect">
            <a:avLst/>
          </a:prstGeom>
          <a:noFill/>
        </p:spPr>
        <p:txBody>
          <a:bodyPr wrap="none" rtlCol="0">
            <a:spAutoFit/>
          </a:bodyPr>
          <a:lstStyle/>
          <a:p>
            <a:r>
              <a:rPr lang="en-US" dirty="0">
                <a:hlinkClick r:id="rId2"/>
              </a:rPr>
              <a:t>http://erlang.org/doc/reference_manual/modules.html</a:t>
            </a:r>
            <a:endParaRPr lang="en-US" dirty="0"/>
          </a:p>
        </p:txBody>
      </p:sp>
    </p:spTree>
    <p:extLst>
      <p:ext uri="{BB962C8B-B14F-4D97-AF65-F5344CB8AC3E}">
        <p14:creationId xmlns:p14="http://schemas.microsoft.com/office/powerpoint/2010/main" val="2280068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0488" y="1411123"/>
            <a:ext cx="6568226" cy="3046988"/>
          </a:xfrm>
          <a:prstGeom prst="rect">
            <a:avLst/>
          </a:prstGeom>
          <a:solidFill>
            <a:schemeClr val="bg1"/>
          </a:solidFill>
          <a:ln w="38100">
            <a:solidFill>
              <a:srgbClr val="CA1421"/>
            </a:solidFill>
          </a:ln>
        </p:spPr>
        <p:txBody>
          <a:bodyPr wrap="square" rtlCol="0">
            <a:spAutoFit/>
          </a:bodyPr>
          <a:lstStyle/>
          <a:p>
            <a:r>
              <a:rPr lang="pt-BR" sz="2400" dirty="0">
                <a:solidFill>
                  <a:schemeClr val="bg1"/>
                </a:solidFill>
              </a:rPr>
              <a:t>    </a:t>
            </a:r>
            <a:r>
              <a:rPr lang="pt-BR" sz="2400" dirty="0"/>
              <a:t>-module(mymod).                          %attribute</a:t>
            </a:r>
          </a:p>
          <a:p>
            <a:r>
              <a:rPr lang="pt-BR" sz="2400" dirty="0"/>
              <a:t>    -export([hello/0,factorial/1]).       %attribute</a:t>
            </a:r>
          </a:p>
          <a:p>
            <a:r>
              <a:rPr lang="pt-BR" sz="2400" dirty="0"/>
              <a:t>  % -compile(export_all).</a:t>
            </a:r>
          </a:p>
          <a:p>
            <a:r>
              <a:rPr lang="pt-BR" sz="2400" dirty="0"/>
              <a:t> </a:t>
            </a:r>
          </a:p>
          <a:p>
            <a:r>
              <a:rPr lang="pt-BR" sz="2400" dirty="0"/>
              <a:t>  hello() -&gt; io:format("Hello!~n").    %function</a:t>
            </a:r>
          </a:p>
          <a:p>
            <a:endParaRPr lang="pt-BR" sz="2400" dirty="0"/>
          </a:p>
          <a:p>
            <a:r>
              <a:rPr lang="pt-BR" sz="2400" dirty="0"/>
              <a:t>  factorial(0) -&gt; 1;                                 %function</a:t>
            </a:r>
          </a:p>
          <a:p>
            <a:r>
              <a:rPr lang="pt-BR" sz="2400" dirty="0"/>
              <a:t>  factorial(N) -&gt; N * factorial(N-1).</a:t>
            </a:r>
            <a:endParaRPr lang="en-US" sz="2400" dirty="0"/>
          </a:p>
        </p:txBody>
      </p:sp>
      <p:sp>
        <p:nvSpPr>
          <p:cNvPr id="4" name="TextBox 3"/>
          <p:cNvSpPr txBox="1"/>
          <p:nvPr/>
        </p:nvSpPr>
        <p:spPr>
          <a:xfrm>
            <a:off x="261432" y="815259"/>
            <a:ext cx="1622738" cy="461665"/>
          </a:xfrm>
          <a:prstGeom prst="rect">
            <a:avLst/>
          </a:prstGeom>
          <a:noFill/>
        </p:spPr>
        <p:txBody>
          <a:bodyPr wrap="square" rtlCol="0">
            <a:spAutoFit/>
          </a:bodyPr>
          <a:lstStyle/>
          <a:p>
            <a:r>
              <a:rPr lang="en-US" sz="2400" dirty="0" err="1"/>
              <a:t>mymod.erl</a:t>
            </a:r>
            <a:endParaRPr lang="en-US" sz="2400" dirty="0"/>
          </a:p>
        </p:txBody>
      </p:sp>
      <p:pic>
        <p:nvPicPr>
          <p:cNvPr id="2" name="Picture 1"/>
          <p:cNvPicPr>
            <a:picLocks noChangeAspect="1"/>
          </p:cNvPicPr>
          <p:nvPr/>
        </p:nvPicPr>
        <p:blipFill>
          <a:blip r:embed="rId2"/>
          <a:stretch>
            <a:fillRect/>
          </a:stretch>
        </p:blipFill>
        <p:spPr>
          <a:xfrm>
            <a:off x="6093365" y="3059545"/>
            <a:ext cx="6035288" cy="2843415"/>
          </a:xfrm>
          <a:prstGeom prst="rect">
            <a:avLst/>
          </a:prstGeom>
        </p:spPr>
        <p:style>
          <a:lnRef idx="2">
            <a:schemeClr val="dk1"/>
          </a:lnRef>
          <a:fillRef idx="1">
            <a:schemeClr val="lt1"/>
          </a:fillRef>
          <a:effectRef idx="0">
            <a:schemeClr val="dk1"/>
          </a:effectRef>
          <a:fontRef idx="minor">
            <a:schemeClr val="dk1"/>
          </a:fontRef>
        </p:style>
      </p:pic>
      <p:sp>
        <p:nvSpPr>
          <p:cNvPr id="6" name="TextBox 5"/>
          <p:cNvSpPr txBox="1"/>
          <p:nvPr/>
        </p:nvSpPr>
        <p:spPr>
          <a:xfrm>
            <a:off x="352691" y="168928"/>
            <a:ext cx="1319592" cy="523220"/>
          </a:xfrm>
          <a:prstGeom prst="rect">
            <a:avLst/>
          </a:prstGeom>
          <a:noFill/>
        </p:spPr>
        <p:txBody>
          <a:bodyPr wrap="none" rtlCol="0">
            <a:spAutoFit/>
          </a:bodyPr>
          <a:lstStyle/>
          <a:p>
            <a:r>
              <a:rPr lang="en-US" sz="2800" dirty="0"/>
              <a:t>Module</a:t>
            </a:r>
          </a:p>
        </p:txBody>
      </p:sp>
      <p:sp>
        <p:nvSpPr>
          <p:cNvPr id="7" name="TextBox 6"/>
          <p:cNvSpPr txBox="1"/>
          <p:nvPr/>
        </p:nvSpPr>
        <p:spPr>
          <a:xfrm>
            <a:off x="2512960" y="815259"/>
            <a:ext cx="6101991" cy="461665"/>
          </a:xfrm>
          <a:prstGeom prst="rect">
            <a:avLst/>
          </a:prstGeom>
          <a:solidFill>
            <a:srgbClr val="CA1421"/>
          </a:solidFill>
        </p:spPr>
        <p:txBody>
          <a:bodyPr wrap="none" rtlCol="0">
            <a:spAutoFit/>
          </a:bodyPr>
          <a:lstStyle/>
          <a:p>
            <a:r>
              <a:rPr lang="en-US" sz="2400" dirty="0" err="1">
                <a:solidFill>
                  <a:schemeClr val="bg1"/>
                </a:solidFill>
              </a:rPr>
              <a:t>numele</a:t>
            </a:r>
            <a:r>
              <a:rPr lang="en-US" sz="2400" dirty="0">
                <a:solidFill>
                  <a:schemeClr val="bg1"/>
                </a:solidFill>
              </a:rPr>
              <a:t> </a:t>
            </a:r>
            <a:r>
              <a:rPr lang="en-US" sz="2400" dirty="0" err="1">
                <a:solidFill>
                  <a:schemeClr val="bg1"/>
                </a:solidFill>
              </a:rPr>
              <a:t>fisierului</a:t>
            </a:r>
            <a:r>
              <a:rPr lang="en-US" sz="2400" dirty="0">
                <a:solidFill>
                  <a:schemeClr val="bg1"/>
                </a:solidFill>
              </a:rPr>
              <a:t> coincide cu </a:t>
            </a:r>
            <a:r>
              <a:rPr lang="en-US" sz="2400" dirty="0" err="1">
                <a:solidFill>
                  <a:schemeClr val="bg1"/>
                </a:solidFill>
              </a:rPr>
              <a:t>numele</a:t>
            </a:r>
            <a:r>
              <a:rPr lang="en-US" sz="2400" dirty="0">
                <a:solidFill>
                  <a:schemeClr val="bg1"/>
                </a:solidFill>
              </a:rPr>
              <a:t> </a:t>
            </a:r>
            <a:r>
              <a:rPr lang="en-US" sz="2400" dirty="0" err="1">
                <a:solidFill>
                  <a:schemeClr val="bg1"/>
                </a:solidFill>
              </a:rPr>
              <a:t>modulului</a:t>
            </a:r>
            <a:endParaRPr lang="en-US" sz="2400" dirty="0">
              <a:solidFill>
                <a:schemeClr val="bg1"/>
              </a:solidFill>
            </a:endParaRPr>
          </a:p>
        </p:txBody>
      </p:sp>
      <p:sp>
        <p:nvSpPr>
          <p:cNvPr id="8" name="TextBox 7"/>
          <p:cNvSpPr txBox="1"/>
          <p:nvPr/>
        </p:nvSpPr>
        <p:spPr>
          <a:xfrm>
            <a:off x="900639" y="4750310"/>
            <a:ext cx="4764318" cy="1384995"/>
          </a:xfrm>
          <a:prstGeom prst="rect">
            <a:avLst/>
          </a:prstGeom>
          <a:solidFill>
            <a:srgbClr val="CA1421"/>
          </a:solidFill>
        </p:spPr>
        <p:txBody>
          <a:bodyPr wrap="none" rtlCol="0">
            <a:spAutoFit/>
          </a:bodyPr>
          <a:lstStyle/>
          <a:p>
            <a:r>
              <a:rPr lang="en-US" sz="2800" b="1" dirty="0" err="1">
                <a:solidFill>
                  <a:schemeClr val="bg1"/>
                </a:solidFill>
              </a:rPr>
              <a:t>modul:functie</a:t>
            </a:r>
            <a:r>
              <a:rPr lang="en-US" sz="2800" b="1" dirty="0">
                <a:solidFill>
                  <a:schemeClr val="bg1"/>
                </a:solidFill>
              </a:rPr>
              <a:t>(</a:t>
            </a:r>
            <a:r>
              <a:rPr lang="en-US" sz="2800" b="1" dirty="0" err="1">
                <a:solidFill>
                  <a:schemeClr val="bg1"/>
                </a:solidFill>
              </a:rPr>
              <a:t>argumente</a:t>
            </a:r>
            <a:r>
              <a:rPr lang="en-US" sz="2800" b="1" dirty="0">
                <a:solidFill>
                  <a:schemeClr val="bg1"/>
                </a:solidFill>
              </a:rPr>
              <a:t>)</a:t>
            </a:r>
          </a:p>
          <a:p>
            <a:r>
              <a:rPr lang="en-US" sz="2800" dirty="0">
                <a:solidFill>
                  <a:schemeClr val="bg1"/>
                </a:solidFill>
              </a:rPr>
              <a:t>o </a:t>
            </a:r>
            <a:r>
              <a:rPr lang="en-US" sz="2800" dirty="0" err="1">
                <a:solidFill>
                  <a:schemeClr val="bg1"/>
                </a:solidFill>
              </a:rPr>
              <a:t>functie</a:t>
            </a:r>
            <a:r>
              <a:rPr lang="en-US" sz="2800" dirty="0">
                <a:solidFill>
                  <a:schemeClr val="bg1"/>
                </a:solidFill>
              </a:rPr>
              <a:t> e </a:t>
            </a:r>
            <a:r>
              <a:rPr lang="en-US" sz="2800" dirty="0" err="1">
                <a:solidFill>
                  <a:schemeClr val="bg1"/>
                </a:solidFill>
              </a:rPr>
              <a:t>unic</a:t>
            </a:r>
            <a:r>
              <a:rPr lang="en-US" sz="2800" dirty="0">
                <a:solidFill>
                  <a:schemeClr val="bg1"/>
                </a:solidFill>
              </a:rPr>
              <a:t> determinate de</a:t>
            </a:r>
          </a:p>
          <a:p>
            <a:r>
              <a:rPr lang="en-US" sz="2800" dirty="0">
                <a:solidFill>
                  <a:schemeClr val="bg1"/>
                </a:solidFill>
              </a:rPr>
              <a:t>(</a:t>
            </a:r>
            <a:r>
              <a:rPr lang="en-US" sz="2800" dirty="0" err="1">
                <a:solidFill>
                  <a:schemeClr val="bg1"/>
                </a:solidFill>
              </a:rPr>
              <a:t>modul</a:t>
            </a:r>
            <a:r>
              <a:rPr lang="en-US" sz="2800" dirty="0">
                <a:solidFill>
                  <a:schemeClr val="bg1"/>
                </a:solidFill>
              </a:rPr>
              <a:t>, </a:t>
            </a:r>
            <a:r>
              <a:rPr lang="en-US" sz="2800" dirty="0" err="1">
                <a:solidFill>
                  <a:schemeClr val="bg1"/>
                </a:solidFill>
              </a:rPr>
              <a:t>nume</a:t>
            </a:r>
            <a:r>
              <a:rPr lang="en-US" sz="2800" dirty="0">
                <a:solidFill>
                  <a:schemeClr val="bg1"/>
                </a:solidFill>
              </a:rPr>
              <a:t>,  </a:t>
            </a:r>
            <a:r>
              <a:rPr lang="en-US" sz="2800" dirty="0" err="1">
                <a:solidFill>
                  <a:schemeClr val="bg1"/>
                </a:solidFill>
              </a:rPr>
              <a:t>aritate</a:t>
            </a:r>
            <a:r>
              <a:rPr lang="en-US" sz="2800" dirty="0">
                <a:solidFill>
                  <a:schemeClr val="bg1"/>
                </a:solidFill>
              </a:rPr>
              <a:t>)</a:t>
            </a:r>
          </a:p>
        </p:txBody>
      </p:sp>
    </p:spTree>
    <p:extLst>
      <p:ext uri="{BB962C8B-B14F-4D97-AF65-F5344CB8AC3E}">
        <p14:creationId xmlns:p14="http://schemas.microsoft.com/office/powerpoint/2010/main" val="3739711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0584" y="1492145"/>
            <a:ext cx="7469826" cy="2308324"/>
          </a:xfrm>
          <a:prstGeom prst="rect">
            <a:avLst/>
          </a:prstGeom>
          <a:solidFill>
            <a:schemeClr val="bg1"/>
          </a:solidFill>
          <a:ln w="38100">
            <a:solidFill>
              <a:srgbClr val="CA1421"/>
            </a:solidFill>
          </a:ln>
        </p:spPr>
        <p:txBody>
          <a:bodyPr wrap="square" rtlCol="0">
            <a:spAutoFit/>
          </a:bodyPr>
          <a:lstStyle/>
          <a:p>
            <a:r>
              <a:rPr lang="pt-BR" sz="2400" dirty="0">
                <a:solidFill>
                  <a:schemeClr val="bg1"/>
                </a:solidFill>
              </a:rPr>
              <a:t>    </a:t>
            </a:r>
            <a:r>
              <a:rPr lang="pt-BR" sz="2400" dirty="0"/>
              <a:t>-module(mymod).                          %attribute</a:t>
            </a:r>
          </a:p>
          <a:p>
            <a:r>
              <a:rPr lang="pt-BR" sz="2400" dirty="0"/>
              <a:t>    -export([hello/0,factorial/1]).       %attribute</a:t>
            </a:r>
          </a:p>
          <a:p>
            <a:r>
              <a:rPr lang="pt-BR" sz="2400" dirty="0"/>
              <a:t>    -define(Eu, "Ioana")                         %macros</a:t>
            </a:r>
          </a:p>
          <a:p>
            <a:r>
              <a:rPr lang="pt-BR" sz="2400" dirty="0"/>
              <a:t> </a:t>
            </a:r>
          </a:p>
          <a:p>
            <a:r>
              <a:rPr lang="pt-BR" sz="2400" dirty="0"/>
              <a:t>  hello() -&gt; io:format("Hello, ~s!~n",[?Eu]).    %function</a:t>
            </a:r>
          </a:p>
          <a:p>
            <a:endParaRPr lang="pt-BR" sz="2400" dirty="0"/>
          </a:p>
        </p:txBody>
      </p:sp>
      <p:sp>
        <p:nvSpPr>
          <p:cNvPr id="4" name="TextBox 3"/>
          <p:cNvSpPr txBox="1"/>
          <p:nvPr/>
        </p:nvSpPr>
        <p:spPr>
          <a:xfrm>
            <a:off x="261432" y="815259"/>
            <a:ext cx="1622738" cy="461665"/>
          </a:xfrm>
          <a:prstGeom prst="rect">
            <a:avLst/>
          </a:prstGeom>
          <a:noFill/>
        </p:spPr>
        <p:txBody>
          <a:bodyPr wrap="square" rtlCol="0">
            <a:spAutoFit/>
          </a:bodyPr>
          <a:lstStyle/>
          <a:p>
            <a:r>
              <a:rPr lang="en-US" sz="2400" dirty="0" err="1"/>
              <a:t>mymod.erl</a:t>
            </a:r>
            <a:endParaRPr lang="en-US" sz="2400" dirty="0"/>
          </a:p>
        </p:txBody>
      </p:sp>
      <p:sp>
        <p:nvSpPr>
          <p:cNvPr id="6" name="TextBox 5"/>
          <p:cNvSpPr txBox="1"/>
          <p:nvPr/>
        </p:nvSpPr>
        <p:spPr>
          <a:xfrm>
            <a:off x="352691" y="168928"/>
            <a:ext cx="1319592" cy="523220"/>
          </a:xfrm>
          <a:prstGeom prst="rect">
            <a:avLst/>
          </a:prstGeom>
          <a:noFill/>
        </p:spPr>
        <p:txBody>
          <a:bodyPr wrap="none" rtlCol="0">
            <a:spAutoFit/>
          </a:bodyPr>
          <a:lstStyle/>
          <a:p>
            <a:r>
              <a:rPr lang="en-US" sz="2800" dirty="0"/>
              <a:t>Module</a:t>
            </a:r>
          </a:p>
        </p:txBody>
      </p:sp>
      <p:pic>
        <p:nvPicPr>
          <p:cNvPr id="5" name="Picture 4"/>
          <p:cNvPicPr>
            <a:picLocks noChangeAspect="1"/>
          </p:cNvPicPr>
          <p:nvPr/>
        </p:nvPicPr>
        <p:blipFill>
          <a:blip r:embed="rId2"/>
          <a:stretch>
            <a:fillRect/>
          </a:stretch>
        </p:blipFill>
        <p:spPr>
          <a:xfrm>
            <a:off x="727035" y="3686657"/>
            <a:ext cx="3619500" cy="781050"/>
          </a:xfrm>
          <a:prstGeom prst="rect">
            <a:avLst/>
          </a:prstGeom>
        </p:spPr>
        <p:style>
          <a:lnRef idx="2">
            <a:schemeClr val="dk1"/>
          </a:lnRef>
          <a:fillRef idx="1">
            <a:schemeClr val="lt1"/>
          </a:fillRef>
          <a:effectRef idx="0">
            <a:schemeClr val="dk1"/>
          </a:effectRef>
          <a:fontRef idx="minor">
            <a:schemeClr val="dk1"/>
          </a:fontRef>
        </p:style>
      </p:pic>
      <p:pic>
        <p:nvPicPr>
          <p:cNvPr id="9" name="Picture 8"/>
          <p:cNvPicPr>
            <a:picLocks noChangeAspect="1"/>
          </p:cNvPicPr>
          <p:nvPr/>
        </p:nvPicPr>
        <p:blipFill>
          <a:blip r:embed="rId3"/>
          <a:stretch>
            <a:fillRect/>
          </a:stretch>
        </p:blipFill>
        <p:spPr>
          <a:xfrm>
            <a:off x="6492240" y="4201511"/>
            <a:ext cx="5452832" cy="1490799"/>
          </a:xfrm>
          <a:prstGeom prst="rect">
            <a:avLst/>
          </a:prstGeom>
        </p:spPr>
        <p:style>
          <a:lnRef idx="2">
            <a:schemeClr val="dk1"/>
          </a:lnRef>
          <a:fillRef idx="1">
            <a:schemeClr val="lt1"/>
          </a:fillRef>
          <a:effectRef idx="0">
            <a:schemeClr val="dk1"/>
          </a:effectRef>
          <a:fontRef idx="minor">
            <a:schemeClr val="dk1"/>
          </a:fontRef>
        </p:style>
      </p:pic>
      <p:sp>
        <p:nvSpPr>
          <p:cNvPr id="11" name="TextBox 10"/>
          <p:cNvSpPr txBox="1"/>
          <p:nvPr/>
        </p:nvSpPr>
        <p:spPr>
          <a:xfrm>
            <a:off x="8055108" y="3816324"/>
            <a:ext cx="3589765" cy="369332"/>
          </a:xfrm>
          <a:prstGeom prst="rect">
            <a:avLst/>
          </a:prstGeom>
          <a:noFill/>
        </p:spPr>
        <p:txBody>
          <a:bodyPr wrap="none" rtlCol="0">
            <a:spAutoFit/>
          </a:bodyPr>
          <a:lstStyle/>
          <a:p>
            <a:r>
              <a:rPr lang="en-US" dirty="0" err="1"/>
              <a:t>io:format</a:t>
            </a:r>
            <a:r>
              <a:rPr lang="en-US" dirty="0"/>
              <a:t>/</a:t>
            </a:r>
            <a:r>
              <a:rPr lang="en-US" dirty="0" err="1"/>
              <a:t>io:fwrite</a:t>
            </a:r>
            <a:r>
              <a:rPr lang="en-US" dirty="0"/>
              <a:t>  sunt </a:t>
            </a:r>
            <a:r>
              <a:rPr lang="en-US" dirty="0" err="1"/>
              <a:t>echivalente</a:t>
            </a:r>
            <a:endParaRPr lang="en-US" dirty="0"/>
          </a:p>
        </p:txBody>
      </p:sp>
      <p:sp>
        <p:nvSpPr>
          <p:cNvPr id="12" name="TextBox 11">
            <a:hlinkClick r:id="rId4"/>
          </p:cNvPr>
          <p:cNvSpPr txBox="1"/>
          <p:nvPr/>
        </p:nvSpPr>
        <p:spPr>
          <a:xfrm>
            <a:off x="6507889" y="5724020"/>
            <a:ext cx="5136984" cy="369332"/>
          </a:xfrm>
          <a:prstGeom prst="rect">
            <a:avLst/>
          </a:prstGeom>
          <a:noFill/>
        </p:spPr>
        <p:txBody>
          <a:bodyPr wrap="none" rtlCol="0">
            <a:spAutoFit/>
          </a:bodyPr>
          <a:lstStyle/>
          <a:p>
            <a:r>
              <a:rPr lang="en-US" dirty="0"/>
              <a:t>https://www.erlang.org/docs/28/apps/stdlib/io.html</a:t>
            </a:r>
          </a:p>
        </p:txBody>
      </p:sp>
    </p:spTree>
    <p:extLst>
      <p:ext uri="{BB962C8B-B14F-4D97-AF65-F5344CB8AC3E}">
        <p14:creationId xmlns:p14="http://schemas.microsoft.com/office/powerpoint/2010/main" val="3629869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34603" y="2332047"/>
            <a:ext cx="10602126" cy="2554545"/>
          </a:xfrm>
          <a:prstGeom prst="rect">
            <a:avLst/>
          </a:prstGeom>
          <a:solidFill>
            <a:schemeClr val="bg1"/>
          </a:solidFill>
          <a:ln w="38100">
            <a:solidFill>
              <a:srgbClr val="CA1421"/>
            </a:solidFill>
          </a:ln>
        </p:spPr>
        <p:txBody>
          <a:bodyPr wrap="square" rtlCol="0">
            <a:spAutoFit/>
          </a:bodyPr>
          <a:lstStyle/>
          <a:p>
            <a:r>
              <a:rPr lang="en-US" sz="3200" dirty="0" err="1"/>
              <a:t>prels</a:t>
            </a:r>
            <a:r>
              <a:rPr lang="en-US" sz="3200" dirty="0"/>
              <a:t>("a"++ L) -&gt; </a:t>
            </a:r>
            <a:r>
              <a:rPr lang="en-US" sz="3200" dirty="0" err="1"/>
              <a:t>io:format</a:t>
            </a:r>
            <a:r>
              <a:rPr lang="en-US" sz="3200" dirty="0"/>
              <a:t>("~s ~n",[L++L]);</a:t>
            </a:r>
          </a:p>
          <a:p>
            <a:endParaRPr lang="en-US" sz="3200" dirty="0"/>
          </a:p>
          <a:p>
            <a:r>
              <a:rPr lang="en-US" sz="3200" dirty="0" err="1"/>
              <a:t>prels</a:t>
            </a:r>
            <a:r>
              <a:rPr lang="en-US" sz="3200" dirty="0"/>
              <a:t>("b"++ L) -&gt; </a:t>
            </a:r>
            <a:r>
              <a:rPr lang="en-US" sz="3200" dirty="0" err="1"/>
              <a:t>io:format</a:t>
            </a:r>
            <a:r>
              <a:rPr lang="en-US" sz="3200" dirty="0"/>
              <a:t>("~s ~n",[L++"b"]);</a:t>
            </a:r>
          </a:p>
          <a:p>
            <a:endParaRPr lang="en-US" sz="3200" dirty="0"/>
          </a:p>
          <a:p>
            <a:r>
              <a:rPr lang="en-US" sz="3200" dirty="0" err="1"/>
              <a:t>prels</a:t>
            </a:r>
            <a:r>
              <a:rPr lang="en-US" sz="3200" dirty="0"/>
              <a:t>(_) -&gt;	</a:t>
            </a:r>
            <a:r>
              <a:rPr lang="en-US" sz="3200" dirty="0" err="1"/>
              <a:t>io:format</a:t>
            </a:r>
            <a:r>
              <a:rPr lang="en-US" sz="3200" dirty="0"/>
              <a:t>("Nu </a:t>
            </a:r>
            <a:r>
              <a:rPr lang="en-US" sz="3200" dirty="0" err="1"/>
              <a:t>incepe</a:t>
            </a:r>
            <a:r>
              <a:rPr lang="en-US" sz="3200" dirty="0"/>
              <a:t> cu \"a\" </a:t>
            </a:r>
            <a:r>
              <a:rPr lang="en-US" sz="3200" dirty="0" err="1"/>
              <a:t>sau</a:t>
            </a:r>
            <a:r>
              <a:rPr lang="en-US" sz="3200" dirty="0"/>
              <a:t> \"b\". ~n").</a:t>
            </a:r>
          </a:p>
        </p:txBody>
      </p:sp>
      <p:sp>
        <p:nvSpPr>
          <p:cNvPr id="10" name="TextBox 9"/>
          <p:cNvSpPr txBox="1"/>
          <p:nvPr/>
        </p:nvSpPr>
        <p:spPr>
          <a:xfrm>
            <a:off x="928619" y="148592"/>
            <a:ext cx="4666470" cy="1077218"/>
          </a:xfrm>
          <a:prstGeom prst="rect">
            <a:avLst/>
          </a:prstGeom>
          <a:noFill/>
        </p:spPr>
        <p:txBody>
          <a:bodyPr wrap="none" rtlCol="0">
            <a:spAutoFit/>
          </a:bodyPr>
          <a:lstStyle/>
          <a:p>
            <a:r>
              <a:rPr lang="en-US" sz="3200" dirty="0" err="1"/>
              <a:t>Definirea</a:t>
            </a:r>
            <a:r>
              <a:rPr lang="en-US" sz="3200" dirty="0"/>
              <a:t> </a:t>
            </a:r>
            <a:r>
              <a:rPr lang="en-US" sz="3200" dirty="0" err="1"/>
              <a:t>functiilor</a:t>
            </a:r>
            <a:endParaRPr lang="en-US" sz="3200" dirty="0"/>
          </a:p>
          <a:p>
            <a:r>
              <a:rPr lang="en-US" sz="3200" dirty="0"/>
              <a:t>se face </a:t>
            </a:r>
            <a:r>
              <a:rPr lang="en-US" sz="3200" dirty="0" err="1"/>
              <a:t>folosind</a:t>
            </a:r>
            <a:r>
              <a:rPr lang="en-US" sz="3200" dirty="0"/>
              <a:t> pattern-</a:t>
            </a:r>
            <a:r>
              <a:rPr lang="en-US" sz="3200" dirty="0" err="1"/>
              <a:t>uri</a:t>
            </a:r>
            <a:endParaRPr lang="en-US" sz="3200" dirty="0"/>
          </a:p>
        </p:txBody>
      </p:sp>
      <p:sp>
        <p:nvSpPr>
          <p:cNvPr id="11" name="TextBox 10"/>
          <p:cNvSpPr txBox="1"/>
          <p:nvPr/>
        </p:nvSpPr>
        <p:spPr>
          <a:xfrm>
            <a:off x="868183" y="1808827"/>
            <a:ext cx="266420" cy="523220"/>
          </a:xfrm>
          <a:prstGeom prst="rect">
            <a:avLst/>
          </a:prstGeom>
          <a:noFill/>
        </p:spPr>
        <p:txBody>
          <a:bodyPr wrap="none" rtlCol="0">
            <a:spAutoFit/>
          </a:bodyPr>
          <a:lstStyle/>
          <a:p>
            <a:r>
              <a:rPr lang="en-US" sz="2800" dirty="0"/>
              <a:t> </a:t>
            </a:r>
          </a:p>
        </p:txBody>
      </p:sp>
      <p:sp>
        <p:nvSpPr>
          <p:cNvPr id="5" name="TextBox 4"/>
          <p:cNvSpPr txBox="1"/>
          <p:nvPr/>
        </p:nvSpPr>
        <p:spPr>
          <a:xfrm>
            <a:off x="8490030" y="2457009"/>
            <a:ext cx="765915" cy="369332"/>
          </a:xfrm>
          <a:prstGeom prst="rect">
            <a:avLst/>
          </a:prstGeom>
          <a:solidFill>
            <a:srgbClr val="C00000"/>
          </a:solidFill>
          <a:ln>
            <a:solidFill>
              <a:srgbClr val="C0000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err="1">
                <a:solidFill>
                  <a:schemeClr val="bg1"/>
                </a:solidFill>
              </a:rPr>
              <a:t>clauza</a:t>
            </a:r>
            <a:endParaRPr lang="en-US" dirty="0">
              <a:solidFill>
                <a:schemeClr val="bg1"/>
              </a:solidFill>
            </a:endParaRPr>
          </a:p>
        </p:txBody>
      </p:sp>
      <p:sp>
        <p:nvSpPr>
          <p:cNvPr id="9" name="Rectangle 8"/>
          <p:cNvSpPr/>
          <p:nvPr/>
        </p:nvSpPr>
        <p:spPr>
          <a:xfrm>
            <a:off x="5713042" y="3244334"/>
            <a:ext cx="765915" cy="369332"/>
          </a:xfrm>
          <a:prstGeom prst="rect">
            <a:avLst/>
          </a:prstGeom>
        </p:spPr>
        <p:txBody>
          <a:bodyPr wrap="none">
            <a:spAutoFit/>
          </a:bodyPr>
          <a:lstStyle/>
          <a:p>
            <a:r>
              <a:rPr lang="en-US" dirty="0" err="1">
                <a:solidFill>
                  <a:schemeClr val="bg1"/>
                </a:solidFill>
              </a:rPr>
              <a:t>clauza</a:t>
            </a:r>
            <a:endParaRPr lang="en-US" dirty="0">
              <a:solidFill>
                <a:schemeClr val="bg1"/>
              </a:solidFill>
            </a:endParaRPr>
          </a:p>
        </p:txBody>
      </p:sp>
      <p:sp>
        <p:nvSpPr>
          <p:cNvPr id="13" name="TextBox 12"/>
          <p:cNvSpPr txBox="1"/>
          <p:nvPr/>
        </p:nvSpPr>
        <p:spPr>
          <a:xfrm>
            <a:off x="9064905" y="3438835"/>
            <a:ext cx="765915" cy="369332"/>
          </a:xfrm>
          <a:prstGeom prst="rect">
            <a:avLst/>
          </a:prstGeom>
          <a:solidFill>
            <a:srgbClr val="C00000"/>
          </a:solidFill>
          <a:ln>
            <a:solidFill>
              <a:srgbClr val="C0000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err="1">
                <a:solidFill>
                  <a:schemeClr val="bg1"/>
                </a:solidFill>
              </a:rPr>
              <a:t>clauza</a:t>
            </a:r>
            <a:endParaRPr lang="en-US" dirty="0">
              <a:solidFill>
                <a:schemeClr val="bg1"/>
              </a:solidFill>
            </a:endParaRPr>
          </a:p>
        </p:txBody>
      </p:sp>
      <p:sp>
        <p:nvSpPr>
          <p:cNvPr id="14" name="TextBox 13"/>
          <p:cNvSpPr txBox="1"/>
          <p:nvPr/>
        </p:nvSpPr>
        <p:spPr>
          <a:xfrm>
            <a:off x="10866699" y="4388052"/>
            <a:ext cx="765915" cy="369332"/>
          </a:xfrm>
          <a:prstGeom prst="rect">
            <a:avLst/>
          </a:prstGeom>
          <a:solidFill>
            <a:srgbClr val="C00000"/>
          </a:solidFill>
          <a:ln>
            <a:solidFill>
              <a:srgbClr val="C0000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err="1">
                <a:solidFill>
                  <a:schemeClr val="bg1"/>
                </a:solidFill>
              </a:rPr>
              <a:t>clauza</a:t>
            </a:r>
            <a:endParaRPr lang="en-US" dirty="0">
              <a:solidFill>
                <a:schemeClr val="bg1"/>
              </a:solidFill>
            </a:endParaRPr>
          </a:p>
        </p:txBody>
      </p:sp>
    </p:spTree>
    <p:extLst>
      <p:ext uri="{BB962C8B-B14F-4D97-AF65-F5344CB8AC3E}">
        <p14:creationId xmlns:p14="http://schemas.microsoft.com/office/powerpoint/2010/main" val="55015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25569" y="1678328"/>
            <a:ext cx="7835863" cy="2246769"/>
          </a:xfrm>
          <a:prstGeom prst="rect">
            <a:avLst/>
          </a:prstGeom>
          <a:noFill/>
          <a:ln>
            <a:solidFill>
              <a:srgbClr val="C00000"/>
            </a:solidFill>
          </a:ln>
        </p:spPr>
        <p:txBody>
          <a:bodyPr wrap="none" rtlCol="0">
            <a:spAutoFit/>
          </a:bodyPr>
          <a:lstStyle/>
          <a:p>
            <a:r>
              <a:rPr lang="en-US" sz="2800" dirty="0"/>
              <a:t>Name(Pattern11,...,Pattern1N) [when GuardSeq1] -&gt;</a:t>
            </a:r>
          </a:p>
          <a:p>
            <a:r>
              <a:rPr lang="en-US" sz="2800" dirty="0"/>
              <a:t>                    Body1;</a:t>
            </a:r>
          </a:p>
          <a:p>
            <a:r>
              <a:rPr lang="en-US" sz="2800" dirty="0"/>
              <a:t> ...;</a:t>
            </a:r>
          </a:p>
          <a:p>
            <a:r>
              <a:rPr lang="en-US" sz="2800" dirty="0"/>
              <a:t>Name(PatternK1,...,</a:t>
            </a:r>
            <a:r>
              <a:rPr lang="en-US" sz="2800" dirty="0" err="1"/>
              <a:t>PatternKN</a:t>
            </a:r>
            <a:r>
              <a:rPr lang="en-US" sz="2800" dirty="0"/>
              <a:t>) [when </a:t>
            </a:r>
            <a:r>
              <a:rPr lang="en-US" sz="2800" dirty="0" err="1"/>
              <a:t>GuardSeqK</a:t>
            </a:r>
            <a:r>
              <a:rPr lang="en-US" sz="2800" dirty="0"/>
              <a:t>] -&gt;</a:t>
            </a:r>
          </a:p>
          <a:p>
            <a:r>
              <a:rPr lang="en-US" sz="2800" dirty="0"/>
              <a:t>                          </a:t>
            </a:r>
            <a:r>
              <a:rPr lang="en-US" sz="2800" dirty="0" err="1"/>
              <a:t>BodyK</a:t>
            </a:r>
            <a:r>
              <a:rPr lang="en-US" sz="2800" dirty="0"/>
              <a:t>.</a:t>
            </a:r>
          </a:p>
        </p:txBody>
      </p:sp>
      <p:sp>
        <p:nvSpPr>
          <p:cNvPr id="4" name="TextBox 3"/>
          <p:cNvSpPr txBox="1"/>
          <p:nvPr/>
        </p:nvSpPr>
        <p:spPr>
          <a:xfrm>
            <a:off x="961278" y="156258"/>
            <a:ext cx="3385016" cy="461665"/>
          </a:xfrm>
          <a:prstGeom prst="rect">
            <a:avLst/>
          </a:prstGeom>
          <a:noFill/>
        </p:spPr>
        <p:txBody>
          <a:bodyPr wrap="square" rtlCol="0">
            <a:spAutoFit/>
          </a:bodyPr>
          <a:lstStyle/>
          <a:p>
            <a:r>
              <a:rPr lang="en-US" sz="2400" dirty="0" err="1"/>
              <a:t>Definirea</a:t>
            </a:r>
            <a:r>
              <a:rPr lang="en-US" sz="2400" dirty="0"/>
              <a:t> </a:t>
            </a:r>
            <a:r>
              <a:rPr lang="en-US" sz="2400" dirty="0" err="1"/>
              <a:t>functiilor</a:t>
            </a:r>
            <a:endParaRPr lang="en-US" sz="2400" dirty="0"/>
          </a:p>
        </p:txBody>
      </p:sp>
      <p:sp>
        <p:nvSpPr>
          <p:cNvPr id="5" name="TextBox 4"/>
          <p:cNvSpPr txBox="1"/>
          <p:nvPr/>
        </p:nvSpPr>
        <p:spPr>
          <a:xfrm>
            <a:off x="1267427" y="1012785"/>
            <a:ext cx="8908977" cy="400110"/>
          </a:xfrm>
          <a:prstGeom prst="rect">
            <a:avLst/>
          </a:prstGeom>
          <a:solidFill>
            <a:srgbClr val="C00000"/>
          </a:solidFill>
          <a:ln>
            <a:solidFill>
              <a:srgbClr val="C00000"/>
            </a:solidFill>
          </a:ln>
        </p:spPr>
        <p:txBody>
          <a:bodyPr wrap="none" rtlCol="0">
            <a:spAutoFit/>
          </a:bodyPr>
          <a:lstStyle/>
          <a:p>
            <a:r>
              <a:rPr lang="en-US" sz="2000" dirty="0">
                <a:solidFill>
                  <a:schemeClr val="bg1"/>
                </a:solidFill>
              </a:rPr>
              <a:t>O </a:t>
            </a:r>
            <a:r>
              <a:rPr lang="en-US" sz="2000" dirty="0" err="1">
                <a:solidFill>
                  <a:schemeClr val="bg1"/>
                </a:solidFill>
              </a:rPr>
              <a:t>declaratie</a:t>
            </a:r>
            <a:r>
              <a:rPr lang="en-US" sz="2000" dirty="0">
                <a:solidFill>
                  <a:schemeClr val="bg1"/>
                </a:solidFill>
              </a:rPr>
              <a:t> de </a:t>
            </a:r>
            <a:r>
              <a:rPr lang="en-US" sz="2000" dirty="0" err="1">
                <a:solidFill>
                  <a:schemeClr val="bg1"/>
                </a:solidFill>
              </a:rPr>
              <a:t>functie</a:t>
            </a:r>
            <a:r>
              <a:rPr lang="en-US" sz="2000" dirty="0">
                <a:solidFill>
                  <a:schemeClr val="bg1"/>
                </a:solidFill>
              </a:rPr>
              <a:t> </a:t>
            </a:r>
            <a:r>
              <a:rPr lang="en-US" sz="2000" dirty="0" err="1">
                <a:solidFill>
                  <a:schemeClr val="bg1"/>
                </a:solidFill>
              </a:rPr>
              <a:t>este</a:t>
            </a:r>
            <a:r>
              <a:rPr lang="en-US" sz="2000" dirty="0">
                <a:solidFill>
                  <a:schemeClr val="bg1"/>
                </a:solidFill>
              </a:rPr>
              <a:t> o </a:t>
            </a:r>
            <a:r>
              <a:rPr lang="en-US" sz="2000" dirty="0" err="1">
                <a:solidFill>
                  <a:schemeClr val="bg1"/>
                </a:solidFill>
              </a:rPr>
              <a:t>secventa</a:t>
            </a:r>
            <a:r>
              <a:rPr lang="en-US" sz="2000" dirty="0">
                <a:solidFill>
                  <a:schemeClr val="bg1"/>
                </a:solidFill>
              </a:rPr>
              <a:t> de </a:t>
            </a:r>
            <a:r>
              <a:rPr lang="en-US" sz="2000" dirty="0" err="1">
                <a:solidFill>
                  <a:schemeClr val="bg1"/>
                </a:solidFill>
              </a:rPr>
              <a:t>clauze</a:t>
            </a:r>
            <a:r>
              <a:rPr lang="en-US" sz="2000" dirty="0">
                <a:solidFill>
                  <a:schemeClr val="bg1"/>
                </a:solidFill>
              </a:rPr>
              <a:t> separate </a:t>
            </a:r>
            <a:r>
              <a:rPr lang="en-US" sz="2000" dirty="0" err="1">
                <a:solidFill>
                  <a:schemeClr val="bg1"/>
                </a:solidFill>
              </a:rPr>
              <a:t>prin</a:t>
            </a:r>
            <a:r>
              <a:rPr lang="en-US" sz="2000" dirty="0">
                <a:solidFill>
                  <a:schemeClr val="bg1"/>
                </a:solidFill>
              </a:rPr>
              <a:t> ; care se </a:t>
            </a:r>
            <a:r>
              <a:rPr lang="en-US" sz="2000" dirty="0" err="1">
                <a:solidFill>
                  <a:schemeClr val="bg1"/>
                </a:solidFill>
              </a:rPr>
              <a:t>termina</a:t>
            </a:r>
            <a:r>
              <a:rPr lang="en-US" sz="2000" dirty="0">
                <a:solidFill>
                  <a:schemeClr val="bg1"/>
                </a:solidFill>
              </a:rPr>
              <a:t> cu .</a:t>
            </a:r>
          </a:p>
        </p:txBody>
      </p:sp>
      <p:sp>
        <p:nvSpPr>
          <p:cNvPr id="6" name="TextBox 5"/>
          <p:cNvSpPr txBox="1"/>
          <p:nvPr/>
        </p:nvSpPr>
        <p:spPr>
          <a:xfrm>
            <a:off x="2795698" y="4460220"/>
            <a:ext cx="1101584" cy="1384995"/>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800" dirty="0"/>
              <a:t>Expr1,</a:t>
            </a:r>
          </a:p>
          <a:p>
            <a:r>
              <a:rPr lang="en-US" sz="2800" dirty="0"/>
              <a:t>...,</a:t>
            </a:r>
          </a:p>
          <a:p>
            <a:r>
              <a:rPr lang="en-US" sz="2800" dirty="0" err="1"/>
              <a:t>ExprN</a:t>
            </a:r>
            <a:endParaRPr lang="en-US" sz="2800" dirty="0"/>
          </a:p>
        </p:txBody>
      </p:sp>
      <p:sp>
        <p:nvSpPr>
          <p:cNvPr id="7" name="TextBox 6"/>
          <p:cNvSpPr txBox="1"/>
          <p:nvPr/>
        </p:nvSpPr>
        <p:spPr>
          <a:xfrm>
            <a:off x="2876308" y="4057566"/>
            <a:ext cx="867545" cy="461665"/>
          </a:xfrm>
          <a:prstGeom prst="rect">
            <a:avLst/>
          </a:prstGeom>
          <a:noFill/>
        </p:spPr>
        <p:txBody>
          <a:bodyPr wrap="none" rtlCol="0">
            <a:spAutoFit/>
          </a:bodyPr>
          <a:lstStyle/>
          <a:p>
            <a:r>
              <a:rPr lang="en-US" sz="2400" dirty="0"/>
              <a:t>Body</a:t>
            </a:r>
            <a:r>
              <a:rPr lang="en-US" dirty="0"/>
              <a:t> </a:t>
            </a:r>
          </a:p>
        </p:txBody>
      </p:sp>
      <p:sp>
        <p:nvSpPr>
          <p:cNvPr id="8" name="TextBox 7"/>
          <p:cNvSpPr txBox="1"/>
          <p:nvPr/>
        </p:nvSpPr>
        <p:spPr>
          <a:xfrm>
            <a:off x="4276846" y="4651700"/>
            <a:ext cx="6509218" cy="400110"/>
          </a:xfrm>
          <a:prstGeom prst="rect">
            <a:avLst/>
          </a:prstGeom>
          <a:solidFill>
            <a:srgbClr val="C00000"/>
          </a:solidFill>
          <a:ln>
            <a:solidFill>
              <a:srgbClr val="C0000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err="1">
                <a:solidFill>
                  <a:schemeClr val="bg1"/>
                </a:solidFill>
              </a:rPr>
              <a:t>Corpul</a:t>
            </a:r>
            <a:r>
              <a:rPr lang="en-US" sz="2000" dirty="0">
                <a:solidFill>
                  <a:schemeClr val="bg1"/>
                </a:solidFill>
              </a:rPr>
              <a:t> </a:t>
            </a:r>
            <a:r>
              <a:rPr lang="en-US" sz="2000" dirty="0" err="1">
                <a:solidFill>
                  <a:schemeClr val="bg1"/>
                </a:solidFill>
              </a:rPr>
              <a:t>unei</a:t>
            </a:r>
            <a:r>
              <a:rPr lang="en-US" sz="2000" dirty="0">
                <a:solidFill>
                  <a:schemeClr val="bg1"/>
                </a:solidFill>
              </a:rPr>
              <a:t> clause </a:t>
            </a:r>
            <a:r>
              <a:rPr lang="en-US" sz="2000" dirty="0" err="1">
                <a:solidFill>
                  <a:schemeClr val="bg1"/>
                </a:solidFill>
              </a:rPr>
              <a:t>este</a:t>
            </a:r>
            <a:r>
              <a:rPr lang="en-US" sz="2000" dirty="0">
                <a:solidFill>
                  <a:schemeClr val="bg1"/>
                </a:solidFill>
              </a:rPr>
              <a:t> o </a:t>
            </a:r>
            <a:r>
              <a:rPr lang="en-US" sz="2000" dirty="0" err="1">
                <a:solidFill>
                  <a:schemeClr val="bg1"/>
                </a:solidFill>
              </a:rPr>
              <a:t>secventa</a:t>
            </a:r>
            <a:r>
              <a:rPr lang="en-US" sz="2000" dirty="0">
                <a:solidFill>
                  <a:schemeClr val="bg1"/>
                </a:solidFill>
              </a:rPr>
              <a:t> de </a:t>
            </a:r>
            <a:r>
              <a:rPr lang="en-US" sz="2000" dirty="0" err="1">
                <a:solidFill>
                  <a:schemeClr val="bg1"/>
                </a:solidFill>
              </a:rPr>
              <a:t>expresii</a:t>
            </a:r>
            <a:r>
              <a:rPr lang="en-US" sz="2000" dirty="0">
                <a:solidFill>
                  <a:schemeClr val="bg1"/>
                </a:solidFill>
              </a:rPr>
              <a:t> separate </a:t>
            </a:r>
            <a:r>
              <a:rPr lang="en-US" sz="2000" dirty="0" err="1">
                <a:solidFill>
                  <a:schemeClr val="bg1"/>
                </a:solidFill>
              </a:rPr>
              <a:t>prin</a:t>
            </a:r>
            <a:r>
              <a:rPr lang="en-US" sz="2000" dirty="0">
                <a:solidFill>
                  <a:schemeClr val="bg1"/>
                </a:solidFill>
              </a:rPr>
              <a:t> ,</a:t>
            </a:r>
          </a:p>
        </p:txBody>
      </p:sp>
      <p:sp>
        <p:nvSpPr>
          <p:cNvPr id="9" name="TextBox 8"/>
          <p:cNvSpPr txBox="1"/>
          <p:nvPr/>
        </p:nvSpPr>
        <p:spPr>
          <a:xfrm>
            <a:off x="6319778" y="5561635"/>
            <a:ext cx="5471754" cy="369332"/>
          </a:xfrm>
          <a:prstGeom prst="rect">
            <a:avLst/>
          </a:prstGeom>
          <a:noFill/>
        </p:spPr>
        <p:txBody>
          <a:bodyPr wrap="none" rtlCol="0">
            <a:spAutoFit/>
          </a:bodyPr>
          <a:lstStyle/>
          <a:p>
            <a:r>
              <a:rPr lang="en-US" dirty="0">
                <a:hlinkClick r:id="rId2"/>
              </a:rPr>
              <a:t>http://erlang.org/doc/reference_manual/functions.html</a:t>
            </a:r>
            <a:endParaRPr lang="en-US" dirty="0"/>
          </a:p>
        </p:txBody>
      </p:sp>
      <p:sp>
        <p:nvSpPr>
          <p:cNvPr id="3" name="TextBox 2">
            <a:extLst>
              <a:ext uri="{FF2B5EF4-FFF2-40B4-BE49-F238E27FC236}">
                <a16:creationId xmlns:a16="http://schemas.microsoft.com/office/drawing/2014/main" id="{6D721BD5-53E1-6DFB-3DA3-4ED5C2327456}"/>
              </a:ext>
            </a:extLst>
          </p:cNvPr>
          <p:cNvSpPr txBox="1"/>
          <p:nvPr/>
        </p:nvSpPr>
        <p:spPr>
          <a:xfrm>
            <a:off x="753345" y="5884684"/>
            <a:ext cx="5235729" cy="400110"/>
          </a:xfrm>
          <a:prstGeom prst="rect">
            <a:avLst/>
          </a:prstGeom>
          <a:solidFill>
            <a:srgbClr val="CA1421"/>
          </a:solidFill>
        </p:spPr>
        <p:style>
          <a:lnRef idx="3">
            <a:schemeClr val="lt1"/>
          </a:lnRef>
          <a:fillRef idx="1">
            <a:schemeClr val="accent1"/>
          </a:fillRef>
          <a:effectRef idx="1">
            <a:schemeClr val="accent1"/>
          </a:effectRef>
          <a:fontRef idx="minor">
            <a:schemeClr val="lt1"/>
          </a:fontRef>
        </p:style>
        <p:txBody>
          <a:bodyPr wrap="none" rtlCol="0">
            <a:spAutoFit/>
          </a:bodyPr>
          <a:lstStyle/>
          <a:p>
            <a:r>
              <a:rPr lang="en-US" sz="2000" dirty="0" err="1"/>
              <a:t>Valoarea</a:t>
            </a:r>
            <a:r>
              <a:rPr lang="en-US" sz="2000" dirty="0"/>
              <a:t> </a:t>
            </a:r>
            <a:r>
              <a:rPr lang="en-US" sz="2000" dirty="0" err="1"/>
              <a:t>returnata</a:t>
            </a:r>
            <a:r>
              <a:rPr lang="en-US" sz="2000" dirty="0"/>
              <a:t> </a:t>
            </a:r>
            <a:r>
              <a:rPr lang="en-US" sz="2000" dirty="0" err="1"/>
              <a:t>este</a:t>
            </a:r>
            <a:r>
              <a:rPr lang="en-US" sz="2000" dirty="0"/>
              <a:t> </a:t>
            </a:r>
            <a:r>
              <a:rPr lang="en-US" sz="2000" dirty="0" err="1"/>
              <a:t>valoarea</a:t>
            </a:r>
            <a:r>
              <a:rPr lang="en-US" sz="2000" dirty="0"/>
              <a:t> </a:t>
            </a:r>
            <a:r>
              <a:rPr lang="en-US" sz="2000" dirty="0" err="1"/>
              <a:t>ultimei</a:t>
            </a:r>
            <a:r>
              <a:rPr lang="en-US" sz="2000" dirty="0"/>
              <a:t> </a:t>
            </a:r>
            <a:r>
              <a:rPr lang="en-US" sz="2000" dirty="0" err="1"/>
              <a:t>expresii</a:t>
            </a:r>
            <a:endParaRPr lang="en-GB" sz="2000" dirty="0"/>
          </a:p>
        </p:txBody>
      </p:sp>
    </p:spTree>
    <p:extLst>
      <p:ext uri="{BB962C8B-B14F-4D97-AF65-F5344CB8AC3E}">
        <p14:creationId xmlns:p14="http://schemas.microsoft.com/office/powerpoint/2010/main" val="2438581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20232" y="1808827"/>
            <a:ext cx="10094021" cy="1384995"/>
          </a:xfrm>
          <a:prstGeom prst="rect">
            <a:avLst/>
          </a:prstGeom>
          <a:solidFill>
            <a:schemeClr val="bg1"/>
          </a:solidFill>
          <a:ln w="38100">
            <a:solidFill>
              <a:schemeClr val="tx1"/>
            </a:solidFill>
          </a:ln>
        </p:spPr>
        <p:txBody>
          <a:bodyPr wrap="square" rtlCol="0">
            <a:spAutoFit/>
          </a:bodyPr>
          <a:lstStyle/>
          <a:p>
            <a:r>
              <a:rPr lang="fr-FR" sz="2800" dirty="0"/>
              <a:t>par(X) -&gt; (X rem 2 == 0) .</a:t>
            </a:r>
          </a:p>
          <a:p>
            <a:r>
              <a:rPr lang="fr-FR" sz="2800" dirty="0" err="1"/>
              <a:t>preln</a:t>
            </a:r>
            <a:r>
              <a:rPr lang="fr-FR" sz="2800" dirty="0"/>
              <a:t>(X) </a:t>
            </a:r>
            <a:r>
              <a:rPr lang="fr-FR" sz="2800" dirty="0" err="1"/>
              <a:t>when</a:t>
            </a:r>
            <a:r>
              <a:rPr lang="fr-FR" sz="2800" dirty="0"/>
              <a:t> par(X) -&gt; </a:t>
            </a:r>
            <a:r>
              <a:rPr lang="fr-FR" sz="2800" dirty="0" err="1"/>
              <a:t>io:format</a:t>
            </a:r>
            <a:r>
              <a:rPr lang="fr-FR" sz="2800" dirty="0"/>
              <a:t>("Este par ~n");  %</a:t>
            </a:r>
            <a:r>
              <a:rPr lang="fr-FR" sz="2800" dirty="0" err="1">
                <a:solidFill>
                  <a:srgbClr val="FF0000"/>
                </a:solidFill>
              </a:rPr>
              <a:t>gresit</a:t>
            </a:r>
            <a:endParaRPr lang="fr-FR" sz="2800" dirty="0">
              <a:solidFill>
                <a:srgbClr val="FF0000"/>
              </a:solidFill>
            </a:endParaRPr>
          </a:p>
          <a:p>
            <a:endParaRPr lang="en-US" sz="2800" dirty="0"/>
          </a:p>
        </p:txBody>
      </p:sp>
      <p:sp>
        <p:nvSpPr>
          <p:cNvPr id="3" name="TextBox 2"/>
          <p:cNvSpPr txBox="1"/>
          <p:nvPr/>
        </p:nvSpPr>
        <p:spPr>
          <a:xfrm>
            <a:off x="4765038" y="2944636"/>
            <a:ext cx="6297878" cy="461665"/>
          </a:xfrm>
          <a:prstGeom prst="rect">
            <a:avLst/>
          </a:prstGeom>
          <a:solidFill>
            <a:srgbClr val="CA1421"/>
          </a:solidFill>
        </p:spPr>
        <p:txBody>
          <a:bodyPr wrap="none" rtlCol="0">
            <a:spAutoFit/>
          </a:bodyPr>
          <a:lstStyle/>
          <a:p>
            <a:r>
              <a:rPr lang="en-US" sz="2400" dirty="0">
                <a:solidFill>
                  <a:schemeClr val="bg1"/>
                </a:solidFill>
              </a:rPr>
              <a:t>nu se </a:t>
            </a:r>
            <a:r>
              <a:rPr lang="en-US" sz="2400" dirty="0" err="1">
                <a:solidFill>
                  <a:schemeClr val="bg1"/>
                </a:solidFill>
              </a:rPr>
              <a:t>accepta</a:t>
            </a:r>
            <a:r>
              <a:rPr lang="en-US" sz="2400" dirty="0">
                <a:solidFill>
                  <a:schemeClr val="bg1"/>
                </a:solidFill>
              </a:rPr>
              <a:t> </a:t>
            </a:r>
            <a:r>
              <a:rPr lang="en-US" sz="2400" dirty="0" err="1">
                <a:solidFill>
                  <a:schemeClr val="bg1"/>
                </a:solidFill>
              </a:rPr>
              <a:t>functii</a:t>
            </a:r>
            <a:r>
              <a:rPr lang="en-US" sz="2400" dirty="0">
                <a:solidFill>
                  <a:schemeClr val="bg1"/>
                </a:solidFill>
              </a:rPr>
              <a:t> definite de </a:t>
            </a:r>
            <a:r>
              <a:rPr lang="en-US" sz="2400" dirty="0" err="1">
                <a:solidFill>
                  <a:schemeClr val="bg1"/>
                </a:solidFill>
              </a:rPr>
              <a:t>utilizator</a:t>
            </a:r>
            <a:r>
              <a:rPr lang="en-US" sz="2400" dirty="0">
                <a:solidFill>
                  <a:schemeClr val="bg1"/>
                </a:solidFill>
              </a:rPr>
              <a:t> in </a:t>
            </a:r>
            <a:r>
              <a:rPr lang="en-US" sz="2400" dirty="0" err="1">
                <a:solidFill>
                  <a:schemeClr val="bg1"/>
                </a:solidFill>
              </a:rPr>
              <a:t>garzi</a:t>
            </a:r>
            <a:endParaRPr lang="en-US" sz="2400" dirty="0">
              <a:solidFill>
                <a:schemeClr val="bg1"/>
              </a:solidFill>
            </a:endParaRPr>
          </a:p>
        </p:txBody>
      </p:sp>
      <p:sp>
        <p:nvSpPr>
          <p:cNvPr id="4" name="TextBox 3"/>
          <p:cNvSpPr txBox="1"/>
          <p:nvPr/>
        </p:nvSpPr>
        <p:spPr>
          <a:xfrm>
            <a:off x="1540034" y="4367975"/>
            <a:ext cx="8381397" cy="954107"/>
          </a:xfrm>
          <a:prstGeom prst="rect">
            <a:avLst/>
          </a:prstGeom>
          <a:noFill/>
          <a:ln w="38100">
            <a:solidFill>
              <a:srgbClr val="CA1421"/>
            </a:solidFill>
          </a:ln>
        </p:spPr>
        <p:txBody>
          <a:bodyPr wrap="none" rtlCol="0">
            <a:spAutoFit/>
          </a:bodyPr>
          <a:lstStyle/>
          <a:p>
            <a:r>
              <a:rPr lang="en-US" sz="2800" dirty="0" err="1"/>
              <a:t>prelg</a:t>
            </a:r>
            <a:r>
              <a:rPr lang="en-US" sz="2800" dirty="0"/>
              <a:t>(X) when (X rem 2 == 0) -&gt; </a:t>
            </a:r>
            <a:r>
              <a:rPr lang="en-US" sz="2800" dirty="0" err="1"/>
              <a:t>io:format</a:t>
            </a:r>
            <a:r>
              <a:rPr lang="en-US" sz="2800" dirty="0"/>
              <a:t>("Este par ~n");</a:t>
            </a:r>
          </a:p>
          <a:p>
            <a:r>
              <a:rPr lang="en-US" sz="2800" dirty="0" err="1"/>
              <a:t>prelg</a:t>
            </a:r>
            <a:r>
              <a:rPr lang="en-US" sz="2800" dirty="0"/>
              <a:t>(_) -&gt;	</a:t>
            </a:r>
            <a:r>
              <a:rPr lang="en-US" sz="2800" dirty="0" err="1"/>
              <a:t>io:format</a:t>
            </a:r>
            <a:r>
              <a:rPr lang="en-US" sz="2800" dirty="0"/>
              <a:t>("Este </a:t>
            </a:r>
            <a:r>
              <a:rPr lang="en-US" sz="2800" dirty="0" err="1"/>
              <a:t>impar</a:t>
            </a:r>
            <a:r>
              <a:rPr lang="en-US" sz="2800" dirty="0"/>
              <a:t> ~n").</a:t>
            </a:r>
          </a:p>
        </p:txBody>
      </p:sp>
      <p:sp>
        <p:nvSpPr>
          <p:cNvPr id="7" name="TextBox 6"/>
          <p:cNvSpPr txBox="1"/>
          <p:nvPr/>
        </p:nvSpPr>
        <p:spPr>
          <a:xfrm>
            <a:off x="1449135" y="3844755"/>
            <a:ext cx="1252331" cy="523220"/>
          </a:xfrm>
          <a:prstGeom prst="rect">
            <a:avLst/>
          </a:prstGeom>
          <a:noFill/>
        </p:spPr>
        <p:txBody>
          <a:bodyPr wrap="none" rtlCol="0">
            <a:spAutoFit/>
          </a:bodyPr>
          <a:lstStyle/>
          <a:p>
            <a:r>
              <a:rPr lang="en-US" sz="2800" dirty="0" err="1"/>
              <a:t>Corect</a:t>
            </a:r>
            <a:r>
              <a:rPr lang="en-US" sz="2800" dirty="0"/>
              <a:t>!</a:t>
            </a:r>
          </a:p>
        </p:txBody>
      </p:sp>
      <p:sp>
        <p:nvSpPr>
          <p:cNvPr id="10" name="TextBox 9"/>
          <p:cNvSpPr txBox="1"/>
          <p:nvPr/>
        </p:nvSpPr>
        <p:spPr>
          <a:xfrm>
            <a:off x="934406" y="148592"/>
            <a:ext cx="6977038" cy="584775"/>
          </a:xfrm>
          <a:prstGeom prst="rect">
            <a:avLst/>
          </a:prstGeom>
          <a:noFill/>
        </p:spPr>
        <p:txBody>
          <a:bodyPr wrap="none" rtlCol="0">
            <a:spAutoFit/>
          </a:bodyPr>
          <a:lstStyle/>
          <a:p>
            <a:r>
              <a:rPr lang="en-US" sz="3200" dirty="0" err="1"/>
              <a:t>Definirea</a:t>
            </a:r>
            <a:r>
              <a:rPr lang="en-US" sz="3200" dirty="0"/>
              <a:t> </a:t>
            </a:r>
            <a:r>
              <a:rPr lang="en-US" sz="3200" dirty="0" err="1"/>
              <a:t>functiilor</a:t>
            </a:r>
            <a:r>
              <a:rPr lang="en-US" sz="3200" dirty="0"/>
              <a:t> </a:t>
            </a:r>
            <a:r>
              <a:rPr lang="en-US" sz="3200" dirty="0" err="1"/>
              <a:t>folosind</a:t>
            </a:r>
            <a:r>
              <a:rPr lang="en-US" sz="3200" dirty="0"/>
              <a:t> </a:t>
            </a:r>
            <a:r>
              <a:rPr lang="en-US" sz="3200" dirty="0" err="1"/>
              <a:t>garzi</a:t>
            </a:r>
            <a:r>
              <a:rPr lang="en-US" sz="3200" dirty="0"/>
              <a:t>  (</a:t>
            </a:r>
            <a:r>
              <a:rPr lang="en-US" sz="3200" b="1" dirty="0"/>
              <a:t>when</a:t>
            </a:r>
            <a:r>
              <a:rPr lang="en-US" sz="3200" dirty="0"/>
              <a:t>)</a:t>
            </a:r>
          </a:p>
        </p:txBody>
      </p:sp>
      <p:sp>
        <p:nvSpPr>
          <p:cNvPr id="11" name="TextBox 10"/>
          <p:cNvSpPr txBox="1"/>
          <p:nvPr/>
        </p:nvSpPr>
        <p:spPr>
          <a:xfrm>
            <a:off x="954993" y="1112429"/>
            <a:ext cx="266420" cy="523220"/>
          </a:xfrm>
          <a:prstGeom prst="rect">
            <a:avLst/>
          </a:prstGeom>
          <a:noFill/>
        </p:spPr>
        <p:txBody>
          <a:bodyPr wrap="none" rtlCol="0">
            <a:spAutoFit/>
          </a:bodyPr>
          <a:lstStyle/>
          <a:p>
            <a:r>
              <a:rPr lang="en-US" sz="2800" dirty="0"/>
              <a:t> </a:t>
            </a:r>
          </a:p>
        </p:txBody>
      </p:sp>
    </p:spTree>
    <p:extLst>
      <p:ext uri="{BB962C8B-B14F-4D97-AF65-F5344CB8AC3E}">
        <p14:creationId xmlns:p14="http://schemas.microsoft.com/office/powerpoint/2010/main" val="1307337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8640" y="3749138"/>
            <a:ext cx="1502976" cy="461665"/>
          </a:xfrm>
          <a:prstGeom prst="rect">
            <a:avLst/>
          </a:prstGeom>
          <a:noFill/>
        </p:spPr>
        <p:txBody>
          <a:bodyPr wrap="none" rtlCol="0">
            <a:spAutoFit/>
          </a:bodyPr>
          <a:lstStyle/>
          <a:p>
            <a:r>
              <a:rPr lang="en-US" sz="2400" dirty="0"/>
              <a:t>case .. end</a:t>
            </a:r>
          </a:p>
        </p:txBody>
      </p:sp>
      <p:sp>
        <p:nvSpPr>
          <p:cNvPr id="3" name="TextBox 2"/>
          <p:cNvSpPr txBox="1"/>
          <p:nvPr/>
        </p:nvSpPr>
        <p:spPr>
          <a:xfrm>
            <a:off x="723154" y="4195425"/>
            <a:ext cx="10802957" cy="2308324"/>
          </a:xfrm>
          <a:prstGeom prst="rect">
            <a:avLst/>
          </a:prstGeom>
          <a:ln w="38100">
            <a:solidFill>
              <a:srgbClr val="CA142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err="1"/>
              <a:t>prelc</a:t>
            </a:r>
            <a:r>
              <a:rPr lang="en-US" sz="2400" dirty="0"/>
              <a:t>({S,X}) -&gt;  case {S,X} of          </a:t>
            </a:r>
          </a:p>
          <a:p>
            <a:r>
              <a:rPr lang="en-US" sz="2400" dirty="0"/>
              <a:t>                               {"</a:t>
            </a:r>
            <a:r>
              <a:rPr lang="en-US" sz="2400" dirty="0" err="1"/>
              <a:t>pozitiv</a:t>
            </a:r>
            <a:r>
              <a:rPr lang="en-US" sz="2400" dirty="0"/>
              <a:t>", X} when ((X =&lt; 1) and (X &gt;= 0)) -&gt; "</a:t>
            </a:r>
            <a:r>
              <a:rPr lang="en-US" sz="2400" dirty="0" err="1"/>
              <a:t>subunitar</a:t>
            </a:r>
            <a:r>
              <a:rPr lang="en-US" sz="2400" dirty="0"/>
              <a:t>";				</a:t>
            </a:r>
          </a:p>
          <a:p>
            <a:r>
              <a:rPr lang="en-US" sz="2400" dirty="0"/>
              <a:t>                               {"</a:t>
            </a:r>
            <a:r>
              <a:rPr lang="en-US" sz="2400" dirty="0" err="1"/>
              <a:t>pozitiv</a:t>
            </a:r>
            <a:r>
              <a:rPr lang="en-US" sz="2400" dirty="0"/>
              <a:t>",X} when (X&gt;1) -&gt; "</a:t>
            </a:r>
            <a:r>
              <a:rPr lang="en-US" sz="2400" dirty="0" err="1"/>
              <a:t>supraunitar</a:t>
            </a:r>
            <a:r>
              <a:rPr lang="en-US" sz="2400" dirty="0"/>
              <a:t>";	</a:t>
            </a:r>
          </a:p>
          <a:p>
            <a:r>
              <a:rPr lang="en-US" sz="2400" dirty="0"/>
              <a:t>			           {_,X} when (X &gt;= 0) -&gt; "</a:t>
            </a:r>
            <a:r>
              <a:rPr lang="en-US" sz="2400" dirty="0" err="1"/>
              <a:t>pozitiv</a:t>
            </a:r>
            <a:r>
              <a:rPr lang="en-US" sz="2400" dirty="0"/>
              <a:t>";</a:t>
            </a:r>
          </a:p>
          <a:p>
            <a:r>
              <a:rPr lang="en-US" sz="2400" dirty="0"/>
              <a:t>				                                   _ -&gt; "</a:t>
            </a:r>
            <a:r>
              <a:rPr lang="en-US" sz="2400" dirty="0" err="1"/>
              <a:t>negativ</a:t>
            </a:r>
            <a:r>
              <a:rPr lang="en-US" sz="2400" dirty="0"/>
              <a:t>"		</a:t>
            </a:r>
          </a:p>
          <a:p>
            <a:r>
              <a:rPr lang="en-US" sz="2400" dirty="0"/>
              <a:t>                            end.</a:t>
            </a:r>
          </a:p>
        </p:txBody>
      </p:sp>
      <p:sp>
        <p:nvSpPr>
          <p:cNvPr id="4" name="TextBox 3"/>
          <p:cNvSpPr txBox="1"/>
          <p:nvPr/>
        </p:nvSpPr>
        <p:spPr>
          <a:xfrm>
            <a:off x="630763" y="1116598"/>
            <a:ext cx="7338419" cy="2308324"/>
          </a:xfrm>
          <a:prstGeom prst="rect">
            <a:avLst/>
          </a:prstGeom>
          <a:noFill/>
          <a:ln w="38100">
            <a:solidFill>
              <a:srgbClr val="CA1421"/>
            </a:solidFill>
          </a:ln>
        </p:spPr>
        <p:txBody>
          <a:bodyPr wrap="none" rtlCol="0">
            <a:spAutoFit/>
          </a:bodyPr>
          <a:lstStyle/>
          <a:p>
            <a:r>
              <a:rPr lang="en-US" sz="2400" dirty="0" err="1"/>
              <a:t>preli</a:t>
            </a:r>
            <a:r>
              <a:rPr lang="en-US" sz="2400" dirty="0"/>
              <a:t>(X) -&gt;   </a:t>
            </a:r>
          </a:p>
          <a:p>
            <a:r>
              <a:rPr lang="en-US" sz="2400" dirty="0"/>
              <a:t>     </a:t>
            </a:r>
            <a:r>
              <a:rPr lang="en-US" sz="2400" dirty="0" err="1"/>
              <a:t>Rez</a:t>
            </a:r>
            <a:r>
              <a:rPr lang="en-US" sz="2400" dirty="0"/>
              <a:t> = if  ((X =&lt; 1) and (X &gt;= 0)) -&gt; "</a:t>
            </a:r>
            <a:r>
              <a:rPr lang="en-US" sz="2400" dirty="0" err="1"/>
              <a:t>subunitar</a:t>
            </a:r>
            <a:r>
              <a:rPr lang="en-US" sz="2400" dirty="0"/>
              <a:t>";          </a:t>
            </a:r>
          </a:p>
          <a:p>
            <a:r>
              <a:rPr lang="en-US" sz="2400" dirty="0"/>
              <a:t>                                                (X &gt; 1) -&gt; "</a:t>
            </a:r>
            <a:r>
              <a:rPr lang="en-US" sz="2400" dirty="0" err="1"/>
              <a:t>supraunitar</a:t>
            </a:r>
            <a:r>
              <a:rPr lang="en-US" sz="2400" dirty="0"/>
              <a:t>";             </a:t>
            </a:r>
          </a:p>
          <a:p>
            <a:r>
              <a:rPr lang="en-US" sz="2400" dirty="0"/>
              <a:t>                                                     true -&gt; "</a:t>
            </a:r>
            <a:r>
              <a:rPr lang="en-US" sz="2400" dirty="0" err="1"/>
              <a:t>negativ</a:t>
            </a:r>
            <a:r>
              <a:rPr lang="en-US" sz="2400" dirty="0"/>
              <a:t>"	       </a:t>
            </a:r>
          </a:p>
          <a:p>
            <a:r>
              <a:rPr lang="en-US" sz="2400" dirty="0"/>
              <a:t>                end, </a:t>
            </a:r>
          </a:p>
          <a:p>
            <a:r>
              <a:rPr lang="en-US" sz="2400" dirty="0"/>
              <a:t>    {</a:t>
            </a:r>
            <a:r>
              <a:rPr lang="en-US" sz="2400" dirty="0" err="1"/>
              <a:t>X,Rez</a:t>
            </a:r>
            <a:r>
              <a:rPr lang="en-US" sz="2400" dirty="0"/>
              <a:t>}.		</a:t>
            </a:r>
          </a:p>
        </p:txBody>
      </p:sp>
      <p:sp>
        <p:nvSpPr>
          <p:cNvPr id="6" name="TextBox 5"/>
          <p:cNvSpPr txBox="1"/>
          <p:nvPr/>
        </p:nvSpPr>
        <p:spPr>
          <a:xfrm>
            <a:off x="4598638" y="3201937"/>
            <a:ext cx="1525995" cy="461665"/>
          </a:xfrm>
          <a:prstGeom prst="rect">
            <a:avLst/>
          </a:prstGeom>
          <a:solidFill>
            <a:srgbClr val="CA1421"/>
          </a:solidFill>
        </p:spPr>
        <p:txBody>
          <a:bodyPr wrap="none" rtlCol="0">
            <a:spAutoFit/>
          </a:bodyPr>
          <a:lstStyle/>
          <a:p>
            <a:r>
              <a:rPr lang="en-US" sz="2400" dirty="0" err="1">
                <a:solidFill>
                  <a:schemeClr val="bg1"/>
                </a:solidFill>
              </a:rPr>
              <a:t>obligatorie</a:t>
            </a:r>
            <a:endParaRPr lang="en-US" sz="2400" dirty="0">
              <a:solidFill>
                <a:schemeClr val="bg1"/>
              </a:solidFill>
            </a:endParaRPr>
          </a:p>
        </p:txBody>
      </p:sp>
      <p:pic>
        <p:nvPicPr>
          <p:cNvPr id="7" name="Picture 6"/>
          <p:cNvPicPr>
            <a:picLocks noChangeAspect="1"/>
          </p:cNvPicPr>
          <p:nvPr/>
        </p:nvPicPr>
        <p:blipFill>
          <a:blip r:embed="rId2"/>
          <a:stretch>
            <a:fillRect/>
          </a:stretch>
        </p:blipFill>
        <p:spPr>
          <a:xfrm>
            <a:off x="8950798" y="1488091"/>
            <a:ext cx="2437059" cy="1719481"/>
          </a:xfrm>
          <a:prstGeom prst="rect">
            <a:avLst/>
          </a:prstGeom>
          <a:ln>
            <a:solidFill>
              <a:schemeClr val="tx1"/>
            </a:solidFill>
          </a:ln>
        </p:spPr>
      </p:pic>
      <p:sp>
        <p:nvSpPr>
          <p:cNvPr id="8" name="TextBox 7"/>
          <p:cNvSpPr txBox="1"/>
          <p:nvPr/>
        </p:nvSpPr>
        <p:spPr>
          <a:xfrm>
            <a:off x="235157" y="0"/>
            <a:ext cx="3311163" cy="584775"/>
          </a:xfrm>
          <a:prstGeom prst="rect">
            <a:avLst/>
          </a:prstGeom>
          <a:noFill/>
        </p:spPr>
        <p:txBody>
          <a:bodyPr wrap="none" rtlCol="0">
            <a:spAutoFit/>
          </a:bodyPr>
          <a:lstStyle/>
          <a:p>
            <a:r>
              <a:rPr lang="en-US" sz="3200" dirty="0" err="1"/>
              <a:t>Definirea</a:t>
            </a:r>
            <a:r>
              <a:rPr lang="en-US" sz="3200" dirty="0"/>
              <a:t> </a:t>
            </a:r>
            <a:r>
              <a:rPr lang="en-US" sz="3200" dirty="0" err="1"/>
              <a:t>functiilor</a:t>
            </a:r>
            <a:endParaRPr lang="en-US" sz="3200" dirty="0"/>
          </a:p>
        </p:txBody>
      </p:sp>
      <p:cxnSp>
        <p:nvCxnSpPr>
          <p:cNvPr id="10" name="Straight Arrow Connector 9"/>
          <p:cNvCxnSpPr/>
          <p:nvPr/>
        </p:nvCxnSpPr>
        <p:spPr>
          <a:xfrm flipH="1" flipV="1">
            <a:off x="4501503" y="2670114"/>
            <a:ext cx="194270" cy="531823"/>
          </a:xfrm>
          <a:prstGeom prst="straightConnector1">
            <a:avLst/>
          </a:prstGeom>
          <a:ln w="38100">
            <a:solidFill>
              <a:srgbClr val="CA142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84540" y="672052"/>
            <a:ext cx="1119217" cy="461665"/>
          </a:xfrm>
          <a:prstGeom prst="rect">
            <a:avLst/>
          </a:prstGeom>
          <a:noFill/>
        </p:spPr>
        <p:txBody>
          <a:bodyPr wrap="none" rtlCol="0">
            <a:spAutoFit/>
          </a:bodyPr>
          <a:lstStyle/>
          <a:p>
            <a:r>
              <a:rPr lang="en-US" sz="2400" dirty="0"/>
              <a:t>if .. end</a:t>
            </a:r>
          </a:p>
        </p:txBody>
      </p:sp>
    </p:spTree>
    <p:extLst>
      <p:ext uri="{BB962C8B-B14F-4D97-AF65-F5344CB8AC3E}">
        <p14:creationId xmlns:p14="http://schemas.microsoft.com/office/powerpoint/2010/main" val="2524591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45758" y="870707"/>
            <a:ext cx="8307231" cy="5199711"/>
          </a:xfrm>
          <a:prstGeom prst="rect">
            <a:avLst/>
          </a:prstGeom>
        </p:spPr>
        <p:style>
          <a:lnRef idx="2">
            <a:schemeClr val="dk1"/>
          </a:lnRef>
          <a:fillRef idx="1">
            <a:schemeClr val="lt1"/>
          </a:fillRef>
          <a:effectRef idx="0">
            <a:schemeClr val="dk1"/>
          </a:effectRef>
          <a:fontRef idx="minor">
            <a:schemeClr val="dk1"/>
          </a:fontRef>
        </p:style>
      </p:pic>
      <p:sp>
        <p:nvSpPr>
          <p:cNvPr id="5" name="TextBox 4"/>
          <p:cNvSpPr txBox="1"/>
          <p:nvPr/>
        </p:nvSpPr>
        <p:spPr>
          <a:xfrm>
            <a:off x="7045037" y="4094018"/>
            <a:ext cx="4560736" cy="523220"/>
          </a:xfrm>
          <a:prstGeom prst="rect">
            <a:avLst/>
          </a:prstGeom>
          <a:ln w="38100">
            <a:solidFill>
              <a:srgbClr val="CA142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800" dirty="0" err="1"/>
              <a:t>Add_two</a:t>
            </a:r>
            <a:r>
              <a:rPr lang="en-US" sz="2800" dirty="0"/>
              <a:t> = fun(X) -&gt; X+2 end. </a:t>
            </a:r>
          </a:p>
        </p:txBody>
      </p:sp>
      <p:sp>
        <p:nvSpPr>
          <p:cNvPr id="7" name="TextBox 6"/>
          <p:cNvSpPr txBox="1"/>
          <p:nvPr/>
        </p:nvSpPr>
        <p:spPr>
          <a:xfrm>
            <a:off x="7426742" y="3470563"/>
            <a:ext cx="2148345" cy="461665"/>
          </a:xfrm>
          <a:prstGeom prst="rect">
            <a:avLst/>
          </a:prstGeom>
          <a:solidFill>
            <a:srgbClr val="C00000"/>
          </a:solidFill>
        </p:spPr>
        <p:txBody>
          <a:bodyPr wrap="none" rtlCol="0">
            <a:spAutoFit/>
          </a:bodyPr>
          <a:lstStyle/>
          <a:p>
            <a:r>
              <a:rPr lang="en-US" sz="2400" dirty="0" err="1">
                <a:solidFill>
                  <a:schemeClr val="bg1"/>
                </a:solidFill>
              </a:rPr>
              <a:t>functii</a:t>
            </a:r>
            <a:r>
              <a:rPr lang="en-US" sz="2400" dirty="0">
                <a:solidFill>
                  <a:schemeClr val="bg1"/>
                </a:solidFill>
              </a:rPr>
              <a:t> </a:t>
            </a:r>
            <a:r>
              <a:rPr lang="en-US" sz="2400" dirty="0" err="1">
                <a:solidFill>
                  <a:schemeClr val="bg1"/>
                </a:solidFill>
              </a:rPr>
              <a:t>anonime</a:t>
            </a:r>
            <a:endParaRPr lang="en-US" sz="2400" dirty="0">
              <a:solidFill>
                <a:schemeClr val="bg1"/>
              </a:solidFill>
            </a:endParaRPr>
          </a:p>
        </p:txBody>
      </p:sp>
      <p:sp>
        <p:nvSpPr>
          <p:cNvPr id="8" name="TextBox 7"/>
          <p:cNvSpPr txBox="1"/>
          <p:nvPr/>
        </p:nvSpPr>
        <p:spPr>
          <a:xfrm>
            <a:off x="1350818" y="0"/>
            <a:ext cx="3311163" cy="584775"/>
          </a:xfrm>
          <a:prstGeom prst="rect">
            <a:avLst/>
          </a:prstGeom>
          <a:noFill/>
        </p:spPr>
        <p:txBody>
          <a:bodyPr wrap="none" rtlCol="0">
            <a:spAutoFit/>
          </a:bodyPr>
          <a:lstStyle/>
          <a:p>
            <a:r>
              <a:rPr lang="en-US" sz="3200" dirty="0" err="1"/>
              <a:t>Definirea</a:t>
            </a:r>
            <a:r>
              <a:rPr lang="en-US" sz="3200" dirty="0"/>
              <a:t> </a:t>
            </a:r>
            <a:r>
              <a:rPr lang="en-US" sz="3200" dirty="0" err="1"/>
              <a:t>functiilor</a:t>
            </a:r>
            <a:endParaRPr lang="en-US" sz="3200" dirty="0"/>
          </a:p>
        </p:txBody>
      </p:sp>
    </p:spTree>
    <p:extLst>
      <p:ext uri="{BB962C8B-B14F-4D97-AF65-F5344CB8AC3E}">
        <p14:creationId xmlns:p14="http://schemas.microsoft.com/office/powerpoint/2010/main" val="19095305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78044" y="476683"/>
            <a:ext cx="10729430" cy="3949845"/>
          </a:xfrm>
          <a:prstGeom prst="rect">
            <a:avLst/>
          </a:prstGeom>
        </p:spPr>
        <p:style>
          <a:lnRef idx="2">
            <a:schemeClr val="dk1"/>
          </a:lnRef>
          <a:fillRef idx="1">
            <a:schemeClr val="lt1"/>
          </a:fillRef>
          <a:effectRef idx="0">
            <a:schemeClr val="dk1"/>
          </a:effectRef>
          <a:fontRef idx="minor">
            <a:schemeClr val="dk1"/>
          </a:fontRef>
        </p:style>
      </p:pic>
      <p:pic>
        <p:nvPicPr>
          <p:cNvPr id="3" name="Picture 2"/>
          <p:cNvPicPr>
            <a:picLocks noChangeAspect="1"/>
          </p:cNvPicPr>
          <p:nvPr/>
        </p:nvPicPr>
        <p:blipFill>
          <a:blip r:embed="rId3"/>
          <a:stretch>
            <a:fillRect/>
          </a:stretch>
        </p:blipFill>
        <p:spPr>
          <a:xfrm>
            <a:off x="323850" y="4191000"/>
            <a:ext cx="11637818" cy="1939636"/>
          </a:xfrm>
          <a:prstGeom prst="rect">
            <a:avLst/>
          </a:prstGeom>
        </p:spPr>
      </p:pic>
    </p:spTree>
    <p:extLst>
      <p:ext uri="{BB962C8B-B14F-4D97-AF65-F5344CB8AC3E}">
        <p14:creationId xmlns:p14="http://schemas.microsoft.com/office/powerpoint/2010/main" val="33677667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15216" y="1105882"/>
            <a:ext cx="8001101" cy="4524315"/>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400" dirty="0"/>
              <a:t>-module(</a:t>
            </a:r>
            <a:r>
              <a:rPr lang="en-US" sz="2400" dirty="0" err="1"/>
              <a:t>myfact</a:t>
            </a:r>
            <a:r>
              <a:rPr lang="en-US" sz="2400" dirty="0"/>
              <a:t>). </a:t>
            </a:r>
          </a:p>
          <a:p>
            <a:r>
              <a:rPr lang="en-US" sz="2400" dirty="0"/>
              <a:t>-export([run/0]).</a:t>
            </a:r>
          </a:p>
          <a:p>
            <a:endParaRPr lang="en-US" sz="2400" dirty="0"/>
          </a:p>
          <a:p>
            <a:r>
              <a:rPr lang="en-US" sz="2400" dirty="0"/>
              <a:t>factorial(0) -&gt; 1;</a:t>
            </a:r>
          </a:p>
          <a:p>
            <a:r>
              <a:rPr lang="en-US" sz="2400" dirty="0"/>
              <a:t>factorial(N) -&gt; N * factorial(N-1).	 </a:t>
            </a:r>
          </a:p>
          <a:p>
            <a:endParaRPr lang="en-US" sz="2400" dirty="0"/>
          </a:p>
          <a:p>
            <a:r>
              <a:rPr lang="en-US" sz="2400" dirty="0"/>
              <a:t> hello(S,X) -&gt; </a:t>
            </a:r>
            <a:r>
              <a:rPr lang="en-US" sz="2400" dirty="0" err="1"/>
              <a:t>io:format</a:t>
            </a:r>
            <a:r>
              <a:rPr lang="en-US" sz="2400" dirty="0"/>
              <a:t>("Hello ~s, </a:t>
            </a:r>
            <a:r>
              <a:rPr lang="en-US" sz="2400" dirty="0" err="1"/>
              <a:t>factorialul</a:t>
            </a:r>
            <a:r>
              <a:rPr lang="en-US" sz="2400" dirty="0"/>
              <a:t> </a:t>
            </a:r>
            <a:r>
              <a:rPr lang="en-US" sz="2400" dirty="0" err="1"/>
              <a:t>este</a:t>
            </a:r>
            <a:r>
              <a:rPr lang="en-US" sz="2400" dirty="0"/>
              <a:t> ~p!~n",[S,X]). </a:t>
            </a:r>
          </a:p>
          <a:p>
            <a:endParaRPr lang="en-US" sz="2400" dirty="0"/>
          </a:p>
          <a:p>
            <a:r>
              <a:rPr lang="en-US" sz="2400" dirty="0"/>
              <a:t>run() -&gt;   </a:t>
            </a:r>
          </a:p>
          <a:p>
            <a:r>
              <a:rPr lang="en-US" sz="2400" dirty="0"/>
              <a:t>       {ok,[Name]}= </a:t>
            </a:r>
            <a:r>
              <a:rPr lang="en-US" sz="2400" dirty="0" err="1"/>
              <a:t>io:fread</a:t>
            </a:r>
            <a:r>
              <a:rPr lang="en-US" sz="2400" dirty="0"/>
              <a:t>("Your Name:", "~s"),	</a:t>
            </a:r>
          </a:p>
          <a:p>
            <a:r>
              <a:rPr lang="en-US" sz="2400" dirty="0"/>
              <a:t>       {ok,[Val]}= </a:t>
            </a:r>
            <a:r>
              <a:rPr lang="en-US" sz="2400" dirty="0" err="1"/>
              <a:t>io:fread</a:t>
            </a:r>
            <a:r>
              <a:rPr lang="en-US" sz="2400" dirty="0"/>
              <a:t>("Your Number:", "~d"),   	</a:t>
            </a:r>
          </a:p>
          <a:p>
            <a:r>
              <a:rPr lang="en-US" sz="2400" dirty="0"/>
              <a:t>       hello(Name, factorial(Val)).	</a:t>
            </a:r>
          </a:p>
        </p:txBody>
      </p:sp>
      <p:sp>
        <p:nvSpPr>
          <p:cNvPr id="4" name="TextBox 3"/>
          <p:cNvSpPr txBox="1"/>
          <p:nvPr/>
        </p:nvSpPr>
        <p:spPr>
          <a:xfrm>
            <a:off x="3417368" y="578733"/>
            <a:ext cx="1442383" cy="461665"/>
          </a:xfrm>
          <a:prstGeom prst="rect">
            <a:avLst/>
          </a:prstGeom>
          <a:noFill/>
        </p:spPr>
        <p:txBody>
          <a:bodyPr wrap="none" rtlCol="0">
            <a:spAutoFit/>
          </a:bodyPr>
          <a:lstStyle/>
          <a:p>
            <a:r>
              <a:rPr lang="en-US" sz="2400" dirty="0" err="1"/>
              <a:t>myfact.erl</a:t>
            </a:r>
            <a:endParaRPr lang="en-US" sz="2400" dirty="0"/>
          </a:p>
        </p:txBody>
      </p:sp>
    </p:spTree>
    <p:extLst>
      <p:ext uri="{BB962C8B-B14F-4D97-AF65-F5344CB8AC3E}">
        <p14:creationId xmlns:p14="http://schemas.microsoft.com/office/powerpoint/2010/main" val="7888126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C3DE4-08E4-A979-3CB7-410FB5E0DEF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4C8D30C-9059-8BF7-5E86-82023F5B1024}"/>
              </a:ext>
            </a:extLst>
          </p:cNvPr>
          <p:cNvSpPr txBox="1"/>
          <p:nvPr/>
        </p:nvSpPr>
        <p:spPr>
          <a:xfrm>
            <a:off x="1296417" y="740122"/>
            <a:ext cx="6714595" cy="3847207"/>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000" dirty="0"/>
              <a:t>-module(</a:t>
            </a:r>
            <a:r>
              <a:rPr lang="en-US" sz="2000" dirty="0" err="1"/>
              <a:t>myfact</a:t>
            </a:r>
            <a:r>
              <a:rPr lang="en-US" sz="2000" dirty="0"/>
              <a:t>). </a:t>
            </a:r>
          </a:p>
          <a:p>
            <a:r>
              <a:rPr lang="en-US" sz="2000" dirty="0"/>
              <a:t>-export([run/0]).</a:t>
            </a:r>
          </a:p>
          <a:p>
            <a:endParaRPr lang="en-US" sz="2000" dirty="0"/>
          </a:p>
          <a:p>
            <a:r>
              <a:rPr lang="en-US" sz="2000" dirty="0"/>
              <a:t>factorial(0) -&gt; 1;</a:t>
            </a:r>
          </a:p>
          <a:p>
            <a:r>
              <a:rPr lang="en-US" sz="2000" dirty="0"/>
              <a:t>factorial(N) -&gt; N * factorial(N-1).	 </a:t>
            </a:r>
          </a:p>
          <a:p>
            <a:endParaRPr lang="en-US" sz="2000" dirty="0"/>
          </a:p>
          <a:p>
            <a:r>
              <a:rPr lang="en-US" sz="2000" dirty="0"/>
              <a:t> hello(S,X) -&gt; </a:t>
            </a:r>
            <a:r>
              <a:rPr lang="en-US" sz="2000" dirty="0" err="1"/>
              <a:t>io:format</a:t>
            </a:r>
            <a:r>
              <a:rPr lang="en-US" sz="2000" dirty="0"/>
              <a:t>("Hello ~s, </a:t>
            </a:r>
            <a:r>
              <a:rPr lang="en-US" sz="2000" dirty="0" err="1"/>
              <a:t>factorialul</a:t>
            </a:r>
            <a:r>
              <a:rPr lang="en-US" sz="2000" dirty="0"/>
              <a:t> </a:t>
            </a:r>
            <a:r>
              <a:rPr lang="en-US" sz="2000" dirty="0" err="1"/>
              <a:t>este</a:t>
            </a:r>
            <a:r>
              <a:rPr lang="en-US" sz="2000" dirty="0"/>
              <a:t> ~p!~n",[S,X]). </a:t>
            </a:r>
          </a:p>
          <a:p>
            <a:endParaRPr lang="en-US" sz="2000" dirty="0"/>
          </a:p>
          <a:p>
            <a:r>
              <a:rPr lang="en-US" sz="2000" dirty="0"/>
              <a:t>run() -&gt;   </a:t>
            </a:r>
          </a:p>
          <a:p>
            <a:r>
              <a:rPr lang="en-US" sz="2000" dirty="0"/>
              <a:t>       {ok,[Name]}= </a:t>
            </a:r>
            <a:r>
              <a:rPr lang="en-US" sz="2000" dirty="0" err="1"/>
              <a:t>io:fread</a:t>
            </a:r>
            <a:r>
              <a:rPr lang="en-US" sz="2000" dirty="0"/>
              <a:t>("Your Name:", "~s"),	</a:t>
            </a:r>
          </a:p>
          <a:p>
            <a:r>
              <a:rPr lang="en-US" sz="2000" dirty="0"/>
              <a:t>       {ok,[Val]}= </a:t>
            </a:r>
            <a:r>
              <a:rPr lang="en-US" sz="2000" dirty="0" err="1"/>
              <a:t>io:fread</a:t>
            </a:r>
            <a:r>
              <a:rPr lang="en-US" sz="2000" dirty="0"/>
              <a:t>("Your Number:", "~d"),  	</a:t>
            </a:r>
          </a:p>
          <a:p>
            <a:r>
              <a:rPr lang="en-US" sz="2000" dirty="0"/>
              <a:t>       hello(Name, factorial(Val)).</a:t>
            </a:r>
            <a:r>
              <a:rPr lang="en-US" sz="2400" dirty="0"/>
              <a:t>	</a:t>
            </a:r>
          </a:p>
        </p:txBody>
      </p:sp>
      <p:sp>
        <p:nvSpPr>
          <p:cNvPr id="4" name="TextBox 3">
            <a:extLst>
              <a:ext uri="{FF2B5EF4-FFF2-40B4-BE49-F238E27FC236}">
                <a16:creationId xmlns:a16="http://schemas.microsoft.com/office/drawing/2014/main" id="{F8208168-F352-729B-5A03-595C65F5D22E}"/>
              </a:ext>
            </a:extLst>
          </p:cNvPr>
          <p:cNvSpPr txBox="1"/>
          <p:nvPr/>
        </p:nvSpPr>
        <p:spPr>
          <a:xfrm>
            <a:off x="5296968" y="152013"/>
            <a:ext cx="1442383" cy="461665"/>
          </a:xfrm>
          <a:prstGeom prst="rect">
            <a:avLst/>
          </a:prstGeom>
          <a:noFill/>
        </p:spPr>
        <p:txBody>
          <a:bodyPr wrap="none" rtlCol="0">
            <a:spAutoFit/>
          </a:bodyPr>
          <a:lstStyle/>
          <a:p>
            <a:r>
              <a:rPr lang="en-US" sz="2400" dirty="0" err="1"/>
              <a:t>myfact.erl</a:t>
            </a:r>
            <a:endParaRPr lang="en-US" sz="2400" dirty="0"/>
          </a:p>
        </p:txBody>
      </p:sp>
      <p:pic>
        <p:nvPicPr>
          <p:cNvPr id="5" name="Picture 4" descr="A close-up of a number&#10;&#10;AI-generated content may be incorrect.">
            <a:extLst>
              <a:ext uri="{FF2B5EF4-FFF2-40B4-BE49-F238E27FC236}">
                <a16:creationId xmlns:a16="http://schemas.microsoft.com/office/drawing/2014/main" id="{46782682-3C20-339E-62F6-E1F4706DDB61}"/>
              </a:ext>
            </a:extLst>
          </p:cNvPr>
          <p:cNvPicPr>
            <a:picLocks noChangeAspect="1"/>
          </p:cNvPicPr>
          <p:nvPr/>
        </p:nvPicPr>
        <p:blipFill>
          <a:blip r:embed="rId2"/>
          <a:stretch>
            <a:fillRect/>
          </a:stretch>
        </p:blipFill>
        <p:spPr>
          <a:xfrm>
            <a:off x="3819944" y="4438755"/>
            <a:ext cx="7620215" cy="1679123"/>
          </a:xfrm>
          <a:prstGeom prst="rect">
            <a:avLst/>
          </a:prstGeom>
          <a:ln>
            <a:solidFill>
              <a:schemeClr val="tx1"/>
            </a:solidFill>
          </a:ln>
        </p:spPr>
      </p:pic>
    </p:spTree>
    <p:extLst>
      <p:ext uri="{BB962C8B-B14F-4D97-AF65-F5344CB8AC3E}">
        <p14:creationId xmlns:p14="http://schemas.microsoft.com/office/powerpoint/2010/main" val="3791291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90CC9D-2F54-B294-283F-11391FCCCE13}"/>
              </a:ext>
            </a:extLst>
          </p:cNvPr>
          <p:cNvSpPr txBox="1"/>
          <p:nvPr/>
        </p:nvSpPr>
        <p:spPr>
          <a:xfrm>
            <a:off x="3241040" y="2682240"/>
            <a:ext cx="6381299" cy="830997"/>
          </a:xfrm>
          <a:prstGeom prst="rect">
            <a:avLst/>
          </a:prstGeom>
          <a:noFill/>
        </p:spPr>
        <p:txBody>
          <a:bodyPr wrap="none" rtlCol="0">
            <a:spAutoFit/>
          </a:bodyPr>
          <a:lstStyle/>
          <a:p>
            <a:r>
              <a:rPr lang="en-GB" sz="2400" b="1" i="0" dirty="0">
                <a:solidFill>
                  <a:srgbClr val="000000"/>
                </a:solidFill>
                <a:effectLst/>
                <a:latin typeface="Times New Roman" panose="02020603050405020304" pitchFamily="18" charset="0"/>
              </a:rPr>
              <a:t>Erlang-99: 99 Erlang Problems</a:t>
            </a:r>
            <a:endParaRPr lang="en-GB" sz="2400" dirty="0">
              <a:hlinkClick r:id="rId2"/>
            </a:endParaRPr>
          </a:p>
          <a:p>
            <a:r>
              <a:rPr lang="en-GB" sz="2400" dirty="0">
                <a:hlinkClick r:id="rId2"/>
              </a:rPr>
              <a:t>https://purijatin.github.io/newsletters/erlang-99/</a:t>
            </a:r>
            <a:endParaRPr lang="en-GB" sz="2400" dirty="0"/>
          </a:p>
        </p:txBody>
      </p:sp>
    </p:spTree>
    <p:extLst>
      <p:ext uri="{BB962C8B-B14F-4D97-AF65-F5344CB8AC3E}">
        <p14:creationId xmlns:p14="http://schemas.microsoft.com/office/powerpoint/2010/main" val="14245103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3501D8-EE1F-8B29-1911-5FA80D39151B}"/>
              </a:ext>
            </a:extLst>
          </p:cNvPr>
          <p:cNvSpPr txBox="1"/>
          <p:nvPr/>
        </p:nvSpPr>
        <p:spPr>
          <a:xfrm>
            <a:off x="3850640" y="2377440"/>
            <a:ext cx="4075155" cy="646331"/>
          </a:xfrm>
          <a:prstGeom prst="rect">
            <a:avLst/>
          </a:prstGeom>
          <a:noFill/>
        </p:spPr>
        <p:txBody>
          <a:bodyPr wrap="none" rtlCol="0">
            <a:spAutoFit/>
          </a:bodyPr>
          <a:lstStyle/>
          <a:p>
            <a:r>
              <a:rPr lang="en-US" sz="3600" dirty="0" err="1"/>
              <a:t>Concurenta</a:t>
            </a:r>
            <a:r>
              <a:rPr lang="en-US" sz="3600" dirty="0"/>
              <a:t> in Erlang</a:t>
            </a:r>
          </a:p>
        </p:txBody>
      </p:sp>
      <p:sp>
        <p:nvSpPr>
          <p:cNvPr id="3" name="TextBox 2">
            <a:extLst>
              <a:ext uri="{FF2B5EF4-FFF2-40B4-BE49-F238E27FC236}">
                <a16:creationId xmlns:a16="http://schemas.microsoft.com/office/drawing/2014/main" id="{81D1FD48-4725-15EC-7E01-0765E4B7F384}"/>
              </a:ext>
            </a:extLst>
          </p:cNvPr>
          <p:cNvSpPr txBox="1"/>
          <p:nvPr/>
        </p:nvSpPr>
        <p:spPr>
          <a:xfrm>
            <a:off x="2092960" y="3464898"/>
            <a:ext cx="8498032" cy="738664"/>
          </a:xfrm>
          <a:prstGeom prst="rect">
            <a:avLst/>
          </a:prstGeom>
          <a:noFill/>
        </p:spPr>
        <p:txBody>
          <a:bodyPr wrap="none" rtlCol="0">
            <a:spAutoFit/>
          </a:bodyPr>
          <a:lstStyle/>
          <a:p>
            <a:r>
              <a:rPr lang="en-US" sz="2400" dirty="0"/>
              <a:t>Jim Larson, Erlang for Concurrent Programming, ACM Queue, 2008</a:t>
            </a:r>
          </a:p>
          <a:p>
            <a:endParaRPr lang="en-GB" dirty="0"/>
          </a:p>
        </p:txBody>
      </p:sp>
    </p:spTree>
    <p:extLst>
      <p:ext uri="{BB962C8B-B14F-4D97-AF65-F5344CB8AC3E}">
        <p14:creationId xmlns:p14="http://schemas.microsoft.com/office/powerpoint/2010/main" val="4471281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50633" y="962541"/>
            <a:ext cx="5996770" cy="2308324"/>
          </a:xfrm>
          <a:prstGeom prst="rect">
            <a:avLst/>
          </a:prstGeom>
          <a:solidFill>
            <a:srgbClr val="CA1421"/>
          </a:solidFill>
          <a:ln>
            <a:solidFill>
              <a:srgbClr val="CA1421"/>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3600" dirty="0">
                <a:solidFill>
                  <a:schemeClr val="bg1"/>
                </a:solidFill>
              </a:rPr>
              <a:t>CONCURRENCY IN ERLANG</a:t>
            </a:r>
          </a:p>
          <a:p>
            <a:endParaRPr lang="en-US" sz="3600" dirty="0">
              <a:solidFill>
                <a:schemeClr val="bg1"/>
              </a:solidFill>
            </a:endParaRPr>
          </a:p>
          <a:p>
            <a:r>
              <a:rPr lang="en-US" sz="3600" dirty="0">
                <a:solidFill>
                  <a:schemeClr val="bg1"/>
                </a:solidFill>
              </a:rPr>
              <a:t>lightweight processes with </a:t>
            </a:r>
          </a:p>
          <a:p>
            <a:r>
              <a:rPr lang="en-US" sz="3600" dirty="0">
                <a:solidFill>
                  <a:schemeClr val="bg1"/>
                </a:solidFill>
              </a:rPr>
              <a:t>asynchronous message passing</a:t>
            </a:r>
          </a:p>
        </p:txBody>
      </p:sp>
      <p:sp>
        <p:nvSpPr>
          <p:cNvPr id="5" name="TextBox 4"/>
          <p:cNvSpPr txBox="1"/>
          <p:nvPr/>
        </p:nvSpPr>
        <p:spPr>
          <a:xfrm>
            <a:off x="77274" y="3086199"/>
            <a:ext cx="184731"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endParaRPr lang="en-US" dirty="0"/>
          </a:p>
        </p:txBody>
      </p:sp>
      <p:sp>
        <p:nvSpPr>
          <p:cNvPr id="7" name="Rectangle 6"/>
          <p:cNvSpPr/>
          <p:nvPr/>
        </p:nvSpPr>
        <p:spPr>
          <a:xfrm>
            <a:off x="2360249" y="3990713"/>
            <a:ext cx="6917055" cy="1938992"/>
          </a:xfrm>
          <a:prstGeom prst="rect">
            <a:avLst/>
          </a:prstGeom>
        </p:spPr>
        <p:txBody>
          <a:bodyPr wrap="square">
            <a:spAutoFit/>
          </a:bodyPr>
          <a:lstStyle/>
          <a:p>
            <a:r>
              <a:rPr lang="en-US" sz="2400" b="1" dirty="0" err="1"/>
              <a:t>Procesele</a:t>
            </a:r>
            <a:r>
              <a:rPr lang="en-US" sz="2400" b="1" dirty="0"/>
              <a:t> in Erlang:</a:t>
            </a:r>
          </a:p>
          <a:p>
            <a:pPr marL="285750" indent="-285750">
              <a:buFont typeface="Arial" panose="020B0604020202020204" pitchFamily="34" charset="0"/>
              <a:buChar char="•"/>
            </a:pPr>
            <a:r>
              <a:rPr lang="en-US" sz="2400" dirty="0"/>
              <a:t>pot fi create </a:t>
            </a:r>
            <a:r>
              <a:rPr lang="en-US" sz="2400" dirty="0" err="1"/>
              <a:t>si</a:t>
            </a:r>
            <a:r>
              <a:rPr lang="en-US" sz="2400" dirty="0"/>
              <a:t> </a:t>
            </a:r>
            <a:r>
              <a:rPr lang="en-US" sz="2400" dirty="0" err="1"/>
              <a:t>distruse</a:t>
            </a:r>
            <a:r>
              <a:rPr lang="en-US" sz="2400" dirty="0"/>
              <a:t> rapid</a:t>
            </a:r>
          </a:p>
          <a:p>
            <a:pPr marL="285750" indent="-285750">
              <a:buFont typeface="Arial" panose="020B0604020202020204" pitchFamily="34" charset="0"/>
              <a:buChar char="•"/>
            </a:pPr>
            <a:r>
              <a:rPr lang="en-US" sz="2400" dirty="0" err="1"/>
              <a:t>comunica</a:t>
            </a:r>
            <a:r>
              <a:rPr lang="en-US" sz="2400" dirty="0"/>
              <a:t> </a:t>
            </a:r>
            <a:r>
              <a:rPr lang="en-US" sz="2400" dirty="0" err="1"/>
              <a:t>prin</a:t>
            </a:r>
            <a:r>
              <a:rPr lang="en-US" sz="2400" dirty="0"/>
              <a:t> </a:t>
            </a:r>
            <a:r>
              <a:rPr lang="en-US" sz="2400" dirty="0" err="1"/>
              <a:t>mesaje</a:t>
            </a:r>
            <a:r>
              <a:rPr lang="en-US" sz="2400" dirty="0"/>
              <a:t>, </a:t>
            </a:r>
            <a:r>
              <a:rPr lang="en-US" sz="2400" dirty="0" err="1"/>
              <a:t>iar</a:t>
            </a:r>
            <a:r>
              <a:rPr lang="en-US" sz="2400" dirty="0"/>
              <a:t> </a:t>
            </a:r>
            <a:r>
              <a:rPr lang="en-US" sz="2400" dirty="0" err="1"/>
              <a:t>comunicarea</a:t>
            </a:r>
            <a:r>
              <a:rPr lang="en-US" sz="2400" dirty="0"/>
              <a:t> </a:t>
            </a:r>
            <a:r>
              <a:rPr lang="en-US" sz="2400" dirty="0" err="1"/>
              <a:t>este</a:t>
            </a:r>
            <a:r>
              <a:rPr lang="en-US" sz="2400" dirty="0"/>
              <a:t> </a:t>
            </a:r>
            <a:r>
              <a:rPr lang="en-US" sz="2400" dirty="0" err="1"/>
              <a:t>rapida</a:t>
            </a:r>
            <a:endParaRPr lang="en-US" sz="2400" dirty="0"/>
          </a:p>
          <a:p>
            <a:pPr marL="285750" indent="-285750">
              <a:buFont typeface="Arial" panose="020B0604020202020204" pitchFamily="34" charset="0"/>
              <a:buChar char="•"/>
            </a:pPr>
            <a:r>
              <a:rPr lang="en-US" sz="2400" dirty="0" err="1"/>
              <a:t>sunt</a:t>
            </a:r>
            <a:r>
              <a:rPr lang="en-US" sz="2400" dirty="0"/>
              <a:t> </a:t>
            </a:r>
            <a:r>
              <a:rPr lang="en-US" sz="2400" dirty="0" err="1"/>
              <a:t>complet</a:t>
            </a:r>
            <a:r>
              <a:rPr lang="en-US" sz="2400" dirty="0"/>
              <a:t> </a:t>
            </a:r>
            <a:r>
              <a:rPr lang="en-US" sz="2400" dirty="0" err="1"/>
              <a:t>independente</a:t>
            </a:r>
            <a:r>
              <a:rPr lang="en-US" sz="2400" dirty="0"/>
              <a:t> din </a:t>
            </a:r>
            <a:r>
              <a:rPr lang="en-US" sz="2400" dirty="0" err="1"/>
              <a:t>punctul</a:t>
            </a:r>
            <a:r>
              <a:rPr lang="en-US" sz="2400" dirty="0"/>
              <a:t>  de </a:t>
            </a:r>
            <a:r>
              <a:rPr lang="en-US" sz="2400" dirty="0" err="1"/>
              <a:t>vedere</a:t>
            </a:r>
            <a:r>
              <a:rPr lang="en-US" sz="2400" dirty="0"/>
              <a:t> al </a:t>
            </a:r>
            <a:r>
              <a:rPr lang="en-US" sz="2400" dirty="0" err="1"/>
              <a:t>memoriei</a:t>
            </a:r>
            <a:r>
              <a:rPr lang="en-US" sz="2400" dirty="0"/>
              <a:t> </a:t>
            </a:r>
          </a:p>
        </p:txBody>
      </p:sp>
    </p:spTree>
    <p:extLst>
      <p:ext uri="{BB962C8B-B14F-4D97-AF65-F5344CB8AC3E}">
        <p14:creationId xmlns:p14="http://schemas.microsoft.com/office/powerpoint/2010/main" val="22205416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08709" y="3776921"/>
            <a:ext cx="5214697" cy="1754326"/>
          </a:xfrm>
          <a:prstGeom prst="rect">
            <a:avLst/>
          </a:prstGeom>
          <a:ln w="38100">
            <a:solidFill>
              <a:srgbClr val="CA142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-module(</a:t>
            </a:r>
            <a:r>
              <a:rPr lang="en-US" dirty="0" err="1"/>
              <a:t>myconc</a:t>
            </a:r>
            <a:r>
              <a:rPr lang="en-US" dirty="0"/>
              <a:t>). </a:t>
            </a:r>
          </a:p>
          <a:p>
            <a:r>
              <a:rPr lang="en-US" dirty="0"/>
              <a:t>-export([</a:t>
            </a:r>
            <a:r>
              <a:rPr lang="en-US" dirty="0" err="1"/>
              <a:t>prelA</a:t>
            </a:r>
            <a:r>
              <a:rPr lang="en-US" dirty="0"/>
              <a:t>/1).</a:t>
            </a:r>
          </a:p>
          <a:p>
            <a:endParaRPr lang="en-US" dirty="0"/>
          </a:p>
          <a:p>
            <a:r>
              <a:rPr lang="en-US" dirty="0" err="1"/>
              <a:t>prelA</a:t>
            </a:r>
            <a:r>
              <a:rPr lang="en-US" dirty="0"/>
              <a:t>(X) when (X == 0) -&gt; </a:t>
            </a:r>
            <a:r>
              <a:rPr lang="en-US" dirty="0" err="1"/>
              <a:t>io:format</a:t>
            </a:r>
            <a:r>
              <a:rPr lang="en-US" dirty="0"/>
              <a:t>("End A ~n");</a:t>
            </a:r>
          </a:p>
          <a:p>
            <a:r>
              <a:rPr lang="en-US" dirty="0" err="1"/>
              <a:t>prelA</a:t>
            </a:r>
            <a:r>
              <a:rPr lang="en-US" dirty="0"/>
              <a:t>(X) when (X &gt; 0) -&gt; </a:t>
            </a:r>
            <a:r>
              <a:rPr lang="en-US" dirty="0" err="1"/>
              <a:t>io:format</a:t>
            </a:r>
            <a:r>
              <a:rPr lang="en-US" dirty="0"/>
              <a:t>("A ~n"), </a:t>
            </a:r>
            <a:r>
              <a:rPr lang="en-US" dirty="0" err="1"/>
              <a:t>prelA</a:t>
            </a:r>
            <a:r>
              <a:rPr lang="en-US" dirty="0"/>
              <a:t>(X-1);</a:t>
            </a:r>
          </a:p>
          <a:p>
            <a:r>
              <a:rPr lang="en-US" dirty="0" err="1"/>
              <a:t>prelA</a:t>
            </a:r>
            <a:r>
              <a:rPr lang="en-US" dirty="0"/>
              <a:t>(_) -&gt;	</a:t>
            </a:r>
            <a:r>
              <a:rPr lang="en-US" dirty="0" err="1"/>
              <a:t>io:format</a:t>
            </a:r>
            <a:r>
              <a:rPr lang="en-US" dirty="0"/>
              <a:t>("error ~n").</a:t>
            </a:r>
          </a:p>
        </p:txBody>
      </p:sp>
      <p:pic>
        <p:nvPicPr>
          <p:cNvPr id="3" name="Picture 2"/>
          <p:cNvPicPr>
            <a:picLocks noChangeAspect="1"/>
          </p:cNvPicPr>
          <p:nvPr/>
        </p:nvPicPr>
        <p:blipFill>
          <a:blip r:embed="rId2"/>
          <a:stretch>
            <a:fillRect/>
          </a:stretch>
        </p:blipFill>
        <p:spPr>
          <a:xfrm>
            <a:off x="799406" y="3207064"/>
            <a:ext cx="5021448" cy="2894041"/>
          </a:xfrm>
          <a:prstGeom prst="rect">
            <a:avLst/>
          </a:prstGeom>
        </p:spPr>
        <p:style>
          <a:lnRef idx="2">
            <a:schemeClr val="dk1"/>
          </a:lnRef>
          <a:fillRef idx="1">
            <a:schemeClr val="lt1"/>
          </a:fillRef>
          <a:effectRef idx="0">
            <a:schemeClr val="dk1"/>
          </a:effectRef>
          <a:fontRef idx="minor">
            <a:schemeClr val="dk1"/>
          </a:fontRef>
        </p:style>
      </p:pic>
      <p:sp>
        <p:nvSpPr>
          <p:cNvPr id="4" name="TextBox 3"/>
          <p:cNvSpPr txBox="1"/>
          <p:nvPr/>
        </p:nvSpPr>
        <p:spPr>
          <a:xfrm>
            <a:off x="2596395" y="4320991"/>
            <a:ext cx="3046731" cy="369332"/>
          </a:xfrm>
          <a:prstGeom prst="rect">
            <a:avLst/>
          </a:prstGeom>
          <a:ln w="38100">
            <a:solidFill>
              <a:srgbClr val="CA142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Pid</a:t>
            </a:r>
            <a:r>
              <a:rPr lang="en-US" dirty="0"/>
              <a:t>= spawn(</a:t>
            </a:r>
            <a:r>
              <a:rPr lang="en-US" dirty="0" err="1"/>
              <a:t>myconc,prelA</a:t>
            </a:r>
            <a:r>
              <a:rPr lang="en-US" dirty="0"/>
              <a:t>,[5]).</a:t>
            </a:r>
          </a:p>
        </p:txBody>
      </p:sp>
      <p:sp>
        <p:nvSpPr>
          <p:cNvPr id="5" name="TextBox 4"/>
          <p:cNvSpPr txBox="1"/>
          <p:nvPr/>
        </p:nvSpPr>
        <p:spPr>
          <a:xfrm>
            <a:off x="2329356" y="1871132"/>
            <a:ext cx="6111994" cy="1200329"/>
          </a:xfrm>
          <a:prstGeom prst="rect">
            <a:avLst/>
          </a:prstGeom>
          <a:solidFill>
            <a:srgbClr val="CA1421"/>
          </a:solidFill>
        </p:spPr>
        <p:txBody>
          <a:bodyPr wrap="none" rtlCol="0">
            <a:spAutoFit/>
          </a:bodyPr>
          <a:lstStyle/>
          <a:p>
            <a:r>
              <a:rPr lang="en-US" sz="2400" dirty="0">
                <a:solidFill>
                  <a:schemeClr val="bg1"/>
                </a:solidFill>
              </a:rPr>
              <a:t>spawn/3</a:t>
            </a:r>
          </a:p>
          <a:p>
            <a:r>
              <a:rPr lang="en-US" sz="2400" dirty="0">
                <a:solidFill>
                  <a:schemeClr val="bg1"/>
                </a:solidFill>
              </a:rPr>
              <a:t>spawn(</a:t>
            </a:r>
            <a:r>
              <a:rPr lang="en-US" sz="2400" dirty="0" err="1">
                <a:solidFill>
                  <a:schemeClr val="bg1"/>
                </a:solidFill>
              </a:rPr>
              <a:t>modul</a:t>
            </a:r>
            <a:r>
              <a:rPr lang="en-US" sz="2400" dirty="0">
                <a:solidFill>
                  <a:schemeClr val="bg1"/>
                </a:solidFill>
              </a:rPr>
              <a:t>, </a:t>
            </a:r>
            <a:r>
              <a:rPr lang="en-US" sz="2400" dirty="0" err="1">
                <a:solidFill>
                  <a:schemeClr val="bg1"/>
                </a:solidFill>
              </a:rPr>
              <a:t>functie</a:t>
            </a:r>
            <a:r>
              <a:rPr lang="en-US" sz="2400" dirty="0">
                <a:solidFill>
                  <a:schemeClr val="bg1"/>
                </a:solidFill>
              </a:rPr>
              <a:t>, </a:t>
            </a:r>
            <a:r>
              <a:rPr lang="en-US" sz="2400" dirty="0" err="1">
                <a:solidFill>
                  <a:schemeClr val="bg1"/>
                </a:solidFill>
              </a:rPr>
              <a:t>lista</a:t>
            </a:r>
            <a:r>
              <a:rPr lang="en-US" sz="2400" dirty="0">
                <a:solidFill>
                  <a:schemeClr val="bg1"/>
                </a:solidFill>
              </a:rPr>
              <a:t> </a:t>
            </a:r>
            <a:r>
              <a:rPr lang="en-US" sz="2400" dirty="0" err="1">
                <a:solidFill>
                  <a:schemeClr val="bg1"/>
                </a:solidFill>
              </a:rPr>
              <a:t>argumentelor</a:t>
            </a:r>
            <a:r>
              <a:rPr lang="en-US" sz="2400" dirty="0">
                <a:solidFill>
                  <a:schemeClr val="bg1"/>
                </a:solidFill>
              </a:rPr>
              <a:t>)</a:t>
            </a:r>
          </a:p>
          <a:p>
            <a:r>
              <a:rPr lang="en-US" sz="2400" dirty="0" err="1">
                <a:solidFill>
                  <a:schemeClr val="bg1"/>
                </a:solidFill>
              </a:rPr>
              <a:t>Pid</a:t>
            </a:r>
            <a:r>
              <a:rPr lang="en-US" sz="2400" dirty="0">
                <a:solidFill>
                  <a:schemeClr val="bg1"/>
                </a:solidFill>
              </a:rPr>
              <a:t> = spawn(</a:t>
            </a:r>
            <a:r>
              <a:rPr lang="en-US" sz="2400" dirty="0" err="1">
                <a:solidFill>
                  <a:schemeClr val="bg1"/>
                </a:solidFill>
              </a:rPr>
              <a:t>modul</a:t>
            </a:r>
            <a:r>
              <a:rPr lang="en-US" sz="2400" dirty="0">
                <a:solidFill>
                  <a:schemeClr val="bg1"/>
                </a:solidFill>
              </a:rPr>
              <a:t>, </a:t>
            </a:r>
            <a:r>
              <a:rPr lang="en-US" sz="2400" dirty="0" err="1">
                <a:solidFill>
                  <a:schemeClr val="bg1"/>
                </a:solidFill>
              </a:rPr>
              <a:t>functie</a:t>
            </a:r>
            <a:r>
              <a:rPr lang="en-US" sz="2400" dirty="0">
                <a:solidFill>
                  <a:schemeClr val="bg1"/>
                </a:solidFill>
              </a:rPr>
              <a:t>, </a:t>
            </a:r>
            <a:r>
              <a:rPr lang="en-US" sz="2400" dirty="0" err="1">
                <a:solidFill>
                  <a:schemeClr val="bg1"/>
                </a:solidFill>
              </a:rPr>
              <a:t>lista</a:t>
            </a:r>
            <a:r>
              <a:rPr lang="en-US" sz="2400" dirty="0">
                <a:solidFill>
                  <a:schemeClr val="bg1"/>
                </a:solidFill>
              </a:rPr>
              <a:t> </a:t>
            </a:r>
            <a:r>
              <a:rPr lang="en-US" sz="2400" dirty="0" err="1">
                <a:solidFill>
                  <a:schemeClr val="bg1"/>
                </a:solidFill>
              </a:rPr>
              <a:t>argumentelor</a:t>
            </a:r>
            <a:r>
              <a:rPr lang="en-US" sz="2400" dirty="0">
                <a:solidFill>
                  <a:schemeClr val="bg1"/>
                </a:solidFill>
              </a:rPr>
              <a:t>)</a:t>
            </a:r>
          </a:p>
        </p:txBody>
      </p:sp>
      <p:sp>
        <p:nvSpPr>
          <p:cNvPr id="6" name="TextBox 5"/>
          <p:cNvSpPr txBox="1"/>
          <p:nvPr/>
        </p:nvSpPr>
        <p:spPr>
          <a:xfrm>
            <a:off x="806600" y="740167"/>
            <a:ext cx="9548896" cy="707886"/>
          </a:xfrm>
          <a:prstGeom prst="rect">
            <a:avLst/>
          </a:prstGeom>
          <a:noFill/>
        </p:spPr>
        <p:txBody>
          <a:bodyPr wrap="none" rtlCol="0">
            <a:spAutoFit/>
          </a:bodyPr>
          <a:lstStyle/>
          <a:p>
            <a:r>
              <a:rPr lang="en-US" sz="2000" dirty="0" err="1"/>
              <a:t>Functia</a:t>
            </a:r>
            <a:r>
              <a:rPr lang="en-US" sz="2000" dirty="0"/>
              <a:t> </a:t>
            </a:r>
            <a:r>
              <a:rPr lang="en-US" sz="2000" dirty="0">
                <a:solidFill>
                  <a:srgbClr val="CA1421"/>
                </a:solidFill>
              </a:rPr>
              <a:t>spawn</a:t>
            </a:r>
            <a:r>
              <a:rPr lang="en-US" sz="2000" dirty="0"/>
              <a:t> </a:t>
            </a:r>
            <a:r>
              <a:rPr lang="en-US" sz="2000" dirty="0" err="1"/>
              <a:t>creaza</a:t>
            </a:r>
            <a:r>
              <a:rPr lang="en-US" sz="2000" dirty="0"/>
              <a:t> un process care </a:t>
            </a:r>
            <a:r>
              <a:rPr lang="en-US" sz="2000" dirty="0" err="1"/>
              <a:t>este</a:t>
            </a:r>
            <a:r>
              <a:rPr lang="en-US" sz="2000" dirty="0"/>
              <a:t> </a:t>
            </a:r>
            <a:r>
              <a:rPr lang="en-US" sz="2000" dirty="0" err="1"/>
              <a:t>executat</a:t>
            </a:r>
            <a:r>
              <a:rPr lang="en-US" sz="2000" dirty="0"/>
              <a:t> in parallel  cu </a:t>
            </a:r>
            <a:r>
              <a:rPr lang="en-US" sz="2000" dirty="0" err="1"/>
              <a:t>procesul</a:t>
            </a:r>
            <a:r>
              <a:rPr lang="en-US" sz="2000" dirty="0"/>
              <a:t> care l-a </a:t>
            </a:r>
            <a:r>
              <a:rPr lang="en-US" sz="2000" dirty="0" err="1"/>
              <a:t>creat</a:t>
            </a:r>
            <a:r>
              <a:rPr lang="en-US" sz="2000" dirty="0"/>
              <a:t> </a:t>
            </a:r>
            <a:r>
              <a:rPr lang="en-US" sz="2000" dirty="0" err="1"/>
              <a:t>si</a:t>
            </a:r>
            <a:endParaRPr lang="en-US" sz="2000" dirty="0"/>
          </a:p>
          <a:p>
            <a:r>
              <a:rPr lang="en-US" sz="2000" dirty="0" err="1"/>
              <a:t>intoarce</a:t>
            </a:r>
            <a:r>
              <a:rPr lang="en-US" sz="2000" dirty="0"/>
              <a:t> un </a:t>
            </a:r>
            <a:r>
              <a:rPr lang="en-US" sz="2000" b="1" dirty="0" err="1"/>
              <a:t>Pid</a:t>
            </a:r>
            <a:r>
              <a:rPr lang="en-US" sz="2000" dirty="0"/>
              <a:t> (Process Identifier) , care </a:t>
            </a:r>
            <a:r>
              <a:rPr lang="en-US" sz="2000" dirty="0" err="1"/>
              <a:t>este</a:t>
            </a:r>
            <a:r>
              <a:rPr lang="en-US" sz="2000" dirty="0"/>
              <a:t> </a:t>
            </a:r>
            <a:r>
              <a:rPr lang="en-US" sz="2000" dirty="0" err="1"/>
              <a:t>folosit</a:t>
            </a:r>
            <a:r>
              <a:rPr lang="en-US" sz="2000" dirty="0"/>
              <a:t> </a:t>
            </a:r>
            <a:r>
              <a:rPr lang="en-US" sz="2000" dirty="0" err="1"/>
              <a:t>pentru</a:t>
            </a:r>
            <a:r>
              <a:rPr lang="en-US" sz="2000" dirty="0"/>
              <a:t> </a:t>
            </a:r>
            <a:r>
              <a:rPr lang="en-US" sz="2000" dirty="0" err="1"/>
              <a:t>trimiterea</a:t>
            </a:r>
            <a:r>
              <a:rPr lang="en-US" sz="2000" dirty="0"/>
              <a:t> </a:t>
            </a:r>
            <a:r>
              <a:rPr lang="en-US" sz="2000" dirty="0" err="1"/>
              <a:t>mesajelor</a:t>
            </a:r>
            <a:r>
              <a:rPr lang="en-US" sz="2000" dirty="0"/>
              <a:t>. </a:t>
            </a:r>
          </a:p>
        </p:txBody>
      </p:sp>
      <p:sp>
        <p:nvSpPr>
          <p:cNvPr id="7" name="TextBox 6"/>
          <p:cNvSpPr txBox="1"/>
          <p:nvPr/>
        </p:nvSpPr>
        <p:spPr>
          <a:xfrm>
            <a:off x="874628" y="178315"/>
            <a:ext cx="5039200" cy="584775"/>
          </a:xfrm>
          <a:prstGeom prst="rect">
            <a:avLst/>
          </a:prstGeom>
          <a:noFill/>
          <a:ln>
            <a:noFill/>
          </a:ln>
        </p:spPr>
        <p:txBody>
          <a:bodyPr wrap="none" rtlCol="0">
            <a:spAutoFit/>
          </a:bodyPr>
          <a:lstStyle/>
          <a:p>
            <a:pPr marL="285750" indent="-285750">
              <a:buFont typeface="Wingdings" panose="05000000000000000000" pitchFamily="2" charset="2"/>
              <a:buChar char="Ø"/>
            </a:pPr>
            <a:r>
              <a:rPr lang="en-US" sz="3200" dirty="0"/>
              <a:t> </a:t>
            </a:r>
            <a:r>
              <a:rPr lang="en-US" sz="3200" dirty="0" err="1"/>
              <a:t>Crearea</a:t>
            </a:r>
            <a:r>
              <a:rPr lang="en-US" sz="3200" dirty="0"/>
              <a:t> </a:t>
            </a:r>
            <a:r>
              <a:rPr lang="en-US" sz="3200" dirty="0" err="1"/>
              <a:t>proceselor</a:t>
            </a:r>
            <a:r>
              <a:rPr lang="en-US" sz="3200" dirty="0"/>
              <a:t>: </a:t>
            </a:r>
            <a:r>
              <a:rPr lang="en-US" sz="3200" dirty="0">
                <a:solidFill>
                  <a:srgbClr val="CA1421"/>
                </a:solidFill>
              </a:rPr>
              <a:t>spawn</a:t>
            </a:r>
          </a:p>
        </p:txBody>
      </p:sp>
    </p:spTree>
    <p:extLst>
      <p:ext uri="{BB962C8B-B14F-4D97-AF65-F5344CB8AC3E}">
        <p14:creationId xmlns:p14="http://schemas.microsoft.com/office/powerpoint/2010/main" val="8650716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8763" y="1313625"/>
            <a:ext cx="6082832" cy="4792534"/>
          </a:xfrm>
          <a:prstGeom prst="rect">
            <a:avLst/>
          </a:prstGeom>
        </p:spPr>
        <p:style>
          <a:lnRef idx="2">
            <a:schemeClr val="dk1"/>
          </a:lnRef>
          <a:fillRef idx="1">
            <a:schemeClr val="lt1"/>
          </a:fillRef>
          <a:effectRef idx="0">
            <a:schemeClr val="dk1"/>
          </a:effectRef>
          <a:fontRef idx="minor">
            <a:schemeClr val="dk1"/>
          </a:fontRef>
        </p:style>
      </p:pic>
      <p:sp>
        <p:nvSpPr>
          <p:cNvPr id="3" name="TextBox 2"/>
          <p:cNvSpPr txBox="1"/>
          <p:nvPr/>
        </p:nvSpPr>
        <p:spPr>
          <a:xfrm>
            <a:off x="418763" y="581891"/>
            <a:ext cx="5168274" cy="369332"/>
          </a:xfrm>
          <a:prstGeom prst="rect">
            <a:avLst/>
          </a:prstGeom>
          <a:noFill/>
        </p:spPr>
        <p:txBody>
          <a:bodyPr wrap="none" rtlCol="0">
            <a:spAutoFit/>
          </a:bodyPr>
          <a:lstStyle/>
          <a:p>
            <a:r>
              <a:rPr lang="en-US" dirty="0" err="1"/>
              <a:t>Exemplu</a:t>
            </a:r>
            <a:r>
              <a:rPr lang="en-US" dirty="0"/>
              <a:t>: </a:t>
            </a:r>
            <a:r>
              <a:rPr lang="en-US" dirty="0" err="1"/>
              <a:t>doua</a:t>
            </a:r>
            <a:r>
              <a:rPr lang="en-US" dirty="0"/>
              <a:t> </a:t>
            </a:r>
            <a:r>
              <a:rPr lang="en-US" dirty="0" err="1"/>
              <a:t>procese</a:t>
            </a:r>
            <a:r>
              <a:rPr lang="en-US" dirty="0"/>
              <a:t> care </a:t>
            </a:r>
            <a:r>
              <a:rPr lang="en-US" dirty="0" err="1"/>
              <a:t>sunt</a:t>
            </a:r>
            <a:r>
              <a:rPr lang="en-US" dirty="0"/>
              <a:t> </a:t>
            </a:r>
            <a:r>
              <a:rPr lang="en-US" dirty="0" err="1"/>
              <a:t>executate</a:t>
            </a:r>
            <a:r>
              <a:rPr lang="en-US" dirty="0"/>
              <a:t> in </a:t>
            </a:r>
            <a:r>
              <a:rPr lang="en-US" dirty="0" err="1"/>
              <a:t>paralel</a:t>
            </a:r>
            <a:endParaRPr lang="en-US" dirty="0"/>
          </a:p>
        </p:txBody>
      </p:sp>
      <p:sp>
        <p:nvSpPr>
          <p:cNvPr id="4" name="TextBox 3"/>
          <p:cNvSpPr txBox="1"/>
          <p:nvPr/>
        </p:nvSpPr>
        <p:spPr>
          <a:xfrm>
            <a:off x="2322108" y="3164390"/>
            <a:ext cx="2061911"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marL="285750" indent="-285750">
              <a:buFont typeface="Wingdings" panose="05000000000000000000" pitchFamily="2" charset="2"/>
              <a:buChar char="§"/>
            </a:pPr>
            <a:r>
              <a:rPr lang="en-US" dirty="0"/>
              <a:t>interleaving</a:t>
            </a:r>
          </a:p>
          <a:p>
            <a:pPr marL="285750" indent="-285750">
              <a:buFont typeface="Arial" panose="020B0604020202020204" pitchFamily="34" charset="0"/>
              <a:buChar char="•"/>
            </a:pPr>
            <a:r>
              <a:rPr lang="en-US" dirty="0" err="1"/>
              <a:t>executie</a:t>
            </a:r>
            <a:r>
              <a:rPr lang="en-US" dirty="0"/>
              <a:t> </a:t>
            </a:r>
            <a:r>
              <a:rPr lang="en-US" dirty="0" err="1"/>
              <a:t>paralela</a:t>
            </a:r>
            <a:endParaRPr lang="en-US" dirty="0"/>
          </a:p>
        </p:txBody>
      </p:sp>
      <p:sp>
        <p:nvSpPr>
          <p:cNvPr id="8" name="TextBox 7"/>
          <p:cNvSpPr txBox="1"/>
          <p:nvPr/>
        </p:nvSpPr>
        <p:spPr>
          <a:xfrm>
            <a:off x="6624320" y="1313625"/>
            <a:ext cx="5330049" cy="3354765"/>
          </a:xfrm>
          <a:prstGeom prst="rect">
            <a:avLst/>
          </a:prstGeom>
          <a:noFill/>
        </p:spPr>
        <p:txBody>
          <a:bodyPr wrap="none" rtlCol="0">
            <a:spAutoFit/>
          </a:bodyPr>
          <a:lstStyle/>
          <a:p>
            <a:endParaRPr lang="en-US" dirty="0"/>
          </a:p>
          <a:p>
            <a:pPr marL="285750" indent="-285750">
              <a:buFont typeface="Arial" panose="020B0604020202020204" pitchFamily="34" charset="0"/>
              <a:buChar char="•"/>
            </a:pPr>
            <a:r>
              <a:rPr lang="en-US" dirty="0"/>
              <a:t>   Un </a:t>
            </a:r>
            <a:r>
              <a:rPr lang="en-US" dirty="0" err="1"/>
              <a:t>proces</a:t>
            </a:r>
            <a:r>
              <a:rPr lang="en-US" dirty="0"/>
              <a:t> </a:t>
            </a:r>
            <a:r>
              <a:rPr lang="en-US" dirty="0" err="1"/>
              <a:t>este</a:t>
            </a:r>
            <a:r>
              <a:rPr lang="en-US" dirty="0"/>
              <a:t> </a:t>
            </a:r>
            <a:r>
              <a:rPr lang="en-US" dirty="0" err="1"/>
              <a:t>identificat</a:t>
            </a:r>
            <a:r>
              <a:rPr lang="en-US" dirty="0"/>
              <a:t> </a:t>
            </a:r>
            <a:r>
              <a:rPr lang="en-US" dirty="0" err="1"/>
              <a:t>printr</a:t>
            </a:r>
            <a:r>
              <a:rPr lang="en-US" dirty="0"/>
              <a:t>-un </a:t>
            </a:r>
          </a:p>
          <a:p>
            <a:r>
              <a:rPr lang="en-US" b="1" dirty="0"/>
              <a:t>            "process identifier (</a:t>
            </a:r>
            <a:r>
              <a:rPr lang="en-US" b="1" dirty="0" err="1"/>
              <a:t>pid</a:t>
            </a:r>
            <a:r>
              <a:rPr lang="en-US" b="1" dirty="0"/>
              <a:t>)". </a:t>
            </a:r>
          </a:p>
          <a:p>
            <a:r>
              <a:rPr lang="en-US" dirty="0"/>
              <a:t>    </a:t>
            </a:r>
          </a:p>
          <a:p>
            <a:pPr marL="285750" indent="-285750">
              <a:buFont typeface="Arial" panose="020B0604020202020204" pitchFamily="34" charset="0"/>
              <a:buChar char="•"/>
            </a:pPr>
            <a:r>
              <a:rPr lang="en-US" dirty="0"/>
              <a:t>Un </a:t>
            </a:r>
            <a:r>
              <a:rPr lang="en-US" b="1" dirty="0" err="1"/>
              <a:t>pid</a:t>
            </a:r>
            <a:r>
              <a:rPr lang="en-US" dirty="0"/>
              <a:t> </a:t>
            </a:r>
            <a:r>
              <a:rPr lang="en-US" dirty="0" err="1"/>
              <a:t>este</a:t>
            </a:r>
            <a:r>
              <a:rPr lang="en-US" dirty="0"/>
              <a:t> un tip de date in Erlang</a:t>
            </a:r>
          </a:p>
          <a:p>
            <a:r>
              <a:rPr lang="en-US" sz="1400" dirty="0">
                <a:hlinkClick r:id="rId3"/>
              </a:rPr>
              <a:t>https://www.erlang.org/doc/reference_manual/data_types.html#pid</a:t>
            </a:r>
            <a:endParaRPr lang="en-US" sz="1400" dirty="0"/>
          </a:p>
          <a:p>
            <a:endParaRPr lang="en-US" dirty="0"/>
          </a:p>
          <a:p>
            <a:pPr marL="285750" indent="-285750">
              <a:buFont typeface="Arial" panose="020B0604020202020204" pitchFamily="34" charset="0"/>
              <a:buChar char="•"/>
            </a:pPr>
            <a:r>
              <a:rPr lang="en-US" dirty="0"/>
              <a:t>In </a:t>
            </a:r>
            <a:r>
              <a:rPr lang="en-US" dirty="0" err="1"/>
              <a:t>interiorul</a:t>
            </a:r>
            <a:r>
              <a:rPr lang="en-US" dirty="0"/>
              <a:t> </a:t>
            </a:r>
            <a:r>
              <a:rPr lang="en-US" dirty="0" err="1"/>
              <a:t>unui</a:t>
            </a:r>
            <a:r>
              <a:rPr lang="en-US" dirty="0"/>
              <a:t> </a:t>
            </a:r>
            <a:r>
              <a:rPr lang="en-US" dirty="0" err="1"/>
              <a:t>proces</a:t>
            </a:r>
            <a:r>
              <a:rPr lang="en-US" dirty="0"/>
              <a:t>, </a:t>
            </a:r>
            <a:r>
              <a:rPr lang="en-US" dirty="0" err="1"/>
              <a:t>functia</a:t>
            </a:r>
            <a:r>
              <a:rPr lang="en-US" dirty="0"/>
              <a:t> </a:t>
            </a:r>
            <a:r>
              <a:rPr lang="en-US" dirty="0">
                <a:solidFill>
                  <a:srgbClr val="FF0000"/>
                </a:solidFill>
              </a:rPr>
              <a:t>self() </a:t>
            </a:r>
          </a:p>
          <a:p>
            <a:r>
              <a:rPr lang="en-US" dirty="0">
                <a:solidFill>
                  <a:srgbClr val="FF0000"/>
                </a:solidFill>
              </a:rPr>
              <a:t>                                                   </a:t>
            </a:r>
            <a:r>
              <a:rPr lang="en-US" dirty="0" err="1"/>
              <a:t>intoarce</a:t>
            </a:r>
            <a:r>
              <a:rPr lang="en-US" dirty="0"/>
              <a:t> </a:t>
            </a:r>
            <a:r>
              <a:rPr lang="en-US" dirty="0" err="1"/>
              <a:t>pid-ul</a:t>
            </a:r>
            <a:r>
              <a:rPr lang="en-US" dirty="0"/>
              <a:t> </a:t>
            </a:r>
            <a:r>
              <a:rPr lang="en-US" dirty="0" err="1"/>
              <a:t>procesului</a:t>
            </a:r>
            <a:r>
              <a:rPr lang="en-US" dirty="0"/>
              <a:t>.</a:t>
            </a:r>
          </a:p>
          <a:p>
            <a:endParaRPr lang="en-US" dirty="0"/>
          </a:p>
          <a:p>
            <a:pPr marL="285750" indent="-285750">
              <a:buFont typeface="Arial" panose="020B0604020202020204" pitchFamily="34" charset="0"/>
              <a:buChar char="•"/>
            </a:pPr>
            <a:r>
              <a:rPr lang="en-US" dirty="0"/>
              <a:t>In Erlang, shell-</a:t>
            </a:r>
            <a:r>
              <a:rPr lang="en-US" dirty="0" err="1"/>
              <a:t>ul</a:t>
            </a:r>
            <a:r>
              <a:rPr lang="en-US" dirty="0"/>
              <a:t> </a:t>
            </a:r>
            <a:r>
              <a:rPr lang="en-US" dirty="0" err="1"/>
              <a:t>este</a:t>
            </a:r>
            <a:r>
              <a:rPr lang="en-US" dirty="0"/>
              <a:t> un </a:t>
            </a:r>
            <a:r>
              <a:rPr lang="en-US" dirty="0" err="1"/>
              <a:t>proces</a:t>
            </a:r>
            <a:r>
              <a:rPr lang="en-US" dirty="0"/>
              <a:t>.</a:t>
            </a:r>
          </a:p>
          <a:p>
            <a:endParaRPr lang="en-US" dirty="0"/>
          </a:p>
        </p:txBody>
      </p:sp>
      <p:pic>
        <p:nvPicPr>
          <p:cNvPr id="9" name="Picture 8">
            <a:extLst>
              <a:ext uri="{FF2B5EF4-FFF2-40B4-BE49-F238E27FC236}">
                <a16:creationId xmlns:a16="http://schemas.microsoft.com/office/drawing/2014/main" id="{919B6794-588C-82C8-1958-8C03E3E1E877}"/>
              </a:ext>
            </a:extLst>
          </p:cNvPr>
          <p:cNvPicPr>
            <a:picLocks noChangeAspect="1"/>
          </p:cNvPicPr>
          <p:nvPr/>
        </p:nvPicPr>
        <p:blipFill>
          <a:blip r:embed="rId4"/>
          <a:stretch>
            <a:fillRect/>
          </a:stretch>
        </p:blipFill>
        <p:spPr>
          <a:xfrm>
            <a:off x="7326033" y="4813588"/>
            <a:ext cx="3320805" cy="1292571"/>
          </a:xfrm>
          <a:prstGeom prst="rect">
            <a:avLst/>
          </a:prstGeom>
        </p:spPr>
      </p:pic>
    </p:spTree>
    <p:extLst>
      <p:ext uri="{BB962C8B-B14F-4D97-AF65-F5344CB8AC3E}">
        <p14:creationId xmlns:p14="http://schemas.microsoft.com/office/powerpoint/2010/main" val="31159636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02463" y="314383"/>
            <a:ext cx="7964656" cy="5939971"/>
          </a:xfrm>
          <a:prstGeom prst="rect">
            <a:avLst/>
          </a:prstGeom>
        </p:spPr>
        <p:style>
          <a:lnRef idx="2">
            <a:schemeClr val="dk1"/>
          </a:lnRef>
          <a:fillRef idx="1">
            <a:schemeClr val="lt1"/>
          </a:fillRef>
          <a:effectRef idx="0">
            <a:schemeClr val="dk1"/>
          </a:effectRef>
          <a:fontRef idx="minor">
            <a:schemeClr val="dk1"/>
          </a:fontRef>
        </p:style>
      </p:pic>
      <p:sp>
        <p:nvSpPr>
          <p:cNvPr id="2" name="TextBox 1"/>
          <p:cNvSpPr txBox="1"/>
          <p:nvPr/>
        </p:nvSpPr>
        <p:spPr>
          <a:xfrm>
            <a:off x="7818172" y="2830853"/>
            <a:ext cx="3600253" cy="830997"/>
          </a:xfrm>
          <a:prstGeom prst="rect">
            <a:avLst/>
          </a:prstGeom>
          <a:solidFill>
            <a:srgbClr val="C00000"/>
          </a:solidFill>
          <a:ln w="38100">
            <a:solidFill>
              <a:srgbClr val="CA142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solidFill>
                  <a:schemeClr val="bg1"/>
                </a:solidFill>
              </a:rPr>
              <a:t>spawn/1</a:t>
            </a:r>
            <a:r>
              <a:rPr lang="en-US" sz="2400" dirty="0"/>
              <a:t>     </a:t>
            </a:r>
          </a:p>
          <a:p>
            <a:r>
              <a:rPr lang="en-US" sz="2400" dirty="0">
                <a:solidFill>
                  <a:schemeClr val="bg1"/>
                </a:solidFill>
              </a:rPr>
              <a:t>spawn (fun() -&gt; Gt(X) end )</a:t>
            </a:r>
          </a:p>
        </p:txBody>
      </p:sp>
      <p:sp>
        <p:nvSpPr>
          <p:cNvPr id="6" name="TextBox 5"/>
          <p:cNvSpPr txBox="1"/>
          <p:nvPr/>
        </p:nvSpPr>
        <p:spPr>
          <a:xfrm>
            <a:off x="3304309" y="4571999"/>
            <a:ext cx="8001001" cy="461665"/>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err="1"/>
              <a:t>Argumentul</a:t>
            </a:r>
            <a:r>
              <a:rPr lang="en-US" sz="2400" dirty="0"/>
              <a:t> </a:t>
            </a:r>
            <a:r>
              <a:rPr lang="en-US" sz="2400" dirty="0" err="1"/>
              <a:t>lui</a:t>
            </a:r>
            <a:r>
              <a:rPr lang="en-US" sz="2400" dirty="0"/>
              <a:t> </a:t>
            </a:r>
            <a:r>
              <a:rPr lang="en-US" sz="2400" dirty="0">
                <a:solidFill>
                  <a:srgbClr val="CA1421"/>
                </a:solidFill>
              </a:rPr>
              <a:t>spawn</a:t>
            </a:r>
            <a:r>
              <a:rPr lang="en-US" sz="2400" dirty="0"/>
              <a:t> </a:t>
            </a:r>
            <a:r>
              <a:rPr lang="en-US" sz="2400" dirty="0" err="1"/>
              <a:t>este</a:t>
            </a:r>
            <a:r>
              <a:rPr lang="en-US" sz="2400" dirty="0"/>
              <a:t> o </a:t>
            </a:r>
            <a:r>
              <a:rPr lang="en-US" sz="2400" dirty="0" err="1"/>
              <a:t>functie</a:t>
            </a:r>
            <a:r>
              <a:rPr lang="en-US" sz="2400" dirty="0"/>
              <a:t>,  nu un </a:t>
            </a:r>
            <a:r>
              <a:rPr lang="en-US" sz="2400" dirty="0" err="1"/>
              <a:t>apel</a:t>
            </a:r>
            <a:r>
              <a:rPr lang="en-US" sz="2400" dirty="0"/>
              <a:t> de </a:t>
            </a:r>
            <a:r>
              <a:rPr lang="en-US" sz="2400" dirty="0" err="1"/>
              <a:t>functie</a:t>
            </a:r>
            <a:r>
              <a:rPr lang="en-US" sz="2400" dirty="0"/>
              <a:t>.</a:t>
            </a:r>
          </a:p>
        </p:txBody>
      </p:sp>
      <p:sp>
        <p:nvSpPr>
          <p:cNvPr id="4" name="TextBox 3"/>
          <p:cNvSpPr txBox="1"/>
          <p:nvPr/>
        </p:nvSpPr>
        <p:spPr>
          <a:xfrm>
            <a:off x="8484243" y="1006997"/>
            <a:ext cx="3784049" cy="120032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timer:sleep</a:t>
            </a:r>
            <a:r>
              <a:rPr lang="en-US" dirty="0"/>
              <a:t>(10)</a:t>
            </a:r>
          </a:p>
          <a:p>
            <a:r>
              <a:rPr lang="en-US" dirty="0" err="1"/>
              <a:t>suspenda</a:t>
            </a:r>
            <a:r>
              <a:rPr lang="en-US" dirty="0"/>
              <a:t> </a:t>
            </a:r>
            <a:r>
              <a:rPr lang="en-US" dirty="0" err="1"/>
              <a:t>procesul</a:t>
            </a:r>
            <a:r>
              <a:rPr lang="en-US" dirty="0"/>
              <a:t> </a:t>
            </a:r>
            <a:r>
              <a:rPr lang="en-US" dirty="0" err="1"/>
              <a:t>pentru</a:t>
            </a:r>
            <a:r>
              <a:rPr lang="en-US" dirty="0"/>
              <a:t> </a:t>
            </a:r>
          </a:p>
          <a:p>
            <a:r>
              <a:rPr lang="en-US" dirty="0"/>
              <a:t>10 </a:t>
            </a:r>
            <a:r>
              <a:rPr lang="en-US" dirty="0" err="1"/>
              <a:t>milisecunde</a:t>
            </a:r>
            <a:endParaRPr lang="en-US" dirty="0"/>
          </a:p>
          <a:p>
            <a:r>
              <a:rPr lang="en-US" dirty="0">
                <a:hlinkClick r:id="rId3"/>
              </a:rPr>
              <a:t>http://erlang.org/doc/man/timer.html</a:t>
            </a:r>
            <a:endParaRPr lang="en-US" dirty="0"/>
          </a:p>
        </p:txBody>
      </p:sp>
    </p:spTree>
    <p:extLst>
      <p:ext uri="{BB962C8B-B14F-4D97-AF65-F5344CB8AC3E}">
        <p14:creationId xmlns:p14="http://schemas.microsoft.com/office/powerpoint/2010/main" val="575422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97082" y="143232"/>
            <a:ext cx="5913798" cy="646331"/>
          </a:xfrm>
          <a:prstGeom prst="rect">
            <a:avLst/>
          </a:prstGeom>
          <a:noFill/>
        </p:spPr>
        <p:txBody>
          <a:bodyPr wrap="none" rtlCol="0">
            <a:spAutoFit/>
          </a:bodyPr>
          <a:lstStyle/>
          <a:p>
            <a:pPr marL="285750" indent="-285750">
              <a:buFont typeface="Wingdings" panose="05000000000000000000" pitchFamily="2" charset="2"/>
              <a:buChar char="Ø"/>
            </a:pPr>
            <a:r>
              <a:rPr lang="en-US" sz="3200" dirty="0" err="1"/>
              <a:t>Trimiterea</a:t>
            </a:r>
            <a:r>
              <a:rPr lang="en-US" sz="3200" dirty="0"/>
              <a:t> </a:t>
            </a:r>
            <a:r>
              <a:rPr lang="en-US" sz="3200" dirty="0" err="1"/>
              <a:t>mesajelor</a:t>
            </a:r>
            <a:r>
              <a:rPr lang="en-US" sz="3200" dirty="0"/>
              <a:t>:   </a:t>
            </a:r>
            <a:r>
              <a:rPr lang="en-US" sz="3200" b="1" dirty="0" err="1"/>
              <a:t>Pid</a:t>
            </a:r>
            <a:r>
              <a:rPr lang="en-US" sz="3200" dirty="0">
                <a:solidFill>
                  <a:srgbClr val="CA1421"/>
                </a:solidFill>
              </a:rPr>
              <a:t> </a:t>
            </a:r>
            <a:r>
              <a:rPr lang="en-US" sz="3600" b="1" dirty="0">
                <a:solidFill>
                  <a:srgbClr val="CA1421"/>
                </a:solidFill>
              </a:rPr>
              <a:t>!</a:t>
            </a:r>
            <a:r>
              <a:rPr lang="en-US" sz="3200" dirty="0">
                <a:solidFill>
                  <a:srgbClr val="CA1421"/>
                </a:solidFill>
              </a:rPr>
              <a:t> </a:t>
            </a:r>
            <a:r>
              <a:rPr lang="en-US" sz="3200" b="1" dirty="0" err="1"/>
              <a:t>msg</a:t>
            </a:r>
            <a:endParaRPr lang="en-US" sz="3200" b="1" dirty="0"/>
          </a:p>
        </p:txBody>
      </p:sp>
      <p:sp>
        <p:nvSpPr>
          <p:cNvPr id="6" name="TextBox 5"/>
          <p:cNvSpPr txBox="1"/>
          <p:nvPr/>
        </p:nvSpPr>
        <p:spPr>
          <a:xfrm>
            <a:off x="763973" y="783018"/>
            <a:ext cx="10084492" cy="461665"/>
          </a:xfrm>
          <a:prstGeom prst="rect">
            <a:avLst/>
          </a:prstGeom>
          <a:noFill/>
        </p:spPr>
        <p:txBody>
          <a:bodyPr wrap="none" rtlCol="0">
            <a:spAutoFit/>
          </a:bodyPr>
          <a:lstStyle/>
          <a:p>
            <a:r>
              <a:rPr lang="en-US" sz="2400" dirty="0" err="1"/>
              <a:t>Mesajul</a:t>
            </a:r>
            <a:r>
              <a:rPr lang="en-US" sz="2400" dirty="0"/>
              <a:t> </a:t>
            </a:r>
            <a:r>
              <a:rPr lang="en-US" sz="2400" b="1" dirty="0" err="1"/>
              <a:t>msg</a:t>
            </a:r>
            <a:r>
              <a:rPr lang="en-US" sz="2400" dirty="0"/>
              <a:t> </a:t>
            </a:r>
            <a:r>
              <a:rPr lang="en-US" sz="2400" dirty="0" err="1"/>
              <a:t>este</a:t>
            </a:r>
            <a:r>
              <a:rPr lang="en-US" sz="2400" dirty="0"/>
              <a:t> </a:t>
            </a:r>
            <a:r>
              <a:rPr lang="en-US" sz="2400" dirty="0" err="1"/>
              <a:t>trimis</a:t>
            </a:r>
            <a:r>
              <a:rPr lang="en-US" sz="2400" dirty="0"/>
              <a:t> </a:t>
            </a:r>
            <a:r>
              <a:rPr lang="en-US" sz="2400" dirty="0" err="1"/>
              <a:t>procesului</a:t>
            </a:r>
            <a:r>
              <a:rPr lang="en-US" sz="2400" dirty="0"/>
              <a:t> cu id-</a:t>
            </a:r>
            <a:r>
              <a:rPr lang="en-US" sz="2400" dirty="0" err="1"/>
              <a:t>ul</a:t>
            </a:r>
            <a:r>
              <a:rPr lang="en-US" sz="2400" dirty="0"/>
              <a:t> </a:t>
            </a:r>
            <a:r>
              <a:rPr lang="en-US" sz="2400" b="1" dirty="0" err="1"/>
              <a:t>Pid</a:t>
            </a:r>
            <a:r>
              <a:rPr lang="en-US" sz="2400" b="1" dirty="0"/>
              <a:t>.</a:t>
            </a:r>
            <a:r>
              <a:rPr lang="en-US" sz="2400" dirty="0"/>
              <a:t>  </a:t>
            </a:r>
            <a:r>
              <a:rPr lang="en-US" sz="2400" dirty="0" err="1"/>
              <a:t>Mesajul</a:t>
            </a:r>
            <a:r>
              <a:rPr lang="en-US" sz="2400" dirty="0"/>
              <a:t> </a:t>
            </a:r>
            <a:r>
              <a:rPr lang="en-US" sz="2400" dirty="0" err="1"/>
              <a:t>este</a:t>
            </a:r>
            <a:r>
              <a:rPr lang="en-US" sz="2400" dirty="0"/>
              <a:t> un </a:t>
            </a:r>
            <a:r>
              <a:rPr lang="en-US" sz="2400" dirty="0" err="1"/>
              <a:t>termen</a:t>
            </a:r>
            <a:r>
              <a:rPr lang="en-US" sz="2400" dirty="0"/>
              <a:t> </a:t>
            </a:r>
            <a:r>
              <a:rPr lang="en-US" sz="2400" dirty="0" err="1"/>
              <a:t>Erlang</a:t>
            </a:r>
            <a:r>
              <a:rPr lang="en-US" sz="2400" dirty="0"/>
              <a:t>.</a:t>
            </a:r>
            <a:r>
              <a:rPr lang="en-US" sz="2400" b="1" dirty="0"/>
              <a:t> </a:t>
            </a:r>
          </a:p>
        </p:txBody>
      </p:sp>
      <p:pic>
        <p:nvPicPr>
          <p:cNvPr id="8" name="Picture 7">
            <a:extLst>
              <a:ext uri="{FF2B5EF4-FFF2-40B4-BE49-F238E27FC236}">
                <a16:creationId xmlns:a16="http://schemas.microsoft.com/office/drawing/2014/main" id="{E8F99ECE-DC3C-F30C-67E9-FBB7FB0F5663}"/>
              </a:ext>
            </a:extLst>
          </p:cNvPr>
          <p:cNvPicPr>
            <a:picLocks noChangeAspect="1"/>
          </p:cNvPicPr>
          <p:nvPr/>
        </p:nvPicPr>
        <p:blipFill>
          <a:blip r:embed="rId2"/>
          <a:stretch>
            <a:fillRect/>
          </a:stretch>
        </p:blipFill>
        <p:spPr>
          <a:xfrm>
            <a:off x="763973" y="1957669"/>
            <a:ext cx="4681914" cy="3284891"/>
          </a:xfrm>
          <a:prstGeom prst="rect">
            <a:avLst/>
          </a:prstGeom>
        </p:spPr>
        <p:style>
          <a:lnRef idx="2">
            <a:schemeClr val="dk1"/>
          </a:lnRef>
          <a:fillRef idx="1">
            <a:schemeClr val="lt1"/>
          </a:fillRef>
          <a:effectRef idx="0">
            <a:schemeClr val="dk1"/>
          </a:effectRef>
          <a:fontRef idx="minor">
            <a:schemeClr val="dk1"/>
          </a:fontRef>
        </p:style>
      </p:pic>
      <p:sp>
        <p:nvSpPr>
          <p:cNvPr id="10" name="TextBox 9">
            <a:extLst>
              <a:ext uri="{FF2B5EF4-FFF2-40B4-BE49-F238E27FC236}">
                <a16:creationId xmlns:a16="http://schemas.microsoft.com/office/drawing/2014/main" id="{79F1C946-7F20-94B4-94ED-60F4100E0E47}"/>
              </a:ext>
            </a:extLst>
          </p:cNvPr>
          <p:cNvSpPr txBox="1"/>
          <p:nvPr/>
        </p:nvSpPr>
        <p:spPr>
          <a:xfrm>
            <a:off x="5632320" y="4059478"/>
            <a:ext cx="5056000"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flush()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srgbClr val="000000"/>
                </a:solidFill>
                <a:effectLst/>
                <a:uLnTx/>
                <a:uFillTx/>
                <a:latin typeface="Calibri" panose="020F0502020204030204"/>
                <a:ea typeface="+mn-ea"/>
                <a:cs typeface="+mn-cs"/>
              </a:rPr>
              <a:t>elimina</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 </a:t>
            </a:r>
            <a:r>
              <a:rPr kumimoji="0" lang="en-US" sz="2400" b="0" i="0" u="none" strike="noStrike" kern="1200" cap="none" spc="0" normalizeH="0" baseline="0" noProof="0" dirty="0" err="1">
                <a:ln>
                  <a:noFill/>
                </a:ln>
                <a:solidFill>
                  <a:srgbClr val="000000"/>
                </a:solidFill>
                <a:effectLst/>
                <a:uLnTx/>
                <a:uFillTx/>
                <a:latin typeface="Calibri" panose="020F0502020204030204"/>
                <a:ea typeface="+mn-ea"/>
                <a:cs typeface="+mn-cs"/>
              </a:rPr>
              <a:t>mesajele</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 </a:t>
            </a:r>
            <a:r>
              <a:rPr kumimoji="0" lang="en-US" sz="2400" b="0" i="0" u="none" strike="noStrike" kern="1200" cap="none" spc="0" normalizeH="0" baseline="0" noProof="0" dirty="0" err="1">
                <a:ln>
                  <a:noFill/>
                </a:ln>
                <a:solidFill>
                  <a:srgbClr val="000000"/>
                </a:solidFill>
                <a:effectLst/>
                <a:uLnTx/>
                <a:uFillTx/>
                <a:latin typeface="Calibri" panose="020F0502020204030204"/>
                <a:ea typeface="+mn-ea"/>
                <a:cs typeface="+mn-cs"/>
              </a:rPr>
              <a:t>trimise</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 shell-</a:t>
            </a:r>
            <a:r>
              <a:rPr kumimoji="0" lang="en-US" sz="2400" b="0" i="0" u="none" strike="noStrike" kern="1200" cap="none" spc="0" normalizeH="0" baseline="0" noProof="0" dirty="0" err="1">
                <a:ln>
                  <a:noFill/>
                </a:ln>
                <a:solidFill>
                  <a:srgbClr val="000000"/>
                </a:solidFill>
                <a:effectLst/>
                <a:uLnTx/>
                <a:uFillTx/>
                <a:latin typeface="Calibri" panose="020F0502020204030204"/>
                <a:ea typeface="+mn-ea"/>
                <a:cs typeface="+mn-cs"/>
              </a:rPr>
              <a:t>ului</a:t>
            </a:r>
            <a:endPar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DA82025C-E95C-DA0F-6B80-9BAAB6B9C82F}"/>
              </a:ext>
            </a:extLst>
          </p:cNvPr>
          <p:cNvPicPr>
            <a:picLocks noChangeAspect="1"/>
          </p:cNvPicPr>
          <p:nvPr/>
        </p:nvPicPr>
        <p:blipFill>
          <a:blip r:embed="rId3"/>
          <a:stretch>
            <a:fillRect/>
          </a:stretch>
        </p:blipFill>
        <p:spPr>
          <a:xfrm>
            <a:off x="5796059" y="2124124"/>
            <a:ext cx="2854614" cy="1334128"/>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1421491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97082" y="143232"/>
            <a:ext cx="5913798" cy="646331"/>
          </a:xfrm>
          <a:prstGeom prst="rect">
            <a:avLst/>
          </a:prstGeom>
          <a:noFill/>
        </p:spPr>
        <p:txBody>
          <a:bodyPr wrap="none" rtlCol="0">
            <a:spAutoFit/>
          </a:bodyPr>
          <a:lstStyle/>
          <a:p>
            <a:pPr marL="285750" indent="-285750">
              <a:buFont typeface="Wingdings" panose="05000000000000000000" pitchFamily="2" charset="2"/>
              <a:buChar char="Ø"/>
            </a:pPr>
            <a:r>
              <a:rPr lang="en-US" sz="3200" dirty="0" err="1"/>
              <a:t>Trimiterea</a:t>
            </a:r>
            <a:r>
              <a:rPr lang="en-US" sz="3200" dirty="0"/>
              <a:t> </a:t>
            </a:r>
            <a:r>
              <a:rPr lang="en-US" sz="3200" dirty="0" err="1"/>
              <a:t>mesajelor</a:t>
            </a:r>
            <a:r>
              <a:rPr lang="en-US" sz="3200" dirty="0"/>
              <a:t>:   </a:t>
            </a:r>
            <a:r>
              <a:rPr lang="en-US" sz="3200" b="1" dirty="0" err="1"/>
              <a:t>Pid</a:t>
            </a:r>
            <a:r>
              <a:rPr lang="en-US" sz="3200" dirty="0">
                <a:solidFill>
                  <a:srgbClr val="CA1421"/>
                </a:solidFill>
              </a:rPr>
              <a:t> </a:t>
            </a:r>
            <a:r>
              <a:rPr lang="en-US" sz="3600" b="1" dirty="0">
                <a:solidFill>
                  <a:srgbClr val="CA1421"/>
                </a:solidFill>
              </a:rPr>
              <a:t>!</a:t>
            </a:r>
            <a:r>
              <a:rPr lang="en-US" sz="3200" dirty="0">
                <a:solidFill>
                  <a:srgbClr val="CA1421"/>
                </a:solidFill>
              </a:rPr>
              <a:t> </a:t>
            </a:r>
            <a:r>
              <a:rPr lang="en-US" sz="3200" b="1" dirty="0" err="1"/>
              <a:t>msg</a:t>
            </a:r>
            <a:endParaRPr lang="en-US" sz="3200" b="1" dirty="0"/>
          </a:p>
        </p:txBody>
      </p:sp>
      <p:sp>
        <p:nvSpPr>
          <p:cNvPr id="6" name="TextBox 5"/>
          <p:cNvSpPr txBox="1"/>
          <p:nvPr/>
        </p:nvSpPr>
        <p:spPr>
          <a:xfrm>
            <a:off x="763973" y="783018"/>
            <a:ext cx="10084492" cy="461665"/>
          </a:xfrm>
          <a:prstGeom prst="rect">
            <a:avLst/>
          </a:prstGeom>
          <a:noFill/>
        </p:spPr>
        <p:txBody>
          <a:bodyPr wrap="none" rtlCol="0">
            <a:spAutoFit/>
          </a:bodyPr>
          <a:lstStyle/>
          <a:p>
            <a:r>
              <a:rPr lang="en-US" sz="2400" dirty="0" err="1"/>
              <a:t>Mesajul</a:t>
            </a:r>
            <a:r>
              <a:rPr lang="en-US" sz="2400" dirty="0"/>
              <a:t> </a:t>
            </a:r>
            <a:r>
              <a:rPr lang="en-US" sz="2400" b="1" dirty="0" err="1"/>
              <a:t>msg</a:t>
            </a:r>
            <a:r>
              <a:rPr lang="en-US" sz="2400" dirty="0"/>
              <a:t> </a:t>
            </a:r>
            <a:r>
              <a:rPr lang="en-US" sz="2400" dirty="0" err="1"/>
              <a:t>este</a:t>
            </a:r>
            <a:r>
              <a:rPr lang="en-US" sz="2400" dirty="0"/>
              <a:t> </a:t>
            </a:r>
            <a:r>
              <a:rPr lang="en-US" sz="2400" dirty="0" err="1"/>
              <a:t>trimis</a:t>
            </a:r>
            <a:r>
              <a:rPr lang="en-US" sz="2400" dirty="0"/>
              <a:t> </a:t>
            </a:r>
            <a:r>
              <a:rPr lang="en-US" sz="2400" dirty="0" err="1"/>
              <a:t>procesului</a:t>
            </a:r>
            <a:r>
              <a:rPr lang="en-US" sz="2400" dirty="0"/>
              <a:t> cu id-</a:t>
            </a:r>
            <a:r>
              <a:rPr lang="en-US" sz="2400" dirty="0" err="1"/>
              <a:t>ul</a:t>
            </a:r>
            <a:r>
              <a:rPr lang="en-US" sz="2400" dirty="0"/>
              <a:t> </a:t>
            </a:r>
            <a:r>
              <a:rPr lang="en-US" sz="2400" b="1" dirty="0" err="1"/>
              <a:t>Pid</a:t>
            </a:r>
            <a:r>
              <a:rPr lang="en-US" sz="2400" b="1" dirty="0"/>
              <a:t>.</a:t>
            </a:r>
            <a:r>
              <a:rPr lang="en-US" sz="2400" dirty="0"/>
              <a:t>  </a:t>
            </a:r>
            <a:r>
              <a:rPr lang="en-US" sz="2400" dirty="0" err="1"/>
              <a:t>Mesajul</a:t>
            </a:r>
            <a:r>
              <a:rPr lang="en-US" sz="2400" dirty="0"/>
              <a:t> </a:t>
            </a:r>
            <a:r>
              <a:rPr lang="en-US" sz="2400" dirty="0" err="1"/>
              <a:t>este</a:t>
            </a:r>
            <a:r>
              <a:rPr lang="en-US" sz="2400" dirty="0"/>
              <a:t> un </a:t>
            </a:r>
            <a:r>
              <a:rPr lang="en-US" sz="2400" dirty="0" err="1"/>
              <a:t>termen</a:t>
            </a:r>
            <a:r>
              <a:rPr lang="en-US" sz="2400" dirty="0"/>
              <a:t> </a:t>
            </a:r>
            <a:r>
              <a:rPr lang="en-US" sz="2400" dirty="0" err="1"/>
              <a:t>Erlang</a:t>
            </a:r>
            <a:r>
              <a:rPr lang="en-US" sz="2400" dirty="0"/>
              <a:t>.</a:t>
            </a:r>
            <a:r>
              <a:rPr lang="en-US" sz="2400" b="1" dirty="0"/>
              <a:t> </a:t>
            </a:r>
          </a:p>
        </p:txBody>
      </p:sp>
      <p:sp>
        <p:nvSpPr>
          <p:cNvPr id="2" name="TextBox 1">
            <a:extLst>
              <a:ext uri="{FF2B5EF4-FFF2-40B4-BE49-F238E27FC236}">
                <a16:creationId xmlns:a16="http://schemas.microsoft.com/office/drawing/2014/main" id="{73648D2C-73E1-2629-070D-0F00014A4B3E}"/>
              </a:ext>
            </a:extLst>
          </p:cNvPr>
          <p:cNvSpPr txBox="1"/>
          <p:nvPr/>
        </p:nvSpPr>
        <p:spPr>
          <a:xfrm>
            <a:off x="2878773" y="1653636"/>
            <a:ext cx="3485249" cy="46166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GB" sz="2400" b="1" i="0" u="none" strike="noStrike" baseline="0" dirty="0">
                <a:latin typeface="BeraSansMono-Roman"/>
              </a:rPr>
              <a:t>Pid1 ! Pid2 ! </a:t>
            </a:r>
            <a:r>
              <a:rPr lang="en-GB" sz="2400" b="1" i="0" u="none" strike="noStrike" baseline="0" dirty="0">
                <a:latin typeface="CMSY10"/>
              </a:rPr>
              <a:t>   </a:t>
            </a:r>
            <a:r>
              <a:rPr lang="en-GB" sz="2400" b="1" i="0" u="none" strike="noStrike" baseline="0" dirty="0">
                <a:latin typeface="BeraSansMono-Roman"/>
              </a:rPr>
              <a:t>! </a:t>
            </a:r>
            <a:r>
              <a:rPr lang="en-GB" sz="2400" b="1" i="0" u="none" strike="noStrike" baseline="0" dirty="0" err="1">
                <a:latin typeface="BeraSansMono-Roman"/>
              </a:rPr>
              <a:t>Pidn</a:t>
            </a:r>
            <a:r>
              <a:rPr lang="en-GB" sz="2400" b="1" i="0" u="none" strike="noStrike" baseline="0" dirty="0">
                <a:latin typeface="BeraSansMono-Roman"/>
              </a:rPr>
              <a:t> ! </a:t>
            </a:r>
            <a:r>
              <a:rPr lang="en-GB" sz="2400" b="1" dirty="0" err="1">
                <a:latin typeface="BeraSansMono-Roman"/>
              </a:rPr>
              <a:t>msg</a:t>
            </a:r>
            <a:endParaRPr lang="en-GB" sz="2400" b="1" dirty="0"/>
          </a:p>
        </p:txBody>
      </p:sp>
      <p:pic>
        <p:nvPicPr>
          <p:cNvPr id="5" name="Picture 4">
            <a:extLst>
              <a:ext uri="{FF2B5EF4-FFF2-40B4-BE49-F238E27FC236}">
                <a16:creationId xmlns:a16="http://schemas.microsoft.com/office/drawing/2014/main" id="{DE1D538A-ABC9-DF34-31F2-AE6FD0DF7590}"/>
              </a:ext>
            </a:extLst>
          </p:cNvPr>
          <p:cNvPicPr>
            <a:picLocks noChangeAspect="1"/>
          </p:cNvPicPr>
          <p:nvPr/>
        </p:nvPicPr>
        <p:blipFill>
          <a:blip r:embed="rId2"/>
          <a:stretch>
            <a:fillRect/>
          </a:stretch>
        </p:blipFill>
        <p:spPr>
          <a:xfrm>
            <a:off x="2411412" y="2444550"/>
            <a:ext cx="5147627" cy="3630432"/>
          </a:xfrm>
          <a:prstGeom prst="rect">
            <a:avLst/>
          </a:prstGeom>
        </p:spPr>
      </p:pic>
      <p:sp>
        <p:nvSpPr>
          <p:cNvPr id="7" name="TextBox 6">
            <a:extLst>
              <a:ext uri="{FF2B5EF4-FFF2-40B4-BE49-F238E27FC236}">
                <a16:creationId xmlns:a16="http://schemas.microsoft.com/office/drawing/2014/main" id="{3594C945-E15B-E57E-F1F8-76A744223A26}"/>
              </a:ext>
            </a:extLst>
          </p:cNvPr>
          <p:cNvSpPr txBox="1"/>
          <p:nvPr/>
        </p:nvSpPr>
        <p:spPr>
          <a:xfrm>
            <a:off x="7051040" y="4866640"/>
            <a:ext cx="2280176" cy="46166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400" b="1" dirty="0"/>
              <a:t>msg</a:t>
            </a:r>
            <a:r>
              <a:rPr lang="en-US" sz="2400" dirty="0"/>
              <a:t> </a:t>
            </a:r>
            <a:r>
              <a:rPr lang="en-US" sz="2400" dirty="0" err="1"/>
              <a:t>este</a:t>
            </a:r>
            <a:r>
              <a:rPr lang="en-US" sz="2400" dirty="0"/>
              <a:t> </a:t>
            </a:r>
            <a:r>
              <a:rPr lang="en-US" sz="2400" dirty="0" err="1"/>
              <a:t>evaluat</a:t>
            </a:r>
            <a:endParaRPr lang="en-GB" sz="2400" dirty="0"/>
          </a:p>
        </p:txBody>
      </p:sp>
    </p:spTree>
    <p:extLst>
      <p:ext uri="{BB962C8B-B14F-4D97-AF65-F5344CB8AC3E}">
        <p14:creationId xmlns:p14="http://schemas.microsoft.com/office/powerpoint/2010/main" val="19151604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623275" y="3919424"/>
            <a:ext cx="6075205" cy="2308324"/>
          </a:xfrm>
          <a:prstGeom prst="rect">
            <a:avLst/>
          </a:prstGeom>
          <a:ln w="38100">
            <a:solidFill>
              <a:srgbClr val="CA142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2400" dirty="0" err="1"/>
              <a:t>myrec</a:t>
            </a:r>
            <a:r>
              <a:rPr lang="en-US" sz="2400" dirty="0"/>
              <a:t>() -&gt;</a:t>
            </a:r>
          </a:p>
          <a:p>
            <a:r>
              <a:rPr lang="en-US" sz="2400" dirty="0"/>
              <a:t>   receive</a:t>
            </a:r>
          </a:p>
          <a:p>
            <a:r>
              <a:rPr lang="en-US" sz="2400" dirty="0"/>
              <a:t>    {</a:t>
            </a:r>
            <a:r>
              <a:rPr lang="en-US" sz="2400" dirty="0" err="1"/>
              <a:t>do_A</a:t>
            </a:r>
            <a:r>
              <a:rPr lang="en-US" sz="2400" dirty="0"/>
              <a:t>, X} -&gt;  </a:t>
            </a:r>
            <a:r>
              <a:rPr lang="en-US" sz="2400" dirty="0" err="1"/>
              <a:t>prelA</a:t>
            </a:r>
            <a:r>
              <a:rPr lang="en-US" sz="2400" dirty="0"/>
              <a:t>(X); </a:t>
            </a:r>
          </a:p>
          <a:p>
            <a:r>
              <a:rPr lang="en-US" sz="2400" dirty="0"/>
              <a:t>    {</a:t>
            </a:r>
            <a:r>
              <a:rPr lang="en-US" sz="2400" dirty="0" err="1"/>
              <a:t>do_B</a:t>
            </a:r>
            <a:r>
              <a:rPr lang="en-US" sz="2400" dirty="0"/>
              <a:t>, X} -&gt;  </a:t>
            </a:r>
            <a:r>
              <a:rPr lang="en-US" sz="2400" dirty="0" err="1"/>
              <a:t>prelB</a:t>
            </a:r>
            <a:r>
              <a:rPr lang="en-US" sz="2400" dirty="0"/>
              <a:t>(X);</a:t>
            </a:r>
          </a:p>
          <a:p>
            <a:r>
              <a:rPr lang="en-US" sz="2400" dirty="0"/>
              <a:t>                  _ -&gt; </a:t>
            </a:r>
            <a:r>
              <a:rPr lang="en-US" sz="2400" dirty="0" err="1"/>
              <a:t>io:format</a:t>
            </a:r>
            <a:r>
              <a:rPr lang="en-US" sz="2400" dirty="0"/>
              <a:t>("Nothing to do ~n")</a:t>
            </a:r>
          </a:p>
          <a:p>
            <a:r>
              <a:rPr lang="en-US" sz="2400" dirty="0"/>
              <a:t>   end.</a:t>
            </a:r>
          </a:p>
        </p:txBody>
      </p:sp>
      <p:sp>
        <p:nvSpPr>
          <p:cNvPr id="3" name="TextBox 2"/>
          <p:cNvSpPr txBox="1"/>
          <p:nvPr/>
        </p:nvSpPr>
        <p:spPr>
          <a:xfrm>
            <a:off x="897082" y="143232"/>
            <a:ext cx="3830087" cy="584775"/>
          </a:xfrm>
          <a:prstGeom prst="rect">
            <a:avLst/>
          </a:prstGeom>
          <a:noFill/>
        </p:spPr>
        <p:txBody>
          <a:bodyPr wrap="none" rtlCol="0">
            <a:spAutoFit/>
          </a:bodyPr>
          <a:lstStyle/>
          <a:p>
            <a:pPr marL="285750" indent="-285750">
              <a:buFont typeface="Wingdings" panose="05000000000000000000" pitchFamily="2" charset="2"/>
              <a:buChar char="Ø"/>
            </a:pPr>
            <a:r>
              <a:rPr lang="en-US" sz="3200" b="1" dirty="0"/>
              <a:t> </a:t>
            </a:r>
            <a:r>
              <a:rPr lang="en-US" sz="3200" b="1" dirty="0" err="1"/>
              <a:t>Primirea</a:t>
            </a:r>
            <a:r>
              <a:rPr lang="en-US" sz="3200" b="1" dirty="0"/>
              <a:t> </a:t>
            </a:r>
            <a:r>
              <a:rPr lang="en-US" sz="3200" b="1" dirty="0" err="1"/>
              <a:t>mesajelor</a:t>
            </a:r>
            <a:endParaRPr lang="en-US" sz="3200" b="1" dirty="0"/>
          </a:p>
        </p:txBody>
      </p:sp>
      <p:sp>
        <p:nvSpPr>
          <p:cNvPr id="6" name="TextBox 5"/>
          <p:cNvSpPr txBox="1"/>
          <p:nvPr/>
        </p:nvSpPr>
        <p:spPr>
          <a:xfrm>
            <a:off x="763973" y="783018"/>
            <a:ext cx="10084492" cy="461665"/>
          </a:xfrm>
          <a:prstGeom prst="rect">
            <a:avLst/>
          </a:prstGeom>
          <a:noFill/>
        </p:spPr>
        <p:txBody>
          <a:bodyPr wrap="none" rtlCol="0">
            <a:spAutoFit/>
          </a:bodyPr>
          <a:lstStyle/>
          <a:p>
            <a:r>
              <a:rPr lang="en-US" sz="2400" dirty="0" err="1"/>
              <a:t>Mesajul</a:t>
            </a:r>
            <a:r>
              <a:rPr lang="en-US" sz="2400" dirty="0"/>
              <a:t> </a:t>
            </a:r>
            <a:r>
              <a:rPr lang="en-US" sz="2400" b="1" dirty="0" err="1"/>
              <a:t>msg</a:t>
            </a:r>
            <a:r>
              <a:rPr lang="en-US" sz="2400" dirty="0"/>
              <a:t> </a:t>
            </a:r>
            <a:r>
              <a:rPr lang="en-US" sz="2400" dirty="0" err="1"/>
              <a:t>este</a:t>
            </a:r>
            <a:r>
              <a:rPr lang="en-US" sz="2400" dirty="0"/>
              <a:t> </a:t>
            </a:r>
            <a:r>
              <a:rPr lang="en-US" sz="2400" dirty="0" err="1"/>
              <a:t>trimis</a:t>
            </a:r>
            <a:r>
              <a:rPr lang="en-US" sz="2400" dirty="0"/>
              <a:t> </a:t>
            </a:r>
            <a:r>
              <a:rPr lang="en-US" sz="2400" dirty="0" err="1"/>
              <a:t>procesului</a:t>
            </a:r>
            <a:r>
              <a:rPr lang="en-US" sz="2400" dirty="0"/>
              <a:t> cu id-</a:t>
            </a:r>
            <a:r>
              <a:rPr lang="en-US" sz="2400" dirty="0" err="1"/>
              <a:t>ul</a:t>
            </a:r>
            <a:r>
              <a:rPr lang="en-US" sz="2400" dirty="0"/>
              <a:t> </a:t>
            </a:r>
            <a:r>
              <a:rPr lang="en-US" sz="2400" b="1" dirty="0" err="1"/>
              <a:t>Pid</a:t>
            </a:r>
            <a:r>
              <a:rPr lang="en-US" sz="2400" b="1" dirty="0"/>
              <a:t>.</a:t>
            </a:r>
            <a:r>
              <a:rPr lang="en-US" sz="2400" dirty="0"/>
              <a:t>  </a:t>
            </a:r>
            <a:r>
              <a:rPr lang="en-US" sz="2400" dirty="0" err="1"/>
              <a:t>Mesajul</a:t>
            </a:r>
            <a:r>
              <a:rPr lang="en-US" sz="2400" dirty="0"/>
              <a:t> </a:t>
            </a:r>
            <a:r>
              <a:rPr lang="en-US" sz="2400" dirty="0" err="1"/>
              <a:t>este</a:t>
            </a:r>
            <a:r>
              <a:rPr lang="en-US" sz="2400" dirty="0"/>
              <a:t> un </a:t>
            </a:r>
            <a:r>
              <a:rPr lang="en-US" sz="2400" dirty="0" err="1"/>
              <a:t>termen</a:t>
            </a:r>
            <a:r>
              <a:rPr lang="en-US" sz="2400" dirty="0"/>
              <a:t> </a:t>
            </a:r>
            <a:r>
              <a:rPr lang="en-US" sz="2400" dirty="0" err="1"/>
              <a:t>Erlang</a:t>
            </a:r>
            <a:r>
              <a:rPr lang="en-US" sz="2400" dirty="0"/>
              <a:t>.</a:t>
            </a:r>
            <a:r>
              <a:rPr lang="en-US" sz="2400" b="1" dirty="0"/>
              <a:t> </a:t>
            </a:r>
          </a:p>
        </p:txBody>
      </p:sp>
      <p:pic>
        <p:nvPicPr>
          <p:cNvPr id="9" name="Picture 8">
            <a:extLst>
              <a:ext uri="{FF2B5EF4-FFF2-40B4-BE49-F238E27FC236}">
                <a16:creationId xmlns:a16="http://schemas.microsoft.com/office/drawing/2014/main" id="{24A9E51F-C07B-F941-3564-16E9E7D1F1D2}"/>
              </a:ext>
            </a:extLst>
          </p:cNvPr>
          <p:cNvPicPr>
            <a:picLocks noChangeAspect="1"/>
          </p:cNvPicPr>
          <p:nvPr/>
        </p:nvPicPr>
        <p:blipFill>
          <a:blip r:embed="rId2"/>
          <a:stretch>
            <a:fillRect/>
          </a:stretch>
        </p:blipFill>
        <p:spPr>
          <a:xfrm>
            <a:off x="587612" y="1556522"/>
            <a:ext cx="4878710" cy="2249946"/>
          </a:xfrm>
          <a:prstGeom prst="rect">
            <a:avLst/>
          </a:prstGeom>
        </p:spPr>
      </p:pic>
      <p:sp>
        <p:nvSpPr>
          <p:cNvPr id="10" name="TextBox 9">
            <a:extLst>
              <a:ext uri="{FF2B5EF4-FFF2-40B4-BE49-F238E27FC236}">
                <a16:creationId xmlns:a16="http://schemas.microsoft.com/office/drawing/2014/main" id="{4DDBB106-661F-2A10-8070-86CAD8859D5C}"/>
              </a:ext>
            </a:extLst>
          </p:cNvPr>
          <p:cNvSpPr txBox="1"/>
          <p:nvPr/>
        </p:nvSpPr>
        <p:spPr>
          <a:xfrm>
            <a:off x="5643659" y="2123440"/>
            <a:ext cx="4375365"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err="1"/>
              <a:t>procesul</a:t>
            </a:r>
            <a:r>
              <a:rPr lang="en-US" sz="2000" dirty="0"/>
              <a:t> Rec </a:t>
            </a:r>
            <a:r>
              <a:rPr lang="en-US" sz="2000" dirty="0" err="1"/>
              <a:t>primeste</a:t>
            </a:r>
            <a:r>
              <a:rPr lang="en-US" sz="2000" dirty="0"/>
              <a:t> </a:t>
            </a:r>
            <a:r>
              <a:rPr lang="en-US" sz="2000" dirty="0" err="1"/>
              <a:t>mesajul</a:t>
            </a:r>
            <a:r>
              <a:rPr lang="en-US" sz="2000" dirty="0"/>
              <a:t> {</a:t>
            </a:r>
            <a:r>
              <a:rPr lang="en-US" sz="2000" dirty="0" err="1"/>
              <a:t>do_A</a:t>
            </a:r>
            <a:r>
              <a:rPr lang="en-US" sz="2000" dirty="0"/>
              <a:t>, 2}</a:t>
            </a:r>
            <a:endParaRPr lang="en-GB" sz="2000" dirty="0"/>
          </a:p>
        </p:txBody>
      </p:sp>
      <p:cxnSp>
        <p:nvCxnSpPr>
          <p:cNvPr id="12" name="Straight Arrow Connector 11">
            <a:extLst>
              <a:ext uri="{FF2B5EF4-FFF2-40B4-BE49-F238E27FC236}">
                <a16:creationId xmlns:a16="http://schemas.microsoft.com/office/drawing/2014/main" id="{481D9F95-56F3-E3D4-34BC-6B7318AF37E3}"/>
              </a:ext>
            </a:extLst>
          </p:cNvPr>
          <p:cNvCxnSpPr>
            <a:cxnSpLocks/>
            <a:endCxn id="10" idx="1"/>
          </p:cNvCxnSpPr>
          <p:nvPr/>
        </p:nvCxnSpPr>
        <p:spPr>
          <a:xfrm>
            <a:off x="3582199" y="2308106"/>
            <a:ext cx="2061460" cy="1538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8D9C153-E258-808B-41FE-DADA3458D9EE}"/>
              </a:ext>
            </a:extLst>
          </p:cNvPr>
          <p:cNvSpPr txBox="1"/>
          <p:nvPr/>
        </p:nvSpPr>
        <p:spPr>
          <a:xfrm>
            <a:off x="1056640" y="4362059"/>
            <a:ext cx="2915920" cy="101566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000" dirty="0" err="1"/>
              <a:t>raspunsul</a:t>
            </a:r>
            <a:r>
              <a:rPr lang="en-US" sz="2000" dirty="0"/>
              <a:t> </a:t>
            </a:r>
            <a:r>
              <a:rPr lang="en-US" sz="2000" dirty="0" err="1"/>
              <a:t>este</a:t>
            </a:r>
            <a:r>
              <a:rPr lang="en-US" sz="2000" dirty="0"/>
              <a:t> </a:t>
            </a:r>
            <a:r>
              <a:rPr lang="en-US" sz="2000" dirty="0" err="1"/>
              <a:t>definit</a:t>
            </a:r>
            <a:endParaRPr lang="en-US" sz="2000" dirty="0"/>
          </a:p>
          <a:p>
            <a:r>
              <a:rPr lang="en-US" sz="2000" dirty="0"/>
              <a:t>in  </a:t>
            </a:r>
            <a:r>
              <a:rPr lang="en-US" sz="2000" dirty="0" err="1"/>
              <a:t>instructiunea</a:t>
            </a:r>
            <a:r>
              <a:rPr lang="en-US" sz="2000" dirty="0"/>
              <a:t>  </a:t>
            </a:r>
          </a:p>
          <a:p>
            <a:r>
              <a:rPr lang="en-US" sz="2000" b="1" dirty="0"/>
              <a:t>receive … end </a:t>
            </a:r>
            <a:endParaRPr lang="en-GB" sz="2000" b="1" dirty="0"/>
          </a:p>
        </p:txBody>
      </p:sp>
      <p:cxnSp>
        <p:nvCxnSpPr>
          <p:cNvPr id="17" name="Straight Arrow Connector 16">
            <a:extLst>
              <a:ext uri="{FF2B5EF4-FFF2-40B4-BE49-F238E27FC236}">
                <a16:creationId xmlns:a16="http://schemas.microsoft.com/office/drawing/2014/main" id="{65036A72-C769-5FDF-04AA-513E885E4163}"/>
              </a:ext>
            </a:extLst>
          </p:cNvPr>
          <p:cNvCxnSpPr>
            <a:stCxn id="5" idx="1"/>
          </p:cNvCxnSpPr>
          <p:nvPr/>
        </p:nvCxnSpPr>
        <p:spPr>
          <a:xfrm flipH="1">
            <a:off x="3972560" y="5073586"/>
            <a:ext cx="65071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4946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215760" y="1400754"/>
            <a:ext cx="4217963" cy="4437649"/>
          </a:xfrm>
          <a:prstGeom prst="rect">
            <a:avLst/>
          </a:prstGeom>
        </p:spPr>
        <p:style>
          <a:lnRef idx="2">
            <a:schemeClr val="dk1"/>
          </a:lnRef>
          <a:fillRef idx="1">
            <a:schemeClr val="lt1"/>
          </a:fillRef>
          <a:effectRef idx="0">
            <a:schemeClr val="dk1"/>
          </a:effectRef>
          <a:fontRef idx="minor">
            <a:schemeClr val="dk1"/>
          </a:fontRef>
        </p:style>
      </p:pic>
      <p:sp>
        <p:nvSpPr>
          <p:cNvPr id="5" name="Rectangle 4"/>
          <p:cNvSpPr/>
          <p:nvPr/>
        </p:nvSpPr>
        <p:spPr>
          <a:xfrm>
            <a:off x="152875" y="1699805"/>
            <a:ext cx="6781800" cy="2677656"/>
          </a:xfrm>
          <a:prstGeom prst="rect">
            <a:avLst/>
          </a:prstGeom>
          <a:ln w="38100">
            <a:solidFill>
              <a:srgbClr val="CA142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2800" dirty="0" err="1"/>
              <a:t>myrec</a:t>
            </a:r>
            <a:r>
              <a:rPr lang="en-US" sz="2800" dirty="0"/>
              <a:t>() -&gt;</a:t>
            </a:r>
          </a:p>
          <a:p>
            <a:r>
              <a:rPr lang="en-US" sz="2800" dirty="0"/>
              <a:t>   receive</a:t>
            </a:r>
          </a:p>
          <a:p>
            <a:r>
              <a:rPr lang="en-US" sz="2800" dirty="0"/>
              <a:t>    {</a:t>
            </a:r>
            <a:r>
              <a:rPr lang="en-US" sz="2800" dirty="0" err="1"/>
              <a:t>do_A</a:t>
            </a:r>
            <a:r>
              <a:rPr lang="en-US" sz="2800" dirty="0"/>
              <a:t>, X} -&gt;  </a:t>
            </a:r>
            <a:r>
              <a:rPr lang="en-US" sz="2800" dirty="0" err="1"/>
              <a:t>prelA</a:t>
            </a:r>
            <a:r>
              <a:rPr lang="en-US" sz="2800" dirty="0"/>
              <a:t>(X); </a:t>
            </a:r>
          </a:p>
          <a:p>
            <a:r>
              <a:rPr lang="en-US" sz="2800" dirty="0"/>
              <a:t>    {</a:t>
            </a:r>
            <a:r>
              <a:rPr lang="en-US" sz="2800" dirty="0" err="1"/>
              <a:t>do_B</a:t>
            </a:r>
            <a:r>
              <a:rPr lang="en-US" sz="2800" dirty="0"/>
              <a:t>, X} -&gt;  </a:t>
            </a:r>
            <a:r>
              <a:rPr lang="en-US" sz="2800" dirty="0" err="1"/>
              <a:t>prelB</a:t>
            </a:r>
            <a:r>
              <a:rPr lang="en-US" sz="2800" dirty="0"/>
              <a:t>(X);</a:t>
            </a:r>
          </a:p>
          <a:p>
            <a:r>
              <a:rPr lang="en-US" sz="2800" dirty="0"/>
              <a:t>                  _ -&gt; </a:t>
            </a:r>
            <a:r>
              <a:rPr lang="en-US" sz="2800" dirty="0" err="1"/>
              <a:t>io:format</a:t>
            </a:r>
            <a:r>
              <a:rPr lang="en-US" sz="2800" dirty="0"/>
              <a:t>("Nothing to do ~n")</a:t>
            </a:r>
          </a:p>
          <a:p>
            <a:r>
              <a:rPr lang="en-US" sz="2800" dirty="0"/>
              <a:t>   end.</a:t>
            </a:r>
          </a:p>
        </p:txBody>
      </p:sp>
      <p:sp>
        <p:nvSpPr>
          <p:cNvPr id="3" name="TextBox 2"/>
          <p:cNvSpPr txBox="1"/>
          <p:nvPr/>
        </p:nvSpPr>
        <p:spPr>
          <a:xfrm>
            <a:off x="897082" y="143232"/>
            <a:ext cx="3830087" cy="584775"/>
          </a:xfrm>
          <a:prstGeom prst="rect">
            <a:avLst/>
          </a:prstGeom>
          <a:noFill/>
        </p:spPr>
        <p:txBody>
          <a:bodyPr wrap="none" rtlCol="0">
            <a:spAutoFit/>
          </a:bodyPr>
          <a:lstStyle/>
          <a:p>
            <a:pPr marL="285750" indent="-285750">
              <a:buFont typeface="Wingdings" panose="05000000000000000000" pitchFamily="2" charset="2"/>
              <a:buChar char="Ø"/>
            </a:pPr>
            <a:r>
              <a:rPr lang="en-US" sz="3200" b="1" dirty="0"/>
              <a:t> </a:t>
            </a:r>
            <a:r>
              <a:rPr lang="en-US" sz="3200" b="1" dirty="0" err="1"/>
              <a:t>Primirea</a:t>
            </a:r>
            <a:r>
              <a:rPr lang="en-US" sz="3200" b="1" dirty="0"/>
              <a:t> </a:t>
            </a:r>
            <a:r>
              <a:rPr lang="en-US" sz="3200" b="1" dirty="0" err="1"/>
              <a:t>mesajelor</a:t>
            </a:r>
            <a:endParaRPr lang="en-US" sz="3200" b="1" dirty="0"/>
          </a:p>
        </p:txBody>
      </p:sp>
      <p:sp>
        <p:nvSpPr>
          <p:cNvPr id="6" name="TextBox 5"/>
          <p:cNvSpPr txBox="1"/>
          <p:nvPr/>
        </p:nvSpPr>
        <p:spPr>
          <a:xfrm>
            <a:off x="763973" y="783018"/>
            <a:ext cx="10084492" cy="461665"/>
          </a:xfrm>
          <a:prstGeom prst="rect">
            <a:avLst/>
          </a:prstGeom>
          <a:noFill/>
        </p:spPr>
        <p:txBody>
          <a:bodyPr wrap="none" rtlCol="0">
            <a:spAutoFit/>
          </a:bodyPr>
          <a:lstStyle/>
          <a:p>
            <a:r>
              <a:rPr lang="en-US" sz="2400" dirty="0" err="1"/>
              <a:t>Mesajul</a:t>
            </a:r>
            <a:r>
              <a:rPr lang="en-US" sz="2400" dirty="0"/>
              <a:t> </a:t>
            </a:r>
            <a:r>
              <a:rPr lang="en-US" sz="2400" b="1" dirty="0" err="1"/>
              <a:t>msg</a:t>
            </a:r>
            <a:r>
              <a:rPr lang="en-US" sz="2400" dirty="0"/>
              <a:t> </a:t>
            </a:r>
            <a:r>
              <a:rPr lang="en-US" sz="2400" dirty="0" err="1"/>
              <a:t>este</a:t>
            </a:r>
            <a:r>
              <a:rPr lang="en-US" sz="2400" dirty="0"/>
              <a:t> </a:t>
            </a:r>
            <a:r>
              <a:rPr lang="en-US" sz="2400" dirty="0" err="1"/>
              <a:t>trimis</a:t>
            </a:r>
            <a:r>
              <a:rPr lang="en-US" sz="2400" dirty="0"/>
              <a:t> </a:t>
            </a:r>
            <a:r>
              <a:rPr lang="en-US" sz="2400" dirty="0" err="1"/>
              <a:t>procesului</a:t>
            </a:r>
            <a:r>
              <a:rPr lang="en-US" sz="2400" dirty="0"/>
              <a:t> cu id-</a:t>
            </a:r>
            <a:r>
              <a:rPr lang="en-US" sz="2400" dirty="0" err="1"/>
              <a:t>ul</a:t>
            </a:r>
            <a:r>
              <a:rPr lang="en-US" sz="2400" dirty="0"/>
              <a:t> </a:t>
            </a:r>
            <a:r>
              <a:rPr lang="en-US" sz="2400" b="1" dirty="0" err="1"/>
              <a:t>Pid</a:t>
            </a:r>
            <a:r>
              <a:rPr lang="en-US" sz="2400" b="1" dirty="0"/>
              <a:t>.</a:t>
            </a:r>
            <a:r>
              <a:rPr lang="en-US" sz="2400" dirty="0"/>
              <a:t>  </a:t>
            </a:r>
            <a:r>
              <a:rPr lang="en-US" sz="2400" dirty="0" err="1"/>
              <a:t>Mesajul</a:t>
            </a:r>
            <a:r>
              <a:rPr lang="en-US" sz="2400" dirty="0"/>
              <a:t> </a:t>
            </a:r>
            <a:r>
              <a:rPr lang="en-US" sz="2400" dirty="0" err="1"/>
              <a:t>este</a:t>
            </a:r>
            <a:r>
              <a:rPr lang="en-US" sz="2400" dirty="0"/>
              <a:t> un </a:t>
            </a:r>
            <a:r>
              <a:rPr lang="en-US" sz="2400" dirty="0" err="1"/>
              <a:t>termen</a:t>
            </a:r>
            <a:r>
              <a:rPr lang="en-US" sz="2400" dirty="0"/>
              <a:t> </a:t>
            </a:r>
            <a:r>
              <a:rPr lang="en-US" sz="2400" dirty="0" err="1"/>
              <a:t>Erlang</a:t>
            </a:r>
            <a:r>
              <a:rPr lang="en-US" sz="2400" dirty="0"/>
              <a:t>.</a:t>
            </a:r>
            <a:r>
              <a:rPr lang="en-US" sz="2400" b="1" dirty="0"/>
              <a:t> </a:t>
            </a:r>
          </a:p>
        </p:txBody>
      </p:sp>
      <p:pic>
        <p:nvPicPr>
          <p:cNvPr id="4" name="Picture 3"/>
          <p:cNvPicPr>
            <a:picLocks noChangeAspect="1"/>
          </p:cNvPicPr>
          <p:nvPr/>
        </p:nvPicPr>
        <p:blipFill>
          <a:blip r:embed="rId3"/>
          <a:stretch>
            <a:fillRect/>
          </a:stretch>
        </p:blipFill>
        <p:spPr>
          <a:xfrm>
            <a:off x="1097388" y="4676512"/>
            <a:ext cx="4256809" cy="1588809"/>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8142308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7984" y="1433946"/>
            <a:ext cx="5540619" cy="255454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3200" dirty="0"/>
              <a:t>receive</a:t>
            </a:r>
          </a:p>
          <a:p>
            <a:r>
              <a:rPr lang="en-US" sz="3200" dirty="0"/>
              <a:t>Pattern1 when Guard1 -&gt; Expr1;</a:t>
            </a:r>
          </a:p>
          <a:p>
            <a:r>
              <a:rPr lang="en-US" sz="3200" dirty="0"/>
              <a:t>Pattern2 when Guard2 -&gt; Expr2;</a:t>
            </a:r>
          </a:p>
          <a:p>
            <a:r>
              <a:rPr lang="en-US" sz="3200" dirty="0"/>
              <a:t>Pattern3 -&gt; Expr3</a:t>
            </a:r>
          </a:p>
          <a:p>
            <a:r>
              <a:rPr lang="en-US" sz="3200" dirty="0"/>
              <a:t>end</a:t>
            </a:r>
          </a:p>
        </p:txBody>
      </p:sp>
      <p:sp>
        <p:nvSpPr>
          <p:cNvPr id="3" name="TextBox 2"/>
          <p:cNvSpPr txBox="1"/>
          <p:nvPr/>
        </p:nvSpPr>
        <p:spPr>
          <a:xfrm>
            <a:off x="6587836" y="1433946"/>
            <a:ext cx="5629298" cy="3139321"/>
          </a:xfrm>
          <a:prstGeom prst="rect">
            <a:avLst/>
          </a:prstGeom>
          <a:noFill/>
        </p:spPr>
        <p:txBody>
          <a:bodyPr wrap="none" rtlCol="0">
            <a:spAutoFit/>
          </a:bodyPr>
          <a:lstStyle/>
          <a:p>
            <a:pPr marL="342900" indent="-342900">
              <a:buFont typeface="Arial" panose="020B0604020202020204" pitchFamily="34" charset="0"/>
              <a:buChar char="•"/>
            </a:pPr>
            <a:r>
              <a:rPr lang="en-US" sz="2000" dirty="0" err="1"/>
              <a:t>Cand</a:t>
            </a:r>
            <a:r>
              <a:rPr lang="en-US" sz="2000" dirty="0"/>
              <a:t> </a:t>
            </a:r>
            <a:r>
              <a:rPr lang="en-US" sz="2000" dirty="0" err="1"/>
              <a:t>ajunge</a:t>
            </a:r>
            <a:r>
              <a:rPr lang="en-US" sz="2000" dirty="0"/>
              <a:t> la o </a:t>
            </a:r>
            <a:r>
              <a:rPr lang="en-US" sz="2000" dirty="0" err="1"/>
              <a:t>instructiune</a:t>
            </a:r>
            <a:r>
              <a:rPr lang="en-US" sz="2000" dirty="0"/>
              <a:t> </a:t>
            </a:r>
            <a:r>
              <a:rPr lang="en-US" sz="2000" b="1" dirty="0"/>
              <a:t>receive</a:t>
            </a:r>
            <a:r>
              <a:rPr lang="en-US" sz="2000" dirty="0"/>
              <a:t> un </a:t>
            </a:r>
            <a:r>
              <a:rPr lang="en-US" sz="2000" dirty="0" err="1"/>
              <a:t>proces</a:t>
            </a:r>
            <a:endParaRPr lang="en-US" sz="2000" dirty="0"/>
          </a:p>
          <a:p>
            <a:r>
              <a:rPr lang="en-US" sz="2000" dirty="0" err="1"/>
              <a:t>scoate</a:t>
            </a:r>
            <a:r>
              <a:rPr lang="en-US" sz="2000" dirty="0"/>
              <a:t> un </a:t>
            </a:r>
            <a:r>
              <a:rPr lang="en-US" sz="2000" dirty="0" err="1"/>
              <a:t>mesaj</a:t>
            </a:r>
            <a:r>
              <a:rPr lang="en-US" sz="2000" dirty="0"/>
              <a:t> din </a:t>
            </a:r>
            <a:r>
              <a:rPr lang="en-US" sz="2000" dirty="0" err="1"/>
              <a:t>coada</a:t>
            </a:r>
            <a:r>
              <a:rPr lang="en-US" sz="2000" dirty="0"/>
              <a:t> de </a:t>
            </a:r>
            <a:r>
              <a:rPr lang="en-US" sz="2000" dirty="0" err="1"/>
              <a:t>mesaje</a:t>
            </a:r>
            <a:r>
              <a:rPr lang="en-US" sz="2000" dirty="0"/>
              <a:t>  </a:t>
            </a:r>
            <a:r>
              <a:rPr lang="en-US" sz="2000" dirty="0" err="1"/>
              <a:t>si</a:t>
            </a:r>
            <a:r>
              <a:rPr lang="en-US" sz="2000" dirty="0"/>
              <a:t> </a:t>
            </a:r>
            <a:r>
              <a:rPr lang="en-US" sz="2000" dirty="0" err="1"/>
              <a:t>incearca</a:t>
            </a:r>
            <a:r>
              <a:rPr lang="en-US" sz="2000" dirty="0"/>
              <a:t> </a:t>
            </a:r>
            <a:r>
              <a:rPr lang="en-US" sz="2000" dirty="0" err="1"/>
              <a:t>sa</a:t>
            </a:r>
            <a:r>
              <a:rPr lang="en-US" sz="2000" dirty="0"/>
              <a:t> </a:t>
            </a:r>
          </a:p>
          <a:p>
            <a:r>
              <a:rPr lang="en-US" sz="2000" dirty="0"/>
              <a:t>ii </a:t>
            </a:r>
            <a:r>
              <a:rPr lang="en-US" sz="2000" dirty="0" err="1"/>
              <a:t>gaseasca</a:t>
            </a:r>
            <a:r>
              <a:rPr lang="en-US" sz="2000" dirty="0"/>
              <a:t> un </a:t>
            </a:r>
            <a:r>
              <a:rPr lang="en-US" sz="2000" dirty="0" err="1"/>
              <a:t>sablon</a:t>
            </a:r>
            <a:r>
              <a:rPr lang="en-US" sz="2000" dirty="0"/>
              <a:t>.</a:t>
            </a:r>
          </a:p>
          <a:p>
            <a:endParaRPr lang="en-US" sz="2000" dirty="0"/>
          </a:p>
          <a:p>
            <a:pPr marL="342900" indent="-342900">
              <a:buFont typeface="Arial" panose="020B0604020202020204" pitchFamily="34" charset="0"/>
              <a:buChar char="•"/>
            </a:pPr>
            <a:r>
              <a:rPr lang="en-US" sz="2000" dirty="0"/>
              <a:t>Daca </a:t>
            </a:r>
            <a:r>
              <a:rPr lang="en-US" sz="2000" dirty="0" err="1"/>
              <a:t>coada</a:t>
            </a:r>
            <a:r>
              <a:rPr lang="en-US" sz="2000" dirty="0"/>
              <a:t> de </a:t>
            </a:r>
            <a:r>
              <a:rPr lang="en-US" sz="2000" dirty="0" err="1"/>
              <a:t>mesaje</a:t>
            </a:r>
            <a:r>
              <a:rPr lang="en-US" sz="2000" dirty="0"/>
              <a:t> </a:t>
            </a:r>
            <a:r>
              <a:rPr lang="en-US" sz="2000" dirty="0" err="1"/>
              <a:t>este</a:t>
            </a:r>
            <a:r>
              <a:rPr lang="en-US" sz="2000" dirty="0"/>
              <a:t> </a:t>
            </a:r>
            <a:r>
              <a:rPr lang="en-US" sz="2000" dirty="0" err="1"/>
              <a:t>vida</a:t>
            </a:r>
            <a:r>
              <a:rPr lang="en-US" sz="2000" dirty="0"/>
              <a:t>  </a:t>
            </a:r>
            <a:r>
              <a:rPr lang="en-US" sz="2000" dirty="0" err="1"/>
              <a:t>procesul</a:t>
            </a:r>
            <a:r>
              <a:rPr lang="en-US" sz="2000" dirty="0"/>
              <a:t> se </a:t>
            </a:r>
          </a:p>
          <a:p>
            <a:r>
              <a:rPr lang="en-US" sz="2000" dirty="0" err="1"/>
              <a:t>blocheaza</a:t>
            </a:r>
            <a:r>
              <a:rPr lang="en-US" sz="2000" dirty="0"/>
              <a:t> </a:t>
            </a:r>
            <a:r>
              <a:rPr lang="en-US" sz="2000" dirty="0" err="1"/>
              <a:t>si</a:t>
            </a:r>
            <a:r>
              <a:rPr lang="en-US" sz="2000" dirty="0"/>
              <a:t> </a:t>
            </a:r>
            <a:r>
              <a:rPr lang="en-US" sz="2000" dirty="0" err="1"/>
              <a:t>asteapta</a:t>
            </a:r>
            <a:r>
              <a:rPr lang="en-US" sz="2000" dirty="0"/>
              <a:t> un </a:t>
            </a:r>
            <a:r>
              <a:rPr lang="en-US" sz="2000" dirty="0" err="1"/>
              <a:t>mesaj</a:t>
            </a:r>
            <a:r>
              <a:rPr lang="en-US" sz="2000" dirty="0"/>
              <a:t> care se </a:t>
            </a:r>
            <a:r>
              <a:rPr lang="en-US" sz="2000" dirty="0" err="1"/>
              <a:t>potriveste</a:t>
            </a:r>
            <a:endParaRPr lang="en-US" sz="2000" dirty="0"/>
          </a:p>
          <a:p>
            <a:r>
              <a:rPr lang="en-US" sz="2000" dirty="0"/>
              <a:t>cu un </a:t>
            </a:r>
            <a:r>
              <a:rPr lang="en-US" sz="2000" dirty="0" err="1"/>
              <a:t>sablon</a:t>
            </a:r>
            <a:r>
              <a:rPr lang="en-US" sz="2000" dirty="0"/>
              <a:t>.  </a:t>
            </a:r>
          </a:p>
          <a:p>
            <a:endParaRPr lang="en-US" sz="2000" dirty="0"/>
          </a:p>
          <a:p>
            <a:endParaRPr lang="en-US" sz="2000" dirty="0"/>
          </a:p>
          <a:p>
            <a:endParaRPr lang="en-US" dirty="0"/>
          </a:p>
        </p:txBody>
      </p:sp>
      <p:sp>
        <p:nvSpPr>
          <p:cNvPr id="4" name="TextBox 3"/>
          <p:cNvSpPr txBox="1"/>
          <p:nvPr/>
        </p:nvSpPr>
        <p:spPr>
          <a:xfrm>
            <a:off x="477984" y="4765040"/>
            <a:ext cx="10111294" cy="1077218"/>
          </a:xfrm>
          <a:prstGeom prst="rect">
            <a:avLst/>
          </a:prstGeom>
          <a:noFill/>
        </p:spPr>
        <p:txBody>
          <a:bodyPr wrap="none" rtlCol="0">
            <a:spAutoFit/>
          </a:bodyPr>
          <a:lstStyle/>
          <a:p>
            <a:pPr marL="457200" indent="-457200">
              <a:buFont typeface="Arial" panose="020B0604020202020204" pitchFamily="34" charset="0"/>
              <a:buChar char="•"/>
            </a:pPr>
            <a:r>
              <a:rPr lang="en-US" sz="3200" dirty="0" err="1"/>
              <a:t>trimiterea</a:t>
            </a:r>
            <a:r>
              <a:rPr lang="en-US" sz="3200" dirty="0"/>
              <a:t> </a:t>
            </a:r>
            <a:r>
              <a:rPr lang="en-US" sz="3200" dirty="0" err="1"/>
              <a:t>mesajelor</a:t>
            </a:r>
            <a:r>
              <a:rPr lang="en-US" sz="3200" dirty="0"/>
              <a:t> se face </a:t>
            </a:r>
            <a:r>
              <a:rPr lang="en-US" sz="3200" dirty="0" err="1"/>
              <a:t>asincron</a:t>
            </a:r>
            <a:endParaRPr lang="en-US" sz="3200" dirty="0"/>
          </a:p>
          <a:p>
            <a:pPr marL="457200" indent="-457200">
              <a:buFont typeface="Arial" panose="020B0604020202020204" pitchFamily="34" charset="0"/>
              <a:buChar char="•"/>
            </a:pPr>
            <a:r>
              <a:rPr lang="en-US" sz="3200" dirty="0">
                <a:solidFill>
                  <a:srgbClr val="CA1421"/>
                </a:solidFill>
              </a:rPr>
              <a:t>receive </a:t>
            </a:r>
            <a:r>
              <a:rPr lang="en-US" sz="3200" dirty="0" err="1"/>
              <a:t>este</a:t>
            </a:r>
            <a:r>
              <a:rPr lang="en-US" sz="3200" dirty="0"/>
              <a:t> </a:t>
            </a:r>
            <a:r>
              <a:rPr lang="en-US" sz="3200" dirty="0" err="1"/>
              <a:t>singura</a:t>
            </a:r>
            <a:r>
              <a:rPr lang="en-US" sz="3200" dirty="0"/>
              <a:t> </a:t>
            </a:r>
            <a:r>
              <a:rPr lang="en-US" sz="3200" dirty="0" err="1"/>
              <a:t>instructiune</a:t>
            </a:r>
            <a:r>
              <a:rPr lang="en-US" sz="3200" dirty="0"/>
              <a:t> care </a:t>
            </a:r>
            <a:r>
              <a:rPr lang="en-US" sz="3200" dirty="0" err="1"/>
              <a:t>blocheaza</a:t>
            </a:r>
            <a:r>
              <a:rPr lang="en-US" sz="3200" dirty="0"/>
              <a:t> </a:t>
            </a:r>
            <a:r>
              <a:rPr lang="en-US" sz="3200" dirty="0" err="1"/>
              <a:t>procesul</a:t>
            </a:r>
            <a:endParaRPr lang="en-US" sz="3200" dirty="0"/>
          </a:p>
        </p:txBody>
      </p:sp>
      <p:sp>
        <p:nvSpPr>
          <p:cNvPr id="5" name="TextBox 4"/>
          <p:cNvSpPr txBox="1"/>
          <p:nvPr/>
        </p:nvSpPr>
        <p:spPr>
          <a:xfrm>
            <a:off x="477984" y="328816"/>
            <a:ext cx="2999732" cy="584775"/>
          </a:xfrm>
          <a:prstGeom prst="rect">
            <a:avLst/>
          </a:prstGeom>
          <a:noFill/>
        </p:spPr>
        <p:txBody>
          <a:bodyPr wrap="none" rtlCol="0">
            <a:spAutoFit/>
          </a:bodyPr>
          <a:lstStyle/>
          <a:p>
            <a:pPr marL="285750" indent="-285750">
              <a:buFont typeface="Wingdings" panose="05000000000000000000" pitchFamily="2" charset="2"/>
              <a:buChar char="Ø"/>
            </a:pPr>
            <a:r>
              <a:rPr lang="en-US" sz="3200" dirty="0">
                <a:solidFill>
                  <a:srgbClr val="C00000"/>
                </a:solidFill>
              </a:rPr>
              <a:t> receive … end </a:t>
            </a:r>
          </a:p>
        </p:txBody>
      </p:sp>
    </p:spTree>
    <p:extLst>
      <p:ext uri="{BB962C8B-B14F-4D97-AF65-F5344CB8AC3E}">
        <p14:creationId xmlns:p14="http://schemas.microsoft.com/office/powerpoint/2010/main" val="8593587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0998" y="901557"/>
            <a:ext cx="6934201" cy="3046988"/>
          </a:xfrm>
          <a:prstGeom prst="rect">
            <a:avLst/>
          </a:prstGeom>
          <a:ln w="38100">
            <a:solidFill>
              <a:srgbClr val="CA142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2400" dirty="0" err="1"/>
              <a:t>myreceiver</a:t>
            </a:r>
            <a:r>
              <a:rPr lang="en-US" sz="2400" dirty="0"/>
              <a:t>() -&gt;</a:t>
            </a:r>
          </a:p>
          <a:p>
            <a:r>
              <a:rPr lang="en-US" sz="2400" dirty="0"/>
              <a:t>   receive</a:t>
            </a:r>
          </a:p>
          <a:p>
            <a:r>
              <a:rPr lang="en-US" sz="2400" dirty="0"/>
              <a:t>   {From, {</a:t>
            </a:r>
            <a:r>
              <a:rPr lang="en-US" sz="2400" dirty="0" err="1"/>
              <a:t>do_A</a:t>
            </a:r>
            <a:r>
              <a:rPr lang="en-US" sz="2400" dirty="0"/>
              <a:t>, X}} -&gt; From ! "Thanks! I do A!",</a:t>
            </a:r>
          </a:p>
          <a:p>
            <a:r>
              <a:rPr lang="en-US" sz="2400" dirty="0"/>
              <a:t>                                        </a:t>
            </a:r>
            <a:r>
              <a:rPr lang="en-US" sz="2400" dirty="0" err="1"/>
              <a:t>prelA</a:t>
            </a:r>
            <a:r>
              <a:rPr lang="en-US" sz="2400" dirty="0"/>
              <a:t>(X); </a:t>
            </a:r>
          </a:p>
          <a:p>
            <a:r>
              <a:rPr lang="en-US" sz="2400" dirty="0"/>
              <a:t>   {From, {</a:t>
            </a:r>
            <a:r>
              <a:rPr lang="en-US" sz="2400" dirty="0" err="1"/>
              <a:t>do_B</a:t>
            </a:r>
            <a:r>
              <a:rPr lang="en-US" sz="2400" dirty="0"/>
              <a:t>, X}} -&gt; From! "Thanks! I do B!",</a:t>
            </a:r>
          </a:p>
          <a:p>
            <a:r>
              <a:rPr lang="en-US" sz="2400" dirty="0"/>
              <a:t>                                        </a:t>
            </a:r>
            <a:r>
              <a:rPr lang="en-US" sz="2400" dirty="0" err="1"/>
              <a:t>prelB</a:t>
            </a:r>
            <a:r>
              <a:rPr lang="en-US" sz="2400" dirty="0"/>
              <a:t>(X);</a:t>
            </a:r>
          </a:p>
          <a:p>
            <a:r>
              <a:rPr lang="en-US" sz="2400" dirty="0"/>
              <a:t>         _    -&gt; </a:t>
            </a:r>
            <a:r>
              <a:rPr lang="en-US" sz="2400" dirty="0" err="1"/>
              <a:t>io:format</a:t>
            </a:r>
            <a:r>
              <a:rPr lang="en-US" sz="2400" dirty="0"/>
              <a:t>("Nothing to do ~n")</a:t>
            </a:r>
          </a:p>
          <a:p>
            <a:r>
              <a:rPr lang="en-US" sz="2400" dirty="0"/>
              <a:t>   end.</a:t>
            </a:r>
          </a:p>
        </p:txBody>
      </p:sp>
      <p:pic>
        <p:nvPicPr>
          <p:cNvPr id="2" name="Picture 1"/>
          <p:cNvPicPr>
            <a:picLocks noChangeAspect="1"/>
          </p:cNvPicPr>
          <p:nvPr/>
        </p:nvPicPr>
        <p:blipFill>
          <a:blip r:embed="rId2"/>
          <a:stretch>
            <a:fillRect/>
          </a:stretch>
        </p:blipFill>
        <p:spPr>
          <a:xfrm>
            <a:off x="5886432" y="3147805"/>
            <a:ext cx="5472114" cy="2990765"/>
          </a:xfrm>
          <a:prstGeom prst="rect">
            <a:avLst/>
          </a:prstGeom>
        </p:spPr>
        <p:style>
          <a:lnRef idx="2">
            <a:schemeClr val="dk1"/>
          </a:lnRef>
          <a:fillRef idx="1">
            <a:schemeClr val="lt1"/>
          </a:fillRef>
          <a:effectRef idx="0">
            <a:schemeClr val="dk1"/>
          </a:effectRef>
          <a:fontRef idx="minor">
            <a:schemeClr val="dk1"/>
          </a:fontRef>
        </p:style>
      </p:pic>
      <p:sp>
        <p:nvSpPr>
          <p:cNvPr id="4" name="TextBox 3"/>
          <p:cNvSpPr txBox="1"/>
          <p:nvPr/>
        </p:nvSpPr>
        <p:spPr>
          <a:xfrm>
            <a:off x="1148080" y="4643187"/>
            <a:ext cx="3673303"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err="1"/>
              <a:t>schimb</a:t>
            </a:r>
            <a:r>
              <a:rPr lang="en-US" sz="2400" dirty="0"/>
              <a:t> de </a:t>
            </a:r>
            <a:r>
              <a:rPr lang="en-US" sz="2400" dirty="0" err="1"/>
              <a:t>mesaje</a:t>
            </a:r>
            <a:r>
              <a:rPr lang="en-US" sz="2400" dirty="0"/>
              <a:t> </a:t>
            </a:r>
            <a:r>
              <a:rPr lang="en-US" sz="2400" dirty="0" err="1"/>
              <a:t>intre</a:t>
            </a:r>
            <a:r>
              <a:rPr lang="en-US" sz="2400" dirty="0"/>
              <a:t> </a:t>
            </a:r>
          </a:p>
          <a:p>
            <a:r>
              <a:rPr lang="en-US" sz="2400" b="1" dirty="0"/>
              <a:t>Rec</a:t>
            </a:r>
            <a:r>
              <a:rPr lang="en-US" sz="2400" dirty="0"/>
              <a:t> </a:t>
            </a:r>
            <a:r>
              <a:rPr lang="en-US" sz="2400" dirty="0" err="1"/>
              <a:t>si</a:t>
            </a:r>
            <a:r>
              <a:rPr lang="en-US" sz="2400" dirty="0"/>
              <a:t> </a:t>
            </a:r>
            <a:r>
              <a:rPr lang="en-US" sz="2400" b="1" dirty="0"/>
              <a:t>shell</a:t>
            </a:r>
          </a:p>
        </p:txBody>
      </p:sp>
      <p:cxnSp>
        <p:nvCxnSpPr>
          <p:cNvPr id="6" name="Straight Arrow Connector 5"/>
          <p:cNvCxnSpPr/>
          <p:nvPr/>
        </p:nvCxnSpPr>
        <p:spPr>
          <a:xfrm>
            <a:off x="4821383" y="4973117"/>
            <a:ext cx="914399" cy="1523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85800" y="206915"/>
            <a:ext cx="5472113"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err="1"/>
              <a:t>Schimb</a:t>
            </a:r>
            <a:r>
              <a:rPr lang="en-US" sz="2800" dirty="0"/>
              <a:t> de </a:t>
            </a:r>
            <a:r>
              <a:rPr lang="en-US" sz="2800" dirty="0" err="1"/>
              <a:t>mesaje</a:t>
            </a:r>
            <a:r>
              <a:rPr lang="en-US" sz="2800" dirty="0"/>
              <a:t> </a:t>
            </a:r>
            <a:r>
              <a:rPr lang="en-US" sz="2800" dirty="0" err="1"/>
              <a:t>intre</a:t>
            </a:r>
            <a:r>
              <a:rPr lang="en-US" sz="2800" dirty="0"/>
              <a:t> </a:t>
            </a:r>
            <a:r>
              <a:rPr lang="en-US" sz="2800" dirty="0" err="1"/>
              <a:t>procese</a:t>
            </a:r>
            <a:endParaRPr lang="en-US" sz="2800" dirty="0"/>
          </a:p>
        </p:txBody>
      </p:sp>
    </p:spTree>
    <p:extLst>
      <p:ext uri="{BB962C8B-B14F-4D97-AF65-F5344CB8AC3E}">
        <p14:creationId xmlns:p14="http://schemas.microsoft.com/office/powerpoint/2010/main" val="4653601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427018" y="405165"/>
            <a:ext cx="9144000" cy="5078313"/>
          </a:xfrm>
          <a:prstGeom prst="rect">
            <a:avLst/>
          </a:prstGeom>
        </p:spPr>
        <p:txBody>
          <a:bodyPr wrap="square">
            <a:spAutoFit/>
          </a:bodyPr>
          <a:lstStyle/>
          <a:p>
            <a:pPr algn="just"/>
            <a:r>
              <a:rPr lang="en-US" dirty="0"/>
              <a:t>"Messages between </a:t>
            </a:r>
            <a:r>
              <a:rPr lang="en-US" dirty="0" err="1"/>
              <a:t>Erlang</a:t>
            </a:r>
            <a:r>
              <a:rPr lang="en-US" dirty="0"/>
              <a:t> processes are simply valid </a:t>
            </a:r>
            <a:r>
              <a:rPr lang="en-US" dirty="0" err="1"/>
              <a:t>Erlang</a:t>
            </a:r>
            <a:r>
              <a:rPr lang="en-US" dirty="0"/>
              <a:t> terms. That is, they can be lists, tuples, integers, atoms, </a:t>
            </a:r>
            <a:r>
              <a:rPr lang="en-US" dirty="0" err="1"/>
              <a:t>pids</a:t>
            </a:r>
            <a:r>
              <a:rPr lang="en-US" dirty="0"/>
              <a:t>, and so on.</a:t>
            </a:r>
          </a:p>
          <a:p>
            <a:pPr algn="just"/>
            <a:endParaRPr lang="en-US" dirty="0"/>
          </a:p>
          <a:p>
            <a:pPr algn="just"/>
            <a:r>
              <a:rPr lang="en-US" dirty="0"/>
              <a:t>Each process has its own input queue for messages it receives. New messages received are put at the end of the queue. When a process executes a receive, the first message in the queue is matched against the first pattern in the receive. If this matches, the message is removed from the queue and the actions corresponding to the pattern are executed.</a:t>
            </a:r>
          </a:p>
          <a:p>
            <a:pPr algn="just"/>
            <a:endParaRPr lang="en-US" dirty="0"/>
          </a:p>
          <a:p>
            <a:pPr algn="just"/>
            <a:r>
              <a:rPr lang="en-US" dirty="0"/>
              <a:t>However, if the first pattern does not match, the second pattern is tested. If this matches, the message is removed from the queue and the actions corresponding to the second pattern are executed. If the second pattern does not match, the third is tried and so on until there are no more patterns to test. If there are no more patterns to test, the first message is kept in the queue and the second message is tried instead. If this matches any pattern, the appropriate actions are executed and the second message is removed from the queue (keeping the first message and any other messages in the queue). If the second message does not match, the third message is tried, and so on, until the end of the queue is reached. If the end of the queue is reached, the process blocks (stops execution) and waits until a new message is received and this procedure is repeated."</a:t>
            </a:r>
          </a:p>
        </p:txBody>
      </p:sp>
      <p:sp>
        <p:nvSpPr>
          <p:cNvPr id="8" name="TextBox 7"/>
          <p:cNvSpPr txBox="1"/>
          <p:nvPr/>
        </p:nvSpPr>
        <p:spPr>
          <a:xfrm>
            <a:off x="3904351" y="5636061"/>
            <a:ext cx="5289205" cy="369332"/>
          </a:xfrm>
          <a:prstGeom prst="rect">
            <a:avLst/>
          </a:prstGeom>
          <a:noFill/>
        </p:spPr>
        <p:txBody>
          <a:bodyPr wrap="none" rtlCol="0">
            <a:spAutoFit/>
          </a:bodyPr>
          <a:lstStyle/>
          <a:p>
            <a:r>
              <a:rPr lang="en-US" dirty="0">
                <a:hlinkClick r:id="rId2"/>
              </a:rPr>
              <a:t>http://erlang.org/doc/getting_started/conc_prog.html</a:t>
            </a:r>
            <a:endParaRPr lang="en-US" dirty="0"/>
          </a:p>
        </p:txBody>
      </p:sp>
    </p:spTree>
    <p:extLst>
      <p:ext uri="{BB962C8B-B14F-4D97-AF65-F5344CB8AC3E}">
        <p14:creationId xmlns:p14="http://schemas.microsoft.com/office/powerpoint/2010/main" val="9069306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F4996B3-E4D1-8375-9127-9D501D082575}"/>
              </a:ext>
            </a:extLst>
          </p:cNvPr>
          <p:cNvPicPr>
            <a:picLocks noChangeAspect="1"/>
          </p:cNvPicPr>
          <p:nvPr/>
        </p:nvPicPr>
        <p:blipFill>
          <a:blip r:embed="rId2"/>
          <a:stretch>
            <a:fillRect/>
          </a:stretch>
        </p:blipFill>
        <p:spPr>
          <a:xfrm>
            <a:off x="5120640" y="1293799"/>
            <a:ext cx="7071360" cy="2251182"/>
          </a:xfrm>
          <a:prstGeom prst="rect">
            <a:avLst/>
          </a:prstGeom>
        </p:spPr>
      </p:pic>
      <p:sp>
        <p:nvSpPr>
          <p:cNvPr id="4" name="TextBox 3">
            <a:extLst>
              <a:ext uri="{FF2B5EF4-FFF2-40B4-BE49-F238E27FC236}">
                <a16:creationId xmlns:a16="http://schemas.microsoft.com/office/drawing/2014/main" id="{709DBFFA-F62C-BE01-0AB3-3CA220265DFD}"/>
              </a:ext>
            </a:extLst>
          </p:cNvPr>
          <p:cNvSpPr txBox="1"/>
          <p:nvPr/>
        </p:nvSpPr>
        <p:spPr>
          <a:xfrm>
            <a:off x="5120640" y="3877168"/>
            <a:ext cx="8249064" cy="338554"/>
          </a:xfrm>
          <a:prstGeom prst="rect">
            <a:avLst/>
          </a:prstGeom>
          <a:noFill/>
        </p:spPr>
        <p:txBody>
          <a:bodyPr wrap="square">
            <a:spAutoFit/>
          </a:bodyPr>
          <a:lstStyle/>
          <a:p>
            <a:r>
              <a:rPr lang="en-US" sz="1600" dirty="0">
                <a:hlinkClick r:id="rId3"/>
              </a:rPr>
              <a:t>http://learnyousomeerlang.com/the-hitchhikers-guide-to-concurrency#dont-panic</a:t>
            </a:r>
            <a:endParaRPr lang="en-US" sz="1600" dirty="0"/>
          </a:p>
        </p:txBody>
      </p:sp>
      <p:sp>
        <p:nvSpPr>
          <p:cNvPr id="5" name="TextBox 4">
            <a:extLst>
              <a:ext uri="{FF2B5EF4-FFF2-40B4-BE49-F238E27FC236}">
                <a16:creationId xmlns:a16="http://schemas.microsoft.com/office/drawing/2014/main" id="{7A1531E5-A172-6E94-57BB-F33520C8F337}"/>
              </a:ext>
            </a:extLst>
          </p:cNvPr>
          <p:cNvSpPr txBox="1"/>
          <p:nvPr/>
        </p:nvSpPr>
        <p:spPr>
          <a:xfrm>
            <a:off x="477107" y="1223922"/>
            <a:ext cx="5354736" cy="3323987"/>
          </a:xfrm>
          <a:prstGeom prst="rect">
            <a:avLst/>
          </a:prstGeom>
          <a:noFill/>
        </p:spPr>
        <p:txBody>
          <a:bodyPr wrap="none" rtlCol="0">
            <a:spAutoFit/>
          </a:bodyPr>
          <a:lstStyle/>
          <a:p>
            <a:pPr marL="285750" indent="-285750">
              <a:buFont typeface="Arial" panose="020B0604020202020204" pitchFamily="34" charset="0"/>
              <a:buChar char="•"/>
            </a:pPr>
            <a:r>
              <a:rPr lang="en-US" sz="2400" dirty="0" err="1"/>
              <a:t>Transmiterea</a:t>
            </a:r>
            <a:r>
              <a:rPr lang="en-US" sz="2400" dirty="0"/>
              <a:t> </a:t>
            </a:r>
            <a:r>
              <a:rPr lang="en-US" sz="2400" dirty="0" err="1"/>
              <a:t>mesajelor</a:t>
            </a:r>
            <a:r>
              <a:rPr lang="en-US" sz="2400" dirty="0"/>
              <a:t> </a:t>
            </a:r>
            <a:r>
              <a:rPr lang="en-US" sz="2400" dirty="0" err="1"/>
              <a:t>este</a:t>
            </a:r>
            <a:r>
              <a:rPr lang="en-US" sz="2400" dirty="0"/>
              <a:t> </a:t>
            </a:r>
            <a:r>
              <a:rPr lang="en-US" sz="2400" dirty="0" err="1"/>
              <a:t>asincrona</a:t>
            </a:r>
            <a:r>
              <a:rPr lang="en-US" sz="2400" dirty="0"/>
              <a:t>.</a:t>
            </a:r>
          </a:p>
          <a:p>
            <a:endParaRPr lang="en-US" sz="2400" dirty="0"/>
          </a:p>
          <a:p>
            <a:pPr algn="just"/>
            <a:r>
              <a:rPr lang="en-US" sz="2400" dirty="0" err="1"/>
              <a:t>Datorita</a:t>
            </a:r>
            <a:r>
              <a:rPr lang="en-US" sz="2400" dirty="0"/>
              <a:t>  </a:t>
            </a:r>
            <a:r>
              <a:rPr lang="en-US" sz="2400" dirty="0" err="1"/>
              <a:t>cozii</a:t>
            </a:r>
            <a:r>
              <a:rPr lang="en-US" sz="2400" dirty="0"/>
              <a:t> </a:t>
            </a:r>
            <a:r>
              <a:rPr lang="en-US" sz="2400" dirty="0" err="1"/>
              <a:t>pentru</a:t>
            </a:r>
            <a:r>
              <a:rPr lang="en-US" sz="2400" dirty="0"/>
              <a:t> </a:t>
            </a:r>
            <a:r>
              <a:rPr lang="en-US" sz="2400" dirty="0" err="1"/>
              <a:t>mesaje</a:t>
            </a:r>
            <a:r>
              <a:rPr lang="en-US" sz="2400" dirty="0"/>
              <a:t>, </a:t>
            </a:r>
          </a:p>
          <a:p>
            <a:pPr algn="just"/>
            <a:r>
              <a:rPr lang="en-US" sz="2400" dirty="0" err="1"/>
              <a:t>procesul</a:t>
            </a:r>
            <a:r>
              <a:rPr lang="en-US" sz="2400" dirty="0"/>
              <a:t> care </a:t>
            </a:r>
            <a:r>
              <a:rPr lang="en-US" sz="2400" dirty="0" err="1"/>
              <a:t>transmite</a:t>
            </a:r>
            <a:r>
              <a:rPr lang="en-US" sz="2400" dirty="0"/>
              <a:t> </a:t>
            </a:r>
            <a:r>
              <a:rPr lang="en-US" sz="2400" dirty="0" err="1"/>
              <a:t>mesajul</a:t>
            </a:r>
            <a:r>
              <a:rPr lang="en-US" sz="2400" dirty="0"/>
              <a:t> </a:t>
            </a:r>
          </a:p>
          <a:p>
            <a:pPr algn="just"/>
            <a:r>
              <a:rPr lang="en-US" sz="2400" dirty="0"/>
              <a:t>nu </a:t>
            </a:r>
            <a:r>
              <a:rPr lang="en-US" sz="2400" dirty="0" err="1"/>
              <a:t>asteapta</a:t>
            </a:r>
            <a:r>
              <a:rPr lang="en-US" sz="2400" dirty="0"/>
              <a:t> o </a:t>
            </a:r>
            <a:r>
              <a:rPr lang="en-US" sz="2400" dirty="0" err="1"/>
              <a:t>confirmare</a:t>
            </a:r>
            <a:r>
              <a:rPr lang="en-US" sz="2400" dirty="0"/>
              <a:t> de </a:t>
            </a:r>
            <a:r>
              <a:rPr lang="en-US" sz="2400" dirty="0" err="1"/>
              <a:t>primire</a:t>
            </a:r>
            <a:r>
              <a:rPr lang="en-US" sz="2400" dirty="0"/>
              <a:t> </a:t>
            </a:r>
            <a:r>
              <a:rPr lang="en-US" sz="2400" dirty="0" err="1"/>
              <a:t>sau</a:t>
            </a:r>
            <a:r>
              <a:rPr lang="en-US" sz="2400" dirty="0"/>
              <a:t> </a:t>
            </a:r>
          </a:p>
          <a:p>
            <a:pPr algn="just"/>
            <a:r>
              <a:rPr lang="en-US" sz="2400" dirty="0" err="1"/>
              <a:t>prelucrarea</a:t>
            </a:r>
            <a:r>
              <a:rPr lang="en-US" sz="2400" dirty="0"/>
              <a:t> </a:t>
            </a:r>
            <a:r>
              <a:rPr lang="en-US" sz="2400" dirty="0" err="1"/>
              <a:t>acestuia</a:t>
            </a:r>
            <a:r>
              <a:rPr lang="en-US" sz="2400" dirty="0"/>
              <a:t>, </a:t>
            </a:r>
          </a:p>
          <a:p>
            <a:pPr algn="just"/>
            <a:r>
              <a:rPr lang="en-US" sz="2400" dirty="0" err="1"/>
              <a:t>mesajul</a:t>
            </a:r>
            <a:r>
              <a:rPr lang="en-US" sz="2400" dirty="0"/>
              <a:t> intra in </a:t>
            </a:r>
            <a:r>
              <a:rPr lang="en-US" sz="2400" dirty="0" err="1"/>
              <a:t>coada</a:t>
            </a:r>
            <a:r>
              <a:rPr lang="en-US" sz="2400" dirty="0"/>
              <a:t> </a:t>
            </a:r>
            <a:r>
              <a:rPr lang="en-US" sz="2400" dirty="0" err="1"/>
              <a:t>si</a:t>
            </a:r>
            <a:r>
              <a:rPr lang="en-US" sz="2400" dirty="0"/>
              <a:t> </a:t>
            </a:r>
            <a:r>
              <a:rPr lang="en-US" sz="2400" dirty="0" err="1"/>
              <a:t>asteapta</a:t>
            </a:r>
            <a:r>
              <a:rPr lang="en-US" sz="2400" dirty="0"/>
              <a:t> </a:t>
            </a:r>
          </a:p>
          <a:p>
            <a:pPr algn="just"/>
            <a:r>
              <a:rPr lang="en-US" sz="2400" dirty="0" err="1"/>
              <a:t>pana</a:t>
            </a:r>
            <a:r>
              <a:rPr lang="en-US" sz="2400" dirty="0"/>
              <a:t> cand </a:t>
            </a:r>
            <a:r>
              <a:rPr lang="en-US" sz="2400" dirty="0" err="1"/>
              <a:t>va</a:t>
            </a:r>
            <a:r>
              <a:rPr lang="en-US" sz="2400" dirty="0"/>
              <a:t> fi </a:t>
            </a:r>
            <a:r>
              <a:rPr lang="en-US" sz="2400" dirty="0" err="1"/>
              <a:t>procesat</a:t>
            </a:r>
            <a:endParaRPr lang="en-US" sz="2400" dirty="0"/>
          </a:p>
          <a:p>
            <a:endParaRPr lang="en-GB" dirty="0"/>
          </a:p>
        </p:txBody>
      </p:sp>
    </p:spTree>
    <p:extLst>
      <p:ext uri="{BB962C8B-B14F-4D97-AF65-F5344CB8AC3E}">
        <p14:creationId xmlns:p14="http://schemas.microsoft.com/office/powerpoint/2010/main" val="39201042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62746" y="1413164"/>
            <a:ext cx="5304786" cy="4031873"/>
          </a:xfrm>
          <a:prstGeom prst="rect">
            <a:avLst/>
          </a:prstGeom>
          <a:solidFill>
            <a:srgbClr val="CA1421"/>
          </a:solidFill>
        </p:spPr>
        <p:txBody>
          <a:bodyPr wrap="none" rtlCol="0">
            <a:spAutoFit/>
          </a:bodyPr>
          <a:lstStyle/>
          <a:p>
            <a:endParaRPr lang="en-US" sz="3200" dirty="0">
              <a:solidFill>
                <a:schemeClr val="bg1"/>
              </a:solidFill>
            </a:endParaRPr>
          </a:p>
          <a:p>
            <a:r>
              <a:rPr lang="en-US" sz="3200" dirty="0" err="1">
                <a:solidFill>
                  <a:schemeClr val="bg1"/>
                </a:solidFill>
              </a:rPr>
              <a:t>Pid</a:t>
            </a:r>
            <a:r>
              <a:rPr lang="en-US" sz="3200" dirty="0">
                <a:solidFill>
                  <a:schemeClr val="bg1"/>
                </a:solidFill>
              </a:rPr>
              <a:t> = spawn (fun)</a:t>
            </a:r>
          </a:p>
          <a:p>
            <a:endParaRPr lang="en-US" sz="3200" dirty="0">
              <a:solidFill>
                <a:schemeClr val="bg1"/>
              </a:solidFill>
            </a:endParaRPr>
          </a:p>
          <a:p>
            <a:r>
              <a:rPr lang="en-US" sz="3200" dirty="0" err="1">
                <a:solidFill>
                  <a:schemeClr val="bg1"/>
                </a:solidFill>
              </a:rPr>
              <a:t>Pid</a:t>
            </a:r>
            <a:r>
              <a:rPr lang="en-US" sz="3200" dirty="0">
                <a:solidFill>
                  <a:schemeClr val="bg1"/>
                </a:solidFill>
              </a:rPr>
              <a:t> = spawn (module, </a:t>
            </a:r>
            <a:r>
              <a:rPr lang="en-US" sz="3200" dirty="0" err="1">
                <a:solidFill>
                  <a:schemeClr val="bg1"/>
                </a:solidFill>
              </a:rPr>
              <a:t>fct</a:t>
            </a:r>
            <a:r>
              <a:rPr lang="en-US" sz="3200" dirty="0">
                <a:solidFill>
                  <a:schemeClr val="bg1"/>
                </a:solidFill>
              </a:rPr>
              <a:t>, </a:t>
            </a:r>
            <a:r>
              <a:rPr lang="en-US" sz="3200" dirty="0" err="1">
                <a:solidFill>
                  <a:schemeClr val="bg1"/>
                </a:solidFill>
              </a:rPr>
              <a:t>args</a:t>
            </a:r>
            <a:r>
              <a:rPr lang="en-US" sz="3200" dirty="0">
                <a:solidFill>
                  <a:schemeClr val="bg1"/>
                </a:solidFill>
              </a:rPr>
              <a:t>)</a:t>
            </a:r>
          </a:p>
          <a:p>
            <a:endParaRPr lang="en-US" sz="3200" dirty="0">
              <a:solidFill>
                <a:schemeClr val="bg1"/>
              </a:solidFill>
            </a:endParaRPr>
          </a:p>
          <a:p>
            <a:r>
              <a:rPr lang="en-US" sz="3200" dirty="0" err="1">
                <a:solidFill>
                  <a:schemeClr val="bg1"/>
                </a:solidFill>
              </a:rPr>
              <a:t>Pid</a:t>
            </a:r>
            <a:r>
              <a:rPr lang="en-US" sz="3200" dirty="0">
                <a:solidFill>
                  <a:schemeClr val="bg1"/>
                </a:solidFill>
              </a:rPr>
              <a:t> ! Message</a:t>
            </a:r>
          </a:p>
          <a:p>
            <a:endParaRPr lang="en-US" sz="3200" dirty="0">
              <a:solidFill>
                <a:schemeClr val="bg1"/>
              </a:solidFill>
            </a:endParaRPr>
          </a:p>
          <a:p>
            <a:r>
              <a:rPr lang="en-US" sz="3200" dirty="0">
                <a:solidFill>
                  <a:schemeClr val="bg1"/>
                </a:solidFill>
              </a:rPr>
              <a:t>receive … end</a:t>
            </a:r>
          </a:p>
        </p:txBody>
      </p:sp>
      <p:sp>
        <p:nvSpPr>
          <p:cNvPr id="3" name="TextBox 2"/>
          <p:cNvSpPr txBox="1"/>
          <p:nvPr/>
        </p:nvSpPr>
        <p:spPr>
          <a:xfrm>
            <a:off x="498765" y="374073"/>
            <a:ext cx="11961796" cy="523220"/>
          </a:xfrm>
          <a:prstGeom prst="rect">
            <a:avLst/>
          </a:prstGeom>
          <a:noFill/>
        </p:spPr>
        <p:txBody>
          <a:bodyPr wrap="square" rtlCol="0">
            <a:spAutoFit/>
          </a:bodyPr>
          <a:lstStyle/>
          <a:p>
            <a:pPr marL="285750" indent="-285750">
              <a:buFont typeface="Wingdings" panose="05000000000000000000" pitchFamily="2" charset="2"/>
              <a:buChar char="Ø"/>
            </a:pPr>
            <a:r>
              <a:rPr lang="en-US" sz="2800" dirty="0"/>
              <a:t> </a:t>
            </a:r>
            <a:r>
              <a:rPr lang="en-US" sz="2800" dirty="0" err="1"/>
              <a:t>Concurenta</a:t>
            </a:r>
            <a:r>
              <a:rPr lang="en-US" sz="2800" dirty="0"/>
              <a:t> in </a:t>
            </a:r>
            <a:r>
              <a:rPr lang="en-US" sz="2800" dirty="0" err="1"/>
              <a:t>Erlang</a:t>
            </a:r>
            <a:r>
              <a:rPr lang="en-US" sz="2800" dirty="0"/>
              <a:t> </a:t>
            </a:r>
            <a:r>
              <a:rPr lang="en-US" sz="2800" dirty="0" err="1"/>
              <a:t>este</a:t>
            </a:r>
            <a:r>
              <a:rPr lang="en-US" sz="2800" dirty="0"/>
              <a:t>  </a:t>
            </a:r>
            <a:r>
              <a:rPr lang="en-US" sz="2800" dirty="0" err="1"/>
              <a:t>implementata</a:t>
            </a:r>
            <a:r>
              <a:rPr lang="en-US" sz="2800" dirty="0"/>
              <a:t> </a:t>
            </a:r>
            <a:r>
              <a:rPr lang="en-US" sz="2800" dirty="0" err="1"/>
              <a:t>folosind</a:t>
            </a:r>
            <a:r>
              <a:rPr lang="en-US" sz="2800" dirty="0"/>
              <a:t> </a:t>
            </a:r>
            <a:r>
              <a:rPr lang="en-US" sz="2800" dirty="0" err="1"/>
              <a:t>urmatoarele</a:t>
            </a:r>
            <a:r>
              <a:rPr lang="en-US" sz="2800" dirty="0"/>
              <a:t> primitive:</a:t>
            </a:r>
          </a:p>
        </p:txBody>
      </p:sp>
      <p:sp>
        <p:nvSpPr>
          <p:cNvPr id="4" name="TextBox 3">
            <a:extLst>
              <a:ext uri="{FF2B5EF4-FFF2-40B4-BE49-F238E27FC236}">
                <a16:creationId xmlns:a16="http://schemas.microsoft.com/office/drawing/2014/main" id="{37B260E4-9078-4CCD-BD9C-F9EF361A16E4}"/>
              </a:ext>
            </a:extLst>
          </p:cNvPr>
          <p:cNvSpPr txBox="1"/>
          <p:nvPr/>
        </p:nvSpPr>
        <p:spPr>
          <a:xfrm>
            <a:off x="3262746" y="5776242"/>
            <a:ext cx="5426614" cy="369332"/>
          </a:xfrm>
          <a:prstGeom prst="rect">
            <a:avLst/>
          </a:prstGeom>
          <a:noFill/>
        </p:spPr>
        <p:txBody>
          <a:bodyPr wrap="none" rtlCol="0">
            <a:spAutoFit/>
          </a:bodyPr>
          <a:lstStyle/>
          <a:p>
            <a:r>
              <a:rPr lang="en-GB" dirty="0">
                <a:hlinkClick r:id="rId2"/>
              </a:rPr>
              <a:t>https://www.erlang.org/doc/man/erlang.html#spawn-4</a:t>
            </a:r>
            <a:endParaRPr lang="en-GB" dirty="0"/>
          </a:p>
        </p:txBody>
      </p:sp>
    </p:spTree>
    <p:extLst>
      <p:ext uri="{BB962C8B-B14F-4D97-AF65-F5344CB8AC3E}">
        <p14:creationId xmlns:p14="http://schemas.microsoft.com/office/powerpoint/2010/main" val="23333671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24247" y="5694218"/>
            <a:ext cx="5289205" cy="369332"/>
          </a:xfrm>
          <a:prstGeom prst="rect">
            <a:avLst/>
          </a:prstGeom>
          <a:noFill/>
        </p:spPr>
        <p:txBody>
          <a:bodyPr wrap="none" rtlCol="0">
            <a:spAutoFit/>
          </a:bodyPr>
          <a:lstStyle/>
          <a:p>
            <a:r>
              <a:rPr lang="en-US" dirty="0">
                <a:hlinkClick r:id="rId2"/>
              </a:rPr>
              <a:t>http://erlang.org/doc/getting_started/conc_prog.html</a:t>
            </a:r>
            <a:endParaRPr lang="en-US" dirty="0"/>
          </a:p>
        </p:txBody>
      </p:sp>
      <p:sp>
        <p:nvSpPr>
          <p:cNvPr id="5" name="TextBox 4"/>
          <p:cNvSpPr txBox="1"/>
          <p:nvPr/>
        </p:nvSpPr>
        <p:spPr>
          <a:xfrm>
            <a:off x="524247" y="236698"/>
            <a:ext cx="2460738" cy="584775"/>
          </a:xfrm>
          <a:prstGeom prst="rect">
            <a:avLst/>
          </a:prstGeom>
          <a:noFill/>
        </p:spPr>
        <p:txBody>
          <a:bodyPr wrap="none" rtlCol="0">
            <a:spAutoFit/>
          </a:bodyPr>
          <a:lstStyle/>
          <a:p>
            <a:pPr marL="285750" indent="-285750">
              <a:buFont typeface="Wingdings" panose="05000000000000000000" pitchFamily="2" charset="2"/>
              <a:buChar char="Ø"/>
            </a:pPr>
            <a:r>
              <a:rPr lang="en-US" sz="3200" dirty="0"/>
              <a:t> Ping - Pong</a:t>
            </a:r>
          </a:p>
        </p:txBody>
      </p:sp>
      <p:pic>
        <p:nvPicPr>
          <p:cNvPr id="9" name="Picture 8">
            <a:extLst>
              <a:ext uri="{FF2B5EF4-FFF2-40B4-BE49-F238E27FC236}">
                <a16:creationId xmlns:a16="http://schemas.microsoft.com/office/drawing/2014/main" id="{65F04E02-EC5C-1A90-38AC-04B8306F4F86}"/>
              </a:ext>
            </a:extLst>
          </p:cNvPr>
          <p:cNvPicPr>
            <a:picLocks noChangeAspect="1"/>
          </p:cNvPicPr>
          <p:nvPr/>
        </p:nvPicPr>
        <p:blipFill>
          <a:blip r:embed="rId3"/>
          <a:stretch>
            <a:fillRect/>
          </a:stretch>
        </p:blipFill>
        <p:spPr>
          <a:xfrm>
            <a:off x="836337" y="1108205"/>
            <a:ext cx="3005527" cy="4439155"/>
          </a:xfrm>
          <a:prstGeom prst="rect">
            <a:avLst/>
          </a:prstGeom>
        </p:spPr>
        <p:style>
          <a:lnRef idx="2">
            <a:schemeClr val="dk1"/>
          </a:lnRef>
          <a:fillRef idx="1">
            <a:schemeClr val="lt1"/>
          </a:fillRef>
          <a:effectRef idx="0">
            <a:schemeClr val="dk1"/>
          </a:effectRef>
          <a:fontRef idx="minor">
            <a:schemeClr val="dk1"/>
          </a:fontRef>
        </p:style>
      </p:pic>
      <p:sp>
        <p:nvSpPr>
          <p:cNvPr id="10" name="TextBox 9">
            <a:extLst>
              <a:ext uri="{FF2B5EF4-FFF2-40B4-BE49-F238E27FC236}">
                <a16:creationId xmlns:a16="http://schemas.microsoft.com/office/drawing/2014/main" id="{902A6E2C-221A-10D6-BE52-517CAC9AA22A}"/>
              </a:ext>
            </a:extLst>
          </p:cNvPr>
          <p:cNvSpPr txBox="1"/>
          <p:nvPr/>
        </p:nvSpPr>
        <p:spPr>
          <a:xfrm>
            <a:off x="4572000" y="1391920"/>
            <a:ext cx="7202677" cy="3416320"/>
          </a:xfrm>
          <a:prstGeom prst="rect">
            <a:avLst/>
          </a:prstGeom>
          <a:noFill/>
        </p:spPr>
        <p:txBody>
          <a:bodyPr wrap="none" rtlCol="0">
            <a:spAutoFit/>
          </a:bodyPr>
          <a:lstStyle/>
          <a:p>
            <a:pPr marL="285750" indent="-285750">
              <a:buFont typeface="Arial" panose="020B0604020202020204" pitchFamily="34" charset="0"/>
              <a:buChar char="•"/>
            </a:pPr>
            <a:r>
              <a:rPr lang="en-US" sz="2400" dirty="0" err="1"/>
              <a:t>Exista</a:t>
            </a:r>
            <a:r>
              <a:rPr lang="en-US" sz="2400" dirty="0"/>
              <a:t> </a:t>
            </a:r>
            <a:r>
              <a:rPr lang="en-US" sz="2400" dirty="0" err="1"/>
              <a:t>doua</a:t>
            </a:r>
            <a:r>
              <a:rPr lang="en-US" sz="2400" dirty="0"/>
              <a:t> </a:t>
            </a:r>
            <a:r>
              <a:rPr lang="en-US" sz="2400" dirty="0" err="1"/>
              <a:t>procese</a:t>
            </a:r>
            <a:r>
              <a:rPr lang="en-US" sz="2400" dirty="0"/>
              <a:t>:  Ping </a:t>
            </a:r>
            <a:r>
              <a:rPr lang="en-US" sz="2400" dirty="0" err="1"/>
              <a:t>si</a:t>
            </a:r>
            <a:r>
              <a:rPr lang="en-US" sz="2400" dirty="0"/>
              <a:t> Pong</a:t>
            </a:r>
          </a:p>
          <a:p>
            <a:endParaRPr lang="en-US" sz="2400" dirty="0"/>
          </a:p>
          <a:p>
            <a:pPr marL="285750" indent="-285750">
              <a:buFont typeface="Arial" panose="020B0604020202020204" pitchFamily="34" charset="0"/>
              <a:buChar char="•"/>
            </a:pPr>
            <a:r>
              <a:rPr lang="en-US" sz="2400" dirty="0" err="1"/>
              <a:t>Procesul</a:t>
            </a:r>
            <a:r>
              <a:rPr lang="en-US" sz="2400" dirty="0"/>
              <a:t> Ping </a:t>
            </a:r>
            <a:r>
              <a:rPr lang="en-US" sz="2400" dirty="0" err="1"/>
              <a:t>trimite</a:t>
            </a:r>
            <a:r>
              <a:rPr lang="en-US" sz="2400" dirty="0"/>
              <a:t> </a:t>
            </a:r>
            <a:r>
              <a:rPr lang="en-US" sz="2400" dirty="0" err="1"/>
              <a:t>mesajul</a:t>
            </a:r>
            <a:r>
              <a:rPr lang="en-US" sz="2400" dirty="0"/>
              <a:t> "Ping" </a:t>
            </a:r>
            <a:r>
              <a:rPr lang="en-US" sz="2400" dirty="0" err="1"/>
              <a:t>si</a:t>
            </a:r>
            <a:r>
              <a:rPr lang="en-US" sz="2400" dirty="0"/>
              <a:t> </a:t>
            </a:r>
          </a:p>
          <a:p>
            <a:r>
              <a:rPr lang="en-US" sz="2400" dirty="0"/>
              <a:t>                              </a:t>
            </a:r>
            <a:r>
              <a:rPr lang="en-US" sz="2400" dirty="0" err="1"/>
              <a:t>asteapta</a:t>
            </a:r>
            <a:r>
              <a:rPr lang="en-US" sz="2400" dirty="0"/>
              <a:t> </a:t>
            </a:r>
            <a:r>
              <a:rPr lang="en-US" sz="2400" dirty="0" err="1"/>
              <a:t>sa</a:t>
            </a:r>
            <a:r>
              <a:rPr lang="en-US" sz="2400" dirty="0"/>
              <a:t> </a:t>
            </a:r>
            <a:r>
              <a:rPr lang="en-US" sz="2400" dirty="0" err="1"/>
              <a:t>primeasca</a:t>
            </a:r>
            <a:r>
              <a:rPr lang="en-US" sz="2400" dirty="0"/>
              <a:t> </a:t>
            </a:r>
            <a:r>
              <a:rPr lang="en-US" sz="2400" dirty="0" err="1"/>
              <a:t>mesajul</a:t>
            </a:r>
            <a:r>
              <a:rPr lang="en-US" sz="2400" dirty="0"/>
              <a:t> "Pong"</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err="1"/>
              <a:t>Procesul</a:t>
            </a:r>
            <a:r>
              <a:rPr lang="en-US" sz="2400" dirty="0"/>
              <a:t> Pong </a:t>
            </a:r>
            <a:r>
              <a:rPr lang="en-US" sz="2400" dirty="0" err="1"/>
              <a:t>asteapta</a:t>
            </a:r>
            <a:r>
              <a:rPr lang="en-US" sz="2400" dirty="0"/>
              <a:t> </a:t>
            </a:r>
            <a:r>
              <a:rPr lang="en-US" sz="2400" dirty="0" err="1"/>
              <a:t>sa</a:t>
            </a:r>
            <a:r>
              <a:rPr lang="en-US" sz="2400" dirty="0"/>
              <a:t> </a:t>
            </a:r>
            <a:r>
              <a:rPr lang="en-US" sz="2400" dirty="0" err="1"/>
              <a:t>primeasca</a:t>
            </a:r>
            <a:r>
              <a:rPr lang="en-US" sz="2400" dirty="0"/>
              <a:t> </a:t>
            </a:r>
            <a:r>
              <a:rPr lang="en-US" sz="2400" dirty="0" err="1"/>
              <a:t>mesajul</a:t>
            </a:r>
            <a:r>
              <a:rPr lang="en-US" sz="2400" dirty="0"/>
              <a:t> "Ping" </a:t>
            </a:r>
            <a:r>
              <a:rPr lang="en-US" sz="2400" dirty="0" err="1"/>
              <a:t>si</a:t>
            </a:r>
            <a:endParaRPr lang="en-US" sz="2400" dirty="0"/>
          </a:p>
          <a:p>
            <a:r>
              <a:rPr lang="en-US" sz="2400" dirty="0"/>
              <a:t>                                </a:t>
            </a:r>
            <a:r>
              <a:rPr lang="en-US" sz="2400" dirty="0" err="1"/>
              <a:t>trimite</a:t>
            </a:r>
            <a:r>
              <a:rPr lang="en-US" sz="2400" dirty="0"/>
              <a:t> </a:t>
            </a:r>
            <a:r>
              <a:rPr lang="en-US" sz="2400" dirty="0" err="1"/>
              <a:t>mesajul</a:t>
            </a:r>
            <a:r>
              <a:rPr lang="en-US" sz="2400" dirty="0"/>
              <a:t> "Pong"  </a:t>
            </a:r>
          </a:p>
          <a:p>
            <a:endParaRPr lang="en-US" sz="2400" dirty="0"/>
          </a:p>
          <a:p>
            <a:pPr marL="285750" indent="-285750">
              <a:buFont typeface="Arial" panose="020B0604020202020204" pitchFamily="34" charset="0"/>
              <a:buChar char="•"/>
            </a:pPr>
            <a:r>
              <a:rPr lang="en-US" sz="2400" dirty="0" err="1"/>
              <a:t>Procesul</a:t>
            </a:r>
            <a:r>
              <a:rPr lang="en-US" sz="2400" dirty="0"/>
              <a:t>  Pong </a:t>
            </a:r>
            <a:r>
              <a:rPr lang="en-US" sz="2400" dirty="0" err="1"/>
              <a:t>este</a:t>
            </a:r>
            <a:r>
              <a:rPr lang="en-US" sz="2400" dirty="0"/>
              <a:t>  </a:t>
            </a:r>
            <a:r>
              <a:rPr lang="en-US" sz="2400" dirty="0" err="1"/>
              <a:t>creat</a:t>
            </a:r>
            <a:r>
              <a:rPr lang="en-US" sz="2400" dirty="0"/>
              <a:t> </a:t>
            </a:r>
            <a:r>
              <a:rPr lang="en-US" sz="2400" dirty="0" err="1"/>
              <a:t>primul</a:t>
            </a:r>
            <a:endParaRPr lang="en-GB" sz="2400" dirty="0"/>
          </a:p>
        </p:txBody>
      </p:sp>
    </p:spTree>
    <p:extLst>
      <p:ext uri="{BB962C8B-B14F-4D97-AF65-F5344CB8AC3E}">
        <p14:creationId xmlns:p14="http://schemas.microsoft.com/office/powerpoint/2010/main" val="12945017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0350" y="1631567"/>
            <a:ext cx="6496690" cy="4031873"/>
          </a:xfrm>
          <a:prstGeom prst="rect">
            <a:avLst/>
          </a:prstGeom>
          <a:ln w="38100">
            <a:solidFill>
              <a:srgbClr val="CA1421"/>
            </a:solidFill>
          </a:ln>
        </p:spPr>
        <p:txBody>
          <a:bodyPr wrap="square">
            <a:spAutoFit/>
          </a:bodyPr>
          <a:lstStyle/>
          <a:p>
            <a:r>
              <a:rPr lang="en-US" sz="2000" dirty="0"/>
              <a:t>-module(</a:t>
            </a:r>
            <a:r>
              <a:rPr lang="en-US" sz="2000" dirty="0" err="1"/>
              <a:t>ppmod</a:t>
            </a:r>
            <a:r>
              <a:rPr lang="en-US" sz="2000" dirty="0"/>
              <a:t>). </a:t>
            </a:r>
          </a:p>
          <a:p>
            <a:r>
              <a:rPr lang="en-US" sz="2000" dirty="0"/>
              <a:t>-export([start/0,pingN/2,pong/0]).</a:t>
            </a:r>
          </a:p>
          <a:p>
            <a:endParaRPr lang="en-US" sz="2000" dirty="0"/>
          </a:p>
          <a:p>
            <a:r>
              <a:rPr lang="en-US" sz="2000" dirty="0" err="1"/>
              <a:t>pingN</a:t>
            </a:r>
            <a:r>
              <a:rPr lang="en-US" sz="2000" dirty="0"/>
              <a:t>(Pid,0) -&gt; </a:t>
            </a:r>
            <a:r>
              <a:rPr lang="en-US" sz="2000" dirty="0" err="1"/>
              <a:t>Pid</a:t>
            </a:r>
            <a:r>
              <a:rPr lang="en-US" sz="2000" dirty="0"/>
              <a:t> ! {self(), finished},</a:t>
            </a:r>
          </a:p>
          <a:p>
            <a:r>
              <a:rPr lang="en-US" sz="2000" dirty="0"/>
              <a:t>                           </a:t>
            </a:r>
            <a:r>
              <a:rPr lang="en-US" sz="2000" dirty="0" err="1"/>
              <a:t>io:format</a:t>
            </a:r>
            <a:r>
              <a:rPr lang="en-US" sz="2000" dirty="0"/>
              <a:t>("Ping finished!~n");</a:t>
            </a:r>
          </a:p>
          <a:p>
            <a:r>
              <a:rPr lang="en-US" sz="2000" dirty="0"/>
              <a:t>                </a:t>
            </a:r>
          </a:p>
          <a:p>
            <a:r>
              <a:rPr lang="en-US" sz="2000" dirty="0" err="1"/>
              <a:t>pingN</a:t>
            </a:r>
            <a:r>
              <a:rPr lang="en-US" sz="2000" dirty="0"/>
              <a:t>(</a:t>
            </a:r>
            <a:r>
              <a:rPr lang="en-US" sz="2000" dirty="0" err="1"/>
              <a:t>Pid</a:t>
            </a:r>
            <a:r>
              <a:rPr lang="en-US" sz="2000" dirty="0"/>
              <a:t>, N) -&gt; </a:t>
            </a:r>
            <a:r>
              <a:rPr lang="en-US" sz="2000" dirty="0" err="1"/>
              <a:t>Pid</a:t>
            </a:r>
            <a:r>
              <a:rPr lang="en-US" sz="2000" dirty="0"/>
              <a:t> ! {self(),ping},</a:t>
            </a:r>
          </a:p>
          <a:p>
            <a:r>
              <a:rPr lang="en-US" sz="2000" dirty="0"/>
              <a:t>                 receive</a:t>
            </a:r>
          </a:p>
          <a:p>
            <a:r>
              <a:rPr lang="en-US" sz="2000" dirty="0"/>
              <a:t>                     {</a:t>
            </a:r>
            <a:r>
              <a:rPr lang="en-US" sz="2000" dirty="0" err="1"/>
              <a:t>Pid</a:t>
            </a:r>
            <a:r>
              <a:rPr lang="en-US" sz="2000" dirty="0"/>
              <a:t>, pong} -&gt; </a:t>
            </a:r>
            <a:r>
              <a:rPr lang="en-US" sz="2000" dirty="0" err="1"/>
              <a:t>io:format</a:t>
            </a:r>
            <a:r>
              <a:rPr lang="en-US" sz="2000" dirty="0"/>
              <a:t>("Ping received Pong. ~n")</a:t>
            </a:r>
          </a:p>
          <a:p>
            <a:r>
              <a:rPr lang="en-US" sz="2000" dirty="0"/>
              <a:t>                 end, </a:t>
            </a:r>
          </a:p>
          <a:p>
            <a:r>
              <a:rPr lang="en-US" sz="2000" dirty="0"/>
              <a:t>                 </a:t>
            </a:r>
            <a:r>
              <a:rPr lang="en-US" sz="2000" dirty="0" err="1"/>
              <a:t>pingN</a:t>
            </a:r>
            <a:r>
              <a:rPr lang="en-US" sz="2000" dirty="0"/>
              <a:t>(Pid,N-1).</a:t>
            </a:r>
            <a:r>
              <a:rPr lang="en-US" dirty="0"/>
              <a:t>			</a:t>
            </a:r>
          </a:p>
          <a:p>
            <a:r>
              <a:rPr lang="en-US" dirty="0"/>
              <a:t>   </a:t>
            </a:r>
          </a:p>
          <a:p>
            <a:endParaRPr lang="en-US" dirty="0"/>
          </a:p>
        </p:txBody>
      </p:sp>
      <p:sp>
        <p:nvSpPr>
          <p:cNvPr id="4" name="TextBox 3"/>
          <p:cNvSpPr txBox="1"/>
          <p:nvPr/>
        </p:nvSpPr>
        <p:spPr>
          <a:xfrm>
            <a:off x="168647" y="5897418"/>
            <a:ext cx="5289205" cy="369332"/>
          </a:xfrm>
          <a:prstGeom prst="rect">
            <a:avLst/>
          </a:prstGeom>
          <a:noFill/>
        </p:spPr>
        <p:txBody>
          <a:bodyPr wrap="none" rtlCol="0">
            <a:spAutoFit/>
          </a:bodyPr>
          <a:lstStyle/>
          <a:p>
            <a:r>
              <a:rPr lang="en-US" dirty="0">
                <a:hlinkClick r:id="rId2"/>
              </a:rPr>
              <a:t>http://erlang.org/doc/getting_started/conc_prog.html</a:t>
            </a:r>
            <a:endParaRPr lang="en-US" dirty="0"/>
          </a:p>
        </p:txBody>
      </p:sp>
      <p:sp>
        <p:nvSpPr>
          <p:cNvPr id="5" name="TextBox 4"/>
          <p:cNvSpPr txBox="1"/>
          <p:nvPr/>
        </p:nvSpPr>
        <p:spPr>
          <a:xfrm>
            <a:off x="524247" y="236698"/>
            <a:ext cx="2460738" cy="584775"/>
          </a:xfrm>
          <a:prstGeom prst="rect">
            <a:avLst/>
          </a:prstGeom>
          <a:noFill/>
        </p:spPr>
        <p:txBody>
          <a:bodyPr wrap="none" rtlCol="0">
            <a:spAutoFit/>
          </a:bodyPr>
          <a:lstStyle/>
          <a:p>
            <a:pPr marL="285750" indent="-285750">
              <a:buFont typeface="Wingdings" panose="05000000000000000000" pitchFamily="2" charset="2"/>
              <a:buChar char="Ø"/>
            </a:pPr>
            <a:r>
              <a:rPr lang="en-US" sz="3200" dirty="0"/>
              <a:t> Ping - Pong</a:t>
            </a:r>
          </a:p>
        </p:txBody>
      </p:sp>
      <p:sp>
        <p:nvSpPr>
          <p:cNvPr id="7" name="TextBox 6"/>
          <p:cNvSpPr txBox="1"/>
          <p:nvPr/>
        </p:nvSpPr>
        <p:spPr>
          <a:xfrm>
            <a:off x="300350" y="1190805"/>
            <a:ext cx="1162498" cy="369332"/>
          </a:xfrm>
          <a:prstGeom prst="rect">
            <a:avLst/>
          </a:prstGeom>
          <a:noFill/>
        </p:spPr>
        <p:txBody>
          <a:bodyPr wrap="none" rtlCol="0">
            <a:spAutoFit/>
          </a:bodyPr>
          <a:lstStyle/>
          <a:p>
            <a:r>
              <a:rPr lang="en-US" dirty="0" err="1"/>
              <a:t>ppmod.erl</a:t>
            </a:r>
            <a:endParaRPr lang="en-US" dirty="0"/>
          </a:p>
        </p:txBody>
      </p:sp>
      <p:sp>
        <p:nvSpPr>
          <p:cNvPr id="8" name="TextBox 7">
            <a:extLst>
              <a:ext uri="{FF2B5EF4-FFF2-40B4-BE49-F238E27FC236}">
                <a16:creationId xmlns:a16="http://schemas.microsoft.com/office/drawing/2014/main" id="{EBABB95A-312A-524B-1054-7859FF86571A}"/>
              </a:ext>
            </a:extLst>
          </p:cNvPr>
          <p:cNvSpPr txBox="1"/>
          <p:nvPr/>
        </p:nvSpPr>
        <p:spPr>
          <a:xfrm>
            <a:off x="6583652" y="4810933"/>
            <a:ext cx="4846347" cy="707886"/>
          </a:xfrm>
          <a:prstGeom prst="rect">
            <a:avLst/>
          </a:prstGeom>
          <a:ln w="38100">
            <a:solidFill>
              <a:srgbClr val="CA1421"/>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t>start() -&gt; </a:t>
            </a:r>
            <a:r>
              <a:rPr lang="en-US" sz="2000" dirty="0" err="1"/>
              <a:t>PongId</a:t>
            </a:r>
            <a:r>
              <a:rPr lang="en-US" sz="2000" dirty="0"/>
              <a:t> = spawn(</a:t>
            </a:r>
            <a:r>
              <a:rPr lang="en-US" sz="2000" dirty="0" err="1"/>
              <a:t>ppmod</a:t>
            </a:r>
            <a:r>
              <a:rPr lang="en-US" sz="2000" dirty="0"/>
              <a:t>, pong,[]),</a:t>
            </a:r>
          </a:p>
          <a:p>
            <a:r>
              <a:rPr lang="en-US" sz="2000" dirty="0"/>
              <a:t>                  spawn(</a:t>
            </a:r>
            <a:r>
              <a:rPr lang="en-US" sz="2000" dirty="0" err="1"/>
              <a:t>ppmod,pingN</a:t>
            </a:r>
            <a:r>
              <a:rPr lang="en-US" sz="2000" dirty="0"/>
              <a:t>,[PongId,5]).</a:t>
            </a:r>
          </a:p>
        </p:txBody>
      </p:sp>
      <p:sp>
        <p:nvSpPr>
          <p:cNvPr id="6" name="TextBox 5"/>
          <p:cNvSpPr txBox="1"/>
          <p:nvPr/>
        </p:nvSpPr>
        <p:spPr>
          <a:xfrm>
            <a:off x="6294697" y="761844"/>
            <a:ext cx="5720284" cy="2831544"/>
          </a:xfrm>
          <a:prstGeom prst="rect">
            <a:avLst/>
          </a:prstGeom>
          <a:ln w="38100">
            <a:solidFill>
              <a:srgbClr val="CA1421"/>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a:t>pong() -&gt;</a:t>
            </a:r>
          </a:p>
          <a:p>
            <a:r>
              <a:rPr lang="en-US" sz="2000" dirty="0"/>
              <a:t>    receive</a:t>
            </a:r>
          </a:p>
          <a:p>
            <a:r>
              <a:rPr lang="en-US" sz="2000" dirty="0"/>
              <a:t>        {_,finished} -&gt; </a:t>
            </a:r>
            <a:r>
              <a:rPr lang="en-US" sz="2000" dirty="0" err="1"/>
              <a:t>io:format</a:t>
            </a:r>
            <a:r>
              <a:rPr lang="en-US" sz="2000" dirty="0"/>
              <a:t>("Game over. ~n");</a:t>
            </a:r>
          </a:p>
          <a:p>
            <a:r>
              <a:rPr lang="en-US" sz="2000" dirty="0"/>
              <a:t>       {</a:t>
            </a:r>
            <a:r>
              <a:rPr lang="en-US" sz="2000" dirty="0" err="1"/>
              <a:t>Pid</a:t>
            </a:r>
            <a:r>
              <a:rPr lang="en-US" sz="2000" dirty="0"/>
              <a:t>, ping} -&gt; </a:t>
            </a:r>
            <a:r>
              <a:rPr lang="en-US" sz="2000" dirty="0" err="1"/>
              <a:t>io:format</a:t>
            </a:r>
            <a:r>
              <a:rPr lang="en-US" sz="2000" dirty="0"/>
              <a:t>("Pong received Ping. ~n"),</a:t>
            </a:r>
          </a:p>
          <a:p>
            <a:r>
              <a:rPr lang="en-US" sz="2000" dirty="0"/>
              <a:t>                               </a:t>
            </a:r>
            <a:r>
              <a:rPr lang="en-US" sz="2000" dirty="0" err="1"/>
              <a:t>Pid</a:t>
            </a:r>
            <a:r>
              <a:rPr lang="en-US" sz="2000" dirty="0"/>
              <a:t> ! {self(),pong},</a:t>
            </a:r>
          </a:p>
          <a:p>
            <a:r>
              <a:rPr lang="en-US" sz="2000" dirty="0"/>
              <a:t>                                pong()				  </a:t>
            </a:r>
          </a:p>
          <a:p>
            <a:r>
              <a:rPr lang="en-US" sz="2000" dirty="0"/>
              <a:t>     end.</a:t>
            </a:r>
          </a:p>
          <a:p>
            <a:r>
              <a:rPr lang="en-US" sz="2000" dirty="0"/>
              <a:t>   </a:t>
            </a:r>
          </a:p>
          <a:p>
            <a:r>
              <a:rPr lang="en-US" dirty="0"/>
              <a:t>  </a:t>
            </a:r>
          </a:p>
        </p:txBody>
      </p:sp>
    </p:spTree>
    <p:extLst>
      <p:ext uri="{BB962C8B-B14F-4D97-AF65-F5344CB8AC3E}">
        <p14:creationId xmlns:p14="http://schemas.microsoft.com/office/powerpoint/2010/main" val="5929261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96957" y="857051"/>
            <a:ext cx="2892908" cy="46166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a:t>&gt; </a:t>
            </a:r>
            <a:r>
              <a:rPr lang="en-US" sz="2400" dirty="0" err="1"/>
              <a:t>erl</a:t>
            </a:r>
            <a:r>
              <a:rPr lang="en-US" sz="2400" dirty="0"/>
              <a:t>  –s </a:t>
            </a:r>
            <a:r>
              <a:rPr lang="en-US" sz="2400" dirty="0" err="1"/>
              <a:t>ppmod</a:t>
            </a:r>
            <a:r>
              <a:rPr lang="en-US" sz="2400" dirty="0"/>
              <a:t> start  </a:t>
            </a:r>
          </a:p>
        </p:txBody>
      </p:sp>
      <p:pic>
        <p:nvPicPr>
          <p:cNvPr id="2" name="Picture 1"/>
          <p:cNvPicPr>
            <a:picLocks noChangeAspect="1"/>
          </p:cNvPicPr>
          <p:nvPr/>
        </p:nvPicPr>
        <p:blipFill>
          <a:blip r:embed="rId2"/>
          <a:stretch>
            <a:fillRect/>
          </a:stretch>
        </p:blipFill>
        <p:spPr>
          <a:xfrm>
            <a:off x="911325" y="402341"/>
            <a:ext cx="3598891" cy="5315553"/>
          </a:xfrm>
          <a:prstGeom prst="rect">
            <a:avLst/>
          </a:prstGeom>
        </p:spPr>
      </p:pic>
      <p:pic>
        <p:nvPicPr>
          <p:cNvPr id="6" name="Picture 5"/>
          <p:cNvPicPr>
            <a:picLocks noChangeAspect="1"/>
          </p:cNvPicPr>
          <p:nvPr/>
        </p:nvPicPr>
        <p:blipFill>
          <a:blip r:embed="rId3"/>
          <a:stretch>
            <a:fillRect/>
          </a:stretch>
        </p:blipFill>
        <p:spPr>
          <a:xfrm>
            <a:off x="4903084" y="1701659"/>
            <a:ext cx="6263109" cy="3825253"/>
          </a:xfrm>
          <a:prstGeom prst="rect">
            <a:avLst/>
          </a:prstGeom>
        </p:spPr>
      </p:pic>
    </p:spTree>
    <p:extLst>
      <p:ext uri="{BB962C8B-B14F-4D97-AF65-F5344CB8AC3E}">
        <p14:creationId xmlns:p14="http://schemas.microsoft.com/office/powerpoint/2010/main" val="27642124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1546" y="1846621"/>
            <a:ext cx="3200400" cy="2286000"/>
          </a:xfrm>
        </p:spPr>
        <p:txBody>
          <a:bodyPr>
            <a:normAutofit fontScale="90000"/>
          </a:bodyPr>
          <a:lstStyle/>
          <a:p>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r>
              <a:rPr lang="en-US" sz="3200" dirty="0">
                <a:hlinkClick r:id="rId2"/>
              </a:rPr>
              <a:t>ACTOR MODEL</a:t>
            </a:r>
            <a:br>
              <a:rPr lang="en-US" sz="3200" dirty="0">
                <a:hlinkClick r:id="rId2"/>
              </a:rPr>
            </a:br>
            <a:br>
              <a:rPr lang="en-US" sz="3200" dirty="0"/>
            </a:br>
            <a:endParaRPr lang="en-US" sz="3200" dirty="0"/>
          </a:p>
        </p:txBody>
      </p:sp>
      <p:sp>
        <p:nvSpPr>
          <p:cNvPr id="6" name="Text Placeholder 5"/>
          <p:cNvSpPr>
            <a:spLocks noGrp="1"/>
          </p:cNvSpPr>
          <p:nvPr>
            <p:ph type="body" sz="half" idx="2"/>
          </p:nvPr>
        </p:nvSpPr>
        <p:spPr>
          <a:xfrm>
            <a:off x="4233343" y="412095"/>
            <a:ext cx="5603774" cy="5943600"/>
          </a:xfrm>
        </p:spPr>
        <p:style>
          <a:lnRef idx="3">
            <a:schemeClr val="lt1"/>
          </a:lnRef>
          <a:fillRef idx="1">
            <a:schemeClr val="accent1"/>
          </a:fillRef>
          <a:effectRef idx="1">
            <a:schemeClr val="accent1"/>
          </a:effectRef>
          <a:fontRef idx="minor">
            <a:schemeClr val="lt1"/>
          </a:fontRef>
        </p:style>
        <p:txBody>
          <a:bodyPr>
            <a:normAutofit/>
          </a:bodyPr>
          <a:lstStyle/>
          <a:p>
            <a:endParaRPr lang="en-US" dirty="0"/>
          </a:p>
          <a:p>
            <a:pPr algn="just"/>
            <a:r>
              <a:rPr lang="en-US" sz="2000" dirty="0">
                <a:solidFill>
                  <a:schemeClr val="bg1"/>
                </a:solidFill>
              </a:rPr>
              <a:t>"</a:t>
            </a:r>
            <a:r>
              <a:rPr lang="en-US" sz="2000" dirty="0" err="1"/>
              <a:t>Erlang's</a:t>
            </a:r>
            <a:r>
              <a:rPr lang="en-US" sz="2000" dirty="0"/>
              <a:t> actor model can be imagined as a world where everyone is sitting alone in their own room and can perform a few distinct tasks. Everyone communicates strictly by writing letters and that's it. While it sounds like a boring life (and a new age for the postal service), it means you can ask many people to perform very specific tasks for you, and none of them will ever do something wrong or make mistakes which will have repercussions on the work of others; they may not even know the existence of people other than you (and that's great).</a:t>
            </a:r>
          </a:p>
          <a:p>
            <a:pPr algn="just"/>
            <a:r>
              <a:rPr lang="en-US" sz="2000" dirty="0"/>
              <a:t>To escape this analogy, </a:t>
            </a:r>
            <a:r>
              <a:rPr lang="en-US" sz="2000" dirty="0" err="1"/>
              <a:t>Erlang</a:t>
            </a:r>
            <a:r>
              <a:rPr lang="en-US" sz="2000" dirty="0"/>
              <a:t> forces you to write actors (processes) that will share no information with other bits of code unless they pass messages to each other. Every communication is explicit, traceable and safe."</a:t>
            </a:r>
          </a:p>
          <a:p>
            <a:pPr lvl="0" defTabSz="457200">
              <a:lnSpc>
                <a:spcPct val="100000"/>
              </a:lnSpc>
              <a:spcBef>
                <a:spcPts val="0"/>
              </a:spcBef>
              <a:spcAft>
                <a:spcPts val="0"/>
              </a:spcAft>
              <a:buClrTx/>
              <a:buSzTx/>
            </a:pPr>
            <a:endParaRPr lang="en-US" sz="2000" dirty="0">
              <a:solidFill>
                <a:schemeClr val="bg1"/>
              </a:solidFill>
            </a:endParaRPr>
          </a:p>
        </p:txBody>
      </p:sp>
      <p:sp>
        <p:nvSpPr>
          <p:cNvPr id="2" name="Rectangle 1"/>
          <p:cNvSpPr/>
          <p:nvPr/>
        </p:nvSpPr>
        <p:spPr>
          <a:xfrm>
            <a:off x="4408331" y="6355695"/>
            <a:ext cx="5428786" cy="338554"/>
          </a:xfrm>
          <a:prstGeom prst="rect">
            <a:avLst/>
          </a:prstGeom>
        </p:spPr>
        <p:txBody>
          <a:bodyPr wrap="square">
            <a:spAutoFit/>
          </a:bodyPr>
          <a:lstStyle/>
          <a:p>
            <a:r>
              <a:rPr lang="en-US" sz="1600" dirty="0">
                <a:hlinkClick r:id="rId3"/>
              </a:rPr>
              <a:t>http://learnyousomeerlang.com/introduction#what-is-erlang</a:t>
            </a:r>
            <a:endParaRPr lang="en-US" sz="1600" dirty="0"/>
          </a:p>
        </p:txBody>
      </p:sp>
      <p:sp>
        <p:nvSpPr>
          <p:cNvPr id="3" name="TextBox 2"/>
          <p:cNvSpPr txBox="1"/>
          <p:nvPr/>
        </p:nvSpPr>
        <p:spPr>
          <a:xfrm>
            <a:off x="4408331" y="5807650"/>
            <a:ext cx="5118333" cy="369332"/>
          </a:xfrm>
          <a:prstGeom prst="rect">
            <a:avLst/>
          </a:prstGeom>
          <a:noFill/>
        </p:spPr>
        <p:txBody>
          <a:bodyPr wrap="square" rtlCol="0">
            <a:spAutoFit/>
          </a:bodyPr>
          <a:lstStyle/>
          <a:p>
            <a:r>
              <a:rPr lang="en-US" dirty="0">
                <a:solidFill>
                  <a:schemeClr val="bg1"/>
                </a:solidFill>
              </a:rPr>
              <a:t>Fred Hébert, Learn You Some </a:t>
            </a:r>
            <a:r>
              <a:rPr lang="en-US" dirty="0" err="1">
                <a:solidFill>
                  <a:schemeClr val="bg1"/>
                </a:solidFill>
              </a:rPr>
              <a:t>Erlang</a:t>
            </a:r>
            <a:r>
              <a:rPr lang="en-US" dirty="0">
                <a:solidFill>
                  <a:schemeClr val="bg1"/>
                </a:solidFill>
              </a:rPr>
              <a:t> For Great Good </a:t>
            </a:r>
          </a:p>
        </p:txBody>
      </p:sp>
      <p:pic>
        <p:nvPicPr>
          <p:cNvPr id="7" name="Picture 4" descr="https://www.nostarch.com/sites/default/files/imagecache/product_full/erlang_newsmall.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06734" y="1717047"/>
            <a:ext cx="1971863" cy="2609232"/>
          </a:xfrm>
          <a:prstGeom prst="rect">
            <a:avLst/>
          </a:prstGeom>
        </p:spPr>
        <p:style>
          <a:lnRef idx="2">
            <a:schemeClr val="dk1"/>
          </a:lnRef>
          <a:fillRef idx="1">
            <a:schemeClr val="lt1"/>
          </a:fillRef>
          <a:effectRef idx="0">
            <a:schemeClr val="dk1"/>
          </a:effectRef>
          <a:fontRef idx="minor">
            <a:schemeClr val="dk1"/>
          </a:fontRef>
        </p:style>
      </p:pic>
      <p:sp>
        <p:nvSpPr>
          <p:cNvPr id="8" name="TextBox 7"/>
          <p:cNvSpPr txBox="1"/>
          <p:nvPr/>
        </p:nvSpPr>
        <p:spPr>
          <a:xfrm>
            <a:off x="10324105" y="4333252"/>
            <a:ext cx="1654492" cy="369332"/>
          </a:xfrm>
          <a:prstGeom prst="rect">
            <a:avLst/>
          </a:prstGeom>
          <a:noFill/>
        </p:spPr>
        <p:txBody>
          <a:bodyPr wrap="none" rtlCol="0">
            <a:spAutoFit/>
          </a:bodyPr>
          <a:lstStyle/>
          <a:p>
            <a:r>
              <a:rPr lang="en-US" dirty="0" err="1">
                <a:hlinkClick r:id="rId5"/>
              </a:rPr>
              <a:t>Varianta</a:t>
            </a:r>
            <a:r>
              <a:rPr lang="en-US" dirty="0">
                <a:hlinkClick r:id="rId5"/>
              </a:rPr>
              <a:t> online </a:t>
            </a:r>
            <a:endParaRPr lang="en-US" dirty="0"/>
          </a:p>
        </p:txBody>
      </p:sp>
    </p:spTree>
    <p:extLst>
      <p:ext uri="{BB962C8B-B14F-4D97-AF65-F5344CB8AC3E}">
        <p14:creationId xmlns:p14="http://schemas.microsoft.com/office/powerpoint/2010/main" val="26278548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545E82-E527-73AE-C665-F2EFFC4CEE40}"/>
              </a:ext>
            </a:extLst>
          </p:cNvPr>
          <p:cNvSpPr txBox="1"/>
          <p:nvPr/>
        </p:nvSpPr>
        <p:spPr>
          <a:xfrm>
            <a:off x="303122" y="132080"/>
            <a:ext cx="2644955"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err="1"/>
              <a:t>Modelul</a:t>
            </a:r>
            <a:r>
              <a:rPr lang="en-US" sz="2800" dirty="0"/>
              <a:t> </a:t>
            </a:r>
            <a:r>
              <a:rPr lang="en-US" sz="2800" dirty="0" err="1"/>
              <a:t>Actori</a:t>
            </a:r>
            <a:endParaRPr lang="en-GB" sz="2800" dirty="0"/>
          </a:p>
        </p:txBody>
      </p:sp>
      <p:sp>
        <p:nvSpPr>
          <p:cNvPr id="3" name="TextBox 2">
            <a:extLst>
              <a:ext uri="{FF2B5EF4-FFF2-40B4-BE49-F238E27FC236}">
                <a16:creationId xmlns:a16="http://schemas.microsoft.com/office/drawing/2014/main" id="{0303CC37-C82F-9524-9823-79B6E9D4C37C}"/>
              </a:ext>
            </a:extLst>
          </p:cNvPr>
          <p:cNvSpPr txBox="1"/>
          <p:nvPr/>
        </p:nvSpPr>
        <p:spPr>
          <a:xfrm>
            <a:off x="1808480" y="1536174"/>
            <a:ext cx="8126520" cy="3785652"/>
          </a:xfrm>
          <a:prstGeom prst="rect">
            <a:avLst/>
          </a:prstGeom>
          <a:noFill/>
        </p:spPr>
        <p:txBody>
          <a:bodyPr wrap="none" rtlCol="0">
            <a:spAutoFit/>
          </a:bodyPr>
          <a:lstStyle/>
          <a:p>
            <a:pPr marL="285750" indent="-285750">
              <a:buFont typeface="Arial" panose="020B0604020202020204" pitchFamily="34" charset="0"/>
              <a:buChar char="•"/>
            </a:pPr>
            <a:r>
              <a:rPr lang="en-US" sz="2400" dirty="0" err="1"/>
              <a:t>Introdus</a:t>
            </a:r>
            <a:r>
              <a:rPr lang="en-US" sz="2400" dirty="0"/>
              <a:t> de Carl Hewitt in 1973</a:t>
            </a:r>
          </a:p>
          <a:p>
            <a:pPr marL="285750" indent="-285750">
              <a:buFont typeface="Arial" panose="020B0604020202020204" pitchFamily="34" charset="0"/>
              <a:buChar char="•"/>
            </a:pPr>
            <a:r>
              <a:rPr lang="en-US" sz="2400" dirty="0" err="1"/>
              <a:t>Actorii</a:t>
            </a:r>
            <a:r>
              <a:rPr lang="en-US" sz="2400" dirty="0"/>
              <a:t> sunt o </a:t>
            </a:r>
            <a:r>
              <a:rPr lang="en-US" sz="2400" dirty="0" err="1"/>
              <a:t>notiune</a:t>
            </a:r>
            <a:r>
              <a:rPr lang="en-US" sz="2400" dirty="0"/>
              <a:t> abstracta (</a:t>
            </a:r>
            <a:r>
              <a:rPr lang="en-US" sz="2400" dirty="0" err="1"/>
              <a:t>corespunzatoare</a:t>
            </a:r>
            <a:r>
              <a:rPr lang="en-US" sz="2400" dirty="0"/>
              <a:t> </a:t>
            </a:r>
            <a:r>
              <a:rPr lang="en-US" sz="2400" dirty="0" err="1"/>
              <a:t>proceselor</a:t>
            </a:r>
            <a:r>
              <a:rPr lang="en-US" sz="2400" dirty="0"/>
              <a:t>)</a:t>
            </a:r>
          </a:p>
          <a:p>
            <a:pPr marL="285750" indent="-285750">
              <a:buFont typeface="Arial" panose="020B0604020202020204" pitchFamily="34" charset="0"/>
              <a:buChar char="•"/>
            </a:pPr>
            <a:r>
              <a:rPr lang="en-US" sz="2400" dirty="0" err="1"/>
              <a:t>Actorii</a:t>
            </a:r>
            <a:r>
              <a:rPr lang="en-US" sz="2400" dirty="0"/>
              <a:t> au </a:t>
            </a:r>
            <a:r>
              <a:rPr lang="en-US" sz="2400" dirty="0" err="1"/>
              <a:t>memorie</a:t>
            </a:r>
            <a:r>
              <a:rPr lang="en-US" sz="2400" dirty="0"/>
              <a:t> </a:t>
            </a:r>
            <a:r>
              <a:rPr lang="en-US" sz="2400" dirty="0" err="1"/>
              <a:t>proprie</a:t>
            </a:r>
            <a:r>
              <a:rPr lang="en-US" sz="2400" dirty="0"/>
              <a:t>, NU au </a:t>
            </a:r>
            <a:r>
              <a:rPr lang="en-US" sz="2400" dirty="0" err="1"/>
              <a:t>memorie</a:t>
            </a:r>
            <a:r>
              <a:rPr lang="en-US" sz="2400" dirty="0"/>
              <a:t> </a:t>
            </a:r>
            <a:r>
              <a:rPr lang="en-US" sz="2400" dirty="0" err="1"/>
              <a:t>partajata</a:t>
            </a:r>
            <a:endParaRPr lang="en-US" sz="2400" dirty="0"/>
          </a:p>
          <a:p>
            <a:pPr marL="285750" indent="-285750">
              <a:buFont typeface="Arial" panose="020B0604020202020204" pitchFamily="34" charset="0"/>
              <a:buChar char="•"/>
            </a:pPr>
            <a:r>
              <a:rPr lang="en-US" sz="2400" dirty="0" err="1"/>
              <a:t>Actorii</a:t>
            </a:r>
            <a:r>
              <a:rPr lang="en-US" sz="2400" dirty="0"/>
              <a:t> </a:t>
            </a:r>
            <a:r>
              <a:rPr lang="en-US" sz="2400" dirty="0" err="1"/>
              <a:t>comunica</a:t>
            </a:r>
            <a:r>
              <a:rPr lang="en-US" sz="2400" dirty="0"/>
              <a:t> </a:t>
            </a:r>
            <a:r>
              <a:rPr lang="en-US" sz="2400" dirty="0" err="1"/>
              <a:t>prin</a:t>
            </a:r>
            <a:r>
              <a:rPr lang="en-US" sz="2400" dirty="0"/>
              <a:t> </a:t>
            </a:r>
            <a:r>
              <a:rPr lang="en-US" sz="2400" dirty="0" err="1"/>
              <a:t>mesaje</a:t>
            </a:r>
            <a:endParaRPr lang="en-US" sz="2400" dirty="0"/>
          </a:p>
          <a:p>
            <a:pPr marL="285750" indent="-285750">
              <a:buFont typeface="Arial" panose="020B0604020202020204" pitchFamily="34" charset="0"/>
              <a:buChar char="•"/>
            </a:pPr>
            <a:r>
              <a:rPr lang="en-US" sz="2400" dirty="0"/>
              <a:t>Un actor </a:t>
            </a:r>
            <a:r>
              <a:rPr lang="en-US" sz="2400" dirty="0" err="1"/>
              <a:t>este</a:t>
            </a:r>
            <a:r>
              <a:rPr lang="en-US" sz="2400" dirty="0"/>
              <a:t> </a:t>
            </a:r>
            <a:r>
              <a:rPr lang="en-US" sz="2400" dirty="0" err="1"/>
              <a:t>capabil</a:t>
            </a:r>
            <a:r>
              <a:rPr lang="en-US" sz="2400" dirty="0"/>
              <a:t> </a:t>
            </a:r>
            <a:r>
              <a:rPr lang="en-US" sz="2400" dirty="0" err="1"/>
              <a:t>sa</a:t>
            </a:r>
            <a:r>
              <a:rPr lang="en-US" sz="2400" dirty="0"/>
              <a:t>:</a:t>
            </a:r>
          </a:p>
          <a:p>
            <a:pPr marL="1200150" lvl="2" indent="-285750">
              <a:buFont typeface="Courier New" panose="02070309020205020404" pitchFamily="49" charset="0"/>
              <a:buChar char="o"/>
            </a:pPr>
            <a:r>
              <a:rPr lang="en-US" sz="2400" dirty="0"/>
              <a:t>       </a:t>
            </a:r>
            <a:r>
              <a:rPr lang="en-US" sz="2400" dirty="0" err="1"/>
              <a:t>trimita</a:t>
            </a:r>
            <a:r>
              <a:rPr lang="en-US" sz="2400" dirty="0"/>
              <a:t> </a:t>
            </a:r>
            <a:r>
              <a:rPr lang="en-US" sz="2400" dirty="0" err="1"/>
              <a:t>mesaje</a:t>
            </a:r>
            <a:r>
              <a:rPr lang="en-US" sz="2400" dirty="0"/>
              <a:t> </a:t>
            </a:r>
            <a:r>
              <a:rPr lang="en-US" sz="2400" dirty="0" err="1"/>
              <a:t>actorilor</a:t>
            </a:r>
            <a:r>
              <a:rPr lang="en-US" sz="2400" dirty="0"/>
              <a:t> pe care ii </a:t>
            </a:r>
            <a:r>
              <a:rPr lang="en-US" sz="2400" dirty="0" err="1"/>
              <a:t>cunoaste</a:t>
            </a:r>
            <a:endParaRPr lang="en-US" sz="2400" dirty="0"/>
          </a:p>
          <a:p>
            <a:pPr marL="1200150" lvl="2" indent="-285750">
              <a:buFont typeface="Courier New" panose="02070309020205020404" pitchFamily="49" charset="0"/>
              <a:buChar char="o"/>
            </a:pPr>
            <a:r>
              <a:rPr lang="en-US" sz="2400" dirty="0"/>
              <a:t>       </a:t>
            </a:r>
            <a:r>
              <a:rPr lang="en-US" sz="2400" dirty="0" err="1"/>
              <a:t>creeze</a:t>
            </a:r>
            <a:r>
              <a:rPr lang="en-US" sz="2400" dirty="0"/>
              <a:t> </a:t>
            </a:r>
            <a:r>
              <a:rPr lang="en-US" sz="2400" dirty="0" err="1"/>
              <a:t>noi</a:t>
            </a:r>
            <a:r>
              <a:rPr lang="en-US" sz="2400" dirty="0"/>
              <a:t> </a:t>
            </a:r>
            <a:r>
              <a:rPr lang="en-US" sz="2400" dirty="0" err="1"/>
              <a:t>actori</a:t>
            </a:r>
            <a:endParaRPr lang="en-US" sz="2400" dirty="0"/>
          </a:p>
          <a:p>
            <a:pPr marL="1200150" lvl="2" indent="-285750">
              <a:buFont typeface="Courier New" panose="02070309020205020404" pitchFamily="49" charset="0"/>
              <a:buChar char="o"/>
            </a:pPr>
            <a:r>
              <a:rPr lang="en-US" sz="2400" dirty="0"/>
              <a:t>       </a:t>
            </a:r>
            <a:r>
              <a:rPr lang="en-US" sz="2400" dirty="0" err="1"/>
              <a:t>raspunda</a:t>
            </a:r>
            <a:r>
              <a:rPr lang="en-US" sz="2400" dirty="0"/>
              <a:t> </a:t>
            </a:r>
            <a:r>
              <a:rPr lang="en-US" sz="2400" dirty="0" err="1"/>
              <a:t>mesajelor</a:t>
            </a:r>
            <a:r>
              <a:rPr lang="en-US" sz="2400" dirty="0"/>
              <a:t> pe care le </a:t>
            </a:r>
            <a:r>
              <a:rPr lang="en-US" sz="2400" dirty="0" err="1"/>
              <a:t>primeste</a:t>
            </a:r>
            <a:r>
              <a:rPr lang="en-US" sz="2400" dirty="0"/>
              <a:t> </a:t>
            </a:r>
          </a:p>
          <a:p>
            <a:pPr marL="285750" indent="-285750">
              <a:buFont typeface="Arial" panose="020B0604020202020204" pitchFamily="34" charset="0"/>
              <a:buChar char="•"/>
            </a:pPr>
            <a:r>
              <a:rPr lang="en-US" sz="2400" dirty="0" err="1"/>
              <a:t>Mesajele</a:t>
            </a:r>
            <a:r>
              <a:rPr lang="en-US" sz="2400" dirty="0"/>
              <a:t> </a:t>
            </a:r>
            <a:r>
              <a:rPr lang="en-US" sz="2400" dirty="0" err="1"/>
              <a:t>contin</a:t>
            </a:r>
            <a:r>
              <a:rPr lang="en-US" sz="2400" dirty="0"/>
              <a:t> un </a:t>
            </a:r>
            <a:r>
              <a:rPr lang="en-US" sz="2400" dirty="0" err="1"/>
              <a:t>destinatar</a:t>
            </a:r>
            <a:r>
              <a:rPr lang="en-US" sz="2400" dirty="0"/>
              <a:t> </a:t>
            </a:r>
            <a:r>
              <a:rPr lang="en-US" sz="2400" dirty="0" err="1"/>
              <a:t>si</a:t>
            </a:r>
            <a:r>
              <a:rPr lang="en-US" sz="2400" dirty="0"/>
              <a:t> un </a:t>
            </a:r>
            <a:r>
              <a:rPr lang="en-US" sz="2400" dirty="0" err="1"/>
              <a:t>continut</a:t>
            </a:r>
            <a:endParaRPr lang="en-US" sz="2400" dirty="0"/>
          </a:p>
          <a:p>
            <a:pPr marL="285750" indent="-285750">
              <a:buFont typeface="Arial" panose="020B0604020202020204" pitchFamily="34" charset="0"/>
              <a:buChar char="•"/>
            </a:pPr>
            <a:r>
              <a:rPr lang="en-US" sz="2400" dirty="0" err="1"/>
              <a:t>Trimiterea</a:t>
            </a:r>
            <a:r>
              <a:rPr lang="en-US" sz="2400" dirty="0"/>
              <a:t> </a:t>
            </a:r>
            <a:r>
              <a:rPr lang="en-US" sz="2400" dirty="0" err="1"/>
              <a:t>mesajelor</a:t>
            </a:r>
            <a:r>
              <a:rPr lang="en-US" sz="2400" dirty="0"/>
              <a:t> </a:t>
            </a:r>
            <a:r>
              <a:rPr lang="en-US" sz="2400" dirty="0" err="1"/>
              <a:t>este</a:t>
            </a:r>
            <a:r>
              <a:rPr lang="en-US" sz="2400" dirty="0"/>
              <a:t> </a:t>
            </a:r>
            <a:r>
              <a:rPr lang="en-US" sz="2400" dirty="0" err="1"/>
              <a:t>asincrona</a:t>
            </a:r>
            <a:endParaRPr lang="en-GB" sz="2400" dirty="0"/>
          </a:p>
        </p:txBody>
      </p:sp>
    </p:spTree>
    <p:extLst>
      <p:ext uri="{BB962C8B-B14F-4D97-AF65-F5344CB8AC3E}">
        <p14:creationId xmlns:p14="http://schemas.microsoft.com/office/powerpoint/2010/main" val="18291345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70782" y="940677"/>
            <a:ext cx="5681131" cy="5129046"/>
          </a:xfrm>
          <a:prstGeom prst="rect">
            <a:avLst/>
          </a:prstGeom>
        </p:spPr>
        <p:style>
          <a:lnRef idx="2">
            <a:schemeClr val="dk1"/>
          </a:lnRef>
          <a:fillRef idx="1">
            <a:schemeClr val="lt1"/>
          </a:fillRef>
          <a:effectRef idx="0">
            <a:schemeClr val="dk1"/>
          </a:effectRef>
          <a:fontRef idx="minor">
            <a:schemeClr val="dk1"/>
          </a:fontRef>
        </p:style>
      </p:pic>
      <p:sp>
        <p:nvSpPr>
          <p:cNvPr id="6" name="TextBox 5"/>
          <p:cNvSpPr txBox="1"/>
          <p:nvPr/>
        </p:nvSpPr>
        <p:spPr>
          <a:xfrm>
            <a:off x="236729" y="167532"/>
            <a:ext cx="7837338"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Cilent</a:t>
            </a:r>
            <a:r>
              <a:rPr lang="en-US" sz="2800" dirty="0"/>
              <a:t>-Server   (</a:t>
            </a:r>
            <a:r>
              <a:rPr lang="en-US" sz="2800" dirty="0" err="1"/>
              <a:t>Exemplu</a:t>
            </a:r>
            <a:r>
              <a:rPr lang="en-US" sz="2800" dirty="0"/>
              <a:t> </a:t>
            </a:r>
            <a:r>
              <a:rPr lang="en-US" sz="2800" dirty="0" err="1"/>
              <a:t>simplu</a:t>
            </a:r>
            <a:r>
              <a:rPr lang="en-US" sz="2800" dirty="0"/>
              <a:t>: doubling service) </a:t>
            </a:r>
          </a:p>
        </p:txBody>
      </p:sp>
      <p:sp>
        <p:nvSpPr>
          <p:cNvPr id="7" name="TextBox 6">
            <a:extLst>
              <a:ext uri="{FF2B5EF4-FFF2-40B4-BE49-F238E27FC236}">
                <a16:creationId xmlns:a16="http://schemas.microsoft.com/office/drawing/2014/main" id="{A1AA9C99-079A-2259-8427-128E0E34552C}"/>
              </a:ext>
            </a:extLst>
          </p:cNvPr>
          <p:cNvSpPr txBox="1"/>
          <p:nvPr/>
        </p:nvSpPr>
        <p:spPr>
          <a:xfrm>
            <a:off x="7413171" y="1262742"/>
            <a:ext cx="4365172" cy="4093428"/>
          </a:xfrm>
          <a:prstGeom prst="rect">
            <a:avLst/>
          </a:prstGeom>
          <a:noFill/>
        </p:spPr>
        <p:txBody>
          <a:bodyPr wrap="square" rtlCol="0">
            <a:spAutoFit/>
          </a:bodyPr>
          <a:lstStyle/>
          <a:p>
            <a:pPr marL="342900" indent="-342900">
              <a:buFont typeface="Arial" panose="020B0604020202020204" pitchFamily="34" charset="0"/>
              <a:buChar char="•"/>
            </a:pPr>
            <a:r>
              <a:rPr lang="en-US" sz="2000" dirty="0" err="1"/>
              <a:t>Procesul</a:t>
            </a:r>
            <a:r>
              <a:rPr lang="en-US" sz="2000" dirty="0"/>
              <a:t> </a:t>
            </a:r>
            <a:r>
              <a:rPr lang="en-US" sz="2000" b="1" dirty="0"/>
              <a:t>Ser</a:t>
            </a:r>
            <a:r>
              <a:rPr lang="en-US" sz="2000" dirty="0"/>
              <a:t> </a:t>
            </a:r>
            <a:r>
              <a:rPr lang="en-US" sz="2000" dirty="0" err="1"/>
              <a:t>este</a:t>
            </a:r>
            <a:r>
              <a:rPr lang="en-US" sz="2000" dirty="0"/>
              <a:t> </a:t>
            </a:r>
            <a:r>
              <a:rPr lang="en-US" sz="2000" dirty="0" err="1"/>
              <a:t>serverul</a:t>
            </a:r>
            <a:r>
              <a:rPr lang="en-US" sz="2000" dirty="0"/>
              <a:t> </a:t>
            </a:r>
            <a:r>
              <a:rPr lang="en-US" sz="2000" dirty="0" err="1"/>
              <a:t>si</a:t>
            </a:r>
            <a:r>
              <a:rPr lang="en-US" sz="2000" dirty="0"/>
              <a:t> </a:t>
            </a:r>
          </a:p>
          <a:p>
            <a:r>
              <a:rPr lang="en-US" sz="2000" dirty="0"/>
              <a:t>                     </a:t>
            </a:r>
            <a:r>
              <a:rPr lang="en-US" sz="2000" dirty="0" err="1"/>
              <a:t>executa</a:t>
            </a:r>
            <a:r>
              <a:rPr lang="en-US" sz="2000" dirty="0"/>
              <a:t> </a:t>
            </a:r>
            <a:r>
              <a:rPr lang="en-US" sz="2000" dirty="0" err="1"/>
              <a:t>functia</a:t>
            </a:r>
            <a:r>
              <a:rPr lang="en-US" sz="2000" dirty="0"/>
              <a:t>  </a:t>
            </a:r>
            <a:r>
              <a:rPr lang="en-US" sz="2000" b="1" dirty="0" err="1"/>
              <a:t>server_loop</a:t>
            </a:r>
            <a:endParaRPr lang="en-US" sz="2000" b="1" dirty="0"/>
          </a:p>
          <a:p>
            <a:endParaRPr lang="en-US" sz="2000" dirty="0"/>
          </a:p>
          <a:p>
            <a:pPr marL="342900" indent="-342900">
              <a:buFont typeface="Arial" panose="020B0604020202020204" pitchFamily="34" charset="0"/>
              <a:buChar char="•"/>
            </a:pPr>
            <a:r>
              <a:rPr lang="en-US" sz="2000" dirty="0" err="1"/>
              <a:t>Serverul</a:t>
            </a:r>
            <a:r>
              <a:rPr lang="en-US" sz="2000" dirty="0"/>
              <a:t> </a:t>
            </a:r>
            <a:r>
              <a:rPr lang="en-US" sz="2000" dirty="0" err="1"/>
              <a:t>primeste</a:t>
            </a:r>
            <a:r>
              <a:rPr lang="en-US" sz="2000" dirty="0"/>
              <a:t> </a:t>
            </a:r>
            <a:r>
              <a:rPr lang="en-US" sz="2000" dirty="0" err="1"/>
              <a:t>mesaje</a:t>
            </a:r>
            <a:r>
              <a:rPr lang="en-US" sz="2000" dirty="0"/>
              <a:t> de la </a:t>
            </a:r>
            <a:r>
              <a:rPr lang="en-US" sz="2000" dirty="0" err="1"/>
              <a:t>procese</a:t>
            </a:r>
            <a:r>
              <a:rPr lang="en-US" sz="2000" dirty="0"/>
              <a:t>    client </a:t>
            </a:r>
            <a:r>
              <a:rPr lang="en-US" sz="2000" dirty="0" err="1"/>
              <a:t>si</a:t>
            </a:r>
            <a:r>
              <a:rPr lang="en-US" sz="2000" dirty="0"/>
              <a:t>  </a:t>
            </a:r>
            <a:r>
              <a:rPr lang="en-US" sz="2000" dirty="0" err="1"/>
              <a:t>executa</a:t>
            </a:r>
            <a:r>
              <a:rPr lang="en-US" sz="2000" dirty="0"/>
              <a:t> o </a:t>
            </a:r>
            <a:r>
              <a:rPr lang="en-US" sz="2000" dirty="0" err="1"/>
              <a:t>actiune</a:t>
            </a:r>
            <a:r>
              <a:rPr lang="en-US" sz="2000" dirty="0"/>
              <a:t> (</a:t>
            </a:r>
            <a:r>
              <a:rPr lang="en-US" sz="2000" dirty="0" err="1"/>
              <a:t>dubleaza</a:t>
            </a:r>
            <a:r>
              <a:rPr lang="en-US" sz="2000" dirty="0"/>
              <a:t> </a:t>
            </a:r>
            <a:r>
              <a:rPr lang="en-US" sz="2000" dirty="0" err="1"/>
              <a:t>valoarea</a:t>
            </a:r>
            <a:r>
              <a:rPr lang="en-US" sz="2000" dirty="0"/>
              <a:t> </a:t>
            </a:r>
            <a:r>
              <a:rPr lang="en-US" sz="2000" dirty="0" err="1"/>
              <a:t>primita</a:t>
            </a:r>
            <a:r>
              <a:rPr lang="en-US" sz="2000" dirty="0"/>
              <a:t>)</a:t>
            </a:r>
          </a:p>
          <a:p>
            <a:endParaRPr lang="en-US" sz="2000" dirty="0"/>
          </a:p>
          <a:p>
            <a:pPr marL="342900" indent="-342900">
              <a:buFont typeface="Arial" panose="020B0604020202020204" pitchFamily="34" charset="0"/>
              <a:buChar char="•"/>
            </a:pPr>
            <a:r>
              <a:rPr lang="en-US" sz="2000" dirty="0"/>
              <a:t>In </a:t>
            </a:r>
            <a:r>
              <a:rPr lang="en-US" sz="2000" dirty="0" err="1"/>
              <a:t>acest</a:t>
            </a:r>
            <a:r>
              <a:rPr lang="en-US" sz="2000" dirty="0"/>
              <a:t> </a:t>
            </a:r>
            <a:r>
              <a:rPr lang="en-US" sz="2000" dirty="0" err="1"/>
              <a:t>exemplu</a:t>
            </a:r>
            <a:r>
              <a:rPr lang="en-US" sz="2000" dirty="0"/>
              <a:t> </a:t>
            </a:r>
            <a:r>
              <a:rPr lang="en-US" sz="2000" dirty="0" err="1"/>
              <a:t>singurul</a:t>
            </a:r>
            <a:r>
              <a:rPr lang="en-US" sz="2000" dirty="0"/>
              <a:t> client </a:t>
            </a:r>
            <a:r>
              <a:rPr lang="en-US" sz="2000" dirty="0" err="1"/>
              <a:t>este</a:t>
            </a:r>
            <a:r>
              <a:rPr lang="en-US" sz="2000" dirty="0"/>
              <a:t> shell-</a:t>
            </a:r>
            <a:r>
              <a:rPr lang="en-US" sz="2000" dirty="0" err="1"/>
              <a:t>ul</a:t>
            </a:r>
            <a:endParaRPr lang="en-US" sz="2000" dirty="0"/>
          </a:p>
          <a:p>
            <a:endParaRPr lang="en-US" sz="2000" dirty="0"/>
          </a:p>
          <a:p>
            <a:pPr marL="342900" indent="-342900">
              <a:buFont typeface="Arial" panose="020B0604020202020204" pitchFamily="34" charset="0"/>
              <a:buChar char="•"/>
            </a:pPr>
            <a:r>
              <a:rPr lang="en-US" sz="2000" dirty="0" err="1"/>
              <a:t>Mesajele</a:t>
            </a:r>
            <a:r>
              <a:rPr lang="en-US" sz="2000" dirty="0"/>
              <a:t> </a:t>
            </a:r>
            <a:r>
              <a:rPr lang="en-US" sz="2000" dirty="0" err="1"/>
              <a:t>primite</a:t>
            </a:r>
            <a:r>
              <a:rPr lang="en-US" sz="2000" dirty="0"/>
              <a:t> de shell, </a:t>
            </a:r>
            <a:r>
              <a:rPr lang="en-US" sz="2000" dirty="0" err="1"/>
              <a:t>adica</a:t>
            </a:r>
            <a:r>
              <a:rPr lang="en-US" sz="2000" dirty="0"/>
              <a:t> </a:t>
            </a:r>
            <a:r>
              <a:rPr lang="en-US" sz="2000" dirty="0" err="1"/>
              <a:t>raspunsurile</a:t>
            </a:r>
            <a:r>
              <a:rPr lang="en-US" sz="2000" dirty="0"/>
              <a:t> </a:t>
            </a:r>
            <a:r>
              <a:rPr lang="en-US" sz="2000" dirty="0" err="1"/>
              <a:t>trimise</a:t>
            </a:r>
            <a:r>
              <a:rPr lang="en-US" sz="2000" dirty="0"/>
              <a:t> de server, sunt </a:t>
            </a:r>
            <a:r>
              <a:rPr lang="en-US" sz="2000" dirty="0" err="1"/>
              <a:t>vizualizate</a:t>
            </a:r>
            <a:r>
              <a:rPr lang="en-US" sz="2000" dirty="0"/>
              <a:t> cu </a:t>
            </a:r>
            <a:r>
              <a:rPr lang="en-US" sz="2000" b="1" dirty="0"/>
              <a:t>flush()</a:t>
            </a:r>
            <a:endParaRPr lang="en-GB" sz="2000" b="1" dirty="0"/>
          </a:p>
        </p:txBody>
      </p:sp>
    </p:spTree>
    <p:extLst>
      <p:ext uri="{BB962C8B-B14F-4D97-AF65-F5344CB8AC3E}">
        <p14:creationId xmlns:p14="http://schemas.microsoft.com/office/powerpoint/2010/main" val="34026668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8744" y="1118957"/>
            <a:ext cx="7644577" cy="4154984"/>
          </a:xfrm>
          <a:prstGeom prst="rect">
            <a:avLst/>
          </a:prstGeom>
          <a:ln w="38100">
            <a:solidFill>
              <a:srgbClr val="C00000"/>
            </a:solidFill>
          </a:ln>
        </p:spPr>
        <p:txBody>
          <a:bodyPr wrap="square">
            <a:spAutoFit/>
          </a:bodyPr>
          <a:lstStyle/>
          <a:p>
            <a:r>
              <a:rPr lang="en-US" sz="2400" dirty="0"/>
              <a:t>-module(</a:t>
            </a:r>
            <a:r>
              <a:rPr lang="en-US" sz="2400" dirty="0" err="1"/>
              <a:t>myserv</a:t>
            </a:r>
            <a:r>
              <a:rPr lang="en-US" sz="2400" dirty="0"/>
              <a:t>). </a:t>
            </a:r>
          </a:p>
          <a:p>
            <a:r>
              <a:rPr lang="en-US" sz="2400" dirty="0"/>
              <a:t>-export([</a:t>
            </a:r>
            <a:r>
              <a:rPr lang="en-US" sz="2400" dirty="0" err="1"/>
              <a:t>server_loop</a:t>
            </a:r>
            <a:r>
              <a:rPr lang="en-US" sz="2400" dirty="0"/>
              <a:t>/0]).</a:t>
            </a:r>
          </a:p>
          <a:p>
            <a:endParaRPr lang="en-US" sz="2400" dirty="0"/>
          </a:p>
          <a:p>
            <a:r>
              <a:rPr lang="en-US" sz="2400" dirty="0" err="1"/>
              <a:t>server_loop</a:t>
            </a:r>
            <a:r>
              <a:rPr lang="en-US" sz="2400" dirty="0"/>
              <a:t>() -&gt;</a:t>
            </a:r>
          </a:p>
          <a:p>
            <a:r>
              <a:rPr lang="en-US" sz="2400" dirty="0"/>
              <a:t>   receive</a:t>
            </a:r>
          </a:p>
          <a:p>
            <a:r>
              <a:rPr lang="en-US" sz="2400" dirty="0"/>
              <a:t>        {From, {double, Number}} -&gt; From ! {self(),Number*2},</a:t>
            </a:r>
          </a:p>
          <a:p>
            <a:r>
              <a:rPr lang="en-US" sz="2400" dirty="0"/>
              <a:t>                           	                           </a:t>
            </a:r>
            <a:r>
              <a:rPr lang="en-US" sz="2400" dirty="0" err="1"/>
              <a:t>server_loop</a:t>
            </a:r>
            <a:r>
              <a:rPr lang="en-US" sz="2400" dirty="0"/>
              <a:t>() ;</a:t>
            </a:r>
          </a:p>
          <a:p>
            <a:r>
              <a:rPr lang="en-US" sz="2400" dirty="0"/>
              <a:t>	                              </a:t>
            </a:r>
          </a:p>
          <a:p>
            <a:r>
              <a:rPr lang="en-US" sz="2400" dirty="0"/>
              <a:t>           {From,_} -&gt; From ! {self(),error},</a:t>
            </a:r>
          </a:p>
          <a:p>
            <a:r>
              <a:rPr lang="en-US" sz="2400" dirty="0"/>
              <a:t>		                </a:t>
            </a:r>
            <a:r>
              <a:rPr lang="en-US" sz="2400" dirty="0" err="1"/>
              <a:t>server_loop</a:t>
            </a:r>
            <a:r>
              <a:rPr lang="en-US" sz="2400" dirty="0"/>
              <a:t>()</a:t>
            </a:r>
          </a:p>
          <a:p>
            <a:r>
              <a:rPr lang="en-US" sz="2400" dirty="0"/>
              <a:t>   end.</a:t>
            </a:r>
          </a:p>
        </p:txBody>
      </p:sp>
      <p:sp>
        <p:nvSpPr>
          <p:cNvPr id="6" name="TextBox 5"/>
          <p:cNvSpPr txBox="1"/>
          <p:nvPr/>
        </p:nvSpPr>
        <p:spPr>
          <a:xfrm>
            <a:off x="236729" y="167532"/>
            <a:ext cx="7837338"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Cilent</a:t>
            </a:r>
            <a:r>
              <a:rPr lang="en-US" sz="2800" dirty="0"/>
              <a:t>-Server   (</a:t>
            </a:r>
            <a:r>
              <a:rPr lang="en-US" sz="2800" dirty="0" err="1"/>
              <a:t>Exemplu</a:t>
            </a:r>
            <a:r>
              <a:rPr lang="en-US" sz="2800" dirty="0"/>
              <a:t> </a:t>
            </a:r>
            <a:r>
              <a:rPr lang="en-US" sz="2800" dirty="0" err="1"/>
              <a:t>simplu</a:t>
            </a:r>
            <a:r>
              <a:rPr lang="en-US" sz="2800" dirty="0"/>
              <a:t>: doubling service) </a:t>
            </a:r>
          </a:p>
        </p:txBody>
      </p:sp>
      <p:pic>
        <p:nvPicPr>
          <p:cNvPr id="2" name="Picture 1"/>
          <p:cNvPicPr>
            <a:picLocks noChangeAspect="1"/>
          </p:cNvPicPr>
          <p:nvPr/>
        </p:nvPicPr>
        <p:blipFill>
          <a:blip r:embed="rId2"/>
          <a:stretch>
            <a:fillRect/>
          </a:stretch>
        </p:blipFill>
        <p:spPr>
          <a:xfrm>
            <a:off x="7655544" y="1920837"/>
            <a:ext cx="4427599" cy="3997330"/>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8640574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243282" y="859147"/>
            <a:ext cx="3511804" cy="3170531"/>
          </a:xfrm>
          <a:prstGeom prst="rect">
            <a:avLst/>
          </a:prstGeom>
        </p:spPr>
        <p:style>
          <a:lnRef idx="2">
            <a:schemeClr val="dk1"/>
          </a:lnRef>
          <a:fillRef idx="1">
            <a:schemeClr val="lt1"/>
          </a:fillRef>
          <a:effectRef idx="0">
            <a:schemeClr val="dk1"/>
          </a:effectRef>
          <a:fontRef idx="minor">
            <a:schemeClr val="dk1"/>
          </a:fontRef>
        </p:style>
      </p:pic>
      <p:sp>
        <p:nvSpPr>
          <p:cNvPr id="3" name="Rectangle 2"/>
          <p:cNvSpPr/>
          <p:nvPr/>
        </p:nvSpPr>
        <p:spPr>
          <a:xfrm>
            <a:off x="429490" y="890357"/>
            <a:ext cx="6590867" cy="3139321"/>
          </a:xfrm>
          <a:prstGeom prst="rect">
            <a:avLst/>
          </a:prstGeom>
          <a:ln w="38100">
            <a:solidFill>
              <a:srgbClr val="C00000"/>
            </a:solidFill>
          </a:ln>
        </p:spPr>
        <p:txBody>
          <a:bodyPr wrap="square">
            <a:spAutoFit/>
          </a:bodyPr>
          <a:lstStyle/>
          <a:p>
            <a:r>
              <a:rPr lang="en-US" dirty="0"/>
              <a:t>-module(</a:t>
            </a:r>
            <a:r>
              <a:rPr lang="en-US" dirty="0" err="1"/>
              <a:t>myserv</a:t>
            </a:r>
            <a:r>
              <a:rPr lang="en-US" dirty="0"/>
              <a:t>). </a:t>
            </a:r>
          </a:p>
          <a:p>
            <a:r>
              <a:rPr lang="en-US" dirty="0"/>
              <a:t>-export([</a:t>
            </a:r>
            <a:r>
              <a:rPr lang="en-US" dirty="0" err="1"/>
              <a:t>server_loop</a:t>
            </a:r>
            <a:r>
              <a:rPr lang="en-US" dirty="0"/>
              <a:t>/0]).</a:t>
            </a:r>
          </a:p>
          <a:p>
            <a:endParaRPr lang="en-US" dirty="0"/>
          </a:p>
          <a:p>
            <a:r>
              <a:rPr lang="en-US" dirty="0" err="1"/>
              <a:t>server_loop</a:t>
            </a:r>
            <a:r>
              <a:rPr lang="en-US" dirty="0"/>
              <a:t>() -&gt;</a:t>
            </a:r>
          </a:p>
          <a:p>
            <a:r>
              <a:rPr lang="en-US" dirty="0"/>
              <a:t>   receive</a:t>
            </a:r>
          </a:p>
          <a:p>
            <a:r>
              <a:rPr lang="en-US" dirty="0"/>
              <a:t>          {From, {double, Number}} -&gt; From ! {self(), Number*2},</a:t>
            </a:r>
          </a:p>
          <a:p>
            <a:r>
              <a:rPr lang="en-US" dirty="0"/>
              <a:t>                        	                               </a:t>
            </a:r>
            <a:r>
              <a:rPr lang="en-US" dirty="0" err="1"/>
              <a:t>server_loop</a:t>
            </a:r>
            <a:r>
              <a:rPr lang="en-US" dirty="0"/>
              <a:t>() ;</a:t>
            </a:r>
          </a:p>
          <a:p>
            <a:r>
              <a:rPr lang="en-US" dirty="0"/>
              <a:t>	                              </a:t>
            </a:r>
          </a:p>
          <a:p>
            <a:r>
              <a:rPr lang="en-US" dirty="0"/>
              <a:t>           {From,_} -&gt; From ! {self(),error},</a:t>
            </a:r>
          </a:p>
          <a:p>
            <a:r>
              <a:rPr lang="en-US" dirty="0"/>
              <a:t>		                </a:t>
            </a:r>
            <a:r>
              <a:rPr lang="en-US" dirty="0" err="1"/>
              <a:t>server_loop</a:t>
            </a:r>
            <a:r>
              <a:rPr lang="en-US" dirty="0"/>
              <a:t>()</a:t>
            </a:r>
          </a:p>
          <a:p>
            <a:r>
              <a:rPr lang="en-US" dirty="0"/>
              <a:t>   end.</a:t>
            </a:r>
          </a:p>
        </p:txBody>
      </p:sp>
      <p:pic>
        <p:nvPicPr>
          <p:cNvPr id="4" name="Picture 3"/>
          <p:cNvPicPr>
            <a:picLocks noChangeAspect="1"/>
          </p:cNvPicPr>
          <p:nvPr/>
        </p:nvPicPr>
        <p:blipFill>
          <a:blip r:embed="rId3"/>
          <a:stretch>
            <a:fillRect/>
          </a:stretch>
        </p:blipFill>
        <p:spPr>
          <a:xfrm>
            <a:off x="6889729" y="4198073"/>
            <a:ext cx="5027804" cy="1958396"/>
          </a:xfrm>
          <a:prstGeom prst="rect">
            <a:avLst/>
          </a:prstGeom>
        </p:spPr>
        <p:style>
          <a:lnRef idx="2">
            <a:schemeClr val="dk1"/>
          </a:lnRef>
          <a:fillRef idx="1">
            <a:schemeClr val="lt1"/>
          </a:fillRef>
          <a:effectRef idx="0">
            <a:schemeClr val="dk1"/>
          </a:effectRef>
          <a:fontRef idx="minor">
            <a:schemeClr val="dk1"/>
          </a:fontRef>
        </p:style>
      </p:pic>
      <p:sp>
        <p:nvSpPr>
          <p:cNvPr id="5" name="TextBox 4"/>
          <p:cNvSpPr txBox="1"/>
          <p:nvPr/>
        </p:nvSpPr>
        <p:spPr>
          <a:xfrm>
            <a:off x="429490" y="4623273"/>
            <a:ext cx="6410473" cy="1107996"/>
          </a:xfrm>
          <a:prstGeom prst="rect">
            <a:avLst/>
          </a:prstGeom>
          <a:noFill/>
          <a:ln w="38100">
            <a:solidFill>
              <a:srgbClr val="CA1421"/>
            </a:solidFill>
          </a:ln>
        </p:spPr>
        <p:txBody>
          <a:bodyPr wrap="none" rtlCol="0">
            <a:spAutoFit/>
          </a:bodyPr>
          <a:lstStyle/>
          <a:p>
            <a:r>
              <a:rPr lang="en-US" sz="2400" dirty="0"/>
              <a:t>-export([</a:t>
            </a:r>
            <a:r>
              <a:rPr lang="en-US" sz="2400" dirty="0" err="1"/>
              <a:t>start_server</a:t>
            </a:r>
            <a:r>
              <a:rPr lang="en-US" sz="2400" dirty="0"/>
              <a:t>/0, </a:t>
            </a:r>
            <a:r>
              <a:rPr lang="en-US" sz="2400" dirty="0" err="1"/>
              <a:t>server_loop</a:t>
            </a:r>
            <a:r>
              <a:rPr lang="en-US" sz="2400" dirty="0"/>
              <a:t>/0]).</a:t>
            </a:r>
          </a:p>
          <a:p>
            <a:r>
              <a:rPr lang="en-US" sz="2400" b="1" dirty="0" err="1"/>
              <a:t>start_server</a:t>
            </a:r>
            <a:r>
              <a:rPr lang="en-US" sz="2400" b="1" dirty="0"/>
              <a:t>() -&gt;  spawn(</a:t>
            </a:r>
            <a:r>
              <a:rPr lang="en-US" sz="2400" b="1" dirty="0" err="1"/>
              <a:t>myserv</a:t>
            </a:r>
            <a:r>
              <a:rPr lang="en-US" sz="2400" b="1" dirty="0"/>
              <a:t>, </a:t>
            </a:r>
            <a:r>
              <a:rPr lang="en-US" sz="2400" b="1" dirty="0" err="1"/>
              <a:t>server_loop</a:t>
            </a:r>
            <a:r>
              <a:rPr lang="en-US" sz="2400" b="1" dirty="0"/>
              <a:t>, []).</a:t>
            </a:r>
          </a:p>
          <a:p>
            <a:endParaRPr lang="en-US" dirty="0"/>
          </a:p>
        </p:txBody>
      </p:sp>
      <p:sp>
        <p:nvSpPr>
          <p:cNvPr id="6" name="TextBox 5"/>
          <p:cNvSpPr txBox="1"/>
          <p:nvPr/>
        </p:nvSpPr>
        <p:spPr>
          <a:xfrm>
            <a:off x="236729" y="167532"/>
            <a:ext cx="7835222"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Cilent</a:t>
            </a:r>
            <a:r>
              <a:rPr lang="en-US" sz="2800" dirty="0"/>
              <a:t>-Server : </a:t>
            </a:r>
            <a:r>
              <a:rPr lang="en-US" sz="2800" dirty="0" err="1"/>
              <a:t>functie</a:t>
            </a:r>
            <a:r>
              <a:rPr lang="en-US" sz="2800" dirty="0"/>
              <a:t> </a:t>
            </a:r>
            <a:r>
              <a:rPr lang="en-US" sz="2800" dirty="0" err="1"/>
              <a:t>pentru</a:t>
            </a:r>
            <a:r>
              <a:rPr lang="en-US" sz="2800" dirty="0"/>
              <a:t> </a:t>
            </a:r>
            <a:r>
              <a:rPr lang="en-US" sz="2800" dirty="0" err="1"/>
              <a:t>pornirea</a:t>
            </a:r>
            <a:r>
              <a:rPr lang="en-US" sz="2800" dirty="0"/>
              <a:t> server-</a:t>
            </a:r>
            <a:r>
              <a:rPr lang="en-US" sz="2800" dirty="0" err="1"/>
              <a:t>ului</a:t>
            </a:r>
            <a:r>
              <a:rPr lang="en-US" sz="2800" dirty="0"/>
              <a:t> </a:t>
            </a:r>
          </a:p>
        </p:txBody>
      </p:sp>
    </p:spTree>
    <p:extLst>
      <p:ext uri="{BB962C8B-B14F-4D97-AF65-F5344CB8AC3E}">
        <p14:creationId xmlns:p14="http://schemas.microsoft.com/office/powerpoint/2010/main" val="40122056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0109" y="842020"/>
            <a:ext cx="6989617" cy="4247317"/>
          </a:xfrm>
          <a:prstGeom prst="rect">
            <a:avLst/>
          </a:prstGeom>
          <a:ln w="38100">
            <a:solidFill>
              <a:srgbClr val="CA1421"/>
            </a:solidFill>
          </a:ln>
        </p:spPr>
        <p:txBody>
          <a:bodyPr wrap="square">
            <a:spAutoFit/>
          </a:bodyPr>
          <a:lstStyle/>
          <a:p>
            <a:r>
              <a:rPr lang="en-US" dirty="0"/>
              <a:t>-module(</a:t>
            </a:r>
            <a:r>
              <a:rPr lang="en-US" dirty="0" err="1"/>
              <a:t>myserv</a:t>
            </a:r>
            <a:r>
              <a:rPr lang="en-US" dirty="0"/>
              <a:t>). </a:t>
            </a:r>
          </a:p>
          <a:p>
            <a:r>
              <a:rPr lang="en-US" dirty="0"/>
              <a:t>-export([</a:t>
            </a:r>
            <a:r>
              <a:rPr lang="en-US" dirty="0" err="1"/>
              <a:t>start_server</a:t>
            </a:r>
            <a:r>
              <a:rPr lang="en-US" dirty="0"/>
              <a:t>/0, </a:t>
            </a:r>
            <a:r>
              <a:rPr lang="en-US" dirty="0" err="1"/>
              <a:t>server_loop</a:t>
            </a:r>
            <a:r>
              <a:rPr lang="en-US" dirty="0"/>
              <a:t>/0,client/2]).</a:t>
            </a:r>
          </a:p>
          <a:p>
            <a:endParaRPr lang="en-US" dirty="0"/>
          </a:p>
          <a:p>
            <a:endParaRPr lang="en-US" dirty="0"/>
          </a:p>
          <a:p>
            <a:r>
              <a:rPr lang="en-US" dirty="0" err="1"/>
              <a:t>start_server</a:t>
            </a:r>
            <a:r>
              <a:rPr lang="en-US" dirty="0"/>
              <a:t>() -&gt;  spawn(</a:t>
            </a:r>
            <a:r>
              <a:rPr lang="en-US" dirty="0" err="1"/>
              <a:t>myserv</a:t>
            </a:r>
            <a:r>
              <a:rPr lang="en-US" dirty="0"/>
              <a:t>, </a:t>
            </a:r>
            <a:r>
              <a:rPr lang="en-US" dirty="0" err="1"/>
              <a:t>server_loop</a:t>
            </a:r>
            <a:r>
              <a:rPr lang="en-US" dirty="0"/>
              <a:t>, []).</a:t>
            </a:r>
          </a:p>
          <a:p>
            <a:endParaRPr lang="en-US" dirty="0"/>
          </a:p>
          <a:p>
            <a:endParaRPr lang="en-US" dirty="0"/>
          </a:p>
          <a:p>
            <a:r>
              <a:rPr lang="en-US" dirty="0" err="1"/>
              <a:t>server_loop</a:t>
            </a:r>
            <a:r>
              <a:rPr lang="en-US" dirty="0"/>
              <a:t>() -&gt;</a:t>
            </a:r>
          </a:p>
          <a:p>
            <a:r>
              <a:rPr lang="en-US" dirty="0"/>
              <a:t>   receive</a:t>
            </a:r>
          </a:p>
          <a:p>
            <a:r>
              <a:rPr lang="en-US" dirty="0"/>
              <a:t>        {From, {double, Number}} -&gt; From ! {self(),(Number*2)},</a:t>
            </a:r>
          </a:p>
          <a:p>
            <a:r>
              <a:rPr lang="en-US" dirty="0"/>
              <a:t>	                                                    </a:t>
            </a:r>
            <a:r>
              <a:rPr lang="en-US" dirty="0" err="1"/>
              <a:t>server_loop</a:t>
            </a:r>
            <a:r>
              <a:rPr lang="en-US" dirty="0"/>
              <a:t>() ;</a:t>
            </a:r>
          </a:p>
          <a:p>
            <a:r>
              <a:rPr lang="en-US" dirty="0"/>
              <a:t>	                              </a:t>
            </a:r>
          </a:p>
          <a:p>
            <a:r>
              <a:rPr lang="en-US" dirty="0"/>
              <a:t>        {From,_} -&gt; From ! {self(),error},</a:t>
            </a:r>
          </a:p>
          <a:p>
            <a:r>
              <a:rPr lang="en-US" dirty="0"/>
              <a:t>		             </a:t>
            </a:r>
            <a:r>
              <a:rPr lang="en-US" dirty="0" err="1"/>
              <a:t>server_loop</a:t>
            </a:r>
            <a:r>
              <a:rPr lang="en-US" dirty="0"/>
              <a:t>()</a:t>
            </a:r>
          </a:p>
          <a:p>
            <a:r>
              <a:rPr lang="en-US" dirty="0"/>
              <a:t>   end.</a:t>
            </a:r>
          </a:p>
        </p:txBody>
      </p:sp>
      <p:sp>
        <p:nvSpPr>
          <p:cNvPr id="4" name="Rectangle 3"/>
          <p:cNvSpPr/>
          <p:nvPr/>
        </p:nvSpPr>
        <p:spPr>
          <a:xfrm>
            <a:off x="-807990" y="141515"/>
            <a:ext cx="5514202" cy="523220"/>
          </a:xfrm>
          <a:prstGeom prst="rect">
            <a:avLst/>
          </a:prstGeom>
        </p:spPr>
        <p:txBody>
          <a:bodyPr wrap="none">
            <a:spAutoFit/>
          </a:bodyPr>
          <a:lstStyle/>
          <a:p>
            <a:pPr marL="1200150" lvl="2" indent="-285750">
              <a:buFont typeface="Wingdings" panose="05000000000000000000" pitchFamily="2" charset="2"/>
              <a:buChar char="Ø"/>
            </a:pPr>
            <a:r>
              <a:rPr lang="en-US" sz="2800" dirty="0"/>
              <a:t> </a:t>
            </a:r>
            <a:r>
              <a:rPr lang="en-US" sz="2800" dirty="0" err="1"/>
              <a:t>Cilent</a:t>
            </a:r>
            <a:r>
              <a:rPr lang="en-US" sz="2800" dirty="0"/>
              <a:t>-Server: </a:t>
            </a:r>
            <a:r>
              <a:rPr lang="en-US" sz="2800" dirty="0" err="1"/>
              <a:t>functia</a:t>
            </a:r>
            <a:r>
              <a:rPr lang="en-US" sz="2800" dirty="0"/>
              <a:t> client </a:t>
            </a:r>
          </a:p>
        </p:txBody>
      </p:sp>
      <p:pic>
        <p:nvPicPr>
          <p:cNvPr id="2" name="Picture 1"/>
          <p:cNvPicPr>
            <a:picLocks noChangeAspect="1"/>
          </p:cNvPicPr>
          <p:nvPr/>
        </p:nvPicPr>
        <p:blipFill>
          <a:blip r:embed="rId2"/>
          <a:stretch>
            <a:fillRect/>
          </a:stretch>
        </p:blipFill>
        <p:spPr>
          <a:xfrm>
            <a:off x="6110577" y="3729357"/>
            <a:ext cx="5901314" cy="2382325"/>
          </a:xfrm>
          <a:prstGeom prst="rect">
            <a:avLst/>
          </a:prstGeom>
          <a:ln/>
        </p:spPr>
        <p:style>
          <a:lnRef idx="2">
            <a:schemeClr val="dk1"/>
          </a:lnRef>
          <a:fillRef idx="1">
            <a:schemeClr val="lt1"/>
          </a:fillRef>
          <a:effectRef idx="0">
            <a:schemeClr val="dk1"/>
          </a:effectRef>
          <a:fontRef idx="minor">
            <a:schemeClr val="dk1"/>
          </a:fontRef>
        </p:style>
      </p:pic>
      <p:sp>
        <p:nvSpPr>
          <p:cNvPr id="5" name="TextBox 4"/>
          <p:cNvSpPr txBox="1"/>
          <p:nvPr/>
        </p:nvSpPr>
        <p:spPr>
          <a:xfrm>
            <a:off x="7149213" y="441910"/>
            <a:ext cx="4862678" cy="2523768"/>
          </a:xfrm>
          <a:prstGeom prst="rect">
            <a:avLst/>
          </a:prstGeom>
          <a:noFill/>
          <a:ln w="38100">
            <a:solidFill>
              <a:srgbClr val="CA1421"/>
            </a:solidFill>
          </a:ln>
        </p:spPr>
        <p:txBody>
          <a:bodyPr wrap="none" rtlCol="0">
            <a:spAutoFit/>
          </a:bodyPr>
          <a:lstStyle/>
          <a:p>
            <a:endParaRPr lang="en-US" dirty="0"/>
          </a:p>
          <a:p>
            <a:r>
              <a:rPr lang="en-US" dirty="0"/>
              <a:t> </a:t>
            </a:r>
            <a:r>
              <a:rPr lang="en-US" sz="2400" dirty="0"/>
              <a:t>client(</a:t>
            </a:r>
            <a:r>
              <a:rPr lang="en-US" sz="2400" dirty="0" err="1"/>
              <a:t>Pid</a:t>
            </a:r>
            <a:r>
              <a:rPr lang="en-US" sz="2400" dirty="0"/>
              <a:t>, Request) -&gt;</a:t>
            </a:r>
          </a:p>
          <a:p>
            <a:r>
              <a:rPr lang="en-US" sz="2400" dirty="0"/>
              <a:t>         </a:t>
            </a:r>
            <a:r>
              <a:rPr lang="en-US" sz="2400" dirty="0" err="1"/>
              <a:t>Pid</a:t>
            </a:r>
            <a:r>
              <a:rPr lang="en-US" sz="2400" dirty="0"/>
              <a:t> ! {self(), Request},</a:t>
            </a:r>
          </a:p>
          <a:p>
            <a:r>
              <a:rPr lang="en-US" sz="2400" dirty="0"/>
              <a:t>         receive </a:t>
            </a:r>
          </a:p>
          <a:p>
            <a:r>
              <a:rPr lang="en-US" sz="2400" dirty="0"/>
              <a:t>                 {</a:t>
            </a:r>
            <a:r>
              <a:rPr lang="en-US" sz="2400" dirty="0" err="1"/>
              <a:t>Pid</a:t>
            </a:r>
            <a:r>
              <a:rPr lang="en-US" sz="2400" dirty="0"/>
              <a:t>, Response} -&gt; Response</a:t>
            </a:r>
          </a:p>
          <a:p>
            <a:r>
              <a:rPr lang="en-US" sz="2400" dirty="0"/>
              <a:t>          end. 	</a:t>
            </a:r>
            <a:r>
              <a:rPr lang="en-US" sz="2000" dirty="0"/>
              <a:t>	  </a:t>
            </a:r>
          </a:p>
          <a:p>
            <a:r>
              <a:rPr lang="en-US" sz="2000" dirty="0"/>
              <a:t>	</a:t>
            </a:r>
          </a:p>
        </p:txBody>
      </p:sp>
      <p:sp>
        <p:nvSpPr>
          <p:cNvPr id="6" name="TextBox 5">
            <a:extLst>
              <a:ext uri="{FF2B5EF4-FFF2-40B4-BE49-F238E27FC236}">
                <a16:creationId xmlns:a16="http://schemas.microsoft.com/office/drawing/2014/main" id="{B499214C-F507-3404-394C-498D8F8F1A2E}"/>
              </a:ext>
            </a:extLst>
          </p:cNvPr>
          <p:cNvSpPr txBox="1"/>
          <p:nvPr/>
        </p:nvSpPr>
        <p:spPr>
          <a:xfrm>
            <a:off x="2677886" y="5479089"/>
            <a:ext cx="2572179"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err="1"/>
              <a:t>apelarea</a:t>
            </a:r>
            <a:r>
              <a:rPr lang="en-US" sz="2000" dirty="0"/>
              <a:t> </a:t>
            </a:r>
            <a:r>
              <a:rPr lang="en-US" sz="2000" dirty="0" err="1"/>
              <a:t>functiei</a:t>
            </a:r>
            <a:r>
              <a:rPr lang="en-US" sz="2000" dirty="0"/>
              <a:t> client</a:t>
            </a:r>
            <a:endParaRPr lang="en-GB" sz="2000" dirty="0"/>
          </a:p>
        </p:txBody>
      </p:sp>
      <p:cxnSp>
        <p:nvCxnSpPr>
          <p:cNvPr id="8" name="Straight Arrow Connector 7">
            <a:extLst>
              <a:ext uri="{FF2B5EF4-FFF2-40B4-BE49-F238E27FC236}">
                <a16:creationId xmlns:a16="http://schemas.microsoft.com/office/drawing/2014/main" id="{C307BD47-3463-204C-F698-904520B61662}"/>
              </a:ext>
            </a:extLst>
          </p:cNvPr>
          <p:cNvCxnSpPr>
            <a:cxnSpLocks/>
            <a:endCxn id="6" idx="3"/>
          </p:cNvCxnSpPr>
          <p:nvPr/>
        </p:nvCxnSpPr>
        <p:spPr>
          <a:xfrm flipH="1">
            <a:off x="5250065" y="5266622"/>
            <a:ext cx="845935" cy="41252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2D87E6-3512-4D46-3A3A-C076DFB6E8B5}"/>
              </a:ext>
            </a:extLst>
          </p:cNvPr>
          <p:cNvCxnSpPr>
            <a:cxnSpLocks/>
          </p:cNvCxnSpPr>
          <p:nvPr/>
        </p:nvCxnSpPr>
        <p:spPr>
          <a:xfrm flipH="1">
            <a:off x="5250065" y="5707067"/>
            <a:ext cx="800370" cy="17213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DC45419-70AE-303A-09BA-8DB675663A15}"/>
              </a:ext>
            </a:extLst>
          </p:cNvPr>
          <p:cNvCxnSpPr>
            <a:cxnSpLocks/>
          </p:cNvCxnSpPr>
          <p:nvPr/>
        </p:nvCxnSpPr>
        <p:spPr>
          <a:xfrm flipH="1">
            <a:off x="5302782" y="4815925"/>
            <a:ext cx="740499" cy="78495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57EFACE-FCFF-4431-BD85-4351FC4A66EE}"/>
              </a:ext>
            </a:extLst>
          </p:cNvPr>
          <p:cNvSpPr txBox="1"/>
          <p:nvPr/>
        </p:nvSpPr>
        <p:spPr>
          <a:xfrm>
            <a:off x="7067107" y="2808848"/>
            <a:ext cx="5026889"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functia</a:t>
            </a:r>
            <a:r>
              <a:rPr lang="en-US" dirty="0"/>
              <a:t> </a:t>
            </a:r>
            <a:r>
              <a:rPr lang="en-US" b="1" dirty="0"/>
              <a:t>client </a:t>
            </a:r>
            <a:r>
              <a:rPr lang="en-US" b="1" dirty="0" err="1"/>
              <a:t>intoarce</a:t>
            </a:r>
            <a:r>
              <a:rPr lang="en-US" b="1" dirty="0"/>
              <a:t> </a:t>
            </a:r>
            <a:r>
              <a:rPr lang="en-US" b="1" dirty="0" err="1"/>
              <a:t>raspunsul</a:t>
            </a:r>
            <a:r>
              <a:rPr lang="en-US" b="1" dirty="0"/>
              <a:t> </a:t>
            </a:r>
            <a:r>
              <a:rPr lang="en-US" b="1" dirty="0" err="1"/>
              <a:t>primit</a:t>
            </a:r>
            <a:r>
              <a:rPr lang="en-US" b="1" dirty="0"/>
              <a:t> de la server</a:t>
            </a:r>
            <a:endParaRPr lang="en-GB" b="1" dirty="0"/>
          </a:p>
        </p:txBody>
      </p:sp>
      <p:cxnSp>
        <p:nvCxnSpPr>
          <p:cNvPr id="18" name="Straight Arrow Connector 17">
            <a:extLst>
              <a:ext uri="{FF2B5EF4-FFF2-40B4-BE49-F238E27FC236}">
                <a16:creationId xmlns:a16="http://schemas.microsoft.com/office/drawing/2014/main" id="{BD589112-E931-4DE3-0AC2-B28AC2814511}"/>
              </a:ext>
            </a:extLst>
          </p:cNvPr>
          <p:cNvCxnSpPr>
            <a:cxnSpLocks/>
          </p:cNvCxnSpPr>
          <p:nvPr/>
        </p:nvCxnSpPr>
        <p:spPr>
          <a:xfrm flipH="1">
            <a:off x="11016343" y="2169360"/>
            <a:ext cx="500743" cy="5832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461200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3052" y="1576632"/>
            <a:ext cx="8621424" cy="2677656"/>
          </a:xfrm>
          <a:prstGeom prst="rect">
            <a:avLst/>
          </a:prstGeom>
          <a:ln w="38100">
            <a:solidFill>
              <a:srgbClr val="CA1421"/>
            </a:solidFill>
          </a:ln>
        </p:spPr>
        <p:txBody>
          <a:bodyPr wrap="square">
            <a:spAutoFit/>
          </a:bodyPr>
          <a:lstStyle/>
          <a:p>
            <a:r>
              <a:rPr lang="en-US" sz="2800" dirty="0" err="1"/>
              <a:t>client_loop</a:t>
            </a:r>
            <a:r>
              <a:rPr lang="en-US" sz="2800" dirty="0"/>
              <a:t>(Pid,0,L)  -&gt; </a:t>
            </a:r>
            <a:r>
              <a:rPr lang="en-US" sz="2800" dirty="0" err="1"/>
              <a:t>Pid</a:t>
            </a:r>
            <a:r>
              <a:rPr lang="en-US" sz="2800" dirty="0"/>
              <a:t>! {self(),"Good Bye"}, </a:t>
            </a:r>
          </a:p>
          <a:p>
            <a:r>
              <a:rPr lang="en-US" sz="2800" dirty="0"/>
              <a:t>                                          L;</a:t>
            </a:r>
          </a:p>
          <a:p>
            <a:endParaRPr lang="en-US" sz="2800" dirty="0"/>
          </a:p>
          <a:p>
            <a:r>
              <a:rPr lang="en-US" sz="2800" dirty="0" err="1"/>
              <a:t>client_loop</a:t>
            </a:r>
            <a:r>
              <a:rPr lang="en-US" sz="2800" dirty="0"/>
              <a:t>(</a:t>
            </a:r>
            <a:r>
              <a:rPr lang="en-US" sz="2800" dirty="0" err="1"/>
              <a:t>Pid</a:t>
            </a:r>
            <a:r>
              <a:rPr lang="en-US" sz="2800" dirty="0"/>
              <a:t>, X, L)  -&gt;  R= client(</a:t>
            </a:r>
            <a:r>
              <a:rPr lang="en-US" sz="2800" dirty="0" err="1"/>
              <a:t>Pid</a:t>
            </a:r>
            <a:r>
              <a:rPr lang="en-US" sz="2800" dirty="0"/>
              <a:t>,{</a:t>
            </a:r>
            <a:r>
              <a:rPr lang="en-US" sz="2800" dirty="0" err="1"/>
              <a:t>double,X</a:t>
            </a:r>
            <a:r>
              <a:rPr lang="en-US" sz="2800" dirty="0"/>
              <a:t>}),</a:t>
            </a:r>
          </a:p>
          <a:p>
            <a:r>
              <a:rPr lang="en-US" sz="2800" dirty="0"/>
              <a:t>                                            </a:t>
            </a:r>
            <a:r>
              <a:rPr lang="en-US" sz="2800" dirty="0" err="1"/>
              <a:t>client_loop</a:t>
            </a:r>
            <a:r>
              <a:rPr lang="en-US" sz="2800" dirty="0"/>
              <a:t>(</a:t>
            </a:r>
            <a:r>
              <a:rPr lang="en-US" sz="2800" dirty="0" err="1"/>
              <a:t>Pid</a:t>
            </a:r>
            <a:r>
              <a:rPr lang="en-US" sz="2800" dirty="0"/>
              <a:t>, X-1, L++[R]).</a:t>
            </a:r>
          </a:p>
          <a:p>
            <a:r>
              <a:rPr lang="en-US" sz="2800" dirty="0"/>
              <a:t>					 </a:t>
            </a:r>
          </a:p>
        </p:txBody>
      </p:sp>
      <p:pic>
        <p:nvPicPr>
          <p:cNvPr id="3" name="Picture 2"/>
          <p:cNvPicPr>
            <a:picLocks noChangeAspect="1"/>
          </p:cNvPicPr>
          <p:nvPr/>
        </p:nvPicPr>
        <p:blipFill>
          <a:blip r:embed="rId2"/>
          <a:stretch>
            <a:fillRect/>
          </a:stretch>
        </p:blipFill>
        <p:spPr>
          <a:xfrm>
            <a:off x="255799" y="3897229"/>
            <a:ext cx="5056553" cy="2347069"/>
          </a:xfrm>
          <a:prstGeom prst="rect">
            <a:avLst/>
          </a:prstGeom>
        </p:spPr>
        <p:style>
          <a:lnRef idx="2">
            <a:schemeClr val="dk1"/>
          </a:lnRef>
          <a:fillRef idx="1">
            <a:schemeClr val="lt1"/>
          </a:fillRef>
          <a:effectRef idx="0">
            <a:schemeClr val="dk1"/>
          </a:effectRef>
          <a:fontRef idx="minor">
            <a:schemeClr val="dk1"/>
          </a:fontRef>
        </p:style>
      </p:pic>
      <p:sp>
        <p:nvSpPr>
          <p:cNvPr id="5" name="TextBox 4"/>
          <p:cNvSpPr txBox="1"/>
          <p:nvPr/>
        </p:nvSpPr>
        <p:spPr>
          <a:xfrm>
            <a:off x="1035000" y="207527"/>
            <a:ext cx="10948703" cy="954107"/>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800" dirty="0"/>
              <a:t>Client-Server</a:t>
            </a:r>
          </a:p>
          <a:p>
            <a:r>
              <a:rPr lang="en-US" sz="2800" dirty="0"/>
              <a:t>     </a:t>
            </a:r>
            <a:r>
              <a:rPr lang="en-US" sz="2800" b="1" dirty="0" err="1"/>
              <a:t>client_loop</a:t>
            </a:r>
            <a:r>
              <a:rPr lang="en-US" sz="2800" dirty="0"/>
              <a:t> </a:t>
            </a:r>
            <a:r>
              <a:rPr lang="en-US" sz="2800" dirty="0" err="1"/>
              <a:t>creaza</a:t>
            </a:r>
            <a:r>
              <a:rPr lang="en-US" sz="2800" dirty="0"/>
              <a:t> </a:t>
            </a:r>
            <a:r>
              <a:rPr lang="en-US" sz="2800" dirty="0" err="1"/>
              <a:t>mai</a:t>
            </a:r>
            <a:r>
              <a:rPr lang="en-US" sz="2800" dirty="0"/>
              <a:t> </a:t>
            </a:r>
            <a:r>
              <a:rPr lang="en-US" sz="2800" dirty="0" err="1"/>
              <a:t>multe</a:t>
            </a:r>
            <a:r>
              <a:rPr lang="en-US" sz="2800" dirty="0"/>
              <a:t> </a:t>
            </a:r>
            <a:r>
              <a:rPr lang="en-US" sz="2800" dirty="0" err="1"/>
              <a:t>procese</a:t>
            </a:r>
            <a:r>
              <a:rPr lang="en-US" sz="2800" dirty="0"/>
              <a:t> client </a:t>
            </a:r>
            <a:r>
              <a:rPr lang="en-US" sz="2800" dirty="0" err="1"/>
              <a:t>si</a:t>
            </a:r>
            <a:r>
              <a:rPr lang="en-US" sz="2800" dirty="0"/>
              <a:t> </a:t>
            </a:r>
            <a:r>
              <a:rPr lang="en-US" sz="2800" dirty="0" err="1"/>
              <a:t>intoarce</a:t>
            </a:r>
            <a:r>
              <a:rPr lang="en-US" sz="2800" dirty="0"/>
              <a:t> </a:t>
            </a:r>
            <a:r>
              <a:rPr lang="en-US" sz="2800" dirty="0" err="1"/>
              <a:t>lista</a:t>
            </a:r>
            <a:r>
              <a:rPr lang="en-US" sz="2800" dirty="0"/>
              <a:t> </a:t>
            </a:r>
            <a:r>
              <a:rPr lang="en-US" sz="2800" dirty="0" err="1"/>
              <a:t>rezultatelor</a:t>
            </a:r>
            <a:endParaRPr lang="en-US" sz="2800" dirty="0"/>
          </a:p>
        </p:txBody>
      </p:sp>
    </p:spTree>
    <p:extLst>
      <p:ext uri="{BB962C8B-B14F-4D97-AF65-F5344CB8AC3E}">
        <p14:creationId xmlns:p14="http://schemas.microsoft.com/office/powerpoint/2010/main" val="29332826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3052" y="1576632"/>
            <a:ext cx="8621424" cy="2677656"/>
          </a:xfrm>
          <a:prstGeom prst="rect">
            <a:avLst/>
          </a:prstGeom>
          <a:ln w="38100">
            <a:solidFill>
              <a:srgbClr val="CA1421"/>
            </a:solidFill>
          </a:ln>
        </p:spPr>
        <p:txBody>
          <a:bodyPr wrap="square">
            <a:spAutoFit/>
          </a:bodyPr>
          <a:lstStyle/>
          <a:p>
            <a:r>
              <a:rPr lang="en-US" sz="2800" dirty="0" err="1"/>
              <a:t>client_loop</a:t>
            </a:r>
            <a:r>
              <a:rPr lang="en-US" sz="2800" dirty="0"/>
              <a:t>(Pid,0,L)  -&gt; </a:t>
            </a:r>
            <a:r>
              <a:rPr lang="en-US" sz="2800" dirty="0" err="1"/>
              <a:t>Pid</a:t>
            </a:r>
            <a:r>
              <a:rPr lang="en-US" sz="2800" dirty="0"/>
              <a:t>! {self(),"Good Bye"}, </a:t>
            </a:r>
          </a:p>
          <a:p>
            <a:r>
              <a:rPr lang="en-US" sz="2800" dirty="0"/>
              <a:t>                                          L;</a:t>
            </a:r>
          </a:p>
          <a:p>
            <a:endParaRPr lang="en-US" sz="2800" dirty="0"/>
          </a:p>
          <a:p>
            <a:r>
              <a:rPr lang="en-US" sz="2800" dirty="0" err="1"/>
              <a:t>client_loop</a:t>
            </a:r>
            <a:r>
              <a:rPr lang="en-US" sz="2800" dirty="0"/>
              <a:t>(</a:t>
            </a:r>
            <a:r>
              <a:rPr lang="en-US" sz="2800" dirty="0" err="1"/>
              <a:t>Pid</a:t>
            </a:r>
            <a:r>
              <a:rPr lang="en-US" sz="2800" dirty="0"/>
              <a:t>, X, L)  -&gt;  R= client(</a:t>
            </a:r>
            <a:r>
              <a:rPr lang="en-US" sz="2800" dirty="0" err="1"/>
              <a:t>Pid</a:t>
            </a:r>
            <a:r>
              <a:rPr lang="en-US" sz="2800" dirty="0"/>
              <a:t>,{</a:t>
            </a:r>
            <a:r>
              <a:rPr lang="en-US" sz="2800" dirty="0" err="1"/>
              <a:t>double,X</a:t>
            </a:r>
            <a:r>
              <a:rPr lang="en-US" sz="2800" dirty="0"/>
              <a:t>}),</a:t>
            </a:r>
          </a:p>
          <a:p>
            <a:r>
              <a:rPr lang="en-US" sz="2800" dirty="0"/>
              <a:t>                                            </a:t>
            </a:r>
            <a:r>
              <a:rPr lang="en-US" sz="2800" dirty="0" err="1"/>
              <a:t>client_loop</a:t>
            </a:r>
            <a:r>
              <a:rPr lang="en-US" sz="2800" dirty="0"/>
              <a:t>(</a:t>
            </a:r>
            <a:r>
              <a:rPr lang="en-US" sz="2800" dirty="0" err="1"/>
              <a:t>Pid</a:t>
            </a:r>
            <a:r>
              <a:rPr lang="en-US" sz="2800" dirty="0"/>
              <a:t>, X-1, L++[R]).</a:t>
            </a:r>
          </a:p>
          <a:p>
            <a:r>
              <a:rPr lang="en-US" sz="2800" dirty="0"/>
              <a:t>					 </a:t>
            </a:r>
          </a:p>
        </p:txBody>
      </p:sp>
      <p:sp>
        <p:nvSpPr>
          <p:cNvPr id="5" name="TextBox 4"/>
          <p:cNvSpPr txBox="1"/>
          <p:nvPr/>
        </p:nvSpPr>
        <p:spPr>
          <a:xfrm>
            <a:off x="1035000" y="207527"/>
            <a:ext cx="9709581" cy="954107"/>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800" dirty="0"/>
              <a:t>Client-Server</a:t>
            </a:r>
          </a:p>
          <a:p>
            <a:r>
              <a:rPr lang="en-US" sz="2800" dirty="0"/>
              <a:t>     </a:t>
            </a:r>
            <a:r>
              <a:rPr lang="en-US" sz="2800" b="1" dirty="0" err="1"/>
              <a:t>client_loop</a:t>
            </a:r>
            <a:r>
              <a:rPr lang="en-US" sz="2800" dirty="0"/>
              <a:t> </a:t>
            </a:r>
            <a:r>
              <a:rPr lang="en-US" sz="2800" dirty="0" err="1"/>
              <a:t>creaza</a:t>
            </a:r>
            <a:r>
              <a:rPr lang="en-US" sz="2800" dirty="0"/>
              <a:t> </a:t>
            </a:r>
            <a:r>
              <a:rPr lang="en-US" sz="2800" dirty="0" err="1"/>
              <a:t>mai</a:t>
            </a:r>
            <a:r>
              <a:rPr lang="en-US" sz="2800" dirty="0"/>
              <a:t> multi </a:t>
            </a:r>
            <a:r>
              <a:rPr lang="en-US" sz="2800" dirty="0" err="1"/>
              <a:t>clienti</a:t>
            </a:r>
            <a:r>
              <a:rPr lang="en-US" sz="2800" dirty="0"/>
              <a:t> </a:t>
            </a:r>
            <a:r>
              <a:rPr lang="en-US" sz="2800" dirty="0" err="1"/>
              <a:t>si</a:t>
            </a:r>
            <a:r>
              <a:rPr lang="en-US" sz="2800" dirty="0"/>
              <a:t> </a:t>
            </a:r>
            <a:r>
              <a:rPr lang="en-US" sz="2800" dirty="0" err="1"/>
              <a:t>intoarce</a:t>
            </a:r>
            <a:r>
              <a:rPr lang="en-US" sz="2800" dirty="0"/>
              <a:t> </a:t>
            </a:r>
            <a:r>
              <a:rPr lang="en-US" sz="2800" dirty="0" err="1"/>
              <a:t>lista</a:t>
            </a:r>
            <a:r>
              <a:rPr lang="en-US" sz="2800" dirty="0"/>
              <a:t> </a:t>
            </a:r>
            <a:r>
              <a:rPr lang="en-US" sz="2800" dirty="0" err="1"/>
              <a:t>rezultatelor</a:t>
            </a:r>
            <a:endParaRPr lang="en-US" sz="2800" dirty="0"/>
          </a:p>
        </p:txBody>
      </p:sp>
      <p:sp>
        <p:nvSpPr>
          <p:cNvPr id="6" name="TextBox 5"/>
          <p:cNvSpPr txBox="1"/>
          <p:nvPr/>
        </p:nvSpPr>
        <p:spPr>
          <a:xfrm>
            <a:off x="3346536" y="5019758"/>
            <a:ext cx="6374117" cy="523220"/>
          </a:xfrm>
          <a:prstGeom prst="rect">
            <a:avLst/>
          </a:prstGeom>
          <a:noFill/>
        </p:spPr>
        <p:txBody>
          <a:bodyPr wrap="none" rtlCol="0">
            <a:spAutoFit/>
          </a:bodyPr>
          <a:lstStyle/>
          <a:p>
            <a:r>
              <a:rPr lang="en-US" sz="2800" dirty="0" err="1"/>
              <a:t>Functiile</a:t>
            </a:r>
            <a:r>
              <a:rPr lang="en-US" sz="2800" dirty="0"/>
              <a:t> client sunt  </a:t>
            </a:r>
            <a:r>
              <a:rPr lang="en-US" sz="2800" dirty="0" err="1"/>
              <a:t>executate</a:t>
            </a:r>
            <a:r>
              <a:rPr lang="en-US" sz="2800" dirty="0"/>
              <a:t>  </a:t>
            </a:r>
            <a:r>
              <a:rPr lang="en-US" sz="2800" b="1" dirty="0" err="1">
                <a:solidFill>
                  <a:srgbClr val="FF0000"/>
                </a:solidFill>
              </a:rPr>
              <a:t>secvential</a:t>
            </a:r>
            <a:r>
              <a:rPr lang="en-US" sz="2800" b="1" dirty="0">
                <a:solidFill>
                  <a:srgbClr val="FF0000"/>
                </a:solidFill>
              </a:rPr>
              <a:t>!</a:t>
            </a:r>
          </a:p>
        </p:txBody>
      </p:sp>
    </p:spTree>
    <p:extLst>
      <p:ext uri="{BB962C8B-B14F-4D97-AF65-F5344CB8AC3E}">
        <p14:creationId xmlns:p14="http://schemas.microsoft.com/office/powerpoint/2010/main" val="5551221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4277E-3BF5-27C3-66EC-D87072EB326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CB18EFE-D082-3462-2EA6-04A1E850BCC6}"/>
              </a:ext>
            </a:extLst>
          </p:cNvPr>
          <p:cNvSpPr/>
          <p:nvPr/>
        </p:nvSpPr>
        <p:spPr>
          <a:xfrm>
            <a:off x="1903052" y="1576632"/>
            <a:ext cx="8621424" cy="3108543"/>
          </a:xfrm>
          <a:prstGeom prst="rect">
            <a:avLst/>
          </a:prstGeom>
          <a:ln w="38100">
            <a:solidFill>
              <a:srgbClr val="CA1421"/>
            </a:solidFill>
          </a:ln>
        </p:spPr>
        <p:txBody>
          <a:bodyPr wrap="square">
            <a:spAutoFit/>
          </a:bodyPr>
          <a:lstStyle/>
          <a:p>
            <a:r>
              <a:rPr lang="en-US" sz="2800" dirty="0" err="1"/>
              <a:t>client_loop</a:t>
            </a:r>
            <a:r>
              <a:rPr lang="en-US" sz="2800" dirty="0"/>
              <a:t>(Pid,0,L)  -&gt; </a:t>
            </a:r>
            <a:r>
              <a:rPr lang="en-US" sz="2800" dirty="0" err="1"/>
              <a:t>Pid</a:t>
            </a:r>
            <a:r>
              <a:rPr lang="en-US" sz="2800" dirty="0"/>
              <a:t>! {self(),"Good Bye"}, </a:t>
            </a:r>
          </a:p>
          <a:p>
            <a:r>
              <a:rPr lang="en-US" sz="2800" dirty="0"/>
              <a:t>                                          L;</a:t>
            </a:r>
          </a:p>
          <a:p>
            <a:endParaRPr lang="en-US" sz="2800" dirty="0"/>
          </a:p>
          <a:p>
            <a:r>
              <a:rPr lang="en-US" sz="2800" dirty="0" err="1"/>
              <a:t>client_loop</a:t>
            </a:r>
            <a:r>
              <a:rPr lang="en-US" sz="2800" dirty="0"/>
              <a:t>(Pid, X, L)  -&gt;  R= client(Pid,{</a:t>
            </a:r>
            <a:r>
              <a:rPr lang="en-US" sz="2800" dirty="0" err="1"/>
              <a:t>double,X</a:t>
            </a:r>
            <a:r>
              <a:rPr lang="en-US" sz="2800" dirty="0"/>
              <a:t>}),</a:t>
            </a:r>
          </a:p>
          <a:p>
            <a:r>
              <a:rPr lang="en-US" sz="2800" dirty="0"/>
              <a:t>                                            </a:t>
            </a:r>
            <a:r>
              <a:rPr lang="it-IT" sz="2800" b="1" dirty="0" err="1"/>
              <a:t>io:fwrite</a:t>
            </a:r>
            <a:r>
              <a:rPr lang="it-IT" sz="2800" b="1" dirty="0"/>
              <a:t>("</a:t>
            </a:r>
            <a:r>
              <a:rPr lang="it-IT" sz="2800" b="1" dirty="0" err="1"/>
              <a:t>prel</a:t>
            </a:r>
            <a:r>
              <a:rPr lang="it-IT" sz="2800" b="1" dirty="0"/>
              <a:t> ~w!~n", [X]),</a:t>
            </a:r>
            <a:r>
              <a:rPr lang="en-US" sz="2800" b="1" dirty="0"/>
              <a:t> </a:t>
            </a:r>
            <a:r>
              <a:rPr lang="en-US" sz="2800" dirty="0"/>
              <a:t> </a:t>
            </a:r>
          </a:p>
          <a:p>
            <a:r>
              <a:rPr lang="en-US" sz="2800" dirty="0"/>
              <a:t>                                            </a:t>
            </a:r>
            <a:r>
              <a:rPr lang="en-US" sz="2800" dirty="0" err="1"/>
              <a:t>client_loop</a:t>
            </a:r>
            <a:r>
              <a:rPr lang="en-US" sz="2800" dirty="0"/>
              <a:t>(Pid, X-1, L++[R]).</a:t>
            </a:r>
          </a:p>
          <a:p>
            <a:r>
              <a:rPr lang="en-US" sz="2800" dirty="0"/>
              <a:t>					 </a:t>
            </a:r>
          </a:p>
        </p:txBody>
      </p:sp>
      <p:sp>
        <p:nvSpPr>
          <p:cNvPr id="5" name="TextBox 4">
            <a:extLst>
              <a:ext uri="{FF2B5EF4-FFF2-40B4-BE49-F238E27FC236}">
                <a16:creationId xmlns:a16="http://schemas.microsoft.com/office/drawing/2014/main" id="{3A03BFA1-E22A-DDA9-AA6D-C93B0997FC45}"/>
              </a:ext>
            </a:extLst>
          </p:cNvPr>
          <p:cNvSpPr txBox="1"/>
          <p:nvPr/>
        </p:nvSpPr>
        <p:spPr>
          <a:xfrm>
            <a:off x="1035000" y="207527"/>
            <a:ext cx="9709581" cy="954107"/>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800" dirty="0"/>
              <a:t>Client-Server</a:t>
            </a:r>
          </a:p>
          <a:p>
            <a:r>
              <a:rPr lang="en-US" sz="2800" dirty="0"/>
              <a:t>     </a:t>
            </a:r>
            <a:r>
              <a:rPr lang="en-US" sz="2800" b="1" dirty="0" err="1"/>
              <a:t>client_loop</a:t>
            </a:r>
            <a:r>
              <a:rPr lang="en-US" sz="2800" dirty="0"/>
              <a:t> </a:t>
            </a:r>
            <a:r>
              <a:rPr lang="en-US" sz="2800" dirty="0" err="1"/>
              <a:t>creaza</a:t>
            </a:r>
            <a:r>
              <a:rPr lang="en-US" sz="2800" dirty="0"/>
              <a:t> </a:t>
            </a:r>
            <a:r>
              <a:rPr lang="en-US" sz="2800" dirty="0" err="1"/>
              <a:t>mai</a:t>
            </a:r>
            <a:r>
              <a:rPr lang="en-US" sz="2800" dirty="0"/>
              <a:t> multi </a:t>
            </a:r>
            <a:r>
              <a:rPr lang="en-US" sz="2800" dirty="0" err="1"/>
              <a:t>clienti</a:t>
            </a:r>
            <a:r>
              <a:rPr lang="en-US" sz="2800" dirty="0"/>
              <a:t> </a:t>
            </a:r>
            <a:r>
              <a:rPr lang="en-US" sz="2800" dirty="0" err="1"/>
              <a:t>si</a:t>
            </a:r>
            <a:r>
              <a:rPr lang="en-US" sz="2800" dirty="0"/>
              <a:t> </a:t>
            </a:r>
            <a:r>
              <a:rPr lang="en-US" sz="2800" dirty="0" err="1"/>
              <a:t>intoarce</a:t>
            </a:r>
            <a:r>
              <a:rPr lang="en-US" sz="2800" dirty="0"/>
              <a:t> </a:t>
            </a:r>
            <a:r>
              <a:rPr lang="en-US" sz="2800" dirty="0" err="1"/>
              <a:t>lista</a:t>
            </a:r>
            <a:r>
              <a:rPr lang="en-US" sz="2800" dirty="0"/>
              <a:t> </a:t>
            </a:r>
            <a:r>
              <a:rPr lang="en-US" sz="2800" dirty="0" err="1"/>
              <a:t>rezultatelor</a:t>
            </a:r>
            <a:endParaRPr lang="en-US" sz="2800" dirty="0"/>
          </a:p>
        </p:txBody>
      </p:sp>
      <p:sp>
        <p:nvSpPr>
          <p:cNvPr id="6" name="TextBox 5">
            <a:extLst>
              <a:ext uri="{FF2B5EF4-FFF2-40B4-BE49-F238E27FC236}">
                <a16:creationId xmlns:a16="http://schemas.microsoft.com/office/drawing/2014/main" id="{72CE59F5-EBEF-5FF5-2687-1EFF53B3967F}"/>
              </a:ext>
            </a:extLst>
          </p:cNvPr>
          <p:cNvSpPr txBox="1"/>
          <p:nvPr/>
        </p:nvSpPr>
        <p:spPr>
          <a:xfrm>
            <a:off x="3346536" y="5019758"/>
            <a:ext cx="6374117" cy="523220"/>
          </a:xfrm>
          <a:prstGeom prst="rect">
            <a:avLst/>
          </a:prstGeom>
          <a:noFill/>
        </p:spPr>
        <p:txBody>
          <a:bodyPr wrap="none" rtlCol="0">
            <a:spAutoFit/>
          </a:bodyPr>
          <a:lstStyle/>
          <a:p>
            <a:r>
              <a:rPr lang="en-US" sz="2800" dirty="0" err="1"/>
              <a:t>Functiile</a:t>
            </a:r>
            <a:r>
              <a:rPr lang="en-US" sz="2800" dirty="0"/>
              <a:t> client sunt  </a:t>
            </a:r>
            <a:r>
              <a:rPr lang="en-US" sz="2800" dirty="0" err="1"/>
              <a:t>executate</a:t>
            </a:r>
            <a:r>
              <a:rPr lang="en-US" sz="2800" dirty="0"/>
              <a:t>  </a:t>
            </a:r>
            <a:r>
              <a:rPr lang="en-US" sz="2800" b="1" dirty="0" err="1">
                <a:solidFill>
                  <a:srgbClr val="FF0000"/>
                </a:solidFill>
              </a:rPr>
              <a:t>secvential</a:t>
            </a:r>
            <a:r>
              <a:rPr lang="en-US" sz="2800" b="1" dirty="0">
                <a:solidFill>
                  <a:srgbClr val="FF0000"/>
                </a:solidFill>
              </a:rPr>
              <a:t>!</a:t>
            </a:r>
          </a:p>
        </p:txBody>
      </p:sp>
    </p:spTree>
    <p:extLst>
      <p:ext uri="{BB962C8B-B14F-4D97-AF65-F5344CB8AC3E}">
        <p14:creationId xmlns:p14="http://schemas.microsoft.com/office/powerpoint/2010/main" val="6557527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D1E31-9F2F-B1F2-0CA4-2C836C41EA4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C348AB-944F-D0BC-9874-CEAAA37C4761}"/>
              </a:ext>
            </a:extLst>
          </p:cNvPr>
          <p:cNvSpPr/>
          <p:nvPr/>
        </p:nvSpPr>
        <p:spPr>
          <a:xfrm>
            <a:off x="2658122" y="1161634"/>
            <a:ext cx="7999718" cy="1754326"/>
          </a:xfrm>
          <a:prstGeom prst="rect">
            <a:avLst/>
          </a:prstGeom>
          <a:ln w="38100">
            <a:solidFill>
              <a:srgbClr val="CA1421"/>
            </a:solidFill>
          </a:ln>
        </p:spPr>
        <p:txBody>
          <a:bodyPr wrap="square">
            <a:spAutoFit/>
          </a:bodyPr>
          <a:lstStyle/>
          <a:p>
            <a:r>
              <a:rPr lang="en-US" sz="1600" dirty="0" err="1"/>
              <a:t>client_loop</a:t>
            </a:r>
            <a:r>
              <a:rPr lang="en-US" sz="1600" dirty="0"/>
              <a:t>(Pid,0,L)  -&gt; </a:t>
            </a:r>
            <a:r>
              <a:rPr lang="en-US" sz="1600" dirty="0" err="1"/>
              <a:t>Pid</a:t>
            </a:r>
            <a:r>
              <a:rPr lang="en-US" sz="1600" dirty="0"/>
              <a:t>! {self(),"Good Bye"}, </a:t>
            </a:r>
          </a:p>
          <a:p>
            <a:r>
              <a:rPr lang="en-US" sz="1600" dirty="0"/>
              <a:t>                                          L;</a:t>
            </a:r>
          </a:p>
          <a:p>
            <a:endParaRPr lang="en-US" sz="1600" dirty="0"/>
          </a:p>
          <a:p>
            <a:r>
              <a:rPr lang="en-US" sz="1600" dirty="0" err="1"/>
              <a:t>client_loop</a:t>
            </a:r>
            <a:r>
              <a:rPr lang="en-US" sz="1600" dirty="0"/>
              <a:t>(Pid, X, L)  -&gt;  R= client(Pid,{</a:t>
            </a:r>
            <a:r>
              <a:rPr lang="en-US" sz="1600" dirty="0" err="1"/>
              <a:t>double,X</a:t>
            </a:r>
            <a:r>
              <a:rPr lang="en-US" sz="1600" dirty="0"/>
              <a:t>}),</a:t>
            </a:r>
          </a:p>
          <a:p>
            <a:r>
              <a:rPr lang="en-US" sz="1600" dirty="0"/>
              <a:t>                                            </a:t>
            </a:r>
            <a:r>
              <a:rPr lang="it-IT" sz="1600" b="1" dirty="0" err="1"/>
              <a:t>io:fwrite</a:t>
            </a:r>
            <a:r>
              <a:rPr lang="it-IT" sz="1600" b="1" dirty="0"/>
              <a:t>("</a:t>
            </a:r>
            <a:r>
              <a:rPr lang="it-IT" sz="1600" b="1" dirty="0" err="1"/>
              <a:t>prel</a:t>
            </a:r>
            <a:r>
              <a:rPr lang="it-IT" sz="1600" b="1" dirty="0"/>
              <a:t> ~w!~n", [X]),</a:t>
            </a:r>
            <a:r>
              <a:rPr lang="en-US" sz="1600" b="1" dirty="0"/>
              <a:t> </a:t>
            </a:r>
            <a:r>
              <a:rPr lang="en-US" sz="1600" dirty="0"/>
              <a:t>                          </a:t>
            </a:r>
          </a:p>
          <a:p>
            <a:r>
              <a:rPr lang="en-US" sz="1600" dirty="0"/>
              <a:t>                                             </a:t>
            </a:r>
            <a:r>
              <a:rPr lang="en-US" sz="1600" dirty="0" err="1"/>
              <a:t>client_loop</a:t>
            </a:r>
            <a:r>
              <a:rPr lang="en-US" sz="1600" dirty="0"/>
              <a:t>(Pid, X-1, L++[R]).</a:t>
            </a:r>
            <a:r>
              <a:rPr lang="en-US" sz="2800" dirty="0"/>
              <a:t> </a:t>
            </a:r>
          </a:p>
        </p:txBody>
      </p:sp>
      <p:sp>
        <p:nvSpPr>
          <p:cNvPr id="5" name="TextBox 4">
            <a:extLst>
              <a:ext uri="{FF2B5EF4-FFF2-40B4-BE49-F238E27FC236}">
                <a16:creationId xmlns:a16="http://schemas.microsoft.com/office/drawing/2014/main" id="{D0803C55-F67D-C8F9-257F-BFE35354091D}"/>
              </a:ext>
            </a:extLst>
          </p:cNvPr>
          <p:cNvSpPr txBox="1"/>
          <p:nvPr/>
        </p:nvSpPr>
        <p:spPr>
          <a:xfrm>
            <a:off x="1035000" y="207527"/>
            <a:ext cx="7006213" cy="830997"/>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800" dirty="0"/>
              <a:t>Client-Server</a:t>
            </a:r>
          </a:p>
          <a:p>
            <a:r>
              <a:rPr lang="en-US" sz="2000" dirty="0"/>
              <a:t>     </a:t>
            </a:r>
            <a:r>
              <a:rPr lang="en-US" sz="2000" b="1" dirty="0" err="1"/>
              <a:t>client_loop</a:t>
            </a:r>
            <a:r>
              <a:rPr lang="en-US" sz="2000" dirty="0"/>
              <a:t> </a:t>
            </a:r>
            <a:r>
              <a:rPr lang="en-US" sz="2000" dirty="0" err="1"/>
              <a:t>creaza</a:t>
            </a:r>
            <a:r>
              <a:rPr lang="en-US" sz="2000" dirty="0"/>
              <a:t> </a:t>
            </a:r>
            <a:r>
              <a:rPr lang="en-US" sz="2000" dirty="0" err="1"/>
              <a:t>mai</a:t>
            </a:r>
            <a:r>
              <a:rPr lang="en-US" sz="2000" dirty="0"/>
              <a:t> multi </a:t>
            </a:r>
            <a:r>
              <a:rPr lang="en-US" sz="2000" dirty="0" err="1"/>
              <a:t>clienti</a:t>
            </a:r>
            <a:r>
              <a:rPr lang="en-US" sz="2000" dirty="0"/>
              <a:t> </a:t>
            </a:r>
            <a:r>
              <a:rPr lang="en-US" sz="2000" dirty="0" err="1"/>
              <a:t>si</a:t>
            </a:r>
            <a:r>
              <a:rPr lang="en-US" sz="2000" dirty="0"/>
              <a:t> </a:t>
            </a:r>
            <a:r>
              <a:rPr lang="en-US" sz="2000" dirty="0" err="1"/>
              <a:t>intoarce</a:t>
            </a:r>
            <a:r>
              <a:rPr lang="en-US" sz="2000" dirty="0"/>
              <a:t> </a:t>
            </a:r>
            <a:r>
              <a:rPr lang="en-US" sz="2000" dirty="0" err="1"/>
              <a:t>lista</a:t>
            </a:r>
            <a:r>
              <a:rPr lang="en-US" sz="2000" dirty="0"/>
              <a:t> </a:t>
            </a:r>
            <a:r>
              <a:rPr lang="en-US" sz="2000" dirty="0" err="1"/>
              <a:t>rezultatelor</a:t>
            </a:r>
            <a:endParaRPr lang="en-US" sz="2000" dirty="0"/>
          </a:p>
        </p:txBody>
      </p:sp>
      <p:sp>
        <p:nvSpPr>
          <p:cNvPr id="6" name="TextBox 5">
            <a:extLst>
              <a:ext uri="{FF2B5EF4-FFF2-40B4-BE49-F238E27FC236}">
                <a16:creationId xmlns:a16="http://schemas.microsoft.com/office/drawing/2014/main" id="{76FBBFEB-549B-4E8C-9F8A-1563EA344EBF}"/>
              </a:ext>
            </a:extLst>
          </p:cNvPr>
          <p:cNvSpPr txBox="1"/>
          <p:nvPr/>
        </p:nvSpPr>
        <p:spPr>
          <a:xfrm>
            <a:off x="2381336" y="5771598"/>
            <a:ext cx="6374117" cy="523220"/>
          </a:xfrm>
          <a:prstGeom prst="rect">
            <a:avLst/>
          </a:prstGeom>
          <a:noFill/>
        </p:spPr>
        <p:txBody>
          <a:bodyPr wrap="none" rtlCol="0">
            <a:spAutoFit/>
          </a:bodyPr>
          <a:lstStyle/>
          <a:p>
            <a:r>
              <a:rPr lang="en-US" sz="2800" dirty="0" err="1"/>
              <a:t>Functiile</a:t>
            </a:r>
            <a:r>
              <a:rPr lang="en-US" sz="2800" dirty="0"/>
              <a:t> client sunt  </a:t>
            </a:r>
            <a:r>
              <a:rPr lang="en-US" sz="2800" dirty="0" err="1"/>
              <a:t>executate</a:t>
            </a:r>
            <a:r>
              <a:rPr lang="en-US" sz="2800" dirty="0"/>
              <a:t>  </a:t>
            </a:r>
            <a:r>
              <a:rPr lang="en-US" sz="2800" b="1" dirty="0" err="1">
                <a:solidFill>
                  <a:srgbClr val="FF0000"/>
                </a:solidFill>
              </a:rPr>
              <a:t>secvential</a:t>
            </a:r>
            <a:r>
              <a:rPr lang="en-US" sz="2800" b="1" dirty="0">
                <a:solidFill>
                  <a:srgbClr val="FF0000"/>
                </a:solidFill>
              </a:rPr>
              <a:t>!</a:t>
            </a:r>
          </a:p>
        </p:txBody>
      </p:sp>
      <p:pic>
        <p:nvPicPr>
          <p:cNvPr id="4" name="Picture 3">
            <a:extLst>
              <a:ext uri="{FF2B5EF4-FFF2-40B4-BE49-F238E27FC236}">
                <a16:creationId xmlns:a16="http://schemas.microsoft.com/office/drawing/2014/main" id="{D4AE4962-03A2-154E-598C-1B0E5C6DFCE1}"/>
              </a:ext>
            </a:extLst>
          </p:cNvPr>
          <p:cNvPicPr>
            <a:picLocks noChangeAspect="1"/>
          </p:cNvPicPr>
          <p:nvPr/>
        </p:nvPicPr>
        <p:blipFill>
          <a:blip r:embed="rId2"/>
          <a:stretch>
            <a:fillRect/>
          </a:stretch>
        </p:blipFill>
        <p:spPr>
          <a:xfrm>
            <a:off x="714219" y="3284730"/>
            <a:ext cx="9708349" cy="2486868"/>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8396230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2536B-9B47-F752-514B-022729F08FF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90C96CE-9017-2480-746F-F27303A91063}"/>
              </a:ext>
            </a:extLst>
          </p:cNvPr>
          <p:cNvSpPr/>
          <p:nvPr/>
        </p:nvSpPr>
        <p:spPr>
          <a:xfrm>
            <a:off x="2658123" y="1161634"/>
            <a:ext cx="4731428" cy="1754326"/>
          </a:xfrm>
          <a:prstGeom prst="rect">
            <a:avLst/>
          </a:prstGeom>
          <a:ln w="38100">
            <a:solidFill>
              <a:srgbClr val="CA1421"/>
            </a:solidFill>
          </a:ln>
        </p:spPr>
        <p:txBody>
          <a:bodyPr wrap="square">
            <a:spAutoFit/>
          </a:bodyPr>
          <a:lstStyle/>
          <a:p>
            <a:r>
              <a:rPr lang="en-US" sz="1600" dirty="0" err="1"/>
              <a:t>client_loop</a:t>
            </a:r>
            <a:r>
              <a:rPr lang="en-US" sz="1600" dirty="0"/>
              <a:t>(Pid,0,L)  -&gt; </a:t>
            </a:r>
            <a:r>
              <a:rPr lang="en-US" sz="1600" dirty="0" err="1"/>
              <a:t>Pid</a:t>
            </a:r>
            <a:r>
              <a:rPr lang="en-US" sz="1600" dirty="0"/>
              <a:t>! {self(),"Good Bye"}, </a:t>
            </a:r>
          </a:p>
          <a:p>
            <a:r>
              <a:rPr lang="en-US" sz="1600" dirty="0"/>
              <a:t>                                          L;</a:t>
            </a:r>
          </a:p>
          <a:p>
            <a:endParaRPr lang="en-US" sz="1600" dirty="0"/>
          </a:p>
          <a:p>
            <a:r>
              <a:rPr lang="en-US" sz="1600" dirty="0" err="1"/>
              <a:t>client_loop</a:t>
            </a:r>
            <a:r>
              <a:rPr lang="en-US" sz="1600" dirty="0"/>
              <a:t>(Pid, X, L)  -&gt;  R= client(Pid,{</a:t>
            </a:r>
            <a:r>
              <a:rPr lang="en-US" sz="1600" dirty="0" err="1"/>
              <a:t>double,X</a:t>
            </a:r>
            <a:r>
              <a:rPr lang="en-US" sz="1600" dirty="0"/>
              <a:t>}),</a:t>
            </a:r>
          </a:p>
          <a:p>
            <a:r>
              <a:rPr lang="en-US" sz="1600" dirty="0"/>
              <a:t>                                            </a:t>
            </a:r>
            <a:r>
              <a:rPr lang="it-IT" sz="1600" b="1" dirty="0" err="1"/>
              <a:t>io:fwrite</a:t>
            </a:r>
            <a:r>
              <a:rPr lang="it-IT" sz="1600" b="1" dirty="0"/>
              <a:t>("</a:t>
            </a:r>
            <a:r>
              <a:rPr lang="it-IT" sz="1600" b="1" dirty="0" err="1"/>
              <a:t>prel</a:t>
            </a:r>
            <a:r>
              <a:rPr lang="it-IT" sz="1600" b="1" dirty="0"/>
              <a:t> ~w!~n", [X]),</a:t>
            </a:r>
            <a:r>
              <a:rPr lang="en-US" sz="1600" b="1" dirty="0"/>
              <a:t> </a:t>
            </a:r>
            <a:r>
              <a:rPr lang="en-US" sz="1600" dirty="0"/>
              <a:t>                            	                                  </a:t>
            </a:r>
            <a:r>
              <a:rPr lang="en-US" sz="1600" dirty="0" err="1"/>
              <a:t>client_loop</a:t>
            </a:r>
            <a:r>
              <a:rPr lang="en-US" sz="1600" dirty="0"/>
              <a:t>(Pid, X-1, L++[R]).</a:t>
            </a:r>
            <a:r>
              <a:rPr lang="en-US" sz="2800" dirty="0"/>
              <a:t> </a:t>
            </a:r>
          </a:p>
        </p:txBody>
      </p:sp>
      <p:sp>
        <p:nvSpPr>
          <p:cNvPr id="5" name="TextBox 4">
            <a:extLst>
              <a:ext uri="{FF2B5EF4-FFF2-40B4-BE49-F238E27FC236}">
                <a16:creationId xmlns:a16="http://schemas.microsoft.com/office/drawing/2014/main" id="{31016EE9-FD21-C23F-3247-B9FA6A3045B7}"/>
              </a:ext>
            </a:extLst>
          </p:cNvPr>
          <p:cNvSpPr txBox="1"/>
          <p:nvPr/>
        </p:nvSpPr>
        <p:spPr>
          <a:xfrm>
            <a:off x="1035000" y="207527"/>
            <a:ext cx="7006213" cy="830997"/>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800" dirty="0"/>
              <a:t>Client-Server</a:t>
            </a:r>
          </a:p>
          <a:p>
            <a:r>
              <a:rPr lang="en-US" sz="2000" dirty="0"/>
              <a:t>     </a:t>
            </a:r>
            <a:r>
              <a:rPr lang="en-US" sz="2000" b="1" dirty="0" err="1"/>
              <a:t>client_loop</a:t>
            </a:r>
            <a:r>
              <a:rPr lang="en-US" sz="2000" dirty="0"/>
              <a:t> </a:t>
            </a:r>
            <a:r>
              <a:rPr lang="en-US" sz="2000" dirty="0" err="1"/>
              <a:t>creaza</a:t>
            </a:r>
            <a:r>
              <a:rPr lang="en-US" sz="2000" dirty="0"/>
              <a:t> </a:t>
            </a:r>
            <a:r>
              <a:rPr lang="en-US" sz="2000" dirty="0" err="1"/>
              <a:t>mai</a:t>
            </a:r>
            <a:r>
              <a:rPr lang="en-US" sz="2000" dirty="0"/>
              <a:t> multi </a:t>
            </a:r>
            <a:r>
              <a:rPr lang="en-US" sz="2000" dirty="0" err="1"/>
              <a:t>clienti</a:t>
            </a:r>
            <a:r>
              <a:rPr lang="en-US" sz="2000" dirty="0"/>
              <a:t> </a:t>
            </a:r>
            <a:r>
              <a:rPr lang="en-US" sz="2000" dirty="0" err="1"/>
              <a:t>si</a:t>
            </a:r>
            <a:r>
              <a:rPr lang="en-US" sz="2000" dirty="0"/>
              <a:t> </a:t>
            </a:r>
            <a:r>
              <a:rPr lang="en-US" sz="2000" dirty="0" err="1"/>
              <a:t>intoarce</a:t>
            </a:r>
            <a:r>
              <a:rPr lang="en-US" sz="2000" dirty="0"/>
              <a:t> </a:t>
            </a:r>
            <a:r>
              <a:rPr lang="en-US" sz="2000" dirty="0" err="1"/>
              <a:t>lista</a:t>
            </a:r>
            <a:r>
              <a:rPr lang="en-US" sz="2000" dirty="0"/>
              <a:t> </a:t>
            </a:r>
            <a:r>
              <a:rPr lang="en-US" sz="2000" dirty="0" err="1"/>
              <a:t>rezultatelor</a:t>
            </a:r>
            <a:endParaRPr lang="en-US" sz="2000" dirty="0"/>
          </a:p>
        </p:txBody>
      </p:sp>
      <p:sp>
        <p:nvSpPr>
          <p:cNvPr id="6" name="TextBox 5">
            <a:extLst>
              <a:ext uri="{FF2B5EF4-FFF2-40B4-BE49-F238E27FC236}">
                <a16:creationId xmlns:a16="http://schemas.microsoft.com/office/drawing/2014/main" id="{D182350D-DBB6-3D74-ECAD-065530BD1E71}"/>
              </a:ext>
            </a:extLst>
          </p:cNvPr>
          <p:cNvSpPr txBox="1"/>
          <p:nvPr/>
        </p:nvSpPr>
        <p:spPr>
          <a:xfrm>
            <a:off x="2381336" y="5771598"/>
            <a:ext cx="6271910" cy="523220"/>
          </a:xfrm>
          <a:prstGeom prst="rect">
            <a:avLst/>
          </a:prstGeom>
          <a:noFill/>
        </p:spPr>
        <p:txBody>
          <a:bodyPr wrap="none" rtlCol="0">
            <a:spAutoFit/>
          </a:bodyPr>
          <a:lstStyle/>
          <a:p>
            <a:r>
              <a:rPr lang="en-US" sz="2800" dirty="0" err="1"/>
              <a:t>Functiile</a:t>
            </a:r>
            <a:r>
              <a:rPr lang="en-US" sz="2800" dirty="0"/>
              <a:t> client sunt  </a:t>
            </a:r>
            <a:r>
              <a:rPr lang="en-US" sz="2800" dirty="0" err="1"/>
              <a:t>executate</a:t>
            </a:r>
            <a:r>
              <a:rPr lang="en-US" sz="2800" dirty="0"/>
              <a:t>  </a:t>
            </a:r>
            <a:r>
              <a:rPr lang="en-US" sz="2800" b="1" dirty="0">
                <a:solidFill>
                  <a:srgbClr val="00B050"/>
                </a:solidFill>
              </a:rPr>
              <a:t>in </a:t>
            </a:r>
            <a:r>
              <a:rPr lang="en-US" sz="2800" b="1" dirty="0" err="1">
                <a:solidFill>
                  <a:srgbClr val="00B050"/>
                </a:solidFill>
              </a:rPr>
              <a:t>paralel</a:t>
            </a:r>
            <a:r>
              <a:rPr lang="en-US" sz="2800" b="1" dirty="0">
                <a:solidFill>
                  <a:srgbClr val="00B050"/>
                </a:solidFill>
              </a:rPr>
              <a:t>!</a:t>
            </a:r>
          </a:p>
        </p:txBody>
      </p:sp>
      <p:pic>
        <p:nvPicPr>
          <p:cNvPr id="7" name="Picture 6">
            <a:extLst>
              <a:ext uri="{FF2B5EF4-FFF2-40B4-BE49-F238E27FC236}">
                <a16:creationId xmlns:a16="http://schemas.microsoft.com/office/drawing/2014/main" id="{7B84831F-FC6B-8213-D10F-53D83550BEF5}"/>
              </a:ext>
            </a:extLst>
          </p:cNvPr>
          <p:cNvPicPr>
            <a:picLocks noChangeAspect="1"/>
          </p:cNvPicPr>
          <p:nvPr/>
        </p:nvPicPr>
        <p:blipFill>
          <a:blip r:embed="rId2"/>
          <a:stretch>
            <a:fillRect/>
          </a:stretch>
        </p:blipFill>
        <p:spPr>
          <a:xfrm>
            <a:off x="627315" y="3039070"/>
            <a:ext cx="11300526" cy="2606086"/>
          </a:xfrm>
          <a:prstGeom prst="rect">
            <a:avLst/>
          </a:prstGeom>
        </p:spPr>
        <p:style>
          <a:lnRef idx="2">
            <a:schemeClr val="dk1"/>
          </a:lnRef>
          <a:fillRef idx="1">
            <a:schemeClr val="lt1"/>
          </a:fillRef>
          <a:effectRef idx="0">
            <a:schemeClr val="dk1"/>
          </a:effectRef>
          <a:fontRef idx="minor">
            <a:schemeClr val="dk1"/>
          </a:fontRef>
        </p:style>
      </p:pic>
      <p:cxnSp>
        <p:nvCxnSpPr>
          <p:cNvPr id="4" name="Straight Connector 3">
            <a:extLst>
              <a:ext uri="{FF2B5EF4-FFF2-40B4-BE49-F238E27FC236}">
                <a16:creationId xmlns:a16="http://schemas.microsoft.com/office/drawing/2014/main" id="{FCFE9CDE-C94A-C837-FCEA-B2E97746D5F2}"/>
              </a:ext>
            </a:extLst>
          </p:cNvPr>
          <p:cNvCxnSpPr/>
          <p:nvPr/>
        </p:nvCxnSpPr>
        <p:spPr>
          <a:xfrm>
            <a:off x="1278840" y="3820160"/>
            <a:ext cx="580440" cy="0"/>
          </a:xfrm>
          <a:prstGeom prst="line">
            <a:avLst/>
          </a:prstGeom>
          <a:ln w="38100">
            <a:solidFill>
              <a:srgbClr val="00B050"/>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7D473FB7-F163-25B0-9DFE-07B2CDBA6A2D}"/>
              </a:ext>
            </a:extLst>
          </p:cNvPr>
          <p:cNvCxnSpPr/>
          <p:nvPr/>
        </p:nvCxnSpPr>
        <p:spPr>
          <a:xfrm>
            <a:off x="6643320" y="3820160"/>
            <a:ext cx="580440" cy="0"/>
          </a:xfrm>
          <a:prstGeom prst="line">
            <a:avLst/>
          </a:prstGeom>
          <a:ln w="38100">
            <a:solidFill>
              <a:srgbClr val="00B05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406509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77982" y="187036"/>
            <a:ext cx="8326638" cy="523220"/>
          </a:xfrm>
          <a:prstGeom prst="rect">
            <a:avLst/>
          </a:prstGeom>
          <a:noFill/>
        </p:spPr>
        <p:txBody>
          <a:bodyPr wrap="none" rtlCol="0">
            <a:spAutoFit/>
          </a:bodyPr>
          <a:lstStyle/>
          <a:p>
            <a:r>
              <a:rPr lang="en-US" sz="2800" dirty="0"/>
              <a:t>Distributed </a:t>
            </a:r>
            <a:r>
              <a:rPr lang="en-US" sz="2800" dirty="0" err="1"/>
              <a:t>Erlang</a:t>
            </a:r>
            <a:r>
              <a:rPr lang="en-US" sz="2800" dirty="0"/>
              <a:t>: </a:t>
            </a:r>
            <a:r>
              <a:rPr lang="en-US" sz="2800" dirty="0" err="1"/>
              <a:t>programele</a:t>
            </a:r>
            <a:r>
              <a:rPr lang="en-US" sz="2800" dirty="0"/>
              <a:t> </a:t>
            </a:r>
            <a:r>
              <a:rPr lang="en-US" sz="2800" dirty="0" err="1"/>
              <a:t>ruleaza</a:t>
            </a:r>
            <a:r>
              <a:rPr lang="en-US" sz="2800" dirty="0"/>
              <a:t> in </a:t>
            </a:r>
            <a:r>
              <a:rPr lang="en-US" sz="2800" dirty="0" err="1"/>
              <a:t>noduri</a:t>
            </a:r>
            <a:r>
              <a:rPr lang="en-US" sz="2800" dirty="0"/>
              <a:t> </a:t>
            </a:r>
            <a:r>
              <a:rPr lang="en-US" sz="2800" dirty="0" err="1"/>
              <a:t>diferite</a:t>
            </a:r>
            <a:endParaRPr lang="en-US" sz="2800" dirty="0"/>
          </a:p>
        </p:txBody>
      </p:sp>
      <p:cxnSp>
        <p:nvCxnSpPr>
          <p:cNvPr id="7" name="Straight Arrow Connector 6"/>
          <p:cNvCxnSpPr/>
          <p:nvPr/>
        </p:nvCxnSpPr>
        <p:spPr>
          <a:xfrm>
            <a:off x="6591782" y="4514127"/>
            <a:ext cx="1006998" cy="90861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0B7A136-B792-962B-9588-9CA1BBA86950}"/>
              </a:ext>
            </a:extLst>
          </p:cNvPr>
          <p:cNvPicPr>
            <a:picLocks noChangeAspect="1"/>
          </p:cNvPicPr>
          <p:nvPr/>
        </p:nvPicPr>
        <p:blipFill>
          <a:blip r:embed="rId2"/>
          <a:stretch>
            <a:fillRect/>
          </a:stretch>
        </p:blipFill>
        <p:spPr>
          <a:xfrm>
            <a:off x="174482" y="1235545"/>
            <a:ext cx="11342619" cy="4457539"/>
          </a:xfrm>
          <a:prstGeom prst="rect">
            <a:avLst/>
          </a:prstGeom>
        </p:spPr>
      </p:pic>
      <p:pic>
        <p:nvPicPr>
          <p:cNvPr id="12" name="Picture 11">
            <a:extLst>
              <a:ext uri="{FF2B5EF4-FFF2-40B4-BE49-F238E27FC236}">
                <a16:creationId xmlns:a16="http://schemas.microsoft.com/office/drawing/2014/main" id="{0CDC3BB0-C01D-DBB6-70A6-00DD511053F8}"/>
              </a:ext>
            </a:extLst>
          </p:cNvPr>
          <p:cNvPicPr>
            <a:picLocks noChangeAspect="1"/>
          </p:cNvPicPr>
          <p:nvPr/>
        </p:nvPicPr>
        <p:blipFill>
          <a:blip r:embed="rId3"/>
          <a:stretch>
            <a:fillRect/>
          </a:stretch>
        </p:blipFill>
        <p:spPr>
          <a:xfrm>
            <a:off x="5647130" y="4699350"/>
            <a:ext cx="1091279" cy="993734"/>
          </a:xfrm>
          <a:prstGeom prst="rect">
            <a:avLst/>
          </a:prstGeom>
        </p:spPr>
      </p:pic>
      <p:sp>
        <p:nvSpPr>
          <p:cNvPr id="5" name="TextBox 4"/>
          <p:cNvSpPr txBox="1"/>
          <p:nvPr/>
        </p:nvSpPr>
        <p:spPr>
          <a:xfrm>
            <a:off x="6738409" y="5658640"/>
            <a:ext cx="1709571" cy="36933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solidFill>
                  <a:schemeClr val="tx1"/>
                </a:solidFill>
              </a:rPr>
              <a:t>Numele</a:t>
            </a:r>
            <a:r>
              <a:rPr lang="en-US" dirty="0">
                <a:solidFill>
                  <a:schemeClr val="tx1"/>
                </a:solidFill>
              </a:rPr>
              <a:t> e atom!</a:t>
            </a:r>
          </a:p>
        </p:txBody>
      </p:sp>
      <p:sp>
        <p:nvSpPr>
          <p:cNvPr id="6" name="TextBox 5">
            <a:extLst>
              <a:ext uri="{FF2B5EF4-FFF2-40B4-BE49-F238E27FC236}">
                <a16:creationId xmlns:a16="http://schemas.microsoft.com/office/drawing/2014/main" id="{595DBC9C-E1F4-26B4-0A3A-DCB671A6886C}"/>
              </a:ext>
            </a:extLst>
          </p:cNvPr>
          <p:cNvSpPr txBox="1"/>
          <p:nvPr/>
        </p:nvSpPr>
        <p:spPr>
          <a:xfrm>
            <a:off x="8334671" y="2328846"/>
            <a:ext cx="2941446" cy="132343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err="1"/>
              <a:t>Crearea</a:t>
            </a:r>
            <a:r>
              <a:rPr lang="en-US" sz="2000" dirty="0"/>
              <a:t> </a:t>
            </a:r>
            <a:r>
              <a:rPr lang="en-US" sz="2000" dirty="0" err="1"/>
              <a:t>unui</a:t>
            </a:r>
            <a:r>
              <a:rPr lang="en-US" sz="2000" dirty="0"/>
              <a:t> nod in Erlang</a:t>
            </a:r>
          </a:p>
          <a:p>
            <a:endParaRPr lang="en-US" sz="2000" dirty="0"/>
          </a:p>
          <a:p>
            <a:r>
              <a:rPr lang="en-US" sz="2000" b="1" dirty="0"/>
              <a:t>&gt;</a:t>
            </a:r>
            <a:r>
              <a:rPr lang="en-US" sz="2000" b="1" dirty="0" err="1"/>
              <a:t>erl</a:t>
            </a:r>
            <a:r>
              <a:rPr lang="en-US" sz="2000" b="1" dirty="0"/>
              <a:t> –</a:t>
            </a:r>
            <a:r>
              <a:rPr lang="en-US" sz="2000" b="1" dirty="0" err="1"/>
              <a:t>sname</a:t>
            </a:r>
            <a:r>
              <a:rPr lang="en-US" sz="2000" b="1" dirty="0"/>
              <a:t> …</a:t>
            </a:r>
          </a:p>
          <a:p>
            <a:endParaRPr lang="en-US" sz="2000" b="1" dirty="0"/>
          </a:p>
        </p:txBody>
      </p:sp>
    </p:spTree>
    <p:extLst>
      <p:ext uri="{BB962C8B-B14F-4D97-AF65-F5344CB8AC3E}">
        <p14:creationId xmlns:p14="http://schemas.microsoft.com/office/powerpoint/2010/main" val="31990857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79378" y="758635"/>
            <a:ext cx="9432201" cy="5650058"/>
          </a:xfrm>
          <a:prstGeom prst="rect">
            <a:avLst/>
          </a:prstGeom>
        </p:spPr>
      </p:pic>
      <p:sp>
        <p:nvSpPr>
          <p:cNvPr id="3" name="TextBox 2"/>
          <p:cNvSpPr txBox="1"/>
          <p:nvPr/>
        </p:nvSpPr>
        <p:spPr>
          <a:xfrm>
            <a:off x="477982" y="187036"/>
            <a:ext cx="8326638" cy="523220"/>
          </a:xfrm>
          <a:prstGeom prst="rect">
            <a:avLst/>
          </a:prstGeom>
          <a:noFill/>
        </p:spPr>
        <p:txBody>
          <a:bodyPr wrap="none" rtlCol="0">
            <a:spAutoFit/>
          </a:bodyPr>
          <a:lstStyle/>
          <a:p>
            <a:r>
              <a:rPr lang="en-US" sz="2800" dirty="0"/>
              <a:t>Distributed </a:t>
            </a:r>
            <a:r>
              <a:rPr lang="en-US" sz="2800" dirty="0" err="1"/>
              <a:t>Erlang</a:t>
            </a:r>
            <a:r>
              <a:rPr lang="en-US" sz="2800" dirty="0"/>
              <a:t>: </a:t>
            </a:r>
            <a:r>
              <a:rPr lang="en-US" sz="2800" dirty="0" err="1"/>
              <a:t>programele</a:t>
            </a:r>
            <a:r>
              <a:rPr lang="en-US" sz="2800" dirty="0"/>
              <a:t> </a:t>
            </a:r>
            <a:r>
              <a:rPr lang="en-US" sz="2800" dirty="0" err="1"/>
              <a:t>ruleaza</a:t>
            </a:r>
            <a:r>
              <a:rPr lang="en-US" sz="2800" dirty="0"/>
              <a:t> in </a:t>
            </a:r>
            <a:r>
              <a:rPr lang="en-US" sz="2800" dirty="0" err="1"/>
              <a:t>noduri</a:t>
            </a:r>
            <a:r>
              <a:rPr lang="en-US" sz="2800" dirty="0"/>
              <a:t> </a:t>
            </a:r>
            <a:r>
              <a:rPr lang="en-US" sz="2800" dirty="0" err="1"/>
              <a:t>diferite</a:t>
            </a:r>
            <a:endParaRPr lang="en-US" sz="2800" dirty="0"/>
          </a:p>
        </p:txBody>
      </p:sp>
      <p:sp>
        <p:nvSpPr>
          <p:cNvPr id="4" name="TextBox 3"/>
          <p:cNvSpPr txBox="1"/>
          <p:nvPr/>
        </p:nvSpPr>
        <p:spPr>
          <a:xfrm>
            <a:off x="315936" y="5324354"/>
            <a:ext cx="4660378" cy="101566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b="1" dirty="0" err="1"/>
              <a:t>rpc:call</a:t>
            </a:r>
            <a:r>
              <a:rPr lang="en-US" sz="2000" b="1" dirty="0"/>
              <a:t>  </a:t>
            </a:r>
          </a:p>
          <a:p>
            <a:r>
              <a:rPr lang="en-US" sz="2000" dirty="0"/>
              <a:t>remote procedure call</a:t>
            </a:r>
          </a:p>
          <a:p>
            <a:r>
              <a:rPr lang="en-US" sz="2000" dirty="0">
                <a:hlinkClick r:id="rId3"/>
              </a:rPr>
              <a:t>http://erlang.org/doc/man/rpc.html#call-4</a:t>
            </a:r>
            <a:endParaRPr lang="en-US" sz="2000" dirty="0"/>
          </a:p>
        </p:txBody>
      </p:sp>
      <p:sp>
        <p:nvSpPr>
          <p:cNvPr id="6" name="TextBox 5">
            <a:extLst>
              <a:ext uri="{FF2B5EF4-FFF2-40B4-BE49-F238E27FC236}">
                <a16:creationId xmlns:a16="http://schemas.microsoft.com/office/drawing/2014/main" id="{595DBC9C-E1F4-26B4-0A3A-DCB671A6886C}"/>
              </a:ext>
            </a:extLst>
          </p:cNvPr>
          <p:cNvSpPr txBox="1"/>
          <p:nvPr/>
        </p:nvSpPr>
        <p:spPr>
          <a:xfrm>
            <a:off x="8222911" y="1102503"/>
            <a:ext cx="2941446" cy="132343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err="1"/>
              <a:t>Crearea</a:t>
            </a:r>
            <a:r>
              <a:rPr lang="en-US" sz="2000" dirty="0"/>
              <a:t> </a:t>
            </a:r>
            <a:r>
              <a:rPr lang="en-US" sz="2000" dirty="0" err="1"/>
              <a:t>unui</a:t>
            </a:r>
            <a:r>
              <a:rPr lang="en-US" sz="2000" dirty="0"/>
              <a:t> nod in Erlang</a:t>
            </a:r>
          </a:p>
          <a:p>
            <a:endParaRPr lang="en-US" sz="2000" dirty="0"/>
          </a:p>
          <a:p>
            <a:r>
              <a:rPr lang="en-US" sz="2000" b="1" dirty="0"/>
              <a:t>&gt;</a:t>
            </a:r>
            <a:r>
              <a:rPr lang="en-US" sz="2000" b="1" dirty="0" err="1"/>
              <a:t>erl</a:t>
            </a:r>
            <a:r>
              <a:rPr lang="en-US" sz="2000" b="1" dirty="0"/>
              <a:t> –</a:t>
            </a:r>
            <a:r>
              <a:rPr lang="en-US" sz="2000" b="1" dirty="0" err="1"/>
              <a:t>sname</a:t>
            </a:r>
            <a:r>
              <a:rPr lang="en-US" sz="2000" b="1" dirty="0"/>
              <a:t> …</a:t>
            </a:r>
          </a:p>
          <a:p>
            <a:endParaRPr lang="en-US" sz="2000" dirty="0"/>
          </a:p>
        </p:txBody>
      </p:sp>
    </p:spTree>
    <p:extLst>
      <p:ext uri="{BB962C8B-B14F-4D97-AF65-F5344CB8AC3E}">
        <p14:creationId xmlns:p14="http://schemas.microsoft.com/office/powerpoint/2010/main" val="9562139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6084" y="0"/>
            <a:ext cx="6015236" cy="400110"/>
          </a:xfrm>
          <a:prstGeom prst="rect">
            <a:avLst/>
          </a:prstGeom>
          <a:noFill/>
        </p:spPr>
        <p:txBody>
          <a:bodyPr wrap="none" rtlCol="0">
            <a:spAutoFit/>
          </a:bodyPr>
          <a:lstStyle/>
          <a:p>
            <a:r>
              <a:rPr lang="en-US" sz="2000" dirty="0"/>
              <a:t>Distributed </a:t>
            </a:r>
            <a:r>
              <a:rPr lang="en-US" sz="2000" dirty="0" err="1"/>
              <a:t>Erlang</a:t>
            </a:r>
            <a:r>
              <a:rPr lang="en-US" sz="2000" dirty="0"/>
              <a:t>: </a:t>
            </a:r>
            <a:r>
              <a:rPr lang="en-US" sz="2000" dirty="0" err="1"/>
              <a:t>programele</a:t>
            </a:r>
            <a:r>
              <a:rPr lang="en-US" sz="2000" dirty="0"/>
              <a:t> </a:t>
            </a:r>
            <a:r>
              <a:rPr lang="en-US" sz="2000" dirty="0" err="1"/>
              <a:t>ruleaza</a:t>
            </a:r>
            <a:r>
              <a:rPr lang="en-US" sz="2000" dirty="0"/>
              <a:t> in </a:t>
            </a:r>
            <a:r>
              <a:rPr lang="en-US" sz="2000" dirty="0" err="1"/>
              <a:t>noduri</a:t>
            </a:r>
            <a:r>
              <a:rPr lang="en-US" sz="2000" dirty="0"/>
              <a:t> </a:t>
            </a:r>
            <a:r>
              <a:rPr lang="en-US" sz="2000" dirty="0" err="1"/>
              <a:t>diferite</a:t>
            </a:r>
            <a:endParaRPr lang="en-US" sz="2000" dirty="0"/>
          </a:p>
        </p:txBody>
      </p:sp>
      <p:sp>
        <p:nvSpPr>
          <p:cNvPr id="6" name="TextBox 5">
            <a:extLst>
              <a:ext uri="{FF2B5EF4-FFF2-40B4-BE49-F238E27FC236}">
                <a16:creationId xmlns:a16="http://schemas.microsoft.com/office/drawing/2014/main" id="{595DBC9C-E1F4-26B4-0A3A-DCB671A6886C}"/>
              </a:ext>
            </a:extLst>
          </p:cNvPr>
          <p:cNvSpPr txBox="1"/>
          <p:nvPr/>
        </p:nvSpPr>
        <p:spPr>
          <a:xfrm>
            <a:off x="8222911" y="1102503"/>
            <a:ext cx="184731"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endParaRPr lang="en-US" sz="2000" dirty="0"/>
          </a:p>
        </p:txBody>
      </p:sp>
      <p:pic>
        <p:nvPicPr>
          <p:cNvPr id="7" name="Picture 6">
            <a:extLst>
              <a:ext uri="{FF2B5EF4-FFF2-40B4-BE49-F238E27FC236}">
                <a16:creationId xmlns:a16="http://schemas.microsoft.com/office/drawing/2014/main" id="{FBD0760B-D981-8051-0F29-D88B56B6C857}"/>
              </a:ext>
            </a:extLst>
          </p:cNvPr>
          <p:cNvPicPr>
            <a:picLocks noChangeAspect="1"/>
          </p:cNvPicPr>
          <p:nvPr/>
        </p:nvPicPr>
        <p:blipFill>
          <a:blip r:embed="rId2"/>
          <a:stretch>
            <a:fillRect/>
          </a:stretch>
        </p:blipFill>
        <p:spPr>
          <a:xfrm>
            <a:off x="203524" y="400110"/>
            <a:ext cx="11459832" cy="5958839"/>
          </a:xfrm>
          <a:prstGeom prst="rect">
            <a:avLst/>
          </a:prstGeom>
        </p:spPr>
      </p:pic>
      <p:sp>
        <p:nvSpPr>
          <p:cNvPr id="4" name="TextBox 3"/>
          <p:cNvSpPr txBox="1"/>
          <p:nvPr/>
        </p:nvSpPr>
        <p:spPr>
          <a:xfrm>
            <a:off x="5951914" y="2426620"/>
            <a:ext cx="6036562" cy="70788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000" dirty="0"/>
              <a:t>cu spawn/4 </a:t>
            </a:r>
            <a:r>
              <a:rPr lang="en-US" sz="2000" dirty="0" err="1"/>
              <a:t>serverul</a:t>
            </a:r>
            <a:r>
              <a:rPr lang="en-US" sz="2000" dirty="0"/>
              <a:t> </a:t>
            </a:r>
            <a:r>
              <a:rPr lang="en-US" sz="2000" dirty="0" err="1"/>
              <a:t>este</a:t>
            </a:r>
            <a:r>
              <a:rPr lang="en-US" sz="2000" dirty="0"/>
              <a:t> </a:t>
            </a:r>
            <a:r>
              <a:rPr lang="en-US" sz="2000" dirty="0" err="1"/>
              <a:t>pornit</a:t>
            </a:r>
            <a:r>
              <a:rPr lang="en-US" sz="2000" dirty="0"/>
              <a:t> din alt nod </a:t>
            </a:r>
          </a:p>
          <a:p>
            <a:r>
              <a:rPr lang="en-US" sz="2000" dirty="0">
                <a:hlinkClick r:id="rId3"/>
              </a:rPr>
              <a:t>https://www.erlang.org/doc/apps/erts/erlang#spawn/4 </a:t>
            </a:r>
            <a:endParaRPr lang="en-US" sz="2000" dirty="0"/>
          </a:p>
        </p:txBody>
      </p:sp>
    </p:spTree>
    <p:extLst>
      <p:ext uri="{BB962C8B-B14F-4D97-AF65-F5344CB8AC3E}">
        <p14:creationId xmlns:p14="http://schemas.microsoft.com/office/powerpoint/2010/main" val="286597130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5022</TotalTime>
  <Words>4396</Words>
  <Application>Microsoft Office PowerPoint</Application>
  <PresentationFormat>Widescreen</PresentationFormat>
  <Paragraphs>560</Paragraphs>
  <Slides>60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60</vt:i4>
      </vt:variant>
    </vt:vector>
  </HeadingPairs>
  <TitlesOfParts>
    <vt:vector size="70" baseType="lpstr">
      <vt:lpstr>Arial</vt:lpstr>
      <vt:lpstr>Arial Unicode MS</vt:lpstr>
      <vt:lpstr>BeraSansMono-Roman</vt:lpstr>
      <vt:lpstr>Calibri</vt:lpstr>
      <vt:lpstr>Calibri Light</vt:lpstr>
      <vt:lpstr>CMSY10</vt:lpstr>
      <vt:lpstr>Courier New</vt:lpstr>
      <vt:lpstr>Times New Roman</vt:lpstr>
      <vt:lpstr>Wingdings</vt:lpstr>
      <vt:lpstr>Retrospect</vt:lpstr>
      <vt:lpstr>IMPLEMENTAREA CONCURENTEI IN LIMBAJE DE PROGRAMARE </vt:lpstr>
      <vt:lpstr>                       PARALELISM   CONCURENTA   SISTEME  DISTRIBUITE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ACTOR MODEL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Ioana Leustean</dc:creator>
  <cp:lastModifiedBy>IOANA GABRIELA LEUSTEAN</cp:lastModifiedBy>
  <cp:revision>212</cp:revision>
  <cp:lastPrinted>2025-05-14T07:19:25Z</cp:lastPrinted>
  <dcterms:created xsi:type="dcterms:W3CDTF">2015-03-31T05:03:29Z</dcterms:created>
  <dcterms:modified xsi:type="dcterms:W3CDTF">2025-11-28T06:40:53Z</dcterms:modified>
</cp:coreProperties>
</file>