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84" r:id="rId2"/>
    <p:sldId id="286" r:id="rId3"/>
    <p:sldId id="345" r:id="rId4"/>
    <p:sldId id="346" r:id="rId5"/>
    <p:sldId id="347" r:id="rId6"/>
    <p:sldId id="359" r:id="rId7"/>
    <p:sldId id="351" r:id="rId8"/>
    <p:sldId id="354" r:id="rId9"/>
    <p:sldId id="356" r:id="rId10"/>
    <p:sldId id="360" r:id="rId11"/>
    <p:sldId id="361" r:id="rId12"/>
    <p:sldId id="362" r:id="rId13"/>
    <p:sldId id="357" r:id="rId14"/>
    <p:sldId id="363"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A14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838" autoAdjust="0"/>
    <p:restoredTop sz="94660"/>
  </p:normalViewPr>
  <p:slideViewPr>
    <p:cSldViewPr snapToGrid="0">
      <p:cViewPr varScale="1">
        <p:scale>
          <a:sx n="63" d="100"/>
          <a:sy n="63" d="100"/>
        </p:scale>
        <p:origin x="73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erlang.org/docs"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dirty="0"/>
              <a:t>12/19/2025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dirty="0"/>
              <a:t>12/19/2025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dirty="0"/>
              <a:t>12/19/2025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dirty="0"/>
              <a:t>12/19/2025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dirty="0"/>
              <a:t>12/19/2025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dirty="0"/>
              <a:t>12/19/2025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7" name="Date Placeholder 6"/>
          <p:cNvSpPr>
            <a:spLocks noGrp="1"/>
          </p:cNvSpPr>
          <p:nvPr>
            <p:ph type="dt" sz="half" idx="10"/>
          </p:nvPr>
        </p:nvSpPr>
        <p:spPr/>
        <p:txBody>
          <a:bodyPr/>
          <a:lstStyle/>
          <a:p>
            <a:fld id="{4D94136C-8742-45B2-AF27-D93DF72833A9}" type="datetimeFigureOut">
              <a:rPr lang="en-US" dirty="0"/>
              <a:t>12/19/2025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
        <p:nvSpPr>
          <p:cNvPr id="3" name="TextBox 2"/>
          <p:cNvSpPr txBox="1"/>
          <p:nvPr userDrawn="1"/>
        </p:nvSpPr>
        <p:spPr>
          <a:xfrm>
            <a:off x="4550173" y="6439790"/>
            <a:ext cx="2843599" cy="369332"/>
          </a:xfrm>
          <a:prstGeom prst="rect">
            <a:avLst/>
          </a:prstGeom>
          <a:noFill/>
        </p:spPr>
        <p:txBody>
          <a:bodyPr wrap="none" rtlCol="0">
            <a:spAutoFit/>
          </a:bodyPr>
          <a:lstStyle/>
          <a:p>
            <a:r>
              <a:rPr lang="en-US" dirty="0">
                <a:hlinkClick r:id="rId2"/>
              </a:rPr>
              <a:t>http://www.erlang.org/docs</a:t>
            </a:r>
            <a:endParaRPr lang="en-US" dirty="0"/>
          </a:p>
        </p:txBody>
      </p:sp>
      <p:pic>
        <p:nvPicPr>
          <p:cNvPr id="1026" name="Picture 2" descr="http://erlang.org/doc/erlang-logo.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82381" y="6391223"/>
            <a:ext cx="482905" cy="4178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ABBEA6-7C60-4B02-AE87-00D78D8422AF}" type="datetimeFigureOut">
              <a:rPr lang="en-US" dirty="0"/>
              <a:t>12/19/2025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dirty="0"/>
              <a:t>12/19/2025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dirty="0"/>
              <a:t>12/19/2025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dirty="0"/>
              <a:t>12/19/2025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8624D31-43A5-475A-80CF-332C9F6DCF35}" type="datetimeFigureOut">
              <a:rPr lang="en-US" dirty="0"/>
              <a:t>12/19/2025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erlang.org/" TargetMode="External"/><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hyperlink" Target="http://learnyousomeerlang.com/"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hyperlink" Target="http://learnyousomeerlang.com/what-is-otp#its-the-open-telecom-platform"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hyperlink" Target="https://learnyousomeerlang.com/what-is-otp#its-the-open-telecom-platform"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3200" dirty="0"/>
              <a:t>IMPLEMENTAREA</a:t>
            </a:r>
            <a:br>
              <a:rPr lang="en-US" sz="3200" dirty="0"/>
            </a:br>
            <a:r>
              <a:rPr lang="en-US" sz="3200" dirty="0"/>
              <a:t>CONCURENTEI</a:t>
            </a:r>
            <a:br>
              <a:rPr lang="en-US" sz="3200" dirty="0"/>
            </a:br>
            <a:r>
              <a:rPr lang="en-US" sz="3200" dirty="0"/>
              <a:t>IN LIMBAJE DE</a:t>
            </a:r>
            <a:br>
              <a:rPr lang="en-US" sz="3200" dirty="0"/>
            </a:br>
            <a:r>
              <a:rPr lang="en-US" sz="3200" dirty="0"/>
              <a:t>PROGRAMARE</a:t>
            </a:r>
            <a:br>
              <a:rPr lang="en-US" sz="3200" dirty="0"/>
            </a:br>
            <a:endParaRPr lang="en-US" sz="3200" dirty="0"/>
          </a:p>
        </p:txBody>
      </p:sp>
      <p:sp>
        <p:nvSpPr>
          <p:cNvPr id="6" name="Text Placeholder 5"/>
          <p:cNvSpPr>
            <a:spLocks noGrp="1"/>
          </p:cNvSpPr>
          <p:nvPr>
            <p:ph type="body" sz="half" idx="2"/>
          </p:nvPr>
        </p:nvSpPr>
        <p:spPr/>
        <p:txBody>
          <a:bodyPr>
            <a:normAutofit/>
          </a:bodyPr>
          <a:lstStyle/>
          <a:p>
            <a:r>
              <a:rPr lang="en-US" sz="2400" dirty="0"/>
              <a:t>Ioana Leustean</a:t>
            </a:r>
          </a:p>
          <a:p>
            <a:endParaRPr lang="en-US" sz="2400" dirty="0"/>
          </a:p>
          <a:p>
            <a:r>
              <a:rPr lang="en-US" sz="2400" dirty="0"/>
              <a:t>INTRODUCERE IN</a:t>
            </a:r>
          </a:p>
          <a:p>
            <a:r>
              <a:rPr lang="en-US" sz="2400" dirty="0"/>
              <a:t>ERLANG</a:t>
            </a:r>
          </a:p>
        </p:txBody>
      </p:sp>
      <p:sp>
        <p:nvSpPr>
          <p:cNvPr id="2" name="AutoShape 2" descr="Imagini pentru Erla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Imagini pentru Erla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0" name="Picture 6" descr="http://erlang.org/doc/erlang-log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4811" y="1159624"/>
            <a:ext cx="3342822" cy="289282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6139213" y="4987636"/>
            <a:ext cx="4094018" cy="523220"/>
          </a:xfrm>
          <a:prstGeom prst="rect">
            <a:avLst/>
          </a:prstGeom>
          <a:noFill/>
        </p:spPr>
        <p:txBody>
          <a:bodyPr wrap="square" rtlCol="0">
            <a:spAutoFit/>
          </a:bodyPr>
          <a:lstStyle/>
          <a:p>
            <a:r>
              <a:rPr lang="en-US" sz="2800" dirty="0">
                <a:hlinkClick r:id="rId3"/>
              </a:rPr>
              <a:t>http://www.erlang.org/</a:t>
            </a:r>
            <a:endParaRPr lang="en-US" sz="2800" dirty="0"/>
          </a:p>
        </p:txBody>
      </p:sp>
    </p:spTree>
    <p:extLst>
      <p:ext uri="{BB962C8B-B14F-4D97-AF65-F5344CB8AC3E}">
        <p14:creationId xmlns:p14="http://schemas.microsoft.com/office/powerpoint/2010/main" val="36809707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52243" y="624049"/>
            <a:ext cx="2395592" cy="584775"/>
          </a:xfrm>
          <a:prstGeom prst="rect">
            <a:avLst/>
          </a:prstGeom>
          <a:noFill/>
        </p:spPr>
        <p:txBody>
          <a:bodyPr wrap="none" rtlCol="0">
            <a:spAutoFit/>
          </a:bodyPr>
          <a:lstStyle/>
          <a:p>
            <a:pPr marL="285750" indent="-285750">
              <a:buFont typeface="Wingdings" panose="05000000000000000000" pitchFamily="2" charset="2"/>
              <a:buChar char="Ø"/>
            </a:pPr>
            <a:r>
              <a:rPr lang="en-US" sz="3200" dirty="0" err="1"/>
              <a:t>Bibliografie</a:t>
            </a:r>
            <a:endParaRPr lang="en-US" sz="3200" dirty="0"/>
          </a:p>
        </p:txBody>
      </p:sp>
      <p:sp>
        <p:nvSpPr>
          <p:cNvPr id="6" name="TextBox 5"/>
          <p:cNvSpPr txBox="1"/>
          <p:nvPr/>
        </p:nvSpPr>
        <p:spPr>
          <a:xfrm>
            <a:off x="8788260" y="3253718"/>
            <a:ext cx="1654492" cy="369332"/>
          </a:xfrm>
          <a:prstGeom prst="rect">
            <a:avLst/>
          </a:prstGeom>
          <a:noFill/>
        </p:spPr>
        <p:txBody>
          <a:bodyPr wrap="none" rtlCol="0">
            <a:spAutoFit/>
          </a:bodyPr>
          <a:lstStyle/>
          <a:p>
            <a:r>
              <a:rPr lang="en-US" dirty="0" err="1">
                <a:hlinkClick r:id="rId2"/>
              </a:rPr>
              <a:t>Varianta</a:t>
            </a:r>
            <a:r>
              <a:rPr lang="en-US" dirty="0">
                <a:hlinkClick r:id="rId2"/>
              </a:rPr>
              <a:t> online </a:t>
            </a:r>
            <a:endParaRPr lang="en-US" dirty="0"/>
          </a:p>
        </p:txBody>
      </p:sp>
      <p:sp>
        <p:nvSpPr>
          <p:cNvPr id="7" name="TextBox 6"/>
          <p:cNvSpPr txBox="1"/>
          <p:nvPr/>
        </p:nvSpPr>
        <p:spPr>
          <a:xfrm>
            <a:off x="459985" y="1914890"/>
            <a:ext cx="9961830" cy="3046988"/>
          </a:xfrm>
          <a:prstGeom prst="rect">
            <a:avLst/>
          </a:prstGeom>
          <a:noFill/>
        </p:spPr>
        <p:txBody>
          <a:bodyPr wrap="none" rtlCol="0">
            <a:spAutoFit/>
          </a:bodyPr>
          <a:lstStyle/>
          <a:p>
            <a:r>
              <a:rPr lang="en-US" sz="3200" dirty="0"/>
              <a:t> </a:t>
            </a:r>
          </a:p>
          <a:p>
            <a:r>
              <a:rPr lang="en-US" sz="3200" dirty="0"/>
              <a:t>Joe Armstrong, Programming </a:t>
            </a:r>
            <a:r>
              <a:rPr lang="en-US" sz="3200" dirty="0" err="1"/>
              <a:t>Erlang</a:t>
            </a:r>
            <a:r>
              <a:rPr lang="en-US" sz="3200" dirty="0"/>
              <a:t>, Second Edition 2013</a:t>
            </a:r>
          </a:p>
          <a:p>
            <a:endParaRPr lang="en-US" sz="3200" dirty="0">
              <a:solidFill>
                <a:schemeClr val="bg1"/>
              </a:solidFill>
            </a:endParaRPr>
          </a:p>
          <a:p>
            <a:r>
              <a:rPr lang="en-US" sz="3200" dirty="0">
                <a:solidFill>
                  <a:schemeClr val="bg1"/>
                </a:solidFill>
              </a:rPr>
              <a:t> </a:t>
            </a:r>
            <a:r>
              <a:rPr lang="en-US" sz="3200" dirty="0"/>
              <a:t>Fred Hébert, Learn You Some </a:t>
            </a:r>
            <a:r>
              <a:rPr lang="en-US" sz="3200" dirty="0" err="1"/>
              <a:t>Erlang</a:t>
            </a:r>
            <a:r>
              <a:rPr lang="en-US" sz="3200" dirty="0"/>
              <a:t> For Great Good, 2013</a:t>
            </a:r>
          </a:p>
          <a:p>
            <a:endParaRPr lang="en-US" sz="3200" dirty="0"/>
          </a:p>
          <a:p>
            <a:r>
              <a:rPr lang="en-US" sz="3200" dirty="0"/>
              <a:t> </a:t>
            </a:r>
          </a:p>
        </p:txBody>
      </p:sp>
      <p:sp>
        <p:nvSpPr>
          <p:cNvPr id="2" name="TextBox 1"/>
          <p:cNvSpPr txBox="1"/>
          <p:nvPr/>
        </p:nvSpPr>
        <p:spPr>
          <a:xfrm>
            <a:off x="850739" y="4543063"/>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1646877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81416" y="4172087"/>
            <a:ext cx="8872092" cy="1477328"/>
          </a:xfrm>
          <a:prstGeom prst="rect">
            <a:avLst/>
          </a:prstGeom>
          <a:ln>
            <a:noFill/>
          </a:ln>
        </p:spPr>
        <p:style>
          <a:lnRef idx="2">
            <a:schemeClr val="dk1"/>
          </a:lnRef>
          <a:fillRef idx="1">
            <a:schemeClr val="lt1"/>
          </a:fillRef>
          <a:effectRef idx="0">
            <a:schemeClr val="dk1"/>
          </a:effectRef>
          <a:fontRef idx="minor">
            <a:schemeClr val="dk1"/>
          </a:fontRef>
        </p:style>
        <p:txBody>
          <a:bodyPr wrap="square">
            <a:spAutoFit/>
          </a:bodyPr>
          <a:lstStyle/>
          <a:p>
            <a:r>
              <a:rPr lang="en-US" dirty="0"/>
              <a:t>OTP stands for Open Telecom Platform, although it's not that much about telecom anymore (it's more about software that has the property of telecom applications, but yeah.) If half of </a:t>
            </a:r>
            <a:r>
              <a:rPr lang="en-US" dirty="0" err="1"/>
              <a:t>Erlang's</a:t>
            </a:r>
            <a:r>
              <a:rPr lang="en-US" dirty="0"/>
              <a:t> greatness comes from its concurrency and distribution and the other half comes from its error handling capabilities, then the OTP framework is the third half of it.</a:t>
            </a:r>
          </a:p>
          <a:p>
            <a:r>
              <a:rPr lang="en-US" dirty="0">
                <a:hlinkClick r:id="rId2"/>
              </a:rPr>
              <a:t>http://learnyousomeerlang.com/what-is-otp#its-the-open-telecom-platform</a:t>
            </a:r>
            <a:endParaRPr lang="en-US" dirty="0"/>
          </a:p>
        </p:txBody>
      </p:sp>
      <p:sp>
        <p:nvSpPr>
          <p:cNvPr id="4" name="TextBox 3"/>
          <p:cNvSpPr txBox="1"/>
          <p:nvPr/>
        </p:nvSpPr>
        <p:spPr>
          <a:xfrm>
            <a:off x="1128822" y="3534524"/>
            <a:ext cx="1157817" cy="523220"/>
          </a:xfrm>
          <a:prstGeom prst="rect">
            <a:avLst/>
          </a:prstGeom>
          <a:noFill/>
        </p:spPr>
        <p:txBody>
          <a:bodyPr wrap="none" rtlCol="0">
            <a:spAutoFit/>
          </a:bodyPr>
          <a:lstStyle/>
          <a:p>
            <a:pPr marL="285750" indent="-285750">
              <a:buFont typeface="Wingdings" panose="05000000000000000000" pitchFamily="2" charset="2"/>
              <a:buChar char="Ø"/>
            </a:pPr>
            <a:r>
              <a:rPr lang="en-US" sz="2800" dirty="0"/>
              <a:t> </a:t>
            </a:r>
            <a:r>
              <a:rPr lang="en-US" sz="2800" b="1" dirty="0"/>
              <a:t>OTP</a:t>
            </a:r>
          </a:p>
        </p:txBody>
      </p:sp>
      <p:sp>
        <p:nvSpPr>
          <p:cNvPr id="6" name="TextBox 5">
            <a:extLst>
              <a:ext uri="{FF2B5EF4-FFF2-40B4-BE49-F238E27FC236}">
                <a16:creationId xmlns:a16="http://schemas.microsoft.com/office/drawing/2014/main" id="{9EDA8664-DD91-3B3D-E6F6-06A8E69EC096}"/>
              </a:ext>
            </a:extLst>
          </p:cNvPr>
          <p:cNvSpPr txBox="1"/>
          <p:nvPr/>
        </p:nvSpPr>
        <p:spPr>
          <a:xfrm>
            <a:off x="1197429" y="1176708"/>
            <a:ext cx="3087833" cy="800219"/>
          </a:xfrm>
          <a:prstGeom prst="rect">
            <a:avLst/>
          </a:prstGeom>
          <a:noFill/>
        </p:spPr>
        <p:txBody>
          <a:bodyPr wrap="none" rtlCol="0">
            <a:spAutoFit/>
          </a:bodyPr>
          <a:lstStyle/>
          <a:p>
            <a:pPr marL="457200" indent="-457200">
              <a:buFont typeface="Wingdings" panose="05000000000000000000" pitchFamily="2" charset="2"/>
              <a:buChar char="Ø"/>
            </a:pPr>
            <a:r>
              <a:rPr lang="en-US" sz="2800" b="1" dirty="0" err="1"/>
              <a:t>Tratarea</a:t>
            </a:r>
            <a:r>
              <a:rPr lang="en-US" sz="2800" b="1" dirty="0"/>
              <a:t> </a:t>
            </a:r>
            <a:r>
              <a:rPr lang="en-US" sz="2800" b="1" dirty="0" err="1"/>
              <a:t>erorilor</a:t>
            </a:r>
            <a:endParaRPr lang="en-US" sz="2800" b="1" dirty="0"/>
          </a:p>
          <a:p>
            <a:endParaRPr lang="en-GB" dirty="0"/>
          </a:p>
        </p:txBody>
      </p:sp>
      <p:sp>
        <p:nvSpPr>
          <p:cNvPr id="7" name="TextBox 6">
            <a:extLst>
              <a:ext uri="{FF2B5EF4-FFF2-40B4-BE49-F238E27FC236}">
                <a16:creationId xmlns:a16="http://schemas.microsoft.com/office/drawing/2014/main" id="{DFD0CB21-A7DF-7025-5673-4C66544A530D}"/>
              </a:ext>
            </a:extLst>
          </p:cNvPr>
          <p:cNvSpPr txBox="1"/>
          <p:nvPr/>
        </p:nvSpPr>
        <p:spPr>
          <a:xfrm>
            <a:off x="1707731" y="1783494"/>
            <a:ext cx="7310719" cy="2308324"/>
          </a:xfrm>
          <a:prstGeom prst="rect">
            <a:avLst/>
          </a:prstGeom>
          <a:noFill/>
        </p:spPr>
        <p:txBody>
          <a:bodyPr wrap="none" rtlCol="0">
            <a:spAutoFit/>
          </a:bodyPr>
          <a:lstStyle/>
          <a:p>
            <a:r>
              <a:rPr lang="en-US" sz="1800" dirty="0"/>
              <a:t>Error handling in concurrent Erlang programs is based on the idea of </a:t>
            </a:r>
            <a:r>
              <a:rPr lang="en-US" sz="1800" i="1" dirty="0"/>
              <a:t>remote</a:t>
            </a:r>
          </a:p>
          <a:p>
            <a:r>
              <a:rPr lang="en-US" sz="1800" i="1" dirty="0"/>
              <a:t>detection and handling of errors</a:t>
            </a:r>
            <a:r>
              <a:rPr lang="en-US" sz="1800" dirty="0"/>
              <a:t>. Instead of handling an error in the process</a:t>
            </a:r>
          </a:p>
          <a:p>
            <a:r>
              <a:rPr lang="en-US" sz="1800" dirty="0"/>
              <a:t>where the error occurs, we let the process die and correct the error in some</a:t>
            </a:r>
          </a:p>
          <a:p>
            <a:r>
              <a:rPr lang="en-US" sz="1800" dirty="0"/>
              <a:t>other process."</a:t>
            </a:r>
          </a:p>
          <a:p>
            <a:r>
              <a:rPr lang="en-US" sz="1800" dirty="0"/>
              <a:t>Joe Armstrong, Programming Erlang, Second Edition 2013</a:t>
            </a:r>
          </a:p>
          <a:p>
            <a:endParaRPr lang="en-US" sz="1800" dirty="0"/>
          </a:p>
          <a:p>
            <a:endParaRPr lang="en-US" sz="1800" dirty="0"/>
          </a:p>
          <a:p>
            <a:endParaRPr lang="en-GB" dirty="0"/>
          </a:p>
        </p:txBody>
      </p:sp>
    </p:spTree>
    <p:extLst>
      <p:ext uri="{BB962C8B-B14F-4D97-AF65-F5344CB8AC3E}">
        <p14:creationId xmlns:p14="http://schemas.microsoft.com/office/powerpoint/2010/main" val="6847407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D46569-BD7A-CC6A-A5AB-BD86BC57F2C2}"/>
              </a:ext>
            </a:extLst>
          </p:cNvPr>
          <p:cNvSpPr txBox="1"/>
          <p:nvPr/>
        </p:nvSpPr>
        <p:spPr>
          <a:xfrm>
            <a:off x="822960" y="227229"/>
            <a:ext cx="10739120" cy="6001643"/>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dirty="0"/>
              <a:t>-</a:t>
            </a:r>
            <a:r>
              <a:rPr lang="en-GB" sz="2400" dirty="0"/>
              <a:t>module(</a:t>
            </a:r>
            <a:r>
              <a:rPr lang="en-GB" sz="2400" dirty="0" err="1"/>
              <a:t>myserver</a:t>
            </a:r>
            <a:r>
              <a:rPr lang="en-GB" sz="2400" dirty="0"/>
              <a:t>).</a:t>
            </a:r>
          </a:p>
          <a:p>
            <a:r>
              <a:rPr lang="en-GB" sz="2400" dirty="0"/>
              <a:t>-export([start/2, client/2]).</a:t>
            </a:r>
          </a:p>
          <a:p>
            <a:endParaRPr lang="en-GB" sz="2400" dirty="0"/>
          </a:p>
          <a:p>
            <a:r>
              <a:rPr lang="en-GB" sz="2400" dirty="0"/>
              <a:t>start(Name, Mod) -&gt;  register(Name, spawn(fun() -&gt; loop(Name, Mod) end)).</a:t>
            </a:r>
          </a:p>
          <a:p>
            <a:endParaRPr lang="en-GB" sz="2400" dirty="0"/>
          </a:p>
          <a:p>
            <a:r>
              <a:rPr lang="en-GB" sz="2400" dirty="0"/>
              <a:t>client(Name, Request) -&gt;</a:t>
            </a:r>
          </a:p>
          <a:p>
            <a:r>
              <a:rPr lang="en-GB" sz="2400" dirty="0"/>
              <a:t>    Name ! {self(), Request},</a:t>
            </a:r>
          </a:p>
          <a:p>
            <a:r>
              <a:rPr lang="en-GB" sz="2400" dirty="0"/>
              <a:t>    receive</a:t>
            </a:r>
          </a:p>
          <a:p>
            <a:r>
              <a:rPr lang="en-GB" sz="2400" dirty="0"/>
              <a:t>        {Name, Response} -&gt; Response</a:t>
            </a:r>
          </a:p>
          <a:p>
            <a:r>
              <a:rPr lang="en-GB" sz="2400" dirty="0"/>
              <a:t>    end.</a:t>
            </a:r>
          </a:p>
          <a:p>
            <a:r>
              <a:rPr lang="en-GB" sz="2400" dirty="0"/>
              <a:t>loop(Name, Mod) -&gt;</a:t>
            </a:r>
          </a:p>
          <a:p>
            <a:r>
              <a:rPr lang="en-GB" sz="2400" dirty="0"/>
              <a:t>    receive</a:t>
            </a:r>
          </a:p>
          <a:p>
            <a:r>
              <a:rPr lang="en-GB" sz="2400" dirty="0"/>
              <a:t>    {From, Request} -&gt;  Response = </a:t>
            </a:r>
            <a:r>
              <a:rPr lang="en-GB" sz="2400" dirty="0" err="1"/>
              <a:t>Mod:handle</a:t>
            </a:r>
            <a:r>
              <a:rPr lang="en-GB" sz="2400" dirty="0"/>
              <a:t>(Request),</a:t>
            </a:r>
          </a:p>
          <a:p>
            <a:r>
              <a:rPr lang="en-GB" sz="2400" dirty="0"/>
              <a:t>                                        From ! {Name, Response},</a:t>
            </a:r>
          </a:p>
          <a:p>
            <a:r>
              <a:rPr lang="en-GB" sz="2400" dirty="0"/>
              <a:t>                                         loop(Name, Mod)</a:t>
            </a:r>
          </a:p>
          <a:p>
            <a:r>
              <a:rPr lang="en-GB" sz="2400" dirty="0"/>
              <a:t>    end.</a:t>
            </a:r>
          </a:p>
        </p:txBody>
      </p:sp>
      <p:sp>
        <p:nvSpPr>
          <p:cNvPr id="4" name="TextBox 3">
            <a:extLst>
              <a:ext uri="{FF2B5EF4-FFF2-40B4-BE49-F238E27FC236}">
                <a16:creationId xmlns:a16="http://schemas.microsoft.com/office/drawing/2014/main" id="{CF6B8667-B031-AEBF-0A8C-5FF4E4790067}"/>
              </a:ext>
            </a:extLst>
          </p:cNvPr>
          <p:cNvSpPr txBox="1"/>
          <p:nvPr/>
        </p:nvSpPr>
        <p:spPr>
          <a:xfrm>
            <a:off x="6360160" y="3821667"/>
            <a:ext cx="3854325" cy="646331"/>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err="1"/>
              <a:t>comportamentul</a:t>
            </a:r>
            <a:r>
              <a:rPr lang="en-US" dirty="0"/>
              <a:t> de </a:t>
            </a:r>
            <a:r>
              <a:rPr lang="en-US" dirty="0" err="1"/>
              <a:t>baza</a:t>
            </a:r>
            <a:r>
              <a:rPr lang="en-US" dirty="0"/>
              <a:t> al </a:t>
            </a:r>
            <a:r>
              <a:rPr lang="en-US" dirty="0" err="1"/>
              <a:t>serverului</a:t>
            </a:r>
            <a:r>
              <a:rPr lang="en-US" dirty="0"/>
              <a:t>, </a:t>
            </a:r>
          </a:p>
          <a:p>
            <a:r>
              <a:rPr lang="en-US" dirty="0" err="1"/>
              <a:t>parametrizat</a:t>
            </a:r>
            <a:r>
              <a:rPr lang="en-US" dirty="0"/>
              <a:t> cu un </a:t>
            </a:r>
            <a:r>
              <a:rPr lang="en-US" dirty="0" err="1"/>
              <a:t>modul</a:t>
            </a:r>
            <a:r>
              <a:rPr lang="en-US" dirty="0"/>
              <a:t> </a:t>
            </a:r>
            <a:r>
              <a:rPr lang="en-US" b="1" dirty="0"/>
              <a:t>Mod</a:t>
            </a:r>
            <a:endParaRPr lang="en-GB" b="1" dirty="0"/>
          </a:p>
        </p:txBody>
      </p:sp>
      <p:sp>
        <p:nvSpPr>
          <p:cNvPr id="5" name="TextBox 4">
            <a:extLst>
              <a:ext uri="{FF2B5EF4-FFF2-40B4-BE49-F238E27FC236}">
                <a16:creationId xmlns:a16="http://schemas.microsoft.com/office/drawing/2014/main" id="{9C07135B-7A6C-5EE4-5026-52B4EB48E60D}"/>
              </a:ext>
            </a:extLst>
          </p:cNvPr>
          <p:cNvSpPr txBox="1"/>
          <p:nvPr/>
        </p:nvSpPr>
        <p:spPr>
          <a:xfrm>
            <a:off x="6436334" y="2418080"/>
            <a:ext cx="3701975"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err="1"/>
              <a:t>comportamentul</a:t>
            </a:r>
            <a:r>
              <a:rPr lang="en-US" dirty="0"/>
              <a:t> de </a:t>
            </a:r>
            <a:r>
              <a:rPr lang="en-US" dirty="0" err="1"/>
              <a:t>baza</a:t>
            </a:r>
            <a:r>
              <a:rPr lang="en-US" dirty="0"/>
              <a:t> al </a:t>
            </a:r>
            <a:r>
              <a:rPr lang="en-US" dirty="0" err="1"/>
              <a:t>clientului</a:t>
            </a:r>
            <a:endParaRPr lang="en-GB" dirty="0"/>
          </a:p>
        </p:txBody>
      </p:sp>
    </p:spTree>
    <p:extLst>
      <p:ext uri="{BB962C8B-B14F-4D97-AF65-F5344CB8AC3E}">
        <p14:creationId xmlns:p14="http://schemas.microsoft.com/office/powerpoint/2010/main" val="3966515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323AD-B852-6F7A-B674-9A0A8928AA1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3C4A510-F47F-8073-82E9-C85928839E00}"/>
              </a:ext>
            </a:extLst>
          </p:cNvPr>
          <p:cNvSpPr txBox="1"/>
          <p:nvPr/>
        </p:nvSpPr>
        <p:spPr>
          <a:xfrm>
            <a:off x="576323" y="828288"/>
            <a:ext cx="9387840" cy="5201424"/>
          </a:xfrm>
          <a:prstGeom prst="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sz="2400" dirty="0"/>
              <a:t>-module(</a:t>
            </a:r>
            <a:r>
              <a:rPr lang="en-GB" sz="2400" dirty="0" err="1"/>
              <a:t>callback_mod</a:t>
            </a:r>
            <a:r>
              <a:rPr lang="en-GB" sz="2400" dirty="0"/>
              <a:t>).</a:t>
            </a:r>
          </a:p>
          <a:p>
            <a:r>
              <a:rPr lang="en-GB" sz="2400" dirty="0"/>
              <a:t>-export([client1/1, client2/1, handle/1]).</a:t>
            </a:r>
          </a:p>
          <a:p>
            <a:r>
              <a:rPr lang="en-GB" sz="2400" dirty="0"/>
              <a:t>-import(</a:t>
            </a:r>
            <a:r>
              <a:rPr lang="en-GB" sz="2400" dirty="0" err="1"/>
              <a:t>myserver</a:t>
            </a:r>
            <a:r>
              <a:rPr lang="en-GB" sz="2400" dirty="0"/>
              <a:t>, [client/2]).</a:t>
            </a:r>
          </a:p>
          <a:p>
            <a:br>
              <a:rPr lang="en-GB" sz="2400" dirty="0"/>
            </a:br>
            <a:endParaRPr lang="en-GB" sz="2400" dirty="0"/>
          </a:p>
          <a:p>
            <a:r>
              <a:rPr lang="en-GB" sz="2400" dirty="0"/>
              <a:t>%% client </a:t>
            </a:r>
          </a:p>
          <a:p>
            <a:r>
              <a:rPr lang="en-GB" sz="2400" dirty="0"/>
              <a:t>client1(N) -&gt; client(</a:t>
            </a:r>
            <a:r>
              <a:rPr lang="en-GB" sz="2400" dirty="0" err="1"/>
              <a:t>myserver</a:t>
            </a:r>
            <a:r>
              <a:rPr lang="en-GB" sz="2400" dirty="0"/>
              <a:t>, {add, N}).</a:t>
            </a:r>
          </a:p>
          <a:p>
            <a:r>
              <a:rPr lang="en-GB" sz="2400" dirty="0"/>
              <a:t>client2(Name) -&gt; client(</a:t>
            </a:r>
            <a:r>
              <a:rPr lang="en-GB" sz="2400" dirty="0" err="1"/>
              <a:t>myserver</a:t>
            </a:r>
            <a:r>
              <a:rPr lang="en-GB" sz="2400" dirty="0"/>
              <a:t>, {hello, Name}).</a:t>
            </a:r>
          </a:p>
          <a:p>
            <a:br>
              <a:rPr lang="en-GB" sz="2400" dirty="0"/>
            </a:br>
            <a:endParaRPr lang="en-GB" sz="2400" dirty="0"/>
          </a:p>
          <a:p>
            <a:r>
              <a:rPr lang="en-GB" sz="2400" dirty="0"/>
              <a:t>%% callback </a:t>
            </a:r>
          </a:p>
          <a:p>
            <a:r>
              <a:rPr lang="en-GB" sz="2400" dirty="0"/>
              <a:t>handle({add, N}) -&gt; {ok, N+1};</a:t>
            </a:r>
          </a:p>
          <a:p>
            <a:r>
              <a:rPr lang="en-GB" sz="2400" dirty="0"/>
              <a:t>handle({hello, Name})       -&gt; {</a:t>
            </a:r>
            <a:r>
              <a:rPr lang="en-GB" sz="2400" dirty="0" err="1"/>
              <a:t>ok,"hello</a:t>
            </a:r>
            <a:r>
              <a:rPr lang="en-GB" sz="2400" dirty="0"/>
              <a:t> "++ Name}.</a:t>
            </a:r>
          </a:p>
          <a:p>
            <a:endParaRPr lang="en-GB" sz="2000" dirty="0">
              <a:solidFill>
                <a:schemeClr val="tx1"/>
              </a:solidFill>
            </a:endParaRPr>
          </a:p>
        </p:txBody>
      </p:sp>
      <p:sp>
        <p:nvSpPr>
          <p:cNvPr id="4" name="TextBox 3">
            <a:extLst>
              <a:ext uri="{FF2B5EF4-FFF2-40B4-BE49-F238E27FC236}">
                <a16:creationId xmlns:a16="http://schemas.microsoft.com/office/drawing/2014/main" id="{EE3DF08A-EFC1-045C-E0AD-A2DCBD608C03}"/>
              </a:ext>
            </a:extLst>
          </p:cNvPr>
          <p:cNvSpPr txBox="1"/>
          <p:nvPr/>
        </p:nvSpPr>
        <p:spPr>
          <a:xfrm>
            <a:off x="4907280" y="4309347"/>
            <a:ext cx="5685274"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err="1"/>
              <a:t>functiile</a:t>
            </a:r>
            <a:r>
              <a:rPr lang="en-US" dirty="0"/>
              <a:t> callback care sunt </a:t>
            </a:r>
            <a:r>
              <a:rPr lang="en-US" dirty="0" err="1"/>
              <a:t>apelate</a:t>
            </a:r>
            <a:r>
              <a:rPr lang="en-US" dirty="0"/>
              <a:t>  din </a:t>
            </a:r>
            <a:r>
              <a:rPr lang="en-US" dirty="0" err="1"/>
              <a:t>modulul</a:t>
            </a:r>
            <a:r>
              <a:rPr lang="en-US" dirty="0"/>
              <a:t> </a:t>
            </a:r>
            <a:r>
              <a:rPr lang="en-US" dirty="0" err="1"/>
              <a:t>serverului</a:t>
            </a:r>
            <a:endParaRPr lang="en-GB" b="1" dirty="0"/>
          </a:p>
        </p:txBody>
      </p:sp>
      <p:sp>
        <p:nvSpPr>
          <p:cNvPr id="5" name="TextBox 4">
            <a:extLst>
              <a:ext uri="{FF2B5EF4-FFF2-40B4-BE49-F238E27FC236}">
                <a16:creationId xmlns:a16="http://schemas.microsoft.com/office/drawing/2014/main" id="{C6DDA0E0-B681-E41E-0109-691545D7F615}"/>
              </a:ext>
            </a:extLst>
          </p:cNvPr>
          <p:cNvSpPr txBox="1"/>
          <p:nvPr/>
        </p:nvSpPr>
        <p:spPr>
          <a:xfrm>
            <a:off x="576323" y="2173148"/>
            <a:ext cx="1904560"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err="1"/>
              <a:t>interfata</a:t>
            </a:r>
            <a:r>
              <a:rPr lang="en-US" dirty="0"/>
              <a:t> </a:t>
            </a:r>
            <a:r>
              <a:rPr lang="en-US" dirty="0" err="1"/>
              <a:t>clientului</a:t>
            </a:r>
            <a:endParaRPr lang="en-GB" dirty="0"/>
          </a:p>
        </p:txBody>
      </p:sp>
      <p:sp>
        <p:nvSpPr>
          <p:cNvPr id="3" name="TextBox 2">
            <a:extLst>
              <a:ext uri="{FF2B5EF4-FFF2-40B4-BE49-F238E27FC236}">
                <a16:creationId xmlns:a16="http://schemas.microsoft.com/office/drawing/2014/main" id="{669E408A-E86C-4D44-28A0-45F3DA0ECE6E}"/>
              </a:ext>
            </a:extLst>
          </p:cNvPr>
          <p:cNvSpPr txBox="1"/>
          <p:nvPr/>
        </p:nvSpPr>
        <p:spPr>
          <a:xfrm>
            <a:off x="8128000" y="643622"/>
            <a:ext cx="3079882" cy="646331"/>
          </a:xfrm>
          <a:prstGeom prst="rect">
            <a:avLst/>
          </a:prstGeom>
          <a:solidFill>
            <a:srgbClr val="00B050"/>
          </a:solidFill>
          <a:ln>
            <a:solidFill>
              <a:srgbClr val="00B050"/>
            </a:solidFill>
          </a:ln>
        </p:spPr>
        <p:style>
          <a:lnRef idx="3">
            <a:schemeClr val="lt1"/>
          </a:lnRef>
          <a:fillRef idx="1">
            <a:schemeClr val="accent1"/>
          </a:fillRef>
          <a:effectRef idx="1">
            <a:schemeClr val="accent1"/>
          </a:effectRef>
          <a:fontRef idx="minor">
            <a:schemeClr val="lt1"/>
          </a:fontRef>
        </p:style>
        <p:txBody>
          <a:bodyPr wrap="none" rtlCol="0">
            <a:spAutoFit/>
          </a:bodyPr>
          <a:lstStyle/>
          <a:p>
            <a:r>
              <a:rPr lang="en-US" b="1" dirty="0" err="1"/>
              <a:t>Modulul</a:t>
            </a:r>
            <a:r>
              <a:rPr lang="en-US" b="1" dirty="0"/>
              <a:t> "callback" nu </a:t>
            </a:r>
            <a:r>
              <a:rPr lang="en-US" b="1" dirty="0" err="1"/>
              <a:t>contine</a:t>
            </a:r>
            <a:endParaRPr lang="en-US" b="1" dirty="0"/>
          </a:p>
          <a:p>
            <a:r>
              <a:rPr lang="en-US" b="1" dirty="0" err="1"/>
              <a:t>nimic</a:t>
            </a:r>
            <a:r>
              <a:rPr lang="en-US" b="1" dirty="0"/>
              <a:t> </a:t>
            </a:r>
            <a:r>
              <a:rPr lang="en-US" b="1" dirty="0" err="1"/>
              <a:t>legat</a:t>
            </a:r>
            <a:r>
              <a:rPr lang="en-US" b="1" dirty="0"/>
              <a:t> de </a:t>
            </a:r>
            <a:r>
              <a:rPr lang="en-US" b="1" dirty="0" err="1"/>
              <a:t>concurenta</a:t>
            </a:r>
            <a:r>
              <a:rPr lang="en-US" b="1" dirty="0"/>
              <a:t>!</a:t>
            </a:r>
            <a:endParaRPr lang="en-GB" b="1" dirty="0"/>
          </a:p>
        </p:txBody>
      </p:sp>
    </p:spTree>
    <p:extLst>
      <p:ext uri="{BB962C8B-B14F-4D97-AF65-F5344CB8AC3E}">
        <p14:creationId xmlns:p14="http://schemas.microsoft.com/office/powerpoint/2010/main" val="33378814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74EEE-DF7B-70EF-CAB3-CE4ED1C8577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B48BD45-C3DF-1C04-C229-45CA0AB9FFFD}"/>
              </a:ext>
            </a:extLst>
          </p:cNvPr>
          <p:cNvSpPr txBox="1"/>
          <p:nvPr/>
        </p:nvSpPr>
        <p:spPr>
          <a:xfrm>
            <a:off x="802640" y="643622"/>
            <a:ext cx="9387840" cy="5201424"/>
          </a:xfrm>
          <a:prstGeom prst="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sz="2400" dirty="0"/>
              <a:t>-module(</a:t>
            </a:r>
            <a:r>
              <a:rPr lang="en-GB" sz="2400" dirty="0" err="1"/>
              <a:t>callback_mod</a:t>
            </a:r>
            <a:r>
              <a:rPr lang="en-GB" sz="2400" dirty="0"/>
              <a:t>).</a:t>
            </a:r>
          </a:p>
          <a:p>
            <a:r>
              <a:rPr lang="en-GB" sz="2400" dirty="0"/>
              <a:t>-export([client1/1, client2/1, handle/1]).</a:t>
            </a:r>
          </a:p>
          <a:p>
            <a:r>
              <a:rPr lang="en-GB" sz="2400" dirty="0"/>
              <a:t>-import(</a:t>
            </a:r>
            <a:r>
              <a:rPr lang="en-GB" sz="2400" dirty="0" err="1"/>
              <a:t>myserver</a:t>
            </a:r>
            <a:r>
              <a:rPr lang="en-GB" sz="2400" dirty="0"/>
              <a:t>, [client/2]).</a:t>
            </a:r>
          </a:p>
          <a:p>
            <a:br>
              <a:rPr lang="en-GB" sz="2400" dirty="0"/>
            </a:br>
            <a:endParaRPr lang="en-GB" sz="2400" dirty="0"/>
          </a:p>
          <a:p>
            <a:r>
              <a:rPr lang="en-GB" sz="2400" dirty="0"/>
              <a:t>%% client </a:t>
            </a:r>
          </a:p>
          <a:p>
            <a:r>
              <a:rPr lang="en-GB" sz="2400" dirty="0"/>
              <a:t>client1(N) -&gt; client(</a:t>
            </a:r>
            <a:r>
              <a:rPr lang="en-GB" sz="2400" dirty="0" err="1"/>
              <a:t>myserver</a:t>
            </a:r>
            <a:r>
              <a:rPr lang="en-GB" sz="2400" dirty="0"/>
              <a:t>, {add, N}).</a:t>
            </a:r>
          </a:p>
          <a:p>
            <a:r>
              <a:rPr lang="en-GB" sz="2400" dirty="0"/>
              <a:t>client2(Name) -&gt; client(</a:t>
            </a:r>
            <a:r>
              <a:rPr lang="en-GB" sz="2400" dirty="0" err="1"/>
              <a:t>myserver</a:t>
            </a:r>
            <a:r>
              <a:rPr lang="en-GB" sz="2400" dirty="0"/>
              <a:t>, {hello, Name}).</a:t>
            </a:r>
          </a:p>
          <a:p>
            <a:br>
              <a:rPr lang="en-GB" sz="2400" dirty="0"/>
            </a:br>
            <a:endParaRPr lang="en-GB" sz="2400" dirty="0"/>
          </a:p>
          <a:p>
            <a:r>
              <a:rPr lang="en-GB" sz="2400" dirty="0"/>
              <a:t>%% callback </a:t>
            </a:r>
          </a:p>
          <a:p>
            <a:r>
              <a:rPr lang="en-GB" sz="2400" dirty="0"/>
              <a:t>handle({add, N}) -&gt; {ok, N+1};</a:t>
            </a:r>
          </a:p>
          <a:p>
            <a:r>
              <a:rPr lang="en-GB" sz="2400" dirty="0"/>
              <a:t>handle({hello, Name})       -&gt; {</a:t>
            </a:r>
            <a:r>
              <a:rPr lang="en-GB" sz="2400" dirty="0" err="1"/>
              <a:t>ok,"hello</a:t>
            </a:r>
            <a:r>
              <a:rPr lang="en-GB" sz="2400" dirty="0"/>
              <a:t> "++ Name}.</a:t>
            </a:r>
          </a:p>
          <a:p>
            <a:endParaRPr lang="en-GB" sz="2000" dirty="0">
              <a:solidFill>
                <a:schemeClr val="tx1"/>
              </a:solidFill>
            </a:endParaRPr>
          </a:p>
        </p:txBody>
      </p:sp>
      <p:sp>
        <p:nvSpPr>
          <p:cNvPr id="4" name="TextBox 3">
            <a:extLst>
              <a:ext uri="{FF2B5EF4-FFF2-40B4-BE49-F238E27FC236}">
                <a16:creationId xmlns:a16="http://schemas.microsoft.com/office/drawing/2014/main" id="{73C1FAF8-C8F2-328A-1211-0049C7553CD0}"/>
              </a:ext>
            </a:extLst>
          </p:cNvPr>
          <p:cNvSpPr txBox="1"/>
          <p:nvPr/>
        </p:nvSpPr>
        <p:spPr>
          <a:xfrm>
            <a:off x="223520" y="3946189"/>
            <a:ext cx="5685274"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err="1"/>
              <a:t>functiile</a:t>
            </a:r>
            <a:r>
              <a:rPr lang="en-US" dirty="0"/>
              <a:t> callback care sunt </a:t>
            </a:r>
            <a:r>
              <a:rPr lang="en-US" dirty="0" err="1"/>
              <a:t>apelate</a:t>
            </a:r>
            <a:r>
              <a:rPr lang="en-US" dirty="0"/>
              <a:t>  din </a:t>
            </a:r>
            <a:r>
              <a:rPr lang="en-US" dirty="0" err="1"/>
              <a:t>modulul</a:t>
            </a:r>
            <a:r>
              <a:rPr lang="en-US" dirty="0"/>
              <a:t> </a:t>
            </a:r>
            <a:r>
              <a:rPr lang="en-US" dirty="0" err="1"/>
              <a:t>serverului</a:t>
            </a:r>
            <a:endParaRPr lang="en-GB" b="1" dirty="0"/>
          </a:p>
        </p:txBody>
      </p:sp>
      <p:sp>
        <p:nvSpPr>
          <p:cNvPr id="5" name="TextBox 4">
            <a:extLst>
              <a:ext uri="{FF2B5EF4-FFF2-40B4-BE49-F238E27FC236}">
                <a16:creationId xmlns:a16="http://schemas.microsoft.com/office/drawing/2014/main" id="{D4A8970E-73CB-03D7-BD8C-035519AA511F}"/>
              </a:ext>
            </a:extLst>
          </p:cNvPr>
          <p:cNvSpPr txBox="1"/>
          <p:nvPr/>
        </p:nvSpPr>
        <p:spPr>
          <a:xfrm>
            <a:off x="576323" y="2173148"/>
            <a:ext cx="1904560"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err="1"/>
              <a:t>interfata</a:t>
            </a:r>
            <a:r>
              <a:rPr lang="en-US" dirty="0"/>
              <a:t> </a:t>
            </a:r>
            <a:r>
              <a:rPr lang="en-US" dirty="0" err="1"/>
              <a:t>clientului</a:t>
            </a:r>
            <a:endParaRPr lang="en-GB" dirty="0"/>
          </a:p>
        </p:txBody>
      </p:sp>
      <p:sp>
        <p:nvSpPr>
          <p:cNvPr id="3" name="TextBox 2">
            <a:extLst>
              <a:ext uri="{FF2B5EF4-FFF2-40B4-BE49-F238E27FC236}">
                <a16:creationId xmlns:a16="http://schemas.microsoft.com/office/drawing/2014/main" id="{3E068FCB-C3A6-EB9F-E0D2-2201985F2FC3}"/>
              </a:ext>
            </a:extLst>
          </p:cNvPr>
          <p:cNvSpPr txBox="1"/>
          <p:nvPr/>
        </p:nvSpPr>
        <p:spPr>
          <a:xfrm>
            <a:off x="8128000" y="643622"/>
            <a:ext cx="3079882" cy="646331"/>
          </a:xfrm>
          <a:prstGeom prst="rect">
            <a:avLst/>
          </a:prstGeom>
          <a:solidFill>
            <a:srgbClr val="00B050"/>
          </a:solidFill>
          <a:ln>
            <a:solidFill>
              <a:srgbClr val="00B050"/>
            </a:solidFill>
          </a:ln>
        </p:spPr>
        <p:style>
          <a:lnRef idx="3">
            <a:schemeClr val="lt1"/>
          </a:lnRef>
          <a:fillRef idx="1">
            <a:schemeClr val="accent1"/>
          </a:fillRef>
          <a:effectRef idx="1">
            <a:schemeClr val="accent1"/>
          </a:effectRef>
          <a:fontRef idx="minor">
            <a:schemeClr val="lt1"/>
          </a:fontRef>
        </p:style>
        <p:txBody>
          <a:bodyPr wrap="none" rtlCol="0">
            <a:spAutoFit/>
          </a:bodyPr>
          <a:lstStyle/>
          <a:p>
            <a:r>
              <a:rPr lang="en-US" b="1" dirty="0" err="1"/>
              <a:t>Modulul</a:t>
            </a:r>
            <a:r>
              <a:rPr lang="en-US" b="1" dirty="0"/>
              <a:t> "callback" nu </a:t>
            </a:r>
            <a:r>
              <a:rPr lang="en-US" b="1" dirty="0" err="1"/>
              <a:t>contine</a:t>
            </a:r>
            <a:endParaRPr lang="en-US" b="1" dirty="0"/>
          </a:p>
          <a:p>
            <a:r>
              <a:rPr lang="en-US" b="1" dirty="0" err="1"/>
              <a:t>nimic</a:t>
            </a:r>
            <a:r>
              <a:rPr lang="en-US" b="1" dirty="0"/>
              <a:t> </a:t>
            </a:r>
            <a:r>
              <a:rPr lang="en-US" b="1" dirty="0" err="1"/>
              <a:t>legat</a:t>
            </a:r>
            <a:r>
              <a:rPr lang="en-US" b="1" dirty="0"/>
              <a:t> de </a:t>
            </a:r>
            <a:r>
              <a:rPr lang="en-US" b="1" dirty="0" err="1"/>
              <a:t>concurenta</a:t>
            </a:r>
            <a:r>
              <a:rPr lang="en-US" b="1" dirty="0"/>
              <a:t>!</a:t>
            </a:r>
            <a:endParaRPr lang="en-GB" b="1" dirty="0"/>
          </a:p>
        </p:txBody>
      </p:sp>
      <p:pic>
        <p:nvPicPr>
          <p:cNvPr id="6" name="Picture 5">
            <a:extLst>
              <a:ext uri="{FF2B5EF4-FFF2-40B4-BE49-F238E27FC236}">
                <a16:creationId xmlns:a16="http://schemas.microsoft.com/office/drawing/2014/main" id="{3E7077EC-DCDF-18EE-50CF-D99B1FF26F88}"/>
              </a:ext>
            </a:extLst>
          </p:cNvPr>
          <p:cNvPicPr>
            <a:picLocks noChangeAspect="1"/>
          </p:cNvPicPr>
          <p:nvPr/>
        </p:nvPicPr>
        <p:blipFill>
          <a:blip r:embed="rId2"/>
          <a:stretch>
            <a:fillRect/>
          </a:stretch>
        </p:blipFill>
        <p:spPr>
          <a:xfrm>
            <a:off x="5833624" y="2216268"/>
            <a:ext cx="5706351" cy="2834886"/>
          </a:xfrm>
          <a:prstGeom prst="rect">
            <a:avLst/>
          </a:prstGeom>
        </p:spPr>
      </p:pic>
    </p:spTree>
    <p:extLst>
      <p:ext uri="{BB962C8B-B14F-4D97-AF65-F5344CB8AC3E}">
        <p14:creationId xmlns:p14="http://schemas.microsoft.com/office/powerpoint/2010/main" val="38806165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C429C-0783-AAA7-85B8-DE7CF80BCC3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AF56E76-A0EF-F89A-AA5B-A67B5BFF864D}"/>
              </a:ext>
            </a:extLst>
          </p:cNvPr>
          <p:cNvSpPr txBox="1"/>
          <p:nvPr/>
        </p:nvSpPr>
        <p:spPr>
          <a:xfrm>
            <a:off x="200763" y="2777222"/>
            <a:ext cx="5334000" cy="2893100"/>
          </a:xfrm>
          <a:prstGeom prst="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sz="1400"/>
              <a:t>-module(callback_mod).</a:t>
            </a:r>
          </a:p>
          <a:p>
            <a:r>
              <a:rPr lang="en-GB" sz="1400"/>
              <a:t>-export([client1/1, client2/1, handle/1]).</a:t>
            </a:r>
          </a:p>
          <a:p>
            <a:r>
              <a:rPr lang="en-GB" sz="1400"/>
              <a:t>-import(myserver, [client/2]).</a:t>
            </a:r>
          </a:p>
          <a:p>
            <a:br>
              <a:rPr lang="en-GB" sz="1400"/>
            </a:br>
            <a:endParaRPr lang="en-GB" sz="1400"/>
          </a:p>
          <a:p>
            <a:r>
              <a:rPr lang="en-GB" sz="1400"/>
              <a:t>%% client </a:t>
            </a:r>
          </a:p>
          <a:p>
            <a:r>
              <a:rPr lang="en-GB" sz="1400"/>
              <a:t>client1(N) -&gt; client(myserver, {add, N}).</a:t>
            </a:r>
          </a:p>
          <a:p>
            <a:r>
              <a:rPr lang="en-GB" sz="1400"/>
              <a:t>client2(Name) -&gt; client(myserver, {hello, Name}).</a:t>
            </a:r>
          </a:p>
          <a:p>
            <a:br>
              <a:rPr lang="en-GB" sz="1400"/>
            </a:br>
            <a:endParaRPr lang="en-GB" sz="1400"/>
          </a:p>
          <a:p>
            <a:r>
              <a:rPr lang="en-GB" sz="1400"/>
              <a:t>%% callback </a:t>
            </a:r>
          </a:p>
          <a:p>
            <a:r>
              <a:rPr lang="en-GB" sz="1400"/>
              <a:t>handle({add, N}) -&gt; {ok, N+1};</a:t>
            </a:r>
          </a:p>
          <a:p>
            <a:r>
              <a:rPr lang="en-GB" sz="1400"/>
              <a:t>handle({hello, Name})       -&gt; {ok,"hello "++ Name}.</a:t>
            </a:r>
            <a:endParaRPr lang="en-GB" sz="1400" dirty="0"/>
          </a:p>
        </p:txBody>
      </p:sp>
      <p:sp>
        <p:nvSpPr>
          <p:cNvPr id="3" name="TextBox 2">
            <a:extLst>
              <a:ext uri="{FF2B5EF4-FFF2-40B4-BE49-F238E27FC236}">
                <a16:creationId xmlns:a16="http://schemas.microsoft.com/office/drawing/2014/main" id="{96AFE4EA-DFA4-50FD-583F-60E4B4E9C661}"/>
              </a:ext>
            </a:extLst>
          </p:cNvPr>
          <p:cNvSpPr txBox="1"/>
          <p:nvPr/>
        </p:nvSpPr>
        <p:spPr>
          <a:xfrm>
            <a:off x="201847" y="2057624"/>
            <a:ext cx="3079882" cy="646331"/>
          </a:xfrm>
          <a:prstGeom prst="rect">
            <a:avLst/>
          </a:prstGeom>
          <a:solidFill>
            <a:srgbClr val="00B050"/>
          </a:solidFill>
          <a:ln>
            <a:solidFill>
              <a:srgbClr val="00B050"/>
            </a:solidFill>
          </a:ln>
        </p:spPr>
        <p:style>
          <a:lnRef idx="3">
            <a:schemeClr val="lt1"/>
          </a:lnRef>
          <a:fillRef idx="1">
            <a:schemeClr val="accent1"/>
          </a:fillRef>
          <a:effectRef idx="1">
            <a:schemeClr val="accent1"/>
          </a:effectRef>
          <a:fontRef idx="minor">
            <a:schemeClr val="lt1"/>
          </a:fontRef>
        </p:style>
        <p:txBody>
          <a:bodyPr wrap="none" rtlCol="0">
            <a:spAutoFit/>
          </a:bodyPr>
          <a:lstStyle/>
          <a:p>
            <a:r>
              <a:rPr lang="en-US" b="1" dirty="0" err="1"/>
              <a:t>Modulul</a:t>
            </a:r>
            <a:r>
              <a:rPr lang="en-US" b="1" dirty="0"/>
              <a:t> "callback" nu </a:t>
            </a:r>
            <a:r>
              <a:rPr lang="en-US" b="1" dirty="0" err="1"/>
              <a:t>contine</a:t>
            </a:r>
            <a:endParaRPr lang="en-US" b="1" dirty="0"/>
          </a:p>
          <a:p>
            <a:r>
              <a:rPr lang="en-US" b="1" dirty="0" err="1"/>
              <a:t>nimic</a:t>
            </a:r>
            <a:r>
              <a:rPr lang="en-US" b="1" dirty="0"/>
              <a:t> </a:t>
            </a:r>
            <a:r>
              <a:rPr lang="en-US" b="1" dirty="0" err="1"/>
              <a:t>legat</a:t>
            </a:r>
            <a:r>
              <a:rPr lang="en-US" b="1" dirty="0"/>
              <a:t> de </a:t>
            </a:r>
            <a:r>
              <a:rPr lang="en-US" b="1" dirty="0" err="1"/>
              <a:t>concurenta</a:t>
            </a:r>
            <a:r>
              <a:rPr lang="en-US" b="1" dirty="0"/>
              <a:t>!</a:t>
            </a:r>
            <a:endParaRPr lang="en-GB" b="1" dirty="0"/>
          </a:p>
        </p:txBody>
      </p:sp>
      <p:sp>
        <p:nvSpPr>
          <p:cNvPr id="5" name="TextBox 4">
            <a:extLst>
              <a:ext uri="{FF2B5EF4-FFF2-40B4-BE49-F238E27FC236}">
                <a16:creationId xmlns:a16="http://schemas.microsoft.com/office/drawing/2014/main" id="{4322DFC5-C744-D90A-8908-84276EEF004B}"/>
              </a:ext>
            </a:extLst>
          </p:cNvPr>
          <p:cNvSpPr txBox="1"/>
          <p:nvPr/>
        </p:nvSpPr>
        <p:spPr>
          <a:xfrm>
            <a:off x="6430065" y="2200821"/>
            <a:ext cx="5203386" cy="3754874"/>
          </a:xfrm>
          <a:prstGeom prst="rect">
            <a:avLst/>
          </a:prstGeom>
          <a:noFill/>
          <a:ln>
            <a:solidFill>
              <a:srgbClr val="FF0000"/>
            </a:solidFill>
          </a:ln>
        </p:spPr>
        <p:txBody>
          <a:bodyPr wrap="square">
            <a:spAutoFit/>
          </a:bodyPr>
          <a:lstStyle/>
          <a:p>
            <a:r>
              <a:rPr lang="en-GB" sz="1400"/>
              <a:t>-module(myserver).</a:t>
            </a:r>
          </a:p>
          <a:p>
            <a:r>
              <a:rPr lang="en-GB" sz="1400"/>
              <a:t>-export([start/2, client/2]).</a:t>
            </a:r>
          </a:p>
          <a:p>
            <a:endParaRPr lang="en-GB" sz="1400"/>
          </a:p>
          <a:p>
            <a:r>
              <a:rPr lang="en-GB" sz="1400"/>
              <a:t>start(Name, Mod) -&gt;  register(Name, spawn(fun() -&gt; loop(Name, Mod) end)).</a:t>
            </a:r>
          </a:p>
          <a:p>
            <a:endParaRPr lang="en-GB" sz="1400"/>
          </a:p>
          <a:p>
            <a:r>
              <a:rPr lang="en-GB" sz="1400"/>
              <a:t>client(Name, Request) -&gt;</a:t>
            </a:r>
          </a:p>
          <a:p>
            <a:r>
              <a:rPr lang="en-GB" sz="1400"/>
              <a:t>    Name ! {self(), Request},</a:t>
            </a:r>
          </a:p>
          <a:p>
            <a:r>
              <a:rPr lang="en-GB" sz="1400"/>
              <a:t>    receive</a:t>
            </a:r>
          </a:p>
          <a:p>
            <a:r>
              <a:rPr lang="en-GB" sz="1400"/>
              <a:t>        {Name, Response} -&gt; Response</a:t>
            </a:r>
          </a:p>
          <a:p>
            <a:r>
              <a:rPr lang="en-GB" sz="1400"/>
              <a:t>    end.</a:t>
            </a:r>
          </a:p>
          <a:p>
            <a:r>
              <a:rPr lang="en-GB" sz="1400"/>
              <a:t>loop(Name, Mod) -&gt;</a:t>
            </a:r>
          </a:p>
          <a:p>
            <a:r>
              <a:rPr lang="en-GB" sz="1400"/>
              <a:t>    receive</a:t>
            </a:r>
          </a:p>
          <a:p>
            <a:r>
              <a:rPr lang="en-GB" sz="1400"/>
              <a:t>    {From, Request} -&gt;  Response = Mod:handle(Request),</a:t>
            </a:r>
          </a:p>
          <a:p>
            <a:r>
              <a:rPr lang="en-GB" sz="1400"/>
              <a:t>                                        From ! {Name, Response},</a:t>
            </a:r>
          </a:p>
          <a:p>
            <a:r>
              <a:rPr lang="en-GB" sz="1400"/>
              <a:t>                                         loop(Name, Mod)</a:t>
            </a:r>
          </a:p>
          <a:p>
            <a:r>
              <a:rPr lang="en-GB" sz="1400"/>
              <a:t>    end.</a:t>
            </a:r>
            <a:endParaRPr lang="en-GB" sz="1400" dirty="0"/>
          </a:p>
        </p:txBody>
      </p:sp>
      <p:sp>
        <p:nvSpPr>
          <p:cNvPr id="7" name="TextBox 6">
            <a:extLst>
              <a:ext uri="{FF2B5EF4-FFF2-40B4-BE49-F238E27FC236}">
                <a16:creationId xmlns:a16="http://schemas.microsoft.com/office/drawing/2014/main" id="{3D794AFF-F497-7060-AF04-34F164286860}"/>
              </a:ext>
            </a:extLst>
          </p:cNvPr>
          <p:cNvSpPr txBox="1"/>
          <p:nvPr/>
        </p:nvSpPr>
        <p:spPr>
          <a:xfrm>
            <a:off x="6648304" y="1084451"/>
            <a:ext cx="4985147" cy="923330"/>
          </a:xfrm>
          <a:prstGeom prst="rect">
            <a:avLst/>
          </a:prstGeom>
          <a:solidFill>
            <a:srgbClr val="FF0000"/>
          </a:solidFill>
          <a:ln>
            <a:solidFill>
              <a:srgbClr val="FF0000"/>
            </a:solidFill>
          </a:ln>
        </p:spPr>
        <p:txBody>
          <a:bodyPr wrap="none" rtlCol="0">
            <a:spAutoFit/>
          </a:bodyPr>
          <a:lstStyle/>
          <a:p>
            <a:r>
              <a:rPr lang="en-US" b="1" dirty="0" err="1">
                <a:solidFill>
                  <a:schemeClr val="bg1"/>
                </a:solidFill>
              </a:rPr>
              <a:t>Modulul</a:t>
            </a:r>
            <a:r>
              <a:rPr lang="en-US" b="1" dirty="0">
                <a:solidFill>
                  <a:schemeClr val="bg1"/>
                </a:solidFill>
              </a:rPr>
              <a:t>  server </a:t>
            </a:r>
            <a:r>
              <a:rPr lang="en-US" b="1" dirty="0" err="1">
                <a:solidFill>
                  <a:schemeClr val="bg1"/>
                </a:solidFill>
              </a:rPr>
              <a:t>descrie</a:t>
            </a:r>
            <a:r>
              <a:rPr lang="en-US" b="1" dirty="0">
                <a:solidFill>
                  <a:schemeClr val="bg1"/>
                </a:solidFill>
              </a:rPr>
              <a:t> </a:t>
            </a:r>
            <a:r>
              <a:rPr lang="en-US" b="1" dirty="0" err="1">
                <a:solidFill>
                  <a:schemeClr val="bg1"/>
                </a:solidFill>
              </a:rPr>
              <a:t>comportamentul</a:t>
            </a:r>
            <a:r>
              <a:rPr lang="en-US" b="1" dirty="0">
                <a:solidFill>
                  <a:schemeClr val="bg1"/>
                </a:solidFill>
              </a:rPr>
              <a:t> de </a:t>
            </a:r>
            <a:r>
              <a:rPr lang="en-US" b="1" dirty="0" err="1">
                <a:solidFill>
                  <a:schemeClr val="bg1"/>
                </a:solidFill>
              </a:rPr>
              <a:t>baza</a:t>
            </a:r>
            <a:r>
              <a:rPr lang="en-US" b="1" dirty="0">
                <a:solidFill>
                  <a:schemeClr val="bg1"/>
                </a:solidFill>
              </a:rPr>
              <a:t>, </a:t>
            </a:r>
          </a:p>
          <a:p>
            <a:r>
              <a:rPr lang="en-US" b="1" dirty="0">
                <a:solidFill>
                  <a:schemeClr val="bg1"/>
                </a:solidFill>
              </a:rPr>
              <a:t> continue </a:t>
            </a:r>
            <a:r>
              <a:rPr lang="en-US" b="1" dirty="0" err="1">
                <a:solidFill>
                  <a:schemeClr val="bg1"/>
                </a:solidFill>
              </a:rPr>
              <a:t>codul</a:t>
            </a:r>
            <a:r>
              <a:rPr lang="en-US" b="1" dirty="0">
                <a:solidFill>
                  <a:schemeClr val="bg1"/>
                </a:solidFill>
              </a:rPr>
              <a:t> </a:t>
            </a:r>
            <a:r>
              <a:rPr lang="en-US" b="1" dirty="0" err="1">
                <a:solidFill>
                  <a:schemeClr val="bg1"/>
                </a:solidFill>
              </a:rPr>
              <a:t>concurent</a:t>
            </a:r>
            <a:r>
              <a:rPr lang="en-US" b="1" dirty="0">
                <a:solidFill>
                  <a:schemeClr val="bg1"/>
                </a:solidFill>
              </a:rPr>
              <a:t> </a:t>
            </a:r>
            <a:r>
              <a:rPr lang="en-US" b="1" dirty="0" err="1">
                <a:solidFill>
                  <a:schemeClr val="bg1"/>
                </a:solidFill>
              </a:rPr>
              <a:t>si</a:t>
            </a:r>
            <a:r>
              <a:rPr lang="en-US" b="1" dirty="0">
                <a:solidFill>
                  <a:schemeClr val="bg1"/>
                </a:solidFill>
              </a:rPr>
              <a:t> </a:t>
            </a:r>
          </a:p>
          <a:p>
            <a:r>
              <a:rPr lang="en-US" b="1" dirty="0" err="1">
                <a:solidFill>
                  <a:schemeClr val="bg1"/>
                </a:solidFill>
              </a:rPr>
              <a:t>este</a:t>
            </a:r>
            <a:r>
              <a:rPr lang="en-US" b="1" dirty="0">
                <a:solidFill>
                  <a:schemeClr val="bg1"/>
                </a:solidFill>
              </a:rPr>
              <a:t> </a:t>
            </a:r>
            <a:r>
              <a:rPr lang="en-US" b="1" dirty="0" err="1">
                <a:solidFill>
                  <a:schemeClr val="bg1"/>
                </a:solidFill>
              </a:rPr>
              <a:t>parametrizat</a:t>
            </a:r>
            <a:r>
              <a:rPr lang="en-US" b="1" dirty="0">
                <a:solidFill>
                  <a:schemeClr val="bg1"/>
                </a:solidFill>
              </a:rPr>
              <a:t> de </a:t>
            </a:r>
            <a:r>
              <a:rPr lang="en-US" b="1" dirty="0" err="1">
                <a:solidFill>
                  <a:schemeClr val="bg1"/>
                </a:solidFill>
              </a:rPr>
              <a:t>modulul</a:t>
            </a:r>
            <a:r>
              <a:rPr lang="en-US" b="1" dirty="0">
                <a:solidFill>
                  <a:schemeClr val="bg1"/>
                </a:solidFill>
              </a:rPr>
              <a:t> callback</a:t>
            </a:r>
            <a:endParaRPr lang="en-GB" b="1" dirty="0">
              <a:solidFill>
                <a:schemeClr val="bg1"/>
              </a:solidFill>
            </a:endParaRPr>
          </a:p>
        </p:txBody>
      </p:sp>
      <p:sp>
        <p:nvSpPr>
          <p:cNvPr id="8" name="TextBox 7">
            <a:extLst>
              <a:ext uri="{FF2B5EF4-FFF2-40B4-BE49-F238E27FC236}">
                <a16:creationId xmlns:a16="http://schemas.microsoft.com/office/drawing/2014/main" id="{DEA09E55-731C-8028-8514-EC6AC4753B35}"/>
              </a:ext>
            </a:extLst>
          </p:cNvPr>
          <p:cNvSpPr txBox="1"/>
          <p:nvPr/>
        </p:nvSpPr>
        <p:spPr>
          <a:xfrm>
            <a:off x="1137920" y="376565"/>
            <a:ext cx="7070910" cy="369332"/>
          </a:xfrm>
          <a:prstGeom prst="rect">
            <a:avLst/>
          </a:prstGeom>
          <a:noFill/>
        </p:spPr>
        <p:txBody>
          <a:bodyPr wrap="none" rtlCol="0">
            <a:spAutoFit/>
          </a:bodyPr>
          <a:lstStyle/>
          <a:p>
            <a:pPr marL="285750" indent="-285750">
              <a:buFont typeface="Wingdings" panose="05000000000000000000" pitchFamily="2" charset="2"/>
              <a:buChar char="Ø"/>
            </a:pPr>
            <a:r>
              <a:rPr lang="en-US" dirty="0" err="1"/>
              <a:t>Separam</a:t>
            </a:r>
            <a:r>
              <a:rPr lang="en-US" dirty="0"/>
              <a:t> </a:t>
            </a:r>
            <a:r>
              <a:rPr lang="en-US" dirty="0" err="1"/>
              <a:t>codul</a:t>
            </a:r>
            <a:r>
              <a:rPr lang="en-US" dirty="0"/>
              <a:t> </a:t>
            </a:r>
            <a:r>
              <a:rPr lang="en-US" dirty="0" err="1"/>
              <a:t>pur</a:t>
            </a:r>
            <a:r>
              <a:rPr lang="en-US" dirty="0"/>
              <a:t> functional de </a:t>
            </a:r>
            <a:r>
              <a:rPr lang="en-US" dirty="0" err="1"/>
              <a:t>partea</a:t>
            </a:r>
            <a:r>
              <a:rPr lang="en-US" dirty="0"/>
              <a:t> </a:t>
            </a:r>
            <a:r>
              <a:rPr lang="en-US" dirty="0" err="1"/>
              <a:t>comportamentala</a:t>
            </a:r>
            <a:r>
              <a:rPr lang="en-US" dirty="0"/>
              <a:t> (</a:t>
            </a:r>
            <a:r>
              <a:rPr lang="en-US" dirty="0" err="1"/>
              <a:t>behaviour</a:t>
            </a:r>
            <a:r>
              <a:rPr lang="en-US" dirty="0"/>
              <a:t>)</a:t>
            </a:r>
            <a:endParaRPr lang="en-GB" dirty="0"/>
          </a:p>
        </p:txBody>
      </p:sp>
      <p:pic>
        <p:nvPicPr>
          <p:cNvPr id="11" name="Picture 10">
            <a:extLst>
              <a:ext uri="{FF2B5EF4-FFF2-40B4-BE49-F238E27FC236}">
                <a16:creationId xmlns:a16="http://schemas.microsoft.com/office/drawing/2014/main" id="{C13F72B5-73B2-CC45-D011-8B079B8A5DA9}"/>
              </a:ext>
            </a:extLst>
          </p:cNvPr>
          <p:cNvPicPr>
            <a:picLocks noChangeAspect="1"/>
          </p:cNvPicPr>
          <p:nvPr/>
        </p:nvPicPr>
        <p:blipFill>
          <a:blip r:embed="rId2"/>
          <a:stretch>
            <a:fillRect/>
          </a:stretch>
        </p:blipFill>
        <p:spPr>
          <a:xfrm>
            <a:off x="3281729" y="902305"/>
            <a:ext cx="3351186" cy="1664852"/>
          </a:xfrm>
          <a:prstGeom prst="rect">
            <a:avLst/>
          </a:prstGeom>
        </p:spPr>
      </p:pic>
    </p:spTree>
    <p:extLst>
      <p:ext uri="{BB962C8B-B14F-4D97-AF65-F5344CB8AC3E}">
        <p14:creationId xmlns:p14="http://schemas.microsoft.com/office/powerpoint/2010/main" val="24500179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AAF301C-3913-C372-4EFE-7F17F07DBC83}"/>
              </a:ext>
            </a:extLst>
          </p:cNvPr>
          <p:cNvSpPr txBox="1"/>
          <p:nvPr/>
        </p:nvSpPr>
        <p:spPr>
          <a:xfrm>
            <a:off x="451470" y="714851"/>
            <a:ext cx="6141874" cy="4062651"/>
          </a:xfrm>
          <a:prstGeom prst="rect">
            <a:avLst/>
          </a:prstGeom>
          <a:noFill/>
          <a:ln>
            <a:solidFill>
              <a:srgbClr val="FF0000"/>
            </a:solidFill>
          </a:ln>
        </p:spPr>
        <p:txBody>
          <a:bodyPr wrap="none" rtlCol="0">
            <a:spAutoFit/>
          </a:bodyPr>
          <a:lstStyle/>
          <a:p>
            <a:r>
              <a:rPr lang="en-GB" sz="2000" dirty="0"/>
              <a:t>-module(</a:t>
            </a:r>
            <a:r>
              <a:rPr lang="en-GB" sz="2000" dirty="0" err="1"/>
              <a:t>myservertc</a:t>
            </a:r>
            <a:r>
              <a:rPr lang="en-GB" sz="2000" dirty="0"/>
              <a:t>).</a:t>
            </a:r>
          </a:p>
          <a:p>
            <a:r>
              <a:rPr lang="en-GB" sz="2000" dirty="0"/>
              <a:t>-export([start/2, client/2]).</a:t>
            </a:r>
          </a:p>
          <a:p>
            <a:endParaRPr lang="en-GB" sz="2000" dirty="0"/>
          </a:p>
          <a:p>
            <a:r>
              <a:rPr lang="en-GB" sz="2000" dirty="0"/>
              <a:t>start(Name, Mod) -&gt;</a:t>
            </a:r>
          </a:p>
          <a:p>
            <a:r>
              <a:rPr lang="en-GB" sz="2000" dirty="0"/>
              <a:t>    register(Name, spawn(fun() -&gt; loop(Name, Mod) end)).</a:t>
            </a:r>
          </a:p>
          <a:p>
            <a:endParaRPr lang="en-GB" sz="2000" dirty="0"/>
          </a:p>
          <a:p>
            <a:r>
              <a:rPr lang="en-GB" sz="2000" dirty="0"/>
              <a:t>client(Name, Request) -&gt;</a:t>
            </a:r>
          </a:p>
          <a:p>
            <a:r>
              <a:rPr lang="en-GB" sz="2000" dirty="0"/>
              <a:t>    Name ! {self(), Request},</a:t>
            </a:r>
          </a:p>
          <a:p>
            <a:r>
              <a:rPr lang="en-GB" sz="2000" dirty="0"/>
              <a:t>    receive</a:t>
            </a:r>
          </a:p>
          <a:p>
            <a:r>
              <a:rPr lang="en-GB" sz="2000" dirty="0"/>
              <a:t>        {Name, Response} -&gt; Response;</a:t>
            </a:r>
          </a:p>
          <a:p>
            <a:r>
              <a:rPr lang="en-GB" sz="2000" dirty="0"/>
              <a:t>        {Name, </a:t>
            </a:r>
            <a:r>
              <a:rPr lang="en-GB" sz="2000" dirty="0" err="1"/>
              <a:t>myError</a:t>
            </a:r>
            <a:r>
              <a:rPr lang="en-GB" sz="2000" dirty="0"/>
              <a:t>} -&gt; exit(</a:t>
            </a:r>
            <a:r>
              <a:rPr lang="en-GB" sz="2000" dirty="0" err="1"/>
              <a:t>myError</a:t>
            </a:r>
            <a:r>
              <a:rPr lang="en-GB" sz="2000" dirty="0"/>
              <a:t>)</a:t>
            </a:r>
          </a:p>
          <a:p>
            <a:r>
              <a:rPr lang="en-GB" sz="2000" dirty="0"/>
              <a:t>    end.</a:t>
            </a:r>
          </a:p>
          <a:p>
            <a:endParaRPr lang="en-GB" dirty="0"/>
          </a:p>
        </p:txBody>
      </p:sp>
      <p:sp>
        <p:nvSpPr>
          <p:cNvPr id="5" name="TextBox 4">
            <a:extLst>
              <a:ext uri="{FF2B5EF4-FFF2-40B4-BE49-F238E27FC236}">
                <a16:creationId xmlns:a16="http://schemas.microsoft.com/office/drawing/2014/main" id="{020DFD7D-84F6-3C32-55EE-CA7A83D05779}"/>
              </a:ext>
            </a:extLst>
          </p:cNvPr>
          <p:cNvSpPr txBox="1"/>
          <p:nvPr/>
        </p:nvSpPr>
        <p:spPr>
          <a:xfrm>
            <a:off x="5618480" y="2438400"/>
            <a:ext cx="6409960" cy="3785652"/>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GB" sz="2000" dirty="0"/>
              <a:t>loop(Name, Mod) -&gt;</a:t>
            </a:r>
          </a:p>
          <a:p>
            <a:r>
              <a:rPr lang="en-GB" sz="2000" dirty="0"/>
              <a:t>    receive</a:t>
            </a:r>
          </a:p>
          <a:p>
            <a:r>
              <a:rPr lang="en-GB" sz="2000" dirty="0"/>
              <a:t>    {From, Request} -&gt;</a:t>
            </a:r>
          </a:p>
          <a:p>
            <a:r>
              <a:rPr lang="en-GB" sz="2000" b="1" dirty="0"/>
              <a:t>            try  </a:t>
            </a:r>
            <a:r>
              <a:rPr lang="en-GB" sz="2000" dirty="0" err="1"/>
              <a:t>Mod:handle</a:t>
            </a:r>
            <a:r>
              <a:rPr lang="en-GB" sz="2000" dirty="0"/>
              <a:t>(Request) of</a:t>
            </a:r>
          </a:p>
          <a:p>
            <a:r>
              <a:rPr lang="en-GB" sz="2000" dirty="0"/>
              <a:t>             Response -&gt; From ! {Name, Response},</a:t>
            </a:r>
          </a:p>
          <a:p>
            <a:r>
              <a:rPr lang="en-GB" sz="2000" dirty="0"/>
              <a:t>                         loop(Name, Mod)</a:t>
            </a:r>
          </a:p>
          <a:p>
            <a:r>
              <a:rPr lang="en-GB" sz="2000" dirty="0"/>
              <a:t>      </a:t>
            </a:r>
            <a:r>
              <a:rPr lang="en-GB" sz="2000" b="1" dirty="0"/>
              <a:t>      catch </a:t>
            </a:r>
          </a:p>
          <a:p>
            <a:r>
              <a:rPr lang="en-GB" sz="2000" dirty="0"/>
              <a:t>               _:Reason -&gt;  </a:t>
            </a:r>
            <a:r>
              <a:rPr lang="en-GB" sz="2000" dirty="0" err="1"/>
              <a:t>io:format</a:t>
            </a:r>
            <a:r>
              <a:rPr lang="en-GB" sz="2000" dirty="0"/>
              <a:t>("Server  ~p exception ~</a:t>
            </a:r>
            <a:r>
              <a:rPr lang="en-GB" sz="2000" dirty="0" err="1"/>
              <a:t>p~n</a:t>
            </a:r>
            <a:r>
              <a:rPr lang="en-GB" sz="2000" dirty="0"/>
              <a:t>",</a:t>
            </a:r>
          </a:p>
          <a:p>
            <a:r>
              <a:rPr lang="en-GB" sz="2000" dirty="0"/>
              <a:t>                                      [Name, Reason]),</a:t>
            </a:r>
          </a:p>
          <a:p>
            <a:r>
              <a:rPr lang="en-GB" sz="2000" dirty="0"/>
              <a:t>               From ! {Name, </a:t>
            </a:r>
            <a:r>
              <a:rPr lang="en-GB" sz="2000" dirty="0" err="1"/>
              <a:t>myError</a:t>
            </a:r>
            <a:r>
              <a:rPr lang="en-GB" sz="2000" dirty="0"/>
              <a:t>},</a:t>
            </a:r>
          </a:p>
          <a:p>
            <a:r>
              <a:rPr lang="en-GB" sz="2000" dirty="0"/>
              <a:t>               loop(Name, Mod)</a:t>
            </a:r>
          </a:p>
          <a:p>
            <a:r>
              <a:rPr lang="en-GB" sz="2000" dirty="0"/>
              <a:t>            end</a:t>
            </a:r>
          </a:p>
        </p:txBody>
      </p:sp>
      <p:sp>
        <p:nvSpPr>
          <p:cNvPr id="7" name="TextBox 6">
            <a:extLst>
              <a:ext uri="{FF2B5EF4-FFF2-40B4-BE49-F238E27FC236}">
                <a16:creationId xmlns:a16="http://schemas.microsoft.com/office/drawing/2014/main" id="{E6535109-515C-E23B-B4A0-F51457119B1E}"/>
              </a:ext>
            </a:extLst>
          </p:cNvPr>
          <p:cNvSpPr txBox="1"/>
          <p:nvPr/>
        </p:nvSpPr>
        <p:spPr>
          <a:xfrm>
            <a:off x="619561" y="203200"/>
            <a:ext cx="3178306" cy="400110"/>
          </a:xfrm>
          <a:prstGeom prst="rect">
            <a:avLst/>
          </a:prstGeom>
          <a:noFill/>
        </p:spPr>
        <p:txBody>
          <a:bodyPr wrap="none" rtlCol="0">
            <a:spAutoFit/>
          </a:bodyPr>
          <a:lstStyle/>
          <a:p>
            <a:pPr marL="285750" indent="-285750">
              <a:buFont typeface="Wingdings" panose="05000000000000000000" pitchFamily="2" charset="2"/>
              <a:buChar char="Ø"/>
            </a:pPr>
            <a:r>
              <a:rPr lang="en-US" sz="2000" dirty="0"/>
              <a:t>Server cu </a:t>
            </a:r>
            <a:r>
              <a:rPr lang="en-US" sz="2000" dirty="0" err="1"/>
              <a:t>tratarea</a:t>
            </a:r>
            <a:r>
              <a:rPr lang="en-US" sz="2000" dirty="0"/>
              <a:t> </a:t>
            </a:r>
            <a:r>
              <a:rPr lang="en-US" sz="2000" dirty="0" err="1"/>
              <a:t>erorilor</a:t>
            </a:r>
            <a:endParaRPr lang="en-GB" sz="2000" dirty="0"/>
          </a:p>
        </p:txBody>
      </p:sp>
    </p:spTree>
    <p:extLst>
      <p:ext uri="{BB962C8B-B14F-4D97-AF65-F5344CB8AC3E}">
        <p14:creationId xmlns:p14="http://schemas.microsoft.com/office/powerpoint/2010/main" val="5110143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5F104-3464-A777-CF21-ECC822FC8D0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192FA53-618E-8C9F-D1DE-1B9714D67E1E}"/>
              </a:ext>
            </a:extLst>
          </p:cNvPr>
          <p:cNvSpPr txBox="1"/>
          <p:nvPr/>
        </p:nvSpPr>
        <p:spPr>
          <a:xfrm>
            <a:off x="1341120" y="612844"/>
            <a:ext cx="8321040" cy="5632311"/>
          </a:xfrm>
          <a:prstGeom prst="rect">
            <a:avLst/>
          </a:prstGeom>
          <a:noFill/>
          <a:ln>
            <a:solidFill>
              <a:srgbClr val="FF0000"/>
            </a:solidFill>
          </a:ln>
        </p:spPr>
        <p:txBody>
          <a:bodyPr wrap="square">
            <a:spAutoFit/>
          </a:bodyPr>
          <a:lstStyle/>
          <a:p>
            <a:r>
              <a:rPr lang="en-GB" sz="2400" dirty="0"/>
              <a:t>-module(</a:t>
            </a:r>
            <a:r>
              <a:rPr lang="en-GB" sz="2400" dirty="0" err="1"/>
              <a:t>callback_mod_er</a:t>
            </a:r>
            <a:r>
              <a:rPr lang="en-GB" sz="2400" dirty="0"/>
              <a:t>).</a:t>
            </a:r>
          </a:p>
          <a:p>
            <a:r>
              <a:rPr lang="en-GB" sz="2400" dirty="0"/>
              <a:t>-export([client1/1, client2/1, client3/2, handle/1]).</a:t>
            </a:r>
          </a:p>
          <a:p>
            <a:r>
              <a:rPr lang="en-GB" sz="2400" dirty="0"/>
              <a:t>-import(</a:t>
            </a:r>
            <a:r>
              <a:rPr lang="en-GB" sz="2400" b="1" dirty="0" err="1"/>
              <a:t>myservertc</a:t>
            </a:r>
            <a:r>
              <a:rPr lang="en-GB" sz="2400" dirty="0"/>
              <a:t>, [client/2]).</a:t>
            </a:r>
          </a:p>
          <a:p>
            <a:br>
              <a:rPr lang="en-GB" sz="2400" dirty="0"/>
            </a:br>
            <a:endParaRPr lang="en-GB" sz="2400" dirty="0"/>
          </a:p>
          <a:p>
            <a:r>
              <a:rPr lang="en-GB" sz="2400" dirty="0"/>
              <a:t>%% client </a:t>
            </a:r>
          </a:p>
          <a:p>
            <a:r>
              <a:rPr lang="en-GB" sz="2400" dirty="0"/>
              <a:t>client1(N) -&gt; client(</a:t>
            </a:r>
            <a:r>
              <a:rPr lang="en-GB" sz="2400" dirty="0" err="1"/>
              <a:t>myserver</a:t>
            </a:r>
            <a:r>
              <a:rPr lang="en-GB" sz="2400" dirty="0"/>
              <a:t>, {add, N}).</a:t>
            </a:r>
          </a:p>
          <a:p>
            <a:r>
              <a:rPr lang="en-GB" sz="2400" dirty="0"/>
              <a:t>client2(Name) -&gt; client(</a:t>
            </a:r>
            <a:r>
              <a:rPr lang="en-GB" sz="2400" dirty="0" err="1"/>
              <a:t>myserver</a:t>
            </a:r>
            <a:r>
              <a:rPr lang="en-GB" sz="2400" dirty="0"/>
              <a:t>, {hello, Name}).</a:t>
            </a:r>
          </a:p>
          <a:p>
            <a:r>
              <a:rPr lang="en-GB" sz="2400" dirty="0"/>
              <a:t>client3(N,M) -&gt; client(</a:t>
            </a:r>
            <a:r>
              <a:rPr lang="en-GB" sz="2400" dirty="0" err="1"/>
              <a:t>myserver</a:t>
            </a:r>
            <a:r>
              <a:rPr lang="en-GB" sz="2400" dirty="0"/>
              <a:t>,{</a:t>
            </a:r>
            <a:r>
              <a:rPr lang="en-GB" sz="2400" dirty="0" err="1"/>
              <a:t>division,N,M</a:t>
            </a:r>
            <a:r>
              <a:rPr lang="en-GB" sz="2400" dirty="0"/>
              <a:t>}).</a:t>
            </a:r>
          </a:p>
          <a:p>
            <a:br>
              <a:rPr lang="en-GB" sz="2400" dirty="0"/>
            </a:br>
            <a:endParaRPr lang="en-GB" sz="2400" dirty="0"/>
          </a:p>
          <a:p>
            <a:r>
              <a:rPr lang="en-GB" sz="2400" dirty="0"/>
              <a:t>%% callback </a:t>
            </a:r>
          </a:p>
          <a:p>
            <a:r>
              <a:rPr lang="en-GB" sz="2400" dirty="0"/>
              <a:t>handle({add, N}) -&gt; {ok, N+1};</a:t>
            </a:r>
          </a:p>
          <a:p>
            <a:r>
              <a:rPr lang="en-GB" sz="2400" dirty="0"/>
              <a:t>handle({hello, Name})       -&gt; {</a:t>
            </a:r>
            <a:r>
              <a:rPr lang="en-GB" sz="2400" dirty="0" err="1"/>
              <a:t>ok,"hello</a:t>
            </a:r>
            <a:r>
              <a:rPr lang="en-GB" sz="2400" dirty="0"/>
              <a:t> "++ Name};</a:t>
            </a:r>
          </a:p>
          <a:p>
            <a:r>
              <a:rPr lang="en-GB" sz="2400" dirty="0"/>
              <a:t>handle({division, N,M})       -&gt; {</a:t>
            </a:r>
            <a:r>
              <a:rPr lang="en-GB" sz="2400" dirty="0" err="1"/>
              <a:t>ok,N</a:t>
            </a:r>
            <a:r>
              <a:rPr lang="en-GB" sz="2400" dirty="0"/>
              <a:t> / M}.</a:t>
            </a:r>
          </a:p>
        </p:txBody>
      </p:sp>
    </p:spTree>
    <p:extLst>
      <p:ext uri="{BB962C8B-B14F-4D97-AF65-F5344CB8AC3E}">
        <p14:creationId xmlns:p14="http://schemas.microsoft.com/office/powerpoint/2010/main" val="18770087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2B7AE-F00A-D887-F291-11EED3998CF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3A48C3E-D151-C0DE-8872-E7D93E50E554}"/>
              </a:ext>
            </a:extLst>
          </p:cNvPr>
          <p:cNvSpPr txBox="1"/>
          <p:nvPr/>
        </p:nvSpPr>
        <p:spPr>
          <a:xfrm>
            <a:off x="782320" y="816044"/>
            <a:ext cx="5750560" cy="4770537"/>
          </a:xfrm>
          <a:prstGeom prst="rect">
            <a:avLst/>
          </a:prstGeom>
          <a:noFill/>
          <a:ln>
            <a:solidFill>
              <a:srgbClr val="FF0000"/>
            </a:solidFill>
          </a:ln>
        </p:spPr>
        <p:txBody>
          <a:bodyPr wrap="square">
            <a:spAutoFit/>
          </a:bodyPr>
          <a:lstStyle/>
          <a:p>
            <a:r>
              <a:rPr lang="en-GB" sz="2400" dirty="0"/>
              <a:t>-</a:t>
            </a:r>
            <a:r>
              <a:rPr lang="en-GB" sz="2000" dirty="0"/>
              <a:t>module(</a:t>
            </a:r>
            <a:r>
              <a:rPr lang="en-GB" sz="2000" dirty="0" err="1"/>
              <a:t>callback_mod_er</a:t>
            </a:r>
            <a:r>
              <a:rPr lang="en-GB" sz="2000" dirty="0"/>
              <a:t>).</a:t>
            </a:r>
          </a:p>
          <a:p>
            <a:r>
              <a:rPr lang="en-GB" sz="2000" dirty="0"/>
              <a:t>-export([client1/1, client2/1, client3/2, handle/1]).</a:t>
            </a:r>
          </a:p>
          <a:p>
            <a:r>
              <a:rPr lang="en-GB" sz="2000" dirty="0"/>
              <a:t>-import(</a:t>
            </a:r>
            <a:r>
              <a:rPr lang="en-GB" sz="2000" b="1" dirty="0" err="1"/>
              <a:t>myservertc</a:t>
            </a:r>
            <a:r>
              <a:rPr lang="en-GB" sz="2000" dirty="0"/>
              <a:t>, [client/2]).</a:t>
            </a:r>
          </a:p>
          <a:p>
            <a:br>
              <a:rPr lang="en-GB" sz="2000" dirty="0"/>
            </a:br>
            <a:endParaRPr lang="en-GB" sz="2000" dirty="0"/>
          </a:p>
          <a:p>
            <a:r>
              <a:rPr lang="en-GB" sz="2000" dirty="0"/>
              <a:t>%% client </a:t>
            </a:r>
          </a:p>
          <a:p>
            <a:r>
              <a:rPr lang="en-GB" sz="2000" dirty="0"/>
              <a:t>client1(N) -&gt; client(</a:t>
            </a:r>
            <a:r>
              <a:rPr lang="en-GB" sz="2000" dirty="0" err="1"/>
              <a:t>myserver</a:t>
            </a:r>
            <a:r>
              <a:rPr lang="en-GB" sz="2000" dirty="0"/>
              <a:t>, {add, N}).</a:t>
            </a:r>
          </a:p>
          <a:p>
            <a:r>
              <a:rPr lang="en-GB" sz="2000" dirty="0"/>
              <a:t>client2(Name) -&gt; client(</a:t>
            </a:r>
            <a:r>
              <a:rPr lang="en-GB" sz="2000" dirty="0" err="1"/>
              <a:t>myserver</a:t>
            </a:r>
            <a:r>
              <a:rPr lang="en-GB" sz="2000" dirty="0"/>
              <a:t>, {hello, Name}).</a:t>
            </a:r>
          </a:p>
          <a:p>
            <a:r>
              <a:rPr lang="en-GB" sz="2000" dirty="0"/>
              <a:t>client3(N,M) -&gt; client(</a:t>
            </a:r>
            <a:r>
              <a:rPr lang="en-GB" sz="2000" dirty="0" err="1"/>
              <a:t>myserver</a:t>
            </a:r>
            <a:r>
              <a:rPr lang="en-GB" sz="2000" dirty="0"/>
              <a:t>,{</a:t>
            </a:r>
            <a:r>
              <a:rPr lang="en-GB" sz="2000" dirty="0" err="1"/>
              <a:t>division,N,M</a:t>
            </a:r>
            <a:r>
              <a:rPr lang="en-GB" sz="2000" dirty="0"/>
              <a:t>}).</a:t>
            </a:r>
          </a:p>
          <a:p>
            <a:br>
              <a:rPr lang="en-GB" sz="2000" dirty="0"/>
            </a:br>
            <a:endParaRPr lang="en-GB" sz="2000" dirty="0"/>
          </a:p>
          <a:p>
            <a:r>
              <a:rPr lang="en-GB" sz="2000" dirty="0"/>
              <a:t>%% callback </a:t>
            </a:r>
          </a:p>
          <a:p>
            <a:r>
              <a:rPr lang="en-GB" sz="2000" dirty="0"/>
              <a:t>handle({add, N}) -&gt; {ok, N+1};</a:t>
            </a:r>
          </a:p>
          <a:p>
            <a:r>
              <a:rPr lang="en-GB" sz="2000" dirty="0"/>
              <a:t>handle({hello, Name})       -&gt; {</a:t>
            </a:r>
            <a:r>
              <a:rPr lang="en-GB" sz="2000" dirty="0" err="1"/>
              <a:t>ok,"hello</a:t>
            </a:r>
            <a:r>
              <a:rPr lang="en-GB" sz="2000" dirty="0"/>
              <a:t> "++ Name};</a:t>
            </a:r>
          </a:p>
          <a:p>
            <a:r>
              <a:rPr lang="en-GB" sz="2000" dirty="0"/>
              <a:t>handle({division, N,M})       -&gt; {</a:t>
            </a:r>
            <a:r>
              <a:rPr lang="en-GB" sz="2000" dirty="0" err="1"/>
              <a:t>ok,N</a:t>
            </a:r>
            <a:r>
              <a:rPr lang="en-GB" sz="2000" dirty="0"/>
              <a:t> / M}.</a:t>
            </a:r>
          </a:p>
        </p:txBody>
      </p:sp>
      <p:pic>
        <p:nvPicPr>
          <p:cNvPr id="2" name="Picture 1" descr="A screenshot of a computer program&#10;&#10;AI-generated content may be incorrect.">
            <a:extLst>
              <a:ext uri="{FF2B5EF4-FFF2-40B4-BE49-F238E27FC236}">
                <a16:creationId xmlns:a16="http://schemas.microsoft.com/office/drawing/2014/main" id="{BF1D094A-23F4-8328-C24A-8E65E31F2EEC}"/>
              </a:ext>
            </a:extLst>
          </p:cNvPr>
          <p:cNvPicPr>
            <a:picLocks noChangeAspect="1"/>
          </p:cNvPicPr>
          <p:nvPr/>
        </p:nvPicPr>
        <p:blipFill>
          <a:blip r:embed="rId2"/>
          <a:stretch>
            <a:fillRect/>
          </a:stretch>
        </p:blipFill>
        <p:spPr>
          <a:xfrm>
            <a:off x="4805233" y="1271419"/>
            <a:ext cx="7059484" cy="3949950"/>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3517060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8853D-5B1E-EA73-D70C-46F187C1D2E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022337A-75E2-A8A2-F482-A0F0951D3F8D}"/>
              </a:ext>
            </a:extLst>
          </p:cNvPr>
          <p:cNvSpPr txBox="1"/>
          <p:nvPr/>
        </p:nvSpPr>
        <p:spPr>
          <a:xfrm>
            <a:off x="553070" y="982176"/>
            <a:ext cx="6141874" cy="3477875"/>
          </a:xfrm>
          <a:prstGeom prst="rect">
            <a:avLst/>
          </a:prstGeom>
          <a:noFill/>
          <a:ln>
            <a:solidFill>
              <a:srgbClr val="FF0000"/>
            </a:solidFill>
          </a:ln>
        </p:spPr>
        <p:txBody>
          <a:bodyPr wrap="none" rtlCol="0">
            <a:spAutoFit/>
          </a:bodyPr>
          <a:lstStyle/>
          <a:p>
            <a:r>
              <a:rPr lang="en-GB" sz="2000" dirty="0"/>
              <a:t>-module(myserver2).</a:t>
            </a:r>
          </a:p>
          <a:p>
            <a:r>
              <a:rPr lang="en-GB" sz="2000" dirty="0"/>
              <a:t>-export([start/2, client/2,change_behaviour/2]).</a:t>
            </a:r>
          </a:p>
          <a:p>
            <a:endParaRPr lang="en-GB" sz="2000" dirty="0"/>
          </a:p>
          <a:p>
            <a:r>
              <a:rPr lang="en-GB" sz="2000" dirty="0"/>
              <a:t>start(Name, Mod) -&gt;</a:t>
            </a:r>
          </a:p>
          <a:p>
            <a:r>
              <a:rPr lang="en-GB" sz="2000" dirty="0"/>
              <a:t>    register(Name, spawn(fun() -&gt; loop(Name, Mod) end)).</a:t>
            </a:r>
          </a:p>
          <a:p>
            <a:endParaRPr lang="en-GB" sz="2000" dirty="0"/>
          </a:p>
          <a:p>
            <a:r>
              <a:rPr lang="en-GB" sz="2000" dirty="0"/>
              <a:t>client(Name, Request) -&gt;</a:t>
            </a:r>
          </a:p>
          <a:p>
            <a:r>
              <a:rPr lang="en-GB" sz="2000" dirty="0"/>
              <a:t>    Name ! {self(), Request},</a:t>
            </a:r>
          </a:p>
          <a:p>
            <a:r>
              <a:rPr lang="en-GB" sz="2000" dirty="0"/>
              <a:t>    receive</a:t>
            </a:r>
          </a:p>
          <a:p>
            <a:r>
              <a:rPr lang="en-GB" sz="2000" dirty="0"/>
              <a:t>        {Name, Response} -&gt; Response</a:t>
            </a:r>
          </a:p>
          <a:p>
            <a:r>
              <a:rPr lang="en-GB" sz="2000" dirty="0"/>
              <a:t>    end.</a:t>
            </a:r>
          </a:p>
        </p:txBody>
      </p:sp>
      <p:sp>
        <p:nvSpPr>
          <p:cNvPr id="5" name="TextBox 4">
            <a:extLst>
              <a:ext uri="{FF2B5EF4-FFF2-40B4-BE49-F238E27FC236}">
                <a16:creationId xmlns:a16="http://schemas.microsoft.com/office/drawing/2014/main" id="{B8A55ED8-9ED5-8D58-2E3F-286826232B4F}"/>
              </a:ext>
            </a:extLst>
          </p:cNvPr>
          <p:cNvSpPr txBox="1"/>
          <p:nvPr/>
        </p:nvSpPr>
        <p:spPr>
          <a:xfrm>
            <a:off x="3271520" y="2455465"/>
            <a:ext cx="8777083" cy="3785652"/>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GB" sz="2400" b="1" dirty="0" err="1"/>
              <a:t>change_behaviour</a:t>
            </a:r>
            <a:r>
              <a:rPr lang="en-GB" sz="2400" dirty="0"/>
              <a:t>(Name, Mod) -&gt; client(Name, {change, Mod}).</a:t>
            </a:r>
          </a:p>
          <a:p>
            <a:endParaRPr lang="en-GB" sz="2400" dirty="0"/>
          </a:p>
          <a:p>
            <a:r>
              <a:rPr lang="en-GB" sz="2400" dirty="0"/>
              <a:t>loop(Name, Mod) -&gt;</a:t>
            </a:r>
          </a:p>
          <a:p>
            <a:r>
              <a:rPr lang="en-GB" sz="2400" dirty="0"/>
              <a:t>    receive</a:t>
            </a:r>
          </a:p>
          <a:p>
            <a:r>
              <a:rPr lang="en-GB" sz="2400" dirty="0"/>
              <a:t>    </a:t>
            </a:r>
            <a:r>
              <a:rPr lang="en-GB" sz="2400" b="1" dirty="0"/>
              <a:t>{From, {change, </a:t>
            </a:r>
            <a:r>
              <a:rPr lang="en-GB" sz="2400" b="1" dirty="0" err="1"/>
              <a:t>NewCallBack</a:t>
            </a:r>
            <a:r>
              <a:rPr lang="en-GB" sz="2400" b="1" dirty="0"/>
              <a:t>}} -&gt;   From ! {Name, </a:t>
            </a:r>
            <a:r>
              <a:rPr lang="en-GB" sz="2400" b="1" dirty="0" err="1"/>
              <a:t>i_will_change</a:t>
            </a:r>
            <a:r>
              <a:rPr lang="en-GB" sz="2400" b="1" dirty="0"/>
              <a:t>},</a:t>
            </a:r>
          </a:p>
          <a:p>
            <a:r>
              <a:rPr lang="en-GB" sz="2400" b="1" dirty="0"/>
              <a:t>                                                                   loop(Name, </a:t>
            </a:r>
            <a:r>
              <a:rPr lang="en-GB" sz="2400" b="1" dirty="0" err="1"/>
              <a:t>NewCallBack</a:t>
            </a:r>
            <a:r>
              <a:rPr lang="en-GB" sz="2400" b="1" dirty="0"/>
              <a:t>);</a:t>
            </a:r>
          </a:p>
          <a:p>
            <a:r>
              <a:rPr lang="en-GB" sz="2400" dirty="0"/>
              <a:t>    {From, Request} -&gt;  Response = </a:t>
            </a:r>
            <a:r>
              <a:rPr lang="en-GB" sz="2400" dirty="0" err="1"/>
              <a:t>Mod:handle</a:t>
            </a:r>
            <a:r>
              <a:rPr lang="en-GB" sz="2400" dirty="0"/>
              <a:t>(Request),</a:t>
            </a:r>
          </a:p>
          <a:p>
            <a:r>
              <a:rPr lang="en-GB" sz="2400" dirty="0"/>
              <a:t>                                        From ! {Name, Response},</a:t>
            </a:r>
          </a:p>
          <a:p>
            <a:r>
              <a:rPr lang="en-GB" sz="2400" dirty="0"/>
              <a:t>                                         loop(Name, Mod)</a:t>
            </a:r>
          </a:p>
          <a:p>
            <a:r>
              <a:rPr lang="en-GB" sz="2400" dirty="0"/>
              <a:t>    end.</a:t>
            </a:r>
          </a:p>
        </p:txBody>
      </p:sp>
      <p:sp>
        <p:nvSpPr>
          <p:cNvPr id="7" name="TextBox 6">
            <a:extLst>
              <a:ext uri="{FF2B5EF4-FFF2-40B4-BE49-F238E27FC236}">
                <a16:creationId xmlns:a16="http://schemas.microsoft.com/office/drawing/2014/main" id="{0B690D75-7398-48C7-63F8-0864C6E06FF6}"/>
              </a:ext>
            </a:extLst>
          </p:cNvPr>
          <p:cNvSpPr txBox="1"/>
          <p:nvPr/>
        </p:nvSpPr>
        <p:spPr>
          <a:xfrm>
            <a:off x="629721" y="203200"/>
            <a:ext cx="4718023" cy="400110"/>
          </a:xfrm>
          <a:prstGeom prst="rect">
            <a:avLst/>
          </a:prstGeom>
          <a:noFill/>
        </p:spPr>
        <p:txBody>
          <a:bodyPr wrap="none" rtlCol="0">
            <a:spAutoFit/>
          </a:bodyPr>
          <a:lstStyle/>
          <a:p>
            <a:pPr marL="285750" indent="-285750">
              <a:buFont typeface="Wingdings" panose="05000000000000000000" pitchFamily="2" charset="2"/>
              <a:buChar char="Ø"/>
            </a:pPr>
            <a:r>
              <a:rPr lang="en-US" sz="2000" dirty="0"/>
              <a:t>Server cu </a:t>
            </a:r>
            <a:r>
              <a:rPr lang="en-US" sz="2000" dirty="0" err="1"/>
              <a:t>schimbarea</a:t>
            </a:r>
            <a:r>
              <a:rPr lang="en-US" sz="2000" dirty="0"/>
              <a:t> </a:t>
            </a:r>
            <a:r>
              <a:rPr lang="en-US" sz="2000" dirty="0" err="1"/>
              <a:t>comportamentului</a:t>
            </a:r>
            <a:endParaRPr lang="en-GB" sz="2000" dirty="0"/>
          </a:p>
        </p:txBody>
      </p:sp>
    </p:spTree>
    <p:extLst>
      <p:ext uri="{BB962C8B-B14F-4D97-AF65-F5344CB8AC3E}">
        <p14:creationId xmlns:p14="http://schemas.microsoft.com/office/powerpoint/2010/main" val="14387043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F6DD9-8999-62B5-4D5D-9B4F1255F9F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0BFAE25-3065-46BA-2164-6B13F0790243}"/>
              </a:ext>
            </a:extLst>
          </p:cNvPr>
          <p:cNvSpPr txBox="1"/>
          <p:nvPr/>
        </p:nvSpPr>
        <p:spPr>
          <a:xfrm>
            <a:off x="629721" y="1866096"/>
            <a:ext cx="4888582" cy="4001095"/>
          </a:xfrm>
          <a:prstGeom prst="rect">
            <a:avLst/>
          </a:prstGeom>
          <a:noFill/>
          <a:ln w="19050">
            <a:solidFill>
              <a:srgbClr val="FF0000"/>
            </a:solidFill>
          </a:ln>
        </p:spPr>
        <p:txBody>
          <a:bodyPr wrap="none" rtlCol="0">
            <a:spAutoFit/>
          </a:bodyPr>
          <a:lstStyle/>
          <a:p>
            <a:r>
              <a:rPr lang="en-GB" dirty="0"/>
              <a:t>-module(callback_mod2).</a:t>
            </a:r>
          </a:p>
          <a:p>
            <a:r>
              <a:rPr lang="en-GB" dirty="0"/>
              <a:t>-export([client1/1, client2/1, handle/1]).</a:t>
            </a:r>
          </a:p>
          <a:p>
            <a:r>
              <a:rPr lang="en-GB" dirty="0"/>
              <a:t>-import(</a:t>
            </a:r>
            <a:r>
              <a:rPr lang="en-GB" b="1" dirty="0"/>
              <a:t>myserver2</a:t>
            </a:r>
            <a:r>
              <a:rPr lang="en-GB" dirty="0"/>
              <a:t>, [client/2]).</a:t>
            </a:r>
          </a:p>
          <a:p>
            <a:br>
              <a:rPr lang="en-GB" dirty="0"/>
            </a:br>
            <a:endParaRPr lang="en-GB" dirty="0"/>
          </a:p>
          <a:p>
            <a:r>
              <a:rPr lang="en-GB" dirty="0"/>
              <a:t>%% client </a:t>
            </a:r>
          </a:p>
          <a:p>
            <a:r>
              <a:rPr lang="en-GB" dirty="0"/>
              <a:t>client1(N) -&gt; client(</a:t>
            </a:r>
            <a:r>
              <a:rPr lang="en-GB" dirty="0" err="1"/>
              <a:t>myserver</a:t>
            </a:r>
            <a:r>
              <a:rPr lang="en-GB" dirty="0"/>
              <a:t>, {add, N}).</a:t>
            </a:r>
          </a:p>
          <a:p>
            <a:r>
              <a:rPr lang="en-GB" dirty="0"/>
              <a:t>client2(Name) -&gt; client(</a:t>
            </a:r>
            <a:r>
              <a:rPr lang="en-GB" dirty="0" err="1"/>
              <a:t>myserver</a:t>
            </a:r>
            <a:r>
              <a:rPr lang="en-GB" dirty="0"/>
              <a:t>, {hello, Name}).</a:t>
            </a:r>
          </a:p>
          <a:p>
            <a:br>
              <a:rPr lang="en-GB" dirty="0"/>
            </a:br>
            <a:endParaRPr lang="en-GB" dirty="0"/>
          </a:p>
          <a:p>
            <a:r>
              <a:rPr lang="en-GB" dirty="0"/>
              <a:t>%% callback </a:t>
            </a:r>
          </a:p>
          <a:p>
            <a:r>
              <a:rPr lang="en-GB" dirty="0"/>
              <a:t>handle({add, N}) -&gt; {ok, N+1};</a:t>
            </a:r>
          </a:p>
          <a:p>
            <a:r>
              <a:rPr lang="en-GB" dirty="0"/>
              <a:t>handle({hello, Name})       -&gt; {</a:t>
            </a:r>
            <a:r>
              <a:rPr lang="en-GB" dirty="0" err="1"/>
              <a:t>ok,"hello</a:t>
            </a:r>
            <a:r>
              <a:rPr lang="en-GB" dirty="0"/>
              <a:t> "++ Name}.</a:t>
            </a:r>
          </a:p>
          <a:p>
            <a:endParaRPr lang="en-GB" sz="2000" dirty="0"/>
          </a:p>
        </p:txBody>
      </p:sp>
      <p:sp>
        <p:nvSpPr>
          <p:cNvPr id="5" name="TextBox 4">
            <a:extLst>
              <a:ext uri="{FF2B5EF4-FFF2-40B4-BE49-F238E27FC236}">
                <a16:creationId xmlns:a16="http://schemas.microsoft.com/office/drawing/2014/main" id="{A66E27D1-0FA6-89C5-61CC-C82C0422D776}"/>
              </a:ext>
            </a:extLst>
          </p:cNvPr>
          <p:cNvSpPr txBox="1"/>
          <p:nvPr/>
        </p:nvSpPr>
        <p:spPr>
          <a:xfrm>
            <a:off x="6299200" y="1804540"/>
            <a:ext cx="5422638" cy="4062651"/>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GB" dirty="0"/>
              <a:t>-module(</a:t>
            </a:r>
            <a:r>
              <a:rPr lang="en-GB" dirty="0" err="1"/>
              <a:t>callback_new</a:t>
            </a:r>
            <a:r>
              <a:rPr lang="en-GB" dirty="0"/>
              <a:t>).</a:t>
            </a:r>
          </a:p>
          <a:p>
            <a:r>
              <a:rPr lang="en-GB" dirty="0"/>
              <a:t>-export([client1/1, client2/1, handle/1]).</a:t>
            </a:r>
          </a:p>
          <a:p>
            <a:r>
              <a:rPr lang="en-GB" dirty="0"/>
              <a:t>-import(</a:t>
            </a:r>
            <a:r>
              <a:rPr lang="en-GB" b="1" dirty="0"/>
              <a:t>myserver2</a:t>
            </a:r>
            <a:r>
              <a:rPr lang="en-GB" dirty="0"/>
              <a:t>, [client/2]).</a:t>
            </a:r>
          </a:p>
          <a:p>
            <a:br>
              <a:rPr lang="en-GB" dirty="0"/>
            </a:br>
            <a:endParaRPr lang="en-GB" dirty="0"/>
          </a:p>
          <a:p>
            <a:r>
              <a:rPr lang="en-GB" dirty="0"/>
              <a:t>%% client </a:t>
            </a:r>
          </a:p>
          <a:p>
            <a:r>
              <a:rPr lang="en-GB" dirty="0"/>
              <a:t>client1(N) -&gt; client(</a:t>
            </a:r>
            <a:r>
              <a:rPr lang="en-GB" dirty="0" err="1"/>
              <a:t>myserver</a:t>
            </a:r>
            <a:r>
              <a:rPr lang="en-GB" dirty="0"/>
              <a:t>, {multiply, N}).</a:t>
            </a:r>
          </a:p>
          <a:p>
            <a:r>
              <a:rPr lang="en-GB" dirty="0"/>
              <a:t>client2(Name) -&gt; client(</a:t>
            </a:r>
            <a:r>
              <a:rPr lang="en-GB" dirty="0" err="1"/>
              <a:t>myserver</a:t>
            </a:r>
            <a:r>
              <a:rPr lang="en-GB" dirty="0"/>
              <a:t>, {hate, Name}).</a:t>
            </a:r>
          </a:p>
          <a:p>
            <a:br>
              <a:rPr lang="en-GB" dirty="0"/>
            </a:br>
            <a:endParaRPr lang="en-GB" dirty="0"/>
          </a:p>
          <a:p>
            <a:r>
              <a:rPr lang="en-GB" dirty="0"/>
              <a:t>%% callback </a:t>
            </a:r>
          </a:p>
          <a:p>
            <a:r>
              <a:rPr lang="en-GB" dirty="0"/>
              <a:t>handle({multiply, N}) -&gt; {ok, N*N};</a:t>
            </a:r>
          </a:p>
          <a:p>
            <a:r>
              <a:rPr lang="en-GB" dirty="0"/>
              <a:t>handle({hate, Name})       -&gt; {</a:t>
            </a:r>
            <a:r>
              <a:rPr lang="en-GB" dirty="0" err="1"/>
              <a:t>ok,"I</a:t>
            </a:r>
            <a:r>
              <a:rPr lang="en-GB" dirty="0"/>
              <a:t> hate you,  "++ Name}.</a:t>
            </a:r>
          </a:p>
          <a:p>
            <a:endParaRPr lang="en-GB" sz="2400" dirty="0"/>
          </a:p>
        </p:txBody>
      </p:sp>
      <p:sp>
        <p:nvSpPr>
          <p:cNvPr id="7" name="TextBox 6">
            <a:extLst>
              <a:ext uri="{FF2B5EF4-FFF2-40B4-BE49-F238E27FC236}">
                <a16:creationId xmlns:a16="http://schemas.microsoft.com/office/drawing/2014/main" id="{167E6596-F696-4323-74ED-4AC9432A8ECF}"/>
              </a:ext>
            </a:extLst>
          </p:cNvPr>
          <p:cNvSpPr txBox="1"/>
          <p:nvPr/>
        </p:nvSpPr>
        <p:spPr>
          <a:xfrm>
            <a:off x="629721" y="203200"/>
            <a:ext cx="7646645" cy="400110"/>
          </a:xfrm>
          <a:prstGeom prst="rect">
            <a:avLst/>
          </a:prstGeom>
          <a:noFill/>
        </p:spPr>
        <p:txBody>
          <a:bodyPr wrap="none" rtlCol="0">
            <a:spAutoFit/>
          </a:bodyPr>
          <a:lstStyle/>
          <a:p>
            <a:pPr marL="285750" indent="-285750">
              <a:buFont typeface="Wingdings" panose="05000000000000000000" pitchFamily="2" charset="2"/>
              <a:buChar char="Ø"/>
            </a:pPr>
            <a:r>
              <a:rPr lang="en-US" sz="2000" dirty="0"/>
              <a:t>Server cu </a:t>
            </a:r>
            <a:r>
              <a:rPr lang="en-US" sz="2000" dirty="0" err="1"/>
              <a:t>schimbarea</a:t>
            </a:r>
            <a:r>
              <a:rPr lang="en-US" sz="2000" dirty="0"/>
              <a:t> </a:t>
            </a:r>
            <a:r>
              <a:rPr lang="en-US" sz="2000" dirty="0" err="1"/>
              <a:t>comportamentului</a:t>
            </a:r>
            <a:r>
              <a:rPr lang="en-US" sz="2000" dirty="0"/>
              <a:t>: </a:t>
            </a:r>
            <a:r>
              <a:rPr lang="en-US" sz="2000" dirty="0" err="1"/>
              <a:t>mai</a:t>
            </a:r>
            <a:r>
              <a:rPr lang="en-US" sz="2000" dirty="0"/>
              <a:t> </a:t>
            </a:r>
            <a:r>
              <a:rPr lang="en-US" sz="2000" dirty="0" err="1"/>
              <a:t>multe</a:t>
            </a:r>
            <a:r>
              <a:rPr lang="en-US" sz="2000" dirty="0"/>
              <a:t> module callback</a:t>
            </a:r>
            <a:endParaRPr lang="en-GB" sz="2000" dirty="0"/>
          </a:p>
        </p:txBody>
      </p:sp>
    </p:spTree>
    <p:extLst>
      <p:ext uri="{BB962C8B-B14F-4D97-AF65-F5344CB8AC3E}">
        <p14:creationId xmlns:p14="http://schemas.microsoft.com/office/powerpoint/2010/main" val="590519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 shot of a computer program&#10;&#10;AI-generated content may be incorrect.">
            <a:extLst>
              <a:ext uri="{FF2B5EF4-FFF2-40B4-BE49-F238E27FC236}">
                <a16:creationId xmlns:a16="http://schemas.microsoft.com/office/drawing/2014/main" id="{BA506723-4A34-A2A0-B3B3-0590A5A5AD08}"/>
              </a:ext>
            </a:extLst>
          </p:cNvPr>
          <p:cNvPicPr>
            <a:picLocks noChangeAspect="1"/>
          </p:cNvPicPr>
          <p:nvPr/>
        </p:nvPicPr>
        <p:blipFill>
          <a:blip r:embed="rId2"/>
          <a:stretch>
            <a:fillRect/>
          </a:stretch>
        </p:blipFill>
        <p:spPr>
          <a:xfrm>
            <a:off x="2094678" y="965176"/>
            <a:ext cx="7618282" cy="5149116"/>
          </a:xfrm>
          <a:prstGeom prst="rect">
            <a:avLst/>
          </a:prstGeom>
        </p:spPr>
        <p:style>
          <a:lnRef idx="2">
            <a:schemeClr val="dk1"/>
          </a:lnRef>
          <a:fillRef idx="1">
            <a:schemeClr val="lt1"/>
          </a:fillRef>
          <a:effectRef idx="0">
            <a:schemeClr val="dk1"/>
          </a:effectRef>
          <a:fontRef idx="minor">
            <a:schemeClr val="dk1"/>
          </a:fontRef>
        </p:style>
      </p:pic>
      <p:sp>
        <p:nvSpPr>
          <p:cNvPr id="4" name="TextBox 3">
            <a:extLst>
              <a:ext uri="{FF2B5EF4-FFF2-40B4-BE49-F238E27FC236}">
                <a16:creationId xmlns:a16="http://schemas.microsoft.com/office/drawing/2014/main" id="{26A03C89-3E20-3A35-8588-F83D04C342A3}"/>
              </a:ext>
            </a:extLst>
          </p:cNvPr>
          <p:cNvSpPr txBox="1"/>
          <p:nvPr/>
        </p:nvSpPr>
        <p:spPr>
          <a:xfrm>
            <a:off x="1168400" y="193040"/>
            <a:ext cx="5924635" cy="369332"/>
          </a:xfrm>
          <a:prstGeom prst="rect">
            <a:avLst/>
          </a:prstGeom>
          <a:noFill/>
        </p:spPr>
        <p:txBody>
          <a:bodyPr wrap="none" rtlCol="0">
            <a:spAutoFit/>
          </a:bodyPr>
          <a:lstStyle/>
          <a:p>
            <a:pPr marL="285750" indent="-285750">
              <a:buFont typeface="Wingdings" panose="05000000000000000000" pitchFamily="2" charset="2"/>
              <a:buChar char="Ø"/>
            </a:pPr>
            <a:r>
              <a:rPr lang="en-US" dirty="0" err="1"/>
              <a:t>Schimbarea</a:t>
            </a:r>
            <a:r>
              <a:rPr lang="en-US" dirty="0"/>
              <a:t> </a:t>
            </a:r>
            <a:r>
              <a:rPr lang="en-US" dirty="0" err="1"/>
              <a:t>comportamentului</a:t>
            </a:r>
            <a:r>
              <a:rPr lang="en-US" dirty="0"/>
              <a:t> </a:t>
            </a:r>
            <a:r>
              <a:rPr lang="en-US" dirty="0" err="1"/>
              <a:t>serverului</a:t>
            </a:r>
            <a:r>
              <a:rPr lang="en-US" dirty="0"/>
              <a:t>  in mod </a:t>
            </a:r>
            <a:r>
              <a:rPr lang="en-US" dirty="0" err="1"/>
              <a:t>dinamic</a:t>
            </a:r>
            <a:endParaRPr lang="en-GB" dirty="0"/>
          </a:p>
        </p:txBody>
      </p:sp>
    </p:spTree>
    <p:extLst>
      <p:ext uri="{BB962C8B-B14F-4D97-AF65-F5344CB8AC3E}">
        <p14:creationId xmlns:p14="http://schemas.microsoft.com/office/powerpoint/2010/main" val="16919552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44D075-DB7C-8EA3-773A-C7FAAD490CB7}"/>
              </a:ext>
            </a:extLst>
          </p:cNvPr>
          <p:cNvSpPr txBox="1"/>
          <p:nvPr/>
        </p:nvSpPr>
        <p:spPr>
          <a:xfrm>
            <a:off x="1381760" y="566896"/>
            <a:ext cx="9022080" cy="5355312"/>
          </a:xfrm>
          <a:prstGeom prst="rect">
            <a:avLst/>
          </a:prstGeom>
          <a:noFill/>
        </p:spPr>
        <p:txBody>
          <a:bodyPr wrap="square">
            <a:spAutoFit/>
          </a:bodyPr>
          <a:lstStyle/>
          <a:p>
            <a:r>
              <a:rPr lang="en-GB" dirty="0"/>
              <a:t>"This is what OTP really is all about: taking all the generic components, extracting them in libraries, making sure they work well and then reusing that code when possible.</a:t>
            </a:r>
          </a:p>
          <a:p>
            <a:endParaRPr lang="en-GB" dirty="0"/>
          </a:p>
          <a:p>
            <a:r>
              <a:rPr lang="en-GB" dirty="0"/>
              <a:t>Adding servers adds complexity in terms of code, but also in terms of testing, maintenance and understanding. Each implementation might be different, programmed in different styles by different people, and so on. However, if all these servers share the same common </a:t>
            </a:r>
            <a:r>
              <a:rPr lang="en-GB" dirty="0" err="1"/>
              <a:t>my_server</a:t>
            </a:r>
            <a:r>
              <a:rPr lang="en-GB" dirty="0"/>
              <a:t> abstraction, you substantially reduce that complexity. You understand the basic concept of the module instantly ("oh, it's a server!"), there's a single generic implementation of it to test, document, etc. The rest of the effort can be put on each specific implementation of it.</a:t>
            </a:r>
          </a:p>
          <a:p>
            <a:endParaRPr lang="en-GB" dirty="0"/>
          </a:p>
          <a:p>
            <a:r>
              <a:rPr lang="en-GB" dirty="0"/>
              <a:t>Another interesting thing about what we did when separating the generic from the specific is that we instantly made it much easier to test our individual modules.</a:t>
            </a:r>
          </a:p>
          <a:p>
            <a:endParaRPr lang="en-GB" dirty="0"/>
          </a:p>
          <a:p>
            <a:r>
              <a:rPr lang="en-GB" dirty="0"/>
              <a:t>A much more 'hidden' advantage of using common abstractions in that way is that if everyone uses the exact same backend for their processes, when someone optimizes that single backend to make it a little bit faster, every process using it out there will run a little bit faster too. For this principle to work in practice, it's usually necessary to have a whole lot of people using the same abstractions and putting effort on them. Luckily for the Erlang community, that's what happens with the OTP framework."</a:t>
            </a:r>
          </a:p>
        </p:txBody>
      </p:sp>
      <p:sp>
        <p:nvSpPr>
          <p:cNvPr id="4" name="TextBox 3">
            <a:extLst>
              <a:ext uri="{FF2B5EF4-FFF2-40B4-BE49-F238E27FC236}">
                <a16:creationId xmlns:a16="http://schemas.microsoft.com/office/drawing/2014/main" id="{B341A5BA-C853-F434-9677-3867602BE054}"/>
              </a:ext>
            </a:extLst>
          </p:cNvPr>
          <p:cNvSpPr txBox="1"/>
          <p:nvPr/>
        </p:nvSpPr>
        <p:spPr>
          <a:xfrm>
            <a:off x="1290320" y="5921772"/>
            <a:ext cx="7441332" cy="369332"/>
          </a:xfrm>
          <a:prstGeom prst="rect">
            <a:avLst/>
          </a:prstGeom>
          <a:noFill/>
        </p:spPr>
        <p:txBody>
          <a:bodyPr wrap="none" rtlCol="0">
            <a:spAutoFit/>
          </a:bodyPr>
          <a:lstStyle/>
          <a:p>
            <a:r>
              <a:rPr lang="en-GB" dirty="0">
                <a:hlinkClick r:id="rId2"/>
              </a:rPr>
              <a:t>https://learnyousomeerlang.com/what-is-otp#its-the-open-telecom-platform</a:t>
            </a:r>
            <a:endParaRPr lang="en-GB" dirty="0"/>
          </a:p>
        </p:txBody>
      </p:sp>
    </p:spTree>
    <p:extLst>
      <p:ext uri="{BB962C8B-B14F-4D97-AF65-F5344CB8AC3E}">
        <p14:creationId xmlns:p14="http://schemas.microsoft.com/office/powerpoint/2010/main" val="1061052966"/>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5545</TotalTime>
  <Words>1827</Words>
  <Application>Microsoft Office PowerPoint</Application>
  <PresentationFormat>Widescreen</PresentationFormat>
  <Paragraphs>211</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Calibri</vt:lpstr>
      <vt:lpstr>Calibri Light</vt:lpstr>
      <vt:lpstr>Wingdings</vt:lpstr>
      <vt:lpstr>Retrospect</vt:lpstr>
      <vt:lpstr>IMPLEMENTAREA CONCURENTEI IN LIMBAJE DE PROGRAMARE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Ioana Leustean</dc:creator>
  <cp:lastModifiedBy>IOANA GABRIELA LEUSTEAN</cp:lastModifiedBy>
  <cp:revision>212</cp:revision>
  <dcterms:created xsi:type="dcterms:W3CDTF">2015-03-31T05:03:29Z</dcterms:created>
  <dcterms:modified xsi:type="dcterms:W3CDTF">2025-12-19T07:05:20Z</dcterms:modified>
</cp:coreProperties>
</file>