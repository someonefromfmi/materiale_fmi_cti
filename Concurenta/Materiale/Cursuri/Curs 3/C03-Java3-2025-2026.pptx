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392" r:id="rId2"/>
    <p:sldId id="504" r:id="rId3"/>
    <p:sldId id="492" r:id="rId4"/>
    <p:sldId id="425" r:id="rId5"/>
    <p:sldId id="421" r:id="rId6"/>
    <p:sldId id="428" r:id="rId7"/>
    <p:sldId id="427" r:id="rId8"/>
    <p:sldId id="488" r:id="rId9"/>
    <p:sldId id="475" r:id="rId10"/>
    <p:sldId id="494" r:id="rId11"/>
    <p:sldId id="476" r:id="rId12"/>
    <p:sldId id="477" r:id="rId13"/>
    <p:sldId id="478" r:id="rId14"/>
    <p:sldId id="495" r:id="rId15"/>
    <p:sldId id="396" r:id="rId16"/>
    <p:sldId id="432" r:id="rId17"/>
    <p:sldId id="505" r:id="rId18"/>
    <p:sldId id="522" r:id="rId19"/>
    <p:sldId id="507" r:id="rId20"/>
    <p:sldId id="508" r:id="rId21"/>
    <p:sldId id="426" r:id="rId22"/>
    <p:sldId id="509" r:id="rId23"/>
    <p:sldId id="544" r:id="rId24"/>
    <p:sldId id="510" r:id="rId25"/>
    <p:sldId id="444" r:id="rId26"/>
    <p:sldId id="511" r:id="rId27"/>
    <p:sldId id="445" r:id="rId28"/>
    <p:sldId id="447" r:id="rId29"/>
    <p:sldId id="446" r:id="rId30"/>
    <p:sldId id="449" r:id="rId31"/>
    <p:sldId id="541" r:id="rId32"/>
    <p:sldId id="512" r:id="rId33"/>
    <p:sldId id="542" r:id="rId34"/>
    <p:sldId id="543" r:id="rId35"/>
    <p:sldId id="545" r:id="rId36"/>
    <p:sldId id="546" r:id="rId37"/>
    <p:sldId id="547" r:id="rId38"/>
    <p:sldId id="483" r:id="rId39"/>
    <p:sldId id="474" r:id="rId40"/>
    <p:sldId id="540" r:id="rId41"/>
    <p:sldId id="472" r:id="rId42"/>
    <p:sldId id="518" r:id="rId43"/>
    <p:sldId id="519" r:id="rId44"/>
    <p:sldId id="521" r:id="rId45"/>
    <p:sldId id="480" r:id="rId46"/>
    <p:sldId id="481" r:id="rId47"/>
    <p:sldId id="523" r:id="rId48"/>
    <p:sldId id="479" r:id="rId49"/>
    <p:sldId id="482" r:id="rId50"/>
    <p:sldId id="539" r:id="rId5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BA9AD1C-34FB-41D5-8BCF-C8E5DBBFE9B3}">
          <p14:sldIdLst>
            <p14:sldId id="392"/>
            <p14:sldId id="504"/>
            <p14:sldId id="492"/>
            <p14:sldId id="425"/>
            <p14:sldId id="421"/>
            <p14:sldId id="428"/>
            <p14:sldId id="427"/>
            <p14:sldId id="488"/>
            <p14:sldId id="475"/>
            <p14:sldId id="494"/>
            <p14:sldId id="476"/>
            <p14:sldId id="477"/>
            <p14:sldId id="478"/>
            <p14:sldId id="495"/>
            <p14:sldId id="396"/>
            <p14:sldId id="432"/>
            <p14:sldId id="505"/>
            <p14:sldId id="522"/>
            <p14:sldId id="507"/>
            <p14:sldId id="508"/>
            <p14:sldId id="426"/>
            <p14:sldId id="509"/>
            <p14:sldId id="544"/>
            <p14:sldId id="510"/>
            <p14:sldId id="444"/>
            <p14:sldId id="511"/>
            <p14:sldId id="445"/>
            <p14:sldId id="447"/>
            <p14:sldId id="446"/>
            <p14:sldId id="449"/>
            <p14:sldId id="541"/>
            <p14:sldId id="512"/>
            <p14:sldId id="542"/>
            <p14:sldId id="543"/>
            <p14:sldId id="545"/>
            <p14:sldId id="546"/>
            <p14:sldId id="547"/>
            <p14:sldId id="483"/>
            <p14:sldId id="474"/>
            <p14:sldId id="540"/>
            <p14:sldId id="472"/>
            <p14:sldId id="518"/>
            <p14:sldId id="519"/>
            <p14:sldId id="521"/>
            <p14:sldId id="480"/>
            <p14:sldId id="481"/>
            <p14:sldId id="523"/>
            <p14:sldId id="479"/>
            <p14:sldId id="482"/>
            <p14:sldId id="5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oana Leustean" initials="IL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DF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ocs.oracle.com/javase/tutorial/essential/concurrency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3623662" y="6444734"/>
            <a:ext cx="6119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https://docs.oracle.com/javase/tutorial/essential/concurrency</a:t>
            </a:r>
            <a:endParaRPr lang="en-US" dirty="0"/>
          </a:p>
        </p:txBody>
      </p:sp>
      <p:pic>
        <p:nvPicPr>
          <p:cNvPr id="3074" name="Picture 2" descr="Imagini pentru JAva logo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626" y="6133455"/>
            <a:ext cx="511839" cy="691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ocs.oracle.com/javase/tutorial/essential/concurrency/sleep.html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docs.oracle.com/en/java/javase/23/docs/api/index.html" TargetMode="External"/><Relationship Id="rId5" Type="http://schemas.openxmlformats.org/officeDocument/2006/relationships/hyperlink" Target="https://docs.oracle.com/javase/specs/jls/se23/jls23.pdf" TargetMode="External"/><Relationship Id="rId4" Type="http://schemas.openxmlformats.org/officeDocument/2006/relationships/hyperlink" Target="https://docs.oracle.com/javase/tutorial/essential/concurrency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java/javase/23/docs/api/java.base/java/util/concurrent/locks/ReadWriteLock.html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en/java/javase/23/docs/api/java.base/java/util/concurrent/Semaphore.html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interbe.com/posts/2015/04/30/java8-concurrency-tutorial-synchronized-locks-examples/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ownload.java.net/java/early_access/valhalla/docs/api/java.base/java/util/concurrent/Executors.html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llicoder.com/java-callable-and-future-tutorial/" TargetMode="Externa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llicoder.com/java-callable-and-future-tutorial/" TargetMode="Externa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llicoder.com/java-callable-and-future-tutorial/" TargetMode="Externa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javacreed.com/java-fork-join-example/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cs.oracle.com/en/java/javase/23/docs/api/java.base/java/util/concurrent/ForkJoinPool.html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2609854_A_Java_ForkJoin_Framework" TargetMode="External"/><Relationship Id="rId2" Type="http://schemas.openxmlformats.org/officeDocument/2006/relationships/hyperlink" Target="https://docs.oracle.com/en/java/javase/23/docs/api/java.base/java/util/concurrent/ForkJoinPool.html" TargetMode="Externa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javacreed.com/java-fork-join-example/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aeldung.com/java-fork-join" TargetMode="External"/><Relationship Id="rId2" Type="http://schemas.openxmlformats.org/officeDocument/2006/relationships/hyperlink" Target="http://tutorials.jenkov.com/java-util-concurrent/java-fork-and-join-forkjoinpool.html" TargetMode="Externa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IMPLEMENTAREA</a:t>
            </a:r>
            <a:br>
              <a:rPr lang="en-US" sz="3200" dirty="0"/>
            </a:br>
            <a:r>
              <a:rPr lang="en-US" sz="3200" dirty="0"/>
              <a:t>CONCURENTEI</a:t>
            </a:r>
            <a:br>
              <a:rPr lang="en-US" sz="3200" dirty="0"/>
            </a:br>
            <a:r>
              <a:rPr lang="en-US" sz="3200" dirty="0"/>
              <a:t>IN LIMBAJE DE</a:t>
            </a:r>
            <a:br>
              <a:rPr lang="en-US" sz="3200" dirty="0"/>
            </a:br>
            <a:r>
              <a:rPr lang="en-US" sz="3200" dirty="0"/>
              <a:t>PROGRAMARE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endParaRPr lang="en-US" sz="4000" dirty="0"/>
          </a:p>
          <a:p>
            <a:r>
              <a:rPr lang="en-US" sz="3200" dirty="0"/>
              <a:t>CONCURENTA IN</a:t>
            </a:r>
          </a:p>
          <a:p>
            <a:r>
              <a:rPr lang="en-US" sz="3200" dirty="0"/>
              <a:t>JAVA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400" dirty="0"/>
              <a:t>Ioana Leustean</a:t>
            </a:r>
          </a:p>
          <a:p>
            <a:r>
              <a:rPr lang="en-US" sz="3800" dirty="0"/>
              <a:t>	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791093" y="29260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600" dirty="0">
              <a:hlinkClick r:id="rId2"/>
            </a:endParaRPr>
          </a:p>
          <a:p>
            <a:endParaRPr lang="en-US" sz="1600" dirty="0">
              <a:hlinkClick r:id="rId2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453" y="491393"/>
            <a:ext cx="2946534" cy="39805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42773B-DA4E-4DA3-99EB-78B174BF9E11}"/>
              </a:ext>
            </a:extLst>
          </p:cNvPr>
          <p:cNvSpPr txBox="1"/>
          <p:nvPr/>
        </p:nvSpPr>
        <p:spPr>
          <a:xfrm>
            <a:off x="5097418" y="5439300"/>
            <a:ext cx="6119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linkClick r:id="rId4"/>
              </a:rPr>
              <a:t>https://docs.oracle.com/javase/tutorial/essential/concurrency/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A03603-A02E-9260-D73F-92FF8327747B}"/>
              </a:ext>
            </a:extLst>
          </p:cNvPr>
          <p:cNvSpPr txBox="1"/>
          <p:nvPr/>
        </p:nvSpPr>
        <p:spPr>
          <a:xfrm>
            <a:off x="5097418" y="5848434"/>
            <a:ext cx="540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linkClick r:id="rId5"/>
              </a:rPr>
              <a:t>https://docs.oracle.com/javase/specs/jls/se23/jls23.pdf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4EA858-6C54-1D5E-B31C-5CCC8FDBD3A3}"/>
              </a:ext>
            </a:extLst>
          </p:cNvPr>
          <p:cNvSpPr txBox="1"/>
          <p:nvPr/>
        </p:nvSpPr>
        <p:spPr>
          <a:xfrm>
            <a:off x="5097418" y="6297163"/>
            <a:ext cx="4330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linkClick r:id="rId6"/>
              </a:rPr>
              <a:t>Overview (Java SE 23 &amp; JDK 23) (oracle.com)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2416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AFBB3E-0537-E9C5-15D8-E39F1CC76D85}"/>
              </a:ext>
            </a:extLst>
          </p:cNvPr>
          <p:cNvSpPr txBox="1"/>
          <p:nvPr/>
        </p:nvSpPr>
        <p:spPr>
          <a:xfrm>
            <a:off x="3088640" y="1371600"/>
            <a:ext cx="53297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Modele</a:t>
            </a:r>
            <a:r>
              <a:rPr lang="en-US" sz="2800" dirty="0"/>
              <a:t> de </a:t>
            </a:r>
            <a:r>
              <a:rPr lang="en-US" sz="2800" dirty="0" err="1"/>
              <a:t>interactiuni</a:t>
            </a:r>
            <a:r>
              <a:rPr lang="en-US" sz="2800" dirty="0"/>
              <a:t> </a:t>
            </a:r>
            <a:r>
              <a:rPr lang="en-US" sz="2800" dirty="0" err="1"/>
              <a:t>concurente</a:t>
            </a:r>
            <a:r>
              <a:rPr lang="en-US" sz="2800" dirty="0"/>
              <a:t>:</a:t>
            </a:r>
            <a:endParaRPr lang="en-GB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013B0-6C00-503D-67CB-BE4F8CA7AA91}"/>
              </a:ext>
            </a:extLst>
          </p:cNvPr>
          <p:cNvSpPr txBox="1"/>
          <p:nvPr/>
        </p:nvSpPr>
        <p:spPr>
          <a:xfrm>
            <a:off x="3657600" y="2644170"/>
            <a:ext cx="412106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3200" dirty="0"/>
              <a:t> Dinning Philosophers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3200" dirty="0"/>
              <a:t>Producer - Consumer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Reader - Writer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02005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4270" y="105033"/>
            <a:ext cx="9919730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 err="1"/>
              <a:t>Modelul</a:t>
            </a:r>
            <a:r>
              <a:rPr lang="en-US" sz="2800" b="1" dirty="0"/>
              <a:t> de </a:t>
            </a:r>
            <a:r>
              <a:rPr lang="en-US" sz="2800" b="1" dirty="0" err="1"/>
              <a:t>interactiune</a:t>
            </a:r>
            <a:r>
              <a:rPr lang="en-US" sz="2800" b="1" dirty="0"/>
              <a:t> </a:t>
            </a:r>
            <a:r>
              <a:rPr lang="en-US" sz="2800" b="1" dirty="0" err="1"/>
              <a:t>Cititori-Scriitori</a:t>
            </a:r>
            <a:r>
              <a:rPr lang="en-US" sz="2800" b="1" dirty="0"/>
              <a:t>  (Reader-Writers)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Mai  </a:t>
            </a:r>
            <a:r>
              <a:rPr lang="en-US" sz="2400" dirty="0" err="1"/>
              <a:t>multe</a:t>
            </a:r>
            <a:r>
              <a:rPr lang="en-US" sz="2400" dirty="0"/>
              <a:t> </a:t>
            </a:r>
            <a:r>
              <a:rPr lang="en-US" sz="2400" dirty="0" err="1"/>
              <a:t>threaduri</a:t>
            </a:r>
            <a:r>
              <a:rPr lang="en-US" sz="2400" dirty="0"/>
              <a:t> au </a:t>
            </a:r>
            <a:r>
              <a:rPr lang="en-US" sz="2400" dirty="0" err="1"/>
              <a:t>acces</a:t>
            </a:r>
            <a:r>
              <a:rPr lang="en-US" sz="2400" dirty="0"/>
              <a:t> la  o </a:t>
            </a:r>
            <a:r>
              <a:rPr lang="en-US" sz="2400" dirty="0" err="1"/>
              <a:t>resursa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Unele</a:t>
            </a:r>
            <a:r>
              <a:rPr lang="en-US" sz="2400" dirty="0"/>
              <a:t> thread-</a:t>
            </a:r>
            <a:r>
              <a:rPr lang="en-US" sz="2400" dirty="0" err="1"/>
              <a:t>uri</a:t>
            </a:r>
            <a:r>
              <a:rPr lang="en-US" sz="2400" dirty="0"/>
              <a:t> </a:t>
            </a:r>
            <a:r>
              <a:rPr lang="en-US" sz="2400" dirty="0" err="1"/>
              <a:t>scriu</a:t>
            </a:r>
            <a:r>
              <a:rPr lang="en-US" sz="2400" dirty="0"/>
              <a:t> (writers), </a:t>
            </a:r>
            <a:r>
              <a:rPr lang="en-US" sz="2400" dirty="0" err="1"/>
              <a:t>iar</a:t>
            </a:r>
            <a:r>
              <a:rPr lang="en-US" sz="2400" dirty="0"/>
              <a:t> </a:t>
            </a:r>
            <a:r>
              <a:rPr lang="en-US" sz="2400" dirty="0" err="1"/>
              <a:t>altele</a:t>
            </a:r>
            <a:r>
              <a:rPr lang="en-US" sz="2400" dirty="0"/>
              <a:t> </a:t>
            </a:r>
            <a:r>
              <a:rPr lang="en-US" sz="2400" dirty="0" err="1"/>
              <a:t>citesc</a:t>
            </a:r>
            <a:r>
              <a:rPr lang="en-US" sz="2400" dirty="0"/>
              <a:t> (readers).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Resursa</a:t>
            </a:r>
            <a:r>
              <a:rPr lang="en-US" sz="2400" dirty="0"/>
              <a:t> </a:t>
            </a:r>
            <a:r>
              <a:rPr lang="en-US" sz="2400" dirty="0" err="1"/>
              <a:t>poate</a:t>
            </a:r>
            <a:r>
              <a:rPr lang="en-US" sz="2400" dirty="0"/>
              <a:t> fi </a:t>
            </a:r>
            <a:r>
              <a:rPr lang="en-US" sz="2400" dirty="0" err="1"/>
              <a:t>accesata</a:t>
            </a:r>
            <a:r>
              <a:rPr lang="en-US" sz="2400" dirty="0"/>
              <a:t> </a:t>
            </a:r>
            <a:r>
              <a:rPr lang="en-US" sz="2400" b="1" dirty="0" err="1">
                <a:solidFill>
                  <a:srgbClr val="00B050"/>
                </a:solidFill>
              </a:rPr>
              <a:t>simultan</a:t>
            </a:r>
            <a:r>
              <a:rPr lang="en-US" sz="2400" dirty="0"/>
              <a:t> de </a:t>
            </a:r>
            <a:r>
              <a:rPr lang="en-US" sz="2400" b="1" dirty="0" err="1">
                <a:solidFill>
                  <a:srgbClr val="00B050"/>
                </a:solidFill>
              </a:rPr>
              <a:t>mai</a:t>
            </a:r>
            <a:r>
              <a:rPr lang="en-US" sz="2400" b="1" dirty="0">
                <a:solidFill>
                  <a:srgbClr val="00B050"/>
                </a:solidFill>
              </a:rPr>
              <a:t> multi </a:t>
            </a:r>
            <a:r>
              <a:rPr lang="en-US" sz="2400" b="1" dirty="0" err="1">
                <a:solidFill>
                  <a:srgbClr val="00B050"/>
                </a:solidFill>
              </a:rPr>
              <a:t>cititori</a:t>
            </a:r>
            <a:r>
              <a:rPr lang="en-U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Resursa</a:t>
            </a:r>
            <a:r>
              <a:rPr lang="en-US" sz="2400" dirty="0"/>
              <a:t> </a:t>
            </a:r>
            <a:r>
              <a:rPr lang="en-US" sz="2400" dirty="0" err="1"/>
              <a:t>poate</a:t>
            </a:r>
            <a:r>
              <a:rPr lang="en-US" sz="2400" dirty="0"/>
              <a:t> fi </a:t>
            </a:r>
            <a:r>
              <a:rPr lang="en-US" sz="2400" dirty="0" err="1"/>
              <a:t>accesata</a:t>
            </a:r>
            <a:r>
              <a:rPr lang="en-US" sz="2400" dirty="0"/>
              <a:t> de un </a:t>
            </a:r>
            <a:r>
              <a:rPr lang="en-US" sz="2400" b="1" dirty="0" err="1">
                <a:solidFill>
                  <a:srgbClr val="00B050"/>
                </a:solidFill>
              </a:rPr>
              <a:t>singur</a:t>
            </a:r>
            <a:r>
              <a:rPr lang="en-US" sz="2400" b="1" dirty="0">
                <a:solidFill>
                  <a:srgbClr val="00B050"/>
                </a:solidFill>
              </a:rPr>
              <a:t> </a:t>
            </a:r>
            <a:r>
              <a:rPr lang="en-US" sz="2400" b="1" dirty="0" err="1">
                <a:solidFill>
                  <a:srgbClr val="00B050"/>
                </a:solidFill>
              </a:rPr>
              <a:t>scriitor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Resursa</a:t>
            </a:r>
            <a:r>
              <a:rPr lang="en-US" sz="2400" dirty="0"/>
              <a:t> </a:t>
            </a:r>
            <a:r>
              <a:rPr lang="en-US" sz="2400" b="1" dirty="0"/>
              <a:t>nu</a:t>
            </a:r>
            <a:r>
              <a:rPr lang="en-US" sz="2400" dirty="0"/>
              <a:t> </a:t>
            </a:r>
            <a:r>
              <a:rPr lang="en-US" sz="2400" dirty="0" err="1"/>
              <a:t>poate</a:t>
            </a:r>
            <a:r>
              <a:rPr lang="en-US" sz="2400" dirty="0"/>
              <a:t> fi </a:t>
            </a:r>
            <a:r>
              <a:rPr lang="en-US" sz="2400" dirty="0" err="1"/>
              <a:t>accesata</a:t>
            </a:r>
            <a:r>
              <a:rPr lang="en-US" sz="2400" dirty="0"/>
              <a:t> </a:t>
            </a:r>
            <a:r>
              <a:rPr lang="en-US" sz="2400" dirty="0" err="1"/>
              <a:t>simultan</a:t>
            </a:r>
            <a:r>
              <a:rPr lang="en-US" sz="2400" dirty="0"/>
              <a:t>  de </a:t>
            </a:r>
            <a:r>
              <a:rPr lang="en-US" sz="2400" dirty="0" err="1"/>
              <a:t>cititori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de </a:t>
            </a:r>
            <a:r>
              <a:rPr lang="en-US" sz="2400" dirty="0" err="1"/>
              <a:t>scriitori</a:t>
            </a:r>
            <a:endParaRPr lang="en-US" sz="2400" dirty="0"/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556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4270" y="105033"/>
            <a:ext cx="1025500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Interface </a:t>
            </a:r>
            <a:r>
              <a:rPr lang="en-US" sz="2400" dirty="0" err="1"/>
              <a:t>ReadWriteLock</a:t>
            </a:r>
            <a:endParaRPr lang="en-US" sz="2400" dirty="0"/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dirty="0"/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2000" dirty="0" err="1"/>
              <a:t>mentine</a:t>
            </a:r>
            <a:r>
              <a:rPr lang="en-US" sz="2000" dirty="0"/>
              <a:t> o </a:t>
            </a:r>
            <a:r>
              <a:rPr lang="en-US" sz="2000" dirty="0" err="1"/>
              <a:t>pereche</a:t>
            </a:r>
            <a:r>
              <a:rPr lang="en-US" sz="2000" dirty="0"/>
              <a:t> de </a:t>
            </a:r>
            <a:r>
              <a:rPr lang="en-US" sz="2000" dirty="0" err="1"/>
              <a:t>lacate</a:t>
            </a:r>
            <a:r>
              <a:rPr lang="en-US" sz="2000" dirty="0"/>
              <a:t>: </a:t>
            </a:r>
            <a:r>
              <a:rPr lang="en-US" sz="2000" dirty="0" err="1"/>
              <a:t>unul</a:t>
            </a:r>
            <a:r>
              <a:rPr lang="en-US" sz="2000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citire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unul</a:t>
            </a:r>
            <a:r>
              <a:rPr lang="en-US" sz="2000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scriere</a:t>
            </a:r>
            <a:endParaRPr lang="en-US" sz="2000" dirty="0"/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2000" dirty="0" err="1"/>
              <a:t>lacatul</a:t>
            </a:r>
            <a:r>
              <a:rPr lang="en-US" sz="2000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citire</a:t>
            </a:r>
            <a:r>
              <a:rPr lang="en-US" sz="2000" dirty="0"/>
              <a:t> </a:t>
            </a:r>
            <a:r>
              <a:rPr lang="en-US" sz="2000" dirty="0" err="1"/>
              <a:t>poate</a:t>
            </a:r>
            <a:r>
              <a:rPr lang="en-US" sz="2000" dirty="0"/>
              <a:t> fi </a:t>
            </a:r>
            <a:r>
              <a:rPr lang="en-US" sz="2000" dirty="0" err="1"/>
              <a:t>detinut</a:t>
            </a:r>
            <a:r>
              <a:rPr lang="en-US" sz="2000" dirty="0"/>
              <a:t> de </a:t>
            </a:r>
            <a:r>
              <a:rPr lang="en-US" sz="2000" dirty="0" err="1"/>
              <a:t>mai</a:t>
            </a:r>
            <a:r>
              <a:rPr lang="en-US" sz="2000" dirty="0"/>
              <a:t> </a:t>
            </a:r>
            <a:r>
              <a:rPr lang="en-US" sz="2000" dirty="0" err="1"/>
              <a:t>multe</a:t>
            </a:r>
            <a:r>
              <a:rPr lang="en-US" sz="2000" dirty="0"/>
              <a:t> thread-</a:t>
            </a:r>
            <a:r>
              <a:rPr lang="en-US" sz="2000" dirty="0" err="1"/>
              <a:t>uri</a:t>
            </a:r>
            <a:r>
              <a:rPr lang="en-US" sz="2000" dirty="0"/>
              <a:t> </a:t>
            </a:r>
            <a:r>
              <a:rPr lang="en-US" sz="2000" dirty="0" err="1"/>
              <a:t>simultan</a:t>
            </a:r>
            <a:r>
              <a:rPr lang="en-US" sz="2000" dirty="0"/>
              <a:t>, </a:t>
            </a:r>
            <a:r>
              <a:rPr lang="en-US" sz="2000" dirty="0" err="1"/>
              <a:t>daca</a:t>
            </a:r>
            <a:r>
              <a:rPr lang="en-US" sz="2000" dirty="0"/>
              <a:t> nu </a:t>
            </a:r>
            <a:r>
              <a:rPr lang="en-US" sz="2000" dirty="0" err="1"/>
              <a:t>exista</a:t>
            </a:r>
            <a:r>
              <a:rPr lang="en-US" sz="2000" dirty="0"/>
              <a:t> o </a:t>
            </a:r>
            <a:r>
              <a:rPr lang="en-US" sz="2000" dirty="0" err="1"/>
              <a:t>solicitare</a:t>
            </a:r>
            <a:r>
              <a:rPr lang="en-US" sz="2000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scriere</a:t>
            </a:r>
            <a:endParaRPr lang="en-US" sz="2000" dirty="0"/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2000" dirty="0" err="1"/>
              <a:t>lacatul</a:t>
            </a:r>
            <a:r>
              <a:rPr lang="en-US" sz="2000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scriere</a:t>
            </a:r>
            <a:r>
              <a:rPr lang="en-US" sz="2000" dirty="0"/>
              <a:t> </a:t>
            </a:r>
            <a:r>
              <a:rPr lang="en-US" sz="2000" dirty="0" err="1"/>
              <a:t>poate</a:t>
            </a:r>
            <a:r>
              <a:rPr lang="en-US" sz="2000" dirty="0"/>
              <a:t> fi </a:t>
            </a:r>
            <a:r>
              <a:rPr lang="en-US" sz="2000" dirty="0" err="1"/>
              <a:t>detinut</a:t>
            </a:r>
            <a:r>
              <a:rPr lang="en-US" sz="2000" dirty="0"/>
              <a:t> de un </a:t>
            </a:r>
            <a:r>
              <a:rPr lang="en-US" sz="2000" dirty="0" err="1"/>
              <a:t>singur</a:t>
            </a:r>
            <a:r>
              <a:rPr lang="en-US" sz="2000" dirty="0"/>
              <a:t> thread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7912" y="772031"/>
            <a:ext cx="5991928" cy="120032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interface Lock</a:t>
            </a:r>
          </a:p>
          <a:p>
            <a:r>
              <a:rPr lang="en-US" sz="2400" dirty="0"/>
              <a:t>interface </a:t>
            </a:r>
            <a:r>
              <a:rPr lang="en-US" sz="2400" dirty="0" err="1"/>
              <a:t>ReadWriteLock</a:t>
            </a:r>
            <a:r>
              <a:rPr lang="en-US" sz="2400" dirty="0"/>
              <a:t>   extends Lock</a:t>
            </a:r>
          </a:p>
          <a:p>
            <a:r>
              <a:rPr lang="en-US" sz="2400" dirty="0"/>
              <a:t>class </a:t>
            </a:r>
            <a:r>
              <a:rPr lang="en-US" sz="2400" dirty="0" err="1"/>
              <a:t>ReentrantReadWriteLock</a:t>
            </a:r>
            <a:r>
              <a:rPr lang="en-US" sz="2400" dirty="0"/>
              <a:t>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27B04C-19B7-4FE4-A868-5C6105EB610D}"/>
              </a:ext>
            </a:extLst>
          </p:cNvPr>
          <p:cNvSpPr txBox="1"/>
          <p:nvPr/>
        </p:nvSpPr>
        <p:spPr>
          <a:xfrm>
            <a:off x="2887912" y="4705379"/>
            <a:ext cx="6096000" cy="1015663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800" b="1" dirty="0"/>
              <a:t> </a:t>
            </a:r>
            <a:r>
              <a:rPr lang="en-US" sz="2000" dirty="0" err="1"/>
              <a:t>metoda</a:t>
            </a:r>
            <a:r>
              <a:rPr lang="en-US" sz="2000" b="1" dirty="0"/>
              <a:t> </a:t>
            </a:r>
            <a:r>
              <a:rPr lang="en-US" sz="2000" b="1" dirty="0" err="1"/>
              <a:t>readLock</a:t>
            </a:r>
            <a:r>
              <a:rPr lang="en-US" sz="2000" b="1" dirty="0"/>
              <a:t>()</a:t>
            </a:r>
            <a:r>
              <a:rPr lang="en-US" sz="2000" dirty="0"/>
              <a:t>    </a:t>
            </a:r>
            <a:r>
              <a:rPr lang="en-US" sz="2000" dirty="0" err="1"/>
              <a:t>intoarce</a:t>
            </a:r>
            <a:r>
              <a:rPr lang="en-US" sz="2000" dirty="0"/>
              <a:t> </a:t>
            </a:r>
            <a:r>
              <a:rPr lang="en-US" sz="2000" dirty="0" err="1"/>
              <a:t>lacatul</a:t>
            </a:r>
            <a:r>
              <a:rPr lang="en-US" sz="2000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cititori</a:t>
            </a:r>
            <a:endParaRPr lang="en-US" sz="2000" dirty="0"/>
          </a:p>
          <a:p>
            <a:endParaRPr lang="en-US" sz="2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 </a:t>
            </a:r>
            <a:r>
              <a:rPr lang="en-US" sz="2000" dirty="0" err="1"/>
              <a:t>metoda</a:t>
            </a:r>
            <a:r>
              <a:rPr lang="en-US" sz="2000" dirty="0"/>
              <a:t> </a:t>
            </a:r>
            <a:r>
              <a:rPr lang="en-US" sz="2000" b="1" dirty="0" err="1"/>
              <a:t>writeLock</a:t>
            </a:r>
            <a:r>
              <a:rPr lang="en-US" sz="2000" b="1" dirty="0"/>
              <a:t>()   </a:t>
            </a:r>
            <a:r>
              <a:rPr lang="en-US" sz="2000" dirty="0" err="1"/>
              <a:t>intoarce</a:t>
            </a:r>
            <a:r>
              <a:rPr lang="en-US" sz="2000" dirty="0"/>
              <a:t> </a:t>
            </a:r>
            <a:r>
              <a:rPr lang="en-US" sz="2000" dirty="0" err="1"/>
              <a:t>lacatul</a:t>
            </a:r>
            <a:r>
              <a:rPr lang="en-US" sz="2000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scriitori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47A4AC-11C6-01DE-3D85-5C4D14F2CD14}"/>
              </a:ext>
            </a:extLst>
          </p:cNvPr>
          <p:cNvSpPr txBox="1"/>
          <p:nvPr/>
        </p:nvSpPr>
        <p:spPr>
          <a:xfrm>
            <a:off x="3194635" y="5868917"/>
            <a:ext cx="4854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>
                <a:hlinkClick r:id="rId2"/>
              </a:rPr>
              <a:t>ReadWriteLock</a:t>
            </a:r>
            <a:r>
              <a:rPr lang="en-GB" dirty="0">
                <a:hlinkClick r:id="rId2"/>
              </a:rPr>
              <a:t> (Java SE 23 &amp; JDK 23) (oracle.com)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41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38960" y="282923"/>
            <a:ext cx="8056880" cy="5940088"/>
          </a:xfrm>
          <a:prstGeom prst="rect">
            <a:avLst/>
          </a:prstGeom>
          <a:ln w="38100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import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java.util.concurrent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.*;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import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java.util.concurrent.locks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.*;</a:t>
            </a: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public class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ReaderWriter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{</a:t>
            </a:r>
          </a:p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    private static Integer counter = 0;  // </a:t>
            </a:r>
            <a:r>
              <a:rPr lang="en-GB" sz="2000" i="1" dirty="0" err="1">
                <a:latin typeface="Calibri" panose="020F0502020204030204" pitchFamily="34" charset="0"/>
                <a:cs typeface="Calibri" panose="020F0502020204030204" pitchFamily="34" charset="0"/>
              </a:rPr>
              <a:t>resursa</a:t>
            </a:r>
            <a:endParaRPr lang="en-GB" sz="20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    private static </a:t>
            </a:r>
            <a:r>
              <a:rPr lang="en-GB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ReadWriteLock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 lock = new </a:t>
            </a:r>
            <a:r>
              <a:rPr lang="en-GB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ReentrantReadWriteLock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    public static void main(String[] </a:t>
            </a:r>
            <a:r>
              <a:rPr lang="en-GB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args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) {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     </a:t>
            </a:r>
          </a:p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(new Thread(new </a:t>
            </a:r>
            <a:r>
              <a:rPr lang="en-GB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TaskW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())).start();</a:t>
            </a:r>
          </a:p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(new Thread(new </a:t>
            </a:r>
            <a:r>
              <a:rPr lang="en-GB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TaskR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())).start();</a:t>
            </a:r>
          </a:p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(new Thread(new </a:t>
            </a:r>
            <a:r>
              <a:rPr lang="en-GB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TaskR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())).start();</a:t>
            </a:r>
          </a:p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(new Thread(new </a:t>
            </a:r>
            <a:r>
              <a:rPr lang="en-GB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TaskW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())).start();</a:t>
            </a:r>
          </a:p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(new Thread(new </a:t>
            </a:r>
            <a:r>
              <a:rPr lang="en-GB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TaskR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())).start();</a:t>
            </a:r>
          </a:p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(new Thread(new </a:t>
            </a:r>
            <a:r>
              <a:rPr lang="en-GB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TaskR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())).start();</a:t>
            </a:r>
          </a:p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(new Thread(new </a:t>
            </a:r>
            <a:r>
              <a:rPr lang="en-GB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TaskR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())).start();</a:t>
            </a:r>
          </a:p>
          <a:p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(new Thread(new </a:t>
            </a:r>
            <a:r>
              <a:rPr lang="en-GB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TaskW</a:t>
            </a:r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())).start();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1305651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8800" y="612844"/>
            <a:ext cx="11490960" cy="5632311"/>
          </a:xfrm>
          <a:prstGeom prst="rect">
            <a:avLst/>
          </a:prstGeom>
          <a:ln w="38100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 </a:t>
            </a:r>
            <a:r>
              <a:rPr lang="en-GB" sz="2400" dirty="0"/>
              <a:t>private static class </a:t>
            </a:r>
            <a:r>
              <a:rPr lang="en-GB" sz="2400" b="1" dirty="0" err="1"/>
              <a:t>TaskW</a:t>
            </a:r>
            <a:r>
              <a:rPr lang="en-GB" sz="2400" dirty="0"/>
              <a:t> implements Runnable {</a:t>
            </a:r>
          </a:p>
          <a:p>
            <a:r>
              <a:rPr lang="en-US" sz="2400" dirty="0"/>
              <a:t>      public void run () {</a:t>
            </a:r>
          </a:p>
          <a:p>
            <a:r>
              <a:rPr lang="en-US" sz="2400" dirty="0"/>
              <a:t>             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lock.</a:t>
            </a:r>
            <a:r>
              <a:rPr lang="en-US" sz="2400" b="1" dirty="0" err="1"/>
              <a:t>writeLock</a:t>
            </a:r>
            <a:r>
              <a:rPr lang="en-US" sz="2400" b="1" dirty="0"/>
              <a:t>()</a:t>
            </a:r>
            <a:r>
              <a:rPr lang="en-US" sz="2400" dirty="0"/>
              <a:t>.lock();</a:t>
            </a:r>
          </a:p>
          <a:p>
            <a:endParaRPr lang="en-US" sz="2400" dirty="0"/>
          </a:p>
          <a:p>
            <a:r>
              <a:rPr lang="en-US" sz="2400" dirty="0">
                <a:solidFill>
                  <a:srgbClr val="00B050"/>
                </a:solidFill>
              </a:rPr>
              <a:t>        try</a:t>
            </a:r>
            <a:r>
              <a:rPr lang="en-US" sz="2400" dirty="0"/>
              <a:t>{</a:t>
            </a:r>
          </a:p>
          <a:p>
            <a:r>
              <a:rPr lang="en-US" sz="2400" dirty="0"/>
              <a:t>        int temp = counter;</a:t>
            </a:r>
          </a:p>
          <a:p>
            <a:r>
              <a:rPr lang="en-US" sz="2400" dirty="0"/>
              <a:t>        for (int </a:t>
            </a:r>
            <a:r>
              <a:rPr lang="en-US" sz="2400" dirty="0" err="1"/>
              <a:t>i</a:t>
            </a:r>
            <a:r>
              <a:rPr lang="en-US" sz="2400" dirty="0"/>
              <a:t>=0;i&lt;5;i++) {counter++;</a:t>
            </a:r>
          </a:p>
          <a:p>
            <a:r>
              <a:rPr lang="en-US" sz="2400" dirty="0"/>
              <a:t>                                            </a:t>
            </a:r>
            <a:r>
              <a:rPr lang="en-US" sz="2400" dirty="0" err="1"/>
              <a:t>Thread.currentThread</a:t>
            </a:r>
            <a:r>
              <a:rPr lang="en-US" sz="2400" dirty="0"/>
              <a:t>().sleep(1);}</a:t>
            </a:r>
          </a:p>
          <a:p>
            <a:r>
              <a:rPr lang="en-GB" sz="2400" dirty="0"/>
              <a:t>        </a:t>
            </a:r>
            <a:r>
              <a:rPr lang="en-GB" sz="2400" dirty="0" err="1"/>
              <a:t>System.out.println</a:t>
            </a:r>
            <a:r>
              <a:rPr lang="en-GB" sz="2400" dirty="0"/>
              <a:t>(</a:t>
            </a:r>
            <a:r>
              <a:rPr lang="en-GB" sz="2400" dirty="0" err="1"/>
              <a:t>Thread.currentThread</a:t>
            </a:r>
            <a:r>
              <a:rPr lang="en-GB" sz="2400" dirty="0"/>
              <a:t>().</a:t>
            </a:r>
            <a:r>
              <a:rPr lang="en-GB" sz="2400" dirty="0" err="1"/>
              <a:t>getName</a:t>
            </a:r>
            <a:r>
              <a:rPr lang="en-GB" sz="2400" dirty="0"/>
              <a:t>() +</a:t>
            </a:r>
          </a:p>
          <a:p>
            <a:r>
              <a:rPr lang="en-GB" sz="2400" dirty="0"/>
              <a:t>                                                                                " Writer - before: "+temp+" after:" + counter);}</a:t>
            </a:r>
          </a:p>
          <a:p>
            <a:r>
              <a:rPr lang="en-US" sz="2400" dirty="0"/>
              <a:t>        </a:t>
            </a:r>
            <a:r>
              <a:rPr lang="en-US" sz="2400" dirty="0">
                <a:solidFill>
                  <a:srgbClr val="00B050"/>
                </a:solidFill>
              </a:rPr>
              <a:t>catch</a:t>
            </a:r>
            <a:r>
              <a:rPr lang="en-US" sz="2400" dirty="0"/>
              <a:t> (</a:t>
            </a:r>
            <a:r>
              <a:rPr lang="en-US" sz="2400" dirty="0" err="1"/>
              <a:t>InterruptedException</a:t>
            </a:r>
            <a:r>
              <a:rPr lang="en-US" sz="2400" dirty="0"/>
              <a:t> e){}</a:t>
            </a:r>
          </a:p>
          <a:p>
            <a:r>
              <a:rPr lang="en-US" sz="2400" dirty="0"/>
              <a:t>        </a:t>
            </a:r>
            <a:r>
              <a:rPr lang="en-US" sz="2400" dirty="0">
                <a:solidFill>
                  <a:srgbClr val="00B050"/>
                </a:solidFill>
              </a:rPr>
              <a:t>finally</a:t>
            </a:r>
            <a:r>
              <a:rPr lang="en-US" sz="2400" dirty="0"/>
              <a:t> {</a:t>
            </a:r>
          </a:p>
          <a:p>
            <a:r>
              <a:rPr lang="en-US" sz="2400" dirty="0"/>
              <a:t>         </a:t>
            </a:r>
            <a:r>
              <a:rPr lang="en-US" sz="2400" dirty="0" err="1"/>
              <a:t>lock.writeLock</a:t>
            </a:r>
            <a:r>
              <a:rPr lang="en-US" sz="2400" dirty="0"/>
              <a:t>().unlock();}    </a:t>
            </a:r>
          </a:p>
          <a:p>
            <a:r>
              <a:rPr lang="en-US" sz="2400" dirty="0"/>
              <a:t>        }}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2A022B-E660-C467-FD9C-D0190A2DD6D8}"/>
              </a:ext>
            </a:extLst>
          </p:cNvPr>
          <p:cNvSpPr txBox="1"/>
          <p:nvPr/>
        </p:nvSpPr>
        <p:spPr>
          <a:xfrm>
            <a:off x="467360" y="151179"/>
            <a:ext cx="2307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Thread-</a:t>
            </a:r>
            <a:r>
              <a:rPr lang="en-US" sz="2400" dirty="0" err="1"/>
              <a:t>ul</a:t>
            </a:r>
            <a:r>
              <a:rPr lang="en-US" sz="2400" b="1" dirty="0"/>
              <a:t> Writer</a:t>
            </a:r>
            <a:endParaRPr lang="en-GB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273D7A-ECB5-E078-B485-8612D78A63C9}"/>
              </a:ext>
            </a:extLst>
          </p:cNvPr>
          <p:cNvSpPr txBox="1"/>
          <p:nvPr/>
        </p:nvSpPr>
        <p:spPr>
          <a:xfrm>
            <a:off x="5730240" y="3059667"/>
            <a:ext cx="618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// </a:t>
            </a:r>
            <a:r>
              <a:rPr lang="en-US" i="1" dirty="0" err="1"/>
              <a:t>fiecare</a:t>
            </a:r>
            <a:r>
              <a:rPr lang="en-US" i="1" dirty="0"/>
              <a:t> thread Writer </a:t>
            </a:r>
            <a:r>
              <a:rPr lang="en-US" i="1" dirty="0" err="1"/>
              <a:t>incrementeaza</a:t>
            </a:r>
            <a:r>
              <a:rPr lang="en-US" i="1" dirty="0"/>
              <a:t> </a:t>
            </a:r>
            <a:r>
              <a:rPr lang="en-US" i="1" dirty="0" err="1"/>
              <a:t>contorul</a:t>
            </a:r>
            <a:r>
              <a:rPr lang="en-US" i="1" dirty="0"/>
              <a:t> de 5 </a:t>
            </a:r>
            <a:r>
              <a:rPr lang="en-US" i="1" dirty="0" err="1"/>
              <a:t>ori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1046578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1328341"/>
            <a:ext cx="11633200" cy="4154984"/>
          </a:xfrm>
          <a:prstGeom prst="rect">
            <a:avLst/>
          </a:prstGeom>
          <a:ln w="38100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GB" sz="2400" dirty="0"/>
              <a:t>private static class </a:t>
            </a:r>
            <a:r>
              <a:rPr lang="en-GB" sz="2400" b="1" dirty="0" err="1"/>
              <a:t>TaskR</a:t>
            </a:r>
            <a:r>
              <a:rPr lang="en-GB" sz="2400" dirty="0"/>
              <a:t> implements Runnable {</a:t>
            </a:r>
          </a:p>
          <a:p>
            <a:endParaRPr lang="en-GB" sz="2400" dirty="0"/>
          </a:p>
          <a:p>
            <a:r>
              <a:rPr lang="en-US" sz="2400" dirty="0"/>
              <a:t>       public void run () {</a:t>
            </a:r>
          </a:p>
          <a:p>
            <a:r>
              <a:rPr lang="en-US" sz="2400" dirty="0"/>
              <a:t>    </a:t>
            </a:r>
          </a:p>
          <a:p>
            <a:r>
              <a:rPr lang="en-US" sz="2400" dirty="0"/>
              <a:t>              </a:t>
            </a:r>
            <a:r>
              <a:rPr lang="en-US" sz="2400" dirty="0" err="1"/>
              <a:t>lock.readLock</a:t>
            </a:r>
            <a:r>
              <a:rPr lang="en-US" sz="2400" dirty="0"/>
              <a:t>().lock();</a:t>
            </a:r>
          </a:p>
          <a:p>
            <a:endParaRPr lang="en-US" sz="2400" dirty="0"/>
          </a:p>
          <a:p>
            <a:r>
              <a:rPr lang="en-US" sz="2400" dirty="0"/>
              <a:t>        </a:t>
            </a:r>
            <a:r>
              <a:rPr lang="en-US" sz="2400" dirty="0">
                <a:solidFill>
                  <a:srgbClr val="00B050"/>
                </a:solidFill>
              </a:rPr>
              <a:t>try</a:t>
            </a:r>
            <a:r>
              <a:rPr lang="en-US" sz="2400" dirty="0"/>
              <a:t>{</a:t>
            </a:r>
          </a:p>
          <a:p>
            <a:r>
              <a:rPr lang="en-US" sz="2400" dirty="0"/>
              <a:t>        </a:t>
            </a:r>
            <a:r>
              <a:rPr lang="en-GB" sz="2400" dirty="0" err="1"/>
              <a:t>System.out.println</a:t>
            </a:r>
            <a:r>
              <a:rPr lang="en-GB" sz="2400" dirty="0"/>
              <a:t>(</a:t>
            </a:r>
            <a:r>
              <a:rPr lang="en-GB" sz="2400" dirty="0" err="1"/>
              <a:t>Thread.currentThread</a:t>
            </a:r>
            <a:r>
              <a:rPr lang="en-GB" sz="2400" dirty="0"/>
              <a:t>().</a:t>
            </a:r>
            <a:r>
              <a:rPr lang="en-GB" sz="2400" dirty="0" err="1"/>
              <a:t>getName</a:t>
            </a:r>
            <a:r>
              <a:rPr lang="en-GB" sz="2400" dirty="0"/>
              <a:t>() + "Reader counter:" + counter);}</a:t>
            </a:r>
          </a:p>
          <a:p>
            <a:r>
              <a:rPr lang="en-US" sz="2400" dirty="0"/>
              <a:t>        </a:t>
            </a:r>
          </a:p>
          <a:p>
            <a:r>
              <a:rPr lang="en-US" sz="2400" dirty="0">
                <a:solidFill>
                  <a:srgbClr val="00B050"/>
                </a:solidFill>
              </a:rPr>
              <a:t>         finally </a:t>
            </a:r>
            <a:r>
              <a:rPr lang="en-US" sz="2400" dirty="0"/>
              <a:t>{ </a:t>
            </a:r>
            <a:r>
              <a:rPr lang="en-US" sz="2400" dirty="0" err="1"/>
              <a:t>lock.readLock</a:t>
            </a:r>
            <a:r>
              <a:rPr lang="en-US" sz="2400" dirty="0"/>
              <a:t>().unlock();}</a:t>
            </a:r>
          </a:p>
          <a:p>
            <a:r>
              <a:rPr lang="en-US" sz="2400" dirty="0"/>
              <a:t> }}}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2A07ED-5CA7-7818-CEC4-CC3E8AABE017}"/>
              </a:ext>
            </a:extLst>
          </p:cNvPr>
          <p:cNvSpPr txBox="1"/>
          <p:nvPr/>
        </p:nvSpPr>
        <p:spPr>
          <a:xfrm>
            <a:off x="365760" y="743734"/>
            <a:ext cx="23457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Thread-</a:t>
            </a:r>
            <a:r>
              <a:rPr lang="en-US" sz="2400" dirty="0" err="1"/>
              <a:t>ul</a:t>
            </a:r>
            <a:r>
              <a:rPr lang="en-US" sz="2400" dirty="0"/>
              <a:t> </a:t>
            </a:r>
            <a:r>
              <a:rPr lang="en-US" sz="2400" b="1" dirty="0"/>
              <a:t>Reader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3758174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DF0C17-D644-1C3D-42D2-651565E25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99" y="1737360"/>
            <a:ext cx="5331900" cy="26790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31D8E6-A61C-8357-8F70-CBBB66EF6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067" y="1737360"/>
            <a:ext cx="5319710" cy="26790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B70A66-C8BD-3CD1-C756-AEE5D7DE518C}"/>
              </a:ext>
            </a:extLst>
          </p:cNvPr>
          <p:cNvSpPr txBox="1"/>
          <p:nvPr/>
        </p:nvSpPr>
        <p:spPr>
          <a:xfrm>
            <a:off x="424286" y="243840"/>
            <a:ext cx="66195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 err="1"/>
              <a:t>Modelul</a:t>
            </a:r>
            <a:r>
              <a:rPr lang="en-US" sz="2000" b="1" dirty="0"/>
              <a:t> de </a:t>
            </a:r>
            <a:r>
              <a:rPr lang="en-US" sz="2000" b="1" dirty="0" err="1"/>
              <a:t>interactiune</a:t>
            </a:r>
            <a:r>
              <a:rPr lang="en-US" sz="2000" b="1" dirty="0"/>
              <a:t> </a:t>
            </a:r>
            <a:r>
              <a:rPr lang="en-US" sz="2000" b="1" dirty="0" err="1"/>
              <a:t>Cititori-Scriitori</a:t>
            </a:r>
            <a:r>
              <a:rPr lang="en-US" sz="2000" b="1" dirty="0"/>
              <a:t>  (Reader-Writers)</a:t>
            </a:r>
          </a:p>
          <a:p>
            <a:endParaRPr lang="en-US" sz="1600" dirty="0"/>
          </a:p>
          <a:p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385647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872" y="882564"/>
            <a:ext cx="4251036" cy="1323439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public class Semaphore</a:t>
            </a:r>
          </a:p>
          <a:p>
            <a:r>
              <a:rPr lang="en-US" sz="2000" dirty="0"/>
              <a:t>extends Object</a:t>
            </a:r>
          </a:p>
          <a:p>
            <a:endParaRPr lang="en-US" sz="2000" dirty="0"/>
          </a:p>
          <a:p>
            <a:r>
              <a:rPr lang="en-US" sz="2000" dirty="0"/>
              <a:t>Semaphore(int permits)  // constructor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5387" y="5821547"/>
            <a:ext cx="4516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linkClick r:id="rId2"/>
              </a:rPr>
              <a:t>Semaphore (Java SE 23 &amp; JDK 23) (oracle.com)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38861" y="2683057"/>
            <a:ext cx="692862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implementeaza</a:t>
            </a:r>
            <a:r>
              <a:rPr lang="en-US" sz="2000" dirty="0"/>
              <a:t> un </a:t>
            </a:r>
            <a:r>
              <a:rPr lang="en-US" sz="2000" dirty="0" err="1"/>
              <a:t>semafor</a:t>
            </a:r>
            <a:r>
              <a:rPr lang="en-US" sz="2000" dirty="0"/>
              <a:t> cu </a:t>
            </a:r>
            <a:r>
              <a:rPr lang="en-US" sz="2000" dirty="0" err="1"/>
              <a:t>cantitate</a:t>
            </a:r>
            <a:endParaRPr lang="en-US" sz="2000" dirty="0"/>
          </a:p>
          <a:p>
            <a:r>
              <a:rPr lang="en-US" sz="2000" dirty="0"/>
              <a:t>      care </a:t>
            </a:r>
            <a:r>
              <a:rPr lang="en-US" sz="2000" dirty="0" err="1"/>
              <a:t>coordoneaza</a:t>
            </a:r>
            <a:r>
              <a:rPr lang="en-US" sz="2000" dirty="0"/>
              <a:t> </a:t>
            </a:r>
            <a:r>
              <a:rPr lang="en-US" sz="2000" dirty="0" err="1"/>
              <a:t>accesul</a:t>
            </a:r>
            <a:r>
              <a:rPr lang="en-US" sz="2000" dirty="0"/>
              <a:t> la un </a:t>
            </a:r>
            <a:r>
              <a:rPr lang="en-US" sz="2000" dirty="0" err="1"/>
              <a:t>numar</a:t>
            </a:r>
            <a:r>
              <a:rPr lang="en-US" sz="2000" dirty="0"/>
              <a:t> </a:t>
            </a:r>
            <a:r>
              <a:rPr lang="en-US" sz="2000" dirty="0" err="1"/>
              <a:t>precizat</a:t>
            </a:r>
            <a:r>
              <a:rPr lang="en-US" sz="2000" dirty="0"/>
              <a:t> de </a:t>
            </a:r>
            <a:r>
              <a:rPr lang="en-US" sz="2000" dirty="0" err="1"/>
              <a:t>resurse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metoda</a:t>
            </a:r>
            <a:r>
              <a:rPr lang="en-US" sz="2000" b="1" dirty="0"/>
              <a:t> </a:t>
            </a:r>
            <a:r>
              <a:rPr lang="en-US" sz="2000" b="1" dirty="0" err="1"/>
              <a:t>aquire</a:t>
            </a:r>
            <a:r>
              <a:rPr lang="en-US" sz="2000" b="1" dirty="0"/>
              <a:t>()  / acquire(int permits)</a:t>
            </a:r>
          </a:p>
          <a:p>
            <a:r>
              <a:rPr lang="en-US" sz="2000" dirty="0"/>
              <a:t>      thread-</a:t>
            </a:r>
            <a:r>
              <a:rPr lang="en-US" sz="2000" dirty="0" err="1"/>
              <a:t>ul</a:t>
            </a:r>
            <a:r>
              <a:rPr lang="en-US" sz="2000" dirty="0"/>
              <a:t> care </a:t>
            </a:r>
            <a:r>
              <a:rPr lang="en-US" sz="2000" dirty="0" err="1"/>
              <a:t>apeleaza</a:t>
            </a:r>
            <a:r>
              <a:rPr lang="en-US" sz="2000" dirty="0"/>
              <a:t> </a:t>
            </a:r>
            <a:r>
              <a:rPr lang="en-US" sz="2000" dirty="0" err="1"/>
              <a:t>aquire</a:t>
            </a:r>
            <a:r>
              <a:rPr lang="en-US" sz="2000" dirty="0"/>
              <a:t> cere </a:t>
            </a:r>
            <a:r>
              <a:rPr lang="en-US" sz="2000" dirty="0" err="1"/>
              <a:t>accesul</a:t>
            </a:r>
            <a:r>
              <a:rPr lang="en-US" sz="2000" dirty="0"/>
              <a:t> la o </a:t>
            </a:r>
            <a:r>
              <a:rPr lang="en-US" sz="2000" dirty="0" err="1"/>
              <a:t>resursa</a:t>
            </a:r>
            <a:r>
              <a:rPr lang="en-US" sz="2000" dirty="0"/>
              <a:t>; </a:t>
            </a:r>
          </a:p>
          <a:p>
            <a:r>
              <a:rPr lang="en-US" sz="2000" dirty="0"/>
              <a:t>      </a:t>
            </a:r>
            <a:r>
              <a:rPr lang="en-US" sz="2000" dirty="0" err="1"/>
              <a:t>daca</a:t>
            </a:r>
            <a:r>
              <a:rPr lang="en-US" sz="2000" dirty="0"/>
              <a:t> nu sunt </a:t>
            </a:r>
            <a:r>
              <a:rPr lang="en-US" sz="2000" dirty="0" err="1"/>
              <a:t>resurse</a:t>
            </a:r>
            <a:r>
              <a:rPr lang="en-US" sz="2000" dirty="0"/>
              <a:t>, thread-</a:t>
            </a:r>
            <a:r>
              <a:rPr lang="en-US" sz="2000" dirty="0" err="1"/>
              <a:t>ul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blocat</a:t>
            </a:r>
            <a:endParaRPr lang="en-US" sz="2000" dirty="0"/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metoda</a:t>
            </a:r>
            <a:r>
              <a:rPr lang="en-US" sz="2000" b="1" dirty="0"/>
              <a:t> release() / release(int permits)</a:t>
            </a:r>
          </a:p>
          <a:p>
            <a:r>
              <a:rPr lang="en-US" sz="2000" dirty="0"/>
              <a:t>     thread-</a:t>
            </a:r>
            <a:r>
              <a:rPr lang="en-US" sz="2000" dirty="0" err="1"/>
              <a:t>ul</a:t>
            </a:r>
            <a:r>
              <a:rPr lang="en-US" sz="2000" dirty="0"/>
              <a:t> care </a:t>
            </a:r>
            <a:r>
              <a:rPr lang="en-US" sz="2000" dirty="0" err="1"/>
              <a:t>apeleaza</a:t>
            </a:r>
            <a:r>
              <a:rPr lang="en-US" sz="2000" dirty="0"/>
              <a:t> release </a:t>
            </a:r>
            <a:r>
              <a:rPr lang="en-US" sz="2000" dirty="0" err="1"/>
              <a:t>elibereaza</a:t>
            </a:r>
            <a:r>
              <a:rPr lang="en-US" sz="2000" dirty="0"/>
              <a:t> </a:t>
            </a:r>
            <a:r>
              <a:rPr lang="en-US" sz="2000" dirty="0" err="1"/>
              <a:t>accesul</a:t>
            </a:r>
            <a:r>
              <a:rPr lang="en-US" sz="2000" dirty="0"/>
              <a:t> la o </a:t>
            </a:r>
            <a:r>
              <a:rPr lang="en-US" sz="2000" dirty="0" err="1"/>
              <a:t>resursa</a:t>
            </a:r>
            <a:endParaRPr lang="en-US" sz="2000" dirty="0"/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944711" y="3428948"/>
            <a:ext cx="3771417" cy="230832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Semaphore </a:t>
            </a:r>
            <a:r>
              <a:rPr lang="en-US" dirty="0" err="1"/>
              <a:t>sem</a:t>
            </a:r>
            <a:r>
              <a:rPr lang="en-US" dirty="0"/>
              <a:t> = new Semaphore(n);</a:t>
            </a:r>
          </a:p>
          <a:p>
            <a:endParaRPr lang="en-US" dirty="0"/>
          </a:p>
          <a:p>
            <a:r>
              <a:rPr lang="en-US" dirty="0" err="1"/>
              <a:t>sem.acquire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     ...  //</a:t>
            </a:r>
            <a:r>
              <a:rPr lang="en-US" dirty="0" err="1"/>
              <a:t>sectiune</a:t>
            </a:r>
            <a:r>
              <a:rPr lang="en-US" dirty="0"/>
              <a:t> </a:t>
            </a:r>
            <a:r>
              <a:rPr lang="en-US" dirty="0" err="1"/>
              <a:t>critica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sem.release</a:t>
            </a:r>
            <a:r>
              <a:rPr lang="en-US" dirty="0"/>
              <a:t>();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E3BECC-510E-4E72-8227-C3C0FD620359}"/>
              </a:ext>
            </a:extLst>
          </p:cNvPr>
          <p:cNvSpPr txBox="1"/>
          <p:nvPr/>
        </p:nvSpPr>
        <p:spPr>
          <a:xfrm>
            <a:off x="386080" y="266595"/>
            <a:ext cx="59588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 err="1"/>
              <a:t>Semafor</a:t>
            </a:r>
            <a:r>
              <a:rPr lang="en-US" sz="2400" b="1" dirty="0"/>
              <a:t> cu </a:t>
            </a:r>
            <a:r>
              <a:rPr lang="en-US" sz="2400" b="1" dirty="0" err="1"/>
              <a:t>cantitate</a:t>
            </a:r>
            <a:r>
              <a:rPr lang="en-US" sz="2400" b="1" dirty="0"/>
              <a:t> (quantity semaphore)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3927326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9816" y="289679"/>
            <a:ext cx="4492368" cy="3139321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public class Semaphore</a:t>
            </a:r>
          </a:p>
          <a:p>
            <a:r>
              <a:rPr lang="en-US" dirty="0"/>
              <a:t>extends Object</a:t>
            </a:r>
          </a:p>
          <a:p>
            <a:endParaRPr lang="en-US" dirty="0"/>
          </a:p>
          <a:p>
            <a:r>
              <a:rPr lang="en-US" dirty="0"/>
              <a:t>Semaphore(</a:t>
            </a:r>
            <a:r>
              <a:rPr lang="en-US" dirty="0" err="1"/>
              <a:t>int</a:t>
            </a:r>
            <a:r>
              <a:rPr lang="en-US" dirty="0"/>
              <a:t> permits)  // constructor</a:t>
            </a:r>
          </a:p>
          <a:p>
            <a:endParaRPr lang="en-US" dirty="0"/>
          </a:p>
          <a:p>
            <a:r>
              <a:rPr lang="en-US" dirty="0"/>
              <a:t>Semaphore </a:t>
            </a:r>
            <a:r>
              <a:rPr lang="en-US" dirty="0" err="1"/>
              <a:t>sem</a:t>
            </a:r>
            <a:r>
              <a:rPr lang="en-US" dirty="0"/>
              <a:t> = new Semaphore(n);</a:t>
            </a:r>
          </a:p>
          <a:p>
            <a:endParaRPr lang="en-US" dirty="0"/>
          </a:p>
          <a:p>
            <a:r>
              <a:rPr lang="en-US" dirty="0" err="1"/>
              <a:t>sem.acquire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     ...  //</a:t>
            </a:r>
            <a:r>
              <a:rPr lang="en-US" dirty="0" err="1"/>
              <a:t>sectiune</a:t>
            </a:r>
            <a:r>
              <a:rPr lang="en-US" dirty="0"/>
              <a:t> </a:t>
            </a:r>
            <a:r>
              <a:rPr lang="en-US" dirty="0" err="1"/>
              <a:t>critica</a:t>
            </a:r>
            <a:endParaRPr lang="en-US" dirty="0"/>
          </a:p>
          <a:p>
            <a:r>
              <a:rPr lang="en-US" dirty="0" err="1"/>
              <a:t>sem.release</a:t>
            </a:r>
            <a:r>
              <a:rPr lang="en-US" dirty="0"/>
              <a:t>();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92427" y="5945489"/>
            <a:ext cx="7575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https://docs.oracle.com/en/java/javase/23/docs/api/java.base/java/util/concurrent/Semaphore.html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6373" y="3969779"/>
            <a:ext cx="102143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Diferenta</a:t>
            </a:r>
            <a:r>
              <a:rPr lang="en-US" sz="2000" dirty="0"/>
              <a:t> </a:t>
            </a:r>
            <a:r>
              <a:rPr lang="en-US" sz="2000" dirty="0" err="1"/>
              <a:t>dintre</a:t>
            </a:r>
            <a:r>
              <a:rPr lang="en-US" sz="2000" dirty="0"/>
              <a:t> un </a:t>
            </a:r>
            <a:r>
              <a:rPr lang="en-US" sz="2000" dirty="0" err="1"/>
              <a:t>obiect</a:t>
            </a:r>
            <a:r>
              <a:rPr lang="en-US" sz="2000" dirty="0"/>
              <a:t> </a:t>
            </a:r>
            <a:r>
              <a:rPr lang="en-US" sz="2000" dirty="0" err="1"/>
              <a:t>construit</a:t>
            </a:r>
            <a:r>
              <a:rPr lang="en-US" sz="2000" dirty="0"/>
              <a:t> cu  </a:t>
            </a:r>
            <a:r>
              <a:rPr lang="en-US" sz="2000" b="1" dirty="0"/>
              <a:t>Semaphore(1)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unul</a:t>
            </a:r>
            <a:r>
              <a:rPr lang="en-US" sz="2000" dirty="0"/>
              <a:t>  din </a:t>
            </a:r>
            <a:r>
              <a:rPr lang="en-US" sz="2000" dirty="0" err="1"/>
              <a:t>clasa</a:t>
            </a:r>
            <a:r>
              <a:rPr lang="en-US" sz="2000" dirty="0"/>
              <a:t> </a:t>
            </a:r>
            <a:r>
              <a:rPr lang="en-US" sz="2000" b="1" dirty="0"/>
              <a:t>Lock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urmatoarea</a:t>
            </a:r>
            <a:r>
              <a:rPr lang="en-US" sz="2000" dirty="0"/>
              <a:t>: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lacatul</a:t>
            </a:r>
            <a:r>
              <a:rPr lang="en-US" sz="2000" dirty="0"/>
              <a:t> intern al </a:t>
            </a:r>
            <a:r>
              <a:rPr lang="en-US" sz="2000" dirty="0" err="1"/>
              <a:t>obiectului</a:t>
            </a:r>
            <a:r>
              <a:rPr lang="en-US" sz="2000" dirty="0"/>
              <a:t> din </a:t>
            </a:r>
            <a:r>
              <a:rPr lang="en-US" sz="2000" dirty="0" err="1"/>
              <a:t>clasa</a:t>
            </a:r>
            <a:r>
              <a:rPr lang="en-US" sz="2000" dirty="0"/>
              <a:t> </a:t>
            </a:r>
            <a:r>
              <a:rPr lang="en-US" sz="2000" b="1" dirty="0"/>
              <a:t>Semaphore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eliberat</a:t>
            </a:r>
            <a:r>
              <a:rPr lang="en-US" sz="2000" dirty="0"/>
              <a:t> de </a:t>
            </a:r>
            <a:r>
              <a:rPr lang="en-US" sz="2000" dirty="0" err="1"/>
              <a:t>orice</a:t>
            </a:r>
            <a:r>
              <a:rPr lang="en-US" sz="2000" dirty="0"/>
              <a:t> thread care face </a:t>
            </a:r>
            <a:r>
              <a:rPr lang="en-US" sz="2000" b="1" dirty="0"/>
              <a:t>release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lacatul</a:t>
            </a:r>
            <a:r>
              <a:rPr lang="en-US" sz="2000" dirty="0"/>
              <a:t> intern al </a:t>
            </a:r>
            <a:r>
              <a:rPr lang="en-US" sz="2000" dirty="0" err="1"/>
              <a:t>obiectului</a:t>
            </a:r>
            <a:r>
              <a:rPr lang="en-US" sz="2000" dirty="0"/>
              <a:t> din </a:t>
            </a:r>
            <a:r>
              <a:rPr lang="en-US" sz="2000" dirty="0" err="1"/>
              <a:t>clasa</a:t>
            </a:r>
            <a:r>
              <a:rPr lang="en-US" sz="2000" dirty="0"/>
              <a:t> </a:t>
            </a:r>
            <a:r>
              <a:rPr lang="en-US" sz="2000" b="1" dirty="0"/>
              <a:t>Lock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eliberat</a:t>
            </a:r>
            <a:r>
              <a:rPr lang="en-US" sz="2000" dirty="0"/>
              <a:t> </a:t>
            </a:r>
            <a:r>
              <a:rPr lang="en-US" sz="2000" dirty="0" err="1"/>
              <a:t>numai</a:t>
            </a:r>
            <a:r>
              <a:rPr lang="en-US" sz="2000" dirty="0"/>
              <a:t> de thread-</a:t>
            </a:r>
            <a:r>
              <a:rPr lang="en-US" sz="2000" dirty="0" err="1"/>
              <a:t>ul</a:t>
            </a:r>
            <a:r>
              <a:rPr lang="en-US" sz="2000" dirty="0"/>
              <a:t> care </a:t>
            </a:r>
            <a:r>
              <a:rPr lang="en-US" sz="2000" dirty="0" err="1"/>
              <a:t>il</a:t>
            </a:r>
            <a:r>
              <a:rPr lang="en-US" sz="2000" dirty="0"/>
              <a:t> </a:t>
            </a:r>
            <a:r>
              <a:rPr lang="en-US" sz="2000" dirty="0" err="1"/>
              <a:t>detine</a:t>
            </a:r>
            <a:r>
              <a:rPr lang="en-US" sz="2000" dirty="0"/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373" y="5362832"/>
            <a:ext cx="95619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US" sz="2000" dirty="0" err="1"/>
              <a:t>Varianta</a:t>
            </a:r>
            <a:r>
              <a:rPr lang="en-US" sz="2000" dirty="0"/>
              <a:t> </a:t>
            </a:r>
            <a:r>
              <a:rPr lang="en-US" sz="2000" b="1" dirty="0"/>
              <a:t>Semaphore(int permits, true) </a:t>
            </a:r>
            <a:r>
              <a:rPr lang="en-US" sz="2000" dirty="0"/>
              <a:t>thread-urile care </a:t>
            </a:r>
            <a:r>
              <a:rPr lang="en-US" sz="2000" dirty="0" err="1"/>
              <a:t>asteapta</a:t>
            </a:r>
            <a:r>
              <a:rPr lang="en-US" sz="2000" dirty="0"/>
              <a:t> </a:t>
            </a:r>
            <a:r>
              <a:rPr lang="en-US" sz="2000" dirty="0" err="1"/>
              <a:t>sa</a:t>
            </a:r>
            <a:r>
              <a:rPr lang="en-US" sz="2000" dirty="0"/>
              <a:t> </a:t>
            </a:r>
            <a:r>
              <a:rPr lang="en-US" sz="2000" dirty="0" err="1"/>
              <a:t>faca</a:t>
            </a:r>
            <a:r>
              <a:rPr lang="en-US" sz="2000" dirty="0"/>
              <a:t> </a:t>
            </a:r>
            <a:r>
              <a:rPr lang="en-US" sz="2000" dirty="0" err="1"/>
              <a:t>aquire</a:t>
            </a:r>
            <a:r>
              <a:rPr lang="en-US" sz="2000" dirty="0"/>
              <a:t> sunt  FIFO</a:t>
            </a:r>
          </a:p>
        </p:txBody>
      </p:sp>
    </p:spTree>
    <p:extLst>
      <p:ext uri="{BB962C8B-B14F-4D97-AF65-F5344CB8AC3E}">
        <p14:creationId xmlns:p14="http://schemas.microsoft.com/office/powerpoint/2010/main" val="1364656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4972" y="5924099"/>
            <a:ext cx="93598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http://winterbe.com/posts/2015/04/30/java8-concurrency-tutorial-synchronized-locks-examples/</a:t>
            </a:r>
            <a:endParaRPr lang="en-US" dirty="0"/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18394" y="287570"/>
            <a:ext cx="910178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Exemplu</a:t>
            </a:r>
            <a:r>
              <a:rPr lang="en-US" sz="20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un </a:t>
            </a:r>
            <a:r>
              <a:rPr lang="en-US" sz="2000" dirty="0" err="1"/>
              <a:t>semafor</a:t>
            </a:r>
            <a:r>
              <a:rPr lang="en-US" sz="2000" dirty="0"/>
              <a:t> </a:t>
            </a:r>
            <a:r>
              <a:rPr lang="en-US" sz="2000" dirty="0" err="1"/>
              <a:t>coordoneaza</a:t>
            </a:r>
            <a:r>
              <a:rPr lang="en-US" sz="2000" dirty="0"/>
              <a:t> </a:t>
            </a:r>
            <a:r>
              <a:rPr lang="en-US" sz="2000" dirty="0" err="1"/>
              <a:t>accesul</a:t>
            </a:r>
            <a:r>
              <a:rPr lang="en-US" sz="2000" dirty="0"/>
              <a:t> la 3 </a:t>
            </a:r>
            <a:r>
              <a:rPr lang="en-US" sz="2000" dirty="0" err="1"/>
              <a:t>resurse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exista</a:t>
            </a:r>
            <a:r>
              <a:rPr lang="en-US" sz="2000" dirty="0"/>
              <a:t> 4 thread-</a:t>
            </a:r>
            <a:r>
              <a:rPr lang="en-US" sz="2000" dirty="0" err="1"/>
              <a:t>uri</a:t>
            </a:r>
            <a:r>
              <a:rPr lang="en-US" sz="2000" dirty="0"/>
              <a:t> care </a:t>
            </a:r>
            <a:r>
              <a:rPr lang="en-US" sz="2000" dirty="0" err="1"/>
              <a:t>cer</a:t>
            </a:r>
            <a:r>
              <a:rPr lang="en-US" sz="2000" dirty="0"/>
              <a:t> </a:t>
            </a:r>
            <a:r>
              <a:rPr lang="en-US" sz="2000" dirty="0" err="1"/>
              <a:t>accesul</a:t>
            </a:r>
            <a:r>
              <a:rPr lang="en-US" sz="2000" dirty="0"/>
              <a:t> la </a:t>
            </a:r>
            <a:r>
              <a:rPr lang="en-US" sz="2000" dirty="0" err="1"/>
              <a:t>resursa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dupa</a:t>
            </a:r>
            <a:r>
              <a:rPr lang="en-US" sz="2000" dirty="0"/>
              <a:t> </a:t>
            </a:r>
            <a:r>
              <a:rPr lang="en-US" sz="2000" dirty="0" err="1"/>
              <a:t>ce</a:t>
            </a:r>
            <a:r>
              <a:rPr lang="en-US" sz="2000" dirty="0"/>
              <a:t> </a:t>
            </a:r>
            <a:r>
              <a:rPr lang="en-US" sz="2000" dirty="0" err="1"/>
              <a:t>primeste</a:t>
            </a:r>
            <a:r>
              <a:rPr lang="en-US" sz="2000" dirty="0"/>
              <a:t> </a:t>
            </a:r>
            <a:r>
              <a:rPr lang="en-US" sz="2000" dirty="0" err="1"/>
              <a:t>accesul</a:t>
            </a:r>
            <a:r>
              <a:rPr lang="en-US" sz="2000" dirty="0"/>
              <a:t>, </a:t>
            </a:r>
            <a:r>
              <a:rPr lang="en-US" sz="2000" dirty="0" err="1"/>
              <a:t>fiecare</a:t>
            </a:r>
            <a:r>
              <a:rPr lang="en-US" sz="2000" dirty="0"/>
              <a:t> thread </a:t>
            </a:r>
            <a:r>
              <a:rPr lang="en-US" sz="2000" dirty="0" err="1"/>
              <a:t>executa</a:t>
            </a:r>
            <a:r>
              <a:rPr lang="en-US" sz="2000" dirty="0"/>
              <a:t> 3 task-</a:t>
            </a:r>
            <a:r>
              <a:rPr lang="en-US" sz="2000" dirty="0" err="1"/>
              <a:t>uri</a:t>
            </a:r>
            <a:r>
              <a:rPr lang="en-US" sz="2000" dirty="0"/>
              <a:t>, </a:t>
            </a:r>
            <a:r>
              <a:rPr lang="en-US" sz="2000" dirty="0" err="1"/>
              <a:t>apoi</a:t>
            </a:r>
            <a:r>
              <a:rPr lang="en-US" sz="2000" dirty="0"/>
              <a:t> </a:t>
            </a:r>
            <a:r>
              <a:rPr lang="en-US" sz="2000" dirty="0" err="1"/>
              <a:t>elibereaza</a:t>
            </a:r>
            <a:r>
              <a:rPr lang="en-US" sz="2000" dirty="0"/>
              <a:t> </a:t>
            </a:r>
            <a:r>
              <a:rPr lang="en-US" sz="2000" dirty="0" err="1"/>
              <a:t>resursa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521429" y="1845384"/>
            <a:ext cx="9032789" cy="347787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public class Semaphores{</a:t>
            </a:r>
          </a:p>
          <a:p>
            <a:endParaRPr lang="en-US" sz="2000" dirty="0"/>
          </a:p>
          <a:p>
            <a:r>
              <a:rPr lang="en-US" sz="2000" dirty="0"/>
              <a:t>	</a:t>
            </a:r>
            <a:r>
              <a:rPr lang="en-US" sz="2000" dirty="0">
                <a:solidFill>
                  <a:srgbClr val="00B050"/>
                </a:solidFill>
              </a:rPr>
              <a:t>static Semaphore </a:t>
            </a:r>
            <a:r>
              <a:rPr lang="en-US" sz="2000" dirty="0" err="1">
                <a:solidFill>
                  <a:srgbClr val="00B050"/>
                </a:solidFill>
              </a:rPr>
              <a:t>semaphore</a:t>
            </a:r>
            <a:r>
              <a:rPr lang="en-US" sz="2000" dirty="0">
                <a:solidFill>
                  <a:srgbClr val="00B050"/>
                </a:solidFill>
              </a:rPr>
              <a:t> = new Semaphore(3);</a:t>
            </a:r>
          </a:p>
          <a:p>
            <a:r>
              <a:rPr lang="en-US" sz="2000" dirty="0"/>
              <a:t>            </a:t>
            </a:r>
          </a:p>
          <a:p>
            <a:r>
              <a:rPr lang="en-US" sz="2000" dirty="0"/>
              <a:t>        static class </a:t>
            </a:r>
            <a:r>
              <a:rPr lang="en-US" sz="2000" dirty="0" err="1"/>
              <a:t>MyThread</a:t>
            </a:r>
            <a:r>
              <a:rPr lang="en-US" sz="2000" dirty="0"/>
              <a:t> extends Thread {</a:t>
            </a:r>
          </a:p>
          <a:p>
            <a:endParaRPr lang="en-US" sz="2000" dirty="0"/>
          </a:p>
          <a:p>
            <a:r>
              <a:rPr lang="en-US" sz="2000" dirty="0"/>
              <a:t>                   // thread-</a:t>
            </a:r>
            <a:r>
              <a:rPr lang="en-US" sz="2000" dirty="0" err="1"/>
              <a:t>ul</a:t>
            </a:r>
            <a:r>
              <a:rPr lang="en-US" sz="2000" dirty="0"/>
              <a:t> </a:t>
            </a:r>
            <a:r>
              <a:rPr lang="en-US" sz="2000" dirty="0" err="1"/>
              <a:t>va</a:t>
            </a:r>
            <a:r>
              <a:rPr lang="en-US" sz="2000" dirty="0"/>
              <a:t> face </a:t>
            </a:r>
            <a:r>
              <a:rPr lang="en-US" sz="2000" dirty="0" err="1"/>
              <a:t>aquire</a:t>
            </a:r>
            <a:r>
              <a:rPr lang="en-US" sz="2000" dirty="0"/>
              <a:t>, </a:t>
            </a:r>
            <a:r>
              <a:rPr lang="en-US" sz="2000" dirty="0" err="1"/>
              <a:t>va</a:t>
            </a:r>
            <a:r>
              <a:rPr lang="en-US" sz="2000" dirty="0"/>
              <a:t> </a:t>
            </a:r>
            <a:r>
              <a:rPr lang="en-US" sz="2000" dirty="0" err="1"/>
              <a:t>executa</a:t>
            </a:r>
            <a:r>
              <a:rPr lang="en-US" sz="2000" dirty="0"/>
              <a:t> task-</a:t>
            </a:r>
            <a:r>
              <a:rPr lang="en-US" sz="2000" dirty="0" err="1"/>
              <a:t>urile</a:t>
            </a:r>
            <a:r>
              <a:rPr lang="en-US" sz="2000" dirty="0"/>
              <a:t>, </a:t>
            </a:r>
            <a:r>
              <a:rPr lang="en-US" sz="2000" dirty="0" err="1"/>
              <a:t>apoi</a:t>
            </a:r>
            <a:r>
              <a:rPr lang="en-US" sz="2000" dirty="0"/>
              <a:t> </a:t>
            </a:r>
            <a:r>
              <a:rPr lang="en-US" sz="2000" dirty="0" err="1"/>
              <a:t>va</a:t>
            </a:r>
            <a:r>
              <a:rPr lang="en-US" sz="2000" dirty="0"/>
              <a:t> face release                            </a:t>
            </a:r>
          </a:p>
          <a:p>
            <a:r>
              <a:rPr lang="en-US" sz="2000" dirty="0"/>
              <a:t>        }</a:t>
            </a:r>
          </a:p>
          <a:p>
            <a:endParaRPr lang="en-US" sz="2000" dirty="0"/>
          </a:p>
          <a:p>
            <a:r>
              <a:rPr lang="en-US" sz="2000" dirty="0"/>
              <a:t>public void main(String[] </a:t>
            </a:r>
            <a:r>
              <a:rPr lang="en-US" sz="2000" dirty="0" err="1"/>
              <a:t>args</a:t>
            </a:r>
            <a:r>
              <a:rPr lang="en-US" sz="2000" dirty="0"/>
              <a:t>) { …}</a:t>
            </a:r>
          </a:p>
          <a:p>
            <a:r>
              <a:rPr lang="en-US" sz="2000"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44875" y="4200550"/>
            <a:ext cx="5928375" cy="1631216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public static void main(String[] </a:t>
            </a:r>
            <a:r>
              <a:rPr lang="en-US" sz="2000" dirty="0" err="1"/>
              <a:t>args</a:t>
            </a:r>
            <a:r>
              <a:rPr lang="en-US" sz="2000" dirty="0"/>
              <a:t>)   {</a:t>
            </a:r>
          </a:p>
          <a:p>
            <a:r>
              <a:rPr lang="en-US" sz="2000" dirty="0"/>
              <a:t>                </a:t>
            </a:r>
            <a:r>
              <a:rPr lang="en-US" sz="2000" dirty="0" err="1"/>
              <a:t>MyThread</a:t>
            </a:r>
            <a:r>
              <a:rPr lang="en-US" sz="2000" dirty="0"/>
              <a:t> t1 = new </a:t>
            </a:r>
            <a:r>
              <a:rPr lang="en-US" sz="2000" dirty="0" err="1"/>
              <a:t>MyThread</a:t>
            </a:r>
            <a:r>
              <a:rPr lang="en-US" sz="2000" dirty="0"/>
              <a:t>("A"); t1.start();</a:t>
            </a:r>
          </a:p>
          <a:p>
            <a:r>
              <a:rPr lang="en-US" sz="2000" dirty="0"/>
              <a:t>                  …..</a:t>
            </a:r>
          </a:p>
          <a:p>
            <a:r>
              <a:rPr lang="en-US" sz="2000" dirty="0"/>
              <a:t>                </a:t>
            </a:r>
            <a:r>
              <a:rPr lang="en-US" sz="2000" dirty="0" err="1"/>
              <a:t>MyThread</a:t>
            </a:r>
            <a:r>
              <a:rPr lang="en-US" sz="2000" dirty="0"/>
              <a:t> t4 = new </a:t>
            </a:r>
            <a:r>
              <a:rPr lang="en-US" sz="2000" dirty="0" err="1"/>
              <a:t>MyThread</a:t>
            </a:r>
            <a:r>
              <a:rPr lang="en-US" sz="2000" dirty="0"/>
              <a:t>("D"); t4.start();</a:t>
            </a:r>
          </a:p>
          <a:p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0228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98157" y="605481"/>
            <a:ext cx="8038071" cy="532453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static class </a:t>
            </a:r>
            <a:r>
              <a:rPr lang="en-US" sz="2000" dirty="0" err="1"/>
              <a:t>MyThread</a:t>
            </a:r>
            <a:r>
              <a:rPr lang="en-US" sz="2000" dirty="0"/>
              <a:t> extends Thread {</a:t>
            </a:r>
          </a:p>
          <a:p>
            <a:r>
              <a:rPr lang="en-US" sz="2000" dirty="0"/>
              <a:t>        String name = "";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MyThread</a:t>
            </a:r>
            <a:r>
              <a:rPr lang="en-US" sz="2000" dirty="0"/>
              <a:t>(String name) { this.name = name;}</a:t>
            </a:r>
          </a:p>
          <a:p>
            <a:endParaRPr lang="en-US" sz="2000" dirty="0"/>
          </a:p>
          <a:p>
            <a:r>
              <a:rPr lang="en-US" sz="2000" dirty="0"/>
              <a:t>public void run()  {</a:t>
            </a:r>
          </a:p>
          <a:p>
            <a:r>
              <a:rPr lang="en-US" sz="2000" dirty="0"/>
              <a:t>   try {</a:t>
            </a:r>
          </a:p>
          <a:p>
            <a:r>
              <a:rPr lang="en-US" sz="2000" dirty="0"/>
              <a:t>           </a:t>
            </a:r>
            <a:r>
              <a:rPr lang="en-US" sz="2000" b="1" dirty="0" err="1"/>
              <a:t>semaphore.acquire</a:t>
            </a:r>
            <a:r>
              <a:rPr lang="en-US" sz="2000" b="1" dirty="0"/>
              <a:t>();</a:t>
            </a:r>
          </a:p>
          <a:p>
            <a:r>
              <a:rPr lang="en-US" sz="2000" dirty="0"/>
              <a:t>		   try {</a:t>
            </a:r>
          </a:p>
          <a:p>
            <a:endParaRPr lang="en-US" sz="2000" dirty="0"/>
          </a:p>
          <a:p>
            <a:r>
              <a:rPr lang="en-US" sz="2000" dirty="0"/>
              <a:t>                for (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= 1; </a:t>
            </a:r>
            <a:r>
              <a:rPr lang="en-US" sz="2000" dirty="0" err="1"/>
              <a:t>i</a:t>
            </a:r>
            <a:r>
              <a:rPr lang="en-US" sz="2000" dirty="0"/>
              <a:t> &lt;= 3; </a:t>
            </a:r>
            <a:r>
              <a:rPr lang="en-US" sz="2000" dirty="0" err="1"/>
              <a:t>i</a:t>
            </a:r>
            <a:r>
              <a:rPr lang="en-US" sz="2000" dirty="0"/>
              <a:t>++) {</a:t>
            </a:r>
          </a:p>
          <a:p>
            <a:r>
              <a:rPr lang="en-US" sz="2000" dirty="0"/>
              <a:t>                    </a:t>
            </a:r>
            <a:r>
              <a:rPr lang="en-US" sz="2000" dirty="0" err="1"/>
              <a:t>System.out.println</a:t>
            </a:r>
            <a:r>
              <a:rPr lang="en-US" sz="2000" dirty="0"/>
              <a:t>(name + " : is performing operation " + </a:t>
            </a:r>
            <a:r>
              <a:rPr lang="en-US" sz="2000" dirty="0" err="1"/>
              <a:t>i</a:t>
            </a:r>
            <a:r>
              <a:rPr lang="en-US" sz="2000" dirty="0"/>
              <a:t> }</a:t>
            </a:r>
          </a:p>
          <a:p>
            <a:r>
              <a:rPr lang="en-US" sz="2000" dirty="0"/>
              <a:t>		</a:t>
            </a:r>
            <a:r>
              <a:rPr lang="en-US" sz="2000" dirty="0" err="1"/>
              <a:t>Thread.sleep</a:t>
            </a:r>
            <a:r>
              <a:rPr lang="en-US" sz="2000" dirty="0"/>
              <a:t>(</a:t>
            </a:r>
            <a:r>
              <a:rPr lang="en-GB" sz="2000" dirty="0" err="1"/>
              <a:t>ThreadLocalRandom.current</a:t>
            </a:r>
            <a:r>
              <a:rPr lang="en-GB" sz="2000" dirty="0"/>
              <a:t>().</a:t>
            </a:r>
            <a:r>
              <a:rPr lang="en-GB" sz="2000" dirty="0" err="1"/>
              <a:t>nextInt</a:t>
            </a:r>
            <a:r>
              <a:rPr lang="en-GB" sz="2000" dirty="0"/>
              <a:t>(1000)</a:t>
            </a:r>
            <a:r>
              <a:rPr lang="en-US" sz="2000" dirty="0"/>
              <a:t>);}</a:t>
            </a:r>
          </a:p>
          <a:p>
            <a:endParaRPr lang="en-US" sz="2000" dirty="0"/>
          </a:p>
          <a:p>
            <a:r>
              <a:rPr lang="en-US" sz="2000" dirty="0"/>
              <a:t>                     } finally { </a:t>
            </a:r>
            <a:r>
              <a:rPr lang="en-US" sz="2000" b="1" dirty="0" err="1"/>
              <a:t>semaphore.release</a:t>
            </a:r>
            <a:r>
              <a:rPr lang="en-US" sz="2000" b="1" dirty="0"/>
              <a:t>();}</a:t>
            </a:r>
          </a:p>
          <a:p>
            <a:endParaRPr lang="en-US" sz="2000" dirty="0">
              <a:solidFill>
                <a:srgbClr val="00B050"/>
              </a:solidFill>
            </a:endParaRPr>
          </a:p>
          <a:p>
            <a:r>
              <a:rPr lang="en-US" sz="2000" dirty="0"/>
              <a:t>    }  catch (</a:t>
            </a:r>
            <a:r>
              <a:rPr lang="en-US" sz="2000" dirty="0" err="1"/>
              <a:t>InterruptedException</a:t>
            </a:r>
            <a:r>
              <a:rPr lang="en-US" sz="2000" dirty="0"/>
              <a:t> e) {}</a:t>
            </a:r>
          </a:p>
          <a:p>
            <a:r>
              <a:rPr lang="en-US" sz="2000" dirty="0"/>
              <a:t>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28254" y="2286000"/>
            <a:ext cx="4385752" cy="7078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 </a:t>
            </a:r>
            <a:r>
              <a:rPr lang="en-US" sz="2000" b="1" dirty="0" err="1">
                <a:solidFill>
                  <a:schemeClr val="tx1"/>
                </a:solidFill>
              </a:rPr>
              <a:t>aquire</a:t>
            </a:r>
            <a:r>
              <a:rPr lang="en-US" sz="2000" dirty="0"/>
              <a:t> </a:t>
            </a:r>
            <a:r>
              <a:rPr lang="en-US" sz="2000" dirty="0" err="1"/>
              <a:t>pune</a:t>
            </a:r>
            <a:r>
              <a:rPr lang="en-US" sz="2000" dirty="0"/>
              <a:t> thread-urile in </a:t>
            </a:r>
            <a:r>
              <a:rPr lang="en-US" sz="2000" dirty="0" err="1"/>
              <a:t>asteptare</a:t>
            </a:r>
            <a:r>
              <a:rPr lang="en-US" sz="2000" dirty="0"/>
              <a:t>, </a:t>
            </a:r>
          </a:p>
          <a:p>
            <a:r>
              <a:rPr lang="en-US" sz="2000" dirty="0" err="1"/>
              <a:t>deci</a:t>
            </a:r>
            <a:r>
              <a:rPr lang="en-US" sz="2000" dirty="0"/>
              <a:t> </a:t>
            </a:r>
            <a:r>
              <a:rPr lang="en-US" sz="2000" dirty="0" err="1"/>
              <a:t>poate</a:t>
            </a:r>
            <a:r>
              <a:rPr lang="en-US" sz="2000" dirty="0"/>
              <a:t> </a:t>
            </a:r>
            <a:r>
              <a:rPr lang="en-US" sz="2000" dirty="0" err="1"/>
              <a:t>arunca</a:t>
            </a:r>
            <a:r>
              <a:rPr lang="en-US" sz="2000" dirty="0"/>
              <a:t> o </a:t>
            </a:r>
            <a:r>
              <a:rPr lang="en-US" sz="2000" dirty="0" err="1"/>
              <a:t>exceptie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10447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77A40B1-CF95-8670-D13F-69AC2FF47019}"/>
              </a:ext>
            </a:extLst>
          </p:cNvPr>
          <p:cNvSpPr txBox="1"/>
          <p:nvPr/>
        </p:nvSpPr>
        <p:spPr>
          <a:xfrm>
            <a:off x="497840" y="528261"/>
            <a:ext cx="6096000" cy="3477875"/>
          </a:xfrm>
          <a:prstGeom prst="rect">
            <a:avLst/>
          </a:prstGeom>
          <a:ln w="19050"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public class Semaphores{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rgbClr val="000000"/>
                </a:solidFill>
                <a:latin typeface="Calibri" panose="020F0502020204030204"/>
              </a:rPr>
              <a:t>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static Semaphore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semaphore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new Semaphore(3);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static class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MyThread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extends Thread {…}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public void main(String[]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args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{</a:t>
            </a:r>
          </a:p>
          <a:p>
            <a:r>
              <a:rPr lang="en-US" sz="2000" dirty="0" err="1"/>
              <a:t>MyThread</a:t>
            </a:r>
            <a:r>
              <a:rPr lang="en-US" sz="2000" dirty="0"/>
              <a:t> t1 = new </a:t>
            </a:r>
            <a:r>
              <a:rPr lang="en-US" sz="2000" dirty="0" err="1"/>
              <a:t>MyThread</a:t>
            </a:r>
            <a:r>
              <a:rPr lang="en-US" sz="2000" dirty="0"/>
              <a:t>("A"); t1.start();</a:t>
            </a:r>
          </a:p>
          <a:p>
            <a:r>
              <a:rPr lang="en-US" sz="2000" dirty="0" err="1"/>
              <a:t>MyThread</a:t>
            </a:r>
            <a:r>
              <a:rPr lang="en-US" sz="2000" dirty="0"/>
              <a:t> t2 = new </a:t>
            </a:r>
            <a:r>
              <a:rPr lang="en-US" sz="2000" dirty="0" err="1"/>
              <a:t>MyThread</a:t>
            </a:r>
            <a:r>
              <a:rPr lang="en-US" sz="2000" dirty="0"/>
              <a:t>("B"); t2.start();</a:t>
            </a:r>
          </a:p>
          <a:p>
            <a:r>
              <a:rPr lang="en-US" sz="2000" dirty="0" err="1"/>
              <a:t>MyThread</a:t>
            </a:r>
            <a:r>
              <a:rPr lang="en-US" sz="2000" dirty="0"/>
              <a:t> t3 = new </a:t>
            </a:r>
            <a:r>
              <a:rPr lang="en-US" sz="2000" dirty="0" err="1"/>
              <a:t>MyThread</a:t>
            </a:r>
            <a:r>
              <a:rPr lang="en-US" sz="2000" dirty="0"/>
              <a:t>("C"); t3.start();</a:t>
            </a:r>
          </a:p>
          <a:p>
            <a:r>
              <a:rPr lang="en-US" sz="2000" dirty="0" err="1"/>
              <a:t>MyThread</a:t>
            </a:r>
            <a:r>
              <a:rPr lang="en-US" sz="2000" dirty="0"/>
              <a:t> t4 = new </a:t>
            </a:r>
            <a:r>
              <a:rPr lang="en-US" sz="2000" dirty="0" err="1"/>
              <a:t>MyThread</a:t>
            </a:r>
            <a:r>
              <a:rPr lang="en-US" sz="2000" dirty="0"/>
              <a:t>("D"); t4.start();</a:t>
            </a:r>
            <a:endParaRPr lang="en-US" sz="2000" dirty="0">
              <a:solidFill>
                <a:srgbClr val="000000"/>
              </a:solidFill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}}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76BA29-CAA8-75AC-F03C-923E0583A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884" y="1244599"/>
            <a:ext cx="5492918" cy="453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983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117" y="245596"/>
            <a:ext cx="8038071" cy="5940088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static Semaphore </a:t>
            </a:r>
            <a:r>
              <a:rPr lang="en-US" sz="2000" dirty="0" err="1"/>
              <a:t>semaphore</a:t>
            </a:r>
            <a:r>
              <a:rPr lang="en-US" sz="2000" dirty="0"/>
              <a:t> = new Semaphore(3);</a:t>
            </a:r>
          </a:p>
          <a:p>
            <a:endParaRPr lang="en-US" sz="2000" dirty="0"/>
          </a:p>
          <a:p>
            <a:r>
              <a:rPr lang="en-US" sz="2000" dirty="0"/>
              <a:t>static class </a:t>
            </a:r>
            <a:r>
              <a:rPr lang="en-US" sz="2000" dirty="0" err="1"/>
              <a:t>MyThread</a:t>
            </a:r>
            <a:r>
              <a:rPr lang="en-US" sz="2000" dirty="0"/>
              <a:t> extends Thread {</a:t>
            </a:r>
          </a:p>
          <a:p>
            <a:r>
              <a:rPr lang="en-US" sz="2000" dirty="0"/>
              <a:t>        String name = "";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MyThread</a:t>
            </a:r>
            <a:r>
              <a:rPr lang="en-US" sz="2000" dirty="0"/>
              <a:t>(String name) { this.name = name;}</a:t>
            </a:r>
          </a:p>
          <a:p>
            <a:endParaRPr lang="en-US" sz="2000" dirty="0"/>
          </a:p>
          <a:p>
            <a:r>
              <a:rPr lang="en-US" sz="2000" dirty="0"/>
              <a:t>public void run()  {</a:t>
            </a:r>
          </a:p>
          <a:p>
            <a:r>
              <a:rPr lang="en-US" sz="2000" dirty="0"/>
              <a:t>   try {</a:t>
            </a:r>
          </a:p>
          <a:p>
            <a:r>
              <a:rPr lang="en-US" sz="2000" dirty="0"/>
              <a:t>           </a:t>
            </a:r>
            <a:r>
              <a:rPr lang="en-US" sz="2000" b="1" dirty="0" err="1"/>
              <a:t>semaphore.</a:t>
            </a:r>
            <a:r>
              <a:rPr lang="en-US" sz="2000" b="1" dirty="0" err="1">
                <a:solidFill>
                  <a:srgbClr val="00B050"/>
                </a:solidFill>
              </a:rPr>
              <a:t>acquire</a:t>
            </a:r>
            <a:r>
              <a:rPr lang="en-US" sz="2000" b="1" dirty="0">
                <a:solidFill>
                  <a:srgbClr val="00B050"/>
                </a:solidFill>
              </a:rPr>
              <a:t>(2)</a:t>
            </a:r>
            <a:r>
              <a:rPr lang="en-US" sz="2000" b="1" dirty="0"/>
              <a:t>; </a:t>
            </a:r>
            <a:r>
              <a:rPr lang="en-US" sz="2000" i="1" dirty="0"/>
              <a:t>// are </a:t>
            </a:r>
            <a:r>
              <a:rPr lang="en-US" sz="2000" i="1" dirty="0" err="1"/>
              <a:t>nevoie</a:t>
            </a:r>
            <a:r>
              <a:rPr lang="en-US" sz="2000" i="1" dirty="0"/>
              <a:t> de 2 </a:t>
            </a:r>
            <a:r>
              <a:rPr lang="en-US" sz="2000" i="1" dirty="0" err="1"/>
              <a:t>resurse</a:t>
            </a:r>
            <a:r>
              <a:rPr lang="en-US" sz="2000" i="1" dirty="0"/>
              <a:t> </a:t>
            </a:r>
            <a:r>
              <a:rPr lang="en-US" sz="2000" i="1" dirty="0" err="1"/>
              <a:t>pentru</a:t>
            </a:r>
            <a:r>
              <a:rPr lang="en-US" sz="2000" i="1" dirty="0"/>
              <a:t> </a:t>
            </a:r>
            <a:r>
              <a:rPr lang="en-US" sz="2000" i="1" dirty="0" err="1"/>
              <a:t>executie</a:t>
            </a:r>
            <a:endParaRPr lang="en-US" sz="2000" i="1" dirty="0"/>
          </a:p>
          <a:p>
            <a:r>
              <a:rPr lang="en-US" sz="2000" dirty="0"/>
              <a:t>		   try {…</a:t>
            </a:r>
          </a:p>
          <a:p>
            <a:r>
              <a:rPr lang="en-US" sz="2000" dirty="0"/>
              <a:t>          } finally { </a:t>
            </a:r>
            <a:r>
              <a:rPr lang="en-US" sz="2000" b="1" dirty="0" err="1"/>
              <a:t>semaphore.</a:t>
            </a:r>
            <a:r>
              <a:rPr lang="en-US" sz="2000" b="1" dirty="0" err="1">
                <a:solidFill>
                  <a:srgbClr val="FF0000"/>
                </a:solidFill>
              </a:rPr>
              <a:t>release</a:t>
            </a:r>
            <a:r>
              <a:rPr lang="en-US" sz="2000" b="1" dirty="0">
                <a:solidFill>
                  <a:srgbClr val="FF0000"/>
                </a:solidFill>
              </a:rPr>
              <a:t>(1)</a:t>
            </a:r>
            <a:r>
              <a:rPr lang="en-US" sz="2000" b="1" dirty="0"/>
              <a:t>;}</a:t>
            </a:r>
            <a:endParaRPr lang="en-US" sz="2000" dirty="0">
              <a:solidFill>
                <a:srgbClr val="00B050"/>
              </a:solidFill>
            </a:endParaRPr>
          </a:p>
          <a:p>
            <a:r>
              <a:rPr lang="en-US" sz="2000" dirty="0"/>
              <a:t>    }  catch (</a:t>
            </a:r>
            <a:r>
              <a:rPr lang="en-US" sz="2000" dirty="0" err="1"/>
              <a:t>InterruptedException</a:t>
            </a:r>
            <a:r>
              <a:rPr lang="en-US" sz="2000" dirty="0"/>
              <a:t> e) {}</a:t>
            </a:r>
          </a:p>
          <a:p>
            <a:r>
              <a:rPr lang="en-US" sz="2000" dirty="0"/>
              <a:t>}}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public void main(String[]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args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{</a:t>
            </a:r>
          </a:p>
          <a:p>
            <a:r>
              <a:rPr lang="en-US" sz="2000" dirty="0" err="1"/>
              <a:t>MyThread</a:t>
            </a:r>
            <a:r>
              <a:rPr lang="en-US" sz="2000" dirty="0"/>
              <a:t> t1 = new </a:t>
            </a:r>
            <a:r>
              <a:rPr lang="en-US" sz="2000" dirty="0" err="1"/>
              <a:t>MyThread</a:t>
            </a:r>
            <a:r>
              <a:rPr lang="en-US" sz="2000" dirty="0"/>
              <a:t>("A"); t1.start();</a:t>
            </a:r>
          </a:p>
          <a:p>
            <a:r>
              <a:rPr lang="en-US" sz="2000" dirty="0" err="1"/>
              <a:t>MyThread</a:t>
            </a:r>
            <a:r>
              <a:rPr lang="en-US" sz="2000" dirty="0"/>
              <a:t> t2 = new </a:t>
            </a:r>
            <a:r>
              <a:rPr lang="en-US" sz="2000" dirty="0" err="1"/>
              <a:t>MyThread</a:t>
            </a:r>
            <a:r>
              <a:rPr lang="en-US" sz="2000" dirty="0"/>
              <a:t>("B"); t2.start();</a:t>
            </a:r>
          </a:p>
          <a:p>
            <a:r>
              <a:rPr lang="en-US" sz="2000" dirty="0" err="1"/>
              <a:t>MyThread</a:t>
            </a:r>
            <a:r>
              <a:rPr lang="en-US" sz="2000" dirty="0"/>
              <a:t> t3 = new </a:t>
            </a:r>
            <a:r>
              <a:rPr lang="en-US" sz="2000" dirty="0" err="1"/>
              <a:t>MyThread</a:t>
            </a:r>
            <a:r>
              <a:rPr lang="en-US" sz="2000" dirty="0"/>
              <a:t>("C"); t3.start();</a:t>
            </a:r>
          </a:p>
          <a:p>
            <a:r>
              <a:rPr lang="en-US" sz="2000" dirty="0" err="1"/>
              <a:t>MyThread</a:t>
            </a:r>
            <a:r>
              <a:rPr lang="en-US" sz="2000" dirty="0"/>
              <a:t> t4 = new </a:t>
            </a:r>
            <a:r>
              <a:rPr lang="en-US" sz="2000" dirty="0" err="1"/>
              <a:t>MyThread</a:t>
            </a:r>
            <a:r>
              <a:rPr lang="en-US" sz="2000" dirty="0"/>
              <a:t>("D"); t4.start();</a:t>
            </a:r>
            <a:endParaRPr lang="en-US" sz="2000" dirty="0">
              <a:solidFill>
                <a:srgbClr val="000000"/>
              </a:solidFill>
              <a:latin typeface="Calibri" panose="020F0502020204030204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D23274-17B4-4D11-FABD-7CE3E9167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561" y="3215640"/>
            <a:ext cx="5081959" cy="23078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604847-2E57-F901-597E-A6DAA9522841}"/>
              </a:ext>
            </a:extLst>
          </p:cNvPr>
          <p:cNvSpPr txBox="1"/>
          <p:nvPr/>
        </p:nvSpPr>
        <p:spPr>
          <a:xfrm>
            <a:off x="6357495" y="5523503"/>
            <a:ext cx="5583388" cy="369332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Thread-urile B </a:t>
            </a:r>
            <a:r>
              <a:rPr lang="en-US" dirty="0" err="1"/>
              <a:t>si</a:t>
            </a:r>
            <a:r>
              <a:rPr lang="en-US" dirty="0"/>
              <a:t> D nu au cum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faca</a:t>
            </a:r>
            <a:r>
              <a:rPr lang="en-US" dirty="0"/>
              <a:t> acquire pe 2 </a:t>
            </a:r>
            <a:r>
              <a:rPr lang="en-US" dirty="0" err="1"/>
              <a:t>resurse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0702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82265" y="480953"/>
            <a:ext cx="5380832" cy="43704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 err="1"/>
              <a:t>Crearea</a:t>
            </a:r>
            <a:r>
              <a:rPr lang="en-US" sz="2400" b="1" dirty="0"/>
              <a:t> </a:t>
            </a:r>
            <a:r>
              <a:rPr lang="en-US" sz="2400" b="1" dirty="0" err="1"/>
              <a:t>obiectelor</a:t>
            </a:r>
            <a:r>
              <a:rPr lang="en-US" sz="2400" b="1" dirty="0"/>
              <a:t>  de tip </a:t>
            </a:r>
            <a:r>
              <a:rPr lang="en-US" sz="2400" b="1" dirty="0">
                <a:highlight>
                  <a:srgbClr val="00FF00"/>
                </a:highlight>
              </a:rPr>
              <a:t>Thread</a:t>
            </a:r>
            <a:r>
              <a:rPr lang="en-US" sz="2400" b="1" dirty="0"/>
              <a:t>:</a:t>
            </a:r>
          </a:p>
          <a:p>
            <a:endParaRPr lang="en-US" sz="2000" dirty="0"/>
          </a:p>
          <a:p>
            <a:endParaRPr lang="en-US" sz="2400" dirty="0"/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 err="1"/>
              <a:t>Metoda</a:t>
            </a:r>
            <a:r>
              <a:rPr lang="en-US" sz="2400" dirty="0"/>
              <a:t> </a:t>
            </a:r>
            <a:r>
              <a:rPr lang="en-US" sz="2400" dirty="0" err="1"/>
              <a:t>directa</a:t>
            </a:r>
            <a:endParaRPr lang="en-US" sz="2400" dirty="0"/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ca </a:t>
            </a:r>
            <a:r>
              <a:rPr lang="en-US" sz="2400" dirty="0" err="1"/>
              <a:t>subclasa</a:t>
            </a:r>
            <a:r>
              <a:rPr lang="en-US" sz="2400" dirty="0"/>
              <a:t> a </a:t>
            </a:r>
            <a:r>
              <a:rPr lang="en-US" sz="2400" dirty="0" err="1"/>
              <a:t>clasei</a:t>
            </a:r>
            <a:r>
              <a:rPr lang="en-US" sz="2400" dirty="0"/>
              <a:t> </a:t>
            </a:r>
            <a:r>
              <a:rPr lang="en-US" sz="2400" dirty="0">
                <a:highlight>
                  <a:srgbClr val="00FF00"/>
                </a:highlight>
              </a:rPr>
              <a:t>Thread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 err="1"/>
              <a:t>implementarea</a:t>
            </a:r>
            <a:r>
              <a:rPr lang="en-US" sz="2400" dirty="0"/>
              <a:t> </a:t>
            </a:r>
            <a:r>
              <a:rPr lang="en-US" sz="2400" dirty="0" err="1"/>
              <a:t>interfetei</a:t>
            </a:r>
            <a:r>
              <a:rPr lang="en-US" sz="2400" dirty="0"/>
              <a:t> </a:t>
            </a:r>
            <a:r>
              <a:rPr lang="en-US" sz="2400" dirty="0">
                <a:highlight>
                  <a:srgbClr val="00FF00"/>
                </a:highlight>
              </a:rPr>
              <a:t>Runnable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 err="1"/>
              <a:t>Metoda</a:t>
            </a:r>
            <a:r>
              <a:rPr lang="en-US" sz="2400" dirty="0"/>
              <a:t> abstracta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/>
              <a:t> </a:t>
            </a:r>
            <a:r>
              <a:rPr lang="en-US" sz="2400" dirty="0" err="1"/>
              <a:t>folosind</a:t>
            </a:r>
            <a:r>
              <a:rPr lang="en-US" sz="2400" dirty="0"/>
              <a:t> </a:t>
            </a:r>
            <a:r>
              <a:rPr lang="en-US" sz="2400" dirty="0" err="1"/>
              <a:t>interfata</a:t>
            </a:r>
            <a:r>
              <a:rPr lang="en-US" sz="2400" dirty="0"/>
              <a:t>  </a:t>
            </a:r>
            <a:r>
              <a:rPr lang="en-US" sz="2400" dirty="0">
                <a:highlight>
                  <a:srgbClr val="00FF00"/>
                </a:highlight>
              </a:rPr>
              <a:t>Executor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F2942C-AE67-278B-FBE3-0E6F960A2B6A}"/>
              </a:ext>
            </a:extLst>
          </p:cNvPr>
          <p:cNvSpPr txBox="1"/>
          <p:nvPr/>
        </p:nvSpPr>
        <p:spPr>
          <a:xfrm>
            <a:off x="7081520" y="1397675"/>
            <a:ext cx="2651760" cy="203132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public interface Runnable{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public void run() 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public class Thread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extends Object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implements Runnable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BCC17B-691A-E073-8FA7-5D400EA8EF32}"/>
              </a:ext>
            </a:extLst>
          </p:cNvPr>
          <p:cNvSpPr txBox="1"/>
          <p:nvPr/>
        </p:nvSpPr>
        <p:spPr>
          <a:xfrm>
            <a:off x="7081520" y="3748315"/>
            <a:ext cx="3393440" cy="203132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/>
              </a:rPr>
              <a:t>interface Executor</a:t>
            </a:r>
          </a:p>
          <a:p>
            <a:pPr>
              <a:defRPr/>
            </a:pPr>
            <a:endParaRPr lang="en-US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/>
              </a:rPr>
              <a:t>public interface </a:t>
            </a:r>
            <a:r>
              <a:rPr lang="en-US" dirty="0" err="1">
                <a:solidFill>
                  <a:srgbClr val="000000"/>
                </a:solidFill>
                <a:latin typeface="Calibri" panose="020F0502020204030204"/>
              </a:rPr>
              <a:t>ExecutorService</a:t>
            </a:r>
            <a:endParaRPr lang="en-US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/>
              </a:rPr>
              <a:t>extends Executor</a:t>
            </a:r>
          </a:p>
          <a:p>
            <a:pPr>
              <a:defRPr/>
            </a:pPr>
            <a:endParaRPr lang="en-US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/>
              </a:rPr>
              <a:t>public class Executors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/>
              </a:rPr>
              <a:t>extends Object</a:t>
            </a:r>
          </a:p>
        </p:txBody>
      </p:sp>
    </p:spTree>
    <p:extLst>
      <p:ext uri="{BB962C8B-B14F-4D97-AF65-F5344CB8AC3E}">
        <p14:creationId xmlns:p14="http://schemas.microsoft.com/office/powerpoint/2010/main" val="3068096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64217" y="198309"/>
            <a:ext cx="4471223" cy="2308324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interface Executor</a:t>
            </a:r>
          </a:p>
          <a:p>
            <a:r>
              <a:rPr lang="en-US" sz="2400" dirty="0"/>
              <a:t>public interface </a:t>
            </a:r>
            <a:r>
              <a:rPr lang="en-US" sz="2400" dirty="0" err="1"/>
              <a:t>ExecutorService</a:t>
            </a:r>
            <a:endParaRPr lang="en-US" sz="2400" dirty="0"/>
          </a:p>
          <a:p>
            <a:r>
              <a:rPr lang="en-US" sz="2400" dirty="0"/>
              <a:t>extends Executor</a:t>
            </a:r>
          </a:p>
          <a:p>
            <a:endParaRPr lang="en-US" sz="2400" dirty="0"/>
          </a:p>
          <a:p>
            <a:r>
              <a:rPr lang="en-US" sz="2400" dirty="0"/>
              <a:t>public class Executors</a:t>
            </a:r>
          </a:p>
          <a:p>
            <a:r>
              <a:rPr lang="en-US" sz="2400" dirty="0"/>
              <a:t>extends Object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396870" y="3612727"/>
            <a:ext cx="8073082" cy="2185214"/>
          </a:xfrm>
          <a:prstGeom prst="rect">
            <a:avLst/>
          </a:prstGeom>
          <a:ln w="38100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endParaRPr lang="en-US" sz="2000" dirty="0"/>
          </a:p>
          <a:p>
            <a:r>
              <a:rPr lang="en-US" sz="2400" dirty="0" err="1"/>
              <a:t>ExecutorService</a:t>
            </a:r>
            <a:r>
              <a:rPr lang="en-US" sz="2400" dirty="0"/>
              <a:t>  pool = </a:t>
            </a:r>
            <a:r>
              <a:rPr lang="en-US" sz="2400" dirty="0" err="1"/>
              <a:t>Executors.newCachedThreadPool</a:t>
            </a:r>
            <a:r>
              <a:rPr lang="en-US" sz="2400" dirty="0"/>
              <a:t>()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pool.</a:t>
            </a:r>
            <a:r>
              <a:rPr lang="en-US" sz="2400" dirty="0" err="1">
                <a:highlight>
                  <a:srgbClr val="00FF00"/>
                </a:highlight>
              </a:rPr>
              <a:t>execute</a:t>
            </a:r>
            <a:r>
              <a:rPr lang="en-US" sz="2400" dirty="0"/>
              <a:t>( </a:t>
            </a:r>
            <a:r>
              <a:rPr lang="en-US" sz="2400" dirty="0" err="1"/>
              <a:t>instanta</a:t>
            </a:r>
            <a:r>
              <a:rPr lang="en-US" sz="2400" dirty="0"/>
              <a:t> </a:t>
            </a:r>
            <a:r>
              <a:rPr lang="en-US" sz="2400" dirty="0">
                <a:highlight>
                  <a:srgbClr val="00FF00"/>
                </a:highlight>
              </a:rPr>
              <a:t>Runnable </a:t>
            </a:r>
            <a:r>
              <a:rPr lang="en-US" sz="2400" dirty="0"/>
              <a:t>)</a:t>
            </a:r>
          </a:p>
          <a:p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947831" y="5761565"/>
            <a:ext cx="10481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https://download.java.net/java/early_access/valhalla/docs/api/java.base/java/util/concurrent/Executors.html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479012" y="4520403"/>
            <a:ext cx="4316118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crerea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piscine  de thread-</a:t>
            </a:r>
            <a:r>
              <a:rPr lang="en-US" dirty="0" err="1"/>
              <a:t>uri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</a:t>
            </a:r>
          </a:p>
          <a:p>
            <a:r>
              <a:rPr lang="en-US" dirty="0"/>
              <a:t>o </a:t>
            </a:r>
            <a:r>
              <a:rPr lang="en-US" dirty="0" err="1"/>
              <a:t>metoda</a:t>
            </a:r>
            <a:r>
              <a:rPr lang="en-US" dirty="0"/>
              <a:t> a </a:t>
            </a:r>
            <a:r>
              <a:rPr lang="en-US" dirty="0" err="1"/>
              <a:t>clasei</a:t>
            </a:r>
            <a:r>
              <a:rPr lang="en-US" dirty="0"/>
              <a:t> </a:t>
            </a:r>
            <a:r>
              <a:rPr lang="en-US" b="1" dirty="0"/>
              <a:t>Executors (</a:t>
            </a:r>
            <a:r>
              <a:rPr lang="en-US" dirty="0"/>
              <a:t>care </a:t>
            </a:r>
            <a:r>
              <a:rPr lang="en-US" dirty="0" err="1"/>
              <a:t>intoarce</a:t>
            </a:r>
            <a:r>
              <a:rPr lang="en-US" dirty="0"/>
              <a:t> o</a:t>
            </a:r>
          </a:p>
          <a:p>
            <a:r>
              <a:rPr lang="en-US" dirty="0" err="1"/>
              <a:t>instanta</a:t>
            </a:r>
            <a:r>
              <a:rPr lang="en-US" dirty="0"/>
              <a:t> a </a:t>
            </a:r>
            <a:r>
              <a:rPr lang="en-US" dirty="0" err="1"/>
              <a:t>interfetei</a:t>
            </a:r>
            <a:r>
              <a:rPr lang="en-US" b="1" dirty="0"/>
              <a:t> </a:t>
            </a:r>
            <a:r>
              <a:rPr lang="en-US" b="1" dirty="0" err="1"/>
              <a:t>ExecutorService</a:t>
            </a:r>
            <a:r>
              <a:rPr lang="en-US" b="1" dirty="0"/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6301" y="4657044"/>
            <a:ext cx="2171364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Crearea</a:t>
            </a:r>
            <a:r>
              <a:rPr lang="en-US" dirty="0"/>
              <a:t> thread-</a:t>
            </a:r>
            <a:r>
              <a:rPr lang="en-US" dirty="0" err="1"/>
              <a:t>urilor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17820" y="2738363"/>
            <a:ext cx="11032035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ExecutorService</a:t>
            </a:r>
            <a:r>
              <a:rPr lang="en-US" sz="2400" dirty="0"/>
              <a:t>  </a:t>
            </a:r>
            <a:r>
              <a:rPr lang="en-US" sz="2400" dirty="0" err="1"/>
              <a:t>asigura</a:t>
            </a:r>
            <a:r>
              <a:rPr lang="en-US" sz="2400" dirty="0"/>
              <a:t> </a:t>
            </a:r>
            <a:r>
              <a:rPr lang="en-US" sz="2400" dirty="0" err="1"/>
              <a:t>crearea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managementul</a:t>
            </a:r>
            <a:r>
              <a:rPr lang="en-US" sz="2400" dirty="0"/>
              <a:t>   </a:t>
            </a:r>
            <a:r>
              <a:rPr lang="en-US" sz="2400" dirty="0" err="1"/>
              <a:t>unei</a:t>
            </a:r>
            <a:r>
              <a:rPr lang="en-US" sz="2400" dirty="0"/>
              <a:t>  piscine de thread-</a:t>
            </a:r>
            <a:r>
              <a:rPr lang="en-US" sz="2400" dirty="0" err="1"/>
              <a:t>uri</a:t>
            </a:r>
            <a:r>
              <a:rPr lang="en-US" sz="2400" dirty="0"/>
              <a:t>.</a:t>
            </a:r>
          </a:p>
          <a:p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817F0F-32B6-4369-BAC4-36B34BA9A1DE}"/>
              </a:ext>
            </a:extLst>
          </p:cNvPr>
          <p:cNvSpPr txBox="1"/>
          <p:nvPr/>
        </p:nvSpPr>
        <p:spPr>
          <a:xfrm>
            <a:off x="396870" y="198309"/>
            <a:ext cx="35099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Framework-</a:t>
            </a:r>
            <a:r>
              <a:rPr lang="en-US" sz="2400" dirty="0" err="1"/>
              <a:t>ul</a:t>
            </a:r>
            <a:r>
              <a:rPr lang="en-US" sz="2400" dirty="0"/>
              <a:t>  </a:t>
            </a:r>
            <a:r>
              <a:rPr lang="en-US" sz="2400" dirty="0">
                <a:highlight>
                  <a:srgbClr val="00FF00"/>
                </a:highlight>
              </a:rPr>
              <a:t> Executor</a:t>
            </a:r>
            <a:endParaRPr lang="en-GB" sz="2400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52973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50156" y="1293071"/>
            <a:ext cx="3519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Metode ale </a:t>
            </a:r>
            <a:r>
              <a:rPr lang="en-US" sz="2000" dirty="0" err="1"/>
              <a:t>clasei</a:t>
            </a:r>
            <a:r>
              <a:rPr lang="en-US" sz="2000" dirty="0"/>
              <a:t> </a:t>
            </a:r>
            <a:r>
              <a:rPr lang="en-US" sz="2000" b="1" dirty="0"/>
              <a:t>Executors</a:t>
            </a:r>
            <a:r>
              <a:rPr lang="en-US" sz="2000" dirty="0"/>
              <a:t>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0156" y="120828"/>
            <a:ext cx="6207760" cy="1015663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interface Executor</a:t>
            </a:r>
          </a:p>
          <a:p>
            <a:r>
              <a:rPr lang="en-US" sz="2000" dirty="0"/>
              <a:t>public interface </a:t>
            </a:r>
            <a:r>
              <a:rPr lang="en-US" sz="2000" dirty="0" err="1"/>
              <a:t>ExecutorService</a:t>
            </a:r>
            <a:r>
              <a:rPr lang="en-US" sz="2000" dirty="0"/>
              <a:t> extends Executor</a:t>
            </a:r>
          </a:p>
          <a:p>
            <a:r>
              <a:rPr lang="en-US" sz="2000" dirty="0"/>
              <a:t>public class Executors extends Object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1BAF06-5877-6BDB-69AB-7EFEA2CB373C}"/>
              </a:ext>
            </a:extLst>
          </p:cNvPr>
          <p:cNvSpPr txBox="1"/>
          <p:nvPr/>
        </p:nvSpPr>
        <p:spPr>
          <a:xfrm>
            <a:off x="346711" y="1693181"/>
            <a:ext cx="11810965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b="1" dirty="0" err="1"/>
              <a:t>newSingleThreadExecutor</a:t>
            </a:r>
            <a:r>
              <a:rPr lang="en-US" sz="2000" b="1" dirty="0"/>
              <a:t>()</a:t>
            </a:r>
          </a:p>
          <a:p>
            <a:pPr>
              <a:defRPr/>
            </a:pPr>
            <a:r>
              <a:rPr lang="en-US" sz="2000" b="1" dirty="0"/>
              <a:t> </a:t>
            </a:r>
            <a:r>
              <a:rPr lang="en-US" b="1" dirty="0"/>
              <a:t>"</a:t>
            </a:r>
            <a:r>
              <a:rPr lang="en-GB" dirty="0"/>
              <a:t>Creates an Executor that uses a single worker thread operating off an unbounded queue. (Note however that if this single thread terminates due to a failure during execution prior to shutdown, a new one will take its place if needed to execute subsequent tasks.)</a:t>
            </a:r>
            <a:r>
              <a:rPr lang="en-US" b="1" dirty="0"/>
              <a:t>" </a:t>
            </a:r>
          </a:p>
          <a:p>
            <a:pPr marL="1200150" lvl="2" indent="-285750">
              <a:buFont typeface="Wingdings" panose="05000000000000000000" pitchFamily="2" charset="2"/>
              <a:buChar char="§"/>
              <a:defRPr/>
            </a:pPr>
            <a:r>
              <a:rPr lang="en-US" dirty="0"/>
              <a:t>Un thread (normal) </a:t>
            </a:r>
            <a:r>
              <a:rPr lang="en-US" dirty="0" err="1"/>
              <a:t>executa</a:t>
            </a:r>
            <a:r>
              <a:rPr lang="en-US" dirty="0"/>
              <a:t> un </a:t>
            </a:r>
            <a:r>
              <a:rPr lang="en-US" dirty="0" err="1"/>
              <a:t>singur</a:t>
            </a:r>
            <a:r>
              <a:rPr lang="en-US" dirty="0"/>
              <a:t> task, </a:t>
            </a:r>
            <a:r>
              <a:rPr lang="en-US" dirty="0" err="1"/>
              <a:t>dar</a:t>
            </a:r>
            <a:r>
              <a:rPr lang="en-US" dirty="0"/>
              <a:t> un thread </a:t>
            </a:r>
            <a:r>
              <a:rPr lang="en-US" dirty="0" err="1"/>
              <a:t>creat</a:t>
            </a:r>
            <a:r>
              <a:rPr lang="en-US" dirty="0"/>
              <a:t> cu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metoda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executa</a:t>
            </a:r>
            <a:r>
              <a:rPr lang="en-US" dirty="0"/>
              <a:t> </a:t>
            </a:r>
            <a:r>
              <a:rPr lang="en-US" dirty="0" err="1"/>
              <a:t>secvential</a:t>
            </a:r>
            <a:r>
              <a:rPr lang="en-US" dirty="0"/>
              <a:t> o </a:t>
            </a:r>
            <a:r>
              <a:rPr lang="en-US" dirty="0" err="1"/>
              <a:t>serie</a:t>
            </a:r>
            <a:r>
              <a:rPr lang="en-US" dirty="0"/>
              <a:t> de    task-</a:t>
            </a:r>
            <a:r>
              <a:rPr lang="en-US" dirty="0" err="1"/>
              <a:t>uri</a:t>
            </a:r>
            <a:r>
              <a:rPr lang="en-US" dirty="0"/>
              <a:t>.</a:t>
            </a:r>
          </a:p>
          <a:p>
            <a:pPr>
              <a:defRPr/>
            </a:pP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newCachedThreadPool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</a:t>
            </a:r>
            <a:endParaRPr lang="en-US" sz="2000" b="1" dirty="0">
              <a:solidFill>
                <a:srgbClr val="000000"/>
              </a:solidFill>
              <a:latin typeface="Calibri" panose="020F0502020204030204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"Creates a thread pool that creates new threads as needed, but will reuse previously constructed threads 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dirty="0">
                <a:solidFill>
                  <a:srgbClr val="000000"/>
                </a:solidFill>
                <a:latin typeface="Calibri" panose="020F0502020204030204"/>
              </a:rPr>
              <a:t> 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they are available. These pools will typically improve the performance of programs that execute many short-lived asynchronous tasks."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newFixedThreadPool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poolSize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"Creates a thread pool that reuses a fixed number of threads operating off a shared unbounded queue.</a:t>
            </a:r>
          </a:p>
          <a:p>
            <a:pPr>
              <a:defRPr/>
            </a:pP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At any point, at most n Threads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threads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will be active processing tasks. If additional tasks are submitted when all threads are active, they will wait in the queue until a thread is available."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3772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88772" y="1684076"/>
            <a:ext cx="8073082" cy="132343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newSingleThreadExecutor</a:t>
            </a:r>
            <a:r>
              <a:rPr lang="en-US" sz="2000" b="1" dirty="0"/>
              <a:t>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newCachedThreadPool</a:t>
            </a:r>
            <a:r>
              <a:rPr lang="en-US" sz="2000" b="1" dirty="0"/>
              <a:t>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newFixedThreadPool</a:t>
            </a:r>
            <a:r>
              <a:rPr lang="en-US" sz="2000" b="1" dirty="0"/>
              <a:t>(</a:t>
            </a:r>
            <a:r>
              <a:rPr lang="en-US" sz="2000" b="1" dirty="0" err="1"/>
              <a:t>poolSize</a:t>
            </a:r>
            <a:r>
              <a:rPr lang="en-US" sz="2000" b="1" dirty="0"/>
              <a:t>)</a:t>
            </a:r>
          </a:p>
          <a:p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86395" y="1210728"/>
            <a:ext cx="35192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Metode ale </a:t>
            </a:r>
            <a:r>
              <a:rPr lang="en-US" sz="2000" dirty="0" err="1"/>
              <a:t>clasei</a:t>
            </a:r>
            <a:r>
              <a:rPr lang="en-US" sz="2000" dirty="0"/>
              <a:t> </a:t>
            </a:r>
            <a:r>
              <a:rPr lang="en-US" sz="2000" b="1" dirty="0"/>
              <a:t>Executors</a:t>
            </a:r>
            <a:r>
              <a:rPr lang="en-US" sz="2000" dirty="0"/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95" y="2630430"/>
            <a:ext cx="11810965" cy="34778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Metode ale </a:t>
            </a:r>
            <a:r>
              <a:rPr lang="en-US" sz="2000" dirty="0" err="1"/>
              <a:t>interfetei</a:t>
            </a:r>
            <a:r>
              <a:rPr lang="en-US" sz="2000" dirty="0"/>
              <a:t> </a:t>
            </a:r>
            <a:r>
              <a:rPr lang="en-US" sz="2000" b="1" dirty="0" err="1"/>
              <a:t>ExecutorService</a:t>
            </a:r>
            <a:endParaRPr lang="en-US" sz="2000" b="1" dirty="0"/>
          </a:p>
          <a:p>
            <a:endParaRPr lang="en-US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 shutdown()  </a:t>
            </a:r>
          </a:p>
          <a:p>
            <a:pPr lvl="1"/>
            <a:r>
              <a:rPr lang="en-US" sz="2000" b="1" dirty="0"/>
              <a:t>      </a:t>
            </a:r>
            <a:r>
              <a:rPr lang="en-US" sz="2000" dirty="0"/>
              <a:t> </a:t>
            </a:r>
            <a:r>
              <a:rPr lang="en-US" sz="2000" dirty="0" err="1"/>
              <a:t>serviciul</a:t>
            </a:r>
            <a:r>
              <a:rPr lang="en-US" sz="2000" dirty="0"/>
              <a:t> nu </a:t>
            </a:r>
            <a:r>
              <a:rPr lang="en-US" sz="2000" dirty="0" err="1"/>
              <a:t>primeste</a:t>
            </a:r>
            <a:r>
              <a:rPr lang="en-US" sz="2000" dirty="0"/>
              <a:t> task-</a:t>
            </a:r>
            <a:r>
              <a:rPr lang="en-US" sz="2000" dirty="0" err="1"/>
              <a:t>uri</a:t>
            </a:r>
            <a:r>
              <a:rPr lang="en-US" sz="2000" dirty="0"/>
              <a:t> </a:t>
            </a:r>
            <a:r>
              <a:rPr lang="en-US" sz="2000" dirty="0" err="1"/>
              <a:t>noi</a:t>
            </a:r>
            <a:r>
              <a:rPr lang="en-US" sz="2000" dirty="0"/>
              <a:t>,  </a:t>
            </a:r>
            <a:r>
              <a:rPr lang="en-US" sz="2000" dirty="0" err="1"/>
              <a:t>dar</a:t>
            </a:r>
            <a:r>
              <a:rPr lang="en-US" sz="2000" dirty="0"/>
              <a:t> </a:t>
            </a:r>
            <a:r>
              <a:rPr lang="en-US" sz="2000" dirty="0" err="1"/>
              <a:t>executa</a:t>
            </a:r>
            <a:r>
              <a:rPr lang="en-US" sz="2000" dirty="0"/>
              <a:t> task-urile </a:t>
            </a:r>
            <a:r>
              <a:rPr lang="en-US" sz="2000" dirty="0" err="1"/>
              <a:t>deja</a:t>
            </a:r>
            <a:r>
              <a:rPr lang="en-US" sz="2000" dirty="0"/>
              <a:t> </a:t>
            </a:r>
            <a:r>
              <a:rPr lang="en-US" sz="2000" dirty="0" err="1"/>
              <a:t>primite</a:t>
            </a:r>
            <a:endParaRPr lang="en-US" sz="2000" b="1" dirty="0"/>
          </a:p>
          <a:p>
            <a:pPr lvl="1"/>
            <a:endParaRPr lang="en-US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shutdownNow</a:t>
            </a:r>
            <a:r>
              <a:rPr lang="en-US" sz="2000" b="1" dirty="0"/>
              <a:t>() </a:t>
            </a:r>
          </a:p>
          <a:p>
            <a:pPr lvl="1"/>
            <a:r>
              <a:rPr lang="en-US" sz="2000" b="1" dirty="0"/>
              <a:t>      		</a:t>
            </a:r>
            <a:r>
              <a:rPr lang="en-US" sz="2000" dirty="0"/>
              <a:t> </a:t>
            </a:r>
            <a:r>
              <a:rPr lang="en-US" sz="2000" dirty="0" err="1"/>
              <a:t>terminarea</a:t>
            </a:r>
            <a:r>
              <a:rPr lang="en-US" sz="2000" dirty="0"/>
              <a:t> </a:t>
            </a:r>
            <a:r>
              <a:rPr lang="en-US" sz="2000" dirty="0" err="1"/>
              <a:t>serviciului</a:t>
            </a:r>
            <a:r>
              <a:rPr lang="en-US" sz="2000" dirty="0"/>
              <a:t>, </a:t>
            </a:r>
            <a:r>
              <a:rPr lang="en-US" sz="2000" dirty="0" err="1"/>
              <a:t>fara</a:t>
            </a:r>
            <a:r>
              <a:rPr lang="en-US" sz="2000" dirty="0"/>
              <a:t> a </a:t>
            </a:r>
            <a:r>
              <a:rPr lang="en-US" sz="2000" dirty="0" err="1"/>
              <a:t>permite</a:t>
            </a:r>
            <a:r>
              <a:rPr lang="en-US" sz="2000" dirty="0"/>
              <a:t> </a:t>
            </a:r>
            <a:r>
              <a:rPr lang="en-US" sz="2000" dirty="0" err="1"/>
              <a:t>finalizarea</a:t>
            </a:r>
            <a:r>
              <a:rPr lang="en-US" sz="2000" dirty="0"/>
              <a:t> </a:t>
            </a:r>
            <a:r>
              <a:rPr lang="en-US" sz="2000" dirty="0" err="1"/>
              <a:t>executiilor</a:t>
            </a:r>
            <a:endParaRPr lang="en-US" sz="2000" dirty="0"/>
          </a:p>
          <a:p>
            <a:pPr lvl="1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awaitTermination</a:t>
            </a:r>
            <a:r>
              <a:rPr lang="en-US" sz="2000" b="1" dirty="0"/>
              <a:t>(long timeout, </a:t>
            </a:r>
            <a:r>
              <a:rPr lang="en-US" sz="2000" b="1" dirty="0" err="1"/>
              <a:t>TimeUnit</a:t>
            </a:r>
            <a:r>
              <a:rPr lang="en-US" sz="2000" b="1" dirty="0"/>
              <a:t> unit) </a:t>
            </a:r>
          </a:p>
          <a:p>
            <a:pPr lvl="1"/>
            <a:r>
              <a:rPr lang="en-US" sz="2000" b="1" dirty="0"/>
              <a:t>      		</a:t>
            </a:r>
            <a:r>
              <a:rPr lang="en-US" sz="2000" dirty="0" err="1"/>
              <a:t>pentru</a:t>
            </a:r>
            <a:r>
              <a:rPr lang="en-US" sz="2000" dirty="0"/>
              <a:t> a  </a:t>
            </a:r>
            <a:r>
              <a:rPr lang="en-US" sz="2000" dirty="0" err="1"/>
              <a:t>permite</a:t>
            </a:r>
            <a:r>
              <a:rPr lang="en-US" sz="2000" dirty="0"/>
              <a:t> </a:t>
            </a:r>
            <a:r>
              <a:rPr lang="en-US" sz="2000" dirty="0" err="1"/>
              <a:t>finalizarea</a:t>
            </a:r>
            <a:r>
              <a:rPr lang="en-US" sz="2000" dirty="0"/>
              <a:t> </a:t>
            </a:r>
            <a:r>
              <a:rPr lang="en-US" sz="2000" dirty="0" err="1"/>
              <a:t>executiilor</a:t>
            </a:r>
            <a:r>
              <a:rPr lang="en-US" sz="2000" dirty="0"/>
              <a:t>, </a:t>
            </a:r>
            <a:r>
              <a:rPr lang="en-US" sz="2000" dirty="0" err="1"/>
              <a:t>impunand</a:t>
            </a:r>
            <a:r>
              <a:rPr lang="en-US" sz="2000" dirty="0"/>
              <a:t> o </a:t>
            </a:r>
            <a:r>
              <a:rPr lang="en-US" sz="2000" dirty="0" err="1"/>
              <a:t>limita</a:t>
            </a:r>
            <a:r>
              <a:rPr lang="en-US" sz="2000" dirty="0"/>
              <a:t> </a:t>
            </a:r>
            <a:r>
              <a:rPr lang="en-US" sz="2000" dirty="0" err="1"/>
              <a:t>temporara</a:t>
            </a:r>
            <a:endParaRPr lang="en-US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250156" y="120828"/>
            <a:ext cx="6207760" cy="1015663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interface Executor</a:t>
            </a:r>
          </a:p>
          <a:p>
            <a:r>
              <a:rPr lang="en-US" sz="2000" dirty="0"/>
              <a:t>public interface </a:t>
            </a:r>
            <a:r>
              <a:rPr lang="en-US" sz="2000" dirty="0" err="1"/>
              <a:t>ExecutorService</a:t>
            </a:r>
            <a:r>
              <a:rPr lang="en-US" sz="2000" dirty="0"/>
              <a:t> extends Executor</a:t>
            </a:r>
          </a:p>
          <a:p>
            <a:r>
              <a:rPr lang="en-US" sz="2000" dirty="0"/>
              <a:t>public class Executors extends Object</a:t>
            </a:r>
          </a:p>
        </p:txBody>
      </p:sp>
    </p:spTree>
    <p:extLst>
      <p:ext uri="{BB962C8B-B14F-4D97-AF65-F5344CB8AC3E}">
        <p14:creationId xmlns:p14="http://schemas.microsoft.com/office/powerpoint/2010/main" val="3779649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75735" y="55606"/>
            <a:ext cx="524207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err="1"/>
              <a:t>Metode</a:t>
            </a:r>
            <a:r>
              <a:rPr lang="en-US" sz="2400" dirty="0"/>
              <a:t> </a:t>
            </a:r>
            <a:r>
              <a:rPr lang="en-US" sz="2400" dirty="0" err="1"/>
              <a:t>sincronizate</a:t>
            </a:r>
            <a:endParaRPr lang="en-US" sz="2400" dirty="0"/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thread-</a:t>
            </a:r>
            <a:r>
              <a:rPr lang="en-US" dirty="0" err="1"/>
              <a:t>uri</a:t>
            </a:r>
            <a:r>
              <a:rPr lang="en-US" dirty="0"/>
              <a:t> care </a:t>
            </a:r>
            <a:r>
              <a:rPr lang="en-US" dirty="0" err="1"/>
              <a:t>incrementeaza</a:t>
            </a:r>
            <a:r>
              <a:rPr lang="en-US" dirty="0"/>
              <a:t> </a:t>
            </a:r>
            <a:r>
              <a:rPr lang="en-US" dirty="0" err="1"/>
              <a:t>acelasi</a:t>
            </a:r>
            <a:r>
              <a:rPr lang="en-US" dirty="0"/>
              <a:t> </a:t>
            </a:r>
            <a:r>
              <a:rPr lang="en-US" dirty="0" err="1"/>
              <a:t>contor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0A6BAD-1A97-434B-8CFA-1C9818525528}"/>
              </a:ext>
            </a:extLst>
          </p:cNvPr>
          <p:cNvSpPr txBox="1"/>
          <p:nvPr/>
        </p:nvSpPr>
        <p:spPr>
          <a:xfrm>
            <a:off x="1041400" y="1532364"/>
            <a:ext cx="7614920" cy="440120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GB" sz="2000" dirty="0"/>
              <a:t>public </a:t>
            </a:r>
            <a:r>
              <a:rPr lang="en-GB" sz="2000" b="1" dirty="0"/>
              <a:t>class Task  implements Runnable </a:t>
            </a:r>
            <a:r>
              <a:rPr lang="en-GB" sz="2000" dirty="0"/>
              <a:t>{</a:t>
            </a:r>
          </a:p>
          <a:p>
            <a:r>
              <a:rPr lang="en-GB" sz="2000" dirty="0"/>
              <a:t> static Integer counter = 0;</a:t>
            </a:r>
          </a:p>
          <a:p>
            <a:r>
              <a:rPr lang="en-GB" sz="2000" dirty="0"/>
              <a:t>     </a:t>
            </a:r>
          </a:p>
          <a:p>
            <a:r>
              <a:rPr lang="en-GB" sz="2000" dirty="0"/>
              <a:t>        public void run () {</a:t>
            </a:r>
          </a:p>
          <a:p>
            <a:r>
              <a:rPr lang="en-GB" sz="2000" dirty="0"/>
              <a:t>            for (int </a:t>
            </a:r>
            <a:r>
              <a:rPr lang="en-GB" sz="2000" dirty="0" err="1"/>
              <a:t>i</a:t>
            </a:r>
            <a:r>
              <a:rPr lang="en-GB" sz="2000" dirty="0"/>
              <a:t> = 0; </a:t>
            </a:r>
            <a:r>
              <a:rPr lang="en-GB" sz="2000" dirty="0" err="1"/>
              <a:t>i</a:t>
            </a:r>
            <a:r>
              <a:rPr lang="en-GB" sz="2000" dirty="0"/>
              <a:t> &lt; 5; </a:t>
            </a:r>
            <a:r>
              <a:rPr lang="en-GB" sz="2000" dirty="0" err="1"/>
              <a:t>i</a:t>
            </a:r>
            <a:r>
              <a:rPr lang="en-GB" sz="2000" dirty="0"/>
              <a:t>++) {</a:t>
            </a:r>
          </a:p>
          <a:p>
            <a:r>
              <a:rPr lang="en-GB" sz="2000" dirty="0"/>
              <a:t>                </a:t>
            </a:r>
            <a:r>
              <a:rPr lang="en-GB" sz="2000" dirty="0" err="1"/>
              <a:t>performTask</a:t>
            </a:r>
            <a:r>
              <a:rPr lang="en-GB" sz="2000" dirty="0"/>
              <a:t>();</a:t>
            </a:r>
          </a:p>
          <a:p>
            <a:r>
              <a:rPr lang="en-GB" sz="2000" dirty="0"/>
              <a:t>            }}</a:t>
            </a:r>
          </a:p>
          <a:p>
            <a:r>
              <a:rPr lang="en-GB" sz="2000" dirty="0"/>
              <a:t>    </a:t>
            </a:r>
            <a:br>
              <a:rPr lang="en-GB" sz="2000" dirty="0"/>
            </a:br>
            <a:r>
              <a:rPr lang="en-GB" sz="2000" dirty="0"/>
              <a:t>private </a:t>
            </a:r>
            <a:r>
              <a:rPr lang="en-GB" sz="2000" b="1" dirty="0"/>
              <a:t>synchronized</a:t>
            </a:r>
            <a:r>
              <a:rPr lang="en-GB" sz="2000" dirty="0"/>
              <a:t> void </a:t>
            </a:r>
            <a:r>
              <a:rPr lang="en-GB" sz="2000" dirty="0" err="1"/>
              <a:t>performTask</a:t>
            </a:r>
            <a:r>
              <a:rPr lang="en-GB" sz="2000" dirty="0"/>
              <a:t> () {</a:t>
            </a:r>
          </a:p>
          <a:p>
            <a:r>
              <a:rPr lang="en-GB" sz="2000" dirty="0"/>
              <a:t>        int temp = counter;</a:t>
            </a:r>
          </a:p>
          <a:p>
            <a:r>
              <a:rPr lang="en-GB" sz="2000" dirty="0"/>
              <a:t>        counter++;</a:t>
            </a:r>
          </a:p>
          <a:p>
            <a:r>
              <a:rPr lang="en-GB" sz="2000" dirty="0"/>
              <a:t>        </a:t>
            </a:r>
            <a:r>
              <a:rPr lang="en-GB" sz="2000" dirty="0" err="1"/>
              <a:t>System.out.println</a:t>
            </a:r>
            <a:r>
              <a:rPr lang="en-GB" sz="2000" dirty="0"/>
              <a:t>(</a:t>
            </a:r>
            <a:r>
              <a:rPr lang="en-GB" sz="2000" dirty="0" err="1"/>
              <a:t>Thread.currentThread</a:t>
            </a:r>
            <a:r>
              <a:rPr lang="en-GB" sz="2000" dirty="0"/>
              <a:t>()</a:t>
            </a:r>
          </a:p>
          <a:p>
            <a:r>
              <a:rPr lang="en-GB" sz="2000" dirty="0"/>
              <a:t>                                 .</a:t>
            </a:r>
            <a:r>
              <a:rPr lang="en-GB" sz="2000" dirty="0" err="1"/>
              <a:t>getName</a:t>
            </a:r>
            <a:r>
              <a:rPr lang="en-GB" sz="2000" dirty="0"/>
              <a:t>() + " - before: "+temp+" after:" + counter);}</a:t>
            </a:r>
          </a:p>
          <a:p>
            <a:r>
              <a:rPr lang="en-GB" sz="2000" dirty="0"/>
              <a:t>public static void main (String[] </a:t>
            </a:r>
            <a:r>
              <a:rPr lang="en-GB" sz="2000" dirty="0" err="1"/>
              <a:t>args</a:t>
            </a:r>
            <a:r>
              <a:rPr lang="en-GB" sz="2000" dirty="0"/>
              <a:t>) {.. }}</a:t>
            </a:r>
          </a:p>
        </p:txBody>
      </p:sp>
    </p:spTree>
    <p:extLst>
      <p:ext uri="{BB962C8B-B14F-4D97-AF65-F5344CB8AC3E}">
        <p14:creationId xmlns:p14="http://schemas.microsoft.com/office/powerpoint/2010/main" val="111021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75735" y="55606"/>
            <a:ext cx="58621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err="1"/>
              <a:t>Generarea</a:t>
            </a:r>
            <a:r>
              <a:rPr lang="en-US" sz="2400" dirty="0"/>
              <a:t> thread-</a:t>
            </a:r>
            <a:r>
              <a:rPr lang="en-US" sz="2400" dirty="0" err="1"/>
              <a:t>urilor</a:t>
            </a:r>
            <a:r>
              <a:rPr lang="en-US" sz="2400" dirty="0"/>
              <a:t> </a:t>
            </a:r>
            <a:r>
              <a:rPr lang="en-US" sz="2400" dirty="0" err="1"/>
              <a:t>folosind</a:t>
            </a:r>
            <a:r>
              <a:rPr lang="en-US" sz="2400" dirty="0"/>
              <a:t> Executor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0A6BAD-1A97-434B-8CFA-1C9818525528}"/>
              </a:ext>
            </a:extLst>
          </p:cNvPr>
          <p:cNvSpPr txBox="1"/>
          <p:nvPr/>
        </p:nvSpPr>
        <p:spPr>
          <a:xfrm>
            <a:off x="521455" y="828288"/>
            <a:ext cx="5816398" cy="163121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GB" sz="2000" dirty="0"/>
              <a:t> public static void main (String[] </a:t>
            </a:r>
            <a:r>
              <a:rPr lang="en-GB" sz="2000" dirty="0" err="1"/>
              <a:t>args</a:t>
            </a:r>
            <a:r>
              <a:rPr lang="en-GB" sz="2000" dirty="0"/>
              <a:t>) {</a:t>
            </a:r>
          </a:p>
          <a:p>
            <a:r>
              <a:rPr lang="en-GB" sz="2000" dirty="0"/>
              <a:t>        Thread thread1 = new Thread(new Task());</a:t>
            </a:r>
          </a:p>
          <a:p>
            <a:r>
              <a:rPr lang="en-GB" sz="2000" dirty="0"/>
              <a:t>        Thread thread2 = new Thread(new Task());</a:t>
            </a:r>
            <a:br>
              <a:rPr lang="en-GB" sz="2000" dirty="0"/>
            </a:br>
            <a:r>
              <a:rPr lang="en-GB" sz="2000" dirty="0"/>
              <a:t>        thread1.start(); thread2.start();</a:t>
            </a:r>
          </a:p>
          <a:p>
            <a:r>
              <a:rPr lang="en-GB" sz="2000" dirty="0"/>
              <a:t>        thread1.join(); thread2.join();  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E2B4EF-F7DD-4A0F-B350-BB45F3FA7881}"/>
              </a:ext>
            </a:extLst>
          </p:cNvPr>
          <p:cNvSpPr txBox="1"/>
          <p:nvPr/>
        </p:nvSpPr>
        <p:spPr>
          <a:xfrm>
            <a:off x="475735" y="3274884"/>
            <a:ext cx="6953314" cy="249299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import </a:t>
            </a:r>
            <a:r>
              <a:rPr lang="en-US" dirty="0" err="1"/>
              <a:t>java.util.concurrent</a:t>
            </a:r>
            <a:r>
              <a:rPr lang="en-US" dirty="0"/>
              <a:t>.*;</a:t>
            </a:r>
          </a:p>
          <a:p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GB" sz="2000" dirty="0"/>
              <a:t>public static void main (String[] </a:t>
            </a:r>
            <a:r>
              <a:rPr lang="en-GB" sz="2000" dirty="0" err="1"/>
              <a:t>args</a:t>
            </a:r>
            <a:r>
              <a:rPr lang="en-GB" sz="2000" dirty="0"/>
              <a:t>)  {</a:t>
            </a:r>
          </a:p>
          <a:p>
            <a:r>
              <a:rPr lang="en-GB" sz="2000" dirty="0"/>
              <a:t>        </a:t>
            </a:r>
          </a:p>
          <a:p>
            <a:r>
              <a:rPr lang="en-GB" sz="2000" b="1" dirty="0"/>
              <a:t>        </a:t>
            </a:r>
            <a:r>
              <a:rPr lang="en-GB" sz="2000" b="1" dirty="0" err="1"/>
              <a:t>ExecutorService</a:t>
            </a:r>
            <a:r>
              <a:rPr lang="en-GB" sz="2000" b="1" dirty="0"/>
              <a:t>  pool = </a:t>
            </a:r>
            <a:r>
              <a:rPr lang="en-GB" sz="2000" b="1" dirty="0" err="1"/>
              <a:t>Executors.newCachedThreadPool</a:t>
            </a:r>
            <a:r>
              <a:rPr lang="en-GB" sz="2000" b="1" dirty="0"/>
              <a:t>();</a:t>
            </a:r>
          </a:p>
          <a:p>
            <a:r>
              <a:rPr lang="en-GB" sz="2000" dirty="0"/>
              <a:t>        for(int </a:t>
            </a:r>
            <a:r>
              <a:rPr lang="en-GB" sz="2000" dirty="0" err="1"/>
              <a:t>i</a:t>
            </a:r>
            <a:r>
              <a:rPr lang="en-GB" sz="2000" dirty="0"/>
              <a:t>=0;i&lt;2;i++) {</a:t>
            </a:r>
            <a:r>
              <a:rPr lang="en-GB" sz="2000" b="1" dirty="0" err="1"/>
              <a:t>pool.execute</a:t>
            </a:r>
            <a:r>
              <a:rPr lang="en-GB" sz="2000" dirty="0"/>
              <a:t>(new Task());}</a:t>
            </a:r>
          </a:p>
          <a:p>
            <a:r>
              <a:rPr lang="en-GB" sz="2000" dirty="0"/>
              <a:t>        </a:t>
            </a:r>
            <a:r>
              <a:rPr lang="en-GB" sz="2000" b="1" dirty="0" err="1"/>
              <a:t>pool.shutdown</a:t>
            </a:r>
            <a:r>
              <a:rPr lang="en-GB" sz="2000" b="1" dirty="0"/>
              <a:t>();         </a:t>
            </a:r>
          </a:p>
          <a:p>
            <a:r>
              <a:rPr lang="en-GB" sz="2000" dirty="0"/>
              <a:t>}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AD63D8FE-3A34-A00A-02DE-E73310AC12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48863" y="392233"/>
          <a:ext cx="2915544" cy="2239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2082960" imgH="1600200" progId="Paint.Picture">
                  <p:embed/>
                </p:oleObj>
              </mc:Choice>
              <mc:Fallback>
                <p:oleObj name="Bitmap Image" r:id="rId2" imgW="2082960" imgH="1600200" progId="Paint.Picture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AD63D8FE-3A34-A00A-02DE-E73310AC12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948863" y="392233"/>
                        <a:ext cx="2915544" cy="22399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99FF1252-DB70-6709-F641-86376980B5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2719" y="3297416"/>
            <a:ext cx="4143375" cy="24479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AEFB48-9E1D-BB46-B36C-760DF320A8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8400" y="5658082"/>
            <a:ext cx="4273666" cy="4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1503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69969" y="353534"/>
            <a:ext cx="6459152" cy="1938992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GB" sz="2000" dirty="0"/>
              <a:t>public static void main (String[] </a:t>
            </a:r>
            <a:r>
              <a:rPr lang="en-GB" sz="2000" dirty="0" err="1"/>
              <a:t>args</a:t>
            </a:r>
            <a:r>
              <a:rPr lang="en-GB" sz="2000" dirty="0"/>
              <a:t>)  {</a:t>
            </a:r>
          </a:p>
          <a:p>
            <a:r>
              <a:rPr lang="en-GB" sz="2000" dirty="0"/>
              <a:t>        </a:t>
            </a:r>
            <a:r>
              <a:rPr lang="en-GB" sz="2000" dirty="0" err="1"/>
              <a:t>ExecutorService</a:t>
            </a:r>
            <a:r>
              <a:rPr lang="en-GB" sz="2000" dirty="0"/>
              <a:t> pool = </a:t>
            </a:r>
            <a:r>
              <a:rPr lang="en-GB" sz="2000" dirty="0" err="1"/>
              <a:t>Executors.newFixedThreadPool</a:t>
            </a:r>
            <a:r>
              <a:rPr lang="en-GB" sz="2000" dirty="0"/>
              <a:t>(</a:t>
            </a:r>
            <a:r>
              <a:rPr lang="en-GB" sz="2000" b="1" dirty="0">
                <a:solidFill>
                  <a:srgbClr val="00B050"/>
                </a:solidFill>
              </a:rPr>
              <a:t>2</a:t>
            </a:r>
            <a:r>
              <a:rPr lang="en-GB" sz="2000" dirty="0"/>
              <a:t>);</a:t>
            </a:r>
          </a:p>
          <a:p>
            <a:r>
              <a:rPr lang="en-GB" sz="2000" dirty="0"/>
              <a:t>        for(int </a:t>
            </a:r>
            <a:r>
              <a:rPr lang="en-GB" sz="2000" dirty="0" err="1"/>
              <a:t>i</a:t>
            </a:r>
            <a:r>
              <a:rPr lang="en-GB" sz="2000" dirty="0"/>
              <a:t>=0;i&lt;</a:t>
            </a:r>
            <a:r>
              <a:rPr lang="en-GB" sz="2000" b="1" dirty="0">
                <a:solidFill>
                  <a:srgbClr val="00B050"/>
                </a:solidFill>
              </a:rPr>
              <a:t>3</a:t>
            </a:r>
            <a:r>
              <a:rPr lang="en-GB" sz="2000" dirty="0"/>
              <a:t>;i++) {</a:t>
            </a:r>
            <a:r>
              <a:rPr lang="en-GB" sz="2000" dirty="0" err="1"/>
              <a:t>pool.execute</a:t>
            </a:r>
            <a:r>
              <a:rPr lang="en-GB" sz="2000" dirty="0"/>
              <a:t>(new Task());}</a:t>
            </a:r>
          </a:p>
          <a:p>
            <a:r>
              <a:rPr lang="en-GB" sz="2000" dirty="0"/>
              <a:t>        </a:t>
            </a:r>
            <a:r>
              <a:rPr lang="en-GB" sz="2000" dirty="0" err="1"/>
              <a:t>demo.shutdown</a:t>
            </a:r>
            <a:r>
              <a:rPr lang="en-GB" sz="2000" dirty="0"/>
              <a:t>();         </a:t>
            </a:r>
          </a:p>
          <a:p>
            <a:r>
              <a:rPr lang="en-GB" sz="2000" dirty="0"/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490522-0E08-908A-992F-E746AD018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866" y="1752599"/>
            <a:ext cx="5696268" cy="45261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B6ED6C-78AD-C403-61AA-053624243E33}"/>
              </a:ext>
            </a:extLst>
          </p:cNvPr>
          <p:cNvSpPr txBox="1"/>
          <p:nvPr/>
        </p:nvSpPr>
        <p:spPr>
          <a:xfrm>
            <a:off x="8696960" y="2865120"/>
            <a:ext cx="3182410" cy="101566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sunt create 2 thread-</a:t>
            </a:r>
            <a:r>
              <a:rPr lang="en-US" sz="2000" dirty="0" err="1"/>
              <a:t>uri</a:t>
            </a:r>
            <a:r>
              <a:rPr lang="en-US" sz="2000" dirty="0"/>
              <a:t>, </a:t>
            </a:r>
            <a:r>
              <a:rPr lang="en-US" sz="2000" dirty="0" err="1"/>
              <a:t>dar</a:t>
            </a:r>
            <a:r>
              <a:rPr lang="en-US" sz="2000" dirty="0"/>
              <a:t> </a:t>
            </a:r>
          </a:p>
          <a:p>
            <a:r>
              <a:rPr lang="en-US" sz="2000" dirty="0" err="1"/>
              <a:t>avem</a:t>
            </a:r>
            <a:r>
              <a:rPr lang="en-US" sz="2000" dirty="0"/>
              <a:t> 3 task-</a:t>
            </a:r>
            <a:r>
              <a:rPr lang="en-US" sz="2000" dirty="0" err="1"/>
              <a:t>uri</a:t>
            </a:r>
            <a:r>
              <a:rPr lang="en-US" sz="2000" dirty="0"/>
              <a:t>, </a:t>
            </a:r>
            <a:r>
              <a:rPr lang="en-US" sz="2000" dirty="0" err="1"/>
              <a:t>deci</a:t>
            </a:r>
            <a:endParaRPr lang="en-US" sz="2000" dirty="0"/>
          </a:p>
          <a:p>
            <a:r>
              <a:rPr lang="en-US" sz="2000" dirty="0"/>
              <a:t>un thread </a:t>
            </a:r>
            <a:r>
              <a:rPr lang="en-US" sz="2000" dirty="0" err="1"/>
              <a:t>executa</a:t>
            </a:r>
            <a:r>
              <a:rPr lang="en-US" sz="2000" dirty="0"/>
              <a:t> 2 task-</a:t>
            </a:r>
            <a:r>
              <a:rPr lang="en-US" sz="2000" dirty="0" err="1"/>
              <a:t>uri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E1AF5E-7BFC-423B-A161-174C18F62DF5}"/>
              </a:ext>
            </a:extLst>
          </p:cNvPr>
          <p:cNvSpPr txBox="1"/>
          <p:nvPr/>
        </p:nvSpPr>
        <p:spPr>
          <a:xfrm>
            <a:off x="5781041" y="729901"/>
            <a:ext cx="3598549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in </a:t>
            </a:r>
            <a:r>
              <a:rPr lang="en-US" dirty="0" err="1"/>
              <a:t>metoda</a:t>
            </a:r>
            <a:r>
              <a:rPr lang="en-US" dirty="0"/>
              <a:t> run a </a:t>
            </a:r>
            <a:r>
              <a:rPr lang="en-US" dirty="0" err="1"/>
              <a:t>clasei</a:t>
            </a:r>
            <a:r>
              <a:rPr lang="en-US" dirty="0"/>
              <a:t> Task </a:t>
            </a:r>
            <a:r>
              <a:rPr lang="en-US" dirty="0" err="1"/>
              <a:t>contorul</a:t>
            </a:r>
            <a:r>
              <a:rPr lang="en-US" dirty="0"/>
              <a:t> </a:t>
            </a:r>
          </a:p>
          <a:p>
            <a:r>
              <a:rPr lang="en-US" dirty="0"/>
              <a:t>e </a:t>
            </a:r>
            <a:r>
              <a:rPr lang="en-US" dirty="0" err="1"/>
              <a:t>incrementat</a:t>
            </a:r>
            <a:r>
              <a:rPr lang="en-US" dirty="0"/>
              <a:t> de 5 </a:t>
            </a:r>
            <a:r>
              <a:rPr lang="en-US" dirty="0" err="1"/>
              <a:t>ori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2389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75735" y="55606"/>
            <a:ext cx="47864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B050"/>
                </a:solidFill>
              </a:rPr>
              <a:t>shutdown() </a:t>
            </a:r>
            <a:r>
              <a:rPr lang="en-US" sz="2400" dirty="0"/>
              <a:t>cu </a:t>
            </a:r>
            <a:r>
              <a:rPr lang="en-US" sz="2400" dirty="0" err="1">
                <a:solidFill>
                  <a:srgbClr val="00B050"/>
                </a:solidFill>
              </a:rPr>
              <a:t>awaitTermination</a:t>
            </a:r>
            <a:r>
              <a:rPr lang="en-US" sz="2400" dirty="0">
                <a:solidFill>
                  <a:srgbClr val="00B050"/>
                </a:solidFill>
              </a:rPr>
              <a:t>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E2B4EF-F7DD-4A0F-B350-BB45F3FA7881}"/>
              </a:ext>
            </a:extLst>
          </p:cNvPr>
          <p:cNvSpPr txBox="1"/>
          <p:nvPr/>
        </p:nvSpPr>
        <p:spPr>
          <a:xfrm>
            <a:off x="255906" y="1019364"/>
            <a:ext cx="8054974" cy="372409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import </a:t>
            </a:r>
            <a:r>
              <a:rPr lang="en-US" dirty="0" err="1"/>
              <a:t>java.util.concurrent</a:t>
            </a:r>
            <a:r>
              <a:rPr lang="en-US" dirty="0"/>
              <a:t>.*;</a:t>
            </a:r>
          </a:p>
          <a:p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r>
              <a:rPr lang="en-GB" sz="2000" dirty="0"/>
              <a:t>public static void main (String[] </a:t>
            </a:r>
            <a:r>
              <a:rPr lang="en-GB" sz="2000" dirty="0" err="1"/>
              <a:t>args</a:t>
            </a:r>
            <a:r>
              <a:rPr lang="en-GB" sz="2000" dirty="0"/>
              <a:t>)   </a:t>
            </a:r>
            <a:r>
              <a:rPr lang="en-GB" sz="2000" b="1" dirty="0"/>
              <a:t>throws </a:t>
            </a:r>
            <a:r>
              <a:rPr lang="en-GB" sz="2000" b="1" dirty="0" err="1"/>
              <a:t>InterruptedException</a:t>
            </a:r>
            <a:r>
              <a:rPr lang="en-GB" sz="2000" b="1" dirty="0"/>
              <a:t> </a:t>
            </a:r>
            <a:r>
              <a:rPr lang="en-GB" sz="2000" dirty="0"/>
              <a:t>{</a:t>
            </a:r>
          </a:p>
          <a:p>
            <a:r>
              <a:rPr lang="en-GB" sz="2000" dirty="0"/>
              <a:t>        </a:t>
            </a:r>
          </a:p>
          <a:p>
            <a:r>
              <a:rPr lang="en-GB" sz="2000" b="1" dirty="0"/>
              <a:t>        </a:t>
            </a:r>
            <a:r>
              <a:rPr lang="en-GB" sz="2000" dirty="0" err="1"/>
              <a:t>ExecutorService</a:t>
            </a:r>
            <a:r>
              <a:rPr lang="en-GB" sz="2000" dirty="0"/>
              <a:t>  pool = </a:t>
            </a:r>
            <a:r>
              <a:rPr lang="en-GB" sz="2000" dirty="0" err="1"/>
              <a:t>Executors.newCachedThreadPool</a:t>
            </a:r>
            <a:r>
              <a:rPr lang="en-GB" sz="2000" dirty="0"/>
              <a:t>();</a:t>
            </a:r>
          </a:p>
          <a:p>
            <a:r>
              <a:rPr lang="en-GB" sz="2000" dirty="0"/>
              <a:t>        for(int </a:t>
            </a:r>
            <a:r>
              <a:rPr lang="en-GB" sz="2000" dirty="0" err="1"/>
              <a:t>i</a:t>
            </a:r>
            <a:r>
              <a:rPr lang="en-GB" sz="2000" dirty="0"/>
              <a:t>=0;i&lt;2;i++) {</a:t>
            </a:r>
            <a:r>
              <a:rPr lang="en-GB" sz="2000" dirty="0" err="1"/>
              <a:t>pool.execute</a:t>
            </a:r>
            <a:r>
              <a:rPr lang="en-GB" sz="2000" dirty="0"/>
              <a:t>(new Task());}</a:t>
            </a:r>
          </a:p>
          <a:p>
            <a:r>
              <a:rPr lang="en-GB" sz="2000" dirty="0"/>
              <a:t>        </a:t>
            </a:r>
            <a:r>
              <a:rPr lang="en-GB" sz="2000" dirty="0" err="1"/>
              <a:t>pool.</a:t>
            </a:r>
            <a:r>
              <a:rPr lang="en-GB" sz="2000" b="1" dirty="0" err="1"/>
              <a:t>shutdown</a:t>
            </a:r>
            <a:r>
              <a:rPr lang="en-GB" sz="2000" b="1" dirty="0"/>
              <a:t>()</a:t>
            </a:r>
            <a:r>
              <a:rPr lang="en-GB" sz="2000" dirty="0"/>
              <a:t>;       </a:t>
            </a:r>
          </a:p>
          <a:p>
            <a:r>
              <a:rPr lang="en-GB" sz="2000" dirty="0"/>
              <a:t>         try {</a:t>
            </a:r>
          </a:p>
          <a:p>
            <a:r>
              <a:rPr lang="en-GB" sz="2000" dirty="0"/>
              <a:t>             if (!</a:t>
            </a:r>
            <a:r>
              <a:rPr lang="en-GB" sz="2000" dirty="0" err="1"/>
              <a:t>pool.</a:t>
            </a:r>
            <a:r>
              <a:rPr lang="en-GB" sz="2000" b="1" dirty="0" err="1"/>
              <a:t>awaitTermination</a:t>
            </a:r>
            <a:r>
              <a:rPr lang="en-GB" sz="2000" dirty="0"/>
              <a:t>(3500, </a:t>
            </a:r>
            <a:r>
              <a:rPr lang="en-GB" sz="2000" dirty="0" err="1"/>
              <a:t>TimeUnit.MILLISECONDS</a:t>
            </a:r>
            <a:r>
              <a:rPr lang="en-GB" sz="2000" dirty="0"/>
              <a:t>)) {</a:t>
            </a:r>
          </a:p>
          <a:p>
            <a:r>
              <a:rPr lang="en-GB" sz="2000" dirty="0"/>
              <a:t>                                 </a:t>
            </a:r>
            <a:r>
              <a:rPr lang="en-GB" sz="2000" dirty="0" err="1"/>
              <a:t>pool.</a:t>
            </a:r>
            <a:r>
              <a:rPr lang="en-GB" sz="2000" b="1" dirty="0" err="1"/>
              <a:t>shutdownNow</a:t>
            </a:r>
            <a:r>
              <a:rPr lang="en-GB" sz="2000" b="1" dirty="0"/>
              <a:t>()</a:t>
            </a:r>
            <a:r>
              <a:rPr lang="en-GB" sz="2000" dirty="0"/>
              <a:t>;  }                   </a:t>
            </a:r>
          </a:p>
          <a:p>
            <a:r>
              <a:rPr lang="en-GB" sz="2000" dirty="0"/>
              <a:t>       } catch (</a:t>
            </a:r>
            <a:r>
              <a:rPr lang="en-GB" sz="2000" dirty="0" err="1"/>
              <a:t>InterruptedException</a:t>
            </a:r>
            <a:r>
              <a:rPr lang="en-GB" sz="2000" dirty="0"/>
              <a:t> e) { </a:t>
            </a:r>
            <a:r>
              <a:rPr lang="en-GB" sz="2000" dirty="0" err="1"/>
              <a:t>pool.</a:t>
            </a:r>
            <a:r>
              <a:rPr lang="en-GB" sz="2000" b="1" dirty="0" err="1"/>
              <a:t>shutdownNow</a:t>
            </a:r>
            <a:r>
              <a:rPr lang="en-GB" sz="2000" b="1" dirty="0"/>
              <a:t>()</a:t>
            </a:r>
            <a:r>
              <a:rPr lang="en-GB" sz="2000" dirty="0"/>
              <a:t>;}     </a:t>
            </a:r>
          </a:p>
          <a:p>
            <a:r>
              <a:rPr lang="en-GB" sz="2000" b="1" dirty="0"/>
              <a:t>  </a:t>
            </a:r>
            <a:r>
              <a:rPr lang="en-GB" sz="2000" dirty="0"/>
              <a:t>}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FF1252-DB70-6709-F641-86376980B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2719" y="1996936"/>
            <a:ext cx="4143375" cy="24479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AEFB48-9E1D-BB46-B36C-760DF320A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7573" y="4385984"/>
            <a:ext cx="4273666" cy="4999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B82F4D1-5F1D-02A2-6326-A488E37E87C7}"/>
              </a:ext>
            </a:extLst>
          </p:cNvPr>
          <p:cNvSpPr txBox="1"/>
          <p:nvPr/>
        </p:nvSpPr>
        <p:spPr>
          <a:xfrm>
            <a:off x="132080" y="5028339"/>
            <a:ext cx="8050858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 err="1"/>
              <a:t>awaitTermination</a:t>
            </a:r>
            <a:r>
              <a:rPr lang="en-US" b="1" dirty="0"/>
              <a:t>()</a:t>
            </a:r>
          </a:p>
          <a:p>
            <a:r>
              <a:rPr lang="en-GB" dirty="0"/>
              <a:t>Blocks until all tasks have completed execution after a shutdown request, </a:t>
            </a:r>
          </a:p>
          <a:p>
            <a:r>
              <a:rPr lang="en-GB" dirty="0"/>
              <a:t>or the timeout occurs, or the current thread is interrupted, whichever happens first.</a:t>
            </a:r>
          </a:p>
        </p:txBody>
      </p:sp>
    </p:spTree>
    <p:extLst>
      <p:ext uri="{BB962C8B-B14F-4D97-AF65-F5344CB8AC3E}">
        <p14:creationId xmlns:p14="http://schemas.microsoft.com/office/powerpoint/2010/main" val="13477745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90DD8-9E58-E9AD-75A5-FC3F3C0EE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378080-EDD3-B4E3-2E29-9A720A83CDC5}"/>
              </a:ext>
            </a:extLst>
          </p:cNvPr>
          <p:cNvSpPr/>
          <p:nvPr/>
        </p:nvSpPr>
        <p:spPr>
          <a:xfrm>
            <a:off x="2346960" y="766732"/>
            <a:ext cx="8768080" cy="5016758"/>
          </a:xfrm>
          <a:prstGeom prst="rect">
            <a:avLst/>
          </a:prstGeom>
          <a:ln w="38100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import </a:t>
            </a:r>
            <a:r>
              <a:rPr lang="en-US" sz="2000" dirty="0" err="1"/>
              <a:t>java.util.concurrent</a:t>
            </a:r>
            <a:r>
              <a:rPr lang="en-US" sz="2000" dirty="0"/>
              <a:t>.*;</a:t>
            </a:r>
          </a:p>
          <a:p>
            <a:r>
              <a:rPr lang="en-US" sz="2000" dirty="0"/>
              <a:t>import </a:t>
            </a:r>
            <a:r>
              <a:rPr lang="en-US" sz="2000" dirty="0" err="1"/>
              <a:t>java.util.concurrent.locks</a:t>
            </a:r>
            <a:r>
              <a:rPr lang="en-US" sz="2000" dirty="0"/>
              <a:t>.*;</a:t>
            </a:r>
          </a:p>
          <a:p>
            <a:endParaRPr lang="en-US" sz="2000" dirty="0"/>
          </a:p>
          <a:p>
            <a:r>
              <a:rPr lang="en-US" sz="2000" dirty="0"/>
              <a:t>public class </a:t>
            </a:r>
            <a:r>
              <a:rPr lang="en-US" sz="2000" dirty="0" err="1"/>
              <a:t>ReaderWriterE</a:t>
            </a:r>
            <a:r>
              <a:rPr lang="en-US" sz="2000" dirty="0"/>
              <a:t>{</a:t>
            </a:r>
          </a:p>
          <a:p>
            <a:r>
              <a:rPr lang="en-US" sz="2000" dirty="0"/>
              <a:t>    private static Integer counter = 0;</a:t>
            </a:r>
          </a:p>
          <a:p>
            <a:r>
              <a:rPr lang="en-US" sz="2000" dirty="0"/>
              <a:t>    private static final </a:t>
            </a:r>
            <a:r>
              <a:rPr lang="en-US" sz="2000" dirty="0" err="1"/>
              <a:t>ReadWriteLock</a:t>
            </a:r>
            <a:r>
              <a:rPr lang="en-US" sz="2000" dirty="0"/>
              <a:t> lock = new </a:t>
            </a:r>
            <a:r>
              <a:rPr lang="en-US" sz="2000" dirty="0" err="1"/>
              <a:t>ReentrantReadWriteLock</a:t>
            </a:r>
            <a:r>
              <a:rPr lang="en-US" sz="2000" dirty="0"/>
              <a:t>();</a:t>
            </a:r>
          </a:p>
          <a:p>
            <a:endParaRPr lang="en-US" sz="2000" dirty="0"/>
          </a:p>
          <a:p>
            <a:r>
              <a:rPr lang="en-US" sz="2000" dirty="0"/>
              <a:t>    public static void main (String[] </a:t>
            </a:r>
            <a:r>
              <a:rPr lang="en-US" sz="2000" dirty="0" err="1"/>
              <a:t>args</a:t>
            </a:r>
            <a:r>
              <a:rPr lang="en-US" sz="2000" dirty="0"/>
              <a:t>)  {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ExecutorService</a:t>
            </a:r>
            <a:r>
              <a:rPr lang="en-US" sz="2000" dirty="0"/>
              <a:t> pool = </a:t>
            </a:r>
            <a:r>
              <a:rPr lang="en-US" sz="2000" dirty="0" err="1"/>
              <a:t>Executors.newCachedThreadPool</a:t>
            </a:r>
            <a:r>
              <a:rPr lang="en-US" sz="2000" dirty="0"/>
              <a:t>();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pool.execute</a:t>
            </a:r>
            <a:r>
              <a:rPr lang="en-US" sz="2000" dirty="0"/>
              <a:t>(new </a:t>
            </a:r>
            <a:r>
              <a:rPr lang="en-US" sz="2000" dirty="0" err="1"/>
              <a:t>TaskW</a:t>
            </a:r>
            <a:r>
              <a:rPr lang="en-US" sz="2000" dirty="0"/>
              <a:t>());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pool.execute</a:t>
            </a:r>
            <a:r>
              <a:rPr lang="en-US" sz="2000" dirty="0"/>
              <a:t>(new </a:t>
            </a:r>
            <a:r>
              <a:rPr lang="en-US" sz="2000" dirty="0" err="1"/>
              <a:t>TaskR</a:t>
            </a:r>
            <a:r>
              <a:rPr lang="en-US" sz="2000" dirty="0"/>
              <a:t>());  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pool.execute</a:t>
            </a:r>
            <a:r>
              <a:rPr lang="en-US" sz="2000" dirty="0"/>
              <a:t>(new </a:t>
            </a:r>
            <a:r>
              <a:rPr lang="en-US" sz="2000" dirty="0" err="1"/>
              <a:t>TaskW</a:t>
            </a:r>
            <a:r>
              <a:rPr lang="en-US" sz="2000" dirty="0"/>
              <a:t>()); 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pool.execute</a:t>
            </a:r>
            <a:r>
              <a:rPr lang="en-US" sz="2000" dirty="0"/>
              <a:t>(new </a:t>
            </a:r>
            <a:r>
              <a:rPr lang="en-US" sz="2000" dirty="0" err="1"/>
              <a:t>TaskR</a:t>
            </a:r>
            <a:r>
              <a:rPr lang="en-US" sz="2000" dirty="0"/>
              <a:t>()); 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pool.execute</a:t>
            </a:r>
            <a:r>
              <a:rPr lang="en-US" sz="2000" dirty="0"/>
              <a:t>(new </a:t>
            </a:r>
            <a:r>
              <a:rPr lang="en-US" sz="2000" dirty="0" err="1"/>
              <a:t>TaskR</a:t>
            </a:r>
            <a:r>
              <a:rPr lang="en-US" sz="2000" dirty="0"/>
              <a:t>());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pool.shutdown</a:t>
            </a:r>
            <a:r>
              <a:rPr lang="en-US" sz="2000" dirty="0"/>
              <a:t>();         </a:t>
            </a:r>
          </a:p>
          <a:p>
            <a:r>
              <a:rPr lang="en-US" sz="2000" dirty="0"/>
              <a:t>    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7B0989-8870-371A-FBE1-C2503E302687}"/>
              </a:ext>
            </a:extLst>
          </p:cNvPr>
          <p:cNvSpPr txBox="1"/>
          <p:nvPr/>
        </p:nvSpPr>
        <p:spPr>
          <a:xfrm>
            <a:off x="873760" y="152400"/>
            <a:ext cx="72698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 err="1"/>
              <a:t>Exemplu</a:t>
            </a:r>
            <a:r>
              <a:rPr lang="en-US" sz="2000" i="1" dirty="0"/>
              <a:t>: </a:t>
            </a:r>
            <a:r>
              <a:rPr lang="en-US" sz="2000" dirty="0" err="1"/>
              <a:t>ReaderWriter</a:t>
            </a:r>
            <a:r>
              <a:rPr lang="en-US" sz="2000" dirty="0"/>
              <a:t>  - </a:t>
            </a:r>
            <a:r>
              <a:rPr lang="en-US" sz="2000" dirty="0" err="1"/>
              <a:t>generarea</a:t>
            </a:r>
            <a:r>
              <a:rPr lang="en-US" sz="2000" dirty="0"/>
              <a:t> thread-</a:t>
            </a:r>
            <a:r>
              <a:rPr lang="en-US" sz="2000" dirty="0" err="1"/>
              <a:t>urilor</a:t>
            </a:r>
            <a:r>
              <a:rPr lang="en-US" sz="2000" dirty="0"/>
              <a:t> </a:t>
            </a:r>
            <a:r>
              <a:rPr lang="en-US" sz="2000" dirty="0" err="1"/>
              <a:t>folosind</a:t>
            </a:r>
            <a:r>
              <a:rPr lang="en-US" sz="2000" dirty="0"/>
              <a:t> Executor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5019544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01B5F861-D108-4156-9FD5-C1140222C2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62565" y="939324"/>
          <a:ext cx="9466870" cy="45165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683320" imgH="2711520" progId="Paint.Picture">
                  <p:embed/>
                </p:oleObj>
              </mc:Choice>
              <mc:Fallback>
                <p:oleObj name="Bitmap Image" r:id="rId2" imgW="5683320" imgH="2711520" progId="Paint.Picture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01B5F861-D108-4156-9FD5-C1140222C2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62565" y="939324"/>
                        <a:ext cx="9466870" cy="45165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56265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0384" y="123568"/>
            <a:ext cx="2612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highlight>
                  <a:srgbClr val="00FF00"/>
                </a:highlight>
              </a:rPr>
              <a:t>Callable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>
                <a:highlight>
                  <a:srgbClr val="00FF00"/>
                </a:highlight>
              </a:rPr>
              <a:t>Future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99" y="914362"/>
            <a:ext cx="3006811" cy="1015663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/>
              <a:t>public interface Runnable {</a:t>
            </a:r>
          </a:p>
          <a:p>
            <a:r>
              <a:rPr lang="en-US" sz="2000" dirty="0"/>
              <a:t>    public void </a:t>
            </a:r>
            <a:r>
              <a:rPr lang="en-US" sz="2000" b="1" dirty="0"/>
              <a:t>run();</a:t>
            </a:r>
          </a:p>
          <a:p>
            <a:r>
              <a:rPr lang="en-US" sz="2000" dirty="0"/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9513" y="956420"/>
            <a:ext cx="4271682" cy="1015663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public interface Callable &lt;</a:t>
            </a:r>
            <a:r>
              <a:rPr lang="en-US" sz="2000" dirty="0" err="1"/>
              <a:t>ResultType</a:t>
            </a:r>
            <a:r>
              <a:rPr lang="en-US" sz="2000" dirty="0"/>
              <a:t>&gt; {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ResultType</a:t>
            </a:r>
            <a:r>
              <a:rPr lang="en-US" sz="2000" dirty="0"/>
              <a:t> </a:t>
            </a:r>
            <a:r>
              <a:rPr lang="en-US" sz="2000" b="1" dirty="0"/>
              <a:t>call() </a:t>
            </a:r>
            <a:r>
              <a:rPr lang="en-US" sz="2000" dirty="0"/>
              <a:t>throws Exception;</a:t>
            </a:r>
          </a:p>
          <a:p>
            <a:r>
              <a:rPr lang="en-US" sz="2000" dirty="0"/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8953" y="5955956"/>
            <a:ext cx="5961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https://www.callicoder.com/java-callable-and-future-tutorial/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270581" y="2588873"/>
            <a:ext cx="7898829" cy="335476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Callable&lt;</a:t>
            </a:r>
            <a:r>
              <a:rPr lang="en-US" sz="2400" dirty="0" err="1"/>
              <a:t>ResultType</a:t>
            </a:r>
            <a:r>
              <a:rPr lang="en-US" sz="2400" dirty="0"/>
              <a:t>&gt; callable = new Callable&lt;</a:t>
            </a:r>
            <a:r>
              <a:rPr lang="en-US" sz="2400" dirty="0" err="1"/>
              <a:t>ResultType</a:t>
            </a:r>
            <a:r>
              <a:rPr lang="en-US" sz="2400" dirty="0"/>
              <a:t>&gt;() {</a:t>
            </a:r>
          </a:p>
          <a:p>
            <a:endParaRPr lang="en-US" sz="2400" dirty="0"/>
          </a:p>
          <a:p>
            <a:r>
              <a:rPr lang="en-US" sz="2400" dirty="0"/>
              <a:t>public String call() throws Exception {</a:t>
            </a:r>
          </a:p>
          <a:p>
            <a:r>
              <a:rPr lang="en-US" sz="2400" dirty="0"/>
              <a:t>          // </a:t>
            </a:r>
            <a:r>
              <a:rPr lang="en-US" sz="2400" i="1" dirty="0" err="1"/>
              <a:t>executie</a:t>
            </a:r>
            <a:r>
              <a:rPr lang="en-US" sz="2400" i="1" dirty="0"/>
              <a:t> care </a:t>
            </a:r>
            <a:r>
              <a:rPr lang="en-US" sz="2400" i="1" dirty="0" err="1"/>
              <a:t>dureaza</a:t>
            </a:r>
            <a:endParaRPr lang="en-US" sz="2400" i="1" dirty="0"/>
          </a:p>
          <a:p>
            <a:r>
              <a:rPr lang="en-US" sz="2400" dirty="0"/>
              <a:t>        return </a:t>
            </a:r>
            <a:r>
              <a:rPr lang="en-US" sz="2400" i="1" dirty="0"/>
              <a:t>result</a:t>
            </a:r>
            <a:r>
              <a:rPr lang="en-US" sz="2400" dirty="0"/>
              <a:t>;</a:t>
            </a:r>
          </a:p>
          <a:p>
            <a:r>
              <a:rPr lang="en-US" sz="2400" dirty="0"/>
              <a:t>    }};</a:t>
            </a:r>
          </a:p>
          <a:p>
            <a:endParaRPr lang="en-US" sz="2000" dirty="0"/>
          </a:p>
          <a:p>
            <a:r>
              <a:rPr lang="en-US" sz="2400" dirty="0" err="1"/>
              <a:t>ExecutorService</a:t>
            </a:r>
            <a:r>
              <a:rPr lang="en-US" sz="2400" dirty="0"/>
              <a:t> exec=</a:t>
            </a:r>
            <a:r>
              <a:rPr lang="en-US" sz="2400" dirty="0" err="1"/>
              <a:t>Executor.newSingleThreadExecutor</a:t>
            </a:r>
            <a:endParaRPr lang="en-US" sz="2400" dirty="0"/>
          </a:p>
          <a:p>
            <a:r>
              <a:rPr lang="en-US" sz="2400" dirty="0"/>
              <a:t>Future&lt;</a:t>
            </a:r>
            <a:r>
              <a:rPr lang="en-US" sz="2400" dirty="0" err="1"/>
              <a:t>ResultType</a:t>
            </a:r>
            <a:r>
              <a:rPr lang="en-US" sz="2400" dirty="0"/>
              <a:t>&gt;  future = </a:t>
            </a:r>
            <a:r>
              <a:rPr lang="en-US" sz="2400" b="1" dirty="0" err="1"/>
              <a:t>exec.submit</a:t>
            </a:r>
            <a:r>
              <a:rPr lang="en-US" sz="2400" dirty="0"/>
              <a:t>(callable)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722187-4BA5-4C31-B93B-3170024DA70A}"/>
              </a:ext>
            </a:extLst>
          </p:cNvPr>
          <p:cNvSpPr txBox="1"/>
          <p:nvPr/>
        </p:nvSpPr>
        <p:spPr>
          <a:xfrm>
            <a:off x="2088704" y="1736129"/>
            <a:ext cx="2070247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00B050"/>
                </a:solidFill>
              </a:rPr>
              <a:t>executa</a:t>
            </a:r>
            <a:r>
              <a:rPr lang="en-US" sz="2000" dirty="0"/>
              <a:t> un thread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847540-9B30-4341-8E11-98FBA9144894}"/>
              </a:ext>
            </a:extLst>
          </p:cNvPr>
          <p:cNvSpPr txBox="1"/>
          <p:nvPr/>
        </p:nvSpPr>
        <p:spPr>
          <a:xfrm>
            <a:off x="7599680" y="1846520"/>
            <a:ext cx="4418197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b="1" dirty="0" err="1">
                <a:solidFill>
                  <a:srgbClr val="00B050"/>
                </a:solidFill>
              </a:rPr>
              <a:t>intoarce</a:t>
            </a:r>
            <a:r>
              <a:rPr lang="en-US" sz="2000" b="1" dirty="0">
                <a:solidFill>
                  <a:srgbClr val="00B050"/>
                </a:solidFill>
              </a:rPr>
              <a:t> </a:t>
            </a:r>
            <a:r>
              <a:rPr lang="en-US" sz="2000" b="1" dirty="0" err="1">
                <a:solidFill>
                  <a:srgbClr val="00B050"/>
                </a:solidFill>
              </a:rPr>
              <a:t>rezultatul</a:t>
            </a:r>
            <a:r>
              <a:rPr lang="en-US" sz="2000" b="1" dirty="0">
                <a:solidFill>
                  <a:srgbClr val="00B050"/>
                </a:solidFill>
              </a:rPr>
              <a:t> </a:t>
            </a:r>
            <a:r>
              <a:rPr lang="en-US" sz="2000" b="1" dirty="0" err="1">
                <a:solidFill>
                  <a:srgbClr val="00B050"/>
                </a:solidFill>
              </a:rPr>
              <a:t>executiei</a:t>
            </a:r>
            <a:r>
              <a:rPr lang="en-US" sz="2000" b="1" dirty="0">
                <a:solidFill>
                  <a:srgbClr val="00B050"/>
                </a:solidFill>
              </a:rPr>
              <a:t> </a:t>
            </a:r>
            <a:r>
              <a:rPr lang="en-US" sz="2000" dirty="0" err="1"/>
              <a:t>unui</a:t>
            </a:r>
            <a:r>
              <a:rPr lang="en-US" sz="2000" dirty="0"/>
              <a:t> thread</a:t>
            </a:r>
            <a:endParaRPr lang="en-GB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476643-D638-4673-9464-C7DF6578A763}"/>
              </a:ext>
            </a:extLst>
          </p:cNvPr>
          <p:cNvSpPr txBox="1"/>
          <p:nvPr/>
        </p:nvSpPr>
        <p:spPr>
          <a:xfrm>
            <a:off x="7101840" y="4611371"/>
            <a:ext cx="4775346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un </a:t>
            </a:r>
            <a:r>
              <a:rPr lang="en-US" sz="2000" dirty="0" err="1"/>
              <a:t>obiect</a:t>
            </a:r>
            <a:r>
              <a:rPr lang="en-US" sz="2000" dirty="0"/>
              <a:t> </a:t>
            </a:r>
            <a:r>
              <a:rPr lang="en-US" sz="2000" b="1" dirty="0"/>
              <a:t>Callable</a:t>
            </a:r>
            <a:r>
              <a:rPr lang="en-US" sz="2000" dirty="0"/>
              <a:t> </a:t>
            </a:r>
            <a:r>
              <a:rPr lang="en-US" sz="2000" dirty="0" err="1"/>
              <a:t>intoarce</a:t>
            </a:r>
            <a:r>
              <a:rPr lang="en-US" sz="2000" dirty="0"/>
              <a:t> un </a:t>
            </a:r>
            <a:r>
              <a:rPr lang="en-US" sz="2000" dirty="0" err="1"/>
              <a:t>obiect</a:t>
            </a:r>
            <a:r>
              <a:rPr lang="en-US" sz="2000" dirty="0"/>
              <a:t> </a:t>
            </a:r>
            <a:r>
              <a:rPr lang="en-US" sz="2000" b="1" dirty="0"/>
              <a:t>Future</a:t>
            </a: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20769277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0384" y="123568"/>
            <a:ext cx="2612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highlight>
                  <a:srgbClr val="00FF00"/>
                </a:highlight>
              </a:rPr>
              <a:t>Callable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>
                <a:highlight>
                  <a:srgbClr val="00FF00"/>
                </a:highlight>
              </a:rPr>
              <a:t>Future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21" y="797510"/>
            <a:ext cx="7603620" cy="526297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/>
              <a:t>Callable&lt;String&gt; callable = new Callable&lt;String&gt;() {</a:t>
            </a:r>
          </a:p>
          <a:p>
            <a:endParaRPr lang="en-US" sz="2400" dirty="0"/>
          </a:p>
          <a:p>
            <a:r>
              <a:rPr lang="en-US" sz="2400" dirty="0"/>
              <a:t>public String call() throws Exception {</a:t>
            </a:r>
          </a:p>
          <a:p>
            <a:r>
              <a:rPr lang="en-US" sz="2400" dirty="0"/>
              <a:t>        // Perform some computation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Thread.sleep</a:t>
            </a:r>
            <a:r>
              <a:rPr lang="en-US" sz="2400" dirty="0"/>
              <a:t>(2000);</a:t>
            </a:r>
          </a:p>
          <a:p>
            <a:r>
              <a:rPr lang="en-US" sz="2400" dirty="0"/>
              <a:t>        return "Return some result";</a:t>
            </a:r>
          </a:p>
          <a:p>
            <a:r>
              <a:rPr lang="en-US" sz="2400" dirty="0"/>
              <a:t>    }};</a:t>
            </a:r>
          </a:p>
          <a:p>
            <a:endParaRPr lang="en-US" sz="2400" dirty="0"/>
          </a:p>
          <a:p>
            <a:r>
              <a:rPr lang="en-US" sz="2400" dirty="0"/>
              <a:t>public static void main (String[] </a:t>
            </a:r>
            <a:r>
              <a:rPr lang="en-US" sz="2400" dirty="0" err="1"/>
              <a:t>args</a:t>
            </a:r>
            <a:r>
              <a:rPr lang="en-US" sz="2400" dirty="0"/>
              <a:t>) throws Exception{</a:t>
            </a:r>
          </a:p>
          <a:p>
            <a:endParaRPr lang="en-US" sz="2400" dirty="0"/>
          </a:p>
          <a:p>
            <a:r>
              <a:rPr lang="en-US" sz="2400" dirty="0" err="1"/>
              <a:t>ExecutorService</a:t>
            </a:r>
            <a:r>
              <a:rPr lang="en-US" sz="2400" dirty="0"/>
              <a:t> exec=</a:t>
            </a:r>
            <a:r>
              <a:rPr lang="en-US" sz="2400" dirty="0" err="1"/>
              <a:t>Executor.newSingleThreadExecutor</a:t>
            </a:r>
            <a:r>
              <a:rPr lang="en-US" sz="2400" dirty="0"/>
              <a:t>();</a:t>
            </a:r>
          </a:p>
          <a:p>
            <a:r>
              <a:rPr lang="en-US" sz="2400" dirty="0"/>
              <a:t>Future&lt;String&gt;  future = </a:t>
            </a:r>
            <a:r>
              <a:rPr lang="en-US" sz="2400" b="1" dirty="0" err="1"/>
              <a:t>exec.submit</a:t>
            </a:r>
            <a:r>
              <a:rPr lang="en-US" sz="2400" dirty="0"/>
              <a:t>(callable) ;</a:t>
            </a:r>
          </a:p>
          <a:p>
            <a:r>
              <a:rPr lang="en-US" sz="2400" dirty="0"/>
              <a:t>…</a:t>
            </a:r>
          </a:p>
          <a:p>
            <a:r>
              <a:rPr lang="en-US" sz="2400" dirty="0"/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10D4F-1BD7-4B06-8F3F-833ACF66D3D6}"/>
              </a:ext>
            </a:extLst>
          </p:cNvPr>
          <p:cNvSpPr txBox="1"/>
          <p:nvPr/>
        </p:nvSpPr>
        <p:spPr>
          <a:xfrm>
            <a:off x="6482080" y="2228670"/>
            <a:ext cx="5535426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b="1" dirty="0"/>
              <a:t>Callable</a:t>
            </a:r>
            <a:r>
              <a:rPr lang="en-US" sz="2400" dirty="0"/>
              <a:t> </a:t>
            </a:r>
            <a:r>
              <a:rPr lang="en-US" sz="2400" dirty="0" err="1"/>
              <a:t>reprezinta</a:t>
            </a:r>
            <a:r>
              <a:rPr lang="en-US" sz="2400" dirty="0"/>
              <a:t> o </a:t>
            </a:r>
            <a:r>
              <a:rPr lang="en-US" sz="2400" dirty="0" err="1"/>
              <a:t>executie</a:t>
            </a:r>
            <a:r>
              <a:rPr lang="en-US" sz="2400" dirty="0"/>
              <a:t> </a:t>
            </a:r>
            <a:r>
              <a:rPr lang="en-US" sz="2400" b="1" dirty="0" err="1">
                <a:solidFill>
                  <a:srgbClr val="0070C0"/>
                </a:solidFill>
              </a:rPr>
              <a:t>asincrona</a:t>
            </a:r>
            <a:r>
              <a:rPr lang="en-US" sz="2400" dirty="0"/>
              <a:t>, </a:t>
            </a:r>
          </a:p>
          <a:p>
            <a:r>
              <a:rPr lang="en-US" sz="2400" dirty="0"/>
              <a:t>al </a:t>
            </a:r>
            <a:r>
              <a:rPr lang="en-US" sz="2400" dirty="0" err="1"/>
              <a:t>carei</a:t>
            </a:r>
            <a:r>
              <a:rPr lang="en-US" sz="2400" dirty="0"/>
              <a:t> </a:t>
            </a:r>
            <a:r>
              <a:rPr lang="en-US" sz="2400" dirty="0" err="1"/>
              <a:t>rezultat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recuperate cu </a:t>
            </a:r>
            <a:r>
              <a:rPr lang="en-US" sz="2400" dirty="0" err="1"/>
              <a:t>ajutorul</a:t>
            </a:r>
            <a:endParaRPr lang="en-US" sz="2400" dirty="0"/>
          </a:p>
          <a:p>
            <a:r>
              <a:rPr lang="en-US" sz="2400" dirty="0" err="1"/>
              <a:t>unui</a:t>
            </a:r>
            <a:r>
              <a:rPr lang="en-US" sz="2400" dirty="0"/>
              <a:t> </a:t>
            </a:r>
            <a:r>
              <a:rPr lang="en-US" sz="2400" dirty="0" err="1"/>
              <a:t>obiect</a:t>
            </a:r>
            <a:r>
              <a:rPr lang="en-US" sz="2400" dirty="0"/>
              <a:t> </a:t>
            </a:r>
            <a:r>
              <a:rPr lang="en-US" sz="2400" b="1" dirty="0"/>
              <a:t>Future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20403379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1172" y="1915298"/>
            <a:ext cx="6590587" cy="317009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private static class </a:t>
            </a:r>
            <a:r>
              <a:rPr lang="en-US" sz="2000" dirty="0" err="1"/>
              <a:t>TaskCallable</a:t>
            </a:r>
            <a:r>
              <a:rPr lang="en-US" sz="2000" dirty="0"/>
              <a:t> </a:t>
            </a:r>
            <a:r>
              <a:rPr lang="en-US" sz="2000" b="1" dirty="0"/>
              <a:t>implements Callable&lt;String&gt; </a:t>
            </a:r>
            <a:r>
              <a:rPr lang="en-US" sz="2000" dirty="0"/>
              <a:t>{</a:t>
            </a:r>
          </a:p>
          <a:p>
            <a:r>
              <a:rPr lang="en-US" sz="2000" dirty="0"/>
              <a:t>        private static 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dirty="0" err="1"/>
              <a:t>ts</a:t>
            </a:r>
            <a:r>
              <a:rPr lang="en-US" sz="2000" dirty="0"/>
              <a:t>;</a:t>
            </a:r>
          </a:p>
          <a:p>
            <a:r>
              <a:rPr lang="en-US" sz="2000" dirty="0"/>
              <a:t>        public  </a:t>
            </a:r>
            <a:r>
              <a:rPr lang="en-US" sz="2000" b="1" dirty="0" err="1"/>
              <a:t>TaskCallable</a:t>
            </a:r>
            <a:r>
              <a:rPr lang="en-US" sz="2000" b="1" dirty="0"/>
              <a:t> (</a:t>
            </a:r>
            <a:r>
              <a:rPr lang="en-US" sz="2000" b="1" dirty="0" err="1"/>
              <a:t>int</a:t>
            </a:r>
            <a:r>
              <a:rPr lang="en-US" sz="2000" b="1" dirty="0"/>
              <a:t> </a:t>
            </a:r>
            <a:r>
              <a:rPr lang="en-US" sz="2000" b="1" dirty="0" err="1"/>
              <a:t>ts</a:t>
            </a:r>
            <a:r>
              <a:rPr lang="en-US" sz="2000" b="1" dirty="0"/>
              <a:t>) </a:t>
            </a:r>
            <a:r>
              <a:rPr lang="en-US" sz="2000" dirty="0"/>
              <a:t>{</a:t>
            </a:r>
            <a:r>
              <a:rPr lang="en-US" sz="2000" dirty="0" err="1"/>
              <a:t>this.ts</a:t>
            </a:r>
            <a:r>
              <a:rPr lang="en-US" sz="2000" dirty="0"/>
              <a:t> = </a:t>
            </a:r>
            <a:r>
              <a:rPr lang="en-US" sz="2000" dirty="0" err="1"/>
              <a:t>ts</a:t>
            </a:r>
            <a:r>
              <a:rPr lang="en-US" sz="2000" dirty="0"/>
              <a:t>;}</a:t>
            </a:r>
          </a:p>
          <a:p>
            <a:r>
              <a:rPr lang="en-US" sz="2000" dirty="0"/>
              <a:t>        </a:t>
            </a:r>
          </a:p>
          <a:p>
            <a:r>
              <a:rPr lang="en-US" sz="2000" dirty="0"/>
              <a:t>        public </a:t>
            </a:r>
            <a:r>
              <a:rPr lang="en-US" sz="2000" b="1" dirty="0"/>
              <a:t>String call () </a:t>
            </a:r>
            <a:r>
              <a:rPr lang="en-US" sz="2000" dirty="0"/>
              <a:t>throws </a:t>
            </a:r>
            <a:r>
              <a:rPr lang="en-US" sz="2000" dirty="0" err="1"/>
              <a:t>InterruptedException</a:t>
            </a:r>
            <a:r>
              <a:rPr lang="en-US" sz="2000" dirty="0"/>
              <a:t> {</a:t>
            </a:r>
          </a:p>
          <a:p>
            <a:r>
              <a:rPr lang="en-US" sz="2000" dirty="0"/>
              <a:t>            </a:t>
            </a:r>
            <a:r>
              <a:rPr lang="en-US" sz="2000" dirty="0" err="1"/>
              <a:t>System.out.println</a:t>
            </a:r>
            <a:r>
              <a:rPr lang="en-US" sz="2000" dirty="0"/>
              <a:t>("Entered Callable; sleep:"+</a:t>
            </a:r>
            <a:r>
              <a:rPr lang="en-US" sz="2000" dirty="0" err="1"/>
              <a:t>ts</a:t>
            </a:r>
            <a:r>
              <a:rPr lang="en-US" sz="2000" dirty="0"/>
              <a:t>);</a:t>
            </a:r>
          </a:p>
          <a:p>
            <a:r>
              <a:rPr lang="en-US" sz="2000" dirty="0"/>
              <a:t>            </a:t>
            </a:r>
            <a:r>
              <a:rPr lang="en-US" sz="2000" dirty="0" err="1"/>
              <a:t>Thread.sleep</a:t>
            </a:r>
            <a:r>
              <a:rPr lang="en-US" sz="2000" dirty="0"/>
              <a:t>(</a:t>
            </a:r>
            <a:r>
              <a:rPr lang="en-US" sz="2000" dirty="0" err="1"/>
              <a:t>ts</a:t>
            </a:r>
            <a:r>
              <a:rPr lang="en-US" sz="2000" dirty="0"/>
              <a:t>);</a:t>
            </a:r>
          </a:p>
          <a:p>
            <a:r>
              <a:rPr lang="en-US" sz="2000" dirty="0"/>
              <a:t>            return "Hello from Callable";</a:t>
            </a:r>
          </a:p>
          <a:p>
            <a:r>
              <a:rPr lang="en-US" sz="2000" dirty="0"/>
              <a:t>        }</a:t>
            </a:r>
          </a:p>
          <a:p>
            <a:r>
              <a:rPr lang="en-US" sz="2000" dirty="0"/>
              <a:t> 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0383" y="216244"/>
            <a:ext cx="93719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 err="1"/>
              <a:t>Executie</a:t>
            </a:r>
            <a:r>
              <a:rPr lang="en-US" sz="2400" b="1" dirty="0"/>
              <a:t> </a:t>
            </a:r>
            <a:r>
              <a:rPr lang="en-US" sz="2400" b="1" dirty="0" err="1">
                <a:solidFill>
                  <a:srgbClr val="0070C0"/>
                </a:solidFill>
              </a:rPr>
              <a:t>asincrona</a:t>
            </a:r>
            <a:endParaRPr lang="en-US" sz="2400" b="1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implementarea</a:t>
            </a:r>
            <a:r>
              <a:rPr lang="en-US" sz="2400" dirty="0"/>
              <a:t> </a:t>
            </a:r>
            <a:r>
              <a:rPr lang="en-US" sz="2400" dirty="0" err="1"/>
              <a:t>unei</a:t>
            </a:r>
            <a:r>
              <a:rPr lang="en-US" sz="2400" dirty="0"/>
              <a:t> </a:t>
            </a:r>
            <a:r>
              <a:rPr lang="en-US" sz="2400" dirty="0" err="1"/>
              <a:t>instante</a:t>
            </a:r>
            <a:r>
              <a:rPr lang="en-US" sz="2400" dirty="0"/>
              <a:t> a </a:t>
            </a:r>
            <a:r>
              <a:rPr lang="en-US" sz="2400" dirty="0" err="1"/>
              <a:t>clasei</a:t>
            </a:r>
            <a:r>
              <a:rPr lang="en-US" sz="2400" dirty="0"/>
              <a:t> </a:t>
            </a:r>
            <a:r>
              <a:rPr lang="en-US" sz="2400" b="1" dirty="0"/>
              <a:t>Callable</a:t>
            </a:r>
            <a:r>
              <a:rPr lang="en-US" sz="2400" dirty="0"/>
              <a:t>  care </a:t>
            </a:r>
            <a:r>
              <a:rPr lang="en-US" sz="2400" dirty="0" err="1"/>
              <a:t>intoarce</a:t>
            </a:r>
            <a:r>
              <a:rPr lang="en-US" sz="2400" dirty="0"/>
              <a:t> un &lt;String&gt;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instanta</a:t>
            </a:r>
            <a:r>
              <a:rPr lang="en-US" sz="2400" dirty="0"/>
              <a:t> </a:t>
            </a:r>
            <a:r>
              <a:rPr lang="en-US" sz="2400" dirty="0" err="1"/>
              <a:t>va</a:t>
            </a:r>
            <a:r>
              <a:rPr lang="en-US" sz="2400" dirty="0"/>
              <a:t> fi </a:t>
            </a:r>
            <a:r>
              <a:rPr lang="en-US" sz="2400" dirty="0" err="1"/>
              <a:t>folosita</a:t>
            </a:r>
            <a:r>
              <a:rPr lang="en-US" sz="2400" dirty="0"/>
              <a:t>  </a:t>
            </a:r>
            <a:r>
              <a:rPr lang="en-US" sz="2400" dirty="0" err="1"/>
              <a:t>pentru</a:t>
            </a:r>
            <a:r>
              <a:rPr lang="en-US" sz="2400" dirty="0"/>
              <a:t> a </a:t>
            </a:r>
            <a:r>
              <a:rPr lang="en-US" sz="2400" dirty="0" err="1"/>
              <a:t>crea</a:t>
            </a:r>
            <a:r>
              <a:rPr lang="en-US" sz="2400" dirty="0"/>
              <a:t> un </a:t>
            </a:r>
            <a:r>
              <a:rPr lang="en-US" sz="2400" dirty="0" err="1"/>
              <a:t>obiect</a:t>
            </a:r>
            <a:r>
              <a:rPr lang="en-US" sz="2400" dirty="0"/>
              <a:t> </a:t>
            </a:r>
            <a:r>
              <a:rPr lang="en-US" sz="2400" b="1" dirty="0"/>
              <a:t>Future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638168" y="4689970"/>
            <a:ext cx="8909221" cy="707886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2000" b="1" dirty="0" err="1">
                <a:solidFill>
                  <a:schemeClr val="tx1"/>
                </a:solidFill>
              </a:rPr>
              <a:t>ExecutorService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b="1" dirty="0" err="1">
                <a:solidFill>
                  <a:schemeClr val="tx1"/>
                </a:solidFill>
              </a:rPr>
              <a:t>executorService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dirty="0"/>
              <a:t>= </a:t>
            </a:r>
            <a:r>
              <a:rPr lang="en-US" sz="2000" dirty="0" err="1"/>
              <a:t>Executors.newSingleThreadExecutor</a:t>
            </a:r>
            <a:r>
              <a:rPr lang="en-US" sz="2000" dirty="0"/>
              <a:t>();</a:t>
            </a:r>
          </a:p>
          <a:p>
            <a:r>
              <a:rPr lang="en-US" sz="2000" dirty="0"/>
              <a:t> </a:t>
            </a:r>
            <a:r>
              <a:rPr lang="en-US" sz="2000" b="1" dirty="0">
                <a:solidFill>
                  <a:schemeClr val="tx1"/>
                </a:solidFill>
              </a:rPr>
              <a:t>Future&lt;String&gt;  </a:t>
            </a:r>
            <a:r>
              <a:rPr lang="en-US" sz="2000" b="1" dirty="0" err="1">
                <a:solidFill>
                  <a:schemeClr val="tx1"/>
                </a:solidFill>
              </a:rPr>
              <a:t>futureEx</a:t>
            </a:r>
            <a:r>
              <a:rPr lang="en-US" sz="2000" b="1" dirty="0">
                <a:solidFill>
                  <a:schemeClr val="tx1"/>
                </a:solidFill>
              </a:rPr>
              <a:t> =</a:t>
            </a:r>
            <a:r>
              <a:rPr lang="en-US" sz="2000" b="1" dirty="0" err="1">
                <a:solidFill>
                  <a:schemeClr val="tx1"/>
                </a:solidFill>
              </a:rPr>
              <a:t>executorService.submit</a:t>
            </a:r>
            <a:r>
              <a:rPr lang="en-US" sz="2000" b="1" dirty="0">
                <a:solidFill>
                  <a:schemeClr val="tx1"/>
                </a:solidFill>
              </a:rPr>
              <a:t>(new   </a:t>
            </a:r>
            <a:r>
              <a:rPr lang="en-US" sz="2000" b="1" dirty="0" err="1">
                <a:solidFill>
                  <a:schemeClr val="tx1"/>
                </a:solidFill>
              </a:rPr>
              <a:t>TaskCallable</a:t>
            </a:r>
            <a:r>
              <a:rPr lang="en-US" sz="2000" b="1" dirty="0">
                <a:solidFill>
                  <a:schemeClr val="tx1"/>
                </a:solidFill>
              </a:rPr>
              <a:t>(time));</a:t>
            </a:r>
          </a:p>
        </p:txBody>
      </p:sp>
      <p:sp>
        <p:nvSpPr>
          <p:cNvPr id="7" name="Rectangle 6"/>
          <p:cNvSpPr/>
          <p:nvPr/>
        </p:nvSpPr>
        <p:spPr>
          <a:xfrm>
            <a:off x="707316" y="5999891"/>
            <a:ext cx="52278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hlinkClick r:id="rId2"/>
              </a:rPr>
              <a:t>https://www.callicoder.com/java-callable-and-future-tutorial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32E791-5FB9-D781-92F2-A64DC65C460F}"/>
              </a:ext>
            </a:extLst>
          </p:cNvPr>
          <p:cNvSpPr txBox="1"/>
          <p:nvPr/>
        </p:nvSpPr>
        <p:spPr>
          <a:xfrm>
            <a:off x="7092778" y="2577017"/>
            <a:ext cx="4267200" cy="9233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/>
              <a:t>Callable </a:t>
            </a:r>
            <a:r>
              <a:rPr lang="en-GB" dirty="0" err="1"/>
              <a:t>reprezinta</a:t>
            </a:r>
            <a:r>
              <a:rPr lang="en-GB" dirty="0"/>
              <a:t> o </a:t>
            </a:r>
            <a:r>
              <a:rPr lang="en-GB" dirty="0" err="1"/>
              <a:t>executie</a:t>
            </a:r>
            <a:r>
              <a:rPr lang="en-GB" dirty="0"/>
              <a:t> </a:t>
            </a:r>
            <a:r>
              <a:rPr lang="en-GB" b="1" dirty="0" err="1">
                <a:solidFill>
                  <a:srgbClr val="0070C0"/>
                </a:solidFill>
              </a:rPr>
              <a:t>asincrona</a:t>
            </a:r>
            <a:r>
              <a:rPr lang="en-GB" dirty="0"/>
              <a:t>, </a:t>
            </a:r>
          </a:p>
          <a:p>
            <a:r>
              <a:rPr lang="en-GB" dirty="0"/>
              <a:t>al </a:t>
            </a:r>
            <a:r>
              <a:rPr lang="en-GB" dirty="0" err="1"/>
              <a:t>carei</a:t>
            </a:r>
            <a:r>
              <a:rPr lang="en-GB" dirty="0"/>
              <a:t> </a:t>
            </a:r>
            <a:r>
              <a:rPr lang="en-GB" dirty="0" err="1"/>
              <a:t>rezultat</a:t>
            </a:r>
            <a:r>
              <a:rPr lang="en-GB" dirty="0"/>
              <a:t> </a:t>
            </a:r>
            <a:r>
              <a:rPr lang="en-GB" dirty="0" err="1"/>
              <a:t>este</a:t>
            </a:r>
            <a:r>
              <a:rPr lang="en-GB" dirty="0"/>
              <a:t> recuperate cu </a:t>
            </a:r>
            <a:r>
              <a:rPr lang="en-GB" dirty="0" err="1"/>
              <a:t>ajutorul</a:t>
            </a:r>
            <a:endParaRPr lang="en-GB" dirty="0"/>
          </a:p>
          <a:p>
            <a:r>
              <a:rPr lang="en-GB" dirty="0" err="1"/>
              <a:t>unui</a:t>
            </a:r>
            <a:r>
              <a:rPr lang="en-GB" dirty="0"/>
              <a:t> </a:t>
            </a:r>
            <a:r>
              <a:rPr lang="en-GB" dirty="0" err="1"/>
              <a:t>obiect</a:t>
            </a:r>
            <a:r>
              <a:rPr lang="en-GB" dirty="0"/>
              <a:t> Future</a:t>
            </a:r>
          </a:p>
        </p:txBody>
      </p:sp>
    </p:spTree>
    <p:extLst>
      <p:ext uri="{BB962C8B-B14F-4D97-AF65-F5344CB8AC3E}">
        <p14:creationId xmlns:p14="http://schemas.microsoft.com/office/powerpoint/2010/main" val="10460508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59707" y="1197225"/>
            <a:ext cx="1070397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 err="1"/>
              <a:t>ExecutorService.submit</a:t>
            </a:r>
            <a:r>
              <a:rPr lang="en-US" sz="2400" b="1" dirty="0"/>
              <a:t>() </a:t>
            </a:r>
            <a:r>
              <a:rPr lang="en-US" sz="2400" dirty="0" err="1"/>
              <a:t>intoarce</a:t>
            </a:r>
            <a:r>
              <a:rPr lang="en-US" sz="2400" dirty="0"/>
              <a:t> </a:t>
            </a:r>
            <a:r>
              <a:rPr lang="en-US" sz="2400" dirty="0" err="1"/>
              <a:t>imediat</a:t>
            </a:r>
            <a:r>
              <a:rPr lang="en-US" sz="2400" dirty="0"/>
              <a:t>, </a:t>
            </a:r>
            <a:r>
              <a:rPr lang="en-US" sz="2400" dirty="0" err="1"/>
              <a:t>returnand</a:t>
            </a:r>
            <a:r>
              <a:rPr lang="en-US" sz="2400" dirty="0"/>
              <a:t> un </a:t>
            </a:r>
            <a:r>
              <a:rPr lang="en-US" sz="2400" dirty="0" err="1"/>
              <a:t>obiect</a:t>
            </a:r>
            <a:r>
              <a:rPr lang="en-US" sz="2400" dirty="0"/>
              <a:t> Future. </a:t>
            </a:r>
          </a:p>
          <a:p>
            <a:r>
              <a:rPr lang="en-US" sz="2400" dirty="0"/>
              <a:t>     Din </a:t>
            </a:r>
            <a:r>
              <a:rPr lang="en-US" sz="2400" dirty="0" err="1"/>
              <a:t>acest</a:t>
            </a:r>
            <a:r>
              <a:rPr lang="en-US" sz="2400" dirty="0"/>
              <a:t> moment se pot </a:t>
            </a:r>
            <a:r>
              <a:rPr lang="en-US" sz="2400" dirty="0" err="1"/>
              <a:t>executa</a:t>
            </a:r>
            <a:r>
              <a:rPr lang="en-US" sz="2400" dirty="0"/>
              <a:t> </a:t>
            </a:r>
            <a:r>
              <a:rPr lang="en-US" sz="2400" dirty="0" err="1"/>
              <a:t>diferite</a:t>
            </a:r>
            <a:r>
              <a:rPr lang="en-US" sz="2400" dirty="0"/>
              <a:t> task-</a:t>
            </a:r>
            <a:r>
              <a:rPr lang="en-US" sz="2400" dirty="0" err="1"/>
              <a:t>uri</a:t>
            </a:r>
            <a:r>
              <a:rPr lang="en-US" sz="2400" dirty="0"/>
              <a:t> in parallel cu </a:t>
            </a:r>
            <a:r>
              <a:rPr lang="en-US" sz="2400" dirty="0" err="1"/>
              <a:t>cea</a:t>
            </a:r>
            <a:r>
              <a:rPr lang="en-US" sz="2400" dirty="0"/>
              <a:t> </a:t>
            </a:r>
            <a:r>
              <a:rPr lang="en-US" sz="2400" dirty="0" err="1"/>
              <a:t>executata</a:t>
            </a:r>
            <a:r>
              <a:rPr lang="en-US" sz="2400" dirty="0"/>
              <a:t> de       	</a:t>
            </a:r>
            <a:r>
              <a:rPr lang="en-US" sz="2400" dirty="0" err="1"/>
              <a:t>obiectul</a:t>
            </a:r>
            <a:r>
              <a:rPr lang="en-US" sz="2400" dirty="0"/>
              <a:t> Future.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 err="1"/>
              <a:t>Rezultatul</a:t>
            </a:r>
            <a:r>
              <a:rPr lang="en-US" sz="2400" dirty="0"/>
              <a:t> </a:t>
            </a:r>
            <a:r>
              <a:rPr lang="en-US" sz="2400" dirty="0" err="1"/>
              <a:t>returnat</a:t>
            </a:r>
            <a:r>
              <a:rPr lang="en-US" sz="2400" dirty="0"/>
              <a:t> de </a:t>
            </a:r>
            <a:r>
              <a:rPr lang="en-US" sz="2400" dirty="0" err="1"/>
              <a:t>obiectul</a:t>
            </a:r>
            <a:r>
              <a:rPr lang="en-US" sz="2400" dirty="0"/>
              <a:t> Future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obtinut</a:t>
            </a:r>
            <a:r>
              <a:rPr lang="en-US" sz="2400" dirty="0"/>
              <a:t> </a:t>
            </a:r>
            <a:r>
              <a:rPr lang="en-US" sz="2400" dirty="0" err="1"/>
              <a:t>apeland</a:t>
            </a:r>
            <a:r>
              <a:rPr lang="en-US" sz="2400" dirty="0"/>
              <a:t> </a:t>
            </a:r>
            <a:r>
              <a:rPr lang="en-US" sz="2400" b="1" dirty="0" err="1"/>
              <a:t>future.get</a:t>
            </a:r>
            <a:r>
              <a:rPr lang="en-US" sz="2400" b="1" dirty="0"/>
              <a:t>()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 err="1"/>
              <a:t>Metoda</a:t>
            </a:r>
            <a:r>
              <a:rPr lang="en-US" sz="2400" dirty="0"/>
              <a:t> </a:t>
            </a:r>
            <a:r>
              <a:rPr lang="en-US" sz="2400" b="1" dirty="0"/>
              <a:t>get() </a:t>
            </a:r>
            <a:r>
              <a:rPr lang="en-US" sz="2400" dirty="0"/>
              <a:t>a </a:t>
            </a:r>
            <a:r>
              <a:rPr lang="en-US" sz="2400" dirty="0" err="1"/>
              <a:t>obiectelor</a:t>
            </a:r>
            <a:r>
              <a:rPr lang="en-US" sz="2400" dirty="0"/>
              <a:t> Future </a:t>
            </a:r>
            <a:r>
              <a:rPr lang="en-US" sz="2400" dirty="0" err="1"/>
              <a:t>va</a:t>
            </a:r>
            <a:r>
              <a:rPr lang="en-US" sz="2400" dirty="0"/>
              <a:t> </a:t>
            </a:r>
            <a:r>
              <a:rPr lang="en-US" sz="2400" dirty="0" err="1"/>
              <a:t>bloca</a:t>
            </a:r>
            <a:r>
              <a:rPr lang="en-US" sz="2400" dirty="0"/>
              <a:t> thread-</a:t>
            </a:r>
            <a:r>
              <a:rPr lang="en-US" sz="2400" dirty="0" err="1"/>
              <a:t>ul</a:t>
            </a:r>
            <a:r>
              <a:rPr lang="en-US" sz="2400" dirty="0"/>
              <a:t> care o </a:t>
            </a:r>
            <a:r>
              <a:rPr lang="en-US" sz="2400" dirty="0" err="1"/>
              <a:t>apeleaza</a:t>
            </a:r>
            <a:r>
              <a:rPr lang="en-US" sz="2400" dirty="0"/>
              <a:t> </a:t>
            </a:r>
            <a:r>
              <a:rPr lang="en-US" sz="2400" dirty="0" err="1"/>
              <a:t>pana</a:t>
            </a:r>
            <a:r>
              <a:rPr lang="en-US" sz="2400" dirty="0"/>
              <a:t> cand se </a:t>
            </a:r>
            <a:r>
              <a:rPr lang="en-US" sz="2400" dirty="0" err="1"/>
              <a:t>returneaza</a:t>
            </a:r>
            <a:r>
              <a:rPr lang="en-US" sz="2400" dirty="0"/>
              <a:t> </a:t>
            </a:r>
            <a:r>
              <a:rPr lang="en-US" sz="2400" dirty="0" err="1"/>
              <a:t>obiectului</a:t>
            </a:r>
            <a:r>
              <a:rPr lang="en-US" sz="2400" dirty="0"/>
              <a:t> Future; </a:t>
            </a:r>
            <a:r>
              <a:rPr lang="en-US" sz="2400" dirty="0" err="1"/>
              <a:t>daca</a:t>
            </a:r>
            <a:r>
              <a:rPr lang="en-US" sz="2400" dirty="0"/>
              <a:t> task-</a:t>
            </a:r>
            <a:r>
              <a:rPr lang="en-US" sz="2400" dirty="0" err="1"/>
              <a:t>ul</a:t>
            </a:r>
            <a:r>
              <a:rPr lang="en-US" sz="2400" dirty="0"/>
              <a:t> </a:t>
            </a:r>
            <a:r>
              <a:rPr lang="en-US" sz="2400" dirty="0" err="1"/>
              <a:t>executat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anulat</a:t>
            </a:r>
            <a:r>
              <a:rPr lang="en-US" sz="2400" dirty="0"/>
              <a:t> </a:t>
            </a:r>
            <a:r>
              <a:rPr lang="en-US" sz="2400" dirty="0" err="1"/>
              <a:t>sau</a:t>
            </a:r>
            <a:r>
              <a:rPr lang="en-US" sz="2400" dirty="0"/>
              <a:t> thread-</a:t>
            </a:r>
            <a:r>
              <a:rPr lang="en-US" sz="2400" dirty="0" err="1"/>
              <a:t>ul</a:t>
            </a:r>
            <a:r>
              <a:rPr lang="en-US" sz="2400" dirty="0"/>
              <a:t> current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intrerupt</a:t>
            </a:r>
            <a:r>
              <a:rPr lang="en-US" sz="2400" dirty="0"/>
              <a:t>, </a:t>
            </a:r>
            <a:r>
              <a:rPr lang="en-US" sz="2400" dirty="0" err="1"/>
              <a:t>metoda</a:t>
            </a:r>
            <a:r>
              <a:rPr lang="en-US" sz="2400" dirty="0"/>
              <a:t> </a:t>
            </a:r>
            <a:r>
              <a:rPr lang="en-US" sz="2400" b="1" dirty="0"/>
              <a:t>get() </a:t>
            </a:r>
            <a:r>
              <a:rPr lang="en-US" sz="2400" dirty="0" err="1"/>
              <a:t>arunca</a:t>
            </a:r>
            <a:r>
              <a:rPr lang="en-US" sz="2400" dirty="0"/>
              <a:t> </a:t>
            </a:r>
            <a:r>
              <a:rPr lang="en-US" sz="2400" dirty="0" err="1"/>
              <a:t>exceptii</a:t>
            </a:r>
            <a:r>
              <a:rPr lang="en-US" sz="24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 err="1"/>
              <a:t>Metoda</a:t>
            </a:r>
            <a:r>
              <a:rPr lang="en-US" sz="2400" dirty="0"/>
              <a:t> </a:t>
            </a:r>
            <a:r>
              <a:rPr lang="en-US" sz="2400" b="1" dirty="0" err="1"/>
              <a:t>isDone</a:t>
            </a:r>
            <a:r>
              <a:rPr lang="en-US" sz="2400" b="1" dirty="0"/>
              <a:t>() </a:t>
            </a:r>
            <a:r>
              <a:rPr lang="en-US" sz="2400" dirty="0"/>
              <a:t>a </a:t>
            </a:r>
            <a:r>
              <a:rPr lang="en-US" sz="2400" dirty="0" err="1"/>
              <a:t>obiectelor</a:t>
            </a:r>
            <a:r>
              <a:rPr lang="en-US" sz="2400" dirty="0"/>
              <a:t> Future </a:t>
            </a:r>
            <a:r>
              <a:rPr lang="en-US" sz="2400" dirty="0" err="1"/>
              <a:t>poate</a:t>
            </a:r>
            <a:r>
              <a:rPr lang="en-US" sz="2400" dirty="0"/>
              <a:t> fi </a:t>
            </a:r>
            <a:r>
              <a:rPr lang="en-US" sz="2400" dirty="0" err="1"/>
              <a:t>apelata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a </a:t>
            </a:r>
            <a:r>
              <a:rPr lang="en-US" sz="2400" dirty="0" err="1"/>
              <a:t>vedea</a:t>
            </a:r>
            <a:r>
              <a:rPr lang="en-US" sz="2400" dirty="0"/>
              <a:t> </a:t>
            </a:r>
            <a:r>
              <a:rPr lang="en-US" sz="2400" dirty="0" err="1"/>
              <a:t>daca</a:t>
            </a:r>
            <a:r>
              <a:rPr lang="en-US" sz="2400" dirty="0"/>
              <a:t> </a:t>
            </a:r>
            <a:r>
              <a:rPr lang="en-US" sz="2400" dirty="0" err="1"/>
              <a:t>obiectul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-a </a:t>
            </a:r>
            <a:r>
              <a:rPr lang="en-US" sz="2400" dirty="0" err="1"/>
              <a:t>terminat</a:t>
            </a:r>
            <a:r>
              <a:rPr lang="en-US" sz="2400" dirty="0"/>
              <a:t> de </a:t>
            </a:r>
            <a:r>
              <a:rPr lang="en-US" sz="2400" dirty="0" err="1"/>
              <a:t>executat</a:t>
            </a:r>
            <a:r>
              <a:rPr lang="en-US" sz="2400" dirty="0"/>
              <a:t> task-</a:t>
            </a:r>
            <a:r>
              <a:rPr lang="en-US" sz="2400" dirty="0" err="1"/>
              <a:t>ul</a:t>
            </a:r>
            <a:r>
              <a:rPr lang="en-US" sz="2400" dirty="0"/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31341" y="154459"/>
            <a:ext cx="57934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highlight>
                  <a:srgbClr val="00FF00"/>
                </a:highlight>
              </a:rPr>
              <a:t>Future</a:t>
            </a:r>
            <a:r>
              <a:rPr lang="en-US" sz="2400" dirty="0"/>
              <a:t>  (</a:t>
            </a:r>
            <a:r>
              <a:rPr lang="en-US" sz="2400" dirty="0" err="1"/>
              <a:t>rezultatul</a:t>
            </a:r>
            <a:r>
              <a:rPr lang="en-US" sz="2400" dirty="0"/>
              <a:t> </a:t>
            </a:r>
            <a:r>
              <a:rPr lang="en-US" sz="2400" dirty="0" err="1"/>
              <a:t>unei</a:t>
            </a:r>
            <a:r>
              <a:rPr lang="en-US" sz="2400" dirty="0"/>
              <a:t> </a:t>
            </a:r>
            <a:r>
              <a:rPr lang="en-US" sz="2400" dirty="0" err="1"/>
              <a:t>executii</a:t>
            </a:r>
            <a:r>
              <a:rPr lang="en-US" sz="2400" dirty="0"/>
              <a:t> </a:t>
            </a:r>
            <a:r>
              <a:rPr lang="en-US" sz="2400" dirty="0" err="1"/>
              <a:t>asincrone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33748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5026" y="0"/>
            <a:ext cx="8554996" cy="6247864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import </a:t>
            </a:r>
            <a:r>
              <a:rPr lang="en-US" sz="2000" dirty="0" err="1"/>
              <a:t>java.util.concurrent</a:t>
            </a:r>
            <a:r>
              <a:rPr lang="en-US" sz="2000" dirty="0"/>
              <a:t>.*;</a:t>
            </a:r>
          </a:p>
          <a:p>
            <a:r>
              <a:rPr lang="en-US" sz="2000" dirty="0"/>
              <a:t>public class </a:t>
            </a:r>
            <a:r>
              <a:rPr lang="en-US" sz="2000" dirty="0" err="1"/>
              <a:t>CallableFuture</a:t>
            </a:r>
            <a:r>
              <a:rPr lang="en-US" sz="2000" dirty="0"/>
              <a:t>{</a:t>
            </a:r>
          </a:p>
          <a:p>
            <a:r>
              <a:rPr lang="en-US" sz="2000" dirty="0"/>
              <a:t>   </a:t>
            </a:r>
          </a:p>
          <a:p>
            <a:r>
              <a:rPr lang="en-US" sz="2000" dirty="0"/>
              <a:t> public static void main (String[] </a:t>
            </a:r>
            <a:r>
              <a:rPr lang="en-US" sz="2000" dirty="0" err="1"/>
              <a:t>args</a:t>
            </a:r>
            <a:r>
              <a:rPr lang="en-US" sz="2000" dirty="0"/>
              <a:t>) throws Exception{ </a:t>
            </a:r>
          </a:p>
          <a:p>
            <a:endParaRPr lang="en-US" sz="2000" dirty="0"/>
          </a:p>
          <a:p>
            <a:r>
              <a:rPr lang="en-US" sz="2000" dirty="0"/>
              <a:t>        </a:t>
            </a:r>
            <a:r>
              <a:rPr lang="en-US" sz="2000" b="1" dirty="0" err="1"/>
              <a:t>ExecutorService</a:t>
            </a:r>
            <a:r>
              <a:rPr lang="en-US" sz="2000" b="1" dirty="0"/>
              <a:t> pool = </a:t>
            </a:r>
            <a:r>
              <a:rPr lang="en-US" sz="2000" b="1" dirty="0" err="1"/>
              <a:t>Executors.newSingleThreadExecutor</a:t>
            </a:r>
            <a:r>
              <a:rPr lang="en-US" sz="2000" b="1" dirty="0"/>
              <a:t>();</a:t>
            </a:r>
          </a:p>
          <a:p>
            <a:endParaRPr lang="en-US" sz="2000" b="1" dirty="0"/>
          </a:p>
          <a:p>
            <a:r>
              <a:rPr lang="en-US" sz="2000" dirty="0"/>
              <a:t>        </a:t>
            </a:r>
            <a:r>
              <a:rPr lang="en-US" sz="2000" dirty="0" err="1"/>
              <a:t>int</a:t>
            </a:r>
            <a:r>
              <a:rPr lang="en-US" sz="2000" dirty="0"/>
              <a:t> time = </a:t>
            </a:r>
            <a:r>
              <a:rPr lang="en-US" sz="2000" dirty="0" err="1"/>
              <a:t>ThreadLocalRandom.current</a:t>
            </a:r>
            <a:r>
              <a:rPr lang="en-US" sz="2000" dirty="0"/>
              <a:t>().</a:t>
            </a:r>
            <a:r>
              <a:rPr lang="en-US" sz="2000" dirty="0" err="1"/>
              <a:t>nextInt</a:t>
            </a:r>
            <a:r>
              <a:rPr lang="en-US" sz="2000" dirty="0"/>
              <a:t>(1000, 5000);</a:t>
            </a:r>
          </a:p>
          <a:p>
            <a:endParaRPr lang="en-US" sz="2000" dirty="0"/>
          </a:p>
          <a:p>
            <a:r>
              <a:rPr lang="en-US" sz="2000" dirty="0"/>
              <a:t>        </a:t>
            </a:r>
            <a:r>
              <a:rPr lang="en-US" sz="2000" dirty="0" err="1"/>
              <a:t>System.out.println</a:t>
            </a:r>
            <a:r>
              <a:rPr lang="en-US" sz="2000" dirty="0"/>
              <a:t>("Creating the future");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        Future&lt;String&gt;  </a:t>
            </a:r>
            <a:r>
              <a:rPr lang="en-US" sz="2000" b="1" dirty="0" err="1">
                <a:solidFill>
                  <a:srgbClr val="00B050"/>
                </a:solidFill>
              </a:rPr>
              <a:t>futureEx</a:t>
            </a:r>
            <a:r>
              <a:rPr lang="en-US" sz="2000" b="1" dirty="0">
                <a:solidFill>
                  <a:srgbClr val="00B050"/>
                </a:solidFill>
              </a:rPr>
              <a:t> = </a:t>
            </a:r>
            <a:r>
              <a:rPr lang="en-US" sz="2000" b="1" dirty="0" err="1">
                <a:solidFill>
                  <a:srgbClr val="00B050"/>
                </a:solidFill>
              </a:rPr>
              <a:t>pool.submit</a:t>
            </a:r>
            <a:r>
              <a:rPr lang="en-US" sz="2000" b="1" dirty="0">
                <a:solidFill>
                  <a:srgbClr val="00B050"/>
                </a:solidFill>
              </a:rPr>
              <a:t>(new </a:t>
            </a:r>
            <a:r>
              <a:rPr lang="en-US" sz="2000" b="1" dirty="0" err="1">
                <a:solidFill>
                  <a:srgbClr val="00B050"/>
                </a:solidFill>
              </a:rPr>
              <a:t>TaskCallable</a:t>
            </a:r>
            <a:r>
              <a:rPr lang="en-US" sz="2000" b="1" dirty="0">
                <a:solidFill>
                  <a:srgbClr val="00B050"/>
                </a:solidFill>
              </a:rPr>
              <a:t>(time));</a:t>
            </a:r>
          </a:p>
          <a:p>
            <a:endParaRPr lang="en-US" sz="2000" dirty="0"/>
          </a:p>
          <a:p>
            <a:r>
              <a:rPr lang="en-US" sz="2000" dirty="0"/>
              <a:t>        </a:t>
            </a:r>
            <a:r>
              <a:rPr lang="en-US" sz="2000" dirty="0" err="1"/>
              <a:t>System.out.println</a:t>
            </a:r>
            <a:r>
              <a:rPr lang="en-US" sz="2000" dirty="0"/>
              <a:t>("Do something else while callable is getting executed");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Thread.currentThread</a:t>
            </a:r>
            <a:r>
              <a:rPr lang="en-US" sz="2000" dirty="0"/>
              <a:t>().sleep(time);</a:t>
            </a:r>
          </a:p>
          <a:p>
            <a:endParaRPr lang="en-US" sz="2000" dirty="0"/>
          </a:p>
          <a:p>
            <a:r>
              <a:rPr lang="en-US" sz="2000" dirty="0"/>
              <a:t>        </a:t>
            </a:r>
            <a:r>
              <a:rPr lang="en-US" sz="2000" dirty="0" err="1"/>
              <a:t>System.out.println</a:t>
            </a:r>
            <a:r>
              <a:rPr lang="en-US" sz="2000" dirty="0"/>
              <a:t>("Retrieve the result of the future");</a:t>
            </a:r>
          </a:p>
          <a:p>
            <a:r>
              <a:rPr lang="en-US" sz="2000" dirty="0"/>
              <a:t>        </a:t>
            </a:r>
            <a:r>
              <a:rPr lang="en-US" sz="2000" b="1" dirty="0">
                <a:solidFill>
                  <a:srgbClr val="00B050"/>
                </a:solidFill>
              </a:rPr>
              <a:t>String result = </a:t>
            </a:r>
            <a:r>
              <a:rPr lang="en-US" sz="2000" b="1" dirty="0" err="1">
                <a:solidFill>
                  <a:srgbClr val="00B050"/>
                </a:solidFill>
              </a:rPr>
              <a:t>futureEx.get</a:t>
            </a:r>
            <a:r>
              <a:rPr lang="en-US" sz="2000" b="1" dirty="0">
                <a:solidFill>
                  <a:srgbClr val="00B050"/>
                </a:solidFill>
              </a:rPr>
              <a:t>();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System.out.println</a:t>
            </a:r>
            <a:r>
              <a:rPr lang="en-US" sz="2000" dirty="0"/>
              <a:t>(result);</a:t>
            </a:r>
          </a:p>
          <a:p>
            <a:endParaRPr lang="en-US" sz="2000" dirty="0"/>
          </a:p>
          <a:p>
            <a:r>
              <a:rPr lang="en-US" sz="2000" dirty="0"/>
              <a:t>        </a:t>
            </a:r>
            <a:r>
              <a:rPr lang="en-US" sz="2000" b="1" dirty="0" err="1"/>
              <a:t>pool.shutdown</a:t>
            </a:r>
            <a:r>
              <a:rPr lang="en-US" sz="2000" b="1" dirty="0"/>
              <a:t>();     </a:t>
            </a:r>
            <a:r>
              <a:rPr lang="en-US" sz="2000" dirty="0"/>
              <a:t>    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7706" y="5719533"/>
            <a:ext cx="6589368" cy="4001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>
                <a:hlinkClick r:id="rId2"/>
              </a:rPr>
              <a:t>https://www.callicoder.com/java-callable-and-future-tutorial</a:t>
            </a:r>
            <a:r>
              <a:rPr lang="en-US" sz="1600" dirty="0">
                <a:hlinkClick r:id="rId2"/>
              </a:rPr>
              <a:t>/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356988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78967" y="261826"/>
            <a:ext cx="8412239" cy="590931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public static void main (String[] </a:t>
            </a:r>
            <a:r>
              <a:rPr lang="en-US" sz="2000" dirty="0" err="1"/>
              <a:t>args</a:t>
            </a:r>
            <a:r>
              <a:rPr lang="en-US" sz="2000" dirty="0"/>
              <a:t>) throws Exception{</a:t>
            </a:r>
          </a:p>
          <a:p>
            <a:r>
              <a:rPr lang="en-US" sz="2000" dirty="0"/>
              <a:t>        </a:t>
            </a:r>
            <a:r>
              <a:rPr lang="en-US" sz="2000" b="1" dirty="0" err="1"/>
              <a:t>ExecutorService</a:t>
            </a:r>
            <a:r>
              <a:rPr lang="en-US" sz="2000" b="1" dirty="0"/>
              <a:t> pool = </a:t>
            </a:r>
            <a:r>
              <a:rPr lang="en-US" sz="2000" b="1" dirty="0" err="1"/>
              <a:t>Executors.newSingleThreadExecutor</a:t>
            </a:r>
            <a:r>
              <a:rPr lang="en-US" sz="2000" b="1" dirty="0"/>
              <a:t>();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int</a:t>
            </a:r>
            <a:r>
              <a:rPr lang="en-US" sz="2000" dirty="0"/>
              <a:t> time = </a:t>
            </a:r>
            <a:r>
              <a:rPr lang="en-US" sz="2000" dirty="0" err="1"/>
              <a:t>ThreadLocalRandom.current</a:t>
            </a:r>
            <a:r>
              <a:rPr lang="en-US" sz="2000" dirty="0"/>
              <a:t>().</a:t>
            </a:r>
            <a:r>
              <a:rPr lang="en-US" sz="2000" dirty="0" err="1"/>
              <a:t>nextInt</a:t>
            </a:r>
            <a:r>
              <a:rPr lang="en-US" sz="2000" dirty="0"/>
              <a:t>(1000, 5000);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System.out.println</a:t>
            </a:r>
            <a:r>
              <a:rPr lang="en-US" sz="2000" dirty="0"/>
              <a:t>("Creating the future");</a:t>
            </a:r>
          </a:p>
          <a:p>
            <a:endParaRPr lang="en-US" sz="2000" dirty="0"/>
          </a:p>
          <a:p>
            <a:r>
              <a:rPr lang="en-US" sz="2000" b="1" dirty="0">
                <a:solidFill>
                  <a:srgbClr val="00B050"/>
                </a:solidFill>
              </a:rPr>
              <a:t>        Future&lt;String&gt;  </a:t>
            </a:r>
            <a:r>
              <a:rPr lang="en-US" sz="2000" b="1" dirty="0" err="1">
                <a:solidFill>
                  <a:srgbClr val="00B050"/>
                </a:solidFill>
              </a:rPr>
              <a:t>futureEx</a:t>
            </a:r>
            <a:r>
              <a:rPr lang="en-US" sz="2000" b="1" dirty="0">
                <a:solidFill>
                  <a:srgbClr val="00B050"/>
                </a:solidFill>
              </a:rPr>
              <a:t> = </a:t>
            </a:r>
            <a:r>
              <a:rPr lang="en-US" sz="2000" b="1" dirty="0" err="1">
                <a:solidFill>
                  <a:srgbClr val="00B050"/>
                </a:solidFill>
              </a:rPr>
              <a:t>pool.submit</a:t>
            </a:r>
            <a:r>
              <a:rPr lang="en-US" sz="2000" b="1" dirty="0">
                <a:solidFill>
                  <a:srgbClr val="00B050"/>
                </a:solidFill>
              </a:rPr>
              <a:t>(new </a:t>
            </a:r>
            <a:r>
              <a:rPr lang="en-US" sz="2000" b="1" dirty="0" err="1">
                <a:solidFill>
                  <a:srgbClr val="00B050"/>
                </a:solidFill>
              </a:rPr>
              <a:t>TaskCallable</a:t>
            </a:r>
            <a:r>
              <a:rPr lang="en-US" sz="2000" b="1" dirty="0">
                <a:solidFill>
                  <a:srgbClr val="00B050"/>
                </a:solidFill>
              </a:rPr>
              <a:t>(time));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System.out.println</a:t>
            </a:r>
            <a:r>
              <a:rPr lang="en-US" sz="2000" dirty="0"/>
              <a:t>("Do something else while callable is getting executed");</a:t>
            </a:r>
          </a:p>
          <a:p>
            <a:r>
              <a:rPr lang="en-US" sz="2000" dirty="0">
                <a:solidFill>
                  <a:srgbClr val="00B050"/>
                </a:solidFill>
              </a:rPr>
              <a:t>        </a:t>
            </a:r>
          </a:p>
          <a:p>
            <a:r>
              <a:rPr lang="en-US" sz="2000" dirty="0">
                <a:solidFill>
                  <a:srgbClr val="00B050"/>
                </a:solidFill>
              </a:rPr>
              <a:t>        </a:t>
            </a:r>
            <a:r>
              <a:rPr lang="en-US" sz="2000" dirty="0"/>
              <a:t>while</a:t>
            </a:r>
            <a:r>
              <a:rPr lang="en-US" sz="2000" dirty="0">
                <a:solidFill>
                  <a:srgbClr val="00B050"/>
                </a:solidFill>
              </a:rPr>
              <a:t>(</a:t>
            </a:r>
            <a:r>
              <a:rPr lang="en-US" sz="2000" b="1" dirty="0">
                <a:solidFill>
                  <a:srgbClr val="00B050"/>
                </a:solidFill>
              </a:rPr>
              <a:t>!</a:t>
            </a:r>
            <a:r>
              <a:rPr lang="en-US" sz="2000" b="1" dirty="0" err="1">
                <a:solidFill>
                  <a:srgbClr val="00B050"/>
                </a:solidFill>
              </a:rPr>
              <a:t>futureEx.isDone</a:t>
            </a:r>
            <a:r>
              <a:rPr lang="en-US" sz="2000" b="1" dirty="0">
                <a:solidFill>
                  <a:srgbClr val="00B050"/>
                </a:solidFill>
              </a:rPr>
              <a:t>()</a:t>
            </a:r>
            <a:r>
              <a:rPr lang="en-US" sz="2000" dirty="0"/>
              <a:t>) {</a:t>
            </a:r>
          </a:p>
          <a:p>
            <a:r>
              <a:rPr lang="en-US" sz="2000" dirty="0"/>
              <a:t>            </a:t>
            </a:r>
            <a:r>
              <a:rPr lang="en-US" sz="2000" dirty="0" err="1"/>
              <a:t>System.out.println</a:t>
            </a:r>
            <a:r>
              <a:rPr lang="en-US" sz="2000" dirty="0"/>
              <a:t>("Task is still not done...");</a:t>
            </a:r>
          </a:p>
          <a:p>
            <a:r>
              <a:rPr lang="en-US" sz="2000" dirty="0"/>
              <a:t>            </a:t>
            </a:r>
            <a:r>
              <a:rPr lang="en-US" sz="2000" dirty="0" err="1"/>
              <a:t>Thread.sleep</a:t>
            </a:r>
            <a:r>
              <a:rPr lang="en-US" sz="2000" dirty="0"/>
              <a:t>(200);</a:t>
            </a:r>
          </a:p>
          <a:p>
            <a:r>
              <a:rPr lang="en-US" sz="2000" dirty="0"/>
              <a:t>        }    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System.out.println</a:t>
            </a:r>
            <a:r>
              <a:rPr lang="en-US" sz="2000" dirty="0"/>
              <a:t>("Retrieve the result of the future");</a:t>
            </a:r>
          </a:p>
          <a:p>
            <a:r>
              <a:rPr lang="en-US" sz="2000" dirty="0"/>
              <a:t>        </a:t>
            </a:r>
            <a:r>
              <a:rPr lang="en-US" sz="2000" b="1" dirty="0">
                <a:solidFill>
                  <a:srgbClr val="00B050"/>
                </a:solidFill>
              </a:rPr>
              <a:t>String result = </a:t>
            </a:r>
            <a:r>
              <a:rPr lang="en-US" sz="2000" b="1" dirty="0" err="1">
                <a:solidFill>
                  <a:srgbClr val="00B050"/>
                </a:solidFill>
              </a:rPr>
              <a:t>futureEx.get</a:t>
            </a:r>
            <a:r>
              <a:rPr lang="en-US" sz="2000" b="1" dirty="0">
                <a:solidFill>
                  <a:srgbClr val="00B050"/>
                </a:solidFill>
              </a:rPr>
              <a:t>();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System.out.println</a:t>
            </a:r>
            <a:r>
              <a:rPr lang="en-US" sz="2000" dirty="0"/>
              <a:t>(result);</a:t>
            </a:r>
          </a:p>
          <a:p>
            <a:endParaRPr lang="en-US" sz="2000" dirty="0"/>
          </a:p>
          <a:p>
            <a:r>
              <a:rPr lang="en-US" sz="2000" b="1" dirty="0"/>
              <a:t>        </a:t>
            </a:r>
            <a:r>
              <a:rPr lang="en-US" sz="2000" b="1" dirty="0" err="1"/>
              <a:t>pool.shutdown</a:t>
            </a:r>
            <a:r>
              <a:rPr lang="en-US" sz="2000" b="1" dirty="0"/>
              <a:t>();         </a:t>
            </a:r>
          </a:p>
          <a:p>
            <a:r>
              <a:rPr lang="en-US" sz="2000" dirty="0"/>
              <a:t>   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843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380AD-99F7-AAD6-46C1-D21AB2AD7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3A210A-2386-9340-4ECF-594C31A3A7B0}"/>
              </a:ext>
            </a:extLst>
          </p:cNvPr>
          <p:cNvSpPr txBox="1"/>
          <p:nvPr/>
        </p:nvSpPr>
        <p:spPr>
          <a:xfrm>
            <a:off x="402007" y="231346"/>
            <a:ext cx="6323913" cy="5078313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public static void main (String[] </a:t>
            </a:r>
            <a:r>
              <a:rPr lang="en-US" sz="1600" dirty="0" err="1"/>
              <a:t>args</a:t>
            </a:r>
            <a:r>
              <a:rPr lang="en-US" sz="1600" dirty="0"/>
              <a:t>) throws Exception{</a:t>
            </a:r>
          </a:p>
          <a:p>
            <a:r>
              <a:rPr lang="en-US" sz="1600" dirty="0"/>
              <a:t>        </a:t>
            </a:r>
            <a:r>
              <a:rPr lang="en-US" sz="1600" b="1" dirty="0" err="1"/>
              <a:t>ExecutorService</a:t>
            </a:r>
            <a:r>
              <a:rPr lang="en-US" sz="1600" b="1" dirty="0"/>
              <a:t> pool = </a:t>
            </a:r>
            <a:r>
              <a:rPr lang="en-US" sz="1600" b="1" dirty="0" err="1"/>
              <a:t>Executors.newSingleThreadExecutor</a:t>
            </a:r>
            <a:r>
              <a:rPr lang="en-US" sz="1600" b="1" dirty="0"/>
              <a:t>();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int</a:t>
            </a:r>
            <a:r>
              <a:rPr lang="en-US" sz="1600" dirty="0"/>
              <a:t> time = </a:t>
            </a:r>
            <a:r>
              <a:rPr lang="en-US" sz="1600" dirty="0" err="1"/>
              <a:t>ThreadLocalRandom.current</a:t>
            </a:r>
            <a:r>
              <a:rPr lang="en-US" sz="1600" dirty="0"/>
              <a:t>().</a:t>
            </a:r>
            <a:r>
              <a:rPr lang="en-US" sz="1600" dirty="0" err="1"/>
              <a:t>nextInt</a:t>
            </a:r>
            <a:r>
              <a:rPr lang="en-US" sz="1600" dirty="0"/>
              <a:t>(1000, 5000);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("Creating the future");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rgbClr val="00B050"/>
                </a:solidFill>
              </a:rPr>
              <a:t>        Future&lt;String&gt;  </a:t>
            </a:r>
            <a:r>
              <a:rPr lang="en-US" sz="1600" b="1" dirty="0" err="1">
                <a:solidFill>
                  <a:srgbClr val="00B050"/>
                </a:solidFill>
              </a:rPr>
              <a:t>futureEx</a:t>
            </a:r>
            <a:r>
              <a:rPr lang="en-US" sz="1600" b="1" dirty="0">
                <a:solidFill>
                  <a:srgbClr val="00B050"/>
                </a:solidFill>
              </a:rPr>
              <a:t> = </a:t>
            </a:r>
            <a:r>
              <a:rPr lang="en-US" sz="1600" b="1" dirty="0" err="1">
                <a:solidFill>
                  <a:srgbClr val="00B050"/>
                </a:solidFill>
              </a:rPr>
              <a:t>pool.submit</a:t>
            </a:r>
            <a:r>
              <a:rPr lang="en-US" sz="1600" b="1" dirty="0">
                <a:solidFill>
                  <a:srgbClr val="00B050"/>
                </a:solidFill>
              </a:rPr>
              <a:t>(new </a:t>
            </a:r>
            <a:r>
              <a:rPr lang="en-US" sz="1600" b="1" dirty="0" err="1">
                <a:solidFill>
                  <a:srgbClr val="00B050"/>
                </a:solidFill>
              </a:rPr>
              <a:t>TaskCallable</a:t>
            </a:r>
            <a:r>
              <a:rPr lang="en-US" sz="1600" b="1" dirty="0">
                <a:solidFill>
                  <a:srgbClr val="00B050"/>
                </a:solidFill>
              </a:rPr>
              <a:t>(time));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("Do something else while callable is getting executed");</a:t>
            </a:r>
          </a:p>
          <a:p>
            <a:r>
              <a:rPr lang="en-US" sz="1600" dirty="0">
                <a:solidFill>
                  <a:srgbClr val="00B050"/>
                </a:solidFill>
              </a:rPr>
              <a:t>        </a:t>
            </a:r>
          </a:p>
          <a:p>
            <a:r>
              <a:rPr lang="en-US" sz="1600" dirty="0">
                <a:solidFill>
                  <a:srgbClr val="00B050"/>
                </a:solidFill>
              </a:rPr>
              <a:t>        </a:t>
            </a:r>
            <a:r>
              <a:rPr lang="en-US" sz="1600" dirty="0"/>
              <a:t>while</a:t>
            </a:r>
            <a:r>
              <a:rPr lang="en-US" sz="1600" dirty="0">
                <a:solidFill>
                  <a:srgbClr val="00B050"/>
                </a:solidFill>
              </a:rPr>
              <a:t>(</a:t>
            </a:r>
            <a:r>
              <a:rPr lang="en-US" sz="1600" b="1" dirty="0">
                <a:solidFill>
                  <a:srgbClr val="00B050"/>
                </a:solidFill>
              </a:rPr>
              <a:t>!</a:t>
            </a:r>
            <a:r>
              <a:rPr lang="en-US" sz="1600" b="1" dirty="0" err="1">
                <a:solidFill>
                  <a:srgbClr val="00B050"/>
                </a:solidFill>
              </a:rPr>
              <a:t>futureEx.isDone</a:t>
            </a:r>
            <a:r>
              <a:rPr lang="en-US" sz="1600" b="1" dirty="0">
                <a:solidFill>
                  <a:srgbClr val="00B050"/>
                </a:solidFill>
              </a:rPr>
              <a:t>()</a:t>
            </a:r>
            <a:r>
              <a:rPr lang="en-US" sz="1600" dirty="0"/>
              <a:t>) {</a:t>
            </a:r>
          </a:p>
          <a:p>
            <a:r>
              <a:rPr lang="en-US" sz="1600" dirty="0"/>
              <a:t>            </a:t>
            </a:r>
            <a:r>
              <a:rPr lang="en-US" sz="1600" dirty="0" err="1"/>
              <a:t>System.out.println</a:t>
            </a:r>
            <a:r>
              <a:rPr lang="en-US" sz="1600" dirty="0"/>
              <a:t>("Task is still not done...");</a:t>
            </a:r>
          </a:p>
          <a:p>
            <a:r>
              <a:rPr lang="en-US" sz="1600" dirty="0"/>
              <a:t>            </a:t>
            </a:r>
            <a:r>
              <a:rPr lang="en-US" sz="1600" dirty="0" err="1"/>
              <a:t>Thread.sleep</a:t>
            </a:r>
            <a:r>
              <a:rPr lang="en-US" sz="1600" dirty="0"/>
              <a:t>(200);</a:t>
            </a:r>
          </a:p>
          <a:p>
            <a:r>
              <a:rPr lang="en-US" sz="1600" dirty="0"/>
              <a:t>        }    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("Retrieve the result of the future");</a:t>
            </a:r>
          </a:p>
          <a:p>
            <a:r>
              <a:rPr lang="en-US" sz="1600" dirty="0"/>
              <a:t>        </a:t>
            </a:r>
            <a:r>
              <a:rPr lang="en-US" sz="1600" b="1" dirty="0">
                <a:solidFill>
                  <a:srgbClr val="00B050"/>
                </a:solidFill>
              </a:rPr>
              <a:t>String result = </a:t>
            </a:r>
            <a:r>
              <a:rPr lang="en-US" sz="1600" b="1" dirty="0" err="1">
                <a:solidFill>
                  <a:srgbClr val="00B050"/>
                </a:solidFill>
              </a:rPr>
              <a:t>futureEx.get</a:t>
            </a:r>
            <a:r>
              <a:rPr lang="en-US" sz="1600" b="1" dirty="0">
                <a:solidFill>
                  <a:srgbClr val="00B050"/>
                </a:solidFill>
              </a:rPr>
              <a:t>();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(result);</a:t>
            </a:r>
          </a:p>
          <a:p>
            <a:endParaRPr lang="en-US" sz="1600" dirty="0"/>
          </a:p>
          <a:p>
            <a:r>
              <a:rPr lang="en-US" sz="1600" b="1" dirty="0"/>
              <a:t>        </a:t>
            </a:r>
            <a:r>
              <a:rPr lang="en-US" sz="1600" b="1" dirty="0" err="1"/>
              <a:t>pool.shutdown</a:t>
            </a:r>
            <a:r>
              <a:rPr lang="en-US" sz="1600" b="1" dirty="0"/>
              <a:t>();         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23F55D-9085-B45B-CCBC-E33590A47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345" y="2096452"/>
            <a:ext cx="6184648" cy="26650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054C9F-5AC5-97FA-6DCB-F5626C2BFDF4}"/>
              </a:ext>
            </a:extLst>
          </p:cNvPr>
          <p:cNvSpPr txBox="1"/>
          <p:nvPr/>
        </p:nvSpPr>
        <p:spPr>
          <a:xfrm>
            <a:off x="5605345" y="4761547"/>
            <a:ext cx="6096000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Callable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reprezinta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executie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asincrona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carei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rezultat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recuperate cu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ajutorul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unui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obiect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44580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2007" y="231346"/>
            <a:ext cx="11058473" cy="5940088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public static void main (String[] </a:t>
            </a:r>
            <a:r>
              <a:rPr lang="en-US" sz="1600" dirty="0" err="1"/>
              <a:t>args</a:t>
            </a:r>
            <a:r>
              <a:rPr lang="en-US" sz="1600" dirty="0"/>
              <a:t>) throws Exception{</a:t>
            </a:r>
          </a:p>
          <a:p>
            <a:r>
              <a:rPr lang="en-US" sz="1600" dirty="0"/>
              <a:t>        </a:t>
            </a:r>
            <a:r>
              <a:rPr lang="en-US" sz="1600" b="1" dirty="0" err="1"/>
              <a:t>ExecutorService</a:t>
            </a:r>
            <a:r>
              <a:rPr lang="en-US" sz="1600" b="1" dirty="0"/>
              <a:t> pool = </a:t>
            </a:r>
            <a:r>
              <a:rPr lang="en-US" sz="1600" b="1" dirty="0" err="1"/>
              <a:t>Executors.newSingleThreadExecutor</a:t>
            </a:r>
            <a:r>
              <a:rPr lang="en-US" sz="1600" b="1" dirty="0"/>
              <a:t>();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int</a:t>
            </a:r>
            <a:r>
              <a:rPr lang="en-US" sz="1600" dirty="0"/>
              <a:t> time = </a:t>
            </a:r>
            <a:r>
              <a:rPr lang="en-US" sz="1600" dirty="0" err="1"/>
              <a:t>ThreadLocalRandom.current</a:t>
            </a:r>
            <a:r>
              <a:rPr lang="en-US" sz="1600" dirty="0"/>
              <a:t>().</a:t>
            </a:r>
            <a:r>
              <a:rPr lang="en-US" sz="1600" dirty="0" err="1"/>
              <a:t>nextInt</a:t>
            </a:r>
            <a:r>
              <a:rPr lang="en-US" sz="1600" dirty="0"/>
              <a:t>(1000, 5000);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("Creating the future");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rgbClr val="00B050"/>
                </a:solidFill>
              </a:rPr>
              <a:t>        </a:t>
            </a:r>
            <a:r>
              <a:rPr lang="en-US" b="1" dirty="0">
                <a:solidFill>
                  <a:srgbClr val="00B050"/>
                </a:solidFill>
              </a:rPr>
              <a:t>Future&lt;String&gt;  </a:t>
            </a:r>
            <a:r>
              <a:rPr lang="en-US" b="1" dirty="0" err="1">
                <a:solidFill>
                  <a:srgbClr val="00B050"/>
                </a:solidFill>
              </a:rPr>
              <a:t>futureEx</a:t>
            </a:r>
            <a:r>
              <a:rPr lang="en-US" b="1" dirty="0">
                <a:solidFill>
                  <a:srgbClr val="00B050"/>
                </a:solidFill>
              </a:rPr>
              <a:t> = </a:t>
            </a:r>
            <a:r>
              <a:rPr lang="en-US" b="1" dirty="0" err="1">
                <a:solidFill>
                  <a:srgbClr val="00B050"/>
                </a:solidFill>
              </a:rPr>
              <a:t>pool.submit</a:t>
            </a:r>
            <a:r>
              <a:rPr lang="en-US" b="1" dirty="0">
                <a:solidFill>
                  <a:srgbClr val="00B050"/>
                </a:solidFill>
              </a:rPr>
              <a:t>(  ()-&gt;{  try  {</a:t>
            </a:r>
            <a:r>
              <a:rPr lang="en-US" b="1" dirty="0" err="1">
                <a:solidFill>
                  <a:srgbClr val="00B050"/>
                </a:solidFill>
              </a:rPr>
              <a:t>Thread.sleep</a:t>
            </a:r>
            <a:r>
              <a:rPr lang="en-US" b="1" dirty="0">
                <a:solidFill>
                  <a:srgbClr val="00B050"/>
                </a:solidFill>
              </a:rPr>
              <a:t>(time);} </a:t>
            </a:r>
          </a:p>
          <a:p>
            <a:r>
              <a:rPr lang="en-US" b="1" dirty="0">
                <a:solidFill>
                  <a:srgbClr val="00B050"/>
                </a:solidFill>
              </a:rPr>
              <a:t>                                                                                          catch (</a:t>
            </a:r>
            <a:r>
              <a:rPr lang="en-US" b="1" dirty="0" err="1">
                <a:solidFill>
                  <a:srgbClr val="00B050"/>
                </a:solidFill>
              </a:rPr>
              <a:t>InterruptedException</a:t>
            </a:r>
            <a:r>
              <a:rPr lang="en-US" b="1" dirty="0">
                <a:solidFill>
                  <a:srgbClr val="00B050"/>
                </a:solidFill>
              </a:rPr>
              <a:t> e) {</a:t>
            </a:r>
            <a:r>
              <a:rPr lang="en-US" b="1" dirty="0" err="1">
                <a:solidFill>
                  <a:srgbClr val="00B050"/>
                </a:solidFill>
              </a:rPr>
              <a:t>System.out.println</a:t>
            </a:r>
            <a:r>
              <a:rPr lang="en-US" b="1" dirty="0">
                <a:solidFill>
                  <a:srgbClr val="00B050"/>
                </a:solidFill>
              </a:rPr>
              <a:t>("error");}</a:t>
            </a:r>
          </a:p>
          <a:p>
            <a:r>
              <a:rPr lang="en-US" b="1" dirty="0">
                <a:solidFill>
                  <a:srgbClr val="00B050"/>
                </a:solidFill>
              </a:rPr>
              <a:t>                                                                                           finally {return "Hello from Callable!";}}</a:t>
            </a:r>
          </a:p>
          <a:p>
            <a:r>
              <a:rPr lang="en-US" b="1" dirty="0">
                <a:solidFill>
                  <a:srgbClr val="00B050"/>
                </a:solidFill>
              </a:rPr>
              <a:t>                                                                                 );</a:t>
            </a:r>
          </a:p>
          <a:p>
            <a:endParaRPr lang="en-US" sz="1600" b="1" dirty="0">
              <a:solidFill>
                <a:srgbClr val="00B050"/>
              </a:solidFill>
            </a:endParaRPr>
          </a:p>
          <a:p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("Do something else while callable is getting executed");</a:t>
            </a:r>
          </a:p>
          <a:p>
            <a:r>
              <a:rPr lang="en-US" sz="1600" dirty="0">
                <a:solidFill>
                  <a:srgbClr val="00B050"/>
                </a:solidFill>
              </a:rPr>
              <a:t>        </a:t>
            </a:r>
          </a:p>
          <a:p>
            <a:r>
              <a:rPr lang="en-US" sz="1600" dirty="0">
                <a:solidFill>
                  <a:srgbClr val="00B050"/>
                </a:solidFill>
              </a:rPr>
              <a:t>        </a:t>
            </a:r>
            <a:r>
              <a:rPr lang="en-US" sz="1600" dirty="0"/>
              <a:t>while</a:t>
            </a:r>
            <a:r>
              <a:rPr lang="en-US" sz="1600" dirty="0">
                <a:solidFill>
                  <a:srgbClr val="00B050"/>
                </a:solidFill>
              </a:rPr>
              <a:t>(</a:t>
            </a:r>
            <a:r>
              <a:rPr lang="en-US" sz="1600" b="1" dirty="0">
                <a:solidFill>
                  <a:srgbClr val="00B050"/>
                </a:solidFill>
              </a:rPr>
              <a:t>!</a:t>
            </a:r>
            <a:r>
              <a:rPr lang="en-US" sz="1600" b="1" dirty="0" err="1">
                <a:solidFill>
                  <a:srgbClr val="00B050"/>
                </a:solidFill>
              </a:rPr>
              <a:t>futureEx.isDone</a:t>
            </a:r>
            <a:r>
              <a:rPr lang="en-US" sz="1600" b="1" dirty="0">
                <a:solidFill>
                  <a:srgbClr val="00B050"/>
                </a:solidFill>
              </a:rPr>
              <a:t>()</a:t>
            </a:r>
            <a:r>
              <a:rPr lang="en-US" sz="1600" dirty="0"/>
              <a:t>) {</a:t>
            </a:r>
          </a:p>
          <a:p>
            <a:r>
              <a:rPr lang="en-US" sz="1600" dirty="0"/>
              <a:t>            </a:t>
            </a:r>
            <a:r>
              <a:rPr lang="en-US" sz="1600" dirty="0" err="1"/>
              <a:t>System.out.println</a:t>
            </a:r>
            <a:r>
              <a:rPr lang="en-US" sz="1600" dirty="0"/>
              <a:t>("Task is still not done...");</a:t>
            </a:r>
          </a:p>
          <a:p>
            <a:r>
              <a:rPr lang="en-US" sz="1600" dirty="0"/>
              <a:t>            </a:t>
            </a:r>
            <a:r>
              <a:rPr lang="en-US" sz="1600" dirty="0" err="1"/>
              <a:t>Thread.sleep</a:t>
            </a:r>
            <a:r>
              <a:rPr lang="en-US" sz="1600" dirty="0"/>
              <a:t>(200);</a:t>
            </a:r>
          </a:p>
          <a:p>
            <a:r>
              <a:rPr lang="en-US" sz="1600" dirty="0"/>
              <a:t>        }    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("Retrieve the result of the future");</a:t>
            </a:r>
          </a:p>
          <a:p>
            <a:r>
              <a:rPr lang="en-US" sz="1600" dirty="0"/>
              <a:t>        </a:t>
            </a:r>
            <a:r>
              <a:rPr lang="en-US" sz="1600" b="1" dirty="0">
                <a:solidFill>
                  <a:srgbClr val="00B050"/>
                </a:solidFill>
              </a:rPr>
              <a:t>String result = </a:t>
            </a:r>
            <a:r>
              <a:rPr lang="en-US" sz="1600" b="1" dirty="0" err="1">
                <a:solidFill>
                  <a:srgbClr val="00B050"/>
                </a:solidFill>
              </a:rPr>
              <a:t>futureEx.get</a:t>
            </a:r>
            <a:r>
              <a:rPr lang="en-US" sz="1600" b="1" dirty="0">
                <a:solidFill>
                  <a:srgbClr val="00B050"/>
                </a:solidFill>
              </a:rPr>
              <a:t>();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(result);</a:t>
            </a:r>
          </a:p>
          <a:p>
            <a:endParaRPr lang="en-US" sz="1600" dirty="0"/>
          </a:p>
          <a:p>
            <a:r>
              <a:rPr lang="en-US" sz="1600" b="1" dirty="0"/>
              <a:t>        </a:t>
            </a:r>
            <a:r>
              <a:rPr lang="en-US" sz="1600" b="1" dirty="0" err="1"/>
              <a:t>pool.shutdown</a:t>
            </a:r>
            <a:r>
              <a:rPr lang="en-US" sz="1600" b="1" dirty="0"/>
              <a:t>();         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E95E60-A8B2-8D77-2767-F6BD520DFEAC}"/>
              </a:ext>
            </a:extLst>
          </p:cNvPr>
          <p:cNvSpPr txBox="1"/>
          <p:nvPr/>
        </p:nvSpPr>
        <p:spPr>
          <a:xfrm>
            <a:off x="7383345" y="768667"/>
            <a:ext cx="4564815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/>
              </a:rPr>
              <a:t>Java 8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/>
              </a:rPr>
              <a:t>a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rgumentul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lui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submit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este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functie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anonima</a:t>
            </a:r>
            <a:endParaRPr kumimoji="0" lang="en-GB" sz="1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46641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E4D7E-9CCE-51F9-2E1A-058FF99DF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0F182-4C78-97BF-B929-9E9CEB30D68A}"/>
              </a:ext>
            </a:extLst>
          </p:cNvPr>
          <p:cNvSpPr txBox="1"/>
          <p:nvPr/>
        </p:nvSpPr>
        <p:spPr>
          <a:xfrm>
            <a:off x="566763" y="745520"/>
            <a:ext cx="11058473" cy="550920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public static void main (String[] </a:t>
            </a:r>
            <a:r>
              <a:rPr lang="en-US" sz="1600" dirty="0" err="1"/>
              <a:t>args</a:t>
            </a:r>
            <a:r>
              <a:rPr lang="en-US" sz="1600" dirty="0"/>
              <a:t>) throws Exception{</a:t>
            </a:r>
          </a:p>
          <a:p>
            <a:r>
              <a:rPr lang="en-US" sz="1600" dirty="0"/>
              <a:t>        </a:t>
            </a:r>
            <a:r>
              <a:rPr lang="en-US" sz="1600" b="1" dirty="0" err="1"/>
              <a:t>ExecutorService</a:t>
            </a:r>
            <a:r>
              <a:rPr lang="en-US" sz="1600" b="1" dirty="0"/>
              <a:t> pool = </a:t>
            </a:r>
            <a:r>
              <a:rPr lang="en-US" sz="1600" b="1" dirty="0" err="1"/>
              <a:t>Executors.newSingleThreadExecutor</a:t>
            </a:r>
            <a:r>
              <a:rPr lang="en-US" sz="1600" b="1" dirty="0"/>
              <a:t>();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int</a:t>
            </a:r>
            <a:r>
              <a:rPr lang="en-US" sz="1600" dirty="0"/>
              <a:t> time = </a:t>
            </a:r>
            <a:r>
              <a:rPr lang="en-US" sz="1600" dirty="0" err="1"/>
              <a:t>ThreadLocalRandom.current</a:t>
            </a:r>
            <a:r>
              <a:rPr lang="en-US" sz="1600" dirty="0"/>
              <a:t>().</a:t>
            </a:r>
            <a:r>
              <a:rPr lang="en-US" sz="1600" dirty="0" err="1"/>
              <a:t>nextInt</a:t>
            </a:r>
            <a:r>
              <a:rPr lang="en-US" sz="1600" dirty="0"/>
              <a:t>(</a:t>
            </a:r>
            <a:r>
              <a:rPr lang="en-US" sz="1600" b="1" dirty="0">
                <a:solidFill>
                  <a:srgbClr val="00B050"/>
                </a:solidFill>
              </a:rPr>
              <a:t>1000</a:t>
            </a:r>
            <a:r>
              <a:rPr lang="en-US" sz="1600" dirty="0"/>
              <a:t>, 5000);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("Creating the future");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rgbClr val="00B050"/>
                </a:solidFill>
              </a:rPr>
              <a:t>        </a:t>
            </a:r>
            <a:r>
              <a:rPr lang="en-US" dirty="0"/>
              <a:t>Future&lt;String&gt;  </a:t>
            </a:r>
            <a:r>
              <a:rPr lang="en-US" dirty="0" err="1"/>
              <a:t>futureEx</a:t>
            </a:r>
            <a:r>
              <a:rPr lang="en-US" dirty="0"/>
              <a:t> = </a:t>
            </a:r>
            <a:r>
              <a:rPr lang="en-US" dirty="0" err="1"/>
              <a:t>pool.submit</a:t>
            </a:r>
            <a:r>
              <a:rPr lang="en-US" dirty="0"/>
              <a:t>(  ()-&gt;{  try  {</a:t>
            </a:r>
            <a:r>
              <a:rPr lang="en-US" dirty="0" err="1"/>
              <a:t>Thread.sleep</a:t>
            </a:r>
            <a:r>
              <a:rPr lang="en-US" dirty="0"/>
              <a:t>(time);} </a:t>
            </a:r>
          </a:p>
          <a:p>
            <a:r>
              <a:rPr lang="en-US" dirty="0"/>
              <a:t>                                                                                          catch (</a:t>
            </a:r>
            <a:r>
              <a:rPr lang="en-US" dirty="0" err="1"/>
              <a:t>InterruptedException</a:t>
            </a:r>
            <a:r>
              <a:rPr lang="en-US" dirty="0"/>
              <a:t> e) {</a:t>
            </a:r>
            <a:r>
              <a:rPr lang="en-US" dirty="0" err="1"/>
              <a:t>System.out.println</a:t>
            </a:r>
            <a:r>
              <a:rPr lang="en-US" dirty="0"/>
              <a:t>("error");}</a:t>
            </a:r>
          </a:p>
          <a:p>
            <a:r>
              <a:rPr lang="en-US" dirty="0"/>
              <a:t>                                                                                           finally {return "Hello from Callable!";}} );</a:t>
            </a:r>
          </a:p>
          <a:p>
            <a:r>
              <a:rPr lang="en-US" b="1" dirty="0">
                <a:solidFill>
                  <a:srgbClr val="00B050"/>
                </a:solidFill>
              </a:rPr>
              <a:t>      </a:t>
            </a:r>
            <a:r>
              <a:rPr lang="en-US" b="1" dirty="0" err="1">
                <a:solidFill>
                  <a:srgbClr val="00B050"/>
                </a:solidFill>
              </a:rPr>
              <a:t>CompletableFuture.runAsync</a:t>
            </a:r>
            <a:r>
              <a:rPr lang="en-US" b="1" dirty="0">
                <a:solidFill>
                  <a:srgbClr val="00B050"/>
                </a:solidFill>
              </a:rPr>
              <a:t>(()-&gt;{</a:t>
            </a:r>
          </a:p>
          <a:p>
            <a:r>
              <a:rPr lang="en-US" b="1" dirty="0">
                <a:solidFill>
                  <a:srgbClr val="00B050"/>
                </a:solidFill>
              </a:rPr>
              <a:t>                        try {</a:t>
            </a:r>
            <a:r>
              <a:rPr lang="en-US" b="1" dirty="0" err="1">
                <a:solidFill>
                  <a:srgbClr val="00B050"/>
                </a:solidFill>
              </a:rPr>
              <a:t>Thread.sleep</a:t>
            </a:r>
            <a:r>
              <a:rPr lang="en-US" b="1" dirty="0">
                <a:solidFill>
                  <a:srgbClr val="00B050"/>
                </a:solidFill>
              </a:rPr>
              <a:t>(1000);} catch (</a:t>
            </a:r>
            <a:r>
              <a:rPr lang="en-US" b="1" dirty="0" err="1">
                <a:solidFill>
                  <a:srgbClr val="00B050"/>
                </a:solidFill>
              </a:rPr>
              <a:t>InterruptedException</a:t>
            </a:r>
            <a:r>
              <a:rPr lang="en-US" b="1" dirty="0">
                <a:solidFill>
                  <a:srgbClr val="00B050"/>
                </a:solidFill>
              </a:rPr>
              <a:t> e){</a:t>
            </a:r>
            <a:r>
              <a:rPr lang="en-US" b="1" dirty="0" err="1">
                <a:solidFill>
                  <a:srgbClr val="00B050"/>
                </a:solidFill>
              </a:rPr>
              <a:t>System.out.println</a:t>
            </a:r>
            <a:r>
              <a:rPr lang="en-US" b="1" dirty="0">
                <a:solidFill>
                  <a:srgbClr val="00B050"/>
                </a:solidFill>
              </a:rPr>
              <a:t>("error");} </a:t>
            </a:r>
          </a:p>
          <a:p>
            <a:r>
              <a:rPr lang="en-US" b="1" dirty="0">
                <a:solidFill>
                  <a:srgbClr val="00B050"/>
                </a:solidFill>
              </a:rPr>
              <a:t>                        finally {</a:t>
            </a:r>
            <a:r>
              <a:rPr lang="en-US" b="1" dirty="0" err="1">
                <a:solidFill>
                  <a:srgbClr val="00B050"/>
                </a:solidFill>
              </a:rPr>
              <a:t>System.out.println</a:t>
            </a:r>
            <a:r>
              <a:rPr lang="en-US" b="1" dirty="0">
                <a:solidFill>
                  <a:srgbClr val="00B050"/>
                </a:solidFill>
              </a:rPr>
              <a:t>("Hello from Completable Future!");}}); </a:t>
            </a:r>
          </a:p>
          <a:p>
            <a:endParaRPr lang="en-US" sz="1600" b="1" dirty="0">
              <a:solidFill>
                <a:srgbClr val="00B050"/>
              </a:solidFill>
            </a:endParaRPr>
          </a:p>
          <a:p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("Do something else while callable is getting executed");</a:t>
            </a:r>
          </a:p>
          <a:p>
            <a:r>
              <a:rPr lang="en-US" sz="1600" dirty="0">
                <a:solidFill>
                  <a:srgbClr val="00B050"/>
                </a:solidFill>
              </a:rPr>
              <a:t>        </a:t>
            </a:r>
          </a:p>
          <a:p>
            <a:r>
              <a:rPr lang="en-US" sz="1600" dirty="0">
                <a:solidFill>
                  <a:srgbClr val="00B050"/>
                </a:solidFill>
              </a:rPr>
              <a:t>        </a:t>
            </a:r>
            <a:r>
              <a:rPr lang="en-US" sz="1600" dirty="0"/>
              <a:t>while</a:t>
            </a:r>
            <a:r>
              <a:rPr lang="en-US" sz="1600" dirty="0">
                <a:solidFill>
                  <a:srgbClr val="00B050"/>
                </a:solidFill>
              </a:rPr>
              <a:t>(</a:t>
            </a:r>
            <a:r>
              <a:rPr lang="en-US" sz="1600" b="1" dirty="0">
                <a:solidFill>
                  <a:srgbClr val="00B050"/>
                </a:solidFill>
              </a:rPr>
              <a:t>!</a:t>
            </a:r>
            <a:r>
              <a:rPr lang="en-US" sz="1600" b="1" dirty="0" err="1">
                <a:solidFill>
                  <a:srgbClr val="00B050"/>
                </a:solidFill>
              </a:rPr>
              <a:t>futureEx.isDone</a:t>
            </a:r>
            <a:r>
              <a:rPr lang="en-US" sz="1600" b="1" dirty="0">
                <a:solidFill>
                  <a:srgbClr val="00B050"/>
                </a:solidFill>
              </a:rPr>
              <a:t>()</a:t>
            </a:r>
            <a:r>
              <a:rPr lang="en-US" sz="1600" dirty="0"/>
              <a:t>) {</a:t>
            </a:r>
          </a:p>
          <a:p>
            <a:r>
              <a:rPr lang="en-US" sz="1600" dirty="0"/>
              <a:t>            </a:t>
            </a:r>
            <a:r>
              <a:rPr lang="en-US" sz="1600" dirty="0" err="1"/>
              <a:t>System.out.println</a:t>
            </a:r>
            <a:r>
              <a:rPr lang="en-US" sz="1600" dirty="0"/>
              <a:t>("Task is still not done..."); </a:t>
            </a:r>
            <a:r>
              <a:rPr lang="en-US" sz="1600" dirty="0" err="1"/>
              <a:t>Thread.sleep</a:t>
            </a:r>
            <a:r>
              <a:rPr lang="en-US" sz="1600" dirty="0"/>
              <a:t>(200);}    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("Retrieve the result of the future");</a:t>
            </a:r>
          </a:p>
          <a:p>
            <a:r>
              <a:rPr lang="en-US" sz="1600" dirty="0"/>
              <a:t>        </a:t>
            </a:r>
            <a:r>
              <a:rPr lang="en-US" sz="1600" b="1" dirty="0">
                <a:solidFill>
                  <a:srgbClr val="00B050"/>
                </a:solidFill>
              </a:rPr>
              <a:t>String result = </a:t>
            </a:r>
            <a:r>
              <a:rPr lang="en-US" sz="1600" b="1" dirty="0" err="1">
                <a:solidFill>
                  <a:srgbClr val="00B050"/>
                </a:solidFill>
              </a:rPr>
              <a:t>futureEx.get</a:t>
            </a:r>
            <a:r>
              <a:rPr lang="en-US" sz="1600" b="1" dirty="0">
                <a:solidFill>
                  <a:srgbClr val="00B050"/>
                </a:solidFill>
              </a:rPr>
              <a:t>();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(result);</a:t>
            </a:r>
          </a:p>
          <a:p>
            <a:r>
              <a:rPr lang="en-US" sz="1600" b="1" dirty="0"/>
              <a:t>        </a:t>
            </a:r>
            <a:r>
              <a:rPr lang="en-US" sz="1600" b="1" dirty="0" err="1"/>
              <a:t>pool.shutdown</a:t>
            </a:r>
            <a:r>
              <a:rPr lang="en-US" sz="1600" b="1" dirty="0"/>
              <a:t>();   </a:t>
            </a: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0B959D-468F-CEE5-36F2-A7052F3A4243}"/>
              </a:ext>
            </a:extLst>
          </p:cNvPr>
          <p:cNvSpPr txBox="1"/>
          <p:nvPr/>
        </p:nvSpPr>
        <p:spPr>
          <a:xfrm>
            <a:off x="716967" y="223520"/>
            <a:ext cx="2285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>
                <a:highlight>
                  <a:srgbClr val="00FF00"/>
                </a:highlight>
              </a:rPr>
              <a:t>CompletableFuture</a:t>
            </a:r>
            <a:endParaRPr lang="en-GB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082639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8A929-C40D-8AF4-C41B-3BC99C564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D3FA9A-960C-94FD-6C59-6459106C2F0A}"/>
              </a:ext>
            </a:extLst>
          </p:cNvPr>
          <p:cNvSpPr txBox="1"/>
          <p:nvPr/>
        </p:nvSpPr>
        <p:spPr>
          <a:xfrm>
            <a:off x="566763" y="745520"/>
            <a:ext cx="7490117" cy="4893647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public static void main (String[] </a:t>
            </a:r>
            <a:r>
              <a:rPr lang="en-US" sz="1400" dirty="0" err="1"/>
              <a:t>args</a:t>
            </a:r>
            <a:r>
              <a:rPr lang="en-US" sz="1400" dirty="0"/>
              <a:t>) throws Exception{</a:t>
            </a:r>
          </a:p>
          <a:p>
            <a:r>
              <a:rPr lang="en-US" sz="1400" dirty="0"/>
              <a:t>        </a:t>
            </a:r>
            <a:r>
              <a:rPr lang="en-US" sz="1400" b="1" dirty="0" err="1"/>
              <a:t>ExecutorService</a:t>
            </a:r>
            <a:r>
              <a:rPr lang="en-US" sz="1400" b="1" dirty="0"/>
              <a:t> pool = </a:t>
            </a:r>
            <a:r>
              <a:rPr lang="en-US" sz="1400" b="1" dirty="0" err="1"/>
              <a:t>Executors.newSingleThreadExecutor</a:t>
            </a:r>
            <a:r>
              <a:rPr lang="en-US" sz="1400" b="1" dirty="0"/>
              <a:t>();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int</a:t>
            </a:r>
            <a:r>
              <a:rPr lang="en-US" sz="1400" dirty="0"/>
              <a:t> time = </a:t>
            </a:r>
            <a:r>
              <a:rPr lang="en-US" sz="1400" dirty="0" err="1"/>
              <a:t>ThreadLocalRandom.current</a:t>
            </a:r>
            <a:r>
              <a:rPr lang="en-US" sz="1400" dirty="0"/>
              <a:t>().</a:t>
            </a:r>
            <a:r>
              <a:rPr lang="en-US" sz="1400" dirty="0" err="1"/>
              <a:t>nextInt</a:t>
            </a:r>
            <a:r>
              <a:rPr lang="en-US" sz="1400" dirty="0"/>
              <a:t>(</a:t>
            </a:r>
            <a:r>
              <a:rPr lang="en-US" sz="1400" b="1" dirty="0">
                <a:solidFill>
                  <a:srgbClr val="00B050"/>
                </a:solidFill>
              </a:rPr>
              <a:t>1000</a:t>
            </a:r>
            <a:r>
              <a:rPr lang="en-US" sz="1400" dirty="0"/>
              <a:t>, 5000);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System.out.println</a:t>
            </a:r>
            <a:r>
              <a:rPr lang="en-US" sz="1400" dirty="0"/>
              <a:t>("Creating the future");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00B050"/>
                </a:solidFill>
              </a:rPr>
              <a:t>        </a:t>
            </a:r>
            <a:r>
              <a:rPr lang="en-US" sz="1400" dirty="0"/>
              <a:t>Future&lt;String&gt;  </a:t>
            </a:r>
            <a:r>
              <a:rPr lang="en-US" sz="1400" dirty="0" err="1"/>
              <a:t>futureEx</a:t>
            </a:r>
            <a:r>
              <a:rPr lang="en-US" sz="1400" dirty="0"/>
              <a:t> = </a:t>
            </a:r>
            <a:r>
              <a:rPr lang="en-US" sz="1400" dirty="0" err="1"/>
              <a:t>pool.submit</a:t>
            </a:r>
            <a:r>
              <a:rPr lang="en-US" sz="1400" dirty="0"/>
              <a:t>(  ()-&gt;{  try  {</a:t>
            </a:r>
            <a:r>
              <a:rPr lang="en-US" sz="1400" dirty="0" err="1"/>
              <a:t>Thread.sleep</a:t>
            </a:r>
            <a:r>
              <a:rPr lang="en-US" sz="1400" dirty="0"/>
              <a:t>(time);} </a:t>
            </a:r>
          </a:p>
          <a:p>
            <a:r>
              <a:rPr lang="en-US" sz="1400" dirty="0"/>
              <a:t>                                                                                          catch (</a:t>
            </a:r>
            <a:r>
              <a:rPr lang="en-US" sz="1400" dirty="0" err="1"/>
              <a:t>InterruptedException</a:t>
            </a:r>
            <a:r>
              <a:rPr lang="en-US" sz="1400" dirty="0"/>
              <a:t> e) {</a:t>
            </a:r>
            <a:r>
              <a:rPr lang="en-US" sz="1400" dirty="0" err="1"/>
              <a:t>System.out.println</a:t>
            </a:r>
            <a:r>
              <a:rPr lang="en-US" sz="1400" dirty="0"/>
              <a:t>("error");}</a:t>
            </a:r>
          </a:p>
          <a:p>
            <a:r>
              <a:rPr lang="en-US" sz="1400" dirty="0"/>
              <a:t>                                                                                           finally {return "Hello from Callable!";}} );</a:t>
            </a:r>
          </a:p>
          <a:p>
            <a:r>
              <a:rPr lang="en-US" sz="1400" b="1" dirty="0">
                <a:solidFill>
                  <a:srgbClr val="00B050"/>
                </a:solidFill>
              </a:rPr>
              <a:t>      </a:t>
            </a:r>
            <a:r>
              <a:rPr lang="en-US" sz="1400" b="1" dirty="0" err="1">
                <a:solidFill>
                  <a:srgbClr val="00B050"/>
                </a:solidFill>
              </a:rPr>
              <a:t>CompletableFuture.runAsync</a:t>
            </a:r>
            <a:r>
              <a:rPr lang="en-US" sz="1400" b="1" dirty="0">
                <a:solidFill>
                  <a:srgbClr val="00B050"/>
                </a:solidFill>
              </a:rPr>
              <a:t>(()-&gt;{</a:t>
            </a:r>
          </a:p>
          <a:p>
            <a:r>
              <a:rPr lang="en-US" sz="1400" b="1" dirty="0">
                <a:solidFill>
                  <a:srgbClr val="00B050"/>
                </a:solidFill>
              </a:rPr>
              <a:t>                        try {</a:t>
            </a:r>
            <a:r>
              <a:rPr lang="en-US" sz="1400" b="1" dirty="0" err="1">
                <a:solidFill>
                  <a:srgbClr val="00B050"/>
                </a:solidFill>
              </a:rPr>
              <a:t>Thread.sleep</a:t>
            </a:r>
            <a:r>
              <a:rPr lang="en-US" sz="1400" b="1" dirty="0">
                <a:solidFill>
                  <a:srgbClr val="00B050"/>
                </a:solidFill>
              </a:rPr>
              <a:t>(1000);} catch (</a:t>
            </a:r>
            <a:r>
              <a:rPr lang="en-US" sz="1400" b="1" dirty="0" err="1">
                <a:solidFill>
                  <a:srgbClr val="00B050"/>
                </a:solidFill>
              </a:rPr>
              <a:t>InterruptedException</a:t>
            </a:r>
            <a:r>
              <a:rPr lang="en-US" sz="1400" b="1" dirty="0">
                <a:solidFill>
                  <a:srgbClr val="00B050"/>
                </a:solidFill>
              </a:rPr>
              <a:t> e){</a:t>
            </a:r>
            <a:r>
              <a:rPr lang="en-US" sz="1400" b="1" dirty="0" err="1">
                <a:solidFill>
                  <a:srgbClr val="00B050"/>
                </a:solidFill>
              </a:rPr>
              <a:t>System.out.println</a:t>
            </a:r>
            <a:r>
              <a:rPr lang="en-US" sz="1400" b="1" dirty="0">
                <a:solidFill>
                  <a:srgbClr val="00B050"/>
                </a:solidFill>
              </a:rPr>
              <a:t>("error");} </a:t>
            </a:r>
          </a:p>
          <a:p>
            <a:r>
              <a:rPr lang="en-US" sz="1400" b="1" dirty="0">
                <a:solidFill>
                  <a:srgbClr val="00B050"/>
                </a:solidFill>
              </a:rPr>
              <a:t>                        finally {</a:t>
            </a:r>
            <a:r>
              <a:rPr lang="en-US" sz="1400" b="1" dirty="0" err="1">
                <a:solidFill>
                  <a:srgbClr val="00B050"/>
                </a:solidFill>
              </a:rPr>
              <a:t>System.out.println</a:t>
            </a:r>
            <a:r>
              <a:rPr lang="en-US" sz="1400" b="1" dirty="0">
                <a:solidFill>
                  <a:srgbClr val="00B050"/>
                </a:solidFill>
              </a:rPr>
              <a:t>("Hello from Completable Future!");}}); </a:t>
            </a:r>
          </a:p>
          <a:p>
            <a:endParaRPr lang="en-US" sz="1400" b="1" dirty="0">
              <a:solidFill>
                <a:srgbClr val="00B050"/>
              </a:solidFill>
            </a:endParaRPr>
          </a:p>
          <a:p>
            <a:r>
              <a:rPr lang="en-US" sz="1400" dirty="0"/>
              <a:t>        </a:t>
            </a:r>
            <a:r>
              <a:rPr lang="en-US" sz="1400" dirty="0" err="1"/>
              <a:t>System.out.println</a:t>
            </a:r>
            <a:r>
              <a:rPr lang="en-US" sz="1400" dirty="0"/>
              <a:t>("Do something else while callable is getting executed");</a:t>
            </a:r>
          </a:p>
          <a:p>
            <a:r>
              <a:rPr lang="en-US" sz="1400" dirty="0">
                <a:solidFill>
                  <a:srgbClr val="00B050"/>
                </a:solidFill>
              </a:rPr>
              <a:t>        </a:t>
            </a:r>
          </a:p>
          <a:p>
            <a:r>
              <a:rPr lang="en-US" sz="1400" dirty="0">
                <a:solidFill>
                  <a:srgbClr val="00B050"/>
                </a:solidFill>
              </a:rPr>
              <a:t>        </a:t>
            </a:r>
            <a:r>
              <a:rPr lang="en-US" sz="1400" dirty="0"/>
              <a:t>while</a:t>
            </a:r>
            <a:r>
              <a:rPr lang="en-US" sz="1400" dirty="0">
                <a:solidFill>
                  <a:srgbClr val="00B050"/>
                </a:solidFill>
              </a:rPr>
              <a:t>(</a:t>
            </a:r>
            <a:r>
              <a:rPr lang="en-US" sz="1400" b="1" dirty="0">
                <a:solidFill>
                  <a:srgbClr val="00B050"/>
                </a:solidFill>
              </a:rPr>
              <a:t>!</a:t>
            </a:r>
            <a:r>
              <a:rPr lang="en-US" sz="1400" b="1" dirty="0" err="1">
                <a:solidFill>
                  <a:srgbClr val="00B050"/>
                </a:solidFill>
              </a:rPr>
              <a:t>futureEx.isDone</a:t>
            </a:r>
            <a:r>
              <a:rPr lang="en-US" sz="1400" b="1" dirty="0">
                <a:solidFill>
                  <a:srgbClr val="00B050"/>
                </a:solidFill>
              </a:rPr>
              <a:t>()</a:t>
            </a:r>
            <a:r>
              <a:rPr lang="en-US" sz="1400" dirty="0"/>
              <a:t>) {</a:t>
            </a:r>
          </a:p>
          <a:p>
            <a:r>
              <a:rPr lang="en-US" sz="1400" dirty="0"/>
              <a:t>            </a:t>
            </a:r>
            <a:r>
              <a:rPr lang="en-US" sz="1400" dirty="0" err="1"/>
              <a:t>System.out.println</a:t>
            </a:r>
            <a:r>
              <a:rPr lang="en-US" sz="1400" dirty="0"/>
              <a:t>("Task is still not done..."); </a:t>
            </a:r>
            <a:r>
              <a:rPr lang="en-US" sz="1400" dirty="0" err="1"/>
              <a:t>Thread.sleep</a:t>
            </a:r>
            <a:r>
              <a:rPr lang="en-US" sz="1400" dirty="0"/>
              <a:t>(200);}    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System.out.println</a:t>
            </a:r>
            <a:r>
              <a:rPr lang="en-US" sz="1400" dirty="0"/>
              <a:t>("Retrieve the result of the future");</a:t>
            </a:r>
          </a:p>
          <a:p>
            <a:r>
              <a:rPr lang="en-US" sz="1400" dirty="0"/>
              <a:t>        </a:t>
            </a:r>
            <a:r>
              <a:rPr lang="en-US" sz="1400" b="1" dirty="0">
                <a:solidFill>
                  <a:srgbClr val="00B050"/>
                </a:solidFill>
              </a:rPr>
              <a:t>String result = </a:t>
            </a:r>
            <a:r>
              <a:rPr lang="en-US" sz="1400" b="1" dirty="0" err="1">
                <a:solidFill>
                  <a:srgbClr val="00B050"/>
                </a:solidFill>
              </a:rPr>
              <a:t>futureEx.get</a:t>
            </a:r>
            <a:r>
              <a:rPr lang="en-US" sz="1400" b="1" dirty="0">
                <a:solidFill>
                  <a:srgbClr val="00B050"/>
                </a:solidFill>
              </a:rPr>
              <a:t>();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System.out.println</a:t>
            </a:r>
            <a:r>
              <a:rPr lang="en-US" sz="1400" dirty="0"/>
              <a:t>(result);</a:t>
            </a:r>
          </a:p>
          <a:p>
            <a:r>
              <a:rPr lang="en-US" sz="1400" b="1" dirty="0"/>
              <a:t>        </a:t>
            </a:r>
            <a:r>
              <a:rPr lang="en-US" sz="1400" b="1" dirty="0" err="1"/>
              <a:t>pool.shutdown</a:t>
            </a:r>
            <a:r>
              <a:rPr lang="en-US" sz="1400" b="1" dirty="0"/>
              <a:t>();   </a:t>
            </a:r>
            <a:r>
              <a:rPr lang="en-US" sz="1400" dirty="0"/>
              <a:t>}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9C238A-BC57-ACDA-2D80-CC195105FC75}"/>
              </a:ext>
            </a:extLst>
          </p:cNvPr>
          <p:cNvSpPr txBox="1"/>
          <p:nvPr/>
        </p:nvSpPr>
        <p:spPr>
          <a:xfrm>
            <a:off x="716967" y="223520"/>
            <a:ext cx="8640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>
                <a:highlight>
                  <a:srgbClr val="00FF00"/>
                </a:highlight>
              </a:rPr>
              <a:t>CompletableFuture</a:t>
            </a:r>
            <a:r>
              <a:rPr lang="en-US" dirty="0">
                <a:highlight>
                  <a:srgbClr val="00FF00"/>
                </a:highlight>
              </a:rPr>
              <a:t>  </a:t>
            </a:r>
            <a:r>
              <a:rPr lang="en-US" dirty="0" err="1"/>
              <a:t>implementeaza</a:t>
            </a:r>
            <a:r>
              <a:rPr lang="en-US" dirty="0"/>
              <a:t> </a:t>
            </a:r>
            <a:r>
              <a:rPr lang="en-US" dirty="0" err="1"/>
              <a:t>interfata</a:t>
            </a:r>
            <a:r>
              <a:rPr lang="en-US" dirty="0"/>
              <a:t> </a:t>
            </a:r>
            <a:r>
              <a:rPr lang="en-US" dirty="0">
                <a:highlight>
                  <a:srgbClr val="00FF00"/>
                </a:highlight>
              </a:rPr>
              <a:t>Future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reprezinta</a:t>
            </a:r>
            <a:r>
              <a:rPr lang="en-US" dirty="0"/>
              <a:t> o </a:t>
            </a:r>
            <a:r>
              <a:rPr lang="en-US" dirty="0" err="1"/>
              <a:t>executie</a:t>
            </a:r>
            <a:r>
              <a:rPr lang="en-US" dirty="0"/>
              <a:t>  </a:t>
            </a:r>
            <a:r>
              <a:rPr lang="en-US" dirty="0" err="1"/>
              <a:t>asincrona</a:t>
            </a:r>
            <a:r>
              <a:rPr lang="en-US" dirty="0"/>
              <a:t> 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BC6A7B-2698-35DC-D560-C13F601CA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891510"/>
            <a:ext cx="5731091" cy="537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7628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A76A6-63EC-1DFB-4BAC-06415F518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DB3708-1ABF-79AD-FACB-BD125D77A1B5}"/>
              </a:ext>
            </a:extLst>
          </p:cNvPr>
          <p:cNvSpPr txBox="1"/>
          <p:nvPr/>
        </p:nvSpPr>
        <p:spPr>
          <a:xfrm>
            <a:off x="566763" y="745520"/>
            <a:ext cx="11058473" cy="578619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public static void main (String[] </a:t>
            </a:r>
            <a:r>
              <a:rPr lang="en-US" sz="1600" dirty="0" err="1"/>
              <a:t>args</a:t>
            </a:r>
            <a:r>
              <a:rPr lang="en-US" sz="1600" dirty="0"/>
              <a:t>) throws Exception{</a:t>
            </a:r>
          </a:p>
          <a:p>
            <a:r>
              <a:rPr lang="en-US" sz="1600" dirty="0"/>
              <a:t>        </a:t>
            </a:r>
            <a:r>
              <a:rPr lang="en-US" sz="1600" b="1" dirty="0" err="1"/>
              <a:t>ExecutorService</a:t>
            </a:r>
            <a:r>
              <a:rPr lang="en-US" sz="1600" b="1" dirty="0"/>
              <a:t> pool = </a:t>
            </a:r>
            <a:r>
              <a:rPr lang="en-US" sz="1600" b="1" dirty="0" err="1"/>
              <a:t>Executors.newSingleThreadExecutor</a:t>
            </a:r>
            <a:r>
              <a:rPr lang="en-US" sz="1600" b="1" dirty="0"/>
              <a:t>();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int</a:t>
            </a:r>
            <a:r>
              <a:rPr lang="en-US" sz="1600" dirty="0"/>
              <a:t> time = </a:t>
            </a:r>
            <a:r>
              <a:rPr lang="en-US" sz="1600" dirty="0" err="1"/>
              <a:t>ThreadLocalRandom.current</a:t>
            </a:r>
            <a:r>
              <a:rPr lang="en-US" sz="1600" dirty="0"/>
              <a:t>().</a:t>
            </a:r>
            <a:r>
              <a:rPr lang="en-US" sz="1600" dirty="0" err="1"/>
              <a:t>nextInt</a:t>
            </a:r>
            <a:r>
              <a:rPr lang="en-US" sz="1600" dirty="0"/>
              <a:t>(</a:t>
            </a:r>
            <a:r>
              <a:rPr lang="en-US" sz="1600" b="1" dirty="0">
                <a:solidFill>
                  <a:srgbClr val="00B050"/>
                </a:solidFill>
              </a:rPr>
              <a:t>1000</a:t>
            </a:r>
            <a:r>
              <a:rPr lang="en-US" sz="1600" dirty="0"/>
              <a:t>, 5000);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("Creating the future");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rgbClr val="00B050"/>
                </a:solidFill>
              </a:rPr>
              <a:t>        </a:t>
            </a:r>
            <a:r>
              <a:rPr lang="en-US" dirty="0"/>
              <a:t>Future&lt;String&gt;  </a:t>
            </a:r>
            <a:r>
              <a:rPr lang="en-US" dirty="0" err="1"/>
              <a:t>futureEx</a:t>
            </a:r>
            <a:r>
              <a:rPr lang="en-US" dirty="0"/>
              <a:t> = </a:t>
            </a:r>
            <a:r>
              <a:rPr lang="en-US" dirty="0" err="1"/>
              <a:t>pool.submit</a:t>
            </a:r>
            <a:r>
              <a:rPr lang="en-US" dirty="0"/>
              <a:t>(  ()-&gt;{  try  {</a:t>
            </a:r>
            <a:r>
              <a:rPr lang="en-US" dirty="0" err="1"/>
              <a:t>Thread.sleep</a:t>
            </a:r>
            <a:r>
              <a:rPr lang="en-US" dirty="0"/>
              <a:t>(time);} </a:t>
            </a:r>
          </a:p>
          <a:p>
            <a:r>
              <a:rPr lang="en-US" dirty="0"/>
              <a:t>                                                                                          catch (</a:t>
            </a:r>
            <a:r>
              <a:rPr lang="en-US" dirty="0" err="1"/>
              <a:t>InterruptedException</a:t>
            </a:r>
            <a:r>
              <a:rPr lang="en-US" dirty="0"/>
              <a:t> e) {</a:t>
            </a:r>
            <a:r>
              <a:rPr lang="en-US" dirty="0" err="1"/>
              <a:t>System.out.println</a:t>
            </a:r>
            <a:r>
              <a:rPr lang="en-US" dirty="0"/>
              <a:t>("error");}</a:t>
            </a:r>
          </a:p>
          <a:p>
            <a:r>
              <a:rPr lang="en-US" dirty="0"/>
              <a:t>                                                                                           finally {return "Hello from Callable!";}} );</a:t>
            </a:r>
          </a:p>
          <a:p>
            <a:r>
              <a:rPr lang="en-US" b="1" dirty="0">
                <a:solidFill>
                  <a:srgbClr val="00B050"/>
                </a:solidFill>
              </a:rPr>
              <a:t>      </a:t>
            </a:r>
            <a:r>
              <a:rPr lang="en-US" b="1" dirty="0" err="1">
                <a:solidFill>
                  <a:srgbClr val="00B050"/>
                </a:solidFill>
              </a:rPr>
              <a:t>CompletableFuture.runAsync</a:t>
            </a:r>
            <a:r>
              <a:rPr lang="en-US" b="1" dirty="0">
                <a:solidFill>
                  <a:srgbClr val="00B050"/>
                </a:solidFill>
              </a:rPr>
              <a:t>(()-&gt;{</a:t>
            </a:r>
          </a:p>
          <a:p>
            <a:r>
              <a:rPr lang="en-US" b="1" dirty="0">
                <a:solidFill>
                  <a:srgbClr val="00B050"/>
                </a:solidFill>
              </a:rPr>
              <a:t>                        </a:t>
            </a:r>
            <a:r>
              <a:rPr lang="en-US" b="1" dirty="0"/>
              <a:t>try {</a:t>
            </a:r>
            <a:r>
              <a:rPr lang="en-US" b="1" dirty="0" err="1"/>
              <a:t>Thread.sleep</a:t>
            </a:r>
            <a:r>
              <a:rPr lang="en-US" b="1" dirty="0"/>
              <a:t>(1000);} catch (</a:t>
            </a:r>
            <a:r>
              <a:rPr lang="en-US" b="1" dirty="0" err="1"/>
              <a:t>InterruptedException</a:t>
            </a:r>
            <a:r>
              <a:rPr lang="en-US" b="1" dirty="0"/>
              <a:t> e){</a:t>
            </a:r>
            <a:r>
              <a:rPr lang="en-US" b="1" dirty="0" err="1"/>
              <a:t>System.out.println</a:t>
            </a:r>
            <a:r>
              <a:rPr lang="en-US" b="1" dirty="0"/>
              <a:t>("error");} </a:t>
            </a:r>
          </a:p>
          <a:p>
            <a:r>
              <a:rPr lang="en-US" b="1" dirty="0">
                <a:solidFill>
                  <a:srgbClr val="00B050"/>
                </a:solidFill>
              </a:rPr>
              <a:t>                        finally {return </a:t>
            </a:r>
            <a:r>
              <a:rPr lang="en-US" b="1" dirty="0"/>
              <a:t>"Hello from Completable Future!"</a:t>
            </a:r>
            <a:r>
              <a:rPr lang="en-US" b="1" dirty="0">
                <a:solidFill>
                  <a:srgbClr val="00B050"/>
                </a:solidFill>
              </a:rPr>
              <a:t>);}}.</a:t>
            </a:r>
            <a:r>
              <a:rPr lang="en-GB" b="1" dirty="0">
                <a:solidFill>
                  <a:srgbClr val="00B050"/>
                </a:solidFill>
              </a:rPr>
              <a:t> </a:t>
            </a:r>
            <a:r>
              <a:rPr lang="en-GB" b="1" dirty="0" err="1">
                <a:solidFill>
                  <a:srgbClr val="00B050"/>
                </a:solidFill>
              </a:rPr>
              <a:t>thenAccept</a:t>
            </a:r>
            <a:r>
              <a:rPr lang="en-GB" b="1" dirty="0">
                <a:solidFill>
                  <a:srgbClr val="00B050"/>
                </a:solidFill>
              </a:rPr>
              <a:t>((String s)-&gt;</a:t>
            </a:r>
          </a:p>
          <a:p>
            <a:r>
              <a:rPr lang="en-GB" b="1" dirty="0">
                <a:solidFill>
                  <a:srgbClr val="00B050"/>
                </a:solidFill>
              </a:rPr>
              <a:t>                                                                                                                                            {</a:t>
            </a:r>
            <a:r>
              <a:rPr lang="en-GB" b="1" dirty="0" err="1">
                <a:solidFill>
                  <a:srgbClr val="00B050"/>
                </a:solidFill>
              </a:rPr>
              <a:t>System.out.println</a:t>
            </a:r>
            <a:r>
              <a:rPr lang="en-GB" b="1" dirty="0">
                <a:solidFill>
                  <a:srgbClr val="00B050"/>
                </a:solidFill>
              </a:rPr>
              <a:t>(s);});</a:t>
            </a:r>
            <a:endParaRPr lang="en-US" b="1" dirty="0">
              <a:solidFill>
                <a:srgbClr val="00B050"/>
              </a:solidFill>
            </a:endParaRPr>
          </a:p>
          <a:p>
            <a:endParaRPr lang="en-US" sz="1600" b="1" dirty="0">
              <a:solidFill>
                <a:srgbClr val="00B050"/>
              </a:solidFill>
            </a:endParaRPr>
          </a:p>
          <a:p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("Do something else while callable is getting executed");</a:t>
            </a:r>
          </a:p>
          <a:p>
            <a:r>
              <a:rPr lang="en-US" sz="1600" dirty="0">
                <a:solidFill>
                  <a:srgbClr val="00B050"/>
                </a:solidFill>
              </a:rPr>
              <a:t>        </a:t>
            </a:r>
          </a:p>
          <a:p>
            <a:r>
              <a:rPr lang="en-US" sz="1600" dirty="0">
                <a:solidFill>
                  <a:srgbClr val="00B050"/>
                </a:solidFill>
              </a:rPr>
              <a:t>        </a:t>
            </a:r>
            <a:r>
              <a:rPr lang="en-US" sz="1600" dirty="0"/>
              <a:t>while</a:t>
            </a:r>
            <a:r>
              <a:rPr lang="en-US" sz="1600" dirty="0">
                <a:solidFill>
                  <a:srgbClr val="00B050"/>
                </a:solidFill>
              </a:rPr>
              <a:t>(</a:t>
            </a:r>
            <a:r>
              <a:rPr lang="en-US" sz="1600" b="1" dirty="0">
                <a:solidFill>
                  <a:srgbClr val="00B050"/>
                </a:solidFill>
              </a:rPr>
              <a:t>!</a:t>
            </a:r>
            <a:r>
              <a:rPr lang="en-US" sz="1600" b="1" dirty="0" err="1">
                <a:solidFill>
                  <a:srgbClr val="00B050"/>
                </a:solidFill>
              </a:rPr>
              <a:t>futureEx.isDone</a:t>
            </a:r>
            <a:r>
              <a:rPr lang="en-US" sz="1600" b="1" dirty="0">
                <a:solidFill>
                  <a:srgbClr val="00B050"/>
                </a:solidFill>
              </a:rPr>
              <a:t>()</a:t>
            </a:r>
            <a:r>
              <a:rPr lang="en-US" sz="1600" dirty="0"/>
              <a:t>) {</a:t>
            </a:r>
          </a:p>
          <a:p>
            <a:r>
              <a:rPr lang="en-US" sz="1600" dirty="0"/>
              <a:t>            </a:t>
            </a:r>
            <a:r>
              <a:rPr lang="en-US" sz="1600" dirty="0" err="1"/>
              <a:t>System.out.println</a:t>
            </a:r>
            <a:r>
              <a:rPr lang="en-US" sz="1600" dirty="0"/>
              <a:t>("Task is still not done..."); </a:t>
            </a:r>
            <a:r>
              <a:rPr lang="en-US" sz="1600" dirty="0" err="1"/>
              <a:t>Thread.sleep</a:t>
            </a:r>
            <a:r>
              <a:rPr lang="en-US" sz="1600" dirty="0"/>
              <a:t>(200);}    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("Retrieve the result of the future");</a:t>
            </a:r>
          </a:p>
          <a:p>
            <a:r>
              <a:rPr lang="en-US" sz="1600" dirty="0"/>
              <a:t>        </a:t>
            </a:r>
            <a:r>
              <a:rPr lang="en-US" sz="1600" b="1" dirty="0">
                <a:solidFill>
                  <a:srgbClr val="00B050"/>
                </a:solidFill>
              </a:rPr>
              <a:t>String result = </a:t>
            </a:r>
            <a:r>
              <a:rPr lang="en-US" sz="1600" b="1" dirty="0" err="1">
                <a:solidFill>
                  <a:srgbClr val="00B050"/>
                </a:solidFill>
              </a:rPr>
              <a:t>futureEx.get</a:t>
            </a:r>
            <a:r>
              <a:rPr lang="en-US" sz="1600" b="1" dirty="0">
                <a:solidFill>
                  <a:srgbClr val="00B050"/>
                </a:solidFill>
              </a:rPr>
              <a:t>();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System.out.println</a:t>
            </a:r>
            <a:r>
              <a:rPr lang="en-US" sz="1600" dirty="0"/>
              <a:t>(result);</a:t>
            </a:r>
          </a:p>
          <a:p>
            <a:r>
              <a:rPr lang="en-US" sz="1600" b="1" dirty="0"/>
              <a:t>        </a:t>
            </a:r>
            <a:r>
              <a:rPr lang="en-US" sz="1600" b="1" dirty="0" err="1"/>
              <a:t>pool.shutdown</a:t>
            </a:r>
            <a:r>
              <a:rPr lang="en-US" sz="1600" b="1" dirty="0"/>
              <a:t>();   </a:t>
            </a: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95115F-D3E3-C38F-4CC7-C19D0CE3C92D}"/>
              </a:ext>
            </a:extLst>
          </p:cNvPr>
          <p:cNvSpPr txBox="1"/>
          <p:nvPr/>
        </p:nvSpPr>
        <p:spPr>
          <a:xfrm>
            <a:off x="716967" y="223520"/>
            <a:ext cx="7648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>
                <a:highlight>
                  <a:srgbClr val="00FF00"/>
                </a:highlight>
              </a:rPr>
              <a:t>CompletableFuture</a:t>
            </a:r>
            <a:r>
              <a:rPr lang="en-US" dirty="0">
                <a:highlight>
                  <a:srgbClr val="00FF00"/>
                </a:highlight>
              </a:rPr>
              <a:t> </a:t>
            </a:r>
            <a:r>
              <a:rPr lang="en-US" dirty="0" err="1"/>
              <a:t>reprezinta</a:t>
            </a:r>
            <a:r>
              <a:rPr lang="en-US" dirty="0"/>
              <a:t> o </a:t>
            </a:r>
            <a:r>
              <a:rPr lang="en-US" dirty="0" err="1"/>
              <a:t>executie</a:t>
            </a:r>
            <a:r>
              <a:rPr lang="en-US" dirty="0"/>
              <a:t>  </a:t>
            </a:r>
            <a:r>
              <a:rPr lang="en-US" dirty="0" err="1"/>
              <a:t>asincrona</a:t>
            </a:r>
            <a:r>
              <a:rPr lang="en-US" dirty="0"/>
              <a:t> </a:t>
            </a:r>
            <a:r>
              <a:rPr lang="en-US" b="1" dirty="0"/>
              <a:t>care </a:t>
            </a:r>
            <a:r>
              <a:rPr lang="en-US" b="1" dirty="0" err="1"/>
              <a:t>poate</a:t>
            </a:r>
            <a:r>
              <a:rPr lang="en-US" b="1" dirty="0"/>
              <a:t> fi </a:t>
            </a:r>
            <a:r>
              <a:rPr lang="en-US" b="1" dirty="0" err="1"/>
              <a:t>completata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5092902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169D3-362F-0191-90DB-BA3829D7E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7FDEF3-FCCC-DF99-BDE6-EE08FC04D6F5}"/>
              </a:ext>
            </a:extLst>
          </p:cNvPr>
          <p:cNvSpPr txBox="1"/>
          <p:nvPr/>
        </p:nvSpPr>
        <p:spPr>
          <a:xfrm>
            <a:off x="566763" y="745520"/>
            <a:ext cx="7459637" cy="510909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public static void main (String[] </a:t>
            </a:r>
            <a:r>
              <a:rPr lang="en-US" sz="1400" dirty="0" err="1"/>
              <a:t>args</a:t>
            </a:r>
            <a:r>
              <a:rPr lang="en-US" sz="1400" dirty="0"/>
              <a:t>) throws Exception{</a:t>
            </a:r>
          </a:p>
          <a:p>
            <a:r>
              <a:rPr lang="en-US" sz="1400" dirty="0"/>
              <a:t>        </a:t>
            </a:r>
            <a:r>
              <a:rPr lang="en-US" sz="1400" b="1" dirty="0" err="1"/>
              <a:t>ExecutorService</a:t>
            </a:r>
            <a:r>
              <a:rPr lang="en-US" sz="1400" b="1" dirty="0"/>
              <a:t> pool = </a:t>
            </a:r>
            <a:r>
              <a:rPr lang="en-US" sz="1400" b="1" dirty="0" err="1"/>
              <a:t>Executors.newSingleThreadExecutor</a:t>
            </a:r>
            <a:r>
              <a:rPr lang="en-US" sz="1400" b="1" dirty="0"/>
              <a:t>();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int</a:t>
            </a:r>
            <a:r>
              <a:rPr lang="en-US" sz="1400" dirty="0"/>
              <a:t> time = </a:t>
            </a:r>
            <a:r>
              <a:rPr lang="en-US" sz="1400" dirty="0" err="1"/>
              <a:t>ThreadLocalRandom.current</a:t>
            </a:r>
            <a:r>
              <a:rPr lang="en-US" sz="1400" dirty="0"/>
              <a:t>().</a:t>
            </a:r>
            <a:r>
              <a:rPr lang="en-US" sz="1400" dirty="0" err="1"/>
              <a:t>nextInt</a:t>
            </a:r>
            <a:r>
              <a:rPr lang="en-US" sz="1400" dirty="0"/>
              <a:t>(</a:t>
            </a:r>
            <a:r>
              <a:rPr lang="en-US" sz="1400" b="1" dirty="0">
                <a:solidFill>
                  <a:srgbClr val="00B050"/>
                </a:solidFill>
              </a:rPr>
              <a:t>1000</a:t>
            </a:r>
            <a:r>
              <a:rPr lang="en-US" sz="1400" dirty="0"/>
              <a:t>, 5000);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System.out.println</a:t>
            </a:r>
            <a:r>
              <a:rPr lang="en-US" sz="1400" dirty="0"/>
              <a:t>("Creating the future");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00B050"/>
                </a:solidFill>
              </a:rPr>
              <a:t>        </a:t>
            </a:r>
            <a:r>
              <a:rPr lang="en-US" sz="1400" dirty="0"/>
              <a:t>Future&lt;String&gt;  </a:t>
            </a:r>
            <a:r>
              <a:rPr lang="en-US" sz="1400" dirty="0" err="1"/>
              <a:t>futureEx</a:t>
            </a:r>
            <a:r>
              <a:rPr lang="en-US" sz="1400" dirty="0"/>
              <a:t> = </a:t>
            </a:r>
            <a:r>
              <a:rPr lang="en-US" sz="1400" dirty="0" err="1"/>
              <a:t>pool.submit</a:t>
            </a:r>
            <a:r>
              <a:rPr lang="en-US" sz="1400" dirty="0"/>
              <a:t>(  ()-&gt;{  try  {</a:t>
            </a:r>
            <a:r>
              <a:rPr lang="en-US" sz="1400" dirty="0" err="1"/>
              <a:t>Thread.sleep</a:t>
            </a:r>
            <a:r>
              <a:rPr lang="en-US" sz="1400" dirty="0"/>
              <a:t>(time);} </a:t>
            </a:r>
          </a:p>
          <a:p>
            <a:r>
              <a:rPr lang="en-US" sz="1400" dirty="0"/>
              <a:t>                                                                                          catch (</a:t>
            </a:r>
            <a:r>
              <a:rPr lang="en-US" sz="1400" dirty="0" err="1"/>
              <a:t>InterruptedException</a:t>
            </a:r>
            <a:r>
              <a:rPr lang="en-US" sz="1400" dirty="0"/>
              <a:t> e) {</a:t>
            </a:r>
            <a:r>
              <a:rPr lang="en-US" sz="1400" dirty="0" err="1"/>
              <a:t>System.out.println</a:t>
            </a:r>
            <a:r>
              <a:rPr lang="en-US" sz="1400" dirty="0"/>
              <a:t>("error");}</a:t>
            </a:r>
          </a:p>
          <a:p>
            <a:r>
              <a:rPr lang="en-US" sz="1400" dirty="0"/>
              <a:t>                                                                                           finally {return "Hello from Callable!";}} );</a:t>
            </a:r>
          </a:p>
          <a:p>
            <a:r>
              <a:rPr lang="en-US" sz="1400" b="1" dirty="0">
                <a:solidFill>
                  <a:srgbClr val="00B050"/>
                </a:solidFill>
              </a:rPr>
              <a:t>  </a:t>
            </a:r>
            <a:r>
              <a:rPr lang="en-US" sz="1400" b="1" dirty="0" err="1">
                <a:solidFill>
                  <a:srgbClr val="00B050"/>
                </a:solidFill>
              </a:rPr>
              <a:t>CompletableFuture.runAsync</a:t>
            </a:r>
            <a:r>
              <a:rPr lang="en-US" sz="1400" b="1" dirty="0">
                <a:solidFill>
                  <a:srgbClr val="00B050"/>
                </a:solidFill>
              </a:rPr>
              <a:t>(()-&gt;{</a:t>
            </a:r>
          </a:p>
          <a:p>
            <a:r>
              <a:rPr lang="en-US" sz="1400" b="1" dirty="0">
                <a:solidFill>
                  <a:srgbClr val="00B050"/>
                </a:solidFill>
              </a:rPr>
              <a:t>            </a:t>
            </a:r>
            <a:r>
              <a:rPr lang="en-US" sz="1400" b="1" dirty="0"/>
              <a:t>try {</a:t>
            </a:r>
            <a:r>
              <a:rPr lang="en-US" sz="1400" b="1" dirty="0" err="1"/>
              <a:t>Thread.sleep</a:t>
            </a:r>
            <a:r>
              <a:rPr lang="en-US" sz="1400" b="1" dirty="0"/>
              <a:t>(1000);} catch (</a:t>
            </a:r>
            <a:r>
              <a:rPr lang="en-US" sz="1400" b="1" dirty="0" err="1"/>
              <a:t>InterruptedException</a:t>
            </a:r>
            <a:r>
              <a:rPr lang="en-US" sz="1400" b="1" dirty="0"/>
              <a:t> e){</a:t>
            </a:r>
            <a:r>
              <a:rPr lang="en-US" sz="1400" b="1" dirty="0" err="1"/>
              <a:t>System.out.println</a:t>
            </a:r>
            <a:r>
              <a:rPr lang="en-US" sz="1400" b="1" dirty="0"/>
              <a:t>("error");} </a:t>
            </a:r>
          </a:p>
          <a:p>
            <a:r>
              <a:rPr lang="en-US" sz="1400" b="1" dirty="0">
                <a:solidFill>
                  <a:srgbClr val="00B050"/>
                </a:solidFill>
              </a:rPr>
              <a:t>             finally {return </a:t>
            </a:r>
            <a:r>
              <a:rPr lang="en-US" sz="1400" b="1" dirty="0"/>
              <a:t>"Hello from Completable Future!"</a:t>
            </a:r>
            <a:r>
              <a:rPr lang="en-US" sz="1400" b="1" dirty="0">
                <a:solidFill>
                  <a:srgbClr val="00B050"/>
                </a:solidFill>
              </a:rPr>
              <a:t>);}}.</a:t>
            </a:r>
            <a:r>
              <a:rPr lang="en-GB" sz="1400" b="1" dirty="0">
                <a:solidFill>
                  <a:srgbClr val="00B050"/>
                </a:solidFill>
              </a:rPr>
              <a:t> </a:t>
            </a:r>
            <a:r>
              <a:rPr lang="en-GB" sz="1400" b="1" dirty="0" err="1">
                <a:solidFill>
                  <a:srgbClr val="00B050"/>
                </a:solidFill>
              </a:rPr>
              <a:t>thenAccept</a:t>
            </a:r>
            <a:r>
              <a:rPr lang="en-GB" sz="1400" b="1" dirty="0">
                <a:solidFill>
                  <a:srgbClr val="00B050"/>
                </a:solidFill>
              </a:rPr>
              <a:t>(</a:t>
            </a:r>
          </a:p>
          <a:p>
            <a:r>
              <a:rPr lang="en-GB" sz="1400" b="1" dirty="0">
                <a:solidFill>
                  <a:srgbClr val="00B050"/>
                </a:solidFill>
              </a:rPr>
              <a:t>                                                                              (String s)-&gt;{</a:t>
            </a:r>
            <a:r>
              <a:rPr lang="en-GB" sz="1400" b="1" dirty="0" err="1">
                <a:solidFill>
                  <a:srgbClr val="00B050"/>
                </a:solidFill>
              </a:rPr>
              <a:t>System.out.println</a:t>
            </a:r>
            <a:r>
              <a:rPr lang="en-GB" sz="1400" b="1" dirty="0">
                <a:solidFill>
                  <a:srgbClr val="00B050"/>
                </a:solidFill>
              </a:rPr>
              <a:t>(s);});</a:t>
            </a:r>
            <a:endParaRPr lang="en-US" sz="1400" b="1" dirty="0">
              <a:solidFill>
                <a:srgbClr val="00B050"/>
              </a:solidFill>
            </a:endParaRPr>
          </a:p>
          <a:p>
            <a:endParaRPr lang="en-US" sz="1400" b="1" dirty="0">
              <a:solidFill>
                <a:srgbClr val="00B050"/>
              </a:solidFill>
            </a:endParaRPr>
          </a:p>
          <a:p>
            <a:r>
              <a:rPr lang="en-US" sz="1400" dirty="0"/>
              <a:t>        </a:t>
            </a:r>
            <a:r>
              <a:rPr lang="en-US" sz="1400" dirty="0" err="1"/>
              <a:t>System.out.println</a:t>
            </a:r>
            <a:r>
              <a:rPr lang="en-US" sz="1400" dirty="0"/>
              <a:t>("Do something else while callable is getting executed");</a:t>
            </a:r>
          </a:p>
          <a:p>
            <a:r>
              <a:rPr lang="en-US" sz="1400" dirty="0">
                <a:solidFill>
                  <a:srgbClr val="00B050"/>
                </a:solidFill>
              </a:rPr>
              <a:t>        </a:t>
            </a:r>
          </a:p>
          <a:p>
            <a:r>
              <a:rPr lang="en-US" sz="1400" dirty="0">
                <a:solidFill>
                  <a:srgbClr val="00B050"/>
                </a:solidFill>
              </a:rPr>
              <a:t>        </a:t>
            </a:r>
            <a:r>
              <a:rPr lang="en-US" sz="1400" dirty="0"/>
              <a:t>while</a:t>
            </a:r>
            <a:r>
              <a:rPr lang="en-US" sz="1400" dirty="0">
                <a:solidFill>
                  <a:srgbClr val="00B050"/>
                </a:solidFill>
              </a:rPr>
              <a:t>(</a:t>
            </a:r>
            <a:r>
              <a:rPr lang="en-US" sz="1400" b="1" dirty="0">
                <a:solidFill>
                  <a:srgbClr val="00B050"/>
                </a:solidFill>
              </a:rPr>
              <a:t>!</a:t>
            </a:r>
            <a:r>
              <a:rPr lang="en-US" sz="1400" b="1" dirty="0" err="1">
                <a:solidFill>
                  <a:srgbClr val="00B050"/>
                </a:solidFill>
              </a:rPr>
              <a:t>futureEx.isDone</a:t>
            </a:r>
            <a:r>
              <a:rPr lang="en-US" sz="1400" b="1" dirty="0">
                <a:solidFill>
                  <a:srgbClr val="00B050"/>
                </a:solidFill>
              </a:rPr>
              <a:t>()</a:t>
            </a:r>
            <a:r>
              <a:rPr lang="en-US" sz="1400" dirty="0"/>
              <a:t>) {</a:t>
            </a:r>
          </a:p>
          <a:p>
            <a:r>
              <a:rPr lang="en-US" sz="1400" dirty="0"/>
              <a:t>            </a:t>
            </a:r>
            <a:r>
              <a:rPr lang="en-US" sz="1400" dirty="0" err="1"/>
              <a:t>System.out.println</a:t>
            </a:r>
            <a:r>
              <a:rPr lang="en-US" sz="1400" dirty="0"/>
              <a:t>("Task is still not done..."); </a:t>
            </a:r>
            <a:r>
              <a:rPr lang="en-US" sz="1400" dirty="0" err="1"/>
              <a:t>Thread.sleep</a:t>
            </a:r>
            <a:r>
              <a:rPr lang="en-US" sz="1400" dirty="0"/>
              <a:t>(200);}    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System.out.println</a:t>
            </a:r>
            <a:r>
              <a:rPr lang="en-US" sz="1400" dirty="0"/>
              <a:t>("Retrieve the result of the future");</a:t>
            </a:r>
          </a:p>
          <a:p>
            <a:r>
              <a:rPr lang="en-US" sz="1400" dirty="0"/>
              <a:t>        </a:t>
            </a:r>
            <a:r>
              <a:rPr lang="en-US" sz="1400" b="1" dirty="0">
                <a:solidFill>
                  <a:srgbClr val="00B050"/>
                </a:solidFill>
              </a:rPr>
              <a:t>String result = </a:t>
            </a:r>
            <a:r>
              <a:rPr lang="en-US" sz="1400" b="1" dirty="0" err="1">
                <a:solidFill>
                  <a:srgbClr val="00B050"/>
                </a:solidFill>
              </a:rPr>
              <a:t>futureEx.get</a:t>
            </a:r>
            <a:r>
              <a:rPr lang="en-US" sz="1400" b="1" dirty="0">
                <a:solidFill>
                  <a:srgbClr val="00B050"/>
                </a:solidFill>
              </a:rPr>
              <a:t>();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System.out.println</a:t>
            </a:r>
            <a:r>
              <a:rPr lang="en-US" sz="1400" dirty="0"/>
              <a:t>(result);</a:t>
            </a:r>
          </a:p>
          <a:p>
            <a:r>
              <a:rPr lang="en-US" sz="1400" b="1" dirty="0"/>
              <a:t>        </a:t>
            </a:r>
            <a:r>
              <a:rPr lang="en-US" sz="1400" b="1" dirty="0" err="1"/>
              <a:t>pool.shutdown</a:t>
            </a:r>
            <a:r>
              <a:rPr lang="en-US" sz="1400" b="1" dirty="0"/>
              <a:t>();   </a:t>
            </a:r>
            <a:r>
              <a:rPr lang="en-US" sz="1400" dirty="0"/>
              <a:t>}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ACA862-16AB-BD64-7FD8-EF0EF5A6DE69}"/>
              </a:ext>
            </a:extLst>
          </p:cNvPr>
          <p:cNvSpPr txBox="1"/>
          <p:nvPr/>
        </p:nvSpPr>
        <p:spPr>
          <a:xfrm>
            <a:off x="716967" y="223520"/>
            <a:ext cx="7648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>
                <a:highlight>
                  <a:srgbClr val="00FF00"/>
                </a:highlight>
              </a:rPr>
              <a:t>CompletableFuture</a:t>
            </a:r>
            <a:r>
              <a:rPr lang="en-US" dirty="0">
                <a:highlight>
                  <a:srgbClr val="00FF00"/>
                </a:highlight>
              </a:rPr>
              <a:t> </a:t>
            </a:r>
            <a:r>
              <a:rPr lang="en-US" dirty="0" err="1"/>
              <a:t>reprezinta</a:t>
            </a:r>
            <a:r>
              <a:rPr lang="en-US" dirty="0"/>
              <a:t> o </a:t>
            </a:r>
            <a:r>
              <a:rPr lang="en-US" dirty="0" err="1"/>
              <a:t>executie</a:t>
            </a:r>
            <a:r>
              <a:rPr lang="en-US" dirty="0"/>
              <a:t>  </a:t>
            </a:r>
            <a:r>
              <a:rPr lang="en-US" dirty="0" err="1"/>
              <a:t>asincrona</a:t>
            </a:r>
            <a:r>
              <a:rPr lang="en-US" dirty="0"/>
              <a:t> </a:t>
            </a:r>
            <a:r>
              <a:rPr lang="en-US" b="1" dirty="0"/>
              <a:t>care </a:t>
            </a:r>
            <a:r>
              <a:rPr lang="en-US" b="1" dirty="0" err="1"/>
              <a:t>poate</a:t>
            </a:r>
            <a:r>
              <a:rPr lang="en-US" b="1" dirty="0"/>
              <a:t> fi </a:t>
            </a:r>
            <a:r>
              <a:rPr lang="en-US" b="1" dirty="0" err="1"/>
              <a:t>completata</a:t>
            </a:r>
            <a:endParaRPr lang="en-GB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2A9867-64EC-8E22-747F-9A2E69D41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727" y="745520"/>
            <a:ext cx="5515745" cy="52204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5B9014-EDD5-3B5E-066F-A0311460F5E9}"/>
              </a:ext>
            </a:extLst>
          </p:cNvPr>
          <p:cNvSpPr txBox="1"/>
          <p:nvPr/>
        </p:nvSpPr>
        <p:spPr>
          <a:xfrm>
            <a:off x="9477859" y="1688589"/>
            <a:ext cx="2714141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thread-ul principal nu </a:t>
            </a:r>
            <a:r>
              <a:rPr lang="en-US" dirty="0" err="1"/>
              <a:t>este</a:t>
            </a:r>
            <a:r>
              <a:rPr lang="en-US" dirty="0"/>
              <a:t> </a:t>
            </a:r>
          </a:p>
          <a:p>
            <a:r>
              <a:rPr lang="en-US" dirty="0" err="1"/>
              <a:t>blocat</a:t>
            </a:r>
            <a:r>
              <a:rPr lang="en-US" dirty="0"/>
              <a:t> </a:t>
            </a:r>
            <a:r>
              <a:rPr lang="en-US" dirty="0" err="1"/>
              <a:t>asteptand</a:t>
            </a:r>
            <a:r>
              <a:rPr lang="en-US" dirty="0"/>
              <a:t> </a:t>
            </a:r>
            <a:r>
              <a:rPr lang="en-US" dirty="0" err="1"/>
              <a:t>rezultatul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49845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12D5E-5FAF-9439-4C51-B5F58F676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49503A-8B2A-DC33-A947-67A05BDFE0B8}"/>
              </a:ext>
            </a:extLst>
          </p:cNvPr>
          <p:cNvSpPr txBox="1"/>
          <p:nvPr/>
        </p:nvSpPr>
        <p:spPr>
          <a:xfrm>
            <a:off x="566763" y="745520"/>
            <a:ext cx="10121557" cy="526297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public static void main (String[] </a:t>
            </a:r>
            <a:r>
              <a:rPr lang="en-US" sz="1400" dirty="0" err="1"/>
              <a:t>args</a:t>
            </a:r>
            <a:r>
              <a:rPr lang="en-US" sz="1400" dirty="0"/>
              <a:t>) throws Exception{</a:t>
            </a:r>
          </a:p>
          <a:p>
            <a:r>
              <a:rPr lang="en-US" sz="1400" dirty="0"/>
              <a:t>        </a:t>
            </a:r>
            <a:r>
              <a:rPr lang="en-US" sz="1400" b="1" dirty="0" err="1"/>
              <a:t>ExecutorService</a:t>
            </a:r>
            <a:r>
              <a:rPr lang="en-US" sz="1400" b="1" dirty="0"/>
              <a:t> pool = </a:t>
            </a:r>
            <a:r>
              <a:rPr lang="en-US" sz="1400" b="1" dirty="0" err="1"/>
              <a:t>Executors.newSingleThreadExecutor</a:t>
            </a:r>
            <a:r>
              <a:rPr lang="en-US" sz="1400" b="1" dirty="0"/>
              <a:t>();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int</a:t>
            </a:r>
            <a:r>
              <a:rPr lang="en-US" sz="1400" dirty="0"/>
              <a:t> time = </a:t>
            </a:r>
            <a:r>
              <a:rPr lang="en-US" sz="1400" dirty="0" err="1"/>
              <a:t>ThreadLocalRandom.current</a:t>
            </a:r>
            <a:r>
              <a:rPr lang="en-US" sz="1400" dirty="0"/>
              <a:t>().</a:t>
            </a:r>
            <a:r>
              <a:rPr lang="en-US" sz="1400" dirty="0" err="1"/>
              <a:t>nextInt</a:t>
            </a:r>
            <a:r>
              <a:rPr lang="en-US" sz="1400" dirty="0"/>
              <a:t>(</a:t>
            </a:r>
            <a:r>
              <a:rPr lang="en-US" sz="1400" b="1" dirty="0">
                <a:solidFill>
                  <a:srgbClr val="00B050"/>
                </a:solidFill>
              </a:rPr>
              <a:t>1000</a:t>
            </a:r>
            <a:r>
              <a:rPr lang="en-US" sz="1400" dirty="0"/>
              <a:t>, 5000);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System.out.println</a:t>
            </a:r>
            <a:r>
              <a:rPr lang="en-US" sz="1400" dirty="0"/>
              <a:t>("Creating the future");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00B050"/>
                </a:solidFill>
              </a:rPr>
              <a:t>        </a:t>
            </a:r>
            <a:r>
              <a:rPr lang="en-US" sz="1400" dirty="0"/>
              <a:t>Future&lt;String&gt;  </a:t>
            </a:r>
            <a:r>
              <a:rPr lang="en-US" sz="1400" dirty="0" err="1"/>
              <a:t>futureEx</a:t>
            </a:r>
            <a:r>
              <a:rPr lang="en-US" sz="1400" dirty="0"/>
              <a:t> = </a:t>
            </a:r>
            <a:r>
              <a:rPr lang="en-US" sz="1400" dirty="0" err="1"/>
              <a:t>pool.submit</a:t>
            </a:r>
            <a:r>
              <a:rPr lang="en-US" sz="1400" dirty="0"/>
              <a:t>(  ()-&gt;{  try  {</a:t>
            </a:r>
            <a:r>
              <a:rPr lang="en-US" sz="1400" dirty="0" err="1"/>
              <a:t>Thread.sleep</a:t>
            </a:r>
            <a:r>
              <a:rPr lang="en-US" sz="1400" dirty="0"/>
              <a:t>(time);} </a:t>
            </a:r>
          </a:p>
          <a:p>
            <a:r>
              <a:rPr lang="en-US" sz="1400" dirty="0"/>
              <a:t>                                                                                          catch (</a:t>
            </a:r>
            <a:r>
              <a:rPr lang="en-US" sz="1400" dirty="0" err="1"/>
              <a:t>InterruptedException</a:t>
            </a:r>
            <a:r>
              <a:rPr lang="en-US" sz="1400" dirty="0"/>
              <a:t> e) {</a:t>
            </a:r>
            <a:r>
              <a:rPr lang="en-US" sz="1400" dirty="0" err="1"/>
              <a:t>System.out.println</a:t>
            </a:r>
            <a:r>
              <a:rPr lang="en-US" sz="1400" dirty="0"/>
              <a:t>("error");}</a:t>
            </a:r>
          </a:p>
          <a:p>
            <a:r>
              <a:rPr lang="en-US" sz="1400" dirty="0"/>
              <a:t>                                                                                           finally {return "Hello from Callable!";}} );</a:t>
            </a:r>
          </a:p>
          <a:p>
            <a:r>
              <a:rPr lang="en-US" sz="1600" b="1" dirty="0">
                <a:solidFill>
                  <a:srgbClr val="00B050"/>
                </a:solidFill>
              </a:rPr>
              <a:t>  </a:t>
            </a:r>
            <a:r>
              <a:rPr lang="en-US" sz="1600" b="1" dirty="0" err="1">
                <a:solidFill>
                  <a:srgbClr val="00B050"/>
                </a:solidFill>
              </a:rPr>
              <a:t>CompletableFuture.runAsync</a:t>
            </a:r>
            <a:r>
              <a:rPr lang="en-US" sz="1600" b="1" dirty="0">
                <a:solidFill>
                  <a:srgbClr val="00B050"/>
                </a:solidFill>
              </a:rPr>
              <a:t>(()-&gt;{</a:t>
            </a:r>
          </a:p>
          <a:p>
            <a:r>
              <a:rPr lang="en-US" sz="1600" b="1" dirty="0">
                <a:solidFill>
                  <a:srgbClr val="00B050"/>
                </a:solidFill>
              </a:rPr>
              <a:t>            </a:t>
            </a:r>
            <a:r>
              <a:rPr lang="en-US" sz="1600" b="1" dirty="0"/>
              <a:t>try {</a:t>
            </a:r>
            <a:r>
              <a:rPr lang="en-US" sz="1600" b="1" dirty="0" err="1"/>
              <a:t>Thread.sleep</a:t>
            </a:r>
            <a:r>
              <a:rPr lang="en-US" sz="1600" b="1" dirty="0"/>
              <a:t>(1000);} catch (</a:t>
            </a:r>
            <a:r>
              <a:rPr lang="en-US" sz="1600" b="1" dirty="0" err="1"/>
              <a:t>InterruptedException</a:t>
            </a:r>
            <a:r>
              <a:rPr lang="en-US" sz="1600" b="1" dirty="0"/>
              <a:t> e)  {</a:t>
            </a:r>
            <a:r>
              <a:rPr lang="en-US" sz="1600" b="1" dirty="0" err="1"/>
              <a:t>System.out.println</a:t>
            </a:r>
            <a:r>
              <a:rPr lang="en-US" sz="1600" b="1" dirty="0"/>
              <a:t>("error");} </a:t>
            </a:r>
          </a:p>
          <a:p>
            <a:r>
              <a:rPr lang="en-US" sz="1600" b="1" dirty="0">
                <a:solidFill>
                  <a:srgbClr val="00B050"/>
                </a:solidFill>
              </a:rPr>
              <a:t>             finally {return </a:t>
            </a:r>
            <a:r>
              <a:rPr lang="en-US" sz="1600" b="1" dirty="0"/>
              <a:t>"Hello from Completable Future!"</a:t>
            </a:r>
            <a:r>
              <a:rPr lang="en-US" sz="1600" b="1" dirty="0">
                <a:solidFill>
                  <a:srgbClr val="00B050"/>
                </a:solidFill>
              </a:rPr>
              <a:t>);}}.</a:t>
            </a:r>
            <a:r>
              <a:rPr lang="en-GB" sz="1600" b="1" dirty="0">
                <a:solidFill>
                  <a:srgbClr val="00B050"/>
                </a:solidFill>
              </a:rPr>
              <a:t> </a:t>
            </a:r>
            <a:r>
              <a:rPr lang="en-GB" sz="1600" b="1" dirty="0" err="1">
                <a:solidFill>
                  <a:srgbClr val="00B050"/>
                </a:solidFill>
              </a:rPr>
              <a:t>thenApply</a:t>
            </a:r>
            <a:r>
              <a:rPr lang="en-GB" sz="1600" b="1" dirty="0">
                <a:solidFill>
                  <a:srgbClr val="00B050"/>
                </a:solidFill>
              </a:rPr>
              <a:t>(</a:t>
            </a:r>
          </a:p>
          <a:p>
            <a:r>
              <a:rPr lang="en-GB" sz="1600" b="1" dirty="0">
                <a:solidFill>
                  <a:srgbClr val="00B050"/>
                </a:solidFill>
              </a:rPr>
              <a:t>                                                                                                                               (String s)-&gt; s+"!"). </a:t>
            </a:r>
            <a:r>
              <a:rPr lang="en-GB" sz="1600" b="1" dirty="0" err="1">
                <a:solidFill>
                  <a:srgbClr val="00B050"/>
                </a:solidFill>
              </a:rPr>
              <a:t>thenAccept</a:t>
            </a:r>
            <a:r>
              <a:rPr lang="en-GB" sz="1600" b="1" dirty="0">
                <a:solidFill>
                  <a:srgbClr val="00B050"/>
                </a:solidFill>
              </a:rPr>
              <a:t>(</a:t>
            </a:r>
          </a:p>
          <a:p>
            <a:r>
              <a:rPr lang="en-GB" sz="1600" b="1" dirty="0">
                <a:solidFill>
                  <a:srgbClr val="00B050"/>
                </a:solidFill>
              </a:rPr>
              <a:t>                                                                                                                                              (String s)-&gt;{</a:t>
            </a:r>
            <a:r>
              <a:rPr lang="en-GB" sz="1600" b="1" dirty="0" err="1">
                <a:solidFill>
                  <a:srgbClr val="00B050"/>
                </a:solidFill>
              </a:rPr>
              <a:t>System.out.println</a:t>
            </a:r>
            <a:r>
              <a:rPr lang="en-GB" sz="1600" b="1" dirty="0">
                <a:solidFill>
                  <a:srgbClr val="00B050"/>
                </a:solidFill>
              </a:rPr>
              <a:t>(s);});</a:t>
            </a:r>
            <a:endParaRPr lang="en-US" sz="1600" b="1" dirty="0">
              <a:solidFill>
                <a:srgbClr val="00B050"/>
              </a:solidFill>
            </a:endParaRPr>
          </a:p>
          <a:p>
            <a:endParaRPr lang="en-US" sz="1400" b="1" dirty="0">
              <a:solidFill>
                <a:srgbClr val="00B050"/>
              </a:solidFill>
            </a:endParaRPr>
          </a:p>
          <a:p>
            <a:r>
              <a:rPr lang="en-US" sz="1400" dirty="0"/>
              <a:t>        </a:t>
            </a:r>
            <a:r>
              <a:rPr lang="en-US" sz="1400" dirty="0" err="1"/>
              <a:t>System.out.println</a:t>
            </a:r>
            <a:r>
              <a:rPr lang="en-US" sz="1400" dirty="0"/>
              <a:t>("Do something else while callable is getting executed");</a:t>
            </a:r>
          </a:p>
          <a:p>
            <a:r>
              <a:rPr lang="en-US" sz="1400" dirty="0">
                <a:solidFill>
                  <a:srgbClr val="00B050"/>
                </a:solidFill>
              </a:rPr>
              <a:t>        </a:t>
            </a:r>
          </a:p>
          <a:p>
            <a:r>
              <a:rPr lang="en-US" sz="1400" dirty="0">
                <a:solidFill>
                  <a:srgbClr val="00B050"/>
                </a:solidFill>
              </a:rPr>
              <a:t>        </a:t>
            </a:r>
            <a:r>
              <a:rPr lang="en-US" sz="1400" dirty="0"/>
              <a:t>while</a:t>
            </a:r>
            <a:r>
              <a:rPr lang="en-US" sz="1400" dirty="0">
                <a:solidFill>
                  <a:srgbClr val="00B050"/>
                </a:solidFill>
              </a:rPr>
              <a:t>(</a:t>
            </a:r>
            <a:r>
              <a:rPr lang="en-US" sz="1400" b="1" dirty="0">
                <a:solidFill>
                  <a:srgbClr val="00B050"/>
                </a:solidFill>
              </a:rPr>
              <a:t>!</a:t>
            </a:r>
            <a:r>
              <a:rPr lang="en-US" sz="1400" b="1" dirty="0" err="1">
                <a:solidFill>
                  <a:srgbClr val="00B050"/>
                </a:solidFill>
              </a:rPr>
              <a:t>futureEx.isDone</a:t>
            </a:r>
            <a:r>
              <a:rPr lang="en-US" sz="1400" b="1" dirty="0">
                <a:solidFill>
                  <a:srgbClr val="00B050"/>
                </a:solidFill>
              </a:rPr>
              <a:t>()</a:t>
            </a:r>
            <a:r>
              <a:rPr lang="en-US" sz="1400" dirty="0"/>
              <a:t>) {</a:t>
            </a:r>
          </a:p>
          <a:p>
            <a:r>
              <a:rPr lang="en-US" sz="1400" dirty="0"/>
              <a:t>            </a:t>
            </a:r>
            <a:r>
              <a:rPr lang="en-US" sz="1400" dirty="0" err="1"/>
              <a:t>System.out.println</a:t>
            </a:r>
            <a:r>
              <a:rPr lang="en-US" sz="1400" dirty="0"/>
              <a:t>("Task is still not done..."); </a:t>
            </a:r>
            <a:r>
              <a:rPr lang="en-US" sz="1400" dirty="0" err="1"/>
              <a:t>Thread.sleep</a:t>
            </a:r>
            <a:r>
              <a:rPr lang="en-US" sz="1400" dirty="0"/>
              <a:t>(200);}    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System.out.println</a:t>
            </a:r>
            <a:r>
              <a:rPr lang="en-US" sz="1400" dirty="0"/>
              <a:t>("Retrieve the result of the future");</a:t>
            </a:r>
          </a:p>
          <a:p>
            <a:r>
              <a:rPr lang="en-US" sz="1400" dirty="0"/>
              <a:t>        </a:t>
            </a:r>
            <a:r>
              <a:rPr lang="en-US" sz="1400" b="1" dirty="0">
                <a:solidFill>
                  <a:srgbClr val="00B050"/>
                </a:solidFill>
              </a:rPr>
              <a:t>String result = </a:t>
            </a:r>
            <a:r>
              <a:rPr lang="en-US" sz="1400" b="1" dirty="0" err="1">
                <a:solidFill>
                  <a:srgbClr val="00B050"/>
                </a:solidFill>
              </a:rPr>
              <a:t>futureEx.get</a:t>
            </a:r>
            <a:r>
              <a:rPr lang="en-US" sz="1400" b="1" dirty="0">
                <a:solidFill>
                  <a:srgbClr val="00B050"/>
                </a:solidFill>
              </a:rPr>
              <a:t>();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System.out.println</a:t>
            </a:r>
            <a:r>
              <a:rPr lang="en-US" sz="1400" dirty="0"/>
              <a:t>(result);</a:t>
            </a:r>
          </a:p>
          <a:p>
            <a:r>
              <a:rPr lang="en-US" sz="1400" b="1" dirty="0"/>
              <a:t>        </a:t>
            </a:r>
            <a:r>
              <a:rPr lang="en-US" sz="1400" b="1" dirty="0" err="1"/>
              <a:t>pool.shutdown</a:t>
            </a:r>
            <a:r>
              <a:rPr lang="en-US" sz="1400" b="1" dirty="0"/>
              <a:t>();   </a:t>
            </a:r>
            <a:r>
              <a:rPr lang="en-US" sz="1400" dirty="0"/>
              <a:t>}</a:t>
            </a:r>
          </a:p>
          <a:p>
            <a:r>
              <a:rPr lang="en-US" dirty="0"/>
              <a:t>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BF7B65-3F49-0814-38D0-2662E065C6F6}"/>
              </a:ext>
            </a:extLst>
          </p:cNvPr>
          <p:cNvSpPr txBox="1"/>
          <p:nvPr/>
        </p:nvSpPr>
        <p:spPr>
          <a:xfrm>
            <a:off x="716967" y="223520"/>
            <a:ext cx="10408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>
                <a:highlight>
                  <a:srgbClr val="00FF00"/>
                </a:highlight>
              </a:rPr>
              <a:t>CompletableFuture</a:t>
            </a:r>
            <a:r>
              <a:rPr lang="en-US" dirty="0">
                <a:highlight>
                  <a:srgbClr val="00FF00"/>
                </a:highlight>
              </a:rPr>
              <a:t> </a:t>
            </a:r>
            <a:r>
              <a:rPr lang="en-US" dirty="0" err="1"/>
              <a:t>reprezinta</a:t>
            </a:r>
            <a:r>
              <a:rPr lang="en-US" dirty="0"/>
              <a:t> o </a:t>
            </a:r>
            <a:r>
              <a:rPr lang="en-US" dirty="0" err="1"/>
              <a:t>executie</a:t>
            </a:r>
            <a:r>
              <a:rPr lang="en-US" dirty="0"/>
              <a:t>  </a:t>
            </a:r>
            <a:r>
              <a:rPr lang="en-US" dirty="0" err="1"/>
              <a:t>asincrona</a:t>
            </a:r>
            <a:r>
              <a:rPr lang="en-US" dirty="0"/>
              <a:t> </a:t>
            </a:r>
            <a:r>
              <a:rPr lang="en-US" b="1" dirty="0"/>
              <a:t>care </a:t>
            </a:r>
            <a:r>
              <a:rPr lang="en-US" b="1" dirty="0" err="1"/>
              <a:t>poate</a:t>
            </a:r>
            <a:r>
              <a:rPr lang="en-US" b="1" dirty="0"/>
              <a:t> fi </a:t>
            </a:r>
            <a:r>
              <a:rPr lang="en-US" b="1" dirty="0" err="1"/>
              <a:t>completata</a:t>
            </a:r>
            <a:r>
              <a:rPr lang="en-US" b="1" dirty="0"/>
              <a:t>: </a:t>
            </a:r>
            <a:r>
              <a:rPr lang="en-US" b="1" dirty="0" err="1">
                <a:highlight>
                  <a:srgbClr val="00FF00"/>
                </a:highlight>
              </a:rPr>
              <a:t>thenApply</a:t>
            </a:r>
            <a:r>
              <a:rPr lang="en-US" b="1" dirty="0">
                <a:highlight>
                  <a:srgbClr val="00FF00"/>
                </a:highlight>
              </a:rPr>
              <a:t>()</a:t>
            </a:r>
            <a:r>
              <a:rPr lang="en-US" b="1" dirty="0"/>
              <a:t>, </a:t>
            </a:r>
            <a:r>
              <a:rPr lang="en-US" b="1" dirty="0" err="1">
                <a:highlight>
                  <a:srgbClr val="00FF00"/>
                </a:highlight>
              </a:rPr>
              <a:t>thenAccept</a:t>
            </a:r>
            <a:r>
              <a:rPr lang="en-US" b="1" dirty="0">
                <a:highlight>
                  <a:srgbClr val="00FF00"/>
                </a:highlight>
              </a:rPr>
              <a:t>() </a:t>
            </a:r>
            <a:endParaRPr lang="en-GB" b="1" dirty="0">
              <a:highlight>
                <a:srgbClr val="00FF00"/>
              </a:highligh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3B249C-5CC7-6B4A-7C32-5186DC847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9539" y="3969864"/>
            <a:ext cx="3747742" cy="2191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A9E13E-B3CF-4CB5-E77F-00FE310C59B3}"/>
              </a:ext>
            </a:extLst>
          </p:cNvPr>
          <p:cNvSpPr txBox="1"/>
          <p:nvPr/>
        </p:nvSpPr>
        <p:spPr>
          <a:xfrm>
            <a:off x="8975634" y="2426471"/>
            <a:ext cx="3135987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rezultatul</a:t>
            </a:r>
            <a:r>
              <a:rPr lang="en-US" dirty="0"/>
              <a:t> a </a:t>
            </a:r>
            <a:r>
              <a:rPr lang="en-US" dirty="0" err="1"/>
              <a:t>fost</a:t>
            </a:r>
            <a:r>
              <a:rPr lang="en-US" dirty="0"/>
              <a:t>  </a:t>
            </a:r>
            <a:r>
              <a:rPr lang="en-US" dirty="0" err="1"/>
              <a:t>transformat</a:t>
            </a:r>
            <a:r>
              <a:rPr lang="en-US" dirty="0"/>
              <a:t> </a:t>
            </a:r>
          </a:p>
          <a:p>
            <a:r>
              <a:rPr lang="en-US" dirty="0"/>
              <a:t>cu </a:t>
            </a:r>
            <a:r>
              <a:rPr lang="en-US" dirty="0" err="1"/>
              <a:t>ajutorul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functii</a:t>
            </a:r>
            <a:r>
              <a:rPr lang="en-US" dirty="0"/>
              <a:t>, </a:t>
            </a:r>
          </a:p>
          <a:p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noul</a:t>
            </a:r>
            <a:r>
              <a:rPr lang="en-US" dirty="0"/>
              <a:t> </a:t>
            </a:r>
            <a:r>
              <a:rPr lang="en-US" dirty="0" err="1"/>
              <a:t>rezultat</a:t>
            </a:r>
            <a:r>
              <a:rPr lang="en-US" dirty="0"/>
              <a:t>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prelucrat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29641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2" y="693559"/>
            <a:ext cx="4570149" cy="2682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96951" y="3488831"/>
            <a:ext cx="51156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3"/>
              </a:rPr>
              <a:t>http://www.javacreed.com/java-fork-join-example/</a:t>
            </a:r>
            <a:endParaRPr 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EE68FE-E742-87EF-72F4-AE7F40E5813B}"/>
              </a:ext>
            </a:extLst>
          </p:cNvPr>
          <p:cNvSpPr txBox="1"/>
          <p:nvPr/>
        </p:nvSpPr>
        <p:spPr>
          <a:xfrm>
            <a:off x="558800" y="23189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Fork-Join Framework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A8710D-DC68-6E4B-1CAC-3F3D284BE087}"/>
              </a:ext>
            </a:extLst>
          </p:cNvPr>
          <p:cNvSpPr txBox="1"/>
          <p:nvPr/>
        </p:nvSpPr>
        <p:spPr>
          <a:xfrm>
            <a:off x="1300480" y="4432776"/>
            <a:ext cx="8686800" cy="16312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dirty="0"/>
              <a:t>A </a:t>
            </a:r>
            <a:r>
              <a:rPr lang="en-GB" sz="2000" dirty="0" err="1"/>
              <a:t>ForkJoinPool</a:t>
            </a:r>
            <a:r>
              <a:rPr lang="en-GB" sz="2000" dirty="0"/>
              <a:t> differs from other kinds of </a:t>
            </a:r>
            <a:r>
              <a:rPr lang="en-GB" sz="2000" dirty="0" err="1"/>
              <a:t>ExecutorService</a:t>
            </a:r>
            <a:r>
              <a:rPr lang="en-GB" sz="2000" dirty="0"/>
              <a:t> mainly by virtue of employing  </a:t>
            </a:r>
            <a:r>
              <a:rPr lang="en-GB" sz="2000" i="1" dirty="0"/>
              <a:t>work-stealing</a:t>
            </a:r>
            <a:r>
              <a:rPr lang="en-GB" sz="2000" dirty="0"/>
              <a:t>: all threads in the pool attempt to find and execute tasks submitted to the pool and/or created by other active tasks (eventually blocking waiting for work if none exist).</a:t>
            </a:r>
          </a:p>
          <a:p>
            <a:r>
              <a:rPr lang="fi-FI" sz="2000" dirty="0" err="1">
                <a:hlinkClick r:id="rId4"/>
              </a:rPr>
              <a:t>ForkJoinPool</a:t>
            </a:r>
            <a:r>
              <a:rPr lang="fi-FI" sz="2000" dirty="0">
                <a:hlinkClick r:id="rId4"/>
              </a:rPr>
              <a:t> (Java SE 23 &amp; JDK 23)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2452509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8174" y="866657"/>
            <a:ext cx="3591304" cy="70788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public class </a:t>
            </a:r>
            <a:r>
              <a:rPr lang="en-US" sz="2000" dirty="0" err="1"/>
              <a:t>ForkJoinPool</a:t>
            </a:r>
            <a:endParaRPr lang="en-US" sz="2000" dirty="0"/>
          </a:p>
          <a:p>
            <a:r>
              <a:rPr lang="en-US" sz="2000" dirty="0"/>
              <a:t>extends </a:t>
            </a:r>
            <a:r>
              <a:rPr lang="en-US" sz="2000" dirty="0" err="1"/>
              <a:t>AbstractExecutorService</a:t>
            </a: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222422" y="172995"/>
            <a:ext cx="31561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Fork-Join Framework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96961" y="758935"/>
            <a:ext cx="73615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Diferenta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o piscine din </a:t>
            </a:r>
            <a:r>
              <a:rPr lang="en-US" dirty="0" err="1"/>
              <a:t>clasa</a:t>
            </a:r>
            <a:r>
              <a:rPr lang="en-US" dirty="0"/>
              <a:t> </a:t>
            </a:r>
            <a:r>
              <a:rPr lang="en-US" b="1" dirty="0" err="1"/>
              <a:t>ForkJoinPool</a:t>
            </a:r>
            <a:r>
              <a:rPr lang="en-US" b="1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create de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servicii</a:t>
            </a:r>
            <a:endParaRPr lang="en-US" dirty="0"/>
          </a:p>
          <a:p>
            <a:r>
              <a:rPr lang="en-US" b="1" dirty="0"/>
              <a:t>Executor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implementarea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de "work-stealing".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61007" y="5283457"/>
            <a:ext cx="95788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Documentatie</a:t>
            </a:r>
            <a:r>
              <a:rPr lang="en-US" sz="1600" dirty="0"/>
              <a:t>:</a:t>
            </a:r>
          </a:p>
          <a:p>
            <a:r>
              <a:rPr lang="fi-FI" sz="1600" dirty="0" err="1">
                <a:hlinkClick r:id="rId2"/>
              </a:rPr>
              <a:t>ForkJoinPool</a:t>
            </a:r>
            <a:r>
              <a:rPr lang="fi-FI" sz="1600" dirty="0">
                <a:hlinkClick r:id="rId2"/>
              </a:rPr>
              <a:t> (Java SE 23 &amp; JDK 23)</a:t>
            </a:r>
            <a:endParaRPr lang="en-US" sz="1600" dirty="0">
              <a:hlinkClick r:id="rId3"/>
            </a:endParaRPr>
          </a:p>
          <a:p>
            <a:r>
              <a:rPr lang="en-US" sz="1600" dirty="0">
                <a:hlinkClick r:id="rId3"/>
              </a:rPr>
              <a:t>https://www.researchgate.net/publication/2609854_A_Java_ForkJoin_Framework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99F6B5-793D-9FBB-5581-780C662015E0}"/>
              </a:ext>
            </a:extLst>
          </p:cNvPr>
          <p:cNvSpPr txBox="1"/>
          <p:nvPr/>
        </p:nvSpPr>
        <p:spPr>
          <a:xfrm>
            <a:off x="3711355" y="2005636"/>
            <a:ext cx="8326638" cy="3693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l"/>
            <a:r>
              <a:rPr lang="en-GB" sz="1800" b="0" i="0" u="none" strike="noStrike" baseline="0" dirty="0">
                <a:latin typeface="PalatinoLinotype-Roman"/>
              </a:rPr>
              <a:t>The core of the </a:t>
            </a:r>
            <a:r>
              <a:rPr lang="en-GB" sz="1800" b="0" i="1" u="none" strike="noStrike" baseline="0" dirty="0">
                <a:latin typeface="PalatinoLinotype-Roman"/>
              </a:rPr>
              <a:t>fork/join framework </a:t>
            </a:r>
            <a:r>
              <a:rPr lang="en-GB" sz="1800" b="0" i="0" u="none" strike="noStrike" baseline="0" dirty="0">
                <a:latin typeface="PalatinoLinotype-Roman"/>
              </a:rPr>
              <a:t>is formed by the following two classes:</a:t>
            </a:r>
          </a:p>
          <a:p>
            <a:pPr algn="l"/>
            <a:endParaRPr lang="en-GB" sz="1800" b="0" i="0" u="none" strike="noStrike" baseline="0" dirty="0">
              <a:latin typeface="FreeMono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b="1" i="0" u="none" strike="noStrike" baseline="0" dirty="0" err="1">
                <a:latin typeface="FreeMono"/>
              </a:rPr>
              <a:t>ForkJoinPool</a:t>
            </a:r>
            <a:r>
              <a:rPr lang="en-GB" sz="1800" b="1" i="0" u="none" strike="noStrike" baseline="0" dirty="0">
                <a:latin typeface="PalatinoLinotype-Roman"/>
              </a:rPr>
              <a:t>: </a:t>
            </a:r>
            <a:r>
              <a:rPr lang="en-GB" sz="1800" b="0" i="0" u="none" strike="noStrike" baseline="0" dirty="0">
                <a:latin typeface="PalatinoLinotype-Roman"/>
              </a:rPr>
              <a:t>This class implements the </a:t>
            </a:r>
            <a:r>
              <a:rPr lang="en-GB" sz="1800" b="0" i="0" u="none" strike="noStrike" baseline="0" dirty="0" err="1">
                <a:latin typeface="FreeMono"/>
              </a:rPr>
              <a:t>ExecutorService</a:t>
            </a:r>
            <a:r>
              <a:rPr lang="en-GB" sz="1800" b="0" i="0" u="none" strike="noStrike" baseline="0" dirty="0">
                <a:latin typeface="FreeMono"/>
              </a:rPr>
              <a:t> </a:t>
            </a:r>
            <a:r>
              <a:rPr lang="en-GB" sz="1800" b="0" i="0" u="none" strike="noStrike" baseline="0" dirty="0">
                <a:latin typeface="PalatinoLinotype-Roman"/>
              </a:rPr>
              <a:t>interface and the</a:t>
            </a:r>
          </a:p>
          <a:p>
            <a:pPr algn="l"/>
            <a:r>
              <a:rPr lang="en-GB" sz="1800" b="0" i="0" u="none" strike="noStrike" baseline="0" dirty="0">
                <a:latin typeface="PalatinoLinotype-Roman"/>
              </a:rPr>
              <a:t>work-stealing algorithm. It manages the worker threads and offers information</a:t>
            </a:r>
          </a:p>
          <a:p>
            <a:pPr algn="l"/>
            <a:r>
              <a:rPr lang="en-GB" sz="1800" b="0" i="0" u="none" strike="noStrike" baseline="0" dirty="0">
                <a:latin typeface="PalatinoLinotype-Roman"/>
              </a:rPr>
              <a:t>about the status of the tasks and their execution.</a:t>
            </a:r>
          </a:p>
          <a:p>
            <a:pPr algn="l"/>
            <a:endParaRPr lang="en-GB" b="1" dirty="0">
              <a:latin typeface="PalatinoLinotype-Roman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b="1" i="0" u="none" strike="noStrike" baseline="0" dirty="0" err="1">
                <a:latin typeface="FreeMono"/>
              </a:rPr>
              <a:t>ForkJoinTask</a:t>
            </a:r>
            <a:r>
              <a:rPr lang="en-GB" sz="1800" b="1" i="0" u="none" strike="noStrike" baseline="0" dirty="0">
                <a:latin typeface="PalatinoLinotype-Roman"/>
              </a:rPr>
              <a:t>: </a:t>
            </a:r>
            <a:r>
              <a:rPr lang="en-GB" sz="1800" b="0" i="0" u="none" strike="noStrike" baseline="0" dirty="0">
                <a:latin typeface="PalatinoLinotype-Roman"/>
              </a:rPr>
              <a:t>This is the base class of the tasks that will execute in</a:t>
            </a:r>
          </a:p>
          <a:p>
            <a:pPr algn="l"/>
            <a:r>
              <a:rPr lang="en-GB" sz="1800" b="0" i="0" u="none" strike="noStrike" baseline="0" dirty="0">
                <a:latin typeface="PalatinoLinotype-Roman"/>
              </a:rPr>
              <a:t>the </a:t>
            </a:r>
            <a:r>
              <a:rPr lang="en-GB" sz="1800" b="0" i="0" u="none" strike="noStrike" baseline="0" dirty="0" err="1">
                <a:latin typeface="FreeMono"/>
              </a:rPr>
              <a:t>ForkJoinPool</a:t>
            </a:r>
            <a:r>
              <a:rPr lang="en-GB" sz="1800" b="0" i="0" u="none" strike="noStrike" baseline="0" dirty="0">
                <a:latin typeface="PalatinoLinotype-Roman"/>
              </a:rPr>
              <a:t>. It provides the mechanisms to execute the </a:t>
            </a:r>
            <a:r>
              <a:rPr lang="en-GB" sz="1800" b="0" i="0" u="none" strike="noStrike" baseline="0" dirty="0">
                <a:latin typeface="FreeMono"/>
              </a:rPr>
              <a:t>fork() </a:t>
            </a:r>
            <a:r>
              <a:rPr lang="en-GB" sz="1800" b="0" i="0" u="none" strike="noStrike" baseline="0" dirty="0">
                <a:latin typeface="PalatinoLinotype-Roman"/>
              </a:rPr>
              <a:t>and</a:t>
            </a:r>
          </a:p>
          <a:p>
            <a:pPr algn="l"/>
            <a:r>
              <a:rPr lang="en-GB" sz="1800" b="0" i="0" u="none" strike="noStrike" baseline="0" dirty="0">
                <a:latin typeface="FreeMono"/>
              </a:rPr>
              <a:t>join() </a:t>
            </a:r>
            <a:r>
              <a:rPr lang="en-GB" sz="1800" b="0" i="0" u="none" strike="noStrike" baseline="0" dirty="0">
                <a:latin typeface="PalatinoLinotype-Roman"/>
              </a:rPr>
              <a:t>operations inside a task and the methods to control the status of the</a:t>
            </a:r>
          </a:p>
          <a:p>
            <a:pPr algn="l"/>
            <a:r>
              <a:rPr lang="en-GB" sz="1800" b="0" i="0" u="none" strike="noStrike" baseline="0" dirty="0">
                <a:latin typeface="PalatinoLinotype-Roman"/>
              </a:rPr>
              <a:t>tasks. Usually, to implement your fork/join tasks, you will implement a subclass</a:t>
            </a:r>
          </a:p>
          <a:p>
            <a:pPr algn="l"/>
            <a:r>
              <a:rPr lang="en-GB" sz="1800" b="0" i="0" u="none" strike="noStrike" baseline="0" dirty="0">
                <a:latin typeface="PalatinoLinotype-Roman"/>
              </a:rPr>
              <a:t>of three subclasses of this class: </a:t>
            </a:r>
          </a:p>
          <a:p>
            <a:pPr algn="l"/>
            <a:r>
              <a:rPr lang="en-GB" dirty="0">
                <a:latin typeface="PalatinoLinotype-Roman"/>
              </a:rPr>
              <a:t>                     </a:t>
            </a:r>
            <a:r>
              <a:rPr lang="en-GB" sz="1800" b="1" i="0" u="none" strike="noStrike" baseline="0" dirty="0" err="1">
                <a:latin typeface="FreeMono"/>
              </a:rPr>
              <a:t>RecursiveAction</a:t>
            </a:r>
            <a:r>
              <a:rPr lang="en-GB" sz="1800" b="0" i="0" u="none" strike="noStrike" baseline="0" dirty="0">
                <a:latin typeface="FreeMono"/>
              </a:rPr>
              <a:t> </a:t>
            </a:r>
            <a:r>
              <a:rPr lang="en-GB" sz="1800" b="0" i="0" u="none" strike="noStrike" baseline="0" dirty="0">
                <a:latin typeface="PalatinoLinotype-Roman"/>
              </a:rPr>
              <a:t>for tasks with no return result, </a:t>
            </a:r>
          </a:p>
          <a:p>
            <a:pPr algn="l"/>
            <a:r>
              <a:rPr lang="en-GB" dirty="0">
                <a:latin typeface="PalatinoLinotype-Roman"/>
              </a:rPr>
              <a:t>                     </a:t>
            </a:r>
            <a:r>
              <a:rPr lang="en-GB" sz="1800" b="1" i="0" u="none" strike="noStrike" baseline="0" dirty="0" err="1">
                <a:latin typeface="FreeMono"/>
              </a:rPr>
              <a:t>RecursiveTask</a:t>
            </a:r>
            <a:r>
              <a:rPr lang="en-GB" sz="1800" b="0" i="0" u="none" strike="noStrike" baseline="0" dirty="0">
                <a:latin typeface="FreeMono"/>
              </a:rPr>
              <a:t> </a:t>
            </a:r>
            <a:r>
              <a:rPr lang="en-GB" sz="1800" b="0" i="0" u="none" strike="noStrike" baseline="0" dirty="0">
                <a:latin typeface="PalatinoLinotype-Roman"/>
              </a:rPr>
              <a:t>for tasks that return one result.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A40C01-BDAE-C347-9A9D-8DC4D2191B9B}"/>
              </a:ext>
            </a:extLst>
          </p:cNvPr>
          <p:cNvSpPr txBox="1"/>
          <p:nvPr/>
        </p:nvSpPr>
        <p:spPr>
          <a:xfrm>
            <a:off x="9032539" y="1574543"/>
            <a:ext cx="2976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Java 9 Concurrency Cookbook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BD160C-F118-E3C4-AEAF-8E4AA68BE831}"/>
              </a:ext>
            </a:extLst>
          </p:cNvPr>
          <p:cNvSpPr txBox="1"/>
          <p:nvPr/>
        </p:nvSpPr>
        <p:spPr>
          <a:xfrm>
            <a:off x="277076" y="1682265"/>
            <a:ext cx="3069418" cy="923330"/>
          </a:xfrm>
          <a:prstGeom prst="rect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/>
              <a:t>class </a:t>
            </a:r>
            <a:r>
              <a:rPr lang="en-GB" dirty="0" err="1"/>
              <a:t>AbstractExecutorService</a:t>
            </a:r>
            <a:endParaRPr lang="en-GB" dirty="0"/>
          </a:p>
          <a:p>
            <a:r>
              <a:rPr lang="en-GB" dirty="0"/>
              <a:t>extends Object</a:t>
            </a:r>
          </a:p>
          <a:p>
            <a:r>
              <a:rPr lang="en-GB" dirty="0"/>
              <a:t>implements </a:t>
            </a:r>
            <a:r>
              <a:rPr lang="en-GB" dirty="0" err="1"/>
              <a:t>ExecutorService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51259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46206-0629-6142-B1AC-6D26EC5DF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A4F1E9-2E35-B489-9A48-9D0B1E5E9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1287" y="904776"/>
            <a:ext cx="6559363" cy="38498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64E73C-45A3-98F7-5FA3-6DE32AD24244}"/>
              </a:ext>
            </a:extLst>
          </p:cNvPr>
          <p:cNvSpPr txBox="1"/>
          <p:nvPr/>
        </p:nvSpPr>
        <p:spPr>
          <a:xfrm>
            <a:off x="6493475" y="5066270"/>
            <a:ext cx="5115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http://www.javacreed.com/java-fork-join-example/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16CD05-4DB9-2346-C284-809C653DC5C0}"/>
              </a:ext>
            </a:extLst>
          </p:cNvPr>
          <p:cNvSpPr txBox="1"/>
          <p:nvPr/>
        </p:nvSpPr>
        <p:spPr>
          <a:xfrm>
            <a:off x="235465" y="967648"/>
            <a:ext cx="5345822" cy="372409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sz="2000" i="1" dirty="0" err="1"/>
              <a:t>Daca</a:t>
            </a:r>
            <a:endParaRPr lang="en-US" sz="2000" i="1" dirty="0"/>
          </a:p>
          <a:p>
            <a:r>
              <a:rPr lang="en-US" sz="2000" i="1" dirty="0"/>
              <a:t> </a:t>
            </a:r>
            <a:r>
              <a:rPr lang="en-US" sz="2000" dirty="0"/>
              <a:t>- Thread1 </a:t>
            </a:r>
            <a:r>
              <a:rPr lang="en-US" sz="2000" dirty="0" err="1"/>
              <a:t>executa</a:t>
            </a:r>
            <a:r>
              <a:rPr lang="en-US" sz="2000" dirty="0"/>
              <a:t> Task1  </a:t>
            </a:r>
          </a:p>
          <a:p>
            <a:r>
              <a:rPr lang="en-US" sz="2000" dirty="0"/>
              <a:t> - Task1 </a:t>
            </a:r>
            <a:r>
              <a:rPr lang="en-US" sz="2000" dirty="0" err="1"/>
              <a:t>creaza</a:t>
            </a:r>
            <a:r>
              <a:rPr lang="en-US" sz="2000" dirty="0"/>
              <a:t> Task2 </a:t>
            </a:r>
            <a:r>
              <a:rPr lang="en-US" sz="2000" dirty="0" err="1"/>
              <a:t>si</a:t>
            </a:r>
            <a:r>
              <a:rPr lang="en-US" sz="2000" dirty="0"/>
              <a:t> Task3 </a:t>
            </a:r>
            <a:r>
              <a:rPr lang="en-US" sz="2000" dirty="0" err="1"/>
              <a:t>si</a:t>
            </a:r>
            <a:endParaRPr lang="en-US" sz="2000" dirty="0"/>
          </a:p>
          <a:p>
            <a:r>
              <a:rPr lang="en-US" sz="2000" dirty="0"/>
              <a:t>   are </a:t>
            </a:r>
            <a:r>
              <a:rPr lang="en-US" sz="2000" dirty="0" err="1"/>
              <a:t>nevoie</a:t>
            </a:r>
            <a:r>
              <a:rPr lang="en-US" sz="2000" dirty="0"/>
              <a:t> de </a:t>
            </a:r>
            <a:r>
              <a:rPr lang="en-US" sz="2000" dirty="0" err="1"/>
              <a:t>rezultatele</a:t>
            </a:r>
            <a:r>
              <a:rPr lang="en-US" sz="2000" dirty="0"/>
              <a:t> </a:t>
            </a:r>
            <a:r>
              <a:rPr lang="en-US" sz="2000" dirty="0" err="1"/>
              <a:t>lor</a:t>
            </a:r>
            <a:r>
              <a:rPr lang="en-US" sz="2000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a continua</a:t>
            </a:r>
          </a:p>
          <a:p>
            <a:endParaRPr lang="en-US" sz="2000" dirty="0"/>
          </a:p>
          <a:p>
            <a:r>
              <a:rPr lang="en-US" sz="2000" i="1" dirty="0" err="1"/>
              <a:t>atunci</a:t>
            </a:r>
            <a:endParaRPr lang="en-US" sz="2000" i="1" dirty="0"/>
          </a:p>
          <a:p>
            <a:r>
              <a:rPr lang="en-US" sz="2000" dirty="0"/>
              <a:t>     -Thread1 </a:t>
            </a:r>
            <a:r>
              <a:rPr lang="en-US" sz="2000" dirty="0" err="1"/>
              <a:t>pune</a:t>
            </a:r>
            <a:r>
              <a:rPr lang="en-US" sz="2000" dirty="0"/>
              <a:t> in </a:t>
            </a:r>
            <a:r>
              <a:rPr lang="en-US" sz="2000" dirty="0" err="1"/>
              <a:t>asteptare</a:t>
            </a:r>
            <a:r>
              <a:rPr lang="en-US" sz="2000" dirty="0"/>
              <a:t> Task1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va</a:t>
            </a:r>
            <a:r>
              <a:rPr lang="en-US" sz="2000" dirty="0"/>
              <a:t> </a:t>
            </a:r>
            <a:r>
              <a:rPr lang="en-US" sz="2000" dirty="0" err="1"/>
              <a:t>pune</a:t>
            </a:r>
            <a:r>
              <a:rPr lang="en-US" sz="2000" dirty="0"/>
              <a:t> in </a:t>
            </a:r>
          </a:p>
          <a:p>
            <a:r>
              <a:rPr lang="en-US" sz="2000" dirty="0"/>
              <a:t>       </a:t>
            </a:r>
            <a:r>
              <a:rPr lang="en-US" sz="2000" dirty="0" err="1"/>
              <a:t>coada</a:t>
            </a:r>
            <a:r>
              <a:rPr lang="en-US" sz="2000" dirty="0"/>
              <a:t> </a:t>
            </a:r>
            <a:r>
              <a:rPr lang="en-US" sz="2000" dirty="0" err="1"/>
              <a:t>proprie</a:t>
            </a:r>
            <a:r>
              <a:rPr lang="en-US" sz="2000" dirty="0"/>
              <a:t> Task2 </a:t>
            </a:r>
            <a:r>
              <a:rPr lang="en-US" sz="2000" dirty="0" err="1"/>
              <a:t>si</a:t>
            </a:r>
            <a:r>
              <a:rPr lang="en-US" sz="2000" dirty="0"/>
              <a:t> Task3</a:t>
            </a:r>
          </a:p>
          <a:p>
            <a:r>
              <a:rPr lang="en-US" sz="2000" dirty="0"/>
              <a:t>     - Thread1 </a:t>
            </a:r>
            <a:r>
              <a:rPr lang="en-US" sz="2000" dirty="0" err="1"/>
              <a:t>va</a:t>
            </a:r>
            <a:r>
              <a:rPr lang="en-US" sz="2000" dirty="0"/>
              <a:t> fi liber </a:t>
            </a:r>
            <a:r>
              <a:rPr lang="en-US" sz="2000" dirty="0" err="1"/>
              <a:t>pentru</a:t>
            </a:r>
            <a:r>
              <a:rPr lang="en-US" sz="2000" dirty="0"/>
              <a:t> a </a:t>
            </a:r>
            <a:r>
              <a:rPr lang="en-US" sz="2000" dirty="0" err="1"/>
              <a:t>executa</a:t>
            </a:r>
            <a:r>
              <a:rPr lang="en-US" sz="2000" dirty="0"/>
              <a:t> un task, 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celalalt</a:t>
            </a:r>
            <a:r>
              <a:rPr lang="en-US" sz="2000" dirty="0"/>
              <a:t> </a:t>
            </a:r>
            <a:r>
              <a:rPr lang="en-US" sz="2000" dirty="0" err="1"/>
              <a:t>va</a:t>
            </a:r>
            <a:r>
              <a:rPr lang="en-US" sz="2000" dirty="0"/>
              <a:t> fi </a:t>
            </a:r>
            <a:r>
              <a:rPr lang="en-US" sz="2000" dirty="0" err="1"/>
              <a:t>furat</a:t>
            </a:r>
            <a:r>
              <a:rPr lang="en-US" sz="2000" dirty="0"/>
              <a:t> de un alt thread liber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4037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5379" y="622984"/>
            <a:ext cx="3242491" cy="64633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public class </a:t>
            </a:r>
            <a:r>
              <a:rPr lang="en-US" b="1" dirty="0" err="1"/>
              <a:t>ForkJoinPool</a:t>
            </a:r>
            <a:endParaRPr lang="en-US" b="1" dirty="0"/>
          </a:p>
          <a:p>
            <a:r>
              <a:rPr lang="en-US" dirty="0"/>
              <a:t>extends </a:t>
            </a:r>
            <a:r>
              <a:rPr lang="en-US" dirty="0" err="1"/>
              <a:t>AbstractExecutorService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2422" y="172995"/>
            <a:ext cx="2584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Fork-Join Framework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598" y="3148315"/>
            <a:ext cx="10083145" cy="92333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ForkJoinPool</a:t>
            </a:r>
            <a:r>
              <a:rPr lang="en-US" dirty="0"/>
              <a:t> </a:t>
            </a:r>
            <a:r>
              <a:rPr lang="en-US" dirty="0" err="1"/>
              <a:t>fjpool</a:t>
            </a:r>
            <a:r>
              <a:rPr lang="en-US" dirty="0"/>
              <a:t> = </a:t>
            </a:r>
            <a:r>
              <a:rPr lang="en-US" b="1" dirty="0" err="1"/>
              <a:t>ForkJoinPool.commonPool</a:t>
            </a:r>
            <a:r>
              <a:rPr lang="en-US" b="1" dirty="0"/>
              <a:t>() </a:t>
            </a:r>
            <a:r>
              <a:rPr lang="en-US" dirty="0"/>
              <a:t>// </a:t>
            </a:r>
            <a:r>
              <a:rPr lang="en-US" dirty="0" err="1"/>
              <a:t>recomandat</a:t>
            </a:r>
            <a:r>
              <a:rPr lang="en-US" dirty="0"/>
              <a:t>,</a:t>
            </a:r>
          </a:p>
          <a:p>
            <a:r>
              <a:rPr lang="en-US" dirty="0"/>
              <a:t>                                                                                        // </a:t>
            </a:r>
            <a:r>
              <a:rPr lang="en-US" dirty="0" err="1"/>
              <a:t>incearca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foloseasca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procesoarele</a:t>
            </a:r>
            <a:r>
              <a:rPr lang="en-US" dirty="0"/>
              <a:t> </a:t>
            </a:r>
            <a:r>
              <a:rPr lang="en-US" dirty="0" err="1"/>
              <a:t>disponibile</a:t>
            </a:r>
            <a:r>
              <a:rPr lang="en-US" dirty="0"/>
              <a:t> </a:t>
            </a:r>
          </a:p>
          <a:p>
            <a:r>
              <a:rPr lang="en-US" dirty="0" err="1"/>
              <a:t>ForkJoinPool</a:t>
            </a:r>
            <a:r>
              <a:rPr lang="en-US" dirty="0"/>
              <a:t> </a:t>
            </a:r>
            <a:r>
              <a:rPr lang="en-US" dirty="0" err="1"/>
              <a:t>fjpool</a:t>
            </a:r>
            <a:r>
              <a:rPr lang="en-US" dirty="0"/>
              <a:t> =  new </a:t>
            </a:r>
            <a:r>
              <a:rPr lang="en-US" dirty="0" err="1"/>
              <a:t>ForkJoinPool</a:t>
            </a:r>
            <a:r>
              <a:rPr lang="en-US" dirty="0"/>
              <a:t>() // new </a:t>
            </a:r>
            <a:r>
              <a:rPr lang="en-US" dirty="0" err="1"/>
              <a:t>ForkJoinPool</a:t>
            </a:r>
            <a:r>
              <a:rPr lang="en-US" dirty="0"/>
              <a:t>(5)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598" y="2594317"/>
            <a:ext cx="36834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Crearea</a:t>
            </a:r>
            <a:r>
              <a:rPr lang="en-US" sz="2000" dirty="0"/>
              <a:t> </a:t>
            </a:r>
            <a:r>
              <a:rPr lang="en-US" sz="2000" dirty="0" err="1"/>
              <a:t>piscinei</a:t>
            </a:r>
            <a:r>
              <a:rPr lang="en-US" sz="2000" dirty="0"/>
              <a:t> de thread-</a:t>
            </a:r>
            <a:r>
              <a:rPr lang="en-US" sz="2000" dirty="0" err="1"/>
              <a:t>uri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512598" y="4322165"/>
            <a:ext cx="22906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Crerea</a:t>
            </a:r>
            <a:r>
              <a:rPr lang="en-US" sz="2000" dirty="0"/>
              <a:t> task-</a:t>
            </a:r>
            <a:r>
              <a:rPr lang="en-US" sz="2000" dirty="0" err="1"/>
              <a:t>urilor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619717" y="4942017"/>
            <a:ext cx="3687356" cy="92333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public abstract class </a:t>
            </a:r>
            <a:r>
              <a:rPr lang="en-US" b="1" dirty="0" err="1"/>
              <a:t>ForkJoinTask</a:t>
            </a:r>
            <a:r>
              <a:rPr lang="en-US" b="1" dirty="0"/>
              <a:t>&lt;V&gt;</a:t>
            </a:r>
          </a:p>
          <a:p>
            <a:r>
              <a:rPr lang="en-US" dirty="0"/>
              <a:t>extends Object</a:t>
            </a:r>
          </a:p>
          <a:p>
            <a:r>
              <a:rPr lang="en-US" dirty="0"/>
              <a:t>implements Future&lt;V&gt;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9071" y="4757351"/>
            <a:ext cx="3605987" cy="64633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public abstract class </a:t>
            </a:r>
            <a:r>
              <a:rPr lang="en-US" b="1" dirty="0" err="1"/>
              <a:t>RecursiveAction</a:t>
            </a:r>
            <a:endParaRPr lang="en-US" b="1" dirty="0"/>
          </a:p>
          <a:p>
            <a:r>
              <a:rPr lang="en-US" dirty="0"/>
              <a:t>extends </a:t>
            </a:r>
            <a:r>
              <a:rPr lang="en-US" dirty="0" err="1"/>
              <a:t>ForkJoinTask</a:t>
            </a:r>
            <a:r>
              <a:rPr lang="en-US" dirty="0"/>
              <a:t>&lt;Void&gt;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9071" y="5591432"/>
            <a:ext cx="3762697" cy="64633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public abstract class </a:t>
            </a:r>
            <a:r>
              <a:rPr lang="en-US" b="1" dirty="0" err="1"/>
              <a:t>RecursiveTask</a:t>
            </a:r>
            <a:r>
              <a:rPr lang="en-US" b="1" dirty="0"/>
              <a:t>&lt;V&gt;</a:t>
            </a:r>
          </a:p>
          <a:p>
            <a:r>
              <a:rPr lang="en-US" dirty="0"/>
              <a:t>extends </a:t>
            </a:r>
            <a:r>
              <a:rPr lang="en-US" dirty="0" err="1"/>
              <a:t>ForkJoinTask</a:t>
            </a:r>
            <a:r>
              <a:rPr lang="en-US" dirty="0"/>
              <a:t>&lt;V&gt;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9055" y="4942017"/>
            <a:ext cx="25438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metoda</a:t>
            </a:r>
            <a:r>
              <a:rPr lang="en-US" dirty="0"/>
              <a:t> compute </a:t>
            </a:r>
          </a:p>
          <a:p>
            <a:r>
              <a:rPr lang="en-US" dirty="0" err="1"/>
              <a:t>implementeaza</a:t>
            </a:r>
            <a:r>
              <a:rPr lang="en-US" dirty="0"/>
              <a:t> </a:t>
            </a:r>
            <a:r>
              <a:rPr lang="en-US" dirty="0" err="1"/>
              <a:t>actiunea</a:t>
            </a:r>
            <a:r>
              <a:rPr lang="en-US" dirty="0"/>
              <a:t> </a:t>
            </a:r>
          </a:p>
          <a:p>
            <a:r>
              <a:rPr lang="en-US" dirty="0" err="1"/>
              <a:t>executata</a:t>
            </a:r>
            <a:r>
              <a:rPr lang="en-US" dirty="0"/>
              <a:t> de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5873" y="157368"/>
            <a:ext cx="586538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Crerea</a:t>
            </a:r>
            <a:r>
              <a:rPr lang="en-US" dirty="0"/>
              <a:t> </a:t>
            </a:r>
            <a:r>
              <a:rPr lang="en-US" dirty="0" err="1"/>
              <a:t>piscinei</a:t>
            </a:r>
            <a:r>
              <a:rPr lang="en-US" dirty="0"/>
              <a:t> de </a:t>
            </a:r>
            <a:r>
              <a:rPr lang="en-US" dirty="0" err="1"/>
              <a:t>threaduri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Crearea</a:t>
            </a:r>
            <a:r>
              <a:rPr lang="en-US" dirty="0"/>
              <a:t>  task-</a:t>
            </a:r>
            <a:r>
              <a:rPr lang="en-US" dirty="0" err="1"/>
              <a:t>ului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Task-ul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trimis</a:t>
            </a:r>
            <a:r>
              <a:rPr lang="en-US" dirty="0"/>
              <a:t> </a:t>
            </a:r>
            <a:r>
              <a:rPr lang="en-US" dirty="0" err="1"/>
              <a:t>piscinei</a:t>
            </a:r>
            <a:r>
              <a:rPr lang="en-US" dirty="0"/>
              <a:t> </a:t>
            </a:r>
            <a:r>
              <a:rPr lang="en-US" dirty="0" err="1"/>
              <a:t>folosind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     </a:t>
            </a:r>
            <a:r>
              <a:rPr lang="en-US" b="1" dirty="0"/>
              <a:t>invoke()</a:t>
            </a:r>
            <a:r>
              <a:rPr lang="en-US" dirty="0"/>
              <a:t>    - semantic </a:t>
            </a:r>
            <a:r>
              <a:rPr lang="en-US" dirty="0" err="1"/>
              <a:t>echivalenta</a:t>
            </a:r>
            <a:r>
              <a:rPr lang="en-US" dirty="0"/>
              <a:t> cu fork();join()</a:t>
            </a:r>
          </a:p>
          <a:p>
            <a:r>
              <a:rPr lang="en-US" dirty="0"/>
              <a:t>                       - </a:t>
            </a:r>
            <a:r>
              <a:rPr lang="en-US" dirty="0" err="1"/>
              <a:t>trimite</a:t>
            </a:r>
            <a:r>
              <a:rPr lang="en-US" dirty="0"/>
              <a:t> task-ul in </a:t>
            </a:r>
            <a:r>
              <a:rPr lang="en-US" dirty="0" err="1"/>
              <a:t>executie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intoarce</a:t>
            </a:r>
            <a:r>
              <a:rPr lang="en-US" dirty="0"/>
              <a:t> </a:t>
            </a:r>
            <a:r>
              <a:rPr lang="en-US" dirty="0" err="1"/>
              <a:t>rezultatul</a:t>
            </a:r>
            <a:endParaRPr lang="en-US" dirty="0"/>
          </a:p>
          <a:p>
            <a:r>
              <a:rPr lang="en-US" dirty="0"/>
              <a:t>                       - </a:t>
            </a:r>
            <a:r>
              <a:rPr lang="en-US" dirty="0" err="1"/>
              <a:t>executia</a:t>
            </a:r>
            <a:r>
              <a:rPr lang="en-US" dirty="0"/>
              <a:t> </a:t>
            </a:r>
            <a:r>
              <a:rPr lang="en-US" dirty="0" err="1"/>
              <a:t>incepe</a:t>
            </a:r>
            <a:r>
              <a:rPr lang="en-US" dirty="0"/>
              <a:t> in thread-ul current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b="1" dirty="0" err="1"/>
              <a:t>invokeAll</a:t>
            </a:r>
            <a:r>
              <a:rPr lang="en-US" b="1" dirty="0"/>
              <a:t>() - </a:t>
            </a:r>
            <a:r>
              <a:rPr lang="en-US" dirty="0" err="1"/>
              <a:t>trimite</a:t>
            </a:r>
            <a:r>
              <a:rPr lang="en-US" dirty="0"/>
              <a:t> </a:t>
            </a:r>
            <a:r>
              <a:rPr lang="en-US" dirty="0" err="1"/>
              <a:t>spre</a:t>
            </a:r>
            <a:r>
              <a:rPr lang="en-US" dirty="0"/>
              <a:t> </a:t>
            </a:r>
            <a:r>
              <a:rPr lang="en-US" dirty="0" err="1"/>
              <a:t>executie</a:t>
            </a:r>
            <a:r>
              <a:rPr lang="en-US" dirty="0"/>
              <a:t> o </a:t>
            </a:r>
            <a:r>
              <a:rPr lang="en-US" dirty="0" err="1"/>
              <a:t>lista</a:t>
            </a:r>
            <a:r>
              <a:rPr lang="en-US" dirty="0"/>
              <a:t> de task-</a:t>
            </a:r>
            <a:r>
              <a:rPr lang="en-US" dirty="0" err="1"/>
              <a:t>uri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</a:p>
          <a:p>
            <a:r>
              <a:rPr lang="en-US" dirty="0"/>
              <a:t>                           </a:t>
            </a:r>
            <a:r>
              <a:rPr lang="en-US" dirty="0" err="1"/>
              <a:t>intoarce</a:t>
            </a:r>
            <a:r>
              <a:rPr lang="en-US" dirty="0"/>
              <a:t> cand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-au </a:t>
            </a:r>
            <a:r>
              <a:rPr lang="en-US" dirty="0" err="1"/>
              <a:t>terminat</a:t>
            </a:r>
            <a:r>
              <a:rPr lang="en-US" dirty="0"/>
              <a:t> </a:t>
            </a:r>
            <a:r>
              <a:rPr lang="en-US" dirty="0" err="1"/>
              <a:t>executia</a:t>
            </a:r>
            <a:endParaRPr lang="en-US" dirty="0"/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22518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2422" y="172995"/>
            <a:ext cx="4332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Fork-Join Framework:  </a:t>
            </a:r>
            <a:r>
              <a:rPr lang="en-US" b="1" dirty="0" err="1"/>
              <a:t>ForkJoinTask</a:t>
            </a:r>
            <a:r>
              <a:rPr lang="en-US" b="1" dirty="0"/>
              <a:t>&lt;V&gt;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54" y="677959"/>
            <a:ext cx="5979846" cy="440120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public class </a:t>
            </a:r>
            <a:r>
              <a:rPr lang="en-US" sz="2000" dirty="0" err="1"/>
              <a:t>ForkJoinRecAc</a:t>
            </a:r>
            <a:r>
              <a:rPr lang="en-US" sz="2000" dirty="0"/>
              <a:t> extends </a:t>
            </a:r>
            <a:r>
              <a:rPr lang="en-US" sz="2000" b="1" dirty="0" err="1"/>
              <a:t>RecursiveAction</a:t>
            </a:r>
            <a:r>
              <a:rPr lang="en-US" sz="2000" dirty="0"/>
              <a:t> {</a:t>
            </a:r>
          </a:p>
          <a:p>
            <a:endParaRPr lang="en-US" sz="2000" dirty="0"/>
          </a:p>
          <a:p>
            <a:r>
              <a:rPr lang="en-US" sz="2000" dirty="0"/>
              <a:t>public </a:t>
            </a:r>
            <a:r>
              <a:rPr lang="en-US" sz="2000" dirty="0" err="1"/>
              <a:t>ForkJoinRecAc</a:t>
            </a:r>
            <a:r>
              <a:rPr lang="en-US" sz="2000" dirty="0"/>
              <a:t> (long </a:t>
            </a:r>
            <a:r>
              <a:rPr lang="en-US" sz="2000" dirty="0" err="1"/>
              <a:t>workLoad</a:t>
            </a:r>
            <a:r>
              <a:rPr lang="en-US" sz="2000" dirty="0"/>
              <a:t>) {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this.workLoad</a:t>
            </a:r>
            <a:r>
              <a:rPr lang="en-US" sz="2000" dirty="0"/>
              <a:t> = </a:t>
            </a:r>
            <a:r>
              <a:rPr lang="en-US" sz="2000" dirty="0" err="1"/>
              <a:t>workLoad</a:t>
            </a:r>
            <a:r>
              <a:rPr lang="en-US" sz="2000" dirty="0"/>
              <a:t>;</a:t>
            </a:r>
          </a:p>
          <a:p>
            <a:r>
              <a:rPr lang="en-US" sz="2000" dirty="0"/>
              <a:t>    }</a:t>
            </a:r>
          </a:p>
          <a:p>
            <a:endParaRPr lang="en-US" sz="2000" dirty="0"/>
          </a:p>
          <a:p>
            <a:r>
              <a:rPr lang="en-US" sz="2000" dirty="0"/>
              <a:t>protected </a:t>
            </a:r>
            <a:r>
              <a:rPr lang="en-US" sz="2000" b="1" dirty="0"/>
              <a:t>void compute</a:t>
            </a:r>
            <a:r>
              <a:rPr lang="en-US" sz="2000" dirty="0"/>
              <a:t>() {</a:t>
            </a:r>
          </a:p>
          <a:p>
            <a:r>
              <a:rPr lang="en-US" sz="2000" dirty="0"/>
              <a:t>……</a:t>
            </a:r>
          </a:p>
          <a:p>
            <a:r>
              <a:rPr lang="en-US" sz="2000" dirty="0"/>
              <a:t>}}</a:t>
            </a:r>
          </a:p>
          <a:p>
            <a:endParaRPr lang="en-US" sz="2000" dirty="0"/>
          </a:p>
          <a:p>
            <a:r>
              <a:rPr lang="en-GB" sz="2000" dirty="0"/>
              <a:t>public static void main (String[] </a:t>
            </a:r>
            <a:r>
              <a:rPr lang="en-GB" sz="2000" dirty="0" err="1"/>
              <a:t>args</a:t>
            </a:r>
            <a:r>
              <a:rPr lang="en-GB" sz="2000" dirty="0"/>
              <a:t>){</a:t>
            </a:r>
            <a:endParaRPr lang="en-US" sz="2000" dirty="0"/>
          </a:p>
          <a:p>
            <a:r>
              <a:rPr lang="en-US" sz="2000" dirty="0" err="1"/>
              <a:t>ForkJoinPool</a:t>
            </a:r>
            <a:r>
              <a:rPr lang="en-US" sz="2000" dirty="0"/>
              <a:t> </a:t>
            </a:r>
            <a:r>
              <a:rPr lang="en-US" sz="2000" dirty="0" err="1"/>
              <a:t>fjpool</a:t>
            </a:r>
            <a:r>
              <a:rPr lang="en-US" sz="2000" dirty="0"/>
              <a:t> =  </a:t>
            </a:r>
            <a:r>
              <a:rPr lang="en-US" sz="2000" dirty="0" err="1"/>
              <a:t>ForkJoinPool.commonPool</a:t>
            </a:r>
            <a:r>
              <a:rPr lang="en-US" sz="2000" dirty="0"/>
              <a:t>(4)</a:t>
            </a:r>
          </a:p>
          <a:p>
            <a:r>
              <a:rPr lang="en-US" sz="2000" dirty="0" err="1"/>
              <a:t>ForkJoinRecAc</a:t>
            </a:r>
            <a:r>
              <a:rPr lang="en-US" sz="2000" dirty="0"/>
              <a:t> </a:t>
            </a:r>
            <a:r>
              <a:rPr lang="en-US" sz="2000" dirty="0" err="1"/>
              <a:t>fjaction</a:t>
            </a:r>
            <a:r>
              <a:rPr lang="en-US" sz="2000" dirty="0"/>
              <a:t>= new </a:t>
            </a:r>
            <a:r>
              <a:rPr lang="en-US" sz="2000" dirty="0" err="1"/>
              <a:t>ForkJoinRecAc</a:t>
            </a:r>
            <a:r>
              <a:rPr lang="en-US" sz="2000" dirty="0"/>
              <a:t>(</a:t>
            </a:r>
            <a:r>
              <a:rPr lang="en-US" sz="2000" dirty="0" err="1"/>
              <a:t>workLoad</a:t>
            </a:r>
            <a:r>
              <a:rPr lang="en-US" sz="2000" dirty="0"/>
              <a:t>);</a:t>
            </a:r>
          </a:p>
          <a:p>
            <a:r>
              <a:rPr lang="en-US" sz="2000" dirty="0" err="1"/>
              <a:t>fjpool.invoke</a:t>
            </a:r>
            <a:r>
              <a:rPr lang="en-US" sz="2000" dirty="0"/>
              <a:t>(</a:t>
            </a:r>
            <a:r>
              <a:rPr lang="en-US" sz="2000" dirty="0" err="1"/>
              <a:t>fjaction</a:t>
            </a:r>
            <a:r>
              <a:rPr lang="en-US" sz="2000" dirty="0"/>
              <a:t>);}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0" y="677960"/>
            <a:ext cx="5828957" cy="4401205"/>
          </a:xfrm>
          <a:prstGeom prst="rect">
            <a:avLst/>
          </a:prstGeom>
          <a:ln w="28575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/>
              <a:t>public class </a:t>
            </a:r>
            <a:r>
              <a:rPr lang="en-US" sz="2000" dirty="0" err="1"/>
              <a:t>ForkJoinRecTk</a:t>
            </a:r>
            <a:r>
              <a:rPr lang="en-US" sz="2000" dirty="0"/>
              <a:t>  extends </a:t>
            </a:r>
            <a:r>
              <a:rPr lang="en-US" sz="2000" dirty="0" err="1">
                <a:solidFill>
                  <a:srgbClr val="00B050"/>
                </a:solidFill>
              </a:rPr>
              <a:t>RecursiveTask</a:t>
            </a:r>
            <a:r>
              <a:rPr lang="en-US" sz="2000" dirty="0">
                <a:solidFill>
                  <a:srgbClr val="00B050"/>
                </a:solidFill>
              </a:rPr>
              <a:t>&lt;T&gt;</a:t>
            </a:r>
            <a:r>
              <a:rPr lang="en-US" sz="2000" dirty="0"/>
              <a:t> {</a:t>
            </a:r>
          </a:p>
          <a:p>
            <a:endParaRPr lang="en-US" sz="2000" dirty="0"/>
          </a:p>
          <a:p>
            <a:r>
              <a:rPr lang="en-US" sz="2000" dirty="0"/>
              <a:t>public </a:t>
            </a:r>
            <a:r>
              <a:rPr lang="en-US" sz="2000" dirty="0" err="1"/>
              <a:t>ForkJoinRecTk</a:t>
            </a:r>
            <a:r>
              <a:rPr lang="en-US" sz="2000" dirty="0"/>
              <a:t> (long </a:t>
            </a:r>
            <a:r>
              <a:rPr lang="en-US" sz="2000" dirty="0" err="1"/>
              <a:t>workLoad</a:t>
            </a:r>
            <a:r>
              <a:rPr lang="en-US" sz="2000" dirty="0"/>
              <a:t>) {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this.workLoad</a:t>
            </a:r>
            <a:r>
              <a:rPr lang="en-US" sz="2000" dirty="0"/>
              <a:t> = </a:t>
            </a:r>
            <a:r>
              <a:rPr lang="en-US" sz="2000" dirty="0" err="1"/>
              <a:t>workLoad</a:t>
            </a:r>
            <a:r>
              <a:rPr lang="en-US" sz="2000" dirty="0"/>
              <a:t>;</a:t>
            </a:r>
          </a:p>
          <a:p>
            <a:r>
              <a:rPr lang="en-US" sz="2000" dirty="0"/>
              <a:t>    }</a:t>
            </a:r>
          </a:p>
          <a:p>
            <a:endParaRPr lang="en-US" sz="2000" dirty="0"/>
          </a:p>
          <a:p>
            <a:r>
              <a:rPr lang="en-US" sz="2000" dirty="0"/>
              <a:t>protected </a:t>
            </a:r>
            <a:r>
              <a:rPr lang="en-US" sz="2000" dirty="0">
                <a:solidFill>
                  <a:srgbClr val="00B050"/>
                </a:solidFill>
              </a:rPr>
              <a:t>&lt;T&gt; compute() </a:t>
            </a:r>
            <a:r>
              <a:rPr lang="en-US" sz="2000" dirty="0"/>
              <a:t>{</a:t>
            </a:r>
          </a:p>
          <a:p>
            <a:r>
              <a:rPr lang="en-US" sz="2000" dirty="0"/>
              <a:t>……</a:t>
            </a:r>
          </a:p>
          <a:p>
            <a:r>
              <a:rPr lang="en-US" sz="2000" dirty="0"/>
              <a:t>}}</a:t>
            </a:r>
          </a:p>
          <a:p>
            <a:endParaRPr lang="en-US" sz="2000" dirty="0"/>
          </a:p>
          <a:p>
            <a:r>
              <a:rPr lang="en-GB" sz="2000" dirty="0"/>
              <a:t>public static void main (String[] </a:t>
            </a:r>
            <a:r>
              <a:rPr lang="en-GB" sz="2000" dirty="0" err="1"/>
              <a:t>args</a:t>
            </a:r>
            <a:r>
              <a:rPr lang="en-GB" sz="2000" dirty="0"/>
              <a:t>){</a:t>
            </a:r>
            <a:endParaRPr lang="en-US" sz="2000" dirty="0"/>
          </a:p>
          <a:p>
            <a:r>
              <a:rPr lang="en-US" sz="2000" dirty="0" err="1"/>
              <a:t>ForkJoinPool</a:t>
            </a:r>
            <a:r>
              <a:rPr lang="en-US" sz="2000" dirty="0"/>
              <a:t> </a:t>
            </a:r>
            <a:r>
              <a:rPr lang="en-US" sz="2000" dirty="0" err="1"/>
              <a:t>fjpool</a:t>
            </a:r>
            <a:r>
              <a:rPr lang="en-US" sz="2000" dirty="0"/>
              <a:t> =  </a:t>
            </a:r>
            <a:r>
              <a:rPr lang="en-US" sz="2000" dirty="0" err="1"/>
              <a:t>ForkJoinPool.commonPool</a:t>
            </a:r>
            <a:r>
              <a:rPr lang="en-US" sz="2000" dirty="0"/>
              <a:t>(4)</a:t>
            </a:r>
          </a:p>
          <a:p>
            <a:r>
              <a:rPr lang="en-US" sz="2000" dirty="0" err="1"/>
              <a:t>ForkJoinRecTk</a:t>
            </a:r>
            <a:r>
              <a:rPr lang="en-US" sz="2000" dirty="0"/>
              <a:t>  </a:t>
            </a:r>
            <a:r>
              <a:rPr lang="en-US" sz="2000" dirty="0" err="1"/>
              <a:t>fjtask</a:t>
            </a:r>
            <a:r>
              <a:rPr lang="en-US" sz="2000" dirty="0"/>
              <a:t>= new </a:t>
            </a:r>
            <a:r>
              <a:rPr lang="en-US" sz="2000" dirty="0" err="1"/>
              <a:t>ForkJoinRecTk</a:t>
            </a:r>
            <a:r>
              <a:rPr lang="en-US" sz="2000" dirty="0"/>
              <a:t>(</a:t>
            </a:r>
            <a:r>
              <a:rPr lang="en-US" sz="2000" dirty="0" err="1"/>
              <a:t>workLoad</a:t>
            </a:r>
            <a:r>
              <a:rPr lang="en-US" sz="2000" dirty="0"/>
              <a:t>);</a:t>
            </a:r>
          </a:p>
          <a:p>
            <a:r>
              <a:rPr lang="en-US" sz="2000" dirty="0">
                <a:solidFill>
                  <a:srgbClr val="00B050"/>
                </a:solidFill>
              </a:rPr>
              <a:t>&lt;T&gt; result </a:t>
            </a:r>
            <a:r>
              <a:rPr lang="en-US" sz="2000" dirty="0"/>
              <a:t>= </a:t>
            </a:r>
            <a:r>
              <a:rPr lang="en-US" sz="2000" dirty="0" err="1"/>
              <a:t>fjpool.invoke</a:t>
            </a:r>
            <a:r>
              <a:rPr lang="en-US" sz="2000" dirty="0"/>
              <a:t>(</a:t>
            </a:r>
            <a:r>
              <a:rPr lang="en-US" sz="2000" dirty="0" err="1"/>
              <a:t>fjtask</a:t>
            </a:r>
            <a:r>
              <a:rPr lang="en-US" sz="2000" dirty="0"/>
              <a:t>);}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2AE583-95EE-553A-7520-16AB508178E1}"/>
              </a:ext>
            </a:extLst>
          </p:cNvPr>
          <p:cNvSpPr txBox="1"/>
          <p:nvPr/>
        </p:nvSpPr>
        <p:spPr>
          <a:xfrm>
            <a:off x="1797146" y="5441376"/>
            <a:ext cx="7751118" cy="7386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/>
              <a:t>In </a:t>
            </a:r>
            <a:r>
              <a:rPr lang="en-US" sz="1400" dirty="0" err="1"/>
              <a:t>exemple</a:t>
            </a:r>
            <a:r>
              <a:rPr lang="en-US" sz="1400" dirty="0"/>
              <a:t> </a:t>
            </a:r>
            <a:r>
              <a:rPr lang="en-US" sz="1400" dirty="0" err="1"/>
              <a:t>folosim</a:t>
            </a:r>
            <a:r>
              <a:rPr lang="en-US" sz="1400" dirty="0"/>
              <a:t>:</a:t>
            </a:r>
          </a:p>
          <a:p>
            <a:r>
              <a:rPr lang="en-US" sz="1400" dirty="0">
                <a:hlinkClick r:id="rId2"/>
              </a:rPr>
              <a:t>http://tutorials.jenkov.com/java-util-concurrent/java-fork-and-join-forkjoinpool.html</a:t>
            </a:r>
            <a:endParaRPr lang="en-US" sz="1400" dirty="0"/>
          </a:p>
          <a:p>
            <a:r>
              <a:rPr lang="en-US" sz="1400" dirty="0">
                <a:hlinkClick r:id="rId3"/>
              </a:rPr>
              <a:t>http://www.baeldung.com/java-fork-join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073125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2422" y="172995"/>
            <a:ext cx="6163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Fork-Join Framework</a:t>
            </a:r>
            <a:r>
              <a:rPr lang="en-US" dirty="0"/>
              <a:t>   cu  </a:t>
            </a:r>
            <a:r>
              <a:rPr lang="en-US" b="1" dirty="0" err="1"/>
              <a:t>RecursiveAction</a:t>
            </a:r>
            <a:r>
              <a:rPr lang="en-US" dirty="0"/>
              <a:t> (forma </a:t>
            </a:r>
            <a:r>
              <a:rPr lang="en-US" dirty="0" err="1"/>
              <a:t>generala</a:t>
            </a:r>
            <a:r>
              <a:rPr lang="en-US" dirty="0"/>
              <a:t>)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826" y="709827"/>
            <a:ext cx="9952374" cy="563231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public class </a:t>
            </a:r>
            <a:r>
              <a:rPr lang="en-US" sz="2000" dirty="0" err="1"/>
              <a:t>MyRecursiveAction</a:t>
            </a:r>
            <a:r>
              <a:rPr lang="en-US" sz="2000" dirty="0"/>
              <a:t> extends </a:t>
            </a:r>
            <a:r>
              <a:rPr lang="en-US" sz="2000" b="1" dirty="0" err="1"/>
              <a:t>RecursiveAction</a:t>
            </a:r>
            <a:r>
              <a:rPr lang="en-US" sz="2000" dirty="0"/>
              <a:t> {</a:t>
            </a:r>
          </a:p>
          <a:p>
            <a:endParaRPr lang="en-US" sz="2000" dirty="0"/>
          </a:p>
          <a:p>
            <a:r>
              <a:rPr lang="en-US" sz="2000" dirty="0"/>
              <a:t>public </a:t>
            </a:r>
            <a:r>
              <a:rPr lang="en-US" sz="2000" dirty="0" err="1"/>
              <a:t>MyRecursiveAction</a:t>
            </a:r>
            <a:r>
              <a:rPr lang="en-US" sz="2000" dirty="0"/>
              <a:t> (long </a:t>
            </a:r>
            <a:r>
              <a:rPr lang="en-US" sz="2000" dirty="0" err="1"/>
              <a:t>workLoad</a:t>
            </a:r>
            <a:r>
              <a:rPr lang="en-US" sz="2000" dirty="0"/>
              <a:t>) {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this.workLoad</a:t>
            </a:r>
            <a:r>
              <a:rPr lang="en-US" sz="2000" dirty="0"/>
              <a:t> = </a:t>
            </a:r>
            <a:r>
              <a:rPr lang="en-US" sz="2000" dirty="0" err="1"/>
              <a:t>workLoad</a:t>
            </a:r>
            <a:r>
              <a:rPr lang="en-US" sz="2000" dirty="0"/>
              <a:t>;</a:t>
            </a:r>
          </a:p>
          <a:p>
            <a:r>
              <a:rPr lang="en-US" sz="2000" dirty="0"/>
              <a:t>    }</a:t>
            </a:r>
          </a:p>
          <a:p>
            <a:r>
              <a:rPr lang="en-US" sz="2000" dirty="0"/>
              <a:t>protected </a:t>
            </a:r>
            <a:r>
              <a:rPr lang="en-US" sz="2000" b="1" dirty="0"/>
              <a:t>void compute() </a:t>
            </a:r>
            <a:r>
              <a:rPr lang="en-US" sz="2000" dirty="0"/>
              <a:t>{</a:t>
            </a:r>
          </a:p>
          <a:p>
            <a:endParaRPr lang="en-US" sz="2000" dirty="0"/>
          </a:p>
          <a:p>
            <a:r>
              <a:rPr lang="en-US" sz="2000" dirty="0"/>
              <a:t> if (</a:t>
            </a:r>
            <a:r>
              <a:rPr lang="en-US" sz="2000" b="1" dirty="0" err="1"/>
              <a:t>this.workLoad</a:t>
            </a:r>
            <a:r>
              <a:rPr lang="en-US" sz="2000" b="1" dirty="0"/>
              <a:t> &gt; limit</a:t>
            </a:r>
            <a:r>
              <a:rPr lang="en-US" sz="2000" dirty="0"/>
              <a:t>) {…</a:t>
            </a:r>
          </a:p>
          <a:p>
            <a:r>
              <a:rPr lang="en-US" sz="2000" dirty="0"/>
              <a:t>                                 List&lt;</a:t>
            </a:r>
            <a:r>
              <a:rPr lang="en-US" sz="2000" dirty="0" err="1"/>
              <a:t>MyRecursiveAction</a:t>
            </a:r>
            <a:r>
              <a:rPr lang="en-US" sz="2000" dirty="0"/>
              <a:t>&gt; subtasks = new </a:t>
            </a:r>
            <a:r>
              <a:rPr lang="en-US" sz="2000" dirty="0" err="1"/>
              <a:t>ArrayList</a:t>
            </a:r>
            <a:r>
              <a:rPr lang="en-US" sz="2000" dirty="0"/>
              <a:t>&lt;</a:t>
            </a:r>
            <a:r>
              <a:rPr lang="en-US" sz="2000" dirty="0" err="1"/>
              <a:t>MyRecursiveAction</a:t>
            </a:r>
            <a:r>
              <a:rPr lang="en-US" sz="2000" dirty="0"/>
              <a:t>&gt;();</a:t>
            </a:r>
          </a:p>
          <a:p>
            <a:r>
              <a:rPr lang="en-US" sz="2000" dirty="0"/>
              <a:t>                                  </a:t>
            </a:r>
            <a:r>
              <a:rPr lang="en-US" sz="2000" dirty="0" err="1"/>
              <a:t>subtasks.addAll</a:t>
            </a:r>
            <a:r>
              <a:rPr lang="en-US" sz="2000" dirty="0"/>
              <a:t>(</a:t>
            </a:r>
            <a:r>
              <a:rPr lang="en-US" sz="2000" b="1" dirty="0" err="1"/>
              <a:t>createSubtasks</a:t>
            </a:r>
            <a:r>
              <a:rPr lang="en-US" sz="2000" b="1" dirty="0"/>
              <a:t>()</a:t>
            </a:r>
            <a:r>
              <a:rPr lang="en-US" sz="2000" dirty="0"/>
              <a:t>); </a:t>
            </a:r>
          </a:p>
          <a:p>
            <a:r>
              <a:rPr lang="en-US" sz="2000" dirty="0"/>
              <a:t>                                  </a:t>
            </a:r>
            <a:r>
              <a:rPr lang="en-US" sz="2000" b="1" dirty="0" err="1"/>
              <a:t>invokeAll</a:t>
            </a:r>
            <a:r>
              <a:rPr lang="en-US" sz="2000" b="1" dirty="0"/>
              <a:t>(subtasks)</a:t>
            </a:r>
            <a:r>
              <a:rPr lang="en-US" sz="2000" dirty="0"/>
              <a:t>;}</a:t>
            </a:r>
          </a:p>
          <a:p>
            <a:r>
              <a:rPr lang="en-US" sz="2000" dirty="0"/>
              <a:t>                               }</a:t>
            </a:r>
          </a:p>
          <a:p>
            <a:r>
              <a:rPr lang="en-US" sz="2000" dirty="0"/>
              <a:t>else {// </a:t>
            </a:r>
            <a:r>
              <a:rPr lang="en-US" sz="2000" dirty="0" err="1"/>
              <a:t>prelucrata</a:t>
            </a:r>
            <a:r>
              <a:rPr lang="en-US" sz="2000" dirty="0"/>
              <a:t> de thread-</a:t>
            </a:r>
            <a:r>
              <a:rPr lang="en-US" sz="2000" dirty="0" err="1"/>
              <a:t>ul</a:t>
            </a:r>
            <a:r>
              <a:rPr lang="en-US" sz="2000" dirty="0"/>
              <a:t> </a:t>
            </a:r>
            <a:r>
              <a:rPr lang="en-US" sz="2000" dirty="0" err="1"/>
              <a:t>curent</a:t>
            </a:r>
            <a:r>
              <a:rPr lang="en-US" sz="2000" dirty="0"/>
              <a:t>}</a:t>
            </a:r>
          </a:p>
          <a:p>
            <a:endParaRPr lang="en-US" sz="2000" dirty="0"/>
          </a:p>
          <a:p>
            <a:r>
              <a:rPr lang="en-US" sz="2000" dirty="0"/>
              <a:t>}</a:t>
            </a:r>
          </a:p>
          <a:p>
            <a:r>
              <a:rPr lang="en-US" sz="2000" dirty="0"/>
              <a:t>private List&lt;</a:t>
            </a:r>
            <a:r>
              <a:rPr lang="en-US" sz="2000" dirty="0" err="1"/>
              <a:t>MyRecursiveAction</a:t>
            </a:r>
            <a:r>
              <a:rPr lang="en-US" sz="2000" dirty="0"/>
              <a:t>&gt; </a:t>
            </a:r>
            <a:r>
              <a:rPr lang="en-US" sz="2000" b="1" dirty="0" err="1"/>
              <a:t>createSubtasks</a:t>
            </a:r>
            <a:r>
              <a:rPr lang="en-US" sz="2000" b="1" dirty="0"/>
              <a:t>() </a:t>
            </a:r>
            <a:r>
              <a:rPr lang="en-US" sz="2000" dirty="0"/>
              <a:t>{</a:t>
            </a:r>
          </a:p>
          <a:p>
            <a:r>
              <a:rPr lang="en-US" sz="2000" dirty="0"/>
              <a:t>        List&lt;</a:t>
            </a:r>
            <a:r>
              <a:rPr lang="en-US" sz="2000" dirty="0" err="1"/>
              <a:t>MyRecursiveAction</a:t>
            </a:r>
            <a:r>
              <a:rPr lang="en-US" sz="2000" dirty="0"/>
              <a:t>&gt; subtasks =  new </a:t>
            </a:r>
            <a:r>
              <a:rPr lang="en-US" sz="2000" dirty="0" err="1"/>
              <a:t>ArrayList</a:t>
            </a:r>
            <a:r>
              <a:rPr lang="en-US" sz="2000" dirty="0"/>
              <a:t>&lt;</a:t>
            </a:r>
            <a:r>
              <a:rPr lang="en-US" sz="2000" dirty="0" err="1"/>
              <a:t>MyRecursiveAction</a:t>
            </a:r>
            <a:r>
              <a:rPr lang="en-US" sz="2000" dirty="0"/>
              <a:t>&gt;();</a:t>
            </a:r>
          </a:p>
          <a:p>
            <a:r>
              <a:rPr lang="en-US" sz="2000" dirty="0"/>
              <a:t>…. }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627232" y="3595267"/>
            <a:ext cx="3381888" cy="1200329"/>
          </a:xfrm>
          <a:prstGeom prst="rect">
            <a:avLst/>
          </a:prstGeom>
          <a:solidFill>
            <a:srgbClr val="92D05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err="1"/>
              <a:t>invokeAll</a:t>
            </a:r>
            <a:r>
              <a:rPr lang="en-US" dirty="0"/>
              <a:t>(Collection&lt;T&gt; tasks)</a:t>
            </a:r>
          </a:p>
          <a:p>
            <a:endParaRPr lang="en-US" dirty="0"/>
          </a:p>
          <a:p>
            <a:r>
              <a:rPr lang="en-US" dirty="0" err="1"/>
              <a:t>Trimite</a:t>
            </a:r>
            <a:r>
              <a:rPr lang="en-US" dirty="0"/>
              <a:t> in </a:t>
            </a:r>
            <a:r>
              <a:rPr lang="en-US" dirty="0" err="1"/>
              <a:t>executie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task-</a:t>
            </a:r>
            <a:r>
              <a:rPr lang="en-US" dirty="0" err="1"/>
              <a:t>urile</a:t>
            </a:r>
            <a:endParaRPr lang="en-US" dirty="0"/>
          </a:p>
          <a:p>
            <a:r>
              <a:rPr lang="en-US" dirty="0"/>
              <a:t>(face fork()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task-</a:t>
            </a:r>
            <a:r>
              <a:rPr lang="en-US" dirty="0" err="1"/>
              <a:t>urile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521061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95616" y="1501345"/>
            <a:ext cx="9485184" cy="378565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private </a:t>
            </a:r>
            <a:r>
              <a:rPr lang="en-US" sz="2000" b="1" dirty="0"/>
              <a:t>List&lt;</a:t>
            </a:r>
            <a:r>
              <a:rPr lang="en-US" sz="2000" b="1" dirty="0" err="1"/>
              <a:t>MyRecursiveAction</a:t>
            </a:r>
            <a:r>
              <a:rPr lang="en-US" sz="2000" b="1" dirty="0"/>
              <a:t>&gt;  </a:t>
            </a:r>
            <a:r>
              <a:rPr lang="en-US" sz="2000" b="1" dirty="0" err="1"/>
              <a:t>createSubtasks</a:t>
            </a:r>
            <a:r>
              <a:rPr lang="en-US" sz="2000" b="1" dirty="0"/>
              <a:t>() </a:t>
            </a:r>
            <a:r>
              <a:rPr lang="en-US" sz="2000" dirty="0"/>
              <a:t>{</a:t>
            </a:r>
          </a:p>
          <a:p>
            <a:endParaRPr lang="en-US" sz="2000" dirty="0"/>
          </a:p>
          <a:p>
            <a:r>
              <a:rPr lang="en-US" sz="2000" dirty="0"/>
              <a:t>        List&lt;</a:t>
            </a:r>
            <a:r>
              <a:rPr lang="en-US" sz="2000" dirty="0" err="1"/>
              <a:t>MyRecursiveAction</a:t>
            </a:r>
            <a:r>
              <a:rPr lang="en-US" sz="2000" dirty="0"/>
              <a:t>&gt; subtasks =  new </a:t>
            </a:r>
            <a:r>
              <a:rPr lang="en-US" sz="2000" dirty="0" err="1"/>
              <a:t>ArrayList</a:t>
            </a:r>
            <a:r>
              <a:rPr lang="en-US" sz="2000" dirty="0"/>
              <a:t>&lt;</a:t>
            </a:r>
            <a:r>
              <a:rPr lang="en-US" sz="2000" dirty="0" err="1"/>
              <a:t>MyRecursiveAction</a:t>
            </a:r>
            <a:r>
              <a:rPr lang="en-US" sz="2000" dirty="0"/>
              <a:t>&gt;();</a:t>
            </a:r>
          </a:p>
          <a:p>
            <a:endParaRPr lang="en-US" sz="2000" dirty="0"/>
          </a:p>
          <a:p>
            <a:r>
              <a:rPr lang="en-US" sz="2000" dirty="0"/>
              <a:t>        </a:t>
            </a:r>
            <a:r>
              <a:rPr lang="en-US" sz="2000" dirty="0" err="1"/>
              <a:t>MyRecursiveAction</a:t>
            </a:r>
            <a:r>
              <a:rPr lang="en-US" sz="2000" dirty="0"/>
              <a:t> subtask1 = new </a:t>
            </a:r>
            <a:r>
              <a:rPr lang="en-US" sz="2000" dirty="0" err="1"/>
              <a:t>MyRecursiveAction</a:t>
            </a:r>
            <a:r>
              <a:rPr lang="en-US" sz="2000" dirty="0"/>
              <a:t>(</a:t>
            </a:r>
            <a:r>
              <a:rPr lang="en-US" sz="2000" dirty="0" err="1"/>
              <a:t>this.workLoad</a:t>
            </a:r>
            <a:r>
              <a:rPr lang="en-US" sz="2000" dirty="0"/>
              <a:t> / 2);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MyRecursiveAction</a:t>
            </a:r>
            <a:r>
              <a:rPr lang="en-US" sz="2000" dirty="0"/>
              <a:t> subtask2 = new </a:t>
            </a:r>
            <a:r>
              <a:rPr lang="en-US" sz="2000" dirty="0" err="1"/>
              <a:t>MyRecursiveAction</a:t>
            </a:r>
            <a:r>
              <a:rPr lang="en-US" sz="2000" dirty="0"/>
              <a:t>(</a:t>
            </a:r>
            <a:r>
              <a:rPr lang="en-US" sz="2000" dirty="0" err="1"/>
              <a:t>this.workLoad</a:t>
            </a:r>
            <a:r>
              <a:rPr lang="en-US" sz="2000" dirty="0"/>
              <a:t> / 2);</a:t>
            </a:r>
          </a:p>
          <a:p>
            <a:endParaRPr lang="en-US" sz="2000" dirty="0"/>
          </a:p>
          <a:p>
            <a:r>
              <a:rPr lang="en-US" sz="2000" dirty="0"/>
              <a:t>        </a:t>
            </a:r>
            <a:r>
              <a:rPr lang="en-US" sz="2000" dirty="0" err="1"/>
              <a:t>subtasks.add</a:t>
            </a:r>
            <a:r>
              <a:rPr lang="en-US" sz="2000" dirty="0"/>
              <a:t>(subtask1);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subtasks.add</a:t>
            </a:r>
            <a:r>
              <a:rPr lang="en-US" sz="2000" dirty="0"/>
              <a:t>(subtask2);</a:t>
            </a:r>
          </a:p>
          <a:p>
            <a:endParaRPr lang="en-US" sz="2000" dirty="0"/>
          </a:p>
          <a:p>
            <a:r>
              <a:rPr lang="en-US" sz="2000" dirty="0"/>
              <a:t>        return subtasks;</a:t>
            </a:r>
          </a:p>
          <a:p>
            <a:r>
              <a:rPr lang="en-US" sz="2000" dirty="0"/>
              <a:t>  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5281" y="122332"/>
            <a:ext cx="37096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Exemplu</a:t>
            </a:r>
            <a:r>
              <a:rPr lang="en-US" sz="2000" b="1" dirty="0"/>
              <a:t>:  </a:t>
            </a:r>
            <a:r>
              <a:rPr lang="en-US" sz="2000" b="1" dirty="0" err="1"/>
              <a:t>crearea</a:t>
            </a:r>
            <a:r>
              <a:rPr lang="en-US" sz="2000" b="1" dirty="0"/>
              <a:t> subtask-</a:t>
            </a:r>
            <a:r>
              <a:rPr lang="en-US" sz="2000" b="1" dirty="0" err="1"/>
              <a:t>urilor</a:t>
            </a:r>
            <a:r>
              <a:rPr lang="en-US" sz="2000" b="1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3495395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7839" y="166816"/>
            <a:ext cx="5826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Exemplu</a:t>
            </a:r>
            <a:r>
              <a:rPr lang="en-US" sz="2000" dirty="0"/>
              <a:t>:   </a:t>
            </a:r>
            <a:r>
              <a:rPr lang="en-US" sz="2000" b="1" dirty="0"/>
              <a:t>Fork-Join Framework   cu </a:t>
            </a:r>
            <a:r>
              <a:rPr lang="en-US" sz="2000" b="1" dirty="0" err="1"/>
              <a:t>RecursiveAction</a:t>
            </a:r>
            <a:endParaRPr lang="en-US" sz="20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902319" y="1064778"/>
            <a:ext cx="8576450" cy="470898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protected </a:t>
            </a:r>
            <a:r>
              <a:rPr lang="en-US" sz="2000" b="1" dirty="0"/>
              <a:t>void compute() </a:t>
            </a:r>
            <a:r>
              <a:rPr lang="en-US" sz="2000" dirty="0"/>
              <a:t>{</a:t>
            </a:r>
          </a:p>
          <a:p>
            <a:endParaRPr lang="en-US" sz="2000" dirty="0"/>
          </a:p>
          <a:p>
            <a:r>
              <a:rPr lang="en-US" sz="2000" dirty="0"/>
              <a:t>if  (</a:t>
            </a:r>
            <a:r>
              <a:rPr lang="en-US" sz="2000" b="1" dirty="0" err="1"/>
              <a:t>this.workLoad</a:t>
            </a:r>
            <a:r>
              <a:rPr lang="en-US" sz="2000" b="1" dirty="0"/>
              <a:t> &gt; 15</a:t>
            </a:r>
            <a:r>
              <a:rPr lang="en-US" sz="2000" dirty="0"/>
              <a:t>) {</a:t>
            </a:r>
          </a:p>
          <a:p>
            <a:endParaRPr lang="en-US" sz="2000" dirty="0"/>
          </a:p>
          <a:p>
            <a:r>
              <a:rPr lang="en-US" sz="2000" dirty="0"/>
              <a:t>            </a:t>
            </a:r>
            <a:r>
              <a:rPr lang="en-US" sz="2000" dirty="0" err="1"/>
              <a:t>System.out.println</a:t>
            </a:r>
            <a:r>
              <a:rPr lang="en-US" sz="2000" dirty="0"/>
              <a:t>(</a:t>
            </a:r>
            <a:r>
              <a:rPr lang="en-US" sz="2000" b="1" dirty="0"/>
              <a:t>"Splitting </a:t>
            </a:r>
            <a:r>
              <a:rPr lang="en-US" sz="2000" b="1" dirty="0" err="1"/>
              <a:t>workLoad</a:t>
            </a:r>
            <a:r>
              <a:rPr lang="en-US" sz="2000" b="1" dirty="0"/>
              <a:t> : " </a:t>
            </a:r>
            <a:r>
              <a:rPr lang="en-US" sz="2000" dirty="0"/>
              <a:t>+ </a:t>
            </a:r>
            <a:r>
              <a:rPr lang="en-US" sz="2000" dirty="0" err="1"/>
              <a:t>this.workLoad</a:t>
            </a:r>
            <a:r>
              <a:rPr lang="en-US" sz="2000" dirty="0"/>
              <a:t>);</a:t>
            </a:r>
          </a:p>
          <a:p>
            <a:endParaRPr lang="en-US" sz="2000" dirty="0"/>
          </a:p>
          <a:p>
            <a:r>
              <a:rPr lang="en-US" sz="2000" dirty="0"/>
              <a:t>            List&lt;</a:t>
            </a:r>
            <a:r>
              <a:rPr lang="en-US" sz="2000" dirty="0" err="1"/>
              <a:t>MyRecursiveAction</a:t>
            </a:r>
            <a:r>
              <a:rPr lang="en-US" sz="2000" dirty="0"/>
              <a:t>&gt; subtasks = new </a:t>
            </a:r>
            <a:r>
              <a:rPr lang="en-US" sz="2000" dirty="0" err="1"/>
              <a:t>ArrayList</a:t>
            </a:r>
            <a:r>
              <a:rPr lang="en-US" sz="2000" dirty="0"/>
              <a:t>&lt;</a:t>
            </a:r>
            <a:r>
              <a:rPr lang="en-US" sz="2000" dirty="0" err="1"/>
              <a:t>MyRecursiveAction</a:t>
            </a:r>
            <a:r>
              <a:rPr lang="en-US" sz="2000" dirty="0"/>
              <a:t>&gt;();</a:t>
            </a:r>
          </a:p>
          <a:p>
            <a:endParaRPr lang="en-US" sz="2000" dirty="0"/>
          </a:p>
          <a:p>
            <a:r>
              <a:rPr lang="en-US" sz="2000" dirty="0"/>
              <a:t>            </a:t>
            </a:r>
            <a:r>
              <a:rPr lang="en-US" sz="2000" dirty="0" err="1"/>
              <a:t>subtasks.addAll</a:t>
            </a:r>
            <a:r>
              <a:rPr lang="en-US" sz="2000" dirty="0"/>
              <a:t>(</a:t>
            </a:r>
            <a:r>
              <a:rPr lang="en-US" sz="2000" dirty="0" err="1"/>
              <a:t>createSubtasks</a:t>
            </a:r>
            <a:r>
              <a:rPr lang="en-US" sz="2000" dirty="0"/>
              <a:t>()); </a:t>
            </a:r>
            <a:r>
              <a:rPr lang="en-US" sz="2000" dirty="0" err="1"/>
              <a:t>invokeAll</a:t>
            </a:r>
            <a:r>
              <a:rPr lang="en-US" sz="2000" dirty="0"/>
              <a:t>(subtasks);}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else {</a:t>
            </a:r>
          </a:p>
          <a:p>
            <a:r>
              <a:rPr lang="en-US" sz="2000" dirty="0"/>
              <a:t>            </a:t>
            </a:r>
            <a:r>
              <a:rPr lang="en-US" sz="2000" dirty="0" err="1"/>
              <a:t>System.out.println</a:t>
            </a:r>
            <a:r>
              <a:rPr lang="en-US" sz="2000" b="1" dirty="0"/>
              <a:t>("Doing </a:t>
            </a:r>
            <a:r>
              <a:rPr lang="en-US" sz="2000" b="1" dirty="0" err="1"/>
              <a:t>workLoad</a:t>
            </a:r>
            <a:r>
              <a:rPr lang="en-US" sz="2000" b="1" dirty="0"/>
              <a:t> myself: " </a:t>
            </a:r>
            <a:r>
              <a:rPr lang="en-US" sz="2000" dirty="0"/>
              <a:t>+ </a:t>
            </a:r>
            <a:r>
              <a:rPr lang="en-US" sz="2000" dirty="0" err="1"/>
              <a:t>this.workLoad</a:t>
            </a:r>
            <a:r>
              <a:rPr lang="en-US" sz="2000" dirty="0"/>
              <a:t>);</a:t>
            </a:r>
          </a:p>
          <a:p>
            <a:r>
              <a:rPr lang="en-US" sz="2000" dirty="0"/>
              <a:t>        }</a:t>
            </a:r>
          </a:p>
          <a:p>
            <a:r>
              <a:rPr lang="en-US" sz="2000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8288121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7839" y="166816"/>
            <a:ext cx="78086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Exemplu</a:t>
            </a:r>
            <a:r>
              <a:rPr lang="en-US" dirty="0"/>
              <a:t>: </a:t>
            </a:r>
            <a:r>
              <a:rPr lang="en-US" b="1" dirty="0"/>
              <a:t>Fork-Join Framework </a:t>
            </a:r>
            <a:r>
              <a:rPr lang="en-US" dirty="0"/>
              <a:t>cu </a:t>
            </a:r>
            <a:r>
              <a:rPr lang="en-US" b="1" dirty="0" err="1"/>
              <a:t>RecursiveAction</a:t>
            </a:r>
            <a:endParaRPr lang="en-US" b="1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AA3589-7023-14DA-AFA0-1BA3B38C5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1888" y="721707"/>
            <a:ext cx="3832273" cy="50274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33BB0B-41EA-A71D-7D43-FDCFD2B50946}"/>
              </a:ext>
            </a:extLst>
          </p:cNvPr>
          <p:cNvSpPr txBox="1"/>
          <p:nvPr/>
        </p:nvSpPr>
        <p:spPr>
          <a:xfrm>
            <a:off x="538480" y="2174240"/>
            <a:ext cx="7150355" cy="2308324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GB" dirty="0"/>
              <a:t>public static void main (String[] </a:t>
            </a:r>
            <a:r>
              <a:rPr lang="en-GB" dirty="0" err="1"/>
              <a:t>args</a:t>
            </a:r>
            <a:r>
              <a:rPr lang="en-GB" dirty="0"/>
              <a:t>){</a:t>
            </a:r>
          </a:p>
          <a:p>
            <a:endParaRPr lang="en-GB" dirty="0"/>
          </a:p>
          <a:p>
            <a:r>
              <a:rPr lang="en-GB" dirty="0"/>
              <a:t>        </a:t>
            </a:r>
            <a:r>
              <a:rPr lang="en-GB" dirty="0" err="1"/>
              <a:t>ForkJoinPool</a:t>
            </a:r>
            <a:r>
              <a:rPr lang="en-GB" dirty="0"/>
              <a:t> </a:t>
            </a:r>
            <a:r>
              <a:rPr lang="en-GB" dirty="0" err="1"/>
              <a:t>forkJoinPool</a:t>
            </a:r>
            <a:r>
              <a:rPr lang="en-GB" dirty="0"/>
              <a:t> = new </a:t>
            </a:r>
            <a:r>
              <a:rPr lang="en-GB" dirty="0" err="1"/>
              <a:t>ForkJoinPool</a:t>
            </a:r>
            <a:r>
              <a:rPr lang="en-GB" dirty="0"/>
              <a:t>(4);</a:t>
            </a:r>
          </a:p>
          <a:p>
            <a:endParaRPr lang="en-GB" dirty="0"/>
          </a:p>
          <a:p>
            <a:r>
              <a:rPr lang="en-GB" dirty="0"/>
              <a:t>        </a:t>
            </a:r>
            <a:r>
              <a:rPr lang="en-GB" dirty="0" err="1"/>
              <a:t>MyRecursiveAction</a:t>
            </a:r>
            <a:r>
              <a:rPr lang="en-GB" dirty="0"/>
              <a:t> </a:t>
            </a:r>
            <a:r>
              <a:rPr lang="en-GB" dirty="0" err="1"/>
              <a:t>myRecursiveAction</a:t>
            </a:r>
            <a:r>
              <a:rPr lang="en-GB" dirty="0"/>
              <a:t> = new </a:t>
            </a:r>
            <a:r>
              <a:rPr lang="en-GB" dirty="0" err="1"/>
              <a:t>MyRecursiveAction</a:t>
            </a:r>
            <a:r>
              <a:rPr lang="en-GB" dirty="0"/>
              <a:t>(</a:t>
            </a:r>
            <a:r>
              <a:rPr lang="en-GB" b="1" dirty="0">
                <a:solidFill>
                  <a:srgbClr val="00B050"/>
                </a:solidFill>
              </a:rPr>
              <a:t>64</a:t>
            </a:r>
            <a:r>
              <a:rPr lang="en-GB" dirty="0"/>
              <a:t>);</a:t>
            </a:r>
          </a:p>
          <a:p>
            <a:endParaRPr lang="en-GB" dirty="0"/>
          </a:p>
          <a:p>
            <a:r>
              <a:rPr lang="en-GB" dirty="0"/>
              <a:t>        </a:t>
            </a:r>
            <a:r>
              <a:rPr lang="en-GB" dirty="0" err="1"/>
              <a:t>forkJoinPool.invoke</a:t>
            </a:r>
            <a:r>
              <a:rPr lang="en-GB" dirty="0"/>
              <a:t>(</a:t>
            </a:r>
            <a:r>
              <a:rPr lang="en-GB" dirty="0" err="1"/>
              <a:t>myRecursiveAction</a:t>
            </a:r>
            <a:r>
              <a:rPr lang="en-GB" dirty="0"/>
              <a:t>);</a:t>
            </a:r>
          </a:p>
          <a:p>
            <a:r>
              <a:rPr lang="en-GB" dirty="0"/>
              <a:t>    }}</a:t>
            </a:r>
          </a:p>
        </p:txBody>
      </p:sp>
    </p:spTree>
    <p:extLst>
      <p:ext uri="{BB962C8B-B14F-4D97-AF65-F5344CB8AC3E}">
        <p14:creationId xmlns:p14="http://schemas.microsoft.com/office/powerpoint/2010/main" val="7701024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2422" y="172995"/>
            <a:ext cx="6301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Fork-Join Framework</a:t>
            </a:r>
            <a:r>
              <a:rPr lang="en-US" dirty="0"/>
              <a:t>  </a:t>
            </a:r>
            <a:r>
              <a:rPr lang="en-US" b="1" dirty="0"/>
              <a:t>cu </a:t>
            </a:r>
            <a:r>
              <a:rPr lang="en-US" b="1" dirty="0" err="1"/>
              <a:t>RecursiveTask</a:t>
            </a:r>
            <a:r>
              <a:rPr lang="en-US" b="1" dirty="0"/>
              <a:t> &lt;T&gt; </a:t>
            </a:r>
            <a:r>
              <a:rPr lang="en-US" dirty="0"/>
              <a:t>(forma </a:t>
            </a:r>
            <a:r>
              <a:rPr lang="en-US" dirty="0" err="1"/>
              <a:t>generala</a:t>
            </a:r>
            <a:r>
              <a:rPr lang="en-US" dirty="0"/>
              <a:t>)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466" y="612844"/>
            <a:ext cx="9952374" cy="563231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public class </a:t>
            </a:r>
            <a:r>
              <a:rPr lang="en-US" sz="2000" dirty="0" err="1"/>
              <a:t>MyRecursiveTask</a:t>
            </a:r>
            <a:r>
              <a:rPr lang="en-US" sz="2000" dirty="0"/>
              <a:t> extends </a:t>
            </a:r>
            <a:r>
              <a:rPr lang="en-US" sz="2000" b="1" dirty="0" err="1"/>
              <a:t>RecursiveTask</a:t>
            </a:r>
            <a:r>
              <a:rPr lang="en-US" sz="2000" b="1" dirty="0"/>
              <a:t> &lt;T&gt;</a:t>
            </a:r>
            <a:r>
              <a:rPr lang="en-US" sz="2000" dirty="0"/>
              <a:t> {</a:t>
            </a:r>
          </a:p>
          <a:p>
            <a:endParaRPr lang="en-US" sz="2000" dirty="0"/>
          </a:p>
          <a:p>
            <a:r>
              <a:rPr lang="en-US" sz="2000" dirty="0"/>
              <a:t>public </a:t>
            </a:r>
            <a:r>
              <a:rPr lang="en-US" sz="2000" dirty="0" err="1"/>
              <a:t>MyRecursiveTask</a:t>
            </a:r>
            <a:r>
              <a:rPr lang="en-US" sz="2000" dirty="0"/>
              <a:t> (long </a:t>
            </a:r>
            <a:r>
              <a:rPr lang="en-US" sz="2000" dirty="0" err="1"/>
              <a:t>workLoad</a:t>
            </a:r>
            <a:r>
              <a:rPr lang="en-US" sz="2000" dirty="0"/>
              <a:t>) {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this.workLoad</a:t>
            </a:r>
            <a:r>
              <a:rPr lang="en-US" sz="2000" dirty="0"/>
              <a:t> = </a:t>
            </a:r>
            <a:r>
              <a:rPr lang="en-US" sz="2000" dirty="0" err="1"/>
              <a:t>workLoad</a:t>
            </a:r>
            <a:r>
              <a:rPr lang="en-US" sz="2000" dirty="0"/>
              <a:t>;</a:t>
            </a:r>
          </a:p>
          <a:p>
            <a:r>
              <a:rPr lang="en-US" sz="2000" dirty="0"/>
              <a:t>    }</a:t>
            </a:r>
          </a:p>
          <a:p>
            <a:r>
              <a:rPr lang="en-US" sz="2000" dirty="0"/>
              <a:t>protected  </a:t>
            </a:r>
            <a:r>
              <a:rPr lang="en-US" sz="2000" b="1" dirty="0"/>
              <a:t>T compute() </a:t>
            </a:r>
            <a:r>
              <a:rPr lang="en-US" sz="2000" dirty="0"/>
              <a:t>{</a:t>
            </a:r>
          </a:p>
          <a:p>
            <a:endParaRPr lang="en-US" sz="2000" dirty="0"/>
          </a:p>
          <a:p>
            <a:r>
              <a:rPr lang="en-US" sz="2000" dirty="0"/>
              <a:t> if (</a:t>
            </a:r>
            <a:r>
              <a:rPr lang="en-US" sz="2000" b="1" dirty="0" err="1"/>
              <a:t>this.workLoad</a:t>
            </a:r>
            <a:r>
              <a:rPr lang="en-US" sz="2000" b="1" dirty="0"/>
              <a:t> &gt; limit</a:t>
            </a:r>
            <a:r>
              <a:rPr lang="en-US" sz="2000" dirty="0"/>
              <a:t>) {…..</a:t>
            </a:r>
          </a:p>
          <a:p>
            <a:r>
              <a:rPr lang="en-US" sz="2000" dirty="0"/>
              <a:t>                                 List&lt;</a:t>
            </a:r>
            <a:r>
              <a:rPr lang="en-US" sz="2000" dirty="0" err="1"/>
              <a:t>MyRecursiveTask</a:t>
            </a:r>
            <a:r>
              <a:rPr lang="en-US" sz="2000" dirty="0"/>
              <a:t>&gt; subtasks = new </a:t>
            </a:r>
            <a:r>
              <a:rPr lang="en-US" sz="2000" dirty="0" err="1"/>
              <a:t>ArrayList</a:t>
            </a:r>
            <a:r>
              <a:rPr lang="en-US" sz="2000" dirty="0"/>
              <a:t>&lt;</a:t>
            </a:r>
            <a:r>
              <a:rPr lang="en-US" sz="2000" dirty="0" err="1"/>
              <a:t>MyRecursiveTask</a:t>
            </a:r>
            <a:r>
              <a:rPr lang="en-US" sz="2000" dirty="0"/>
              <a:t>&gt;();</a:t>
            </a:r>
          </a:p>
          <a:p>
            <a:r>
              <a:rPr lang="en-US" sz="2000" dirty="0"/>
              <a:t>                                  </a:t>
            </a:r>
            <a:r>
              <a:rPr lang="en-US" sz="2000" dirty="0" err="1"/>
              <a:t>subtasks.addAll</a:t>
            </a:r>
            <a:r>
              <a:rPr lang="en-US" sz="2000" dirty="0"/>
              <a:t>(</a:t>
            </a:r>
            <a:r>
              <a:rPr lang="en-US" sz="2000" b="1" dirty="0" err="1"/>
              <a:t>createSubtasks</a:t>
            </a:r>
            <a:r>
              <a:rPr lang="en-US" sz="2000" b="1" dirty="0"/>
              <a:t>()</a:t>
            </a:r>
            <a:r>
              <a:rPr lang="en-US" sz="2000" dirty="0"/>
              <a:t>); </a:t>
            </a:r>
          </a:p>
          <a:p>
            <a:r>
              <a:rPr lang="en-US" sz="2000" dirty="0"/>
              <a:t>                                  </a:t>
            </a:r>
            <a:r>
              <a:rPr lang="en-US" sz="2000" dirty="0" err="1"/>
              <a:t>invokeAll</a:t>
            </a:r>
            <a:r>
              <a:rPr lang="en-US" sz="2000" dirty="0"/>
              <a:t>(subtasks);</a:t>
            </a:r>
          </a:p>
          <a:p>
            <a:r>
              <a:rPr lang="en-US" sz="2000" dirty="0"/>
              <a:t>                                  return </a:t>
            </a:r>
            <a:r>
              <a:rPr lang="en-US" sz="2000" i="1" dirty="0" err="1"/>
              <a:t>joinresult</a:t>
            </a:r>
            <a:r>
              <a:rPr lang="en-US" sz="2000" i="1" dirty="0"/>
              <a:t>(subtasks)</a:t>
            </a:r>
            <a:r>
              <a:rPr lang="en-US" sz="2000" dirty="0"/>
              <a:t>;}</a:t>
            </a:r>
          </a:p>
          <a:p>
            <a:r>
              <a:rPr lang="en-US" sz="2000" dirty="0"/>
              <a:t>                               </a:t>
            </a:r>
          </a:p>
          <a:p>
            <a:r>
              <a:rPr lang="en-US" sz="2000" dirty="0"/>
              <a:t>else {// </a:t>
            </a:r>
            <a:r>
              <a:rPr lang="en-US" sz="2000" dirty="0" err="1"/>
              <a:t>prelucrata</a:t>
            </a:r>
            <a:r>
              <a:rPr lang="en-US" sz="2000" dirty="0"/>
              <a:t> de thread-</a:t>
            </a:r>
            <a:r>
              <a:rPr lang="en-US" sz="2000" dirty="0" err="1"/>
              <a:t>ul</a:t>
            </a:r>
            <a:r>
              <a:rPr lang="en-US" sz="2000" dirty="0"/>
              <a:t> current;</a:t>
            </a:r>
          </a:p>
          <a:p>
            <a:r>
              <a:rPr lang="en-US" sz="2000" dirty="0"/>
              <a:t>           </a:t>
            </a:r>
            <a:r>
              <a:rPr lang="en-US" sz="2000" b="1" dirty="0"/>
              <a:t>return result</a:t>
            </a:r>
            <a:r>
              <a:rPr lang="en-US" sz="2000" dirty="0"/>
              <a:t>}}</a:t>
            </a:r>
          </a:p>
          <a:p>
            <a:endParaRPr lang="en-US" sz="2000" dirty="0"/>
          </a:p>
          <a:p>
            <a:r>
              <a:rPr lang="en-US" sz="2000" dirty="0"/>
              <a:t>private List&lt;</a:t>
            </a:r>
            <a:r>
              <a:rPr lang="en-US" sz="2000" dirty="0" err="1"/>
              <a:t>MyRecursiveTask</a:t>
            </a:r>
            <a:r>
              <a:rPr lang="en-US" sz="2000" dirty="0"/>
              <a:t>&gt; </a:t>
            </a:r>
            <a:r>
              <a:rPr lang="en-US" sz="2000" dirty="0" err="1"/>
              <a:t>createSubtasks</a:t>
            </a:r>
            <a:r>
              <a:rPr lang="en-US" sz="2000" dirty="0"/>
              <a:t>() {</a:t>
            </a:r>
          </a:p>
          <a:p>
            <a:r>
              <a:rPr lang="en-US" sz="2000" dirty="0"/>
              <a:t>        List&lt;</a:t>
            </a:r>
            <a:r>
              <a:rPr lang="en-US" sz="2000" dirty="0" err="1"/>
              <a:t>MyRecursiveTask</a:t>
            </a:r>
            <a:r>
              <a:rPr lang="en-US" sz="2000" dirty="0"/>
              <a:t>&gt; subtasks =  new ArrayList&lt;</a:t>
            </a:r>
            <a:r>
              <a:rPr lang="en-US" sz="2000" dirty="0" err="1"/>
              <a:t>MyRecursiveTask</a:t>
            </a:r>
            <a:r>
              <a:rPr lang="en-US" sz="2000" dirty="0"/>
              <a:t>&gt;();    …. 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9426A3-2DCE-474F-018A-D59749C3892F}"/>
              </a:ext>
            </a:extLst>
          </p:cNvPr>
          <p:cNvSpPr txBox="1"/>
          <p:nvPr/>
        </p:nvSpPr>
        <p:spPr>
          <a:xfrm>
            <a:off x="7711440" y="3931920"/>
            <a:ext cx="4196080" cy="92333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i="1" dirty="0" err="1">
                <a:solidFill>
                  <a:schemeClr val="bg1"/>
                </a:solidFill>
              </a:rPr>
              <a:t>joinresult</a:t>
            </a:r>
            <a:r>
              <a:rPr lang="en-US" i="1" dirty="0">
                <a:solidFill>
                  <a:schemeClr val="bg1"/>
                </a:solidFill>
              </a:rPr>
              <a:t>(subtasks)  </a:t>
            </a:r>
            <a:r>
              <a:rPr lang="en-US" dirty="0" err="1">
                <a:solidFill>
                  <a:schemeClr val="bg1"/>
                </a:solidFill>
              </a:rPr>
              <a:t>calculeaza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rezultatul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rezultatele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subtaskurilor</a:t>
            </a:r>
            <a:r>
              <a:rPr lang="en-US" dirty="0">
                <a:solidFill>
                  <a:schemeClr val="bg1"/>
                </a:solidFill>
              </a:rPr>
              <a:t> se </a:t>
            </a:r>
            <a:r>
              <a:rPr lang="en-US" dirty="0" err="1">
                <a:solidFill>
                  <a:schemeClr val="bg1"/>
                </a:solidFill>
              </a:rPr>
              <a:t>obtin</a:t>
            </a:r>
            <a:r>
              <a:rPr lang="en-US" dirty="0">
                <a:solidFill>
                  <a:schemeClr val="bg1"/>
                </a:solidFill>
              </a:rPr>
              <a:t> cu </a:t>
            </a:r>
            <a:r>
              <a:rPr lang="en-US" b="1" dirty="0" err="1">
                <a:solidFill>
                  <a:schemeClr val="bg1"/>
                </a:solidFill>
              </a:rPr>
              <a:t>subtask.get</a:t>
            </a:r>
            <a:r>
              <a:rPr lang="en-US" b="1" dirty="0">
                <a:solidFill>
                  <a:schemeClr val="bg1"/>
                </a:solidFill>
              </a:rPr>
              <a:t>() </a:t>
            </a:r>
            <a:endParaRPr lang="en-GB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4297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1" y="154460"/>
            <a:ext cx="7395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Exemplu</a:t>
            </a:r>
            <a:r>
              <a:rPr lang="en-US" dirty="0"/>
              <a:t>: </a:t>
            </a:r>
            <a:r>
              <a:rPr lang="en-US" b="1" dirty="0"/>
              <a:t>Fork-Join Framework</a:t>
            </a:r>
            <a:r>
              <a:rPr lang="en-US" dirty="0"/>
              <a:t>  cu </a:t>
            </a:r>
            <a:r>
              <a:rPr lang="en-US" b="1" dirty="0" err="1"/>
              <a:t>RecursiveTask</a:t>
            </a:r>
            <a:r>
              <a:rPr lang="en-US" b="1" dirty="0"/>
              <a:t>&lt;V&gt;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3383" y="784654"/>
            <a:ext cx="9640330" cy="532453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2000" dirty="0"/>
              <a:t>protected </a:t>
            </a:r>
            <a:r>
              <a:rPr lang="en-US" sz="2000" b="1" dirty="0"/>
              <a:t>Integer compute() </a:t>
            </a:r>
            <a:r>
              <a:rPr lang="en-US" sz="2000" dirty="0"/>
              <a:t>{ </a:t>
            </a:r>
          </a:p>
          <a:p>
            <a:r>
              <a:rPr lang="en-US" sz="2000" dirty="0"/>
              <a:t> </a:t>
            </a:r>
            <a:r>
              <a:rPr lang="en-GB" sz="2000" dirty="0"/>
              <a:t>if(</a:t>
            </a:r>
            <a:r>
              <a:rPr lang="en-GB" sz="2000" dirty="0" err="1"/>
              <a:t>this.workLoad</a:t>
            </a:r>
            <a:r>
              <a:rPr lang="en-GB" sz="2000" dirty="0"/>
              <a:t> &gt; 15) {</a:t>
            </a:r>
          </a:p>
          <a:p>
            <a:r>
              <a:rPr lang="en-GB" sz="2000" dirty="0"/>
              <a:t>        </a:t>
            </a:r>
            <a:r>
              <a:rPr lang="en-GB" sz="2000" dirty="0" err="1"/>
              <a:t>System.out.println</a:t>
            </a:r>
            <a:r>
              <a:rPr lang="en-GB" sz="2000" dirty="0"/>
              <a:t>("Splitting </a:t>
            </a:r>
            <a:r>
              <a:rPr lang="en-GB" sz="2000" dirty="0" err="1"/>
              <a:t>workLoad</a:t>
            </a:r>
            <a:r>
              <a:rPr lang="en-GB" sz="2000" dirty="0"/>
              <a:t> : " + </a:t>
            </a:r>
            <a:r>
              <a:rPr lang="en-GB" sz="2000" dirty="0" err="1"/>
              <a:t>this.workLoad</a:t>
            </a:r>
            <a:r>
              <a:rPr lang="en-GB" sz="2000" dirty="0"/>
              <a:t>);</a:t>
            </a:r>
            <a:endParaRPr lang="en-US" sz="2000" dirty="0"/>
          </a:p>
          <a:p>
            <a:r>
              <a:rPr lang="en-US" sz="2000" dirty="0"/>
              <a:t>        List&lt;</a:t>
            </a:r>
            <a:r>
              <a:rPr lang="en-US" sz="2000" dirty="0" err="1"/>
              <a:t>MyRecursiveTask</a:t>
            </a:r>
            <a:r>
              <a:rPr lang="en-US" sz="2000" dirty="0"/>
              <a:t>&gt; subtasks = new </a:t>
            </a:r>
            <a:r>
              <a:rPr lang="en-US" sz="2000" dirty="0" err="1"/>
              <a:t>ArrayList</a:t>
            </a:r>
            <a:r>
              <a:rPr lang="en-US" sz="2000" dirty="0"/>
              <a:t>&lt;</a:t>
            </a:r>
            <a:r>
              <a:rPr lang="en-US" sz="2000" dirty="0" err="1"/>
              <a:t>MyRecursiveTask</a:t>
            </a:r>
            <a:r>
              <a:rPr lang="en-US" sz="2000" dirty="0"/>
              <a:t>&gt;();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subtasks.addAll</a:t>
            </a:r>
            <a:r>
              <a:rPr lang="en-US" sz="2000" dirty="0"/>
              <a:t>(</a:t>
            </a:r>
            <a:r>
              <a:rPr lang="en-US" sz="2000" b="1" dirty="0" err="1"/>
              <a:t>createSubtasks</a:t>
            </a:r>
            <a:r>
              <a:rPr lang="en-US" sz="2000" b="1" dirty="0"/>
              <a:t>()</a:t>
            </a:r>
            <a:r>
              <a:rPr lang="en-US" sz="2000" dirty="0"/>
              <a:t>); 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invokeAll</a:t>
            </a:r>
            <a:r>
              <a:rPr lang="en-US" sz="2000" dirty="0"/>
              <a:t>(subtasks);</a:t>
            </a:r>
          </a:p>
          <a:p>
            <a:r>
              <a:rPr lang="en-US" sz="2000" dirty="0"/>
              <a:t>       </a:t>
            </a:r>
          </a:p>
          <a:p>
            <a:r>
              <a:rPr lang="en-US" sz="2000" dirty="0"/>
              <a:t>        int result = 0;</a:t>
            </a:r>
          </a:p>
          <a:p>
            <a:r>
              <a:rPr lang="en-US" sz="2000" dirty="0"/>
              <a:t>            try{</a:t>
            </a:r>
          </a:p>
          <a:p>
            <a:r>
              <a:rPr lang="en-US" sz="2000" dirty="0"/>
              <a:t>            for(</a:t>
            </a:r>
            <a:r>
              <a:rPr lang="en-US" sz="2000" dirty="0" err="1"/>
              <a:t>MyRecursiveTask</a:t>
            </a:r>
            <a:r>
              <a:rPr lang="en-US" sz="2000" dirty="0"/>
              <a:t> subtask : subtasks) {  </a:t>
            </a:r>
            <a:r>
              <a:rPr lang="en-US" sz="2000" b="1" dirty="0">
                <a:solidFill>
                  <a:srgbClr val="00B050"/>
                </a:solidFill>
              </a:rPr>
              <a:t>result = result +  2* </a:t>
            </a:r>
            <a:r>
              <a:rPr lang="en-US" sz="2000" b="1" dirty="0" err="1">
                <a:solidFill>
                  <a:srgbClr val="00B050"/>
                </a:solidFill>
              </a:rPr>
              <a:t>subtask.get</a:t>
            </a:r>
            <a:r>
              <a:rPr lang="en-US" sz="2000" b="1" dirty="0">
                <a:solidFill>
                  <a:srgbClr val="00B050"/>
                </a:solidFill>
              </a:rPr>
              <a:t>();</a:t>
            </a:r>
            <a:r>
              <a:rPr lang="en-US" sz="2000" dirty="0"/>
              <a:t>}</a:t>
            </a:r>
          </a:p>
          <a:p>
            <a:r>
              <a:rPr lang="en-US" sz="2000" dirty="0"/>
              <a:t>            </a:t>
            </a:r>
            <a:r>
              <a:rPr lang="en-US" sz="2000" dirty="0" err="1"/>
              <a:t>System.out.println</a:t>
            </a:r>
            <a:r>
              <a:rPr lang="en-US" sz="2000" dirty="0"/>
              <a:t>("Partial result: " + result);</a:t>
            </a:r>
          </a:p>
          <a:p>
            <a:r>
              <a:rPr lang="en-US" sz="2000" dirty="0"/>
              <a:t>            } catch (</a:t>
            </a:r>
            <a:r>
              <a:rPr lang="en-US" sz="2000" dirty="0" err="1"/>
              <a:t>InterruptedException</a:t>
            </a:r>
            <a:r>
              <a:rPr lang="en-US" sz="2000" dirty="0"/>
              <a:t> | </a:t>
            </a:r>
            <a:r>
              <a:rPr lang="en-US" sz="2000" dirty="0" err="1"/>
              <a:t>ExecutionException</a:t>
            </a:r>
            <a:r>
              <a:rPr lang="en-US" sz="2000" dirty="0"/>
              <a:t> e) {};</a:t>
            </a:r>
          </a:p>
          <a:p>
            <a:r>
              <a:rPr lang="en-US" sz="2000" b="1" dirty="0"/>
              <a:t>            return result;   </a:t>
            </a:r>
            <a:r>
              <a:rPr lang="en-US" sz="2000" dirty="0"/>
              <a:t>}</a:t>
            </a:r>
          </a:p>
          <a:p>
            <a:endParaRPr lang="en-US" sz="2000" dirty="0"/>
          </a:p>
          <a:p>
            <a:r>
              <a:rPr lang="en-US" sz="2000" dirty="0"/>
              <a:t>else {</a:t>
            </a:r>
            <a:r>
              <a:rPr lang="en-GB" sz="2000" dirty="0" err="1"/>
              <a:t>System.out.println</a:t>
            </a:r>
            <a:r>
              <a:rPr lang="en-GB" sz="2000" dirty="0"/>
              <a:t>("Doing </a:t>
            </a:r>
            <a:r>
              <a:rPr lang="en-GB" sz="2000" dirty="0" err="1"/>
              <a:t>workLoad</a:t>
            </a:r>
            <a:r>
              <a:rPr lang="en-GB" sz="2000" dirty="0"/>
              <a:t> myself: " + </a:t>
            </a:r>
            <a:r>
              <a:rPr lang="en-GB" sz="2000" dirty="0" err="1"/>
              <a:t>this.workLoad</a:t>
            </a:r>
            <a:r>
              <a:rPr lang="en-GB" sz="2000" dirty="0"/>
              <a:t>);</a:t>
            </a:r>
          </a:p>
          <a:p>
            <a:r>
              <a:rPr lang="en-GB" sz="2000" dirty="0"/>
              <a:t>            </a:t>
            </a:r>
            <a:r>
              <a:rPr lang="en-GB" sz="2000" b="1" dirty="0"/>
              <a:t>return </a:t>
            </a:r>
            <a:r>
              <a:rPr lang="en-GB" sz="2000" b="1" dirty="0" err="1"/>
              <a:t>workLoad</a:t>
            </a:r>
            <a:r>
              <a:rPr lang="en-GB" sz="2000" b="1" dirty="0"/>
              <a:t>;</a:t>
            </a:r>
            <a:r>
              <a:rPr lang="en-GB" sz="2000" dirty="0"/>
              <a:t>}</a:t>
            </a:r>
            <a:endParaRPr lang="en-US" sz="2000" dirty="0"/>
          </a:p>
          <a:p>
            <a:r>
              <a:rPr lang="en-US" sz="2000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1D5C1B-70F9-3A25-863B-73763A47DB01}"/>
              </a:ext>
            </a:extLst>
          </p:cNvPr>
          <p:cNvSpPr txBox="1"/>
          <p:nvPr/>
        </p:nvSpPr>
        <p:spPr>
          <a:xfrm>
            <a:off x="7244080" y="2800590"/>
            <a:ext cx="4804719" cy="646331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n-GB" i="1" dirty="0" err="1">
                <a:solidFill>
                  <a:schemeClr val="bg1"/>
                </a:solidFill>
              </a:rPr>
              <a:t>joinresult</a:t>
            </a:r>
            <a:r>
              <a:rPr lang="en-GB" i="1" dirty="0">
                <a:solidFill>
                  <a:schemeClr val="bg1"/>
                </a:solidFill>
              </a:rPr>
              <a:t>(subtasks)  </a:t>
            </a:r>
            <a:r>
              <a:rPr lang="en-GB" dirty="0" err="1">
                <a:solidFill>
                  <a:schemeClr val="bg1"/>
                </a:solidFill>
              </a:rPr>
              <a:t>calculeaza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rezultatul</a:t>
            </a:r>
            <a:endParaRPr lang="en-GB" dirty="0">
              <a:solidFill>
                <a:schemeClr val="bg1"/>
              </a:solidFill>
            </a:endParaRPr>
          </a:p>
          <a:p>
            <a:r>
              <a:rPr lang="en-GB" dirty="0" err="1">
                <a:solidFill>
                  <a:schemeClr val="bg1"/>
                </a:solidFill>
              </a:rPr>
              <a:t>rezultatele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subtaskurilor</a:t>
            </a:r>
            <a:r>
              <a:rPr lang="en-GB" dirty="0">
                <a:solidFill>
                  <a:schemeClr val="bg1"/>
                </a:solidFill>
              </a:rPr>
              <a:t> se </a:t>
            </a:r>
            <a:r>
              <a:rPr lang="en-GB" dirty="0" err="1">
                <a:solidFill>
                  <a:schemeClr val="bg1"/>
                </a:solidFill>
              </a:rPr>
              <a:t>obtin</a:t>
            </a:r>
            <a:r>
              <a:rPr lang="en-GB" dirty="0">
                <a:solidFill>
                  <a:schemeClr val="bg1"/>
                </a:solidFill>
              </a:rPr>
              <a:t> cu </a:t>
            </a:r>
            <a:r>
              <a:rPr lang="en-GB" dirty="0" err="1">
                <a:solidFill>
                  <a:schemeClr val="bg1"/>
                </a:solidFill>
              </a:rPr>
              <a:t>subtask.get</a:t>
            </a:r>
            <a:r>
              <a:rPr lang="en-GB" dirty="0">
                <a:solidFill>
                  <a:schemeClr val="bg1"/>
                </a:solidFill>
              </a:rPr>
              <a:t>() </a:t>
            </a:r>
          </a:p>
        </p:txBody>
      </p:sp>
    </p:spTree>
    <p:extLst>
      <p:ext uri="{BB962C8B-B14F-4D97-AF65-F5344CB8AC3E}">
        <p14:creationId xmlns:p14="http://schemas.microsoft.com/office/powerpoint/2010/main" val="33134035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1" y="154460"/>
            <a:ext cx="7395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Exemplu</a:t>
            </a:r>
            <a:r>
              <a:rPr lang="en-US" dirty="0"/>
              <a:t>: </a:t>
            </a:r>
            <a:r>
              <a:rPr lang="en-US" b="1" dirty="0"/>
              <a:t>Fork-Join Framework</a:t>
            </a:r>
            <a:r>
              <a:rPr lang="en-US" dirty="0"/>
              <a:t>  pool cu </a:t>
            </a:r>
            <a:r>
              <a:rPr lang="en-US" b="1" dirty="0" err="1"/>
              <a:t>RecursiveTask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94999D-3301-5361-4E82-BA841B4D57C1}"/>
              </a:ext>
            </a:extLst>
          </p:cNvPr>
          <p:cNvSpPr txBox="1"/>
          <p:nvPr/>
        </p:nvSpPr>
        <p:spPr>
          <a:xfrm>
            <a:off x="4196080" y="2368451"/>
            <a:ext cx="7731760" cy="2862322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dirty="0"/>
              <a:t>public static void main (String[] </a:t>
            </a:r>
            <a:r>
              <a:rPr lang="en-GB" sz="2000" dirty="0" err="1"/>
              <a:t>args</a:t>
            </a:r>
            <a:r>
              <a:rPr lang="en-GB" sz="2000" dirty="0"/>
              <a:t>){</a:t>
            </a:r>
          </a:p>
          <a:p>
            <a:endParaRPr lang="en-GB" sz="2000" dirty="0"/>
          </a:p>
          <a:p>
            <a:r>
              <a:rPr lang="en-GB" sz="2000" dirty="0"/>
              <a:t>        </a:t>
            </a:r>
            <a:r>
              <a:rPr lang="en-GB" sz="2000" dirty="0" err="1"/>
              <a:t>ForkJoinPool</a:t>
            </a:r>
            <a:r>
              <a:rPr lang="en-GB" sz="2000" dirty="0"/>
              <a:t> </a:t>
            </a:r>
            <a:r>
              <a:rPr lang="en-GB" sz="2000" dirty="0" err="1"/>
              <a:t>forkJoinPool</a:t>
            </a:r>
            <a:r>
              <a:rPr lang="en-GB" sz="2000" dirty="0"/>
              <a:t> = </a:t>
            </a:r>
            <a:r>
              <a:rPr lang="en-GB" sz="2000" dirty="0" err="1"/>
              <a:t>ForkJoinPool.commonPool</a:t>
            </a:r>
            <a:r>
              <a:rPr lang="en-GB" sz="2000" dirty="0"/>
              <a:t>();</a:t>
            </a:r>
          </a:p>
          <a:p>
            <a:endParaRPr lang="en-GB" sz="2000" dirty="0"/>
          </a:p>
          <a:p>
            <a:r>
              <a:rPr lang="en-GB" sz="2000" dirty="0"/>
              <a:t>        </a:t>
            </a:r>
            <a:r>
              <a:rPr lang="en-GB" sz="2000" dirty="0" err="1"/>
              <a:t>MyRecursiveTask</a:t>
            </a:r>
            <a:r>
              <a:rPr lang="en-GB" sz="2000" dirty="0"/>
              <a:t> </a:t>
            </a:r>
            <a:r>
              <a:rPr lang="en-GB" sz="2000" dirty="0" err="1"/>
              <a:t>myRecursiveTask</a:t>
            </a:r>
            <a:r>
              <a:rPr lang="en-GB" sz="2000" dirty="0"/>
              <a:t> = new </a:t>
            </a:r>
            <a:r>
              <a:rPr lang="en-GB" sz="2000" dirty="0" err="1"/>
              <a:t>MyRecursiveTask</a:t>
            </a:r>
            <a:r>
              <a:rPr lang="en-GB" sz="2000" dirty="0"/>
              <a:t>(</a:t>
            </a:r>
            <a:r>
              <a:rPr lang="en-GB" sz="2000" dirty="0">
                <a:solidFill>
                  <a:srgbClr val="00B050"/>
                </a:solidFill>
              </a:rPr>
              <a:t>64</a:t>
            </a:r>
            <a:r>
              <a:rPr lang="en-GB" sz="2000" dirty="0"/>
              <a:t>);</a:t>
            </a:r>
          </a:p>
          <a:p>
            <a:endParaRPr lang="en-GB" sz="2000" dirty="0"/>
          </a:p>
          <a:p>
            <a:r>
              <a:rPr lang="en-GB" sz="2000" dirty="0"/>
              <a:t>        int </a:t>
            </a:r>
            <a:r>
              <a:rPr lang="en-GB" sz="2000" b="1" dirty="0"/>
              <a:t>res</a:t>
            </a:r>
            <a:r>
              <a:rPr lang="en-GB" sz="2000" dirty="0"/>
              <a:t> </a:t>
            </a:r>
            <a:r>
              <a:rPr lang="en-GB" sz="2000" b="1" dirty="0"/>
              <a:t>= </a:t>
            </a:r>
            <a:r>
              <a:rPr lang="en-GB" sz="2000" b="1" dirty="0" err="1"/>
              <a:t>forkJoinPool.invoke</a:t>
            </a:r>
            <a:r>
              <a:rPr lang="en-GB" sz="2000" b="1" dirty="0"/>
              <a:t>(</a:t>
            </a:r>
            <a:r>
              <a:rPr lang="en-GB" sz="2000" b="1" dirty="0" err="1"/>
              <a:t>myRecursiveTask</a:t>
            </a:r>
            <a:r>
              <a:rPr lang="en-GB" sz="2000" b="1" dirty="0"/>
              <a:t>)</a:t>
            </a:r>
            <a:r>
              <a:rPr lang="en-GB" sz="2000" dirty="0"/>
              <a:t>;</a:t>
            </a:r>
          </a:p>
          <a:p>
            <a:endParaRPr lang="en-GB" sz="2000" dirty="0"/>
          </a:p>
          <a:p>
            <a:r>
              <a:rPr lang="en-GB" sz="2000" dirty="0"/>
              <a:t>        </a:t>
            </a:r>
            <a:r>
              <a:rPr lang="en-GB" sz="2000" dirty="0" err="1"/>
              <a:t>System.out.println</a:t>
            </a:r>
            <a:r>
              <a:rPr lang="en-GB" sz="2000" dirty="0"/>
              <a:t>("Result= " + res);}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5B9F0F-2E1E-F000-E138-E123DAAA4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614883"/>
            <a:ext cx="3075397" cy="562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9092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1" y="154460"/>
            <a:ext cx="7395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Exemplu</a:t>
            </a:r>
            <a:r>
              <a:rPr lang="en-US" dirty="0"/>
              <a:t> program: </a:t>
            </a:r>
            <a:r>
              <a:rPr lang="en-US" dirty="0" err="1"/>
              <a:t>ForkJoin</a:t>
            </a:r>
            <a:r>
              <a:rPr lang="en-US" dirty="0"/>
              <a:t>  pool cu </a:t>
            </a:r>
            <a:r>
              <a:rPr lang="en-US" b="1" dirty="0" err="1"/>
              <a:t>RecursiveTask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0A9406-E3AE-C2C0-D8FF-6CFE6FCF3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218" y="523792"/>
            <a:ext cx="2892210" cy="57078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32A37E-3AE9-7BDA-4100-99B59105D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167" y="1610932"/>
            <a:ext cx="2892210" cy="37941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765FA9-8971-B669-DED3-360F21325793}"/>
              </a:ext>
            </a:extLst>
          </p:cNvPr>
          <p:cNvSpPr txBox="1"/>
          <p:nvPr/>
        </p:nvSpPr>
        <p:spPr>
          <a:xfrm>
            <a:off x="7525432" y="1083548"/>
            <a:ext cx="3342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ForkJoin</a:t>
            </a:r>
            <a:r>
              <a:rPr lang="en-US" dirty="0"/>
              <a:t>  pool cu </a:t>
            </a:r>
            <a:r>
              <a:rPr lang="en-US" b="1" dirty="0" err="1"/>
              <a:t>RecursiveAction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53810000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17043</TotalTime>
  <Words>5798</Words>
  <Application>Microsoft Office PowerPoint</Application>
  <PresentationFormat>Widescreen</PresentationFormat>
  <Paragraphs>846</Paragraphs>
  <Slides>50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0" baseType="lpstr">
      <vt:lpstr>Arial</vt:lpstr>
      <vt:lpstr>Calibri</vt:lpstr>
      <vt:lpstr>Calibri Light</vt:lpstr>
      <vt:lpstr>Consolas</vt:lpstr>
      <vt:lpstr>Courier New</vt:lpstr>
      <vt:lpstr>FreeMono</vt:lpstr>
      <vt:lpstr>PalatinoLinotype-Roman</vt:lpstr>
      <vt:lpstr>Wingdings</vt:lpstr>
      <vt:lpstr>Retrospect</vt:lpstr>
      <vt:lpstr>Bitmap Image</vt:lpstr>
      <vt:lpstr>IMPLEMENTAREA CONCURENTEI IN LIMBAJE DE PROGRAMARE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Ioana Leustean</dc:creator>
  <cp:lastModifiedBy>IOANA GABRIELA LEUSTEAN</cp:lastModifiedBy>
  <cp:revision>804</cp:revision>
  <dcterms:created xsi:type="dcterms:W3CDTF">2015-03-31T05:03:29Z</dcterms:created>
  <dcterms:modified xsi:type="dcterms:W3CDTF">2025-10-17T04:24:14Z</dcterms:modified>
</cp:coreProperties>
</file>