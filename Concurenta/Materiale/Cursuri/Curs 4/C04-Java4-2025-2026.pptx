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92" r:id="rId2"/>
    <p:sldId id="579" r:id="rId3"/>
    <p:sldId id="484" r:id="rId4"/>
    <p:sldId id="502" r:id="rId5"/>
    <p:sldId id="492" r:id="rId6"/>
    <p:sldId id="571" r:id="rId7"/>
    <p:sldId id="572" r:id="rId8"/>
    <p:sldId id="573" r:id="rId9"/>
    <p:sldId id="578" r:id="rId10"/>
    <p:sldId id="580" r:id="rId11"/>
    <p:sldId id="581" r:id="rId12"/>
    <p:sldId id="582" r:id="rId13"/>
    <p:sldId id="583" r:id="rId14"/>
    <p:sldId id="585" r:id="rId15"/>
    <p:sldId id="586" r:id="rId16"/>
    <p:sldId id="587" r:id="rId17"/>
    <p:sldId id="489" r:id="rId18"/>
    <p:sldId id="550" r:id="rId19"/>
    <p:sldId id="555" r:id="rId20"/>
    <p:sldId id="556" r:id="rId21"/>
    <p:sldId id="576" r:id="rId22"/>
    <p:sldId id="566" r:id="rId23"/>
    <p:sldId id="538" r:id="rId24"/>
    <p:sldId id="336" r:id="rId25"/>
    <p:sldId id="524" r:id="rId26"/>
    <p:sldId id="377" r:id="rId27"/>
    <p:sldId id="525" r:id="rId28"/>
    <p:sldId id="526" r:id="rId29"/>
    <p:sldId id="528" r:id="rId30"/>
    <p:sldId id="529" r:id="rId31"/>
    <p:sldId id="530" r:id="rId32"/>
    <p:sldId id="531" r:id="rId33"/>
    <p:sldId id="532" r:id="rId34"/>
    <p:sldId id="533" r:id="rId35"/>
    <p:sldId id="567" r:id="rId36"/>
    <p:sldId id="568" r:id="rId37"/>
    <p:sldId id="569" r:id="rId38"/>
    <p:sldId id="570" r:id="rId39"/>
    <p:sldId id="574" r:id="rId40"/>
    <p:sldId id="561" r:id="rId41"/>
    <p:sldId id="557" r:id="rId42"/>
    <p:sldId id="543" r:id="rId43"/>
    <p:sldId id="544" r:id="rId44"/>
    <p:sldId id="542" r:id="rId45"/>
    <p:sldId id="541" r:id="rId46"/>
    <p:sldId id="563" r:id="rId47"/>
    <p:sldId id="548" r:id="rId48"/>
    <p:sldId id="549" r:id="rId49"/>
    <p:sldId id="575"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A9AD1C-34FB-41D5-8BCF-C8E5DBBFE9B3}">
          <p14:sldIdLst>
            <p14:sldId id="392"/>
            <p14:sldId id="579"/>
            <p14:sldId id="484"/>
            <p14:sldId id="502"/>
            <p14:sldId id="492"/>
            <p14:sldId id="571"/>
            <p14:sldId id="572"/>
            <p14:sldId id="573"/>
            <p14:sldId id="578"/>
            <p14:sldId id="580"/>
            <p14:sldId id="581"/>
            <p14:sldId id="582"/>
            <p14:sldId id="583"/>
            <p14:sldId id="585"/>
            <p14:sldId id="586"/>
            <p14:sldId id="587"/>
            <p14:sldId id="489"/>
            <p14:sldId id="550"/>
            <p14:sldId id="555"/>
            <p14:sldId id="556"/>
            <p14:sldId id="576"/>
            <p14:sldId id="566"/>
            <p14:sldId id="538"/>
            <p14:sldId id="336"/>
            <p14:sldId id="524"/>
            <p14:sldId id="377"/>
            <p14:sldId id="525"/>
            <p14:sldId id="526"/>
            <p14:sldId id="528"/>
            <p14:sldId id="529"/>
            <p14:sldId id="530"/>
            <p14:sldId id="531"/>
            <p14:sldId id="532"/>
            <p14:sldId id="533"/>
            <p14:sldId id="567"/>
            <p14:sldId id="568"/>
            <p14:sldId id="569"/>
            <p14:sldId id="570"/>
            <p14:sldId id="574"/>
            <p14:sldId id="561"/>
            <p14:sldId id="557"/>
            <p14:sldId id="543"/>
            <p14:sldId id="544"/>
            <p14:sldId id="542"/>
            <p14:sldId id="541"/>
            <p14:sldId id="563"/>
            <p14:sldId id="548"/>
            <p14:sldId id="549"/>
            <p14:sldId id="57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oana Leustean" initials="IL"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7DF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26" autoAdjust="0"/>
    <p:restoredTop sz="94660"/>
  </p:normalViewPr>
  <p:slideViewPr>
    <p:cSldViewPr snapToGrid="0">
      <p:cViewPr varScale="1">
        <p:scale>
          <a:sx n="63" d="100"/>
          <a:sy n="63" d="100"/>
        </p:scale>
        <p:origin x="90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cs.oracle.com/javase/tutorial/essential/concurrency"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10/24/2025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10/24/2025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10/24/2025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10/24/2025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userDrawn="1"/>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10/24/2025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3" name="TextBox 2"/>
          <p:cNvSpPr txBox="1"/>
          <p:nvPr userDrawn="1"/>
        </p:nvSpPr>
        <p:spPr>
          <a:xfrm>
            <a:off x="3623662" y="6444734"/>
            <a:ext cx="6119368" cy="369332"/>
          </a:xfrm>
          <a:prstGeom prst="rect">
            <a:avLst/>
          </a:prstGeom>
          <a:noFill/>
        </p:spPr>
        <p:txBody>
          <a:bodyPr wrap="none" rtlCol="0">
            <a:spAutoFit/>
          </a:bodyPr>
          <a:lstStyle/>
          <a:p>
            <a:r>
              <a:rPr lang="en-US" dirty="0">
                <a:hlinkClick r:id="rId2"/>
              </a:rPr>
              <a:t>https://docs.oracle.com/javase/tutorial/essential/concurrency</a:t>
            </a:r>
            <a:endParaRPr lang="en-US" dirty="0"/>
          </a:p>
        </p:txBody>
      </p:sp>
      <p:pic>
        <p:nvPicPr>
          <p:cNvPr id="3074" name="Picture 2" descr="Imagini pentru JAva logo"/>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5626" y="6133455"/>
            <a:ext cx="511839" cy="6914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10/24/2025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10/24/2025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ocs.oracle.com/javase/tutorial/essential/concurrency/sleep.html" TargetMode="Externa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hyperlink" Target="https://docs.oracle.com/en/java/javase/23/docs/api/java.base/java/util/concurrent/package-summary.html"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s://docs.oracle.com/en/java/javase/23/docs/api/java.base/java/util/concurrent/BlockingQueue.html" TargetMode="Externa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hyperlink" Target="http://tutorials.jenkov.com/java-util-concurrent/blockingqueue.html"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javarevisited.blogspot.ro/2012/02/producer-consumer-design-pattern-with.html"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oracle.com/en/java/javase/23/docs/api/java.base/java/util/concurrent/SynchronousQueue.html"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javarevisited.blogspot.ro/2012/02/producer-consumer-design-pattern-with.html" TargetMode="Externa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hyperlink" Target="https://docs.oracle.com/en/java/javase/23/docs/api/java.base/java/util/concurrent/ConcurrentHashMap.html"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s.oracle.com/en/java/javase/23/docs/api/java.base/java/net/ServerSocket.html" TargetMode="External"/><Relationship Id="rId2" Type="http://schemas.openxmlformats.org/officeDocument/2006/relationships/hyperlink" Target="https://docs.oracle.com/en/java/javase/23/docs/api/java.base/java/lang/Object.html"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hyperlink" Target="https://docs.oracle.com/en/java/javase/23/docs/api/java.base/java/net/Socket.html"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hyperlink" Target="https://docs.oracle.com/javase/tutorial/networking/sockets/clientServer.html" TargetMode="External"/><Relationship Id="rId2" Type="http://schemas.openxmlformats.org/officeDocument/2006/relationships/hyperlink" Target="https://www.geeksforgeeks.org/how-to-create-a-simple-tcp-client-server-connection-in-java/" TargetMode="External"/><Relationship Id="rId1" Type="http://schemas.openxmlformats.org/officeDocument/2006/relationships/slideLayout" Target="../slideLayouts/slideLayout7.xml"/><Relationship Id="rId4" Type="http://schemas.openxmlformats.org/officeDocument/2006/relationships/hyperlink" Target="https://www.oreilly.com/library/view/learning-network-programming/978178588547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openjdk.org/jeps/444"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hyperlink" Target="https://openjdk.org/jeps/444"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s://docs.oracle.com/en/java/javase/24/docs/api/java.base/java/nio/package-summary.html"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hyperlink" Target="https://docs.oracle.com/en/java/javase/24/docs/api/java.base/java/nio/channels/AsynchronousChannel.html"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hyperlink" Target="https://docs.oracle.com/en/java/javase/24/docs/api/java.base/java/nio/channels/AsynchronousChannel.html" TargetMode="Externa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fontScale="92500" lnSpcReduction="20000"/>
          </a:bodyPr>
          <a:lstStyle/>
          <a:p>
            <a:endParaRPr lang="en-US" sz="4000" dirty="0"/>
          </a:p>
          <a:p>
            <a:r>
              <a:rPr lang="en-US" sz="3200" dirty="0"/>
              <a:t>CONCURENTA IN</a:t>
            </a:r>
          </a:p>
          <a:p>
            <a:r>
              <a:rPr lang="en-US" sz="3200" dirty="0"/>
              <a:t>JAVA</a:t>
            </a:r>
          </a:p>
          <a:p>
            <a:endParaRPr lang="en-US" dirty="0"/>
          </a:p>
          <a:p>
            <a:endParaRPr lang="en-US" dirty="0"/>
          </a:p>
          <a:p>
            <a:r>
              <a:rPr lang="en-US" sz="3800" dirty="0"/>
              <a:t>Ioana Leustean</a:t>
            </a:r>
          </a:p>
          <a:p>
            <a:r>
              <a:rPr lang="en-US" sz="3800" dirty="0"/>
              <a:t>	</a:t>
            </a:r>
          </a:p>
        </p:txBody>
      </p:sp>
      <p:sp>
        <p:nvSpPr>
          <p:cNvPr id="2" name="TextBox 1"/>
          <p:cNvSpPr txBox="1"/>
          <p:nvPr/>
        </p:nvSpPr>
        <p:spPr>
          <a:xfrm>
            <a:off x="6791093" y="2926080"/>
            <a:ext cx="184731" cy="369332"/>
          </a:xfrm>
          <a:prstGeom prst="rect">
            <a:avLst/>
          </a:prstGeom>
          <a:noFill/>
        </p:spPr>
        <p:txBody>
          <a:bodyPr wrap="none" rtlCol="0">
            <a:spAutoFit/>
          </a:bodyPr>
          <a:lstStyle/>
          <a:p>
            <a:endParaRPr lang="en-US" dirty="0"/>
          </a:p>
        </p:txBody>
      </p:sp>
      <p:sp>
        <p:nvSpPr>
          <p:cNvPr id="5" name="Content Placeholder 4"/>
          <p:cNvSpPr>
            <a:spLocks noGrp="1"/>
          </p:cNvSpPr>
          <p:nvPr>
            <p:ph idx="1"/>
          </p:nvPr>
        </p:nvSpPr>
        <p:spPr>
          <a:xfrm>
            <a:off x="4800600" y="731520"/>
            <a:ext cx="6492240" cy="5928772"/>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1600" dirty="0">
              <a:hlinkClick r:id="rId2"/>
            </a:endParaRPr>
          </a:p>
          <a:p>
            <a:endParaRPr lang="en-US" sz="1600" dirty="0">
              <a:hlinkClick r:id="rId2"/>
            </a:endParaRPr>
          </a:p>
          <a:p>
            <a:endParaRPr lang="en-US" sz="1600" dirty="0">
              <a:hlinkClick r:id="rId2"/>
            </a:endParaRPr>
          </a:p>
          <a:p>
            <a:endParaRPr lang="en-US" sz="1600" dirty="0">
              <a:hlinkClick r:id="rId2"/>
            </a:endParaRPr>
          </a:p>
          <a:p>
            <a:endParaRPr lang="en-US" sz="1600" dirty="0">
              <a:hlinkClick r:id="rId2"/>
            </a:endParaRPr>
          </a:p>
          <a:p>
            <a:endParaRPr lang="en-US" sz="1600" dirty="0">
              <a:hlinkClick r:id="rId2"/>
            </a:endParaRPr>
          </a:p>
          <a:p>
            <a:endParaRPr lang="en-US" sz="1600" dirty="0">
              <a:hlinkClick r:id="rId2"/>
            </a:endParaRPr>
          </a:p>
        </p:txBody>
      </p:sp>
      <p:pic>
        <p:nvPicPr>
          <p:cNvPr id="9" name="Picture 8"/>
          <p:cNvPicPr>
            <a:picLocks noChangeAspect="1"/>
          </p:cNvPicPr>
          <p:nvPr/>
        </p:nvPicPr>
        <p:blipFill>
          <a:blip r:embed="rId3"/>
          <a:stretch>
            <a:fillRect/>
          </a:stretch>
        </p:blipFill>
        <p:spPr>
          <a:xfrm>
            <a:off x="5968373" y="1120475"/>
            <a:ext cx="2946534" cy="3980542"/>
          </a:xfrm>
          <a:prstGeom prst="rect">
            <a:avLst/>
          </a:prstGeom>
        </p:spPr>
      </p:pic>
    </p:spTree>
    <p:extLst>
      <p:ext uri="{BB962C8B-B14F-4D97-AF65-F5344CB8AC3E}">
        <p14:creationId xmlns:p14="http://schemas.microsoft.com/office/powerpoint/2010/main" val="2492416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8B5BC-29F8-EF79-AD93-9F993A420D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D1484E-D3F0-133D-C301-7152B49D70B7}"/>
              </a:ext>
            </a:extLst>
          </p:cNvPr>
          <p:cNvSpPr txBox="1"/>
          <p:nvPr/>
        </p:nvSpPr>
        <p:spPr>
          <a:xfrm>
            <a:off x="448479" y="233680"/>
            <a:ext cx="11568295" cy="5909310"/>
          </a:xfrm>
          <a:prstGeom prst="rect">
            <a:avLst/>
          </a:prstGeom>
          <a:noFill/>
        </p:spPr>
        <p:txBody>
          <a:bodyPr wrap="none" rtlCol="0">
            <a:spAutoFit/>
          </a:bodyPr>
          <a:lstStyle/>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err="1"/>
              <a:t>Colectii</a:t>
            </a:r>
            <a:r>
              <a:rPr lang="en-US" sz="2400" dirty="0"/>
              <a:t> </a:t>
            </a:r>
            <a:r>
              <a:rPr lang="en-US" sz="2400" dirty="0" err="1"/>
              <a:t>concurente</a:t>
            </a:r>
            <a:r>
              <a:rPr lang="en-US" sz="2400" dirty="0"/>
              <a:t>: </a:t>
            </a:r>
            <a:r>
              <a:rPr lang="en-US" sz="2400" dirty="0" err="1"/>
              <a:t>asigura</a:t>
            </a:r>
            <a:r>
              <a:rPr lang="en-US" sz="2400" dirty="0"/>
              <a:t> </a:t>
            </a:r>
            <a:r>
              <a:rPr lang="en-US" sz="2400" dirty="0" err="1"/>
              <a:t>concurenta</a:t>
            </a:r>
            <a:r>
              <a:rPr lang="en-US" sz="2400" dirty="0"/>
              <a:t> </a:t>
            </a:r>
            <a:r>
              <a:rPr lang="en-US" sz="2400" dirty="0" err="1"/>
              <a:t>si</a:t>
            </a:r>
            <a:r>
              <a:rPr lang="en-US" sz="2400" dirty="0"/>
              <a:t> </a:t>
            </a:r>
            <a:r>
              <a:rPr lang="en-US" sz="2400" dirty="0" err="1"/>
              <a:t>sincronizare</a:t>
            </a:r>
            <a:r>
              <a:rPr lang="en-US" sz="2400" dirty="0"/>
              <a:t>, </a:t>
            </a:r>
            <a:r>
              <a:rPr lang="en-US" sz="2400" dirty="0" err="1"/>
              <a:t>fara</a:t>
            </a:r>
            <a:r>
              <a:rPr lang="en-US" sz="2400" dirty="0"/>
              <a:t> a fi </a:t>
            </a:r>
            <a:r>
              <a:rPr lang="en-US" sz="2400" dirty="0" err="1"/>
              <a:t>blocate</a:t>
            </a:r>
            <a:r>
              <a:rPr lang="en-US" sz="2400" dirty="0"/>
              <a:t> de un </a:t>
            </a:r>
            <a:r>
              <a:rPr lang="en-US" sz="2400" dirty="0" err="1"/>
              <a:t>singur</a:t>
            </a:r>
            <a:r>
              <a:rPr lang="en-US" sz="2400" dirty="0"/>
              <a:t> </a:t>
            </a:r>
            <a:r>
              <a:rPr lang="en-US" sz="2400" dirty="0" err="1"/>
              <a:t>lacat</a:t>
            </a:r>
            <a:endParaRPr lang="en-US" sz="2400" dirty="0"/>
          </a:p>
          <a:p>
            <a:endParaRPr lang="en-US" sz="2400" dirty="0"/>
          </a:p>
          <a:p>
            <a:pPr marL="285750" indent="-285750">
              <a:buFont typeface="Arial" panose="020B0604020202020204" pitchFamily="34" charset="0"/>
              <a:buChar char="•"/>
            </a:pPr>
            <a:r>
              <a:rPr lang="en-US" sz="2400" b="1" dirty="0" err="1"/>
              <a:t>BlockingQueue</a:t>
            </a:r>
            <a:r>
              <a:rPr lang="en-US" sz="2400" b="1" dirty="0"/>
              <a:t>  - </a:t>
            </a:r>
            <a:r>
              <a:rPr lang="en-US" sz="2400" dirty="0" err="1"/>
              <a:t>folosite</a:t>
            </a:r>
            <a:r>
              <a:rPr lang="en-US" sz="2400" dirty="0"/>
              <a:t> in special </a:t>
            </a:r>
            <a:r>
              <a:rPr lang="en-US" sz="2400" dirty="0" err="1"/>
              <a:t>pentru</a:t>
            </a:r>
            <a:r>
              <a:rPr lang="en-US" sz="2400" dirty="0"/>
              <a:t> </a:t>
            </a:r>
            <a:r>
              <a:rPr lang="en-US" sz="2400" dirty="0" err="1"/>
              <a:t>modelul</a:t>
            </a:r>
            <a:r>
              <a:rPr lang="en-US" sz="2400" dirty="0"/>
              <a:t> </a:t>
            </a:r>
            <a:r>
              <a:rPr lang="en-US" sz="2400" b="1" dirty="0" err="1"/>
              <a:t>producator-consumator</a:t>
            </a:r>
            <a:endParaRPr lang="en-US" sz="2400" b="1" dirty="0"/>
          </a:p>
          <a:p>
            <a:endParaRPr lang="en-US" sz="2400" b="1" dirty="0"/>
          </a:p>
          <a:p>
            <a:pPr marL="285750" indent="-285750">
              <a:buFont typeface="Arial" panose="020B0604020202020204" pitchFamily="34" charset="0"/>
              <a:buChar char="•"/>
            </a:pPr>
            <a:r>
              <a:rPr lang="en-US" sz="2400" b="1" dirty="0" err="1"/>
              <a:t>ConcurrentHashMap</a:t>
            </a:r>
            <a:r>
              <a:rPr lang="en-US" sz="2400" b="1" dirty="0"/>
              <a:t> – </a:t>
            </a:r>
            <a:r>
              <a:rPr lang="en-US" sz="2400" dirty="0" err="1"/>
              <a:t>permite</a:t>
            </a:r>
            <a:r>
              <a:rPr lang="en-US" sz="2400" dirty="0"/>
              <a:t> </a:t>
            </a:r>
            <a:r>
              <a:rPr lang="en-US" sz="2400" dirty="0" err="1"/>
              <a:t>citiri</a:t>
            </a:r>
            <a:r>
              <a:rPr lang="en-US" sz="2400" dirty="0"/>
              <a:t> </a:t>
            </a:r>
            <a:r>
              <a:rPr lang="en-US" sz="2400" dirty="0" err="1"/>
              <a:t>concurente</a:t>
            </a:r>
            <a:r>
              <a:rPr lang="en-US" sz="2400" dirty="0"/>
              <a:t> </a:t>
            </a:r>
            <a:r>
              <a:rPr lang="en-US" sz="2400" dirty="0" err="1"/>
              <a:t>dar</a:t>
            </a:r>
            <a:r>
              <a:rPr lang="en-US" sz="2400" dirty="0"/>
              <a:t> </a:t>
            </a:r>
            <a:r>
              <a:rPr lang="en-US" sz="2400" dirty="0" err="1"/>
              <a:t>si</a:t>
            </a:r>
            <a:r>
              <a:rPr lang="en-US" sz="2400" dirty="0"/>
              <a:t> un </a:t>
            </a:r>
            <a:r>
              <a:rPr lang="en-US" sz="2400" dirty="0" err="1"/>
              <a:t>numar</a:t>
            </a:r>
            <a:r>
              <a:rPr lang="en-US" sz="2400" dirty="0"/>
              <a:t> de </a:t>
            </a:r>
            <a:r>
              <a:rPr lang="en-US" sz="2400" dirty="0" err="1"/>
              <a:t>scrieri</a:t>
            </a:r>
            <a:r>
              <a:rPr lang="en-US" sz="2400" dirty="0"/>
              <a:t> </a:t>
            </a:r>
            <a:r>
              <a:rPr lang="en-US" sz="2400" dirty="0" err="1"/>
              <a:t>concurente</a:t>
            </a:r>
            <a:r>
              <a:rPr lang="en-US" sz="2400" dirty="0"/>
              <a:t> </a:t>
            </a:r>
            <a:endParaRPr lang="en-GB" sz="2400" dirty="0"/>
          </a:p>
          <a:p>
            <a:pPr marL="285750" indent="-285750">
              <a:buFont typeface="Wingdings" panose="05000000000000000000" pitchFamily="2" charset="2"/>
              <a:buChar char="Ø"/>
            </a:pPr>
            <a:endParaRPr lang="en-US" sz="2400" dirty="0"/>
          </a:p>
          <a:p>
            <a:endParaRPr lang="en-US" sz="2400" dirty="0"/>
          </a:p>
          <a:p>
            <a:pPr marL="285750" indent="-285750">
              <a:buFont typeface="Wingdings" panose="05000000000000000000" pitchFamily="2" charset="2"/>
              <a:buChar char="Ø"/>
            </a:pPr>
            <a:r>
              <a:rPr lang="en-US" sz="2400" dirty="0" err="1"/>
              <a:t>Sincronizarea</a:t>
            </a:r>
            <a:r>
              <a:rPr lang="en-US" sz="2400" dirty="0"/>
              <a:t> thread-</a:t>
            </a:r>
            <a:r>
              <a:rPr lang="en-US" sz="2400" dirty="0" err="1"/>
              <a:t>urilor</a:t>
            </a:r>
            <a:endParaRPr lang="en-US" sz="2400" dirty="0"/>
          </a:p>
          <a:p>
            <a:pPr marL="285750" indent="-285750">
              <a:buFont typeface="Wingdings" panose="05000000000000000000" pitchFamily="2" charset="2"/>
              <a:buChar char="Ø"/>
            </a:pPr>
            <a:endParaRPr lang="en-US" sz="2400" dirty="0"/>
          </a:p>
          <a:p>
            <a:pPr marL="342900" indent="-342900">
              <a:buFont typeface="Arial" panose="020B0604020202020204" pitchFamily="34" charset="0"/>
              <a:buChar char="•"/>
            </a:pPr>
            <a:r>
              <a:rPr lang="en-GB" sz="2400" b="1" dirty="0" err="1"/>
              <a:t>CountDownLatch</a:t>
            </a:r>
            <a:r>
              <a:rPr lang="en-GB" sz="2400" dirty="0"/>
              <a:t>: </a:t>
            </a:r>
            <a:r>
              <a:rPr lang="en-GB" sz="2400" dirty="0" err="1"/>
              <a:t>sincronizarea</a:t>
            </a:r>
            <a:r>
              <a:rPr lang="en-GB" sz="2400" dirty="0"/>
              <a:t> thread-</a:t>
            </a:r>
            <a:r>
              <a:rPr lang="en-GB" sz="2400" dirty="0" err="1"/>
              <a:t>urilor</a:t>
            </a:r>
            <a:r>
              <a:rPr lang="en-GB" sz="2400" dirty="0"/>
              <a:t> care au </a:t>
            </a:r>
            <a:r>
              <a:rPr lang="en-GB" sz="2400" dirty="0" err="1"/>
              <a:t>executat</a:t>
            </a:r>
            <a:r>
              <a:rPr lang="en-GB" sz="2400" dirty="0"/>
              <a:t> </a:t>
            </a:r>
            <a:r>
              <a:rPr lang="en-GB" sz="2400" dirty="0" err="1"/>
              <a:t>anumite</a:t>
            </a:r>
            <a:r>
              <a:rPr lang="en-GB" sz="2400" dirty="0"/>
              <a:t> task-</a:t>
            </a:r>
            <a:r>
              <a:rPr lang="en-GB" sz="2400" dirty="0" err="1"/>
              <a:t>uri</a:t>
            </a:r>
            <a:endParaRPr lang="en-GB" sz="2400" dirty="0"/>
          </a:p>
          <a:p>
            <a:endParaRPr lang="en-GB" sz="2400" dirty="0"/>
          </a:p>
          <a:p>
            <a:pPr marL="342900" indent="-342900">
              <a:buFont typeface="Arial" panose="020B0604020202020204" pitchFamily="34" charset="0"/>
              <a:buChar char="•"/>
            </a:pPr>
            <a:r>
              <a:rPr lang="en-GB" sz="2400" b="1" dirty="0" err="1"/>
              <a:t>CyclicBarrier</a:t>
            </a:r>
            <a:r>
              <a:rPr lang="en-GB" sz="2400" dirty="0"/>
              <a:t>: </a:t>
            </a:r>
            <a:r>
              <a:rPr lang="en-GB" sz="2400" dirty="0" err="1"/>
              <a:t>sincronizarea</a:t>
            </a:r>
            <a:r>
              <a:rPr lang="en-GB" sz="2400" dirty="0"/>
              <a:t> thread-</a:t>
            </a:r>
            <a:r>
              <a:rPr lang="en-GB" sz="2400" dirty="0" err="1"/>
              <a:t>urilor</a:t>
            </a:r>
            <a:r>
              <a:rPr lang="en-GB" sz="2400" dirty="0"/>
              <a:t> care </a:t>
            </a:r>
            <a:r>
              <a:rPr lang="en-GB" sz="2400" dirty="0" err="1"/>
              <a:t>asteapta</a:t>
            </a:r>
            <a:r>
              <a:rPr lang="en-GB" sz="2400" dirty="0"/>
              <a:t> la </a:t>
            </a:r>
            <a:r>
              <a:rPr lang="en-GB" sz="2400" dirty="0" err="1"/>
              <a:t>bariera</a:t>
            </a:r>
            <a:endParaRPr lang="en-GB" sz="2400" dirty="0"/>
          </a:p>
          <a:p>
            <a:endParaRPr lang="en-GB" dirty="0"/>
          </a:p>
          <a:p>
            <a:endParaRPr lang="en-US" sz="2400" dirty="0"/>
          </a:p>
          <a:p>
            <a:endParaRPr lang="en-GB" sz="2400" dirty="0"/>
          </a:p>
        </p:txBody>
      </p:sp>
      <p:sp>
        <p:nvSpPr>
          <p:cNvPr id="4" name="TextBox 3">
            <a:extLst>
              <a:ext uri="{FF2B5EF4-FFF2-40B4-BE49-F238E27FC236}">
                <a16:creationId xmlns:a16="http://schemas.microsoft.com/office/drawing/2014/main" id="{D1C2815F-0D52-3DDD-1004-7E186E3723F1}"/>
              </a:ext>
            </a:extLst>
          </p:cNvPr>
          <p:cNvSpPr txBox="1"/>
          <p:nvPr/>
        </p:nvSpPr>
        <p:spPr>
          <a:xfrm>
            <a:off x="296079" y="5637014"/>
            <a:ext cx="6096000" cy="369332"/>
          </a:xfrm>
          <a:prstGeom prst="rect">
            <a:avLst/>
          </a:prstGeom>
          <a:noFill/>
        </p:spPr>
        <p:txBody>
          <a:bodyPr wrap="square">
            <a:spAutoFit/>
          </a:bodyPr>
          <a:lstStyle/>
          <a:p>
            <a:r>
              <a:rPr lang="fr-FR" dirty="0" err="1">
                <a:hlinkClick r:id="rId2"/>
              </a:rPr>
              <a:t>java.util.concurrent</a:t>
            </a:r>
            <a:r>
              <a:rPr lang="fr-FR" dirty="0">
                <a:hlinkClick r:id="rId2"/>
              </a:rPr>
              <a:t> (Java SE 23 &amp; JDK 23)</a:t>
            </a:r>
            <a:endParaRPr lang="en-GB" dirty="0"/>
          </a:p>
        </p:txBody>
      </p:sp>
    </p:spTree>
    <p:extLst>
      <p:ext uri="{BB962C8B-B14F-4D97-AF65-F5344CB8AC3E}">
        <p14:creationId xmlns:p14="http://schemas.microsoft.com/office/powerpoint/2010/main" val="171562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689" y="212807"/>
            <a:ext cx="4911922" cy="1015663"/>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Colectii</a:t>
            </a:r>
            <a:r>
              <a:rPr lang="en-US" sz="2400" dirty="0"/>
              <a:t> </a:t>
            </a:r>
            <a:r>
              <a:rPr lang="en-US" sz="2400" dirty="0" err="1"/>
              <a:t>concurente</a:t>
            </a:r>
            <a:r>
              <a:rPr lang="en-US" sz="2400" dirty="0"/>
              <a:t>: </a:t>
            </a:r>
            <a:r>
              <a:rPr lang="en-US" sz="2400" b="1" dirty="0" err="1"/>
              <a:t>BlockingQueue</a:t>
            </a:r>
            <a:endParaRPr lang="en-US" sz="2400" b="1" dirty="0"/>
          </a:p>
          <a:p>
            <a:endParaRPr lang="en-US" dirty="0"/>
          </a:p>
          <a:p>
            <a:endParaRPr lang="en-US" dirty="0"/>
          </a:p>
        </p:txBody>
      </p:sp>
      <p:sp>
        <p:nvSpPr>
          <p:cNvPr id="4" name="TextBox 3"/>
          <p:cNvSpPr txBox="1"/>
          <p:nvPr/>
        </p:nvSpPr>
        <p:spPr>
          <a:xfrm>
            <a:off x="360681" y="5947021"/>
            <a:ext cx="3630289" cy="369332"/>
          </a:xfrm>
          <a:prstGeom prst="rect">
            <a:avLst/>
          </a:prstGeom>
          <a:noFill/>
        </p:spPr>
        <p:txBody>
          <a:bodyPr wrap="none" rtlCol="0">
            <a:spAutoFit/>
          </a:bodyPr>
          <a:lstStyle/>
          <a:p>
            <a:r>
              <a:rPr lang="en-GB" dirty="0" err="1">
                <a:hlinkClick r:id="rId2"/>
              </a:rPr>
              <a:t>BlockingQueue</a:t>
            </a:r>
            <a:r>
              <a:rPr lang="en-GB" dirty="0">
                <a:hlinkClick r:id="rId2"/>
              </a:rPr>
              <a:t> (Java SE 23 &amp; JDK 23)</a:t>
            </a:r>
            <a:endParaRPr lang="en-US" dirty="0"/>
          </a:p>
        </p:txBody>
      </p:sp>
      <p:sp>
        <p:nvSpPr>
          <p:cNvPr id="9" name="TextBox 8"/>
          <p:cNvSpPr txBox="1"/>
          <p:nvPr/>
        </p:nvSpPr>
        <p:spPr>
          <a:xfrm>
            <a:off x="399806" y="3398397"/>
            <a:ext cx="6187912" cy="1477328"/>
          </a:xfrm>
          <a:prstGeom prst="rect">
            <a:avLst/>
          </a:prstGeom>
          <a:noFill/>
          <a:ln>
            <a:noFill/>
          </a:ln>
        </p:spPr>
        <p:txBody>
          <a:bodyPr wrap="none" rtlCol="0">
            <a:spAutoFit/>
          </a:bodyPr>
          <a:lstStyle/>
          <a:p>
            <a:pPr marL="285750" indent="-285750">
              <a:buFont typeface="Arial" panose="020B0604020202020204" pitchFamily="34" charset="0"/>
              <a:buChar char="•"/>
            </a:pPr>
            <a:r>
              <a:rPr lang="en-US" b="1" dirty="0" err="1"/>
              <a:t>ArrayBlockingQueue</a:t>
            </a:r>
            <a:r>
              <a:rPr lang="en-US" b="1" dirty="0"/>
              <a:t>(int capacity)</a:t>
            </a:r>
          </a:p>
          <a:p>
            <a:pPr marL="285750" indent="-285750">
              <a:buFont typeface="Arial" panose="020B0604020202020204" pitchFamily="34" charset="0"/>
              <a:buChar char="•"/>
            </a:pPr>
            <a:r>
              <a:rPr lang="en-US" b="1" dirty="0" err="1"/>
              <a:t>LinkedBlockingQueue</a:t>
            </a:r>
            <a:r>
              <a:rPr lang="en-US" b="1" dirty="0"/>
              <a:t>() / </a:t>
            </a:r>
            <a:r>
              <a:rPr lang="en-US" b="1" dirty="0" err="1"/>
              <a:t>LinkedBlockingQueue</a:t>
            </a:r>
            <a:r>
              <a:rPr lang="en-US" b="1" dirty="0"/>
              <a:t>(int capacity)</a:t>
            </a:r>
          </a:p>
          <a:p>
            <a:endParaRPr lang="en-US" b="1" dirty="0"/>
          </a:p>
          <a:p>
            <a:r>
              <a:rPr lang="en-US" dirty="0"/>
              <a:t>                </a:t>
            </a:r>
          </a:p>
          <a:p>
            <a:endParaRPr lang="en-US" dirty="0"/>
          </a:p>
        </p:txBody>
      </p:sp>
      <p:sp>
        <p:nvSpPr>
          <p:cNvPr id="11" name="TextBox 10"/>
          <p:cNvSpPr txBox="1"/>
          <p:nvPr/>
        </p:nvSpPr>
        <p:spPr>
          <a:xfrm>
            <a:off x="399806" y="2973431"/>
            <a:ext cx="2648194" cy="461665"/>
          </a:xfrm>
          <a:prstGeom prst="rect">
            <a:avLst/>
          </a:prstGeom>
          <a:noFill/>
        </p:spPr>
        <p:txBody>
          <a:bodyPr wrap="square" rtlCol="0">
            <a:spAutoFit/>
          </a:bodyPr>
          <a:lstStyle/>
          <a:p>
            <a:r>
              <a:rPr lang="en-US" sz="2400" dirty="0" err="1"/>
              <a:t>Constructori</a:t>
            </a:r>
            <a:endParaRPr lang="en-US" sz="2400" dirty="0"/>
          </a:p>
        </p:txBody>
      </p:sp>
      <p:pic>
        <p:nvPicPr>
          <p:cNvPr id="14" name="Picture 13"/>
          <p:cNvPicPr>
            <a:picLocks noChangeAspect="1"/>
          </p:cNvPicPr>
          <p:nvPr/>
        </p:nvPicPr>
        <p:blipFill>
          <a:blip r:embed="rId3"/>
          <a:stretch>
            <a:fillRect/>
          </a:stretch>
        </p:blipFill>
        <p:spPr>
          <a:xfrm>
            <a:off x="5787103" y="115411"/>
            <a:ext cx="5185907" cy="1646909"/>
          </a:xfrm>
          <a:prstGeom prst="rect">
            <a:avLst/>
          </a:prstGeom>
        </p:spPr>
      </p:pic>
      <p:sp>
        <p:nvSpPr>
          <p:cNvPr id="15" name="TextBox 14"/>
          <p:cNvSpPr txBox="1"/>
          <p:nvPr/>
        </p:nvSpPr>
        <p:spPr>
          <a:xfrm>
            <a:off x="5981341" y="1650923"/>
            <a:ext cx="5185907" cy="307777"/>
          </a:xfrm>
          <a:prstGeom prst="rect">
            <a:avLst/>
          </a:prstGeom>
          <a:noFill/>
        </p:spPr>
        <p:txBody>
          <a:bodyPr wrap="none" rtlCol="0">
            <a:spAutoFit/>
          </a:bodyPr>
          <a:lstStyle/>
          <a:p>
            <a:r>
              <a:rPr lang="en-US" sz="1400" dirty="0">
                <a:hlinkClick r:id="rId4"/>
              </a:rPr>
              <a:t>http://tutorials.jenkov.com/java-util-concurrent/blockingqueue.html</a:t>
            </a:r>
            <a:endParaRPr lang="en-US" sz="1400" dirty="0"/>
          </a:p>
        </p:txBody>
      </p:sp>
      <p:sp>
        <p:nvSpPr>
          <p:cNvPr id="6" name="TextBox 5">
            <a:extLst>
              <a:ext uri="{FF2B5EF4-FFF2-40B4-BE49-F238E27FC236}">
                <a16:creationId xmlns:a16="http://schemas.microsoft.com/office/drawing/2014/main" id="{47075A22-39C3-F8EC-8EEA-0BC09433A883}"/>
              </a:ext>
            </a:extLst>
          </p:cNvPr>
          <p:cNvSpPr txBox="1"/>
          <p:nvPr/>
        </p:nvSpPr>
        <p:spPr>
          <a:xfrm>
            <a:off x="450578" y="721833"/>
            <a:ext cx="3450496" cy="646331"/>
          </a:xfrm>
          <a:prstGeom prst="rect">
            <a:avLst/>
          </a:prstGeom>
          <a:noFill/>
          <a:ln w="19050">
            <a:solidFill>
              <a:srgbClr val="00B050"/>
            </a:solidFill>
          </a:ln>
        </p:spPr>
        <p:txBody>
          <a:bodyPr wrap="none" rtlCol="0">
            <a:spAutoFit/>
          </a:bodyPr>
          <a:lstStyle/>
          <a:p>
            <a:r>
              <a:rPr lang="en-GB"/>
              <a:t>public interface BlockingQueue&lt;E&gt;</a:t>
            </a:r>
          </a:p>
          <a:p>
            <a:r>
              <a:rPr lang="en-GB"/>
              <a:t>extends Queue&lt;E&gt;</a:t>
            </a:r>
            <a:endParaRPr lang="en-GB" dirty="0"/>
          </a:p>
        </p:txBody>
      </p:sp>
      <p:sp>
        <p:nvSpPr>
          <p:cNvPr id="8" name="TextBox 7">
            <a:extLst>
              <a:ext uri="{FF2B5EF4-FFF2-40B4-BE49-F238E27FC236}">
                <a16:creationId xmlns:a16="http://schemas.microsoft.com/office/drawing/2014/main" id="{AE2017BA-2D91-A22F-D57A-80FC60BEF00E}"/>
              </a:ext>
            </a:extLst>
          </p:cNvPr>
          <p:cNvSpPr txBox="1"/>
          <p:nvPr/>
        </p:nvSpPr>
        <p:spPr>
          <a:xfrm>
            <a:off x="399806" y="1875069"/>
            <a:ext cx="7873759" cy="1077218"/>
          </a:xfrm>
          <a:prstGeom prst="rect">
            <a:avLst/>
          </a:prstGeom>
          <a:noFill/>
        </p:spPr>
        <p:txBody>
          <a:bodyPr wrap="none" rtlCol="0">
            <a:spAutoFit/>
          </a:bodyPr>
          <a:lstStyle/>
          <a:p>
            <a:r>
              <a:rPr lang="en-US" sz="2400" dirty="0"/>
              <a:t>Coada cu </a:t>
            </a:r>
            <a:r>
              <a:rPr lang="en-US" sz="2400" dirty="0" err="1"/>
              <a:t>operatii</a:t>
            </a:r>
            <a:r>
              <a:rPr lang="en-US" sz="2400" dirty="0"/>
              <a:t> care:</a:t>
            </a:r>
          </a:p>
          <a:p>
            <a:pPr marL="285750" indent="-285750">
              <a:buFont typeface="Arial" panose="020B0604020202020204" pitchFamily="34" charset="0"/>
              <a:buChar char="•"/>
            </a:pPr>
            <a:r>
              <a:rPr lang="en-US" dirty="0"/>
              <a:t>   </a:t>
            </a:r>
            <a:r>
              <a:rPr lang="en-US" sz="2000" dirty="0" err="1"/>
              <a:t>blocheaza</a:t>
            </a:r>
            <a:r>
              <a:rPr lang="en-US" sz="2000" dirty="0"/>
              <a:t> thread-urile care </a:t>
            </a:r>
            <a:r>
              <a:rPr lang="en-US" sz="2000" dirty="0" err="1"/>
              <a:t>insereaza</a:t>
            </a:r>
            <a:r>
              <a:rPr lang="en-US" sz="2000" dirty="0"/>
              <a:t> </a:t>
            </a:r>
            <a:r>
              <a:rPr lang="en-US" sz="2000" dirty="0" err="1"/>
              <a:t>elemente</a:t>
            </a:r>
            <a:r>
              <a:rPr lang="en-US" sz="2000" dirty="0"/>
              <a:t> cand </a:t>
            </a:r>
            <a:r>
              <a:rPr lang="en-US" sz="2000" dirty="0" err="1"/>
              <a:t>coada</a:t>
            </a:r>
            <a:r>
              <a:rPr lang="en-US" sz="2000" dirty="0"/>
              <a:t> </a:t>
            </a:r>
            <a:r>
              <a:rPr lang="en-US" sz="2000" dirty="0" err="1"/>
              <a:t>este</a:t>
            </a:r>
            <a:r>
              <a:rPr lang="en-US" sz="2000" dirty="0"/>
              <a:t> </a:t>
            </a:r>
            <a:r>
              <a:rPr lang="en-US" sz="2000" dirty="0" err="1"/>
              <a:t>plina</a:t>
            </a:r>
            <a:endParaRPr lang="en-US" sz="2000" dirty="0"/>
          </a:p>
          <a:p>
            <a:pPr marL="285750" indent="-285750">
              <a:buFont typeface="Arial" panose="020B0604020202020204" pitchFamily="34" charset="0"/>
              <a:buChar char="•"/>
            </a:pPr>
            <a:r>
              <a:rPr lang="en-US" sz="2000" dirty="0"/>
              <a:t>  </a:t>
            </a:r>
            <a:r>
              <a:rPr lang="en-US" sz="2000" dirty="0" err="1"/>
              <a:t>blocheaza</a:t>
            </a:r>
            <a:r>
              <a:rPr lang="en-US" sz="2000" dirty="0"/>
              <a:t> thread-urile care </a:t>
            </a:r>
            <a:r>
              <a:rPr lang="en-US" sz="2000" dirty="0" err="1"/>
              <a:t>scot</a:t>
            </a:r>
            <a:r>
              <a:rPr lang="en-US" sz="2000" dirty="0"/>
              <a:t> </a:t>
            </a:r>
            <a:r>
              <a:rPr lang="en-US" sz="2000" dirty="0" err="1"/>
              <a:t>elemente</a:t>
            </a:r>
            <a:r>
              <a:rPr lang="en-US" sz="2000" dirty="0"/>
              <a:t> cand </a:t>
            </a:r>
            <a:r>
              <a:rPr lang="en-US" sz="2000" dirty="0" err="1"/>
              <a:t>coada</a:t>
            </a:r>
            <a:r>
              <a:rPr lang="en-US" sz="2000" dirty="0"/>
              <a:t> </a:t>
            </a:r>
            <a:r>
              <a:rPr lang="en-US" sz="2000" dirty="0" err="1"/>
              <a:t>este</a:t>
            </a:r>
            <a:r>
              <a:rPr lang="en-US" sz="2000" dirty="0"/>
              <a:t> </a:t>
            </a:r>
            <a:r>
              <a:rPr lang="en-US" sz="2000" dirty="0" err="1"/>
              <a:t>goala</a:t>
            </a:r>
            <a:endParaRPr lang="en-GB" sz="2000" dirty="0"/>
          </a:p>
        </p:txBody>
      </p:sp>
      <p:pic>
        <p:nvPicPr>
          <p:cNvPr id="5" name="Picture 4">
            <a:extLst>
              <a:ext uri="{FF2B5EF4-FFF2-40B4-BE49-F238E27FC236}">
                <a16:creationId xmlns:a16="http://schemas.microsoft.com/office/drawing/2014/main" id="{FC22E6E8-949D-8925-DCF5-19C3A7F96B76}"/>
              </a:ext>
            </a:extLst>
          </p:cNvPr>
          <p:cNvPicPr>
            <a:picLocks noChangeAspect="1"/>
          </p:cNvPicPr>
          <p:nvPr/>
        </p:nvPicPr>
        <p:blipFill>
          <a:blip r:embed="rId5"/>
          <a:stretch>
            <a:fillRect/>
          </a:stretch>
        </p:blipFill>
        <p:spPr>
          <a:xfrm>
            <a:off x="528512" y="4167672"/>
            <a:ext cx="8429245" cy="1742409"/>
          </a:xfrm>
          <a:prstGeom prst="rect">
            <a:avLst/>
          </a:prstGeom>
        </p:spPr>
      </p:pic>
      <p:sp>
        <p:nvSpPr>
          <p:cNvPr id="10" name="TextBox 9">
            <a:extLst>
              <a:ext uri="{FF2B5EF4-FFF2-40B4-BE49-F238E27FC236}">
                <a16:creationId xmlns:a16="http://schemas.microsoft.com/office/drawing/2014/main" id="{9EC5D783-6A7A-17C7-0598-5D52A3D70D0D}"/>
              </a:ext>
            </a:extLst>
          </p:cNvPr>
          <p:cNvSpPr txBox="1"/>
          <p:nvPr/>
        </p:nvSpPr>
        <p:spPr>
          <a:xfrm>
            <a:off x="4947611" y="5656511"/>
            <a:ext cx="2355517" cy="646331"/>
          </a:xfrm>
          <a:prstGeom prst="rect">
            <a:avLst/>
          </a:prstGeom>
          <a:solidFill>
            <a:schemeClr val="bg1">
              <a:lumMod val="85000"/>
            </a:schemeClr>
          </a:solidFill>
        </p:spPr>
        <p:txBody>
          <a:bodyPr wrap="none" rtlCol="0">
            <a:spAutoFit/>
          </a:bodyPr>
          <a:lstStyle/>
          <a:p>
            <a:r>
              <a:rPr lang="en-US" b="1" dirty="0"/>
              <a:t>put()</a:t>
            </a:r>
            <a:r>
              <a:rPr lang="en-US" dirty="0"/>
              <a:t> </a:t>
            </a:r>
            <a:r>
              <a:rPr lang="en-US" dirty="0" err="1"/>
              <a:t>si</a:t>
            </a:r>
            <a:r>
              <a:rPr lang="en-US" dirty="0"/>
              <a:t> </a:t>
            </a:r>
            <a:r>
              <a:rPr lang="en-US" b="1" dirty="0"/>
              <a:t>take() </a:t>
            </a:r>
            <a:r>
              <a:rPr lang="en-US" dirty="0"/>
              <a:t>sunt</a:t>
            </a:r>
          </a:p>
          <a:p>
            <a:r>
              <a:rPr lang="en-US" dirty="0" err="1"/>
              <a:t>operatii</a:t>
            </a:r>
            <a:r>
              <a:rPr lang="en-US" dirty="0"/>
              <a:t> care </a:t>
            </a:r>
            <a:r>
              <a:rPr lang="en-US" dirty="0" err="1"/>
              <a:t>blocheaza</a:t>
            </a:r>
            <a:endParaRPr lang="en-GB" dirty="0"/>
          </a:p>
        </p:txBody>
      </p:sp>
      <p:sp>
        <p:nvSpPr>
          <p:cNvPr id="18" name="TextBox 17"/>
          <p:cNvSpPr txBox="1"/>
          <p:nvPr/>
        </p:nvSpPr>
        <p:spPr>
          <a:xfrm flipH="1">
            <a:off x="450578" y="4167672"/>
            <a:ext cx="1187431" cy="461665"/>
          </a:xfrm>
          <a:prstGeom prst="rect">
            <a:avLst/>
          </a:prstGeom>
          <a:noFill/>
        </p:spPr>
        <p:txBody>
          <a:bodyPr wrap="square" rtlCol="0">
            <a:spAutoFit/>
          </a:bodyPr>
          <a:lstStyle/>
          <a:p>
            <a:r>
              <a:rPr lang="en-US" sz="2400" dirty="0" err="1"/>
              <a:t>Metode</a:t>
            </a:r>
            <a:endParaRPr lang="en-US" sz="2400" dirty="0"/>
          </a:p>
        </p:txBody>
      </p:sp>
    </p:spTree>
    <p:extLst>
      <p:ext uri="{BB962C8B-B14F-4D97-AF65-F5344CB8AC3E}">
        <p14:creationId xmlns:p14="http://schemas.microsoft.com/office/powerpoint/2010/main" val="207732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6243" y="142103"/>
            <a:ext cx="5631991" cy="369332"/>
          </a:xfrm>
          <a:prstGeom prst="rect">
            <a:avLst/>
          </a:prstGeom>
          <a:noFill/>
        </p:spPr>
        <p:txBody>
          <a:bodyPr wrap="none" rtlCol="0">
            <a:spAutoFit/>
          </a:bodyPr>
          <a:lstStyle/>
          <a:p>
            <a:r>
              <a:rPr lang="en-US" dirty="0" err="1"/>
              <a:t>Exemplu</a:t>
            </a:r>
            <a:r>
              <a:rPr lang="en-US" dirty="0"/>
              <a:t>: </a:t>
            </a:r>
            <a:r>
              <a:rPr lang="en-US" dirty="0" err="1"/>
              <a:t>Producator-Consumator</a:t>
            </a:r>
            <a:r>
              <a:rPr lang="en-US" dirty="0"/>
              <a:t> </a:t>
            </a:r>
            <a:r>
              <a:rPr lang="en-US" dirty="0" err="1"/>
              <a:t>folosind</a:t>
            </a:r>
            <a:r>
              <a:rPr lang="en-US" dirty="0"/>
              <a:t> </a:t>
            </a:r>
            <a:r>
              <a:rPr lang="en-US" b="1" dirty="0" err="1"/>
              <a:t>BlockingQueue</a:t>
            </a:r>
            <a:endParaRPr lang="en-US" b="1" dirty="0"/>
          </a:p>
        </p:txBody>
      </p:sp>
      <p:sp>
        <p:nvSpPr>
          <p:cNvPr id="7" name="TextBox 6"/>
          <p:cNvSpPr txBox="1"/>
          <p:nvPr/>
        </p:nvSpPr>
        <p:spPr>
          <a:xfrm flipH="1">
            <a:off x="1491458" y="6088216"/>
            <a:ext cx="9357773" cy="307777"/>
          </a:xfrm>
          <a:prstGeom prst="rect">
            <a:avLst/>
          </a:prstGeom>
          <a:noFill/>
        </p:spPr>
        <p:txBody>
          <a:bodyPr wrap="square" rtlCol="0">
            <a:spAutoFit/>
          </a:bodyPr>
          <a:lstStyle/>
          <a:p>
            <a:r>
              <a:rPr lang="en-US" sz="1400" dirty="0">
                <a:hlinkClick r:id="rId2"/>
              </a:rPr>
              <a:t>http://javarevisited.blogspot.ro/2012/02/producer-consumer-design-pattern-with.html</a:t>
            </a:r>
            <a:endParaRPr lang="en-US" sz="1400" dirty="0"/>
          </a:p>
        </p:txBody>
      </p:sp>
      <p:sp>
        <p:nvSpPr>
          <p:cNvPr id="3" name="TextBox 2">
            <a:extLst>
              <a:ext uri="{FF2B5EF4-FFF2-40B4-BE49-F238E27FC236}">
                <a16:creationId xmlns:a16="http://schemas.microsoft.com/office/drawing/2014/main" id="{28661222-7D4F-5BE1-DB0A-79050E60CCA7}"/>
              </a:ext>
            </a:extLst>
          </p:cNvPr>
          <p:cNvSpPr txBox="1"/>
          <p:nvPr/>
        </p:nvSpPr>
        <p:spPr>
          <a:xfrm>
            <a:off x="216243" y="616588"/>
            <a:ext cx="8021320" cy="23083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main(String[] </a:t>
            </a:r>
            <a:r>
              <a:rPr lang="en-GB" dirty="0" err="1"/>
              <a:t>args</a:t>
            </a:r>
            <a:r>
              <a:rPr lang="en-GB" dirty="0"/>
              <a:t>) {</a:t>
            </a:r>
          </a:p>
          <a:p>
            <a:r>
              <a:rPr lang="en-GB" b="1" dirty="0"/>
              <a:t>    </a:t>
            </a:r>
            <a:r>
              <a:rPr lang="en-GB" b="1" dirty="0" err="1"/>
              <a:t>BlockingQueue</a:t>
            </a:r>
            <a:r>
              <a:rPr lang="en-GB" b="1" dirty="0"/>
              <a:t>&lt;String&gt; drop= new </a:t>
            </a:r>
            <a:r>
              <a:rPr lang="en-GB" b="1" dirty="0" err="1"/>
              <a:t>LinkedBlockingQueue</a:t>
            </a:r>
            <a:r>
              <a:rPr lang="en-GB" b="1" dirty="0"/>
              <a:t>&lt;String&gt; ();</a:t>
            </a:r>
          </a:p>
          <a:p>
            <a:endParaRPr lang="en-GB" dirty="0"/>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PCConsumer</a:t>
            </a:r>
            <a:r>
              <a:rPr lang="en-GB" dirty="0"/>
              <a:t>(drop))).start();</a:t>
            </a:r>
          </a:p>
          <a:p>
            <a:r>
              <a:rPr lang="en-GB" dirty="0"/>
              <a:t>    }</a:t>
            </a:r>
          </a:p>
        </p:txBody>
      </p:sp>
      <p:sp>
        <p:nvSpPr>
          <p:cNvPr id="4" name="Rectangle 3"/>
          <p:cNvSpPr/>
          <p:nvPr/>
        </p:nvSpPr>
        <p:spPr>
          <a:xfrm>
            <a:off x="3673934" y="3030065"/>
            <a:ext cx="7837346" cy="2862322"/>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class </a:t>
            </a:r>
            <a:r>
              <a:rPr lang="en-US" dirty="0" err="1"/>
              <a:t>PCConsumer</a:t>
            </a:r>
            <a:r>
              <a:rPr lang="en-US" dirty="0"/>
              <a:t> implements Runnable {</a:t>
            </a:r>
          </a:p>
          <a:p>
            <a:r>
              <a:rPr lang="en-US" dirty="0"/>
              <a:t>    private </a:t>
            </a:r>
            <a:r>
              <a:rPr lang="en-US" b="1" dirty="0" err="1"/>
              <a:t>BlockingQueue</a:t>
            </a:r>
            <a:r>
              <a:rPr lang="en-US" b="1" dirty="0"/>
              <a:t>&lt;String&gt; drop</a:t>
            </a:r>
            <a:r>
              <a:rPr lang="en-US" dirty="0"/>
              <a:t>; </a:t>
            </a:r>
          </a:p>
          <a:p>
            <a:r>
              <a:rPr lang="en-US" dirty="0"/>
              <a:t>    public </a:t>
            </a:r>
            <a:r>
              <a:rPr lang="en-US" dirty="0" err="1"/>
              <a:t>PCConsumer</a:t>
            </a:r>
            <a:r>
              <a:rPr lang="en-US" dirty="0"/>
              <a:t>(</a:t>
            </a:r>
            <a:r>
              <a:rPr lang="en-US" dirty="0" err="1"/>
              <a:t>BlockingQueue</a:t>
            </a:r>
            <a:r>
              <a:rPr lang="en-US" dirty="0"/>
              <a:t>&lt;String&gt; drop) { </a:t>
            </a:r>
            <a:r>
              <a:rPr lang="en-US" dirty="0" err="1"/>
              <a:t>this.drop</a:t>
            </a:r>
            <a:r>
              <a:rPr lang="en-US" dirty="0"/>
              <a:t> = drop;}</a:t>
            </a:r>
          </a:p>
          <a:p>
            <a:endParaRPr lang="en-US" dirty="0"/>
          </a:p>
          <a:p>
            <a:r>
              <a:rPr lang="en-US" dirty="0"/>
              <a:t>    public void run() {</a:t>
            </a:r>
          </a:p>
          <a:p>
            <a:r>
              <a:rPr lang="en-US" dirty="0"/>
              <a:t>       while (true) {</a:t>
            </a:r>
          </a:p>
          <a:p>
            <a:r>
              <a:rPr lang="en-US" dirty="0"/>
              <a:t>         try {         </a:t>
            </a:r>
          </a:p>
          <a:p>
            <a:r>
              <a:rPr lang="en-US" dirty="0"/>
              <a:t>            </a:t>
            </a:r>
            <a:r>
              <a:rPr lang="en-US" dirty="0" err="1"/>
              <a:t>System.out.format</a:t>
            </a:r>
            <a:r>
              <a:rPr lang="en-US" dirty="0"/>
              <a:t>("Message received: %</a:t>
            </a:r>
            <a:r>
              <a:rPr lang="en-US" dirty="0" err="1"/>
              <a:t>s%n</a:t>
            </a:r>
            <a:r>
              <a:rPr lang="en-US" dirty="0"/>
              <a:t>", </a:t>
            </a:r>
            <a:r>
              <a:rPr lang="en-US" b="1" dirty="0" err="1"/>
              <a:t>drop.take</a:t>
            </a:r>
            <a:r>
              <a:rPr lang="en-US" b="1" dirty="0"/>
              <a:t>());</a:t>
            </a:r>
          </a:p>
          <a:p>
            <a:r>
              <a:rPr lang="en-US" dirty="0"/>
              <a:t>            }</a:t>
            </a:r>
          </a:p>
          <a:p>
            <a:r>
              <a:rPr lang="en-US" dirty="0"/>
              <a:t>            catch (</a:t>
            </a:r>
            <a:r>
              <a:rPr lang="en-US" dirty="0" err="1"/>
              <a:t>InterruptedException</a:t>
            </a:r>
            <a:r>
              <a:rPr lang="en-US" dirty="0"/>
              <a:t> ex) { }     }}}</a:t>
            </a:r>
          </a:p>
        </p:txBody>
      </p:sp>
    </p:spTree>
    <p:extLst>
      <p:ext uri="{BB962C8B-B14F-4D97-AF65-F5344CB8AC3E}">
        <p14:creationId xmlns:p14="http://schemas.microsoft.com/office/powerpoint/2010/main" val="2925865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9692" y="820301"/>
            <a:ext cx="7334148" cy="452431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class </a:t>
            </a:r>
            <a:r>
              <a:rPr lang="en-US" dirty="0" err="1"/>
              <a:t>PCProducer</a:t>
            </a:r>
            <a:r>
              <a:rPr lang="en-US" dirty="0"/>
              <a:t> implements Runnable {</a:t>
            </a:r>
          </a:p>
          <a:p>
            <a:r>
              <a:rPr lang="en-US" dirty="0"/>
              <a:t>    private </a:t>
            </a:r>
            <a:r>
              <a:rPr lang="en-US" b="1" dirty="0" err="1"/>
              <a:t>BlockingQueue</a:t>
            </a:r>
            <a:r>
              <a:rPr lang="en-US" b="1" dirty="0"/>
              <a:t>&lt;String&gt; drop</a:t>
            </a:r>
            <a:r>
              <a:rPr lang="en-US" dirty="0"/>
              <a:t>;</a:t>
            </a:r>
          </a:p>
          <a:p>
            <a:endParaRPr lang="en-US" dirty="0"/>
          </a:p>
          <a:p>
            <a:r>
              <a:rPr lang="en-US" dirty="0"/>
              <a:t>    public </a:t>
            </a:r>
            <a:r>
              <a:rPr lang="en-US" dirty="0" err="1"/>
              <a:t>PCProducer</a:t>
            </a:r>
            <a:r>
              <a:rPr lang="en-US" dirty="0"/>
              <a:t>(</a:t>
            </a:r>
            <a:r>
              <a:rPr lang="en-US" dirty="0" err="1"/>
              <a:t>BlockingQueue</a:t>
            </a:r>
            <a:r>
              <a:rPr lang="en-US" dirty="0"/>
              <a:t>&lt;String&gt; drop) {</a:t>
            </a:r>
            <a:r>
              <a:rPr lang="en-US" dirty="0" err="1"/>
              <a:t>this.drop</a:t>
            </a:r>
            <a:r>
              <a:rPr lang="en-US" dirty="0"/>
              <a:t> = drop;}</a:t>
            </a:r>
          </a:p>
          <a:p>
            <a:endParaRPr lang="en-US" dirty="0"/>
          </a:p>
          <a:p>
            <a:r>
              <a:rPr lang="en-US" dirty="0"/>
              <a:t>    public void run() {</a:t>
            </a:r>
          </a:p>
          <a:p>
            <a:r>
              <a:rPr lang="en-US" dirty="0"/>
              <a:t>        String </a:t>
            </a:r>
            <a:r>
              <a:rPr lang="en-US" dirty="0" err="1"/>
              <a:t>importantInfo</a:t>
            </a:r>
            <a:r>
              <a:rPr lang="en-US" dirty="0"/>
              <a:t>[] = { "m1", "m2", "m3", "m4" };</a:t>
            </a:r>
          </a:p>
          <a:p>
            <a:r>
              <a:rPr lang="en-US" dirty="0"/>
              <a:t>        Random </a:t>
            </a:r>
            <a:r>
              <a:rPr lang="en-US" dirty="0" err="1"/>
              <a:t>random</a:t>
            </a:r>
            <a:r>
              <a:rPr lang="en-US" dirty="0"/>
              <a:t> = new Random();</a:t>
            </a:r>
          </a:p>
          <a:p>
            <a:endParaRPr lang="en-US" dirty="0"/>
          </a:p>
          <a:p>
            <a:r>
              <a:rPr lang="en-US" dirty="0"/>
              <a:t>        for (int </a:t>
            </a:r>
            <a:r>
              <a:rPr lang="en-US" dirty="0" err="1"/>
              <a:t>i</a:t>
            </a:r>
            <a:r>
              <a:rPr lang="en-US" dirty="0"/>
              <a:t> = 0; </a:t>
            </a:r>
            <a:r>
              <a:rPr lang="en-US" dirty="0" err="1"/>
              <a:t>i</a:t>
            </a:r>
            <a:r>
              <a:rPr lang="en-US" dirty="0"/>
              <a:t> &lt; </a:t>
            </a:r>
            <a:r>
              <a:rPr lang="en-US" dirty="0" err="1"/>
              <a:t>importantInfo.length</a:t>
            </a:r>
            <a:r>
              <a:rPr lang="en-US" dirty="0"/>
              <a:t>; ++</a:t>
            </a:r>
            <a:r>
              <a:rPr lang="en-US" dirty="0" err="1"/>
              <a:t>i</a:t>
            </a:r>
            <a:r>
              <a:rPr lang="en-US" dirty="0"/>
              <a:t>) {</a:t>
            </a:r>
          </a:p>
          <a:p>
            <a:r>
              <a:rPr lang="en-US" dirty="0"/>
              <a:t>            try {</a:t>
            </a:r>
          </a:p>
          <a:p>
            <a:r>
              <a:rPr lang="en-US" dirty="0"/>
              <a:t>            </a:t>
            </a:r>
            <a:r>
              <a:rPr lang="en-US" b="1" dirty="0" err="1"/>
              <a:t>drop.put</a:t>
            </a:r>
            <a:r>
              <a:rPr lang="en-US" b="1" dirty="0"/>
              <a:t>(</a:t>
            </a:r>
            <a:r>
              <a:rPr lang="en-US" b="1" dirty="0" err="1"/>
              <a:t>importantInfo</a:t>
            </a:r>
            <a:r>
              <a:rPr lang="en-US" b="1" dirty="0"/>
              <a:t>[</a:t>
            </a:r>
            <a:r>
              <a:rPr lang="en-US" b="1" dirty="0" err="1"/>
              <a:t>i</a:t>
            </a:r>
            <a:r>
              <a:rPr lang="en-US" b="1" dirty="0"/>
              <a:t>]);</a:t>
            </a:r>
          </a:p>
          <a:p>
            <a:r>
              <a:rPr lang="en-US" dirty="0"/>
              <a:t>            </a:t>
            </a:r>
            <a:r>
              <a:rPr lang="en-US" dirty="0" err="1"/>
              <a:t>Thread.sleep</a:t>
            </a:r>
            <a:r>
              <a:rPr lang="en-US" dirty="0"/>
              <a:t>(</a:t>
            </a:r>
            <a:r>
              <a:rPr lang="en-US" dirty="0" err="1"/>
              <a:t>random.nextInt</a:t>
            </a:r>
            <a:r>
              <a:rPr lang="en-US" dirty="0"/>
              <a:t>(1000));</a:t>
            </a:r>
          </a:p>
          <a:p>
            <a:r>
              <a:rPr lang="en-US" dirty="0"/>
              <a:t>            }</a:t>
            </a:r>
          </a:p>
          <a:p>
            <a:r>
              <a:rPr lang="en-US" dirty="0"/>
              <a:t>            catch (</a:t>
            </a:r>
            <a:r>
              <a:rPr lang="en-US" dirty="0" err="1"/>
              <a:t>InterruptedException</a:t>
            </a:r>
            <a:r>
              <a:rPr lang="en-US" dirty="0"/>
              <a:t> ex) { }</a:t>
            </a:r>
          </a:p>
          <a:p>
            <a:r>
              <a:rPr lang="en-US" dirty="0"/>
              <a:t>        }}}</a:t>
            </a:r>
          </a:p>
        </p:txBody>
      </p:sp>
      <p:pic>
        <p:nvPicPr>
          <p:cNvPr id="11" name="Picture 10">
            <a:extLst>
              <a:ext uri="{FF2B5EF4-FFF2-40B4-BE49-F238E27FC236}">
                <a16:creationId xmlns:a16="http://schemas.microsoft.com/office/drawing/2014/main" id="{CA722837-CC2F-04A1-FD1B-49DE1E39D4C3}"/>
              </a:ext>
            </a:extLst>
          </p:cNvPr>
          <p:cNvPicPr>
            <a:picLocks noChangeAspect="1"/>
          </p:cNvPicPr>
          <p:nvPr/>
        </p:nvPicPr>
        <p:blipFill>
          <a:blip r:embed="rId2"/>
          <a:stretch>
            <a:fillRect/>
          </a:stretch>
        </p:blipFill>
        <p:spPr>
          <a:xfrm>
            <a:off x="7052944" y="2090737"/>
            <a:ext cx="3242089" cy="3873183"/>
          </a:xfrm>
          <a:prstGeom prst="rect">
            <a:avLst/>
          </a:prstGeom>
        </p:spPr>
      </p:pic>
    </p:spTree>
    <p:extLst>
      <p:ext uri="{BB962C8B-B14F-4D97-AF65-F5344CB8AC3E}">
        <p14:creationId xmlns:p14="http://schemas.microsoft.com/office/powerpoint/2010/main" val="181705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7FDE0-D8CA-7485-B286-CE1987C3259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D92008C-01BC-1DEC-4003-E70E09148963}"/>
              </a:ext>
            </a:extLst>
          </p:cNvPr>
          <p:cNvSpPr/>
          <p:nvPr/>
        </p:nvSpPr>
        <p:spPr>
          <a:xfrm>
            <a:off x="529692" y="820301"/>
            <a:ext cx="7334148" cy="480131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class </a:t>
            </a:r>
            <a:r>
              <a:rPr lang="en-US" dirty="0" err="1"/>
              <a:t>PCProducer</a:t>
            </a:r>
            <a:r>
              <a:rPr lang="en-US" dirty="0"/>
              <a:t> implements Runnable {</a:t>
            </a:r>
          </a:p>
          <a:p>
            <a:r>
              <a:rPr lang="en-US" dirty="0"/>
              <a:t>    private </a:t>
            </a:r>
            <a:r>
              <a:rPr lang="en-US" b="1" dirty="0" err="1"/>
              <a:t>BlockingQueue</a:t>
            </a:r>
            <a:r>
              <a:rPr lang="en-US" b="1" dirty="0"/>
              <a:t>&lt;String&gt; drop</a:t>
            </a:r>
            <a:r>
              <a:rPr lang="en-US" dirty="0"/>
              <a:t>;</a:t>
            </a:r>
          </a:p>
          <a:p>
            <a:endParaRPr lang="en-US" dirty="0"/>
          </a:p>
          <a:p>
            <a:r>
              <a:rPr lang="en-US" dirty="0"/>
              <a:t>    public </a:t>
            </a:r>
            <a:r>
              <a:rPr lang="en-US" dirty="0" err="1"/>
              <a:t>PCProducer</a:t>
            </a:r>
            <a:r>
              <a:rPr lang="en-US" dirty="0"/>
              <a:t>(</a:t>
            </a:r>
            <a:r>
              <a:rPr lang="en-US" dirty="0" err="1"/>
              <a:t>BlockingQueue</a:t>
            </a:r>
            <a:r>
              <a:rPr lang="en-US" dirty="0"/>
              <a:t>&lt;String&gt; drop) {</a:t>
            </a:r>
            <a:r>
              <a:rPr lang="en-US" dirty="0" err="1"/>
              <a:t>this.drop</a:t>
            </a:r>
            <a:r>
              <a:rPr lang="en-US" dirty="0"/>
              <a:t> = drop;}</a:t>
            </a:r>
          </a:p>
          <a:p>
            <a:endParaRPr lang="en-US" dirty="0"/>
          </a:p>
          <a:p>
            <a:r>
              <a:rPr lang="en-US" dirty="0"/>
              <a:t>    public void run() {</a:t>
            </a:r>
          </a:p>
          <a:p>
            <a:r>
              <a:rPr lang="en-US" dirty="0"/>
              <a:t>        String </a:t>
            </a:r>
            <a:r>
              <a:rPr lang="en-US" dirty="0" err="1"/>
              <a:t>importantInfo</a:t>
            </a:r>
            <a:r>
              <a:rPr lang="en-US" dirty="0"/>
              <a:t>[] = { "m1", "m2", "m3", "m4" };</a:t>
            </a:r>
          </a:p>
          <a:p>
            <a:r>
              <a:rPr lang="en-US" dirty="0"/>
              <a:t>        Random </a:t>
            </a:r>
            <a:r>
              <a:rPr lang="en-US" dirty="0" err="1"/>
              <a:t>random</a:t>
            </a:r>
            <a:r>
              <a:rPr lang="en-US" dirty="0"/>
              <a:t> = new Random();</a:t>
            </a:r>
          </a:p>
          <a:p>
            <a:endParaRPr lang="en-US" dirty="0"/>
          </a:p>
          <a:p>
            <a:r>
              <a:rPr lang="en-US" dirty="0"/>
              <a:t>        for (int </a:t>
            </a:r>
            <a:r>
              <a:rPr lang="en-US" dirty="0" err="1"/>
              <a:t>i</a:t>
            </a:r>
            <a:r>
              <a:rPr lang="en-US" dirty="0"/>
              <a:t> = 0; </a:t>
            </a:r>
            <a:r>
              <a:rPr lang="en-US" dirty="0" err="1"/>
              <a:t>i</a:t>
            </a:r>
            <a:r>
              <a:rPr lang="en-US" dirty="0"/>
              <a:t> &lt; </a:t>
            </a:r>
            <a:r>
              <a:rPr lang="en-US" dirty="0" err="1"/>
              <a:t>importantInfo.length</a:t>
            </a:r>
            <a:r>
              <a:rPr lang="en-US" dirty="0"/>
              <a:t>; ++</a:t>
            </a:r>
            <a:r>
              <a:rPr lang="en-US" dirty="0" err="1"/>
              <a:t>i</a:t>
            </a:r>
            <a:r>
              <a:rPr lang="en-US" dirty="0"/>
              <a:t>) {</a:t>
            </a:r>
          </a:p>
          <a:p>
            <a:r>
              <a:rPr lang="en-US" dirty="0"/>
              <a:t>            try {</a:t>
            </a:r>
          </a:p>
          <a:p>
            <a:r>
              <a:rPr lang="en-US" dirty="0"/>
              <a:t>            </a:t>
            </a:r>
            <a:r>
              <a:rPr lang="en-US" b="1" dirty="0" err="1"/>
              <a:t>drop.put</a:t>
            </a:r>
            <a:r>
              <a:rPr lang="en-US" b="1" dirty="0"/>
              <a:t>(</a:t>
            </a:r>
            <a:r>
              <a:rPr lang="en-US" b="1" dirty="0" err="1"/>
              <a:t>importantInfo</a:t>
            </a:r>
            <a:r>
              <a:rPr lang="en-US" b="1" dirty="0"/>
              <a:t>[</a:t>
            </a:r>
            <a:r>
              <a:rPr lang="en-US" b="1" dirty="0" err="1"/>
              <a:t>i</a:t>
            </a:r>
            <a:r>
              <a:rPr lang="en-US" b="1" dirty="0"/>
              <a:t>]); </a:t>
            </a:r>
          </a:p>
          <a:p>
            <a:r>
              <a:rPr lang="en-US" b="1" dirty="0"/>
              <a:t>            </a:t>
            </a:r>
            <a:r>
              <a:rPr lang="pt-BR" b="1" dirty="0"/>
              <a:t>System.out.format("Message sent: %s%n", importantInfo[i]);</a:t>
            </a:r>
            <a:endParaRPr lang="en-US" b="1" dirty="0"/>
          </a:p>
          <a:p>
            <a:r>
              <a:rPr lang="en-US" dirty="0"/>
              <a:t>            </a:t>
            </a:r>
            <a:r>
              <a:rPr lang="en-US" dirty="0" err="1"/>
              <a:t>Thread.sleep</a:t>
            </a:r>
            <a:r>
              <a:rPr lang="en-US" dirty="0"/>
              <a:t>(</a:t>
            </a:r>
            <a:r>
              <a:rPr lang="en-US" dirty="0" err="1"/>
              <a:t>random.nextInt</a:t>
            </a:r>
            <a:r>
              <a:rPr lang="en-US" dirty="0"/>
              <a:t>(1000));</a:t>
            </a:r>
          </a:p>
          <a:p>
            <a:r>
              <a:rPr lang="en-US" dirty="0"/>
              <a:t>            }</a:t>
            </a:r>
          </a:p>
          <a:p>
            <a:r>
              <a:rPr lang="en-US" dirty="0"/>
              <a:t>            catch (</a:t>
            </a:r>
            <a:r>
              <a:rPr lang="en-US" dirty="0" err="1"/>
              <a:t>InterruptedException</a:t>
            </a:r>
            <a:r>
              <a:rPr lang="en-US" dirty="0"/>
              <a:t> ex) { }</a:t>
            </a:r>
          </a:p>
          <a:p>
            <a:r>
              <a:rPr lang="en-US" dirty="0"/>
              <a:t>        }}}</a:t>
            </a:r>
          </a:p>
        </p:txBody>
      </p:sp>
      <p:pic>
        <p:nvPicPr>
          <p:cNvPr id="6" name="Picture 5">
            <a:extLst>
              <a:ext uri="{FF2B5EF4-FFF2-40B4-BE49-F238E27FC236}">
                <a16:creationId xmlns:a16="http://schemas.microsoft.com/office/drawing/2014/main" id="{B2C15415-93CF-CC0C-2516-C36145FA6F9C}"/>
              </a:ext>
            </a:extLst>
          </p:cNvPr>
          <p:cNvPicPr>
            <a:picLocks noChangeAspect="1"/>
          </p:cNvPicPr>
          <p:nvPr/>
        </p:nvPicPr>
        <p:blipFill>
          <a:blip r:embed="rId2"/>
          <a:stretch>
            <a:fillRect/>
          </a:stretch>
        </p:blipFill>
        <p:spPr>
          <a:xfrm>
            <a:off x="8309576" y="267796"/>
            <a:ext cx="2362530" cy="5906324"/>
          </a:xfrm>
          <a:prstGeom prst="rect">
            <a:avLst/>
          </a:prstGeom>
        </p:spPr>
      </p:pic>
    </p:spTree>
    <p:extLst>
      <p:ext uri="{BB962C8B-B14F-4D97-AF65-F5344CB8AC3E}">
        <p14:creationId xmlns:p14="http://schemas.microsoft.com/office/powerpoint/2010/main" val="192069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567EC-6B8F-736F-2F19-1A5DAA97074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7BDFD5E-BE48-B26A-D643-CDCCC3B40335}"/>
              </a:ext>
            </a:extLst>
          </p:cNvPr>
          <p:cNvSpPr txBox="1"/>
          <p:nvPr/>
        </p:nvSpPr>
        <p:spPr>
          <a:xfrm>
            <a:off x="216243" y="142103"/>
            <a:ext cx="6048644" cy="369332"/>
          </a:xfrm>
          <a:prstGeom prst="rect">
            <a:avLst/>
          </a:prstGeom>
          <a:noFill/>
        </p:spPr>
        <p:txBody>
          <a:bodyPr wrap="none" rtlCol="0">
            <a:spAutoFit/>
          </a:bodyPr>
          <a:lstStyle/>
          <a:p>
            <a:r>
              <a:rPr lang="en-US" dirty="0" err="1"/>
              <a:t>Exemplu</a:t>
            </a:r>
            <a:r>
              <a:rPr lang="en-US" dirty="0"/>
              <a:t>: </a:t>
            </a:r>
            <a:r>
              <a:rPr lang="en-US" dirty="0" err="1"/>
              <a:t>Producator-Consumator</a:t>
            </a:r>
            <a:r>
              <a:rPr lang="en-US" dirty="0"/>
              <a:t> </a:t>
            </a:r>
            <a:r>
              <a:rPr lang="en-US" dirty="0" err="1"/>
              <a:t>folosind</a:t>
            </a:r>
            <a:r>
              <a:rPr lang="en-US" dirty="0"/>
              <a:t> </a:t>
            </a:r>
            <a:r>
              <a:rPr lang="en-GB" b="1" dirty="0" err="1"/>
              <a:t>SynchronousQueue</a:t>
            </a:r>
            <a:endParaRPr lang="en-GB" b="1" dirty="0"/>
          </a:p>
        </p:txBody>
      </p:sp>
      <p:sp>
        <p:nvSpPr>
          <p:cNvPr id="7" name="TextBox 6">
            <a:extLst>
              <a:ext uri="{FF2B5EF4-FFF2-40B4-BE49-F238E27FC236}">
                <a16:creationId xmlns:a16="http://schemas.microsoft.com/office/drawing/2014/main" id="{EB9A65D7-C291-EE9C-7295-B71DC037A642}"/>
              </a:ext>
            </a:extLst>
          </p:cNvPr>
          <p:cNvSpPr txBox="1"/>
          <p:nvPr/>
        </p:nvSpPr>
        <p:spPr>
          <a:xfrm flipH="1">
            <a:off x="536418" y="5933635"/>
            <a:ext cx="9357773" cy="369332"/>
          </a:xfrm>
          <a:prstGeom prst="rect">
            <a:avLst/>
          </a:prstGeom>
          <a:noFill/>
        </p:spPr>
        <p:txBody>
          <a:bodyPr wrap="square" rtlCol="0">
            <a:spAutoFit/>
          </a:bodyPr>
          <a:lstStyle/>
          <a:p>
            <a:r>
              <a:rPr lang="fr-FR" dirty="0" err="1">
                <a:hlinkClick r:id="rId2"/>
              </a:rPr>
              <a:t>SynchronousQueue</a:t>
            </a:r>
            <a:r>
              <a:rPr lang="fr-FR" dirty="0">
                <a:hlinkClick r:id="rId2"/>
              </a:rPr>
              <a:t> (Java SE 23 &amp; JDK 23)</a:t>
            </a:r>
            <a:endParaRPr lang="en-US" dirty="0"/>
          </a:p>
        </p:txBody>
      </p:sp>
      <p:sp>
        <p:nvSpPr>
          <p:cNvPr id="3" name="TextBox 2">
            <a:extLst>
              <a:ext uri="{FF2B5EF4-FFF2-40B4-BE49-F238E27FC236}">
                <a16:creationId xmlns:a16="http://schemas.microsoft.com/office/drawing/2014/main" id="{C974BD93-507B-71A2-3B73-329BF56FEB70}"/>
              </a:ext>
            </a:extLst>
          </p:cNvPr>
          <p:cNvSpPr txBox="1"/>
          <p:nvPr/>
        </p:nvSpPr>
        <p:spPr>
          <a:xfrm>
            <a:off x="216243" y="616588"/>
            <a:ext cx="6936397" cy="23083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main(String[] </a:t>
            </a:r>
            <a:r>
              <a:rPr lang="en-GB" dirty="0" err="1"/>
              <a:t>args</a:t>
            </a:r>
            <a:r>
              <a:rPr lang="en-GB" dirty="0"/>
              <a:t>) {</a:t>
            </a:r>
          </a:p>
          <a:p>
            <a:r>
              <a:rPr lang="en-GB" b="1" dirty="0"/>
              <a:t>    </a:t>
            </a:r>
            <a:r>
              <a:rPr lang="en-GB" b="1" dirty="0" err="1"/>
              <a:t>BlockingQueue</a:t>
            </a:r>
            <a:r>
              <a:rPr lang="en-GB" b="1" dirty="0"/>
              <a:t>&lt;String&gt; drop= new </a:t>
            </a:r>
            <a:r>
              <a:rPr lang="en-GB" b="1" dirty="0" err="1"/>
              <a:t>SynchronousQueue</a:t>
            </a:r>
            <a:r>
              <a:rPr lang="en-GB" b="1" dirty="0"/>
              <a:t>&lt;String&gt; ();</a:t>
            </a:r>
          </a:p>
          <a:p>
            <a:endParaRPr lang="en-GB" dirty="0"/>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PCConsumer</a:t>
            </a:r>
            <a:r>
              <a:rPr lang="en-GB" dirty="0"/>
              <a:t>(drop))).start();</a:t>
            </a:r>
          </a:p>
          <a:p>
            <a:r>
              <a:rPr lang="en-GB" dirty="0"/>
              <a:t>    }</a:t>
            </a:r>
          </a:p>
        </p:txBody>
      </p:sp>
      <p:pic>
        <p:nvPicPr>
          <p:cNvPr id="5" name="Picture 4">
            <a:extLst>
              <a:ext uri="{FF2B5EF4-FFF2-40B4-BE49-F238E27FC236}">
                <a16:creationId xmlns:a16="http://schemas.microsoft.com/office/drawing/2014/main" id="{DA3974C4-37D4-0300-A4AF-3FB9C046A0F3}"/>
              </a:ext>
            </a:extLst>
          </p:cNvPr>
          <p:cNvPicPr>
            <a:picLocks noChangeAspect="1"/>
          </p:cNvPicPr>
          <p:nvPr/>
        </p:nvPicPr>
        <p:blipFill>
          <a:blip r:embed="rId3"/>
          <a:stretch>
            <a:fillRect/>
          </a:stretch>
        </p:blipFill>
        <p:spPr>
          <a:xfrm>
            <a:off x="8583762" y="142103"/>
            <a:ext cx="2400635" cy="5944430"/>
          </a:xfrm>
          <a:prstGeom prst="rect">
            <a:avLst/>
          </a:prstGeom>
        </p:spPr>
      </p:pic>
      <p:sp>
        <p:nvSpPr>
          <p:cNvPr id="8" name="TextBox 7">
            <a:extLst>
              <a:ext uri="{FF2B5EF4-FFF2-40B4-BE49-F238E27FC236}">
                <a16:creationId xmlns:a16="http://schemas.microsoft.com/office/drawing/2014/main" id="{5FC25E90-1885-95B7-09AF-B39AAA7B617D}"/>
              </a:ext>
            </a:extLst>
          </p:cNvPr>
          <p:cNvSpPr txBox="1"/>
          <p:nvPr/>
        </p:nvSpPr>
        <p:spPr>
          <a:xfrm>
            <a:off x="216243" y="3213902"/>
            <a:ext cx="10911840"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t>Producatorul</a:t>
            </a:r>
            <a:r>
              <a:rPr lang="en-US" dirty="0"/>
              <a:t> </a:t>
            </a:r>
            <a:r>
              <a:rPr lang="en-US" dirty="0" err="1"/>
              <a:t>si</a:t>
            </a:r>
            <a:r>
              <a:rPr lang="en-US" dirty="0"/>
              <a:t> </a:t>
            </a:r>
            <a:r>
              <a:rPr lang="en-US" dirty="0" err="1"/>
              <a:t>consumatorul</a:t>
            </a:r>
            <a:r>
              <a:rPr lang="en-US" dirty="0"/>
              <a:t> sunt thread-</a:t>
            </a:r>
            <a:r>
              <a:rPr lang="en-US" dirty="0" err="1"/>
              <a:t>uri</a:t>
            </a:r>
            <a:r>
              <a:rPr lang="en-US" dirty="0"/>
              <a:t> </a:t>
            </a:r>
            <a:r>
              <a:rPr lang="en-US" dirty="0" err="1"/>
              <a:t>sincronizate</a:t>
            </a:r>
            <a:r>
              <a:rPr lang="en-US" dirty="0"/>
              <a:t>, </a:t>
            </a:r>
          </a:p>
          <a:p>
            <a:r>
              <a:rPr lang="en-US" dirty="0"/>
              <a:t>      </a:t>
            </a:r>
            <a:r>
              <a:rPr lang="en-US" dirty="0" err="1"/>
              <a:t>orice</a:t>
            </a:r>
            <a:r>
              <a:rPr lang="en-US" dirty="0"/>
              <a:t> </a:t>
            </a:r>
            <a:r>
              <a:rPr lang="en-US" dirty="0" err="1"/>
              <a:t>operatie</a:t>
            </a:r>
            <a:r>
              <a:rPr lang="en-US" dirty="0"/>
              <a:t> se face  </a:t>
            </a:r>
            <a:r>
              <a:rPr lang="en-US" dirty="0" err="1"/>
              <a:t>numai</a:t>
            </a:r>
            <a:r>
              <a:rPr lang="en-US" dirty="0"/>
              <a:t> in </a:t>
            </a:r>
            <a:r>
              <a:rPr lang="en-US" dirty="0" err="1"/>
              <a:t>prezenta</a:t>
            </a:r>
            <a:r>
              <a:rPr lang="en-US" dirty="0"/>
              <a:t> </a:t>
            </a:r>
            <a:r>
              <a:rPr lang="en-US" dirty="0" err="1"/>
              <a:t>unui</a:t>
            </a:r>
            <a:r>
              <a:rPr lang="en-US" dirty="0"/>
              <a:t> thread care face </a:t>
            </a:r>
            <a:r>
              <a:rPr lang="en-US" b="1" dirty="0"/>
              <a:t>put()</a:t>
            </a:r>
            <a:r>
              <a:rPr lang="en-US" dirty="0"/>
              <a:t> </a:t>
            </a:r>
          </a:p>
          <a:p>
            <a:r>
              <a:rPr lang="en-US" dirty="0"/>
              <a:t>      </a:t>
            </a:r>
            <a:r>
              <a:rPr lang="en-US" dirty="0" err="1"/>
              <a:t>si</a:t>
            </a:r>
            <a:r>
              <a:rPr lang="en-US" dirty="0"/>
              <a:t> a </a:t>
            </a:r>
            <a:r>
              <a:rPr lang="en-US" dirty="0" err="1"/>
              <a:t>unuia</a:t>
            </a:r>
            <a:r>
              <a:rPr lang="en-US" dirty="0"/>
              <a:t> care face </a:t>
            </a:r>
            <a:r>
              <a:rPr lang="en-US" b="1" dirty="0"/>
              <a:t>take()</a:t>
            </a:r>
          </a:p>
          <a:p>
            <a:endParaRPr lang="en-US" b="1" dirty="0"/>
          </a:p>
          <a:p>
            <a:pPr marL="285750" indent="-285750">
              <a:buFont typeface="Arial" panose="020B0604020202020204" pitchFamily="34" charset="0"/>
              <a:buChar char="•"/>
            </a:pPr>
            <a:r>
              <a:rPr lang="en-US" dirty="0" err="1"/>
              <a:t>Elementele</a:t>
            </a:r>
            <a:r>
              <a:rPr lang="en-US" dirty="0"/>
              <a:t> sunt </a:t>
            </a:r>
            <a:r>
              <a:rPr lang="en-US" dirty="0" err="1"/>
              <a:t>transferate</a:t>
            </a:r>
            <a:r>
              <a:rPr lang="en-US" dirty="0"/>
              <a:t> de la </a:t>
            </a:r>
            <a:r>
              <a:rPr lang="en-US" dirty="0" err="1"/>
              <a:t>producator</a:t>
            </a:r>
            <a:r>
              <a:rPr lang="en-US" dirty="0"/>
              <a:t> la consummator,</a:t>
            </a:r>
          </a:p>
          <a:p>
            <a:r>
              <a:rPr lang="en-US" dirty="0"/>
              <a:t>     </a:t>
            </a:r>
            <a:r>
              <a:rPr lang="en-US" dirty="0" err="1"/>
              <a:t>fara</a:t>
            </a:r>
            <a:r>
              <a:rPr lang="en-US" dirty="0"/>
              <a:t> a fi </a:t>
            </a:r>
            <a:r>
              <a:rPr lang="en-US" dirty="0" err="1"/>
              <a:t>tinute</a:t>
            </a:r>
            <a:r>
              <a:rPr lang="en-US" dirty="0"/>
              <a:t> in </a:t>
            </a:r>
            <a:r>
              <a:rPr lang="en-US" dirty="0" err="1"/>
              <a:t>coada</a:t>
            </a:r>
            <a:r>
              <a:rPr lang="en-US" dirty="0"/>
              <a:t>.</a:t>
            </a:r>
          </a:p>
          <a:p>
            <a:endParaRPr lang="en-US" dirty="0"/>
          </a:p>
          <a:p>
            <a:pPr marL="285750" indent="-285750">
              <a:buFont typeface="Arial" panose="020B0604020202020204" pitchFamily="34" charset="0"/>
              <a:buChar char="•"/>
            </a:pPr>
            <a:r>
              <a:rPr lang="en-US" dirty="0"/>
              <a:t>Coada nu are capacitate (</a:t>
            </a:r>
            <a:r>
              <a:rPr lang="en-US" dirty="0" err="1"/>
              <a:t>nici</a:t>
            </a:r>
            <a:r>
              <a:rPr lang="en-US" dirty="0"/>
              <a:t> </a:t>
            </a:r>
            <a:r>
              <a:rPr lang="en-US" dirty="0" err="1"/>
              <a:t>macar</a:t>
            </a:r>
            <a:r>
              <a:rPr lang="en-US" dirty="0"/>
              <a:t> 1), </a:t>
            </a:r>
            <a:r>
              <a:rPr lang="en-US" dirty="0" err="1"/>
              <a:t>este</a:t>
            </a:r>
            <a:r>
              <a:rPr lang="en-US" dirty="0"/>
              <a:t> de </a:t>
            </a:r>
            <a:r>
              <a:rPr lang="en-US" dirty="0" err="1"/>
              <a:t>fapt</a:t>
            </a:r>
            <a:r>
              <a:rPr lang="en-US" dirty="0"/>
              <a:t> un </a:t>
            </a:r>
          </a:p>
          <a:p>
            <a:r>
              <a:rPr lang="en-US" dirty="0"/>
              <a:t>      </a:t>
            </a:r>
            <a:r>
              <a:rPr lang="en-US" dirty="0" err="1"/>
              <a:t>punct</a:t>
            </a:r>
            <a:r>
              <a:rPr lang="en-US" dirty="0"/>
              <a:t> de </a:t>
            </a:r>
            <a:r>
              <a:rPr lang="en-US" dirty="0" err="1"/>
              <a:t>intalnire</a:t>
            </a:r>
            <a:r>
              <a:rPr lang="en-US" dirty="0"/>
              <a:t> (rendezvous point, handoff)</a:t>
            </a:r>
            <a:endParaRPr lang="en-GB" dirty="0"/>
          </a:p>
        </p:txBody>
      </p:sp>
    </p:spTree>
    <p:extLst>
      <p:ext uri="{BB962C8B-B14F-4D97-AF65-F5344CB8AC3E}">
        <p14:creationId xmlns:p14="http://schemas.microsoft.com/office/powerpoint/2010/main" val="60988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D033-BE9B-6723-6055-A20872CE2D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ECD495A-9848-4113-AFF5-C658A8233DCA}"/>
              </a:ext>
            </a:extLst>
          </p:cNvPr>
          <p:cNvSpPr txBox="1"/>
          <p:nvPr/>
        </p:nvSpPr>
        <p:spPr>
          <a:xfrm>
            <a:off x="216243" y="142103"/>
            <a:ext cx="4694362" cy="369332"/>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b="1" dirty="0" err="1"/>
              <a:t>LinkedBlockingQueue</a:t>
            </a:r>
            <a:r>
              <a:rPr lang="en-US" dirty="0"/>
              <a:t> / </a:t>
            </a:r>
            <a:r>
              <a:rPr lang="en-US" b="1" dirty="0" err="1"/>
              <a:t>SynchronousQueue</a:t>
            </a:r>
            <a:endParaRPr lang="en-US" b="1" dirty="0"/>
          </a:p>
        </p:txBody>
      </p:sp>
      <p:sp>
        <p:nvSpPr>
          <p:cNvPr id="7" name="TextBox 6">
            <a:extLst>
              <a:ext uri="{FF2B5EF4-FFF2-40B4-BE49-F238E27FC236}">
                <a16:creationId xmlns:a16="http://schemas.microsoft.com/office/drawing/2014/main" id="{F766DB3F-D3E4-3475-C0C4-D4D0ECCE5291}"/>
              </a:ext>
            </a:extLst>
          </p:cNvPr>
          <p:cNvSpPr txBox="1"/>
          <p:nvPr/>
        </p:nvSpPr>
        <p:spPr>
          <a:xfrm flipH="1">
            <a:off x="1491458" y="6088216"/>
            <a:ext cx="9357773" cy="307777"/>
          </a:xfrm>
          <a:prstGeom prst="rect">
            <a:avLst/>
          </a:prstGeom>
          <a:noFill/>
        </p:spPr>
        <p:txBody>
          <a:bodyPr wrap="square" rtlCol="0">
            <a:spAutoFit/>
          </a:bodyPr>
          <a:lstStyle/>
          <a:p>
            <a:r>
              <a:rPr lang="en-US" sz="1400" dirty="0">
                <a:hlinkClick r:id="rId2"/>
              </a:rPr>
              <a:t>http://javarevisited.blogspot.ro/2012/02/producer-consumer-design-pattern-with.html</a:t>
            </a:r>
            <a:endParaRPr lang="en-US" sz="1400" dirty="0"/>
          </a:p>
        </p:txBody>
      </p:sp>
      <p:sp>
        <p:nvSpPr>
          <p:cNvPr id="3" name="TextBox 2">
            <a:extLst>
              <a:ext uri="{FF2B5EF4-FFF2-40B4-BE49-F238E27FC236}">
                <a16:creationId xmlns:a16="http://schemas.microsoft.com/office/drawing/2014/main" id="{E7D3A227-26EA-2663-2455-05A7764BD4CF}"/>
              </a:ext>
            </a:extLst>
          </p:cNvPr>
          <p:cNvSpPr txBox="1"/>
          <p:nvPr/>
        </p:nvSpPr>
        <p:spPr>
          <a:xfrm>
            <a:off x="216243" y="616588"/>
            <a:ext cx="8021320" cy="2308324"/>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main(String[] </a:t>
            </a:r>
            <a:r>
              <a:rPr lang="en-GB" dirty="0" err="1"/>
              <a:t>args</a:t>
            </a:r>
            <a:r>
              <a:rPr lang="en-GB" dirty="0"/>
              <a:t>) {</a:t>
            </a:r>
          </a:p>
          <a:p>
            <a:r>
              <a:rPr lang="en-GB" b="1" dirty="0"/>
              <a:t>    </a:t>
            </a:r>
            <a:r>
              <a:rPr lang="en-GB" b="1" dirty="0" err="1"/>
              <a:t>BlockingQueue</a:t>
            </a:r>
            <a:r>
              <a:rPr lang="en-GB" b="1" dirty="0"/>
              <a:t>&lt;String&gt; drop= new </a:t>
            </a:r>
            <a:r>
              <a:rPr lang="en-GB" b="1" dirty="0" err="1"/>
              <a:t>LinkedBlockingQueue</a:t>
            </a:r>
            <a:r>
              <a:rPr lang="en-GB" b="1" dirty="0"/>
              <a:t>&lt;String&gt; ();</a:t>
            </a:r>
          </a:p>
          <a:p>
            <a:endParaRPr lang="en-GB" dirty="0"/>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solidFill>
                  <a:schemeClr val="bg1">
                    <a:lumMod val="75000"/>
                  </a:schemeClr>
                </a:solidFill>
              </a:rPr>
              <a:t>  </a:t>
            </a:r>
            <a:r>
              <a:rPr lang="en-GB" dirty="0">
                <a:solidFill>
                  <a:srgbClr val="00B050"/>
                </a:solidFill>
              </a:rPr>
              <a:t>// </a:t>
            </a:r>
            <a:r>
              <a:rPr lang="en-GB" dirty="0">
                <a:solidFill>
                  <a:schemeClr val="bg1">
                    <a:lumMod val="75000"/>
                  </a:schemeClr>
                </a:solidFill>
              </a:rPr>
              <a:t>     (new Thread(new </a:t>
            </a:r>
            <a:r>
              <a:rPr lang="en-GB" dirty="0" err="1">
                <a:solidFill>
                  <a:schemeClr val="bg1">
                    <a:lumMod val="75000"/>
                  </a:schemeClr>
                </a:solidFill>
              </a:rPr>
              <a:t>PCConsumer</a:t>
            </a:r>
            <a:r>
              <a:rPr lang="en-GB" dirty="0">
                <a:solidFill>
                  <a:schemeClr val="bg1">
                    <a:lumMod val="75000"/>
                  </a:schemeClr>
                </a:solidFill>
              </a:rPr>
              <a:t>(drop))).start();</a:t>
            </a:r>
          </a:p>
          <a:p>
            <a:r>
              <a:rPr lang="en-GB" dirty="0"/>
              <a:t>    }</a:t>
            </a:r>
          </a:p>
        </p:txBody>
      </p:sp>
      <p:pic>
        <p:nvPicPr>
          <p:cNvPr id="4" name="Picture 3">
            <a:extLst>
              <a:ext uri="{FF2B5EF4-FFF2-40B4-BE49-F238E27FC236}">
                <a16:creationId xmlns:a16="http://schemas.microsoft.com/office/drawing/2014/main" id="{BA632D02-8943-9C9C-0022-A8C27497D93A}"/>
              </a:ext>
            </a:extLst>
          </p:cNvPr>
          <p:cNvPicPr>
            <a:picLocks noChangeAspect="1"/>
          </p:cNvPicPr>
          <p:nvPr/>
        </p:nvPicPr>
        <p:blipFill>
          <a:blip r:embed="rId3"/>
          <a:stretch>
            <a:fillRect/>
          </a:stretch>
        </p:blipFill>
        <p:spPr>
          <a:xfrm>
            <a:off x="9328020" y="295036"/>
            <a:ext cx="1646824" cy="2629876"/>
          </a:xfrm>
          <a:prstGeom prst="rect">
            <a:avLst/>
          </a:prstGeom>
        </p:spPr>
      </p:pic>
      <p:sp>
        <p:nvSpPr>
          <p:cNvPr id="5" name="TextBox 4">
            <a:extLst>
              <a:ext uri="{FF2B5EF4-FFF2-40B4-BE49-F238E27FC236}">
                <a16:creationId xmlns:a16="http://schemas.microsoft.com/office/drawing/2014/main" id="{F50BB467-2BF9-5F55-4A5F-10111E220462}"/>
              </a:ext>
            </a:extLst>
          </p:cNvPr>
          <p:cNvSpPr txBox="1"/>
          <p:nvPr/>
        </p:nvSpPr>
        <p:spPr>
          <a:xfrm>
            <a:off x="216243" y="3166185"/>
            <a:ext cx="6865277" cy="2585323"/>
          </a:xfrm>
          <a:prstGeom prst="rect">
            <a:avLst/>
          </a:prstGeom>
          <a:noFill/>
          <a:ln w="19050">
            <a:solidFill>
              <a:srgbClr val="00B050"/>
            </a:solidFill>
          </a:ln>
        </p:spPr>
        <p:txBody>
          <a:bodyPr wrap="square" rtlCol="0">
            <a:spAutoFit/>
          </a:bodyPr>
          <a:lstStyle/>
          <a:p>
            <a:r>
              <a:rPr lang="en-GB" dirty="0"/>
              <a:t>public static void main(String[] </a:t>
            </a:r>
            <a:r>
              <a:rPr lang="en-GB" dirty="0" err="1"/>
              <a:t>args</a:t>
            </a:r>
            <a:r>
              <a:rPr lang="en-GB" dirty="0"/>
              <a:t>) {</a:t>
            </a:r>
          </a:p>
          <a:p>
            <a:r>
              <a:rPr lang="en-GB" b="1" dirty="0"/>
              <a:t>    </a:t>
            </a:r>
            <a:r>
              <a:rPr lang="en-GB" b="1" dirty="0" err="1"/>
              <a:t>BlockingQueue</a:t>
            </a:r>
            <a:r>
              <a:rPr lang="en-GB" b="1" dirty="0"/>
              <a:t>&lt;String&gt; drop= new </a:t>
            </a:r>
            <a:r>
              <a:rPr lang="en-GB" dirty="0" err="1"/>
              <a:t>SynchronousQueue</a:t>
            </a:r>
            <a:r>
              <a:rPr lang="en-GB" dirty="0"/>
              <a:t> </a:t>
            </a:r>
            <a:r>
              <a:rPr lang="en-GB" b="1" dirty="0"/>
              <a:t>&lt;String&gt; ();</a:t>
            </a:r>
          </a:p>
          <a:p>
            <a:endParaRPr lang="en-GB" dirty="0"/>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t>        (new Thread(new </a:t>
            </a:r>
            <a:r>
              <a:rPr lang="en-GB" dirty="0" err="1"/>
              <a:t>PCProducer</a:t>
            </a:r>
            <a:r>
              <a:rPr lang="en-GB" dirty="0"/>
              <a:t>(drop))).start();</a:t>
            </a:r>
          </a:p>
          <a:p>
            <a:r>
              <a:rPr lang="en-GB" dirty="0">
                <a:solidFill>
                  <a:schemeClr val="bg1">
                    <a:lumMod val="75000"/>
                  </a:schemeClr>
                </a:solidFill>
              </a:rPr>
              <a:t>  </a:t>
            </a:r>
            <a:r>
              <a:rPr lang="en-GB" dirty="0">
                <a:solidFill>
                  <a:srgbClr val="00B050"/>
                </a:solidFill>
              </a:rPr>
              <a:t>// </a:t>
            </a:r>
            <a:r>
              <a:rPr lang="en-GB" dirty="0">
                <a:solidFill>
                  <a:schemeClr val="bg1">
                    <a:lumMod val="75000"/>
                  </a:schemeClr>
                </a:solidFill>
              </a:rPr>
              <a:t>     (new Thread(new </a:t>
            </a:r>
            <a:r>
              <a:rPr lang="en-GB" dirty="0" err="1">
                <a:solidFill>
                  <a:schemeClr val="bg1">
                    <a:lumMod val="75000"/>
                  </a:schemeClr>
                </a:solidFill>
              </a:rPr>
              <a:t>PCConsumer</a:t>
            </a:r>
            <a:r>
              <a:rPr lang="en-GB" dirty="0">
                <a:solidFill>
                  <a:schemeClr val="bg1">
                    <a:lumMod val="75000"/>
                  </a:schemeClr>
                </a:solidFill>
              </a:rPr>
              <a:t>(drop))).start();</a:t>
            </a:r>
          </a:p>
          <a:p>
            <a:r>
              <a:rPr lang="en-GB" dirty="0"/>
              <a:t>    }</a:t>
            </a:r>
          </a:p>
          <a:p>
            <a:endParaRPr lang="en-GB" dirty="0"/>
          </a:p>
        </p:txBody>
      </p:sp>
      <p:pic>
        <p:nvPicPr>
          <p:cNvPr id="9" name="Picture 8">
            <a:extLst>
              <a:ext uri="{FF2B5EF4-FFF2-40B4-BE49-F238E27FC236}">
                <a16:creationId xmlns:a16="http://schemas.microsoft.com/office/drawing/2014/main" id="{8A57B7A7-42A0-0188-92E5-E54075C0646F}"/>
              </a:ext>
            </a:extLst>
          </p:cNvPr>
          <p:cNvPicPr>
            <a:picLocks noChangeAspect="1"/>
          </p:cNvPicPr>
          <p:nvPr/>
        </p:nvPicPr>
        <p:blipFill>
          <a:blip r:embed="rId4"/>
          <a:stretch>
            <a:fillRect/>
          </a:stretch>
        </p:blipFill>
        <p:spPr>
          <a:xfrm>
            <a:off x="2653201" y="5503783"/>
            <a:ext cx="9394136" cy="416079"/>
          </a:xfrm>
          <a:prstGeom prst="rect">
            <a:avLst/>
          </a:prstGeom>
        </p:spPr>
      </p:pic>
      <p:sp>
        <p:nvSpPr>
          <p:cNvPr id="10" name="TextBox 9">
            <a:extLst>
              <a:ext uri="{FF2B5EF4-FFF2-40B4-BE49-F238E27FC236}">
                <a16:creationId xmlns:a16="http://schemas.microsoft.com/office/drawing/2014/main" id="{B63979AA-F2AF-1844-E3FC-4A97276DAD26}"/>
              </a:ext>
            </a:extLst>
          </p:cNvPr>
          <p:cNvSpPr txBox="1"/>
          <p:nvPr/>
        </p:nvSpPr>
        <p:spPr>
          <a:xfrm>
            <a:off x="5486404" y="1812720"/>
            <a:ext cx="3586495" cy="369332"/>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Thread-urile </a:t>
            </a:r>
            <a:r>
              <a:rPr lang="en-US" dirty="0" err="1"/>
              <a:t>producator</a:t>
            </a:r>
            <a:r>
              <a:rPr lang="en-US" dirty="0"/>
              <a:t> </a:t>
            </a:r>
            <a:r>
              <a:rPr lang="en-US" dirty="0" err="1"/>
              <a:t>executa</a:t>
            </a:r>
            <a:r>
              <a:rPr lang="en-US" dirty="0"/>
              <a:t> </a:t>
            </a:r>
            <a:r>
              <a:rPr lang="en-US" b="1" dirty="0"/>
              <a:t>put</a:t>
            </a:r>
            <a:endParaRPr lang="en-GB" b="1" dirty="0"/>
          </a:p>
        </p:txBody>
      </p:sp>
      <p:sp>
        <p:nvSpPr>
          <p:cNvPr id="11" name="TextBox 10">
            <a:extLst>
              <a:ext uri="{FF2B5EF4-FFF2-40B4-BE49-F238E27FC236}">
                <a16:creationId xmlns:a16="http://schemas.microsoft.com/office/drawing/2014/main" id="{B3021951-F21B-EA1C-CFDB-550AE5FE9E52}"/>
              </a:ext>
            </a:extLst>
          </p:cNvPr>
          <p:cNvSpPr txBox="1"/>
          <p:nvPr/>
        </p:nvSpPr>
        <p:spPr>
          <a:xfrm>
            <a:off x="6334387" y="4520744"/>
            <a:ext cx="3750514" cy="646331"/>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Thread-urile </a:t>
            </a:r>
            <a:r>
              <a:rPr lang="en-US" dirty="0" err="1"/>
              <a:t>producator</a:t>
            </a:r>
            <a:r>
              <a:rPr lang="en-US" dirty="0"/>
              <a:t> sunt </a:t>
            </a:r>
            <a:r>
              <a:rPr lang="en-US" dirty="0" err="1"/>
              <a:t>blocate</a:t>
            </a:r>
            <a:r>
              <a:rPr lang="en-US" dirty="0"/>
              <a:t>, </a:t>
            </a:r>
          </a:p>
          <a:p>
            <a:r>
              <a:rPr lang="en-US" dirty="0" err="1"/>
              <a:t>deoarece</a:t>
            </a:r>
            <a:r>
              <a:rPr lang="en-US" dirty="0"/>
              <a:t> nu </a:t>
            </a:r>
            <a:r>
              <a:rPr lang="en-US" dirty="0" err="1"/>
              <a:t>exista</a:t>
            </a:r>
            <a:r>
              <a:rPr lang="en-US" dirty="0"/>
              <a:t> </a:t>
            </a:r>
            <a:r>
              <a:rPr lang="en-US" dirty="0" err="1"/>
              <a:t>consumatori</a:t>
            </a:r>
            <a:endParaRPr lang="en-GB" dirty="0"/>
          </a:p>
        </p:txBody>
      </p:sp>
    </p:spTree>
    <p:extLst>
      <p:ext uri="{BB962C8B-B14F-4D97-AF65-F5344CB8AC3E}">
        <p14:creationId xmlns:p14="http://schemas.microsoft.com/office/powerpoint/2010/main" val="2357528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573A3-AD65-9822-A90D-AD93D8C3335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04ACE08-AA75-B4FC-9A3E-6FDFBC7C7E81}"/>
              </a:ext>
            </a:extLst>
          </p:cNvPr>
          <p:cNvSpPr txBox="1"/>
          <p:nvPr/>
        </p:nvSpPr>
        <p:spPr>
          <a:xfrm>
            <a:off x="0" y="142103"/>
            <a:ext cx="10410992" cy="1754326"/>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sz="2400" b="1" dirty="0" err="1"/>
              <a:t>CountDownLatch</a:t>
            </a:r>
            <a:r>
              <a:rPr lang="en-US" sz="2400" dirty="0"/>
              <a:t>  </a:t>
            </a:r>
            <a:r>
              <a:rPr lang="en-GB" sz="2400" dirty="0" err="1"/>
              <a:t>sincronizarea</a:t>
            </a:r>
            <a:r>
              <a:rPr lang="en-GB" sz="2400" dirty="0"/>
              <a:t> thread-</a:t>
            </a:r>
            <a:r>
              <a:rPr lang="en-GB" sz="2400" dirty="0" err="1"/>
              <a:t>urilor</a:t>
            </a:r>
            <a:r>
              <a:rPr lang="en-GB" sz="2400" dirty="0"/>
              <a:t> care au </a:t>
            </a:r>
            <a:r>
              <a:rPr lang="en-GB" sz="2400" dirty="0" err="1"/>
              <a:t>executat</a:t>
            </a:r>
            <a:r>
              <a:rPr lang="en-GB" sz="2400" dirty="0"/>
              <a:t> </a:t>
            </a:r>
            <a:r>
              <a:rPr lang="en-GB" sz="2400" dirty="0" err="1"/>
              <a:t>anumite</a:t>
            </a:r>
            <a:r>
              <a:rPr lang="en-GB" sz="2400" dirty="0"/>
              <a:t> task-</a:t>
            </a:r>
            <a:r>
              <a:rPr lang="en-GB" sz="2400" dirty="0" err="1"/>
              <a:t>uri</a:t>
            </a:r>
            <a:endParaRPr lang="en-GB" sz="2400" dirty="0"/>
          </a:p>
          <a:p>
            <a:pPr marL="285750" indent="-285750">
              <a:buFont typeface="Wingdings" panose="05000000000000000000" pitchFamily="2" charset="2"/>
              <a:buChar char="§"/>
            </a:pPr>
            <a:r>
              <a:rPr lang="en-GB" sz="2000" dirty="0"/>
              <a:t> la </a:t>
            </a:r>
            <a:r>
              <a:rPr lang="en-GB" sz="2000" dirty="0" err="1"/>
              <a:t>creare</a:t>
            </a:r>
            <a:r>
              <a:rPr lang="en-GB" sz="2000" dirty="0"/>
              <a:t> se </a:t>
            </a:r>
            <a:r>
              <a:rPr lang="en-GB" sz="2000" dirty="0" err="1"/>
              <a:t>transimte</a:t>
            </a:r>
            <a:r>
              <a:rPr lang="en-GB" sz="2000" dirty="0"/>
              <a:t> </a:t>
            </a:r>
            <a:r>
              <a:rPr lang="en-GB" sz="2000" dirty="0" err="1"/>
              <a:t>numarul</a:t>
            </a:r>
            <a:r>
              <a:rPr lang="en-GB" sz="2000" dirty="0"/>
              <a:t> de </a:t>
            </a:r>
            <a:r>
              <a:rPr lang="en-GB" sz="2000" dirty="0" err="1"/>
              <a:t>taskuri</a:t>
            </a:r>
            <a:r>
              <a:rPr lang="en-GB" sz="2000" dirty="0"/>
              <a:t>: </a:t>
            </a:r>
            <a:r>
              <a:rPr lang="en-GB" sz="2000" b="1" dirty="0"/>
              <a:t>latch =new </a:t>
            </a:r>
            <a:r>
              <a:rPr lang="en-GB" sz="2000" b="1" dirty="0" err="1"/>
              <a:t>CountDownLatch</a:t>
            </a:r>
            <a:r>
              <a:rPr lang="en-GB" sz="2000" b="1" dirty="0"/>
              <a:t>(n)</a:t>
            </a:r>
          </a:p>
          <a:p>
            <a:pPr marL="285750" indent="-285750">
              <a:buFont typeface="Wingdings" panose="05000000000000000000" pitchFamily="2" charset="2"/>
              <a:buChar char="§"/>
            </a:pPr>
            <a:r>
              <a:rPr lang="en-GB" sz="2000" dirty="0"/>
              <a:t> </a:t>
            </a:r>
            <a:r>
              <a:rPr lang="en-GB" sz="2000" dirty="0" err="1"/>
              <a:t>fiecare</a:t>
            </a:r>
            <a:r>
              <a:rPr lang="en-GB" sz="2000" dirty="0"/>
              <a:t> thread care </a:t>
            </a:r>
            <a:r>
              <a:rPr lang="en-GB" sz="2000" dirty="0" err="1"/>
              <a:t>executa</a:t>
            </a:r>
            <a:r>
              <a:rPr lang="en-GB" sz="2000" dirty="0"/>
              <a:t> un task </a:t>
            </a:r>
            <a:r>
              <a:rPr lang="en-GB" sz="2000" dirty="0" err="1"/>
              <a:t>decrementeaza</a:t>
            </a:r>
            <a:r>
              <a:rPr lang="en-GB" sz="2000" dirty="0"/>
              <a:t> </a:t>
            </a:r>
            <a:r>
              <a:rPr lang="en-GB" sz="2000" b="1" dirty="0"/>
              <a:t>n</a:t>
            </a:r>
            <a:r>
              <a:rPr lang="en-GB" sz="2000" dirty="0"/>
              <a:t> </a:t>
            </a:r>
            <a:r>
              <a:rPr lang="en-GB" sz="2000" dirty="0" err="1"/>
              <a:t>apeland</a:t>
            </a:r>
            <a:r>
              <a:rPr lang="en-GB" sz="2000" dirty="0"/>
              <a:t> </a:t>
            </a:r>
            <a:r>
              <a:rPr lang="en-GB" sz="2000" b="1" dirty="0" err="1"/>
              <a:t>latch.countDown</a:t>
            </a:r>
            <a:r>
              <a:rPr lang="en-GB" sz="2000" b="1" dirty="0"/>
              <a:t>()</a:t>
            </a:r>
            <a:r>
              <a:rPr lang="en-GB" sz="2000" dirty="0"/>
              <a:t>; </a:t>
            </a:r>
            <a:endParaRPr lang="en-GB" sz="2000" b="1" dirty="0"/>
          </a:p>
          <a:p>
            <a:pPr marL="285750" indent="-285750">
              <a:buFont typeface="Wingdings" panose="05000000000000000000" pitchFamily="2" charset="2"/>
              <a:buChar char="§"/>
            </a:pPr>
            <a:r>
              <a:rPr lang="en-GB" sz="2000" dirty="0"/>
              <a:t> thread-urile care </a:t>
            </a:r>
            <a:r>
              <a:rPr lang="en-GB" sz="2000" dirty="0" err="1"/>
              <a:t>apeleaza</a:t>
            </a:r>
            <a:r>
              <a:rPr lang="en-GB" sz="2000" dirty="0"/>
              <a:t> </a:t>
            </a:r>
            <a:r>
              <a:rPr lang="en-GB" sz="2000" b="1" dirty="0" err="1"/>
              <a:t>latch.await</a:t>
            </a:r>
            <a:r>
              <a:rPr lang="en-GB" sz="2000" b="1" dirty="0"/>
              <a:t>() </a:t>
            </a:r>
            <a:r>
              <a:rPr lang="en-GB" sz="2000" dirty="0"/>
              <a:t>sunt </a:t>
            </a:r>
            <a:r>
              <a:rPr lang="en-GB" sz="2000" dirty="0" err="1"/>
              <a:t>blocate</a:t>
            </a:r>
            <a:r>
              <a:rPr lang="en-GB" sz="2000" dirty="0"/>
              <a:t> </a:t>
            </a:r>
            <a:r>
              <a:rPr lang="en-GB" sz="2000" dirty="0" err="1"/>
              <a:t>pana</a:t>
            </a:r>
            <a:r>
              <a:rPr lang="en-GB" sz="2000" dirty="0"/>
              <a:t> cand  </a:t>
            </a:r>
            <a:r>
              <a:rPr lang="en-GB" sz="2000" b="1" dirty="0"/>
              <a:t>n=0 </a:t>
            </a:r>
            <a:r>
              <a:rPr lang="en-GB" sz="2000" dirty="0"/>
              <a:t> </a:t>
            </a:r>
          </a:p>
          <a:p>
            <a:r>
              <a:rPr lang="en-GB" sz="2400" dirty="0"/>
              <a:t>    </a:t>
            </a:r>
            <a:endParaRPr lang="en-US" b="1" dirty="0"/>
          </a:p>
        </p:txBody>
      </p:sp>
      <p:sp>
        <p:nvSpPr>
          <p:cNvPr id="3" name="TextBox 2">
            <a:extLst>
              <a:ext uri="{FF2B5EF4-FFF2-40B4-BE49-F238E27FC236}">
                <a16:creationId xmlns:a16="http://schemas.microsoft.com/office/drawing/2014/main" id="{B40B952F-52BB-FE60-10DF-90BD3BC0B68D}"/>
              </a:ext>
            </a:extLst>
          </p:cNvPr>
          <p:cNvSpPr txBox="1"/>
          <p:nvPr/>
        </p:nvSpPr>
        <p:spPr>
          <a:xfrm>
            <a:off x="598468" y="2081095"/>
            <a:ext cx="10290249" cy="347787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dirty="0"/>
              <a:t>class TaskE implements Runnable {</a:t>
            </a:r>
          </a:p>
          <a:p>
            <a:r>
              <a:rPr lang="en-GB" sz="2000" dirty="0"/>
              <a:t>     private  </a:t>
            </a:r>
            <a:r>
              <a:rPr lang="en-GB" sz="2000" dirty="0" err="1"/>
              <a:t>AtomicInteger</a:t>
            </a:r>
            <a:r>
              <a:rPr lang="en-GB" sz="2000" dirty="0"/>
              <a:t> counter;   </a:t>
            </a:r>
          </a:p>
          <a:p>
            <a:r>
              <a:rPr lang="en-GB" sz="2000" dirty="0"/>
              <a:t>     private  </a:t>
            </a:r>
            <a:r>
              <a:rPr lang="en-GB" sz="2000" b="1" dirty="0" err="1"/>
              <a:t>CountDownLatch</a:t>
            </a:r>
            <a:r>
              <a:rPr lang="en-GB" sz="2000" b="1" dirty="0"/>
              <a:t> controller</a:t>
            </a:r>
            <a:r>
              <a:rPr lang="en-GB" sz="2000" dirty="0"/>
              <a:t>;</a:t>
            </a:r>
          </a:p>
          <a:p>
            <a:r>
              <a:rPr lang="en-GB" sz="2000" dirty="0"/>
              <a:t>     TaskE (</a:t>
            </a:r>
            <a:r>
              <a:rPr lang="en-GB" sz="2000" dirty="0" err="1"/>
              <a:t>CountDownLatch</a:t>
            </a:r>
            <a:r>
              <a:rPr lang="en-GB" sz="2000" dirty="0"/>
              <a:t> c, </a:t>
            </a:r>
            <a:r>
              <a:rPr lang="en-GB" sz="2000" dirty="0" err="1"/>
              <a:t>AtomicInteger</a:t>
            </a:r>
            <a:r>
              <a:rPr lang="en-GB" sz="2000" dirty="0"/>
              <a:t> counter){</a:t>
            </a:r>
            <a:r>
              <a:rPr lang="en-GB" sz="2000" dirty="0" err="1"/>
              <a:t>this.controller</a:t>
            </a:r>
            <a:r>
              <a:rPr lang="en-GB" sz="2000" dirty="0"/>
              <a:t> = c; </a:t>
            </a:r>
            <a:r>
              <a:rPr lang="en-GB" sz="2000" dirty="0" err="1"/>
              <a:t>this.counter</a:t>
            </a:r>
            <a:r>
              <a:rPr lang="en-GB" sz="2000" dirty="0"/>
              <a:t> =counter;}</a:t>
            </a:r>
          </a:p>
          <a:p>
            <a:r>
              <a:rPr lang="en-GB" sz="2000" dirty="0"/>
              <a:t>     </a:t>
            </a:r>
          </a:p>
          <a:p>
            <a:r>
              <a:rPr lang="en-GB" sz="2000" dirty="0"/>
              <a:t>public void run () {</a:t>
            </a:r>
          </a:p>
          <a:p>
            <a:r>
              <a:rPr lang="en-GB" sz="2000" dirty="0"/>
              <a:t>            for (int </a:t>
            </a:r>
            <a:r>
              <a:rPr lang="en-GB" sz="2000" dirty="0" err="1"/>
              <a:t>i</a:t>
            </a:r>
            <a:r>
              <a:rPr lang="en-GB" sz="2000" dirty="0"/>
              <a:t> = 0; </a:t>
            </a:r>
            <a:r>
              <a:rPr lang="en-GB" sz="2000" dirty="0" err="1"/>
              <a:t>i</a:t>
            </a:r>
            <a:r>
              <a:rPr lang="en-GB" sz="2000" dirty="0"/>
              <a:t> &lt; 100; </a:t>
            </a:r>
            <a:r>
              <a:rPr lang="en-GB" sz="2000" dirty="0" err="1"/>
              <a:t>i</a:t>
            </a:r>
            <a:r>
              <a:rPr lang="en-GB" sz="2000" dirty="0"/>
              <a:t>++) {</a:t>
            </a:r>
            <a:r>
              <a:rPr lang="en-GB" sz="2000" dirty="0" err="1"/>
              <a:t>counter.incrementAndGet</a:t>
            </a:r>
            <a:r>
              <a:rPr lang="en-GB" sz="2000" dirty="0"/>
              <a:t>();}</a:t>
            </a:r>
          </a:p>
          <a:p>
            <a:r>
              <a:rPr lang="en-GB" sz="2000" dirty="0"/>
              <a:t>           </a:t>
            </a:r>
          </a:p>
          <a:p>
            <a:r>
              <a:rPr lang="en-GB" sz="2000" b="1" dirty="0"/>
              <a:t>           </a:t>
            </a:r>
            <a:r>
              <a:rPr lang="en-GB" sz="2000" b="1" dirty="0" err="1"/>
              <a:t>controller.countDown</a:t>
            </a:r>
            <a:r>
              <a:rPr lang="en-GB" sz="2000" b="1" dirty="0"/>
              <a:t>();</a:t>
            </a:r>
          </a:p>
          <a:p>
            <a:r>
              <a:rPr lang="en-GB" sz="2000" dirty="0"/>
              <a:t>           </a:t>
            </a:r>
          </a:p>
          <a:p>
            <a:r>
              <a:rPr lang="en-GB" sz="2000" dirty="0"/>
              <a:t>           for (int </a:t>
            </a:r>
            <a:r>
              <a:rPr lang="en-GB" sz="2000" dirty="0" err="1"/>
              <a:t>i</a:t>
            </a:r>
            <a:r>
              <a:rPr lang="en-GB" sz="2000" dirty="0"/>
              <a:t> = 0; </a:t>
            </a:r>
            <a:r>
              <a:rPr lang="en-GB" sz="2000" dirty="0" err="1"/>
              <a:t>i</a:t>
            </a:r>
            <a:r>
              <a:rPr lang="en-GB" sz="2000" dirty="0"/>
              <a:t> &lt; 1000; </a:t>
            </a:r>
            <a:r>
              <a:rPr lang="en-GB" sz="2000" dirty="0" err="1"/>
              <a:t>i</a:t>
            </a:r>
            <a:r>
              <a:rPr lang="en-GB" sz="2000" dirty="0"/>
              <a:t>++) { </a:t>
            </a:r>
            <a:r>
              <a:rPr lang="en-GB" sz="2000" dirty="0" err="1"/>
              <a:t>counter.incrementAndGet</a:t>
            </a:r>
            <a:r>
              <a:rPr lang="en-GB" sz="2000" dirty="0"/>
              <a:t>();} } </a:t>
            </a:r>
          </a:p>
        </p:txBody>
      </p:sp>
      <p:sp>
        <p:nvSpPr>
          <p:cNvPr id="10" name="TextBox 9">
            <a:extLst>
              <a:ext uri="{FF2B5EF4-FFF2-40B4-BE49-F238E27FC236}">
                <a16:creationId xmlns:a16="http://schemas.microsoft.com/office/drawing/2014/main" id="{668F737F-A189-AF06-B91F-B5A0F8B6CDE3}"/>
              </a:ext>
            </a:extLst>
          </p:cNvPr>
          <p:cNvSpPr txBox="1"/>
          <p:nvPr/>
        </p:nvSpPr>
        <p:spPr>
          <a:xfrm>
            <a:off x="7642101" y="3626869"/>
            <a:ext cx="4226606" cy="1323439"/>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t>Task-ul </a:t>
            </a:r>
            <a:r>
              <a:rPr lang="en-US" sz="2000" dirty="0" err="1"/>
              <a:t>executat</a:t>
            </a:r>
            <a:r>
              <a:rPr lang="en-US" sz="2000" dirty="0"/>
              <a:t> de </a:t>
            </a:r>
            <a:r>
              <a:rPr lang="en-US" sz="2000" dirty="0" err="1"/>
              <a:t>fiecare</a:t>
            </a:r>
            <a:r>
              <a:rPr lang="en-US" sz="2000" dirty="0"/>
              <a:t> thread </a:t>
            </a:r>
          </a:p>
          <a:p>
            <a:r>
              <a:rPr lang="en-US" sz="2000" dirty="0" err="1"/>
              <a:t>Incrementeaza</a:t>
            </a:r>
            <a:r>
              <a:rPr lang="en-US" sz="2000" dirty="0"/>
              <a:t> un </a:t>
            </a:r>
            <a:r>
              <a:rPr lang="en-US" sz="2000" dirty="0" err="1"/>
              <a:t>contor</a:t>
            </a:r>
            <a:r>
              <a:rPr lang="en-US" sz="2000" dirty="0"/>
              <a:t> </a:t>
            </a:r>
            <a:r>
              <a:rPr lang="en-US" sz="2000" dirty="0" err="1"/>
              <a:t>si</a:t>
            </a:r>
            <a:r>
              <a:rPr lang="en-US" sz="2000" dirty="0"/>
              <a:t> </a:t>
            </a:r>
            <a:r>
              <a:rPr lang="en-US" sz="2000" dirty="0" err="1"/>
              <a:t>semnaleza</a:t>
            </a:r>
            <a:r>
              <a:rPr lang="en-US" sz="2000" dirty="0"/>
              <a:t> </a:t>
            </a:r>
          </a:p>
          <a:p>
            <a:r>
              <a:rPr lang="en-US" sz="2000" dirty="0" err="1"/>
              <a:t>prin</a:t>
            </a:r>
            <a:r>
              <a:rPr lang="en-US" sz="2000" dirty="0"/>
              <a:t> controller cand a </a:t>
            </a:r>
            <a:r>
              <a:rPr lang="en-US" sz="2000" dirty="0" err="1"/>
              <a:t>incrementat</a:t>
            </a:r>
            <a:r>
              <a:rPr lang="en-US" sz="2000" dirty="0"/>
              <a:t> </a:t>
            </a:r>
          </a:p>
          <a:p>
            <a:r>
              <a:rPr lang="en-US" sz="2000" dirty="0"/>
              <a:t>de 100 de </a:t>
            </a:r>
            <a:r>
              <a:rPr lang="en-US" sz="2000" dirty="0" err="1"/>
              <a:t>ori</a:t>
            </a:r>
            <a:r>
              <a:rPr lang="en-US" sz="2000" dirty="0"/>
              <a:t> </a:t>
            </a:r>
            <a:endParaRPr lang="en-GB" sz="2000" dirty="0"/>
          </a:p>
        </p:txBody>
      </p:sp>
    </p:spTree>
    <p:extLst>
      <p:ext uri="{BB962C8B-B14F-4D97-AF65-F5344CB8AC3E}">
        <p14:creationId xmlns:p14="http://schemas.microsoft.com/office/powerpoint/2010/main" val="167123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27A9D-A99C-3F2F-8825-333E02E96C5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2A554B1-0DD9-184C-8A6F-64A376411CEA}"/>
              </a:ext>
            </a:extLst>
          </p:cNvPr>
          <p:cNvSpPr txBox="1"/>
          <p:nvPr/>
        </p:nvSpPr>
        <p:spPr>
          <a:xfrm>
            <a:off x="216243" y="142103"/>
            <a:ext cx="10410992" cy="2031325"/>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sz="2400" b="1" dirty="0" err="1"/>
              <a:t>CountDownLatch</a:t>
            </a:r>
            <a:r>
              <a:rPr lang="en-US" sz="2400" dirty="0"/>
              <a:t>  </a:t>
            </a:r>
            <a:r>
              <a:rPr lang="en-GB" sz="2400" dirty="0" err="1"/>
              <a:t>sincronizarea</a:t>
            </a:r>
            <a:r>
              <a:rPr lang="en-GB" sz="2400" dirty="0"/>
              <a:t> thread-</a:t>
            </a:r>
            <a:r>
              <a:rPr lang="en-GB" sz="2400" dirty="0" err="1"/>
              <a:t>urilor</a:t>
            </a:r>
            <a:r>
              <a:rPr lang="en-GB" sz="2400" dirty="0"/>
              <a:t> care au </a:t>
            </a:r>
            <a:r>
              <a:rPr lang="en-GB" sz="2400" dirty="0" err="1"/>
              <a:t>executat</a:t>
            </a:r>
            <a:r>
              <a:rPr lang="en-GB" sz="2400" dirty="0"/>
              <a:t> </a:t>
            </a:r>
            <a:r>
              <a:rPr lang="en-GB" sz="2400" dirty="0" err="1"/>
              <a:t>anumite</a:t>
            </a:r>
            <a:r>
              <a:rPr lang="en-GB" sz="2400" dirty="0"/>
              <a:t> task-</a:t>
            </a:r>
            <a:r>
              <a:rPr lang="en-GB" sz="2400" dirty="0" err="1"/>
              <a:t>uri</a:t>
            </a:r>
            <a:endParaRPr lang="en-GB" sz="2400" dirty="0"/>
          </a:p>
          <a:p>
            <a:pPr marL="285750" indent="-285750">
              <a:buFont typeface="Wingdings" panose="05000000000000000000" pitchFamily="2" charset="2"/>
              <a:buChar char="§"/>
            </a:pPr>
            <a:r>
              <a:rPr lang="en-GB" sz="2400" dirty="0"/>
              <a:t> </a:t>
            </a:r>
            <a:r>
              <a:rPr lang="en-GB" sz="2000" dirty="0"/>
              <a:t>la </a:t>
            </a:r>
            <a:r>
              <a:rPr lang="en-GB" sz="2000" dirty="0" err="1"/>
              <a:t>creare</a:t>
            </a:r>
            <a:r>
              <a:rPr lang="en-GB" sz="2000" dirty="0"/>
              <a:t> se </a:t>
            </a:r>
            <a:r>
              <a:rPr lang="en-GB" sz="2000" dirty="0" err="1"/>
              <a:t>transimte</a:t>
            </a:r>
            <a:r>
              <a:rPr lang="en-GB" sz="2000" dirty="0"/>
              <a:t> </a:t>
            </a:r>
            <a:r>
              <a:rPr lang="en-GB" sz="2000" dirty="0" err="1"/>
              <a:t>numarul</a:t>
            </a:r>
            <a:r>
              <a:rPr lang="en-GB" sz="2000" dirty="0"/>
              <a:t> de </a:t>
            </a:r>
            <a:r>
              <a:rPr lang="en-GB" sz="2000" dirty="0" err="1"/>
              <a:t>taskuri</a:t>
            </a:r>
            <a:r>
              <a:rPr lang="en-GB" sz="2000" dirty="0"/>
              <a:t>: </a:t>
            </a:r>
            <a:r>
              <a:rPr lang="en-GB" sz="2000" b="1" dirty="0"/>
              <a:t>latch =new </a:t>
            </a:r>
            <a:r>
              <a:rPr lang="en-GB" sz="2000" b="1" dirty="0" err="1"/>
              <a:t>CountDownLatch</a:t>
            </a:r>
            <a:r>
              <a:rPr lang="en-GB" sz="2000" b="1" dirty="0"/>
              <a:t>(n)</a:t>
            </a:r>
          </a:p>
          <a:p>
            <a:pPr marL="285750" indent="-285750">
              <a:buFont typeface="Wingdings" panose="05000000000000000000" pitchFamily="2" charset="2"/>
              <a:buChar char="§"/>
            </a:pPr>
            <a:r>
              <a:rPr lang="en-GB" sz="2000" dirty="0"/>
              <a:t> </a:t>
            </a:r>
            <a:r>
              <a:rPr lang="en-GB" sz="2000" dirty="0" err="1"/>
              <a:t>fiecare</a:t>
            </a:r>
            <a:r>
              <a:rPr lang="en-GB" sz="2000" dirty="0"/>
              <a:t> thread care </a:t>
            </a:r>
            <a:r>
              <a:rPr lang="en-GB" sz="2000" dirty="0" err="1"/>
              <a:t>executa</a:t>
            </a:r>
            <a:r>
              <a:rPr lang="en-GB" sz="2000" dirty="0"/>
              <a:t> un task </a:t>
            </a:r>
            <a:r>
              <a:rPr lang="en-GB" sz="2000" dirty="0" err="1"/>
              <a:t>decrementeaza</a:t>
            </a:r>
            <a:r>
              <a:rPr lang="en-GB" sz="2000" dirty="0"/>
              <a:t> </a:t>
            </a:r>
            <a:r>
              <a:rPr lang="en-GB" sz="2000" b="1" dirty="0"/>
              <a:t>n</a:t>
            </a:r>
            <a:r>
              <a:rPr lang="en-GB" sz="2000" dirty="0"/>
              <a:t> </a:t>
            </a:r>
            <a:r>
              <a:rPr lang="en-GB" sz="2000" dirty="0" err="1"/>
              <a:t>apeland</a:t>
            </a:r>
            <a:r>
              <a:rPr lang="en-GB" sz="2000" dirty="0"/>
              <a:t> </a:t>
            </a:r>
            <a:r>
              <a:rPr lang="en-GB" sz="2000" b="1" dirty="0" err="1"/>
              <a:t>latch.countDown</a:t>
            </a:r>
            <a:r>
              <a:rPr lang="en-GB" sz="2000" b="1" dirty="0"/>
              <a:t>()</a:t>
            </a:r>
            <a:r>
              <a:rPr lang="en-GB" sz="2000" dirty="0"/>
              <a:t>; </a:t>
            </a:r>
            <a:endParaRPr lang="en-GB" sz="2000" b="1" dirty="0"/>
          </a:p>
          <a:p>
            <a:pPr marL="285750" indent="-285750">
              <a:buFont typeface="Wingdings" panose="05000000000000000000" pitchFamily="2" charset="2"/>
              <a:buChar char="§"/>
            </a:pPr>
            <a:r>
              <a:rPr lang="en-GB" sz="2000" dirty="0"/>
              <a:t> thread-urile care </a:t>
            </a:r>
            <a:r>
              <a:rPr lang="en-GB" sz="2000" dirty="0" err="1"/>
              <a:t>apeleaza</a:t>
            </a:r>
            <a:r>
              <a:rPr lang="en-GB" sz="2000" dirty="0"/>
              <a:t> </a:t>
            </a:r>
            <a:r>
              <a:rPr lang="en-GB" sz="2000" b="1" dirty="0" err="1"/>
              <a:t>latch.await</a:t>
            </a:r>
            <a:r>
              <a:rPr lang="en-GB" sz="2000" b="1" dirty="0"/>
              <a:t>() </a:t>
            </a:r>
            <a:r>
              <a:rPr lang="en-GB" sz="2000" dirty="0"/>
              <a:t>sunt </a:t>
            </a:r>
            <a:r>
              <a:rPr lang="en-GB" sz="2000" dirty="0" err="1"/>
              <a:t>blocate</a:t>
            </a:r>
            <a:r>
              <a:rPr lang="en-GB" sz="2000" dirty="0"/>
              <a:t> </a:t>
            </a:r>
            <a:r>
              <a:rPr lang="en-GB" sz="2000" dirty="0" err="1"/>
              <a:t>pana</a:t>
            </a:r>
            <a:r>
              <a:rPr lang="en-GB" sz="2000" dirty="0"/>
              <a:t> cand  </a:t>
            </a:r>
            <a:r>
              <a:rPr lang="en-GB" sz="2000" b="1" dirty="0"/>
              <a:t>n=0 </a:t>
            </a:r>
            <a:r>
              <a:rPr lang="en-GB" sz="2000" dirty="0"/>
              <a:t> </a:t>
            </a:r>
          </a:p>
          <a:p>
            <a:endParaRPr lang="en-GB" sz="2000" dirty="0"/>
          </a:p>
          <a:p>
            <a:endParaRPr lang="en-US" b="1" dirty="0"/>
          </a:p>
        </p:txBody>
      </p:sp>
      <p:sp>
        <p:nvSpPr>
          <p:cNvPr id="3" name="TextBox 2">
            <a:extLst>
              <a:ext uri="{FF2B5EF4-FFF2-40B4-BE49-F238E27FC236}">
                <a16:creationId xmlns:a16="http://schemas.microsoft.com/office/drawing/2014/main" id="{1D2E0120-1FB9-F387-4557-CACF0C7A6BB7}"/>
              </a:ext>
            </a:extLst>
          </p:cNvPr>
          <p:cNvSpPr txBox="1"/>
          <p:nvPr/>
        </p:nvSpPr>
        <p:spPr>
          <a:xfrm>
            <a:off x="677503" y="2105561"/>
            <a:ext cx="10290249" cy="4093428"/>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dirty="0"/>
              <a:t>public static void main (String[] </a:t>
            </a:r>
            <a:r>
              <a:rPr lang="en-GB" sz="2000" dirty="0" err="1"/>
              <a:t>args</a:t>
            </a:r>
            <a:r>
              <a:rPr lang="en-GB" sz="2000" dirty="0"/>
              <a:t>) throws </a:t>
            </a:r>
            <a:r>
              <a:rPr lang="en-GB" sz="2000" dirty="0" err="1"/>
              <a:t>InterruptedException</a:t>
            </a:r>
            <a:r>
              <a:rPr lang="en-GB" sz="2000" dirty="0"/>
              <a:t>  {</a:t>
            </a:r>
          </a:p>
          <a:p>
            <a:r>
              <a:rPr lang="en-GB" sz="2000" dirty="0"/>
              <a:t>        </a:t>
            </a:r>
            <a:r>
              <a:rPr lang="en-GB" sz="2000" b="1" dirty="0" err="1"/>
              <a:t>CountDownLatch</a:t>
            </a:r>
            <a:r>
              <a:rPr lang="en-GB" sz="2000" b="1" dirty="0"/>
              <a:t> controller = new </a:t>
            </a:r>
            <a:r>
              <a:rPr lang="en-GB" sz="2000" b="1" dirty="0" err="1"/>
              <a:t>CountDownLatch</a:t>
            </a:r>
            <a:r>
              <a:rPr lang="en-GB" sz="2000" b="1" dirty="0"/>
              <a:t>(3);</a:t>
            </a:r>
          </a:p>
          <a:p>
            <a:r>
              <a:rPr lang="en-GB" sz="2000" dirty="0"/>
              <a:t>        </a:t>
            </a:r>
          </a:p>
          <a:p>
            <a:r>
              <a:rPr lang="en-GB" sz="2000" dirty="0"/>
              <a:t>       </a:t>
            </a:r>
            <a:r>
              <a:rPr lang="en-GB" sz="2000" dirty="0" err="1"/>
              <a:t>ExecutorService</a:t>
            </a:r>
            <a:r>
              <a:rPr lang="en-GB" sz="2000" dirty="0"/>
              <a:t> pool = </a:t>
            </a:r>
            <a:r>
              <a:rPr lang="en-GB" sz="2000" dirty="0" err="1"/>
              <a:t>Executors.newCachedThreadPool</a:t>
            </a:r>
            <a:r>
              <a:rPr lang="en-GB" sz="2000" dirty="0"/>
              <a:t>();</a:t>
            </a:r>
          </a:p>
          <a:p>
            <a:r>
              <a:rPr lang="en-GB" sz="2000" dirty="0"/>
              <a:t>        </a:t>
            </a:r>
            <a:r>
              <a:rPr lang="en-GB" sz="2000" dirty="0" err="1"/>
              <a:t>AtomicInteger</a:t>
            </a:r>
            <a:r>
              <a:rPr lang="en-GB" sz="2000" dirty="0"/>
              <a:t> counter = new </a:t>
            </a:r>
            <a:r>
              <a:rPr lang="en-GB" sz="2000" dirty="0" err="1"/>
              <a:t>AtomicInteger</a:t>
            </a:r>
            <a:r>
              <a:rPr lang="en-GB" sz="2000" dirty="0"/>
              <a:t>(0);</a:t>
            </a:r>
          </a:p>
          <a:p>
            <a:r>
              <a:rPr lang="en-GB" sz="2000" dirty="0"/>
              <a:t>       </a:t>
            </a:r>
          </a:p>
          <a:p>
            <a:r>
              <a:rPr lang="en-GB" sz="2000" dirty="0"/>
              <a:t>       for(int </a:t>
            </a:r>
            <a:r>
              <a:rPr lang="en-GB" sz="2000" dirty="0" err="1"/>
              <a:t>i</a:t>
            </a:r>
            <a:r>
              <a:rPr lang="en-GB" sz="2000" dirty="0"/>
              <a:t>=0;i&lt;3;i++) {</a:t>
            </a:r>
            <a:r>
              <a:rPr lang="en-GB" sz="2000" dirty="0" err="1"/>
              <a:t>pool.execute</a:t>
            </a:r>
            <a:r>
              <a:rPr lang="en-GB" sz="2000" dirty="0"/>
              <a:t>(new TaskE(</a:t>
            </a:r>
            <a:r>
              <a:rPr lang="en-GB" sz="2000" dirty="0" err="1"/>
              <a:t>controller,counter</a:t>
            </a:r>
            <a:r>
              <a:rPr lang="en-GB" sz="2000" dirty="0"/>
              <a:t>));};</a:t>
            </a:r>
          </a:p>
          <a:p>
            <a:endParaRPr lang="en-GB" sz="2000" dirty="0"/>
          </a:p>
          <a:p>
            <a:r>
              <a:rPr lang="en-GB" sz="2000" dirty="0"/>
              <a:t>      </a:t>
            </a:r>
            <a:r>
              <a:rPr lang="en-GB" sz="2000" b="1" dirty="0"/>
              <a:t>  </a:t>
            </a:r>
            <a:r>
              <a:rPr lang="en-GB" sz="2000" b="1" dirty="0" err="1"/>
              <a:t>controller.await</a:t>
            </a:r>
            <a:r>
              <a:rPr lang="en-GB" sz="2000" b="1" dirty="0"/>
              <a:t>();</a:t>
            </a:r>
            <a:r>
              <a:rPr lang="en-GB" sz="2000" dirty="0"/>
              <a:t>  </a:t>
            </a:r>
          </a:p>
          <a:p>
            <a:r>
              <a:rPr lang="en-GB" sz="2000" dirty="0"/>
              <a:t> </a:t>
            </a:r>
          </a:p>
          <a:p>
            <a:r>
              <a:rPr lang="en-GB" sz="2000" dirty="0"/>
              <a:t>        </a:t>
            </a:r>
            <a:r>
              <a:rPr lang="en-GB" sz="2000" dirty="0" err="1"/>
              <a:t>System.out.println</a:t>
            </a:r>
            <a:r>
              <a:rPr lang="en-GB" sz="2000" dirty="0"/>
              <a:t>(counter);</a:t>
            </a:r>
          </a:p>
          <a:p>
            <a:r>
              <a:rPr lang="en-GB" sz="2000" dirty="0"/>
              <a:t>        </a:t>
            </a:r>
            <a:r>
              <a:rPr lang="en-GB" sz="2000" dirty="0" err="1"/>
              <a:t>pool.shutdown</a:t>
            </a:r>
            <a:r>
              <a:rPr lang="en-GB" sz="2000" dirty="0"/>
              <a:t>();                 </a:t>
            </a:r>
            <a:r>
              <a:rPr lang="en-GB" sz="2000" i="1" dirty="0"/>
              <a:t>// try {if  (!</a:t>
            </a:r>
            <a:r>
              <a:rPr lang="en-GB" sz="2000" i="1" dirty="0" err="1"/>
              <a:t>pool.awaitTermination</a:t>
            </a:r>
            <a:r>
              <a:rPr lang="en-GB" sz="2000" i="1" dirty="0"/>
              <a:t>() ){</a:t>
            </a:r>
            <a:r>
              <a:rPr lang="en-GB" sz="2000" i="1" dirty="0" err="1"/>
              <a:t>pool.shutdownNow</a:t>
            </a:r>
            <a:r>
              <a:rPr lang="en-GB" sz="2000" i="1" dirty="0"/>
              <a:t>} catch{}</a:t>
            </a:r>
          </a:p>
          <a:p>
            <a:r>
              <a:rPr lang="en-GB" sz="2000" dirty="0"/>
              <a:t>        </a:t>
            </a:r>
            <a:r>
              <a:rPr lang="en-GB" sz="2000" dirty="0" err="1"/>
              <a:t>System.out.println</a:t>
            </a:r>
            <a:r>
              <a:rPr lang="en-GB" sz="2000" dirty="0"/>
              <a:t>(counter);}</a:t>
            </a:r>
          </a:p>
        </p:txBody>
      </p:sp>
      <p:sp>
        <p:nvSpPr>
          <p:cNvPr id="10" name="TextBox 9">
            <a:extLst>
              <a:ext uri="{FF2B5EF4-FFF2-40B4-BE49-F238E27FC236}">
                <a16:creationId xmlns:a16="http://schemas.microsoft.com/office/drawing/2014/main" id="{39C80438-7A2B-C665-4A8D-86C28371B46D}"/>
              </a:ext>
            </a:extLst>
          </p:cNvPr>
          <p:cNvSpPr txBox="1"/>
          <p:nvPr/>
        </p:nvSpPr>
        <p:spPr>
          <a:xfrm>
            <a:off x="8441387" y="2452402"/>
            <a:ext cx="577402" cy="400110"/>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b="1" dirty="0"/>
              <a:t>n=3</a:t>
            </a:r>
          </a:p>
        </p:txBody>
      </p:sp>
      <p:sp>
        <p:nvSpPr>
          <p:cNvPr id="2" name="TextBox 1">
            <a:extLst>
              <a:ext uri="{FF2B5EF4-FFF2-40B4-BE49-F238E27FC236}">
                <a16:creationId xmlns:a16="http://schemas.microsoft.com/office/drawing/2014/main" id="{6B82C4D4-C897-42A0-3828-85F569F66332}"/>
              </a:ext>
            </a:extLst>
          </p:cNvPr>
          <p:cNvSpPr txBox="1"/>
          <p:nvPr/>
        </p:nvSpPr>
        <p:spPr>
          <a:xfrm>
            <a:off x="5110480" y="4492804"/>
            <a:ext cx="4270015" cy="646331"/>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in </a:t>
            </a:r>
            <a:r>
              <a:rPr lang="en-US" dirty="0" err="1"/>
              <a:t>acest</a:t>
            </a:r>
            <a:r>
              <a:rPr lang="en-US" dirty="0"/>
              <a:t> </a:t>
            </a:r>
            <a:r>
              <a:rPr lang="en-US" dirty="0" err="1"/>
              <a:t>exemplu</a:t>
            </a:r>
            <a:r>
              <a:rPr lang="en-US" dirty="0"/>
              <a:t> </a:t>
            </a:r>
            <a:r>
              <a:rPr lang="en-US" dirty="0" err="1"/>
              <a:t>dorim</a:t>
            </a:r>
            <a:r>
              <a:rPr lang="en-US" dirty="0"/>
              <a:t> </a:t>
            </a:r>
            <a:r>
              <a:rPr lang="en-US" dirty="0" err="1"/>
              <a:t>sa</a:t>
            </a:r>
            <a:r>
              <a:rPr lang="en-US" dirty="0"/>
              <a:t> stim cand </a:t>
            </a:r>
            <a:r>
              <a:rPr lang="en-US" dirty="0" err="1"/>
              <a:t>fiecare</a:t>
            </a:r>
            <a:endParaRPr lang="en-US" dirty="0"/>
          </a:p>
          <a:p>
            <a:r>
              <a:rPr lang="en-US" dirty="0"/>
              <a:t>a </a:t>
            </a:r>
            <a:r>
              <a:rPr lang="en-US" dirty="0" err="1"/>
              <a:t>incrementat</a:t>
            </a:r>
            <a:r>
              <a:rPr lang="en-US" dirty="0"/>
              <a:t> </a:t>
            </a:r>
            <a:r>
              <a:rPr lang="en-US" dirty="0" err="1"/>
              <a:t>contorul</a:t>
            </a:r>
            <a:r>
              <a:rPr lang="en-US" dirty="0"/>
              <a:t> de 100 de </a:t>
            </a:r>
            <a:r>
              <a:rPr lang="en-US" dirty="0" err="1"/>
              <a:t>ori</a:t>
            </a:r>
            <a:endParaRPr lang="en-GB" dirty="0"/>
          </a:p>
        </p:txBody>
      </p:sp>
    </p:spTree>
    <p:extLst>
      <p:ext uri="{BB962C8B-B14F-4D97-AF65-F5344CB8AC3E}">
        <p14:creationId xmlns:p14="http://schemas.microsoft.com/office/powerpoint/2010/main" val="2381500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9D251-81FC-1B2D-EFB9-D125BE7263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8614109-91FD-B11F-56E8-90CE9F8EA352}"/>
              </a:ext>
            </a:extLst>
          </p:cNvPr>
          <p:cNvSpPr txBox="1"/>
          <p:nvPr/>
        </p:nvSpPr>
        <p:spPr>
          <a:xfrm>
            <a:off x="216243" y="142103"/>
            <a:ext cx="2718245" cy="738664"/>
          </a:xfrm>
          <a:prstGeom prst="rect">
            <a:avLst/>
          </a:prstGeom>
          <a:noFill/>
        </p:spPr>
        <p:txBody>
          <a:bodyPr wrap="none" rtlCol="0">
            <a:spAutoFit/>
          </a:bodyPr>
          <a:lstStyle/>
          <a:p>
            <a:pPr marL="285750" indent="-285750">
              <a:buFont typeface="Wingdings" panose="05000000000000000000" pitchFamily="2" charset="2"/>
              <a:buChar char="Ø"/>
            </a:pPr>
            <a:r>
              <a:rPr lang="en-US" dirty="0"/>
              <a:t> </a:t>
            </a:r>
            <a:r>
              <a:rPr lang="en-US" sz="2400" b="1" dirty="0" err="1"/>
              <a:t>CountDownLatch</a:t>
            </a:r>
            <a:endParaRPr lang="en-GB" dirty="0"/>
          </a:p>
          <a:p>
            <a:endParaRPr lang="en-US" b="1" dirty="0"/>
          </a:p>
        </p:txBody>
      </p:sp>
      <p:sp>
        <p:nvSpPr>
          <p:cNvPr id="3" name="TextBox 2">
            <a:extLst>
              <a:ext uri="{FF2B5EF4-FFF2-40B4-BE49-F238E27FC236}">
                <a16:creationId xmlns:a16="http://schemas.microsoft.com/office/drawing/2014/main" id="{1B09E1F8-BEE9-C4D2-15DD-2EDDB1DA3261}"/>
              </a:ext>
            </a:extLst>
          </p:cNvPr>
          <p:cNvSpPr txBox="1"/>
          <p:nvPr/>
        </p:nvSpPr>
        <p:spPr>
          <a:xfrm>
            <a:off x="342223" y="3564287"/>
            <a:ext cx="10290249" cy="258532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 (String[] </a:t>
            </a:r>
            <a:r>
              <a:rPr lang="en-GB" dirty="0" err="1"/>
              <a:t>args</a:t>
            </a:r>
            <a:r>
              <a:rPr lang="en-GB" dirty="0"/>
              <a:t>) throws </a:t>
            </a:r>
            <a:r>
              <a:rPr lang="en-GB" dirty="0" err="1"/>
              <a:t>InterruptedException</a:t>
            </a:r>
            <a:r>
              <a:rPr lang="en-GB" dirty="0"/>
              <a:t>  {</a:t>
            </a:r>
          </a:p>
          <a:p>
            <a:r>
              <a:rPr lang="en-GB" dirty="0"/>
              <a:t>        </a:t>
            </a:r>
            <a:r>
              <a:rPr lang="en-GB" b="1" dirty="0" err="1"/>
              <a:t>CountDownLatch</a:t>
            </a:r>
            <a:r>
              <a:rPr lang="en-GB" b="1" dirty="0"/>
              <a:t> controller = new </a:t>
            </a:r>
            <a:r>
              <a:rPr lang="en-GB" b="1" dirty="0" err="1"/>
              <a:t>CountDownLatch</a:t>
            </a:r>
            <a:r>
              <a:rPr lang="en-GB" b="1" dirty="0"/>
              <a:t>(3);</a:t>
            </a:r>
            <a:endParaRPr lang="en-GB" dirty="0"/>
          </a:p>
          <a:p>
            <a:r>
              <a:rPr lang="en-GB" dirty="0"/>
              <a:t>       </a:t>
            </a:r>
            <a:r>
              <a:rPr lang="en-GB" dirty="0" err="1"/>
              <a:t>ExecutorService</a:t>
            </a:r>
            <a:r>
              <a:rPr lang="en-GB" dirty="0"/>
              <a:t> pool = </a:t>
            </a:r>
            <a:r>
              <a:rPr lang="en-GB" dirty="0" err="1"/>
              <a:t>Executors.newCachedThreadPool</a:t>
            </a:r>
            <a:r>
              <a:rPr lang="en-GB" dirty="0"/>
              <a:t>();</a:t>
            </a:r>
          </a:p>
          <a:p>
            <a:r>
              <a:rPr lang="en-GB" dirty="0"/>
              <a:t>        </a:t>
            </a:r>
            <a:r>
              <a:rPr lang="en-GB" dirty="0" err="1"/>
              <a:t>AtomicInteger</a:t>
            </a:r>
            <a:r>
              <a:rPr lang="en-GB" dirty="0"/>
              <a:t> counter = new </a:t>
            </a:r>
            <a:r>
              <a:rPr lang="en-GB" dirty="0" err="1"/>
              <a:t>AtomicInteger</a:t>
            </a:r>
            <a:r>
              <a:rPr lang="en-GB" dirty="0"/>
              <a:t>(0);   </a:t>
            </a:r>
          </a:p>
          <a:p>
            <a:r>
              <a:rPr lang="en-GB" dirty="0"/>
              <a:t>       for(int </a:t>
            </a:r>
            <a:r>
              <a:rPr lang="en-GB" dirty="0" err="1"/>
              <a:t>i</a:t>
            </a:r>
            <a:r>
              <a:rPr lang="en-GB" dirty="0"/>
              <a:t>=0;i&lt;3;i++) {</a:t>
            </a:r>
            <a:r>
              <a:rPr lang="en-GB" dirty="0" err="1"/>
              <a:t>pool.execute</a:t>
            </a:r>
            <a:r>
              <a:rPr lang="en-GB" dirty="0"/>
              <a:t>(new TaskE(</a:t>
            </a:r>
            <a:r>
              <a:rPr lang="en-GB" dirty="0" err="1"/>
              <a:t>controller,counter</a:t>
            </a:r>
            <a:r>
              <a:rPr lang="en-GB" dirty="0"/>
              <a:t>));};</a:t>
            </a:r>
          </a:p>
          <a:p>
            <a:r>
              <a:rPr lang="en-GB" dirty="0"/>
              <a:t>      </a:t>
            </a:r>
            <a:r>
              <a:rPr lang="en-GB" b="1" dirty="0"/>
              <a:t>  </a:t>
            </a:r>
            <a:r>
              <a:rPr lang="en-GB" b="1" dirty="0" err="1"/>
              <a:t>controller.await</a:t>
            </a:r>
            <a:r>
              <a:rPr lang="en-GB" b="1" dirty="0"/>
              <a:t>();</a:t>
            </a:r>
            <a:r>
              <a:rPr lang="en-GB" dirty="0"/>
              <a:t>  </a:t>
            </a:r>
          </a:p>
          <a:p>
            <a:r>
              <a:rPr lang="en-GB" dirty="0"/>
              <a:t>        </a:t>
            </a:r>
            <a:r>
              <a:rPr lang="en-GB" dirty="0" err="1"/>
              <a:t>System.out.println</a:t>
            </a:r>
            <a:r>
              <a:rPr lang="en-GB" dirty="0"/>
              <a:t>(counter);</a:t>
            </a:r>
          </a:p>
          <a:p>
            <a:r>
              <a:rPr lang="en-GB" dirty="0"/>
              <a:t>        </a:t>
            </a:r>
            <a:r>
              <a:rPr lang="en-GB" dirty="0" err="1"/>
              <a:t>pool.shutdown</a:t>
            </a:r>
            <a:r>
              <a:rPr lang="en-GB" dirty="0"/>
              <a:t>();</a:t>
            </a:r>
          </a:p>
          <a:p>
            <a:r>
              <a:rPr lang="en-GB" dirty="0"/>
              <a:t>        </a:t>
            </a:r>
            <a:r>
              <a:rPr lang="en-GB" dirty="0" err="1"/>
              <a:t>System.out.println</a:t>
            </a:r>
            <a:r>
              <a:rPr lang="en-GB" dirty="0"/>
              <a:t>(counter);}</a:t>
            </a:r>
          </a:p>
        </p:txBody>
      </p:sp>
      <p:sp>
        <p:nvSpPr>
          <p:cNvPr id="2" name="TextBox 1">
            <a:extLst>
              <a:ext uri="{FF2B5EF4-FFF2-40B4-BE49-F238E27FC236}">
                <a16:creationId xmlns:a16="http://schemas.microsoft.com/office/drawing/2014/main" id="{D4A31B79-56D4-CBD5-51CA-1B92C5E7D25E}"/>
              </a:ext>
            </a:extLst>
          </p:cNvPr>
          <p:cNvSpPr txBox="1"/>
          <p:nvPr/>
        </p:nvSpPr>
        <p:spPr>
          <a:xfrm>
            <a:off x="4460073" y="5143044"/>
            <a:ext cx="4414222" cy="923330"/>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afiseaza</a:t>
            </a:r>
            <a:r>
              <a:rPr lang="en-US" dirty="0"/>
              <a:t> o </a:t>
            </a:r>
            <a:r>
              <a:rPr lang="en-US" dirty="0" err="1"/>
              <a:t>valoare</a:t>
            </a:r>
            <a:r>
              <a:rPr lang="en-US" dirty="0"/>
              <a:t> </a:t>
            </a:r>
            <a:r>
              <a:rPr lang="en-US" b="1" dirty="0"/>
              <a:t>&gt;= 300</a:t>
            </a:r>
          </a:p>
          <a:p>
            <a:r>
              <a:rPr lang="en-US" dirty="0"/>
              <a:t>task-urile sunt </a:t>
            </a:r>
            <a:r>
              <a:rPr lang="en-US" dirty="0" err="1"/>
              <a:t>lasate</a:t>
            </a:r>
            <a:r>
              <a:rPr lang="en-US" dirty="0"/>
              <a:t> </a:t>
            </a:r>
            <a:r>
              <a:rPr lang="en-US" dirty="0" err="1"/>
              <a:t>sa</a:t>
            </a:r>
            <a:r>
              <a:rPr lang="en-US" dirty="0"/>
              <a:t> </a:t>
            </a:r>
            <a:r>
              <a:rPr lang="en-US" dirty="0" err="1"/>
              <a:t>isi</a:t>
            </a:r>
            <a:r>
              <a:rPr lang="en-US" dirty="0"/>
              <a:t> </a:t>
            </a:r>
            <a:r>
              <a:rPr lang="en-US" dirty="0" err="1"/>
              <a:t>termine</a:t>
            </a:r>
            <a:r>
              <a:rPr lang="en-US" dirty="0"/>
              <a:t> </a:t>
            </a:r>
            <a:r>
              <a:rPr lang="en-US" dirty="0" err="1"/>
              <a:t>executia</a:t>
            </a:r>
            <a:endParaRPr lang="en-US" dirty="0"/>
          </a:p>
          <a:p>
            <a:r>
              <a:rPr lang="en-US" dirty="0" err="1"/>
              <a:t>afiseaza</a:t>
            </a:r>
            <a:r>
              <a:rPr lang="en-US" dirty="0"/>
              <a:t> </a:t>
            </a:r>
            <a:r>
              <a:rPr lang="en-US" b="1" dirty="0"/>
              <a:t>3300</a:t>
            </a:r>
            <a:endParaRPr lang="en-GB" b="1" dirty="0"/>
          </a:p>
        </p:txBody>
      </p:sp>
      <p:sp>
        <p:nvSpPr>
          <p:cNvPr id="4" name="TextBox 3">
            <a:extLst>
              <a:ext uri="{FF2B5EF4-FFF2-40B4-BE49-F238E27FC236}">
                <a16:creationId xmlns:a16="http://schemas.microsoft.com/office/drawing/2014/main" id="{ADF30BBC-831F-53F1-CABC-9F07C374DECA}"/>
              </a:ext>
            </a:extLst>
          </p:cNvPr>
          <p:cNvSpPr txBox="1"/>
          <p:nvPr/>
        </p:nvSpPr>
        <p:spPr>
          <a:xfrm>
            <a:off x="342223" y="618729"/>
            <a:ext cx="9120767" cy="2862322"/>
          </a:xfrm>
          <a:prstGeom prst="rect">
            <a:avLst/>
          </a:prstGeom>
          <a:ln>
            <a:solidFill>
              <a:srgbClr val="92D05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GB" dirty="0"/>
              <a:t>class TaskE implements Runnable {</a:t>
            </a:r>
          </a:p>
          <a:p>
            <a:r>
              <a:rPr lang="en-GB" dirty="0"/>
              <a:t>     private  </a:t>
            </a:r>
            <a:r>
              <a:rPr lang="en-GB" dirty="0" err="1"/>
              <a:t>AtomicInteger</a:t>
            </a:r>
            <a:r>
              <a:rPr lang="en-GB" dirty="0"/>
              <a:t> counter;   </a:t>
            </a:r>
          </a:p>
          <a:p>
            <a:r>
              <a:rPr lang="en-GB" dirty="0"/>
              <a:t>     private  </a:t>
            </a:r>
            <a:r>
              <a:rPr lang="en-GB" b="1" dirty="0" err="1"/>
              <a:t>CountDownLatch</a:t>
            </a:r>
            <a:r>
              <a:rPr lang="en-GB" b="1" dirty="0"/>
              <a:t> controller</a:t>
            </a:r>
            <a:r>
              <a:rPr lang="en-GB" dirty="0"/>
              <a:t>;</a:t>
            </a:r>
          </a:p>
          <a:p>
            <a:r>
              <a:rPr lang="en-GB" dirty="0"/>
              <a:t>     TaskE (</a:t>
            </a:r>
            <a:r>
              <a:rPr lang="en-GB" dirty="0" err="1"/>
              <a:t>CountDownLatch</a:t>
            </a:r>
            <a:r>
              <a:rPr lang="en-GB" dirty="0"/>
              <a:t> c, </a:t>
            </a:r>
            <a:r>
              <a:rPr lang="en-GB" dirty="0" err="1"/>
              <a:t>AtomicInteger</a:t>
            </a:r>
            <a:r>
              <a:rPr lang="en-GB" dirty="0"/>
              <a:t> counter){</a:t>
            </a:r>
            <a:r>
              <a:rPr lang="en-GB" dirty="0" err="1"/>
              <a:t>this.controller</a:t>
            </a:r>
            <a:r>
              <a:rPr lang="en-GB" dirty="0"/>
              <a:t> = c; </a:t>
            </a:r>
            <a:r>
              <a:rPr lang="en-GB" dirty="0" err="1"/>
              <a:t>this.counter</a:t>
            </a:r>
            <a:r>
              <a:rPr lang="en-GB" dirty="0"/>
              <a:t> =counter;}</a:t>
            </a:r>
          </a:p>
          <a:p>
            <a:r>
              <a:rPr lang="en-GB" dirty="0"/>
              <a:t>     </a:t>
            </a:r>
          </a:p>
          <a:p>
            <a:r>
              <a:rPr lang="en-GB" dirty="0"/>
              <a:t>public void run () {</a:t>
            </a:r>
          </a:p>
          <a:p>
            <a:r>
              <a:rPr lang="en-GB" dirty="0"/>
              <a:t>            for (int </a:t>
            </a:r>
            <a:r>
              <a:rPr lang="en-GB" dirty="0" err="1"/>
              <a:t>i</a:t>
            </a:r>
            <a:r>
              <a:rPr lang="en-GB" dirty="0"/>
              <a:t> = 0; </a:t>
            </a:r>
            <a:r>
              <a:rPr lang="en-GB" dirty="0" err="1"/>
              <a:t>i</a:t>
            </a:r>
            <a:r>
              <a:rPr lang="en-GB" dirty="0"/>
              <a:t> &lt; </a:t>
            </a:r>
            <a:r>
              <a:rPr lang="en-GB" b="1" dirty="0"/>
              <a:t>100</a:t>
            </a:r>
            <a:r>
              <a:rPr lang="en-GB" dirty="0"/>
              <a:t>; </a:t>
            </a:r>
            <a:r>
              <a:rPr lang="en-GB" dirty="0" err="1"/>
              <a:t>i</a:t>
            </a:r>
            <a:r>
              <a:rPr lang="en-GB" dirty="0"/>
              <a:t>++) {</a:t>
            </a:r>
            <a:r>
              <a:rPr lang="en-GB" dirty="0" err="1"/>
              <a:t>counter.incrementAndGet</a:t>
            </a:r>
            <a:r>
              <a:rPr lang="en-GB" dirty="0"/>
              <a:t>();} </a:t>
            </a:r>
          </a:p>
          <a:p>
            <a:r>
              <a:rPr lang="en-GB" b="1" dirty="0"/>
              <a:t>           </a:t>
            </a:r>
            <a:r>
              <a:rPr lang="en-GB" b="1" dirty="0" err="1"/>
              <a:t>controller.countDown</a:t>
            </a:r>
            <a:r>
              <a:rPr lang="en-GB" b="1" dirty="0"/>
              <a:t>();</a:t>
            </a:r>
            <a:r>
              <a:rPr lang="en-GB" dirty="0"/>
              <a:t>           </a:t>
            </a:r>
          </a:p>
          <a:p>
            <a:r>
              <a:rPr lang="en-GB" dirty="0"/>
              <a:t>           for (int </a:t>
            </a:r>
            <a:r>
              <a:rPr lang="en-GB" dirty="0" err="1"/>
              <a:t>i</a:t>
            </a:r>
            <a:r>
              <a:rPr lang="en-GB" dirty="0"/>
              <a:t> = 0; </a:t>
            </a:r>
            <a:r>
              <a:rPr lang="en-GB" dirty="0" err="1"/>
              <a:t>i</a:t>
            </a:r>
            <a:r>
              <a:rPr lang="en-GB" dirty="0"/>
              <a:t> &lt; </a:t>
            </a:r>
            <a:r>
              <a:rPr lang="en-GB" b="1" dirty="0"/>
              <a:t>1000</a:t>
            </a:r>
            <a:r>
              <a:rPr lang="en-GB" dirty="0"/>
              <a:t>; </a:t>
            </a:r>
            <a:r>
              <a:rPr lang="en-GB" dirty="0" err="1"/>
              <a:t>i</a:t>
            </a:r>
            <a:r>
              <a:rPr lang="en-GB" dirty="0"/>
              <a:t>++) { </a:t>
            </a:r>
            <a:r>
              <a:rPr lang="en-GB" dirty="0" err="1"/>
              <a:t>counter.incrementAndGet</a:t>
            </a:r>
            <a:r>
              <a:rPr lang="en-GB" dirty="0"/>
              <a:t>();} } </a:t>
            </a:r>
          </a:p>
          <a:p>
            <a:endParaRPr lang="en-GB" dirty="0"/>
          </a:p>
        </p:txBody>
      </p:sp>
      <p:pic>
        <p:nvPicPr>
          <p:cNvPr id="7" name="Picture 6">
            <a:extLst>
              <a:ext uri="{FF2B5EF4-FFF2-40B4-BE49-F238E27FC236}">
                <a16:creationId xmlns:a16="http://schemas.microsoft.com/office/drawing/2014/main" id="{3B1D977A-ACC1-254E-A9F7-4B1862D7152F}"/>
              </a:ext>
            </a:extLst>
          </p:cNvPr>
          <p:cNvPicPr>
            <a:picLocks noChangeAspect="1"/>
          </p:cNvPicPr>
          <p:nvPr/>
        </p:nvPicPr>
        <p:blipFill>
          <a:blip r:embed="rId2"/>
          <a:stretch>
            <a:fillRect/>
          </a:stretch>
        </p:blipFill>
        <p:spPr>
          <a:xfrm>
            <a:off x="9965629" y="1626605"/>
            <a:ext cx="1809202" cy="4523005"/>
          </a:xfrm>
          <a:prstGeom prst="rect">
            <a:avLst/>
          </a:prstGeom>
        </p:spPr>
      </p:pic>
    </p:spTree>
    <p:extLst>
      <p:ext uri="{BB962C8B-B14F-4D97-AF65-F5344CB8AC3E}">
        <p14:creationId xmlns:p14="http://schemas.microsoft.com/office/powerpoint/2010/main" val="840581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FB3AD-34D5-153D-1F65-9DEE833CC40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36E14BC-7536-6F79-2056-87BE4FE9E118}"/>
              </a:ext>
            </a:extLst>
          </p:cNvPr>
          <p:cNvSpPr txBox="1"/>
          <p:nvPr/>
        </p:nvSpPr>
        <p:spPr>
          <a:xfrm>
            <a:off x="0" y="142103"/>
            <a:ext cx="12283440" cy="2062103"/>
          </a:xfrm>
          <a:prstGeom prst="rect">
            <a:avLst/>
          </a:prstGeom>
          <a:noFill/>
        </p:spPr>
        <p:txBody>
          <a:bodyPr wrap="square" rtlCol="0">
            <a:spAutoFit/>
          </a:bodyPr>
          <a:lstStyle/>
          <a:p>
            <a:pPr marL="285750" indent="-285750">
              <a:buFont typeface="Wingdings" panose="05000000000000000000" pitchFamily="2" charset="2"/>
              <a:buChar char="Ø"/>
            </a:pPr>
            <a:r>
              <a:rPr lang="en-GB" sz="2400" b="1" dirty="0" err="1"/>
              <a:t>CyclicBarrier</a:t>
            </a:r>
            <a:r>
              <a:rPr lang="en-GB" sz="2400" b="1" dirty="0"/>
              <a:t>    </a:t>
            </a:r>
            <a:r>
              <a:rPr lang="en-GB" sz="2400" dirty="0" err="1"/>
              <a:t>sincronizarea</a:t>
            </a:r>
            <a:r>
              <a:rPr lang="en-GB" sz="2400" dirty="0"/>
              <a:t> thread-</a:t>
            </a:r>
            <a:r>
              <a:rPr lang="en-GB" sz="2400" dirty="0" err="1"/>
              <a:t>urilor</a:t>
            </a:r>
            <a:r>
              <a:rPr lang="en-GB" sz="2400" dirty="0"/>
              <a:t> care </a:t>
            </a:r>
            <a:r>
              <a:rPr lang="en-GB" sz="2400" dirty="0" err="1"/>
              <a:t>asteapta</a:t>
            </a:r>
            <a:r>
              <a:rPr lang="en-GB" sz="2400" dirty="0"/>
              <a:t> la </a:t>
            </a:r>
            <a:r>
              <a:rPr lang="en-GB" sz="2400" dirty="0" err="1"/>
              <a:t>bariera</a:t>
            </a:r>
            <a:endParaRPr lang="en-GB" sz="2400" dirty="0"/>
          </a:p>
          <a:p>
            <a:pPr marL="342900" indent="-342900">
              <a:buFont typeface="Arial" panose="020B0604020202020204" pitchFamily="34" charset="0"/>
              <a:buChar char="•"/>
            </a:pPr>
            <a:r>
              <a:rPr lang="en-GB" sz="2000" dirty="0"/>
              <a:t>la </a:t>
            </a:r>
            <a:r>
              <a:rPr lang="en-GB" sz="2000" dirty="0" err="1"/>
              <a:t>creare</a:t>
            </a:r>
            <a:r>
              <a:rPr lang="en-GB" sz="2000" dirty="0"/>
              <a:t> se </a:t>
            </a:r>
            <a:r>
              <a:rPr lang="en-GB" sz="2000" dirty="0" err="1"/>
              <a:t>transmite</a:t>
            </a:r>
            <a:r>
              <a:rPr lang="en-GB" sz="2000" dirty="0"/>
              <a:t> </a:t>
            </a:r>
            <a:r>
              <a:rPr lang="en-GB" sz="2000" dirty="0" err="1"/>
              <a:t>numarul</a:t>
            </a:r>
            <a:r>
              <a:rPr lang="en-GB" sz="2000" dirty="0"/>
              <a:t> de thread-</a:t>
            </a:r>
            <a:r>
              <a:rPr lang="en-GB" sz="2000" dirty="0" err="1"/>
              <a:t>uri</a:t>
            </a:r>
            <a:r>
              <a:rPr lang="en-GB" sz="2000" dirty="0"/>
              <a:t> </a:t>
            </a:r>
            <a:r>
              <a:rPr lang="en-GB" sz="2000" dirty="0" err="1"/>
              <a:t>si</a:t>
            </a:r>
            <a:r>
              <a:rPr lang="en-GB" sz="2000" dirty="0"/>
              <a:t>, optional, o </a:t>
            </a:r>
            <a:r>
              <a:rPr lang="en-GB" sz="2000" dirty="0" err="1"/>
              <a:t>actiune</a:t>
            </a:r>
            <a:r>
              <a:rPr lang="en-GB" sz="2000" dirty="0"/>
              <a:t> (</a:t>
            </a:r>
            <a:r>
              <a:rPr lang="en-GB" sz="2000" dirty="0" err="1"/>
              <a:t>instanta</a:t>
            </a:r>
            <a:r>
              <a:rPr lang="en-GB" sz="2000" dirty="0"/>
              <a:t> a </a:t>
            </a:r>
            <a:r>
              <a:rPr lang="en-GB" sz="2000" dirty="0" err="1"/>
              <a:t>lui</a:t>
            </a:r>
            <a:r>
              <a:rPr lang="en-GB" sz="2000" dirty="0"/>
              <a:t> Runnable), care se </a:t>
            </a:r>
            <a:r>
              <a:rPr lang="en-GB" sz="2000" dirty="0" err="1"/>
              <a:t>executa</a:t>
            </a:r>
            <a:r>
              <a:rPr lang="en-GB" sz="2000" dirty="0"/>
              <a:t> cand </a:t>
            </a:r>
            <a:r>
              <a:rPr lang="en-GB" sz="2000" dirty="0" err="1"/>
              <a:t>toate</a:t>
            </a:r>
            <a:r>
              <a:rPr lang="en-GB" sz="2000" dirty="0"/>
              <a:t> thread-urile au </a:t>
            </a:r>
            <a:r>
              <a:rPr lang="en-GB" sz="2000" dirty="0" err="1"/>
              <a:t>ajuns</a:t>
            </a:r>
            <a:r>
              <a:rPr lang="en-GB" sz="2000" dirty="0"/>
              <a:t> la </a:t>
            </a:r>
            <a:r>
              <a:rPr lang="en-GB" sz="2000" dirty="0" err="1"/>
              <a:t>bariera</a:t>
            </a:r>
            <a:endParaRPr lang="en-GB" sz="2000" dirty="0"/>
          </a:p>
          <a:p>
            <a:pPr marL="342900" indent="-342900">
              <a:buFont typeface="Arial" panose="020B0604020202020204" pitchFamily="34" charset="0"/>
              <a:buChar char="•"/>
            </a:pPr>
            <a:r>
              <a:rPr lang="en-GB" sz="2000" dirty="0"/>
              <a:t>thread-urile care </a:t>
            </a:r>
            <a:r>
              <a:rPr lang="en-GB" sz="2000" dirty="0" err="1"/>
              <a:t>apeleaza</a:t>
            </a:r>
            <a:r>
              <a:rPr lang="en-GB" sz="2000" dirty="0"/>
              <a:t> </a:t>
            </a:r>
            <a:r>
              <a:rPr lang="en-GB" sz="2000" b="1" dirty="0" err="1"/>
              <a:t>barrier.await</a:t>
            </a:r>
            <a:r>
              <a:rPr lang="en-GB" sz="2000" b="1" dirty="0"/>
              <a:t>() </a:t>
            </a:r>
            <a:r>
              <a:rPr lang="en-GB" sz="2000" dirty="0" err="1"/>
              <a:t>poate</a:t>
            </a:r>
            <a:r>
              <a:rPr lang="en-GB" sz="2000" dirty="0"/>
              <a:t> </a:t>
            </a:r>
            <a:r>
              <a:rPr lang="en-GB" sz="2000" dirty="0" err="1"/>
              <a:t>trece</a:t>
            </a:r>
            <a:r>
              <a:rPr lang="en-GB" sz="2000" dirty="0"/>
              <a:t> </a:t>
            </a:r>
            <a:r>
              <a:rPr lang="en-GB" sz="2000" dirty="0" err="1"/>
              <a:t>mai</a:t>
            </a:r>
            <a:r>
              <a:rPr lang="en-GB" sz="2000" dirty="0"/>
              <a:t> </a:t>
            </a:r>
            <a:r>
              <a:rPr lang="en-GB" sz="2000" dirty="0" err="1"/>
              <a:t>departe</a:t>
            </a:r>
            <a:r>
              <a:rPr lang="en-GB" sz="2000" dirty="0"/>
              <a:t> </a:t>
            </a:r>
            <a:r>
              <a:rPr lang="en-GB" sz="2000" dirty="0" err="1"/>
              <a:t>numai</a:t>
            </a:r>
            <a:r>
              <a:rPr lang="en-GB" sz="2000" dirty="0"/>
              <a:t>  </a:t>
            </a:r>
            <a:r>
              <a:rPr lang="en-GB" sz="2000" dirty="0" err="1"/>
              <a:t>dupa</a:t>
            </a:r>
            <a:r>
              <a:rPr lang="en-GB" sz="2000" dirty="0"/>
              <a:t> </a:t>
            </a:r>
            <a:r>
              <a:rPr lang="en-GB" sz="2000" dirty="0" err="1"/>
              <a:t>ce</a:t>
            </a:r>
            <a:r>
              <a:rPr lang="en-GB" sz="2000" dirty="0"/>
              <a:t> </a:t>
            </a:r>
            <a:r>
              <a:rPr lang="en-GB" sz="2000" dirty="0" err="1"/>
              <a:t>toate</a:t>
            </a:r>
            <a:r>
              <a:rPr lang="en-GB" sz="2000" dirty="0"/>
              <a:t> au </a:t>
            </a:r>
            <a:r>
              <a:rPr lang="en-GB" sz="2000" dirty="0" err="1"/>
              <a:t>ajuns</a:t>
            </a:r>
            <a:r>
              <a:rPr lang="en-GB" sz="2000" dirty="0"/>
              <a:t> la </a:t>
            </a:r>
            <a:r>
              <a:rPr lang="en-GB" sz="2000" dirty="0" err="1"/>
              <a:t>bariera</a:t>
            </a:r>
            <a:endParaRPr lang="en-GB" sz="2000" dirty="0"/>
          </a:p>
          <a:p>
            <a:endParaRPr lang="en-GB" sz="2000" dirty="0"/>
          </a:p>
          <a:p>
            <a:r>
              <a:rPr lang="en-US" sz="2400" dirty="0"/>
              <a:t> </a:t>
            </a:r>
            <a:r>
              <a:rPr lang="en-GB" sz="2400" dirty="0"/>
              <a:t>    </a:t>
            </a:r>
            <a:endParaRPr lang="en-US" sz="2400" b="1" dirty="0"/>
          </a:p>
        </p:txBody>
      </p:sp>
      <p:sp>
        <p:nvSpPr>
          <p:cNvPr id="3" name="TextBox 2">
            <a:extLst>
              <a:ext uri="{FF2B5EF4-FFF2-40B4-BE49-F238E27FC236}">
                <a16:creationId xmlns:a16="http://schemas.microsoft.com/office/drawing/2014/main" id="{E3ED17C6-26B5-2883-4DEF-BC97EE021A26}"/>
              </a:ext>
            </a:extLst>
          </p:cNvPr>
          <p:cNvSpPr txBox="1"/>
          <p:nvPr/>
        </p:nvSpPr>
        <p:spPr>
          <a:xfrm>
            <a:off x="181908" y="1584024"/>
            <a:ext cx="10290249" cy="4708981"/>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dirty="0"/>
              <a:t>class TaskE implements Runnable {</a:t>
            </a:r>
          </a:p>
          <a:p>
            <a:r>
              <a:rPr lang="en-GB" sz="2000" dirty="0"/>
              <a:t> private  </a:t>
            </a:r>
            <a:r>
              <a:rPr lang="en-GB" sz="2000" dirty="0" err="1"/>
              <a:t>AtomicInteger</a:t>
            </a:r>
            <a:r>
              <a:rPr lang="en-GB" sz="2000" dirty="0"/>
              <a:t> counter;   </a:t>
            </a:r>
          </a:p>
          <a:p>
            <a:r>
              <a:rPr lang="en-GB" sz="2000" dirty="0"/>
              <a:t> private  </a:t>
            </a:r>
            <a:r>
              <a:rPr lang="en-GB" sz="2000" b="1" dirty="0" err="1"/>
              <a:t>CyclicBarrier</a:t>
            </a:r>
            <a:r>
              <a:rPr lang="en-GB" sz="2000" b="1" dirty="0"/>
              <a:t> barrier;</a:t>
            </a:r>
          </a:p>
          <a:p>
            <a:r>
              <a:rPr lang="en-GB" sz="2000" dirty="0"/>
              <a:t> TaskE (</a:t>
            </a:r>
            <a:r>
              <a:rPr lang="en-GB" sz="2000" dirty="0" err="1"/>
              <a:t>CyclicBarrier</a:t>
            </a:r>
            <a:r>
              <a:rPr lang="en-GB" sz="2000" dirty="0"/>
              <a:t> b, </a:t>
            </a:r>
            <a:r>
              <a:rPr lang="en-GB" sz="2000" dirty="0" err="1"/>
              <a:t>AtomicInteger</a:t>
            </a:r>
            <a:r>
              <a:rPr lang="en-GB" sz="2000" dirty="0"/>
              <a:t> counter){</a:t>
            </a:r>
            <a:r>
              <a:rPr lang="en-GB" sz="2000" dirty="0" err="1"/>
              <a:t>this.barrier</a:t>
            </a:r>
            <a:r>
              <a:rPr lang="en-GB" sz="2000" dirty="0"/>
              <a:t> = b; </a:t>
            </a:r>
            <a:r>
              <a:rPr lang="en-GB" sz="2000" dirty="0" err="1"/>
              <a:t>this.counter</a:t>
            </a:r>
            <a:r>
              <a:rPr lang="en-GB" sz="2000" dirty="0"/>
              <a:t> =counter;}</a:t>
            </a:r>
          </a:p>
          <a:p>
            <a:r>
              <a:rPr lang="en-GB" sz="2000" dirty="0"/>
              <a:t>     </a:t>
            </a:r>
          </a:p>
          <a:p>
            <a:r>
              <a:rPr lang="en-GB" sz="2000" dirty="0"/>
              <a:t>public void run () {</a:t>
            </a:r>
          </a:p>
          <a:p>
            <a:r>
              <a:rPr lang="en-GB" sz="2000" dirty="0"/>
              <a:t>            for (int </a:t>
            </a:r>
            <a:r>
              <a:rPr lang="en-GB" sz="2000" dirty="0" err="1"/>
              <a:t>i</a:t>
            </a:r>
            <a:r>
              <a:rPr lang="en-GB" sz="2000" dirty="0"/>
              <a:t> = 0; </a:t>
            </a:r>
            <a:r>
              <a:rPr lang="en-GB" sz="2000" dirty="0" err="1"/>
              <a:t>i</a:t>
            </a:r>
            <a:r>
              <a:rPr lang="en-GB" sz="2000" dirty="0"/>
              <a:t> &lt; 100; </a:t>
            </a:r>
            <a:r>
              <a:rPr lang="en-GB" sz="2000" dirty="0" err="1"/>
              <a:t>i</a:t>
            </a:r>
            <a:r>
              <a:rPr lang="en-GB" sz="2000" dirty="0"/>
              <a:t>++) {</a:t>
            </a:r>
          </a:p>
          <a:p>
            <a:r>
              <a:rPr lang="en-GB" sz="2000" dirty="0"/>
              <a:t>                 </a:t>
            </a:r>
            <a:r>
              <a:rPr lang="en-GB" sz="2000" dirty="0" err="1"/>
              <a:t>counter.incrementAndGet</a:t>
            </a:r>
            <a:r>
              <a:rPr lang="en-GB" sz="2000" dirty="0"/>
              <a:t>();  };</a:t>
            </a:r>
          </a:p>
          <a:p>
            <a:endParaRPr lang="en-GB" sz="2000" dirty="0"/>
          </a:p>
          <a:p>
            <a:r>
              <a:rPr lang="en-GB" sz="2000" b="1" dirty="0"/>
              <a:t>           try {</a:t>
            </a:r>
            <a:r>
              <a:rPr lang="en-GB" sz="2000" b="1" dirty="0" err="1"/>
              <a:t>barrier.await</a:t>
            </a:r>
            <a:r>
              <a:rPr lang="en-GB" sz="2000" b="1" dirty="0"/>
              <a:t>();} catch (Exception e) {</a:t>
            </a:r>
          </a:p>
          <a:p>
            <a:r>
              <a:rPr lang="en-GB" sz="2000" b="1" dirty="0"/>
              <a:t>           </a:t>
            </a:r>
            <a:r>
              <a:rPr lang="en-GB" sz="2000" b="1" dirty="0" err="1"/>
              <a:t>System.out.println</a:t>
            </a:r>
            <a:r>
              <a:rPr lang="en-GB" sz="2000" b="1" dirty="0"/>
              <a:t>(e);return; } </a:t>
            </a:r>
          </a:p>
          <a:p>
            <a:endParaRPr lang="en-GB" sz="2000" dirty="0"/>
          </a:p>
          <a:p>
            <a:r>
              <a:rPr lang="en-GB" sz="2000" dirty="0"/>
              <a:t>         for (int </a:t>
            </a:r>
            <a:r>
              <a:rPr lang="en-GB" sz="2000" dirty="0" err="1"/>
              <a:t>i</a:t>
            </a:r>
            <a:r>
              <a:rPr lang="en-GB" sz="2000" dirty="0"/>
              <a:t> = 0; </a:t>
            </a:r>
            <a:r>
              <a:rPr lang="en-GB" sz="2000" dirty="0" err="1"/>
              <a:t>i</a:t>
            </a:r>
            <a:r>
              <a:rPr lang="en-GB" sz="2000" dirty="0"/>
              <a:t> &lt; 1000; </a:t>
            </a:r>
            <a:r>
              <a:rPr lang="en-GB" sz="2000" dirty="0" err="1"/>
              <a:t>i</a:t>
            </a:r>
            <a:r>
              <a:rPr lang="en-GB" sz="2000" dirty="0"/>
              <a:t>++) {</a:t>
            </a:r>
          </a:p>
          <a:p>
            <a:r>
              <a:rPr lang="en-GB" sz="2000" dirty="0"/>
              <a:t>                 </a:t>
            </a:r>
            <a:r>
              <a:rPr lang="en-GB" sz="2000" dirty="0" err="1"/>
              <a:t>counter.incrementAndGet</a:t>
            </a:r>
            <a:r>
              <a:rPr lang="en-GB" sz="2000" dirty="0"/>
              <a:t>();}               </a:t>
            </a:r>
          </a:p>
          <a:p>
            <a:r>
              <a:rPr lang="en-GB" sz="2000" dirty="0"/>
              <a:t>            </a:t>
            </a:r>
            <a:r>
              <a:rPr lang="en-GB" sz="2000" dirty="0" err="1"/>
              <a:t>System.out.println</a:t>
            </a:r>
            <a:r>
              <a:rPr lang="en-GB" sz="2000" dirty="0"/>
              <a:t>(</a:t>
            </a:r>
            <a:r>
              <a:rPr lang="en-GB" sz="2000" dirty="0" err="1"/>
              <a:t>Thread.currentThread</a:t>
            </a:r>
            <a:r>
              <a:rPr lang="en-GB" sz="2000" dirty="0"/>
              <a:t>().</a:t>
            </a:r>
            <a:r>
              <a:rPr lang="en-GB" sz="2000" dirty="0" err="1"/>
              <a:t>getName</a:t>
            </a:r>
            <a:r>
              <a:rPr lang="en-GB" sz="2000" dirty="0"/>
              <a:t>()+": "+counter); }</a:t>
            </a:r>
          </a:p>
        </p:txBody>
      </p:sp>
      <p:sp>
        <p:nvSpPr>
          <p:cNvPr id="10" name="TextBox 9">
            <a:extLst>
              <a:ext uri="{FF2B5EF4-FFF2-40B4-BE49-F238E27FC236}">
                <a16:creationId xmlns:a16="http://schemas.microsoft.com/office/drawing/2014/main" id="{68612380-8892-4B90-DB81-BD272F756903}"/>
              </a:ext>
            </a:extLst>
          </p:cNvPr>
          <p:cNvSpPr txBox="1"/>
          <p:nvPr/>
        </p:nvSpPr>
        <p:spPr>
          <a:xfrm>
            <a:off x="5537615" y="3938514"/>
            <a:ext cx="6472477" cy="1015663"/>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t>Task-ul </a:t>
            </a:r>
            <a:r>
              <a:rPr lang="en-US" sz="2000" dirty="0" err="1"/>
              <a:t>executat</a:t>
            </a:r>
            <a:r>
              <a:rPr lang="en-US" sz="2000" dirty="0"/>
              <a:t> de </a:t>
            </a:r>
            <a:r>
              <a:rPr lang="en-US" sz="2000" dirty="0" err="1"/>
              <a:t>fiecare</a:t>
            </a:r>
            <a:r>
              <a:rPr lang="en-US" sz="2000" dirty="0"/>
              <a:t> thread  </a:t>
            </a:r>
            <a:r>
              <a:rPr lang="en-US" sz="2000" dirty="0" err="1"/>
              <a:t>incrementeaza</a:t>
            </a:r>
            <a:r>
              <a:rPr lang="en-US" sz="2000" dirty="0"/>
              <a:t> un </a:t>
            </a:r>
            <a:r>
              <a:rPr lang="en-US" sz="2000" dirty="0" err="1"/>
              <a:t>contor</a:t>
            </a:r>
            <a:r>
              <a:rPr lang="en-US" sz="2000" dirty="0"/>
              <a:t> </a:t>
            </a:r>
          </a:p>
          <a:p>
            <a:r>
              <a:rPr lang="en-US" sz="2000" dirty="0" err="1"/>
              <a:t>si</a:t>
            </a:r>
            <a:r>
              <a:rPr lang="en-US" sz="2000" dirty="0"/>
              <a:t>  </a:t>
            </a:r>
            <a:r>
              <a:rPr lang="en-US" sz="2000" dirty="0" err="1"/>
              <a:t>asteapta</a:t>
            </a:r>
            <a:r>
              <a:rPr lang="en-US" sz="2000" dirty="0"/>
              <a:t> la </a:t>
            </a:r>
            <a:r>
              <a:rPr lang="en-US" sz="2000" dirty="0" err="1"/>
              <a:t>bariera</a:t>
            </a:r>
            <a:r>
              <a:rPr lang="en-US" sz="2000" dirty="0"/>
              <a:t> </a:t>
            </a:r>
            <a:r>
              <a:rPr lang="en-US" sz="2000" dirty="0" err="1"/>
              <a:t>pana</a:t>
            </a:r>
            <a:r>
              <a:rPr lang="en-US" sz="2000" dirty="0"/>
              <a:t>  </a:t>
            </a:r>
            <a:r>
              <a:rPr lang="en-US" sz="2000" dirty="0" err="1"/>
              <a:t>fiecare</a:t>
            </a:r>
            <a:r>
              <a:rPr lang="en-US" sz="2000" dirty="0"/>
              <a:t> thread a  </a:t>
            </a:r>
            <a:r>
              <a:rPr lang="en-US" sz="2000" dirty="0" err="1"/>
              <a:t>incrementat</a:t>
            </a:r>
            <a:r>
              <a:rPr lang="en-US" sz="2000" dirty="0"/>
              <a:t> </a:t>
            </a:r>
          </a:p>
          <a:p>
            <a:r>
              <a:rPr lang="en-US" sz="2000" dirty="0" err="1"/>
              <a:t>contorul</a:t>
            </a:r>
            <a:r>
              <a:rPr lang="en-US" sz="2000" dirty="0"/>
              <a:t> de 100 de </a:t>
            </a:r>
            <a:r>
              <a:rPr lang="en-US" sz="2000" dirty="0" err="1"/>
              <a:t>ori</a:t>
            </a:r>
            <a:r>
              <a:rPr lang="en-US" sz="2000" dirty="0"/>
              <a:t> </a:t>
            </a:r>
            <a:endParaRPr lang="en-GB" sz="2000" dirty="0"/>
          </a:p>
        </p:txBody>
      </p:sp>
    </p:spTree>
    <p:extLst>
      <p:ext uri="{BB962C8B-B14F-4D97-AF65-F5344CB8AC3E}">
        <p14:creationId xmlns:p14="http://schemas.microsoft.com/office/powerpoint/2010/main" val="596418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0B4A9-1C6B-B75C-2C82-9CCB89F7984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848CDDC-83B6-61BB-1E25-B18EDC140543}"/>
              </a:ext>
            </a:extLst>
          </p:cNvPr>
          <p:cNvSpPr txBox="1"/>
          <p:nvPr/>
        </p:nvSpPr>
        <p:spPr>
          <a:xfrm>
            <a:off x="216243" y="142103"/>
            <a:ext cx="11195309" cy="1508105"/>
          </a:xfrm>
          <a:prstGeom prst="rect">
            <a:avLst/>
          </a:prstGeom>
          <a:noFill/>
        </p:spPr>
        <p:txBody>
          <a:bodyPr wrap="none" rtlCol="0">
            <a:spAutoFit/>
          </a:bodyPr>
          <a:lstStyle/>
          <a:p>
            <a:pPr marL="285750" indent="-285750">
              <a:buFont typeface="Wingdings" panose="05000000000000000000" pitchFamily="2" charset="2"/>
              <a:buChar char="Ø"/>
            </a:pPr>
            <a:r>
              <a:rPr lang="en-GB" sz="2000" b="1" dirty="0" err="1"/>
              <a:t>CyclicBarrier</a:t>
            </a:r>
            <a:r>
              <a:rPr lang="en-GB" sz="2000" b="1" dirty="0"/>
              <a:t>    </a:t>
            </a:r>
            <a:r>
              <a:rPr lang="en-GB" sz="2000" dirty="0" err="1"/>
              <a:t>sincronizarea</a:t>
            </a:r>
            <a:r>
              <a:rPr lang="en-GB" sz="2000" dirty="0"/>
              <a:t> thread-</a:t>
            </a:r>
            <a:r>
              <a:rPr lang="en-GB" sz="2000" dirty="0" err="1"/>
              <a:t>urilor</a:t>
            </a:r>
            <a:r>
              <a:rPr lang="en-GB" sz="2000" dirty="0"/>
              <a:t> care </a:t>
            </a:r>
            <a:r>
              <a:rPr lang="en-GB" sz="2000" dirty="0" err="1"/>
              <a:t>asteapta</a:t>
            </a:r>
            <a:r>
              <a:rPr lang="en-GB" sz="2000" dirty="0"/>
              <a:t> la </a:t>
            </a:r>
            <a:r>
              <a:rPr lang="en-GB" sz="2000" dirty="0" err="1"/>
              <a:t>bariera</a:t>
            </a:r>
            <a:endParaRPr lang="en-GB" sz="2000" dirty="0"/>
          </a:p>
          <a:p>
            <a:pPr marL="342900" indent="-342900">
              <a:buFont typeface="Arial" panose="020B0604020202020204" pitchFamily="34" charset="0"/>
              <a:buChar char="•"/>
            </a:pPr>
            <a:r>
              <a:rPr lang="en-GB" dirty="0"/>
              <a:t>la </a:t>
            </a:r>
            <a:r>
              <a:rPr lang="en-GB" dirty="0" err="1"/>
              <a:t>creare</a:t>
            </a:r>
            <a:r>
              <a:rPr lang="en-GB" dirty="0"/>
              <a:t> se </a:t>
            </a:r>
            <a:r>
              <a:rPr lang="en-GB" dirty="0" err="1"/>
              <a:t>transmite</a:t>
            </a:r>
            <a:r>
              <a:rPr lang="en-GB" dirty="0"/>
              <a:t> </a:t>
            </a:r>
            <a:r>
              <a:rPr lang="en-GB" dirty="0" err="1"/>
              <a:t>numarul</a:t>
            </a:r>
            <a:r>
              <a:rPr lang="en-GB" dirty="0"/>
              <a:t> de thread-</a:t>
            </a:r>
            <a:r>
              <a:rPr lang="en-GB" dirty="0" err="1"/>
              <a:t>uri</a:t>
            </a:r>
            <a:r>
              <a:rPr lang="en-GB" dirty="0"/>
              <a:t> </a:t>
            </a:r>
            <a:r>
              <a:rPr lang="en-GB" dirty="0" err="1"/>
              <a:t>si</a:t>
            </a:r>
            <a:r>
              <a:rPr lang="en-GB" dirty="0"/>
              <a:t>, optional, o </a:t>
            </a:r>
            <a:r>
              <a:rPr lang="en-GB" dirty="0" err="1"/>
              <a:t>actiune</a:t>
            </a:r>
            <a:r>
              <a:rPr lang="en-GB" dirty="0"/>
              <a:t> (</a:t>
            </a:r>
            <a:r>
              <a:rPr lang="en-GB" dirty="0" err="1"/>
              <a:t>instanta</a:t>
            </a:r>
            <a:r>
              <a:rPr lang="en-GB" dirty="0"/>
              <a:t> a </a:t>
            </a:r>
            <a:r>
              <a:rPr lang="en-GB" dirty="0" err="1"/>
              <a:t>lui</a:t>
            </a:r>
            <a:r>
              <a:rPr lang="en-GB" dirty="0"/>
              <a:t> Runnable), care se </a:t>
            </a:r>
            <a:r>
              <a:rPr lang="en-GB" dirty="0" err="1"/>
              <a:t>executa</a:t>
            </a:r>
            <a:r>
              <a:rPr lang="en-GB" dirty="0"/>
              <a:t> cand </a:t>
            </a:r>
          </a:p>
          <a:p>
            <a:r>
              <a:rPr lang="en-GB" dirty="0"/>
              <a:t>       </a:t>
            </a:r>
            <a:r>
              <a:rPr lang="en-GB" dirty="0" err="1"/>
              <a:t>toate</a:t>
            </a:r>
            <a:r>
              <a:rPr lang="en-GB" dirty="0"/>
              <a:t> thread-urile au </a:t>
            </a:r>
            <a:r>
              <a:rPr lang="en-GB" dirty="0" err="1"/>
              <a:t>ajuns</a:t>
            </a:r>
            <a:r>
              <a:rPr lang="en-GB" dirty="0"/>
              <a:t> la </a:t>
            </a:r>
            <a:r>
              <a:rPr lang="en-GB" dirty="0" err="1"/>
              <a:t>bariera</a:t>
            </a:r>
            <a:endParaRPr lang="en-GB" dirty="0"/>
          </a:p>
          <a:p>
            <a:pPr marL="342900" indent="-342900">
              <a:buFont typeface="Arial" panose="020B0604020202020204" pitchFamily="34" charset="0"/>
              <a:buChar char="•"/>
            </a:pPr>
            <a:r>
              <a:rPr lang="en-GB" dirty="0"/>
              <a:t>thread-urile care </a:t>
            </a:r>
            <a:r>
              <a:rPr lang="en-GB" dirty="0" err="1"/>
              <a:t>apeleaza</a:t>
            </a:r>
            <a:r>
              <a:rPr lang="en-GB" dirty="0"/>
              <a:t> </a:t>
            </a:r>
            <a:r>
              <a:rPr lang="en-GB" b="1" dirty="0" err="1"/>
              <a:t>barrier.await</a:t>
            </a:r>
            <a:r>
              <a:rPr lang="en-GB" b="1" dirty="0"/>
              <a:t>() </a:t>
            </a:r>
            <a:r>
              <a:rPr lang="en-GB" dirty="0" err="1"/>
              <a:t>poate</a:t>
            </a:r>
            <a:r>
              <a:rPr lang="en-GB" dirty="0"/>
              <a:t> </a:t>
            </a:r>
            <a:r>
              <a:rPr lang="en-GB" dirty="0" err="1"/>
              <a:t>trece</a:t>
            </a:r>
            <a:r>
              <a:rPr lang="en-GB" dirty="0"/>
              <a:t> </a:t>
            </a:r>
            <a:r>
              <a:rPr lang="en-GB" dirty="0" err="1"/>
              <a:t>mai</a:t>
            </a:r>
            <a:r>
              <a:rPr lang="en-GB" dirty="0"/>
              <a:t> </a:t>
            </a:r>
            <a:r>
              <a:rPr lang="en-GB" dirty="0" err="1"/>
              <a:t>departe</a:t>
            </a:r>
            <a:r>
              <a:rPr lang="en-GB" dirty="0"/>
              <a:t> </a:t>
            </a:r>
            <a:r>
              <a:rPr lang="en-GB" dirty="0" err="1"/>
              <a:t>numai</a:t>
            </a:r>
            <a:r>
              <a:rPr lang="en-GB" dirty="0"/>
              <a:t>  </a:t>
            </a:r>
            <a:r>
              <a:rPr lang="en-GB" dirty="0" err="1"/>
              <a:t>dupa</a:t>
            </a:r>
            <a:r>
              <a:rPr lang="en-GB" dirty="0"/>
              <a:t> </a:t>
            </a:r>
            <a:r>
              <a:rPr lang="en-GB" dirty="0" err="1"/>
              <a:t>ce</a:t>
            </a:r>
            <a:r>
              <a:rPr lang="en-GB" dirty="0"/>
              <a:t> </a:t>
            </a:r>
            <a:r>
              <a:rPr lang="en-GB" dirty="0" err="1"/>
              <a:t>toate</a:t>
            </a:r>
            <a:r>
              <a:rPr lang="en-GB" dirty="0"/>
              <a:t> au </a:t>
            </a:r>
            <a:r>
              <a:rPr lang="en-GB" dirty="0" err="1"/>
              <a:t>ajuns</a:t>
            </a:r>
            <a:r>
              <a:rPr lang="en-GB" dirty="0"/>
              <a:t> la </a:t>
            </a:r>
            <a:r>
              <a:rPr lang="en-GB" dirty="0" err="1"/>
              <a:t>bariera</a:t>
            </a:r>
            <a:endParaRPr lang="en-GB" dirty="0"/>
          </a:p>
          <a:p>
            <a:endParaRPr lang="en-US" b="1" dirty="0"/>
          </a:p>
        </p:txBody>
      </p:sp>
      <p:sp>
        <p:nvSpPr>
          <p:cNvPr id="3" name="TextBox 2">
            <a:extLst>
              <a:ext uri="{FF2B5EF4-FFF2-40B4-BE49-F238E27FC236}">
                <a16:creationId xmlns:a16="http://schemas.microsoft.com/office/drawing/2014/main" id="{0DF6AFFA-DEB0-AC29-6912-DBF481DA5C02}"/>
              </a:ext>
            </a:extLst>
          </p:cNvPr>
          <p:cNvSpPr txBox="1"/>
          <p:nvPr/>
        </p:nvSpPr>
        <p:spPr>
          <a:xfrm>
            <a:off x="97288" y="1650208"/>
            <a:ext cx="11993112" cy="4093428"/>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dirty="0"/>
              <a:t>public static void main (String[] </a:t>
            </a:r>
            <a:r>
              <a:rPr lang="en-GB" sz="2000" dirty="0" err="1"/>
              <a:t>args</a:t>
            </a:r>
            <a:r>
              <a:rPr lang="en-GB" sz="2000" dirty="0"/>
              <a:t>) throws </a:t>
            </a:r>
            <a:r>
              <a:rPr lang="en-GB" sz="2000" dirty="0" err="1"/>
              <a:t>InterruptedException</a:t>
            </a:r>
            <a:r>
              <a:rPr lang="en-GB" sz="2000" dirty="0"/>
              <a:t>  {</a:t>
            </a:r>
          </a:p>
          <a:p>
            <a:r>
              <a:rPr lang="en-GB" sz="2000" dirty="0"/>
              <a:t>     </a:t>
            </a:r>
            <a:r>
              <a:rPr lang="en-GB" sz="2000" b="1" dirty="0" err="1"/>
              <a:t>CyclicBarrier</a:t>
            </a:r>
            <a:r>
              <a:rPr lang="en-GB" sz="2000" b="1" dirty="0"/>
              <a:t> barrier = new </a:t>
            </a:r>
            <a:r>
              <a:rPr lang="en-GB" sz="2000" b="1" dirty="0" err="1"/>
              <a:t>CyclicBarrier</a:t>
            </a:r>
            <a:r>
              <a:rPr lang="en-GB" sz="2000" b="1" dirty="0"/>
              <a:t>(4, ()-&gt;{</a:t>
            </a:r>
            <a:r>
              <a:rPr lang="en-GB" sz="2000" b="1" dirty="0" err="1"/>
              <a:t>System.out.println</a:t>
            </a:r>
            <a:r>
              <a:rPr lang="en-GB" sz="2000" b="1" dirty="0"/>
              <a:t>("Threads reached </a:t>
            </a:r>
            <a:r>
              <a:rPr lang="en-GB" sz="2000" b="1" dirty="0" err="1"/>
              <a:t>thebarrier</a:t>
            </a:r>
            <a:r>
              <a:rPr lang="en-GB" sz="2000" b="1" dirty="0"/>
              <a:t>:"+counter);}); </a:t>
            </a:r>
          </a:p>
          <a:p>
            <a:r>
              <a:rPr lang="en-GB" sz="2000" b="1" dirty="0"/>
              <a:t>                </a:t>
            </a:r>
          </a:p>
          <a:p>
            <a:r>
              <a:rPr lang="en-GB" sz="2000" dirty="0"/>
              <a:t>       </a:t>
            </a:r>
            <a:r>
              <a:rPr lang="en-GB" sz="2000" dirty="0" err="1"/>
              <a:t>ExecutorService</a:t>
            </a:r>
            <a:r>
              <a:rPr lang="en-GB" sz="2000" dirty="0"/>
              <a:t> pool = </a:t>
            </a:r>
            <a:r>
              <a:rPr lang="en-GB" sz="2000" dirty="0" err="1"/>
              <a:t>Executors.newCachedThreadPool</a:t>
            </a:r>
            <a:r>
              <a:rPr lang="en-GB" sz="2000" dirty="0"/>
              <a:t>();</a:t>
            </a:r>
          </a:p>
          <a:p>
            <a:r>
              <a:rPr lang="en-GB" sz="2000" dirty="0"/>
              <a:t>       </a:t>
            </a:r>
            <a:r>
              <a:rPr lang="en-GB" sz="2000" dirty="0" err="1"/>
              <a:t>AtomicInteger</a:t>
            </a:r>
            <a:r>
              <a:rPr lang="en-GB" sz="2000" dirty="0"/>
              <a:t> counter = new </a:t>
            </a:r>
            <a:r>
              <a:rPr lang="en-GB" sz="2000" dirty="0" err="1"/>
              <a:t>AtomicInteger</a:t>
            </a:r>
            <a:r>
              <a:rPr lang="en-GB" sz="2000" dirty="0"/>
              <a:t>(0);</a:t>
            </a:r>
          </a:p>
          <a:p>
            <a:r>
              <a:rPr lang="en-GB" sz="2000" dirty="0"/>
              <a:t>       </a:t>
            </a:r>
          </a:p>
          <a:p>
            <a:r>
              <a:rPr lang="en-GB" sz="2000" dirty="0"/>
              <a:t>       for(int </a:t>
            </a:r>
            <a:r>
              <a:rPr lang="en-GB" sz="2000" dirty="0" err="1"/>
              <a:t>i</a:t>
            </a:r>
            <a:r>
              <a:rPr lang="en-GB" sz="2000" dirty="0"/>
              <a:t>=0;i&lt;3;i++) {</a:t>
            </a:r>
            <a:r>
              <a:rPr lang="en-GB" sz="2000" dirty="0" err="1"/>
              <a:t>pool.execute</a:t>
            </a:r>
            <a:r>
              <a:rPr lang="en-GB" sz="2000" dirty="0"/>
              <a:t>(new TaskE(</a:t>
            </a:r>
            <a:r>
              <a:rPr lang="en-GB" sz="2000" dirty="0" err="1"/>
              <a:t>controller,counter</a:t>
            </a:r>
            <a:r>
              <a:rPr lang="en-GB" sz="2000" dirty="0"/>
              <a:t>));};</a:t>
            </a:r>
          </a:p>
          <a:p>
            <a:endParaRPr lang="en-GB" sz="2000" dirty="0"/>
          </a:p>
          <a:p>
            <a:r>
              <a:rPr lang="en-GB" sz="2000" dirty="0"/>
              <a:t>      </a:t>
            </a:r>
            <a:r>
              <a:rPr lang="en-GB" sz="2000" b="1" dirty="0"/>
              <a:t>  </a:t>
            </a:r>
            <a:r>
              <a:rPr lang="en-GB" sz="2000" b="1" dirty="0" err="1"/>
              <a:t>controller.await</a:t>
            </a:r>
            <a:r>
              <a:rPr lang="en-GB" sz="2000" b="1" dirty="0"/>
              <a:t>();</a:t>
            </a:r>
            <a:r>
              <a:rPr lang="en-GB" sz="2000" dirty="0"/>
              <a:t>  </a:t>
            </a:r>
          </a:p>
          <a:p>
            <a:r>
              <a:rPr lang="en-GB" sz="2000" dirty="0"/>
              <a:t> </a:t>
            </a:r>
          </a:p>
          <a:p>
            <a:r>
              <a:rPr lang="en-GB" sz="2000" dirty="0"/>
              <a:t>        </a:t>
            </a:r>
            <a:r>
              <a:rPr lang="en-GB" sz="2000" dirty="0" err="1"/>
              <a:t>pool.shutdown</a:t>
            </a:r>
            <a:r>
              <a:rPr lang="en-GB" sz="2000" dirty="0"/>
              <a:t>(); </a:t>
            </a:r>
          </a:p>
          <a:p>
            <a:r>
              <a:rPr lang="en-GB" sz="2000" i="1" dirty="0"/>
              <a:t>    // try {if  (!</a:t>
            </a:r>
            <a:r>
              <a:rPr lang="en-GB" sz="2000" i="1" dirty="0" err="1"/>
              <a:t>pool.awaitTermination</a:t>
            </a:r>
            <a:r>
              <a:rPr lang="en-GB" sz="2000" i="1" dirty="0"/>
              <a:t>() ){</a:t>
            </a:r>
            <a:r>
              <a:rPr lang="en-GB" sz="2000" i="1" dirty="0" err="1"/>
              <a:t>pool.shutdownNow</a:t>
            </a:r>
            <a:r>
              <a:rPr lang="en-GB" sz="2000" i="1" dirty="0"/>
              <a:t>} catch{}</a:t>
            </a:r>
            <a:endParaRPr lang="en-GB" sz="2000" dirty="0"/>
          </a:p>
          <a:p>
            <a:r>
              <a:rPr lang="en-GB" sz="2000" dirty="0"/>
              <a:t>      </a:t>
            </a:r>
            <a:r>
              <a:rPr lang="en-GB" sz="2000" dirty="0" err="1"/>
              <a:t>System.out.println</a:t>
            </a:r>
            <a:r>
              <a:rPr lang="en-GB" sz="2000" dirty="0"/>
              <a:t>("Main thread: " + counter);}  </a:t>
            </a:r>
          </a:p>
        </p:txBody>
      </p:sp>
      <p:sp>
        <p:nvSpPr>
          <p:cNvPr id="10" name="TextBox 9">
            <a:extLst>
              <a:ext uri="{FF2B5EF4-FFF2-40B4-BE49-F238E27FC236}">
                <a16:creationId xmlns:a16="http://schemas.microsoft.com/office/drawing/2014/main" id="{44C83539-4110-E404-F349-5138D375AA89}"/>
              </a:ext>
            </a:extLst>
          </p:cNvPr>
          <p:cNvSpPr txBox="1"/>
          <p:nvPr/>
        </p:nvSpPr>
        <p:spPr>
          <a:xfrm>
            <a:off x="3635707" y="4082385"/>
            <a:ext cx="3826432" cy="400110"/>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000" b="1" dirty="0"/>
              <a:t>n=4  </a:t>
            </a:r>
            <a:r>
              <a:rPr lang="en-US" dirty="0"/>
              <a:t>am </a:t>
            </a:r>
            <a:r>
              <a:rPr lang="en-US" dirty="0" err="1"/>
              <a:t>numarat</a:t>
            </a:r>
            <a:r>
              <a:rPr lang="en-US" dirty="0"/>
              <a:t> </a:t>
            </a:r>
            <a:r>
              <a:rPr lang="en-US" dirty="0" err="1"/>
              <a:t>si</a:t>
            </a:r>
            <a:r>
              <a:rPr lang="en-US" dirty="0"/>
              <a:t> thread-ul principal</a:t>
            </a:r>
          </a:p>
        </p:txBody>
      </p:sp>
      <p:sp>
        <p:nvSpPr>
          <p:cNvPr id="2" name="TextBox 1">
            <a:extLst>
              <a:ext uri="{FF2B5EF4-FFF2-40B4-BE49-F238E27FC236}">
                <a16:creationId xmlns:a16="http://schemas.microsoft.com/office/drawing/2014/main" id="{ECB246F6-2688-FDD8-0728-62DA93C7021A}"/>
              </a:ext>
            </a:extLst>
          </p:cNvPr>
          <p:cNvSpPr txBox="1"/>
          <p:nvPr/>
        </p:nvSpPr>
        <p:spPr>
          <a:xfrm>
            <a:off x="7437120" y="2358836"/>
            <a:ext cx="4441537" cy="923330"/>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Mesajul</a:t>
            </a:r>
            <a:r>
              <a:rPr lang="en-US" dirty="0"/>
              <a:t> </a:t>
            </a:r>
            <a:r>
              <a:rPr lang="en-US" dirty="0" err="1"/>
              <a:t>va</a:t>
            </a:r>
            <a:r>
              <a:rPr lang="en-US" dirty="0"/>
              <a:t> fi </a:t>
            </a:r>
            <a:r>
              <a:rPr lang="en-US" dirty="0" err="1"/>
              <a:t>afisat</a:t>
            </a:r>
            <a:r>
              <a:rPr lang="en-US" dirty="0"/>
              <a:t> </a:t>
            </a:r>
            <a:r>
              <a:rPr lang="en-US" dirty="0" err="1"/>
              <a:t>dupa</a:t>
            </a:r>
            <a:r>
              <a:rPr lang="en-US" dirty="0"/>
              <a:t> </a:t>
            </a:r>
            <a:r>
              <a:rPr lang="en-US" dirty="0" err="1"/>
              <a:t>ce</a:t>
            </a:r>
            <a:r>
              <a:rPr lang="en-US" dirty="0"/>
              <a:t> </a:t>
            </a:r>
            <a:r>
              <a:rPr lang="en-US" dirty="0" err="1"/>
              <a:t>toate</a:t>
            </a:r>
            <a:r>
              <a:rPr lang="en-US" dirty="0"/>
              <a:t> thread-urile</a:t>
            </a:r>
          </a:p>
          <a:p>
            <a:r>
              <a:rPr lang="en-US" dirty="0"/>
              <a:t> au </a:t>
            </a:r>
            <a:r>
              <a:rPr lang="en-US" dirty="0" err="1"/>
              <a:t>ajuns</a:t>
            </a:r>
            <a:r>
              <a:rPr lang="en-US" dirty="0"/>
              <a:t> la </a:t>
            </a:r>
            <a:r>
              <a:rPr lang="en-US" dirty="0" err="1"/>
              <a:t>bariera</a:t>
            </a:r>
            <a:r>
              <a:rPr lang="en-US" dirty="0"/>
              <a:t>. </a:t>
            </a:r>
          </a:p>
          <a:p>
            <a:r>
              <a:rPr lang="en-US" dirty="0" err="1"/>
              <a:t>Valoarea</a:t>
            </a:r>
            <a:r>
              <a:rPr lang="en-US" dirty="0"/>
              <a:t> </a:t>
            </a:r>
            <a:r>
              <a:rPr lang="en-US" dirty="0" err="1"/>
              <a:t>contorului</a:t>
            </a:r>
            <a:r>
              <a:rPr lang="en-US" dirty="0"/>
              <a:t> </a:t>
            </a:r>
            <a:r>
              <a:rPr lang="en-US" dirty="0" err="1"/>
              <a:t>ar</a:t>
            </a:r>
            <a:r>
              <a:rPr lang="en-US" dirty="0"/>
              <a:t> </a:t>
            </a:r>
            <a:r>
              <a:rPr lang="en-US" dirty="0" err="1"/>
              <a:t>trebui</a:t>
            </a:r>
            <a:r>
              <a:rPr lang="en-US" dirty="0"/>
              <a:t> </a:t>
            </a:r>
            <a:r>
              <a:rPr lang="en-US" dirty="0" err="1"/>
              <a:t>sa</a:t>
            </a:r>
            <a:r>
              <a:rPr lang="en-US" dirty="0"/>
              <a:t> fie 300</a:t>
            </a:r>
            <a:endParaRPr lang="en-GB" dirty="0"/>
          </a:p>
        </p:txBody>
      </p:sp>
    </p:spTree>
    <p:extLst>
      <p:ext uri="{BB962C8B-B14F-4D97-AF65-F5344CB8AC3E}">
        <p14:creationId xmlns:p14="http://schemas.microsoft.com/office/powerpoint/2010/main" val="2355971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8B104-7C63-9F32-A415-794AA503951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41C4A8-F9F2-9D60-487D-2F12525503EE}"/>
              </a:ext>
            </a:extLst>
          </p:cNvPr>
          <p:cNvSpPr txBox="1"/>
          <p:nvPr/>
        </p:nvSpPr>
        <p:spPr>
          <a:xfrm>
            <a:off x="216243" y="142103"/>
            <a:ext cx="11195309" cy="1508105"/>
          </a:xfrm>
          <a:prstGeom prst="rect">
            <a:avLst/>
          </a:prstGeom>
          <a:noFill/>
        </p:spPr>
        <p:txBody>
          <a:bodyPr wrap="none" rtlCol="0">
            <a:spAutoFit/>
          </a:bodyPr>
          <a:lstStyle/>
          <a:p>
            <a:pPr marL="285750" indent="-285750">
              <a:buFont typeface="Wingdings" panose="05000000000000000000" pitchFamily="2" charset="2"/>
              <a:buChar char="Ø"/>
            </a:pPr>
            <a:r>
              <a:rPr lang="en-GB" sz="2000" b="1" dirty="0" err="1"/>
              <a:t>CyclicBarrier</a:t>
            </a:r>
            <a:r>
              <a:rPr lang="en-GB" sz="2000" b="1" dirty="0"/>
              <a:t>    </a:t>
            </a:r>
            <a:r>
              <a:rPr lang="en-GB" sz="2000" dirty="0" err="1"/>
              <a:t>sincronizarea</a:t>
            </a:r>
            <a:r>
              <a:rPr lang="en-GB" sz="2000" dirty="0"/>
              <a:t> thread-</a:t>
            </a:r>
            <a:r>
              <a:rPr lang="en-GB" sz="2000" dirty="0" err="1"/>
              <a:t>urilor</a:t>
            </a:r>
            <a:r>
              <a:rPr lang="en-GB" sz="2000" dirty="0"/>
              <a:t> care </a:t>
            </a:r>
            <a:r>
              <a:rPr lang="en-GB" sz="2000" dirty="0" err="1"/>
              <a:t>asteapta</a:t>
            </a:r>
            <a:r>
              <a:rPr lang="en-GB" sz="2000" dirty="0"/>
              <a:t> la </a:t>
            </a:r>
            <a:r>
              <a:rPr lang="en-GB" sz="2000" dirty="0" err="1"/>
              <a:t>bariera</a:t>
            </a:r>
            <a:endParaRPr lang="en-GB" sz="2000" dirty="0"/>
          </a:p>
          <a:p>
            <a:pPr marL="342900" indent="-342900">
              <a:buFont typeface="Arial" panose="020B0604020202020204" pitchFamily="34" charset="0"/>
              <a:buChar char="•"/>
            </a:pPr>
            <a:r>
              <a:rPr lang="en-GB" dirty="0"/>
              <a:t>la </a:t>
            </a:r>
            <a:r>
              <a:rPr lang="en-GB" dirty="0" err="1"/>
              <a:t>creare</a:t>
            </a:r>
            <a:r>
              <a:rPr lang="en-GB" dirty="0"/>
              <a:t> se </a:t>
            </a:r>
            <a:r>
              <a:rPr lang="en-GB" dirty="0" err="1"/>
              <a:t>transmite</a:t>
            </a:r>
            <a:r>
              <a:rPr lang="en-GB" dirty="0"/>
              <a:t> </a:t>
            </a:r>
            <a:r>
              <a:rPr lang="en-GB" dirty="0" err="1"/>
              <a:t>numarul</a:t>
            </a:r>
            <a:r>
              <a:rPr lang="en-GB" dirty="0"/>
              <a:t> de thread-</a:t>
            </a:r>
            <a:r>
              <a:rPr lang="en-GB" dirty="0" err="1"/>
              <a:t>uri</a:t>
            </a:r>
            <a:r>
              <a:rPr lang="en-GB" dirty="0"/>
              <a:t> </a:t>
            </a:r>
            <a:r>
              <a:rPr lang="en-GB" dirty="0" err="1"/>
              <a:t>si</a:t>
            </a:r>
            <a:r>
              <a:rPr lang="en-GB" dirty="0"/>
              <a:t>, optional, o </a:t>
            </a:r>
            <a:r>
              <a:rPr lang="en-GB" dirty="0" err="1"/>
              <a:t>actiune</a:t>
            </a:r>
            <a:r>
              <a:rPr lang="en-GB" dirty="0"/>
              <a:t> (</a:t>
            </a:r>
            <a:r>
              <a:rPr lang="en-GB" dirty="0" err="1"/>
              <a:t>instanta</a:t>
            </a:r>
            <a:r>
              <a:rPr lang="en-GB" dirty="0"/>
              <a:t> a </a:t>
            </a:r>
            <a:r>
              <a:rPr lang="en-GB" dirty="0" err="1"/>
              <a:t>lui</a:t>
            </a:r>
            <a:r>
              <a:rPr lang="en-GB" dirty="0"/>
              <a:t> Runnable), care se </a:t>
            </a:r>
            <a:r>
              <a:rPr lang="en-GB" dirty="0" err="1"/>
              <a:t>executa</a:t>
            </a:r>
            <a:r>
              <a:rPr lang="en-GB" dirty="0"/>
              <a:t> cand </a:t>
            </a:r>
          </a:p>
          <a:p>
            <a:r>
              <a:rPr lang="en-GB" dirty="0"/>
              <a:t>       </a:t>
            </a:r>
            <a:r>
              <a:rPr lang="en-GB" dirty="0" err="1"/>
              <a:t>toate</a:t>
            </a:r>
            <a:r>
              <a:rPr lang="en-GB" dirty="0"/>
              <a:t> thread-urile au </a:t>
            </a:r>
            <a:r>
              <a:rPr lang="en-GB" dirty="0" err="1"/>
              <a:t>ajuns</a:t>
            </a:r>
            <a:r>
              <a:rPr lang="en-GB" dirty="0"/>
              <a:t> la </a:t>
            </a:r>
            <a:r>
              <a:rPr lang="en-GB" dirty="0" err="1"/>
              <a:t>bariera</a:t>
            </a:r>
            <a:endParaRPr lang="en-GB" dirty="0"/>
          </a:p>
          <a:p>
            <a:pPr marL="342900" indent="-342900">
              <a:buFont typeface="Arial" panose="020B0604020202020204" pitchFamily="34" charset="0"/>
              <a:buChar char="•"/>
            </a:pPr>
            <a:r>
              <a:rPr lang="en-GB" dirty="0"/>
              <a:t>thread-urile care </a:t>
            </a:r>
            <a:r>
              <a:rPr lang="en-GB" dirty="0" err="1"/>
              <a:t>apeleaza</a:t>
            </a:r>
            <a:r>
              <a:rPr lang="en-GB" dirty="0"/>
              <a:t> </a:t>
            </a:r>
            <a:r>
              <a:rPr lang="en-GB" b="1" dirty="0" err="1"/>
              <a:t>barrier.await</a:t>
            </a:r>
            <a:r>
              <a:rPr lang="en-GB" b="1" dirty="0"/>
              <a:t>() </a:t>
            </a:r>
            <a:r>
              <a:rPr lang="en-GB" dirty="0" err="1"/>
              <a:t>poate</a:t>
            </a:r>
            <a:r>
              <a:rPr lang="en-GB" dirty="0"/>
              <a:t> </a:t>
            </a:r>
            <a:r>
              <a:rPr lang="en-GB" dirty="0" err="1"/>
              <a:t>trece</a:t>
            </a:r>
            <a:r>
              <a:rPr lang="en-GB" dirty="0"/>
              <a:t> </a:t>
            </a:r>
            <a:r>
              <a:rPr lang="en-GB" dirty="0" err="1"/>
              <a:t>mai</a:t>
            </a:r>
            <a:r>
              <a:rPr lang="en-GB" dirty="0"/>
              <a:t> </a:t>
            </a:r>
            <a:r>
              <a:rPr lang="en-GB" dirty="0" err="1"/>
              <a:t>departe</a:t>
            </a:r>
            <a:r>
              <a:rPr lang="en-GB" dirty="0"/>
              <a:t> </a:t>
            </a:r>
            <a:r>
              <a:rPr lang="en-GB" dirty="0" err="1"/>
              <a:t>numai</a:t>
            </a:r>
            <a:r>
              <a:rPr lang="en-GB" dirty="0"/>
              <a:t>  </a:t>
            </a:r>
            <a:r>
              <a:rPr lang="en-GB" dirty="0" err="1"/>
              <a:t>dupa</a:t>
            </a:r>
            <a:r>
              <a:rPr lang="en-GB" dirty="0"/>
              <a:t> </a:t>
            </a:r>
            <a:r>
              <a:rPr lang="en-GB" dirty="0" err="1"/>
              <a:t>ce</a:t>
            </a:r>
            <a:r>
              <a:rPr lang="en-GB" dirty="0"/>
              <a:t> </a:t>
            </a:r>
            <a:r>
              <a:rPr lang="en-GB" dirty="0" err="1"/>
              <a:t>toate</a:t>
            </a:r>
            <a:r>
              <a:rPr lang="en-GB" dirty="0"/>
              <a:t> au </a:t>
            </a:r>
            <a:r>
              <a:rPr lang="en-GB" dirty="0" err="1"/>
              <a:t>ajuns</a:t>
            </a:r>
            <a:r>
              <a:rPr lang="en-GB" dirty="0"/>
              <a:t> la </a:t>
            </a:r>
            <a:r>
              <a:rPr lang="en-GB" dirty="0" err="1"/>
              <a:t>bariera</a:t>
            </a:r>
            <a:endParaRPr lang="en-GB" dirty="0"/>
          </a:p>
          <a:p>
            <a:endParaRPr lang="en-US" b="1" dirty="0"/>
          </a:p>
        </p:txBody>
      </p:sp>
      <p:sp>
        <p:nvSpPr>
          <p:cNvPr id="3" name="TextBox 2">
            <a:extLst>
              <a:ext uri="{FF2B5EF4-FFF2-40B4-BE49-F238E27FC236}">
                <a16:creationId xmlns:a16="http://schemas.microsoft.com/office/drawing/2014/main" id="{E181FAFF-D668-8427-0DC9-F1F1F71F9888}"/>
              </a:ext>
            </a:extLst>
          </p:cNvPr>
          <p:cNvSpPr txBox="1"/>
          <p:nvPr/>
        </p:nvSpPr>
        <p:spPr>
          <a:xfrm>
            <a:off x="97288" y="1650208"/>
            <a:ext cx="11993112" cy="4093428"/>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sz="2000" dirty="0"/>
              <a:t>public static void main (String[] </a:t>
            </a:r>
            <a:r>
              <a:rPr lang="en-GB" sz="2000" dirty="0" err="1"/>
              <a:t>args</a:t>
            </a:r>
            <a:r>
              <a:rPr lang="en-GB" sz="2000" dirty="0"/>
              <a:t>) throws </a:t>
            </a:r>
            <a:r>
              <a:rPr lang="en-GB" sz="2000" dirty="0" err="1"/>
              <a:t>InterruptedException</a:t>
            </a:r>
            <a:r>
              <a:rPr lang="en-GB" sz="2000" dirty="0"/>
              <a:t>  {</a:t>
            </a:r>
          </a:p>
          <a:p>
            <a:r>
              <a:rPr lang="en-GB" sz="2000" dirty="0"/>
              <a:t>     </a:t>
            </a:r>
            <a:r>
              <a:rPr lang="en-GB" sz="2000" b="1" dirty="0" err="1"/>
              <a:t>CyclicBarrier</a:t>
            </a:r>
            <a:r>
              <a:rPr lang="en-GB" sz="2000" b="1" dirty="0"/>
              <a:t> barrier = new </a:t>
            </a:r>
            <a:r>
              <a:rPr lang="en-GB" sz="2000" b="1" dirty="0" err="1"/>
              <a:t>CyclicBarrier</a:t>
            </a:r>
            <a:r>
              <a:rPr lang="en-GB" sz="2000" b="1" dirty="0"/>
              <a:t>(4, ()-&gt;{</a:t>
            </a:r>
            <a:r>
              <a:rPr lang="en-GB" sz="2000" b="1" dirty="0" err="1"/>
              <a:t>System.out.println</a:t>
            </a:r>
            <a:r>
              <a:rPr lang="en-GB" sz="2000" b="1" dirty="0"/>
              <a:t>("Threads reached </a:t>
            </a:r>
            <a:r>
              <a:rPr lang="en-GB" sz="2000" b="1" dirty="0" err="1"/>
              <a:t>thebarrier</a:t>
            </a:r>
            <a:r>
              <a:rPr lang="en-GB" sz="2000" b="1" dirty="0"/>
              <a:t>:"+counter);}); </a:t>
            </a:r>
          </a:p>
          <a:p>
            <a:r>
              <a:rPr lang="en-GB" sz="2000" b="1" dirty="0"/>
              <a:t>                </a:t>
            </a:r>
          </a:p>
          <a:p>
            <a:r>
              <a:rPr lang="en-GB" sz="2000" dirty="0"/>
              <a:t>     </a:t>
            </a:r>
            <a:r>
              <a:rPr lang="en-GB" sz="2000" dirty="0" err="1"/>
              <a:t>ExecutorService</a:t>
            </a:r>
            <a:r>
              <a:rPr lang="en-GB" sz="2000" dirty="0"/>
              <a:t> pool = </a:t>
            </a:r>
            <a:r>
              <a:rPr lang="en-GB" sz="2000" dirty="0" err="1"/>
              <a:t>Executors.newCachedThreadPool</a:t>
            </a:r>
            <a:r>
              <a:rPr lang="en-GB" sz="2000" dirty="0"/>
              <a:t>();</a:t>
            </a:r>
          </a:p>
          <a:p>
            <a:r>
              <a:rPr lang="en-GB" sz="2000" dirty="0"/>
              <a:t>     </a:t>
            </a:r>
            <a:r>
              <a:rPr lang="en-GB" sz="2000" dirty="0" err="1"/>
              <a:t>AtomicInteger</a:t>
            </a:r>
            <a:r>
              <a:rPr lang="en-GB" sz="2000" dirty="0"/>
              <a:t> counter = new </a:t>
            </a:r>
            <a:r>
              <a:rPr lang="en-GB" sz="2000" dirty="0" err="1"/>
              <a:t>AtomicInteger</a:t>
            </a:r>
            <a:r>
              <a:rPr lang="en-GB" sz="2000" dirty="0"/>
              <a:t>(0);</a:t>
            </a:r>
          </a:p>
          <a:p>
            <a:r>
              <a:rPr lang="en-GB" sz="2000" dirty="0"/>
              <a:t>       </a:t>
            </a:r>
          </a:p>
          <a:p>
            <a:r>
              <a:rPr lang="en-GB" sz="2000" dirty="0"/>
              <a:t>       for(int </a:t>
            </a:r>
            <a:r>
              <a:rPr lang="en-GB" sz="2000" dirty="0" err="1"/>
              <a:t>i</a:t>
            </a:r>
            <a:r>
              <a:rPr lang="en-GB" sz="2000" dirty="0"/>
              <a:t>=0;i&lt;3;i++) {</a:t>
            </a:r>
            <a:r>
              <a:rPr lang="en-GB" sz="2000" dirty="0" err="1"/>
              <a:t>pool.execute</a:t>
            </a:r>
            <a:r>
              <a:rPr lang="en-GB" sz="2000" dirty="0"/>
              <a:t>(new TaskE(</a:t>
            </a:r>
            <a:r>
              <a:rPr lang="en-GB" sz="2000" dirty="0" err="1"/>
              <a:t>controller,counter</a:t>
            </a:r>
            <a:r>
              <a:rPr lang="en-GB" sz="2000" dirty="0"/>
              <a:t>));};</a:t>
            </a:r>
          </a:p>
          <a:p>
            <a:endParaRPr lang="en-GB" sz="2000" dirty="0"/>
          </a:p>
          <a:p>
            <a:r>
              <a:rPr lang="en-GB" sz="2000" dirty="0"/>
              <a:t>      </a:t>
            </a:r>
            <a:r>
              <a:rPr lang="en-GB" sz="2000" b="1" dirty="0"/>
              <a:t>  </a:t>
            </a:r>
            <a:r>
              <a:rPr lang="en-GB" sz="2000" b="1" dirty="0" err="1"/>
              <a:t>controller.await</a:t>
            </a:r>
            <a:r>
              <a:rPr lang="en-GB" sz="2000" b="1" dirty="0"/>
              <a:t>();</a:t>
            </a:r>
            <a:r>
              <a:rPr lang="en-GB" sz="2000" dirty="0"/>
              <a:t>  </a:t>
            </a:r>
          </a:p>
          <a:p>
            <a:r>
              <a:rPr lang="en-GB" sz="2000" dirty="0"/>
              <a:t> </a:t>
            </a:r>
          </a:p>
          <a:p>
            <a:r>
              <a:rPr lang="en-GB" sz="2000" dirty="0"/>
              <a:t>        </a:t>
            </a:r>
            <a:r>
              <a:rPr lang="en-GB" sz="2000" dirty="0" err="1"/>
              <a:t>pool.shutdown</a:t>
            </a:r>
            <a:r>
              <a:rPr lang="en-GB" sz="2000" dirty="0"/>
              <a:t>(); </a:t>
            </a:r>
          </a:p>
          <a:p>
            <a:r>
              <a:rPr lang="en-GB" sz="2000" i="1" dirty="0"/>
              <a:t>    // try {if  (!</a:t>
            </a:r>
            <a:r>
              <a:rPr lang="en-GB" sz="2000" i="1" dirty="0" err="1"/>
              <a:t>pool.awaitTermination</a:t>
            </a:r>
            <a:r>
              <a:rPr lang="en-GB" sz="2000" i="1" dirty="0"/>
              <a:t>() ){</a:t>
            </a:r>
            <a:r>
              <a:rPr lang="en-GB" sz="2000" i="1" dirty="0" err="1"/>
              <a:t>pool.shutdownNow</a:t>
            </a:r>
            <a:r>
              <a:rPr lang="en-GB" sz="2000" i="1" dirty="0"/>
              <a:t>} catch{}</a:t>
            </a:r>
            <a:endParaRPr lang="en-GB" sz="2000" dirty="0"/>
          </a:p>
          <a:p>
            <a:r>
              <a:rPr lang="en-GB" sz="2000" dirty="0"/>
              <a:t>      </a:t>
            </a:r>
            <a:r>
              <a:rPr lang="en-GB" sz="2000" dirty="0" err="1"/>
              <a:t>System.out.println</a:t>
            </a:r>
            <a:r>
              <a:rPr lang="en-GB" sz="2000" dirty="0"/>
              <a:t>("Main thread: " + counter);}  </a:t>
            </a:r>
          </a:p>
        </p:txBody>
      </p:sp>
      <p:sp>
        <p:nvSpPr>
          <p:cNvPr id="2" name="TextBox 1">
            <a:extLst>
              <a:ext uri="{FF2B5EF4-FFF2-40B4-BE49-F238E27FC236}">
                <a16:creationId xmlns:a16="http://schemas.microsoft.com/office/drawing/2014/main" id="{CD91CC13-08C1-A954-27DD-0A40267D2617}"/>
              </a:ext>
            </a:extLst>
          </p:cNvPr>
          <p:cNvSpPr txBox="1"/>
          <p:nvPr/>
        </p:nvSpPr>
        <p:spPr>
          <a:xfrm>
            <a:off x="7437120" y="2358836"/>
            <a:ext cx="4441537" cy="923330"/>
          </a:xfrm>
          <a:prstGeom prst="rect">
            <a:avLst/>
          </a:prstGeom>
          <a:solidFill>
            <a:schemeClr val="bg1">
              <a:lumMod val="85000"/>
            </a:schemeClr>
          </a:solidFill>
          <a:ln>
            <a:solidFill>
              <a:schemeClr val="bg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dirty="0" err="1"/>
              <a:t>Mesajul</a:t>
            </a:r>
            <a:r>
              <a:rPr lang="en-US" dirty="0"/>
              <a:t> </a:t>
            </a:r>
            <a:r>
              <a:rPr lang="en-US" dirty="0" err="1"/>
              <a:t>va</a:t>
            </a:r>
            <a:r>
              <a:rPr lang="en-US" dirty="0"/>
              <a:t> fi </a:t>
            </a:r>
            <a:r>
              <a:rPr lang="en-US" dirty="0" err="1"/>
              <a:t>afisat</a:t>
            </a:r>
            <a:r>
              <a:rPr lang="en-US" dirty="0"/>
              <a:t> </a:t>
            </a:r>
            <a:r>
              <a:rPr lang="en-US" dirty="0" err="1"/>
              <a:t>dupa</a:t>
            </a:r>
            <a:r>
              <a:rPr lang="en-US" dirty="0"/>
              <a:t> </a:t>
            </a:r>
            <a:r>
              <a:rPr lang="en-US" dirty="0" err="1"/>
              <a:t>ce</a:t>
            </a:r>
            <a:r>
              <a:rPr lang="en-US" dirty="0"/>
              <a:t> </a:t>
            </a:r>
            <a:r>
              <a:rPr lang="en-US" dirty="0" err="1"/>
              <a:t>toate</a:t>
            </a:r>
            <a:r>
              <a:rPr lang="en-US" dirty="0"/>
              <a:t> thread-urile</a:t>
            </a:r>
          </a:p>
          <a:p>
            <a:r>
              <a:rPr lang="en-US" dirty="0"/>
              <a:t> au </a:t>
            </a:r>
            <a:r>
              <a:rPr lang="en-US" dirty="0" err="1"/>
              <a:t>ajuns</a:t>
            </a:r>
            <a:r>
              <a:rPr lang="en-US" dirty="0"/>
              <a:t> la </a:t>
            </a:r>
            <a:r>
              <a:rPr lang="en-US" dirty="0" err="1"/>
              <a:t>bariera</a:t>
            </a:r>
            <a:r>
              <a:rPr lang="en-US" dirty="0"/>
              <a:t>. </a:t>
            </a:r>
          </a:p>
          <a:p>
            <a:r>
              <a:rPr lang="en-US" dirty="0" err="1"/>
              <a:t>Valoarea</a:t>
            </a:r>
            <a:r>
              <a:rPr lang="en-US" dirty="0"/>
              <a:t> </a:t>
            </a:r>
            <a:r>
              <a:rPr lang="en-US" dirty="0" err="1"/>
              <a:t>contorului</a:t>
            </a:r>
            <a:r>
              <a:rPr lang="en-US" dirty="0"/>
              <a:t> </a:t>
            </a:r>
            <a:r>
              <a:rPr lang="en-US" dirty="0" err="1"/>
              <a:t>ar</a:t>
            </a:r>
            <a:r>
              <a:rPr lang="en-US" dirty="0"/>
              <a:t> </a:t>
            </a:r>
            <a:r>
              <a:rPr lang="en-US" dirty="0" err="1"/>
              <a:t>trebui</a:t>
            </a:r>
            <a:r>
              <a:rPr lang="en-US" dirty="0"/>
              <a:t> </a:t>
            </a:r>
            <a:r>
              <a:rPr lang="en-US" dirty="0" err="1"/>
              <a:t>sa</a:t>
            </a:r>
            <a:r>
              <a:rPr lang="en-US" dirty="0"/>
              <a:t> fie 300</a:t>
            </a:r>
            <a:endParaRPr lang="en-GB" dirty="0"/>
          </a:p>
        </p:txBody>
      </p:sp>
      <p:pic>
        <p:nvPicPr>
          <p:cNvPr id="5" name="Picture 4">
            <a:extLst>
              <a:ext uri="{FF2B5EF4-FFF2-40B4-BE49-F238E27FC236}">
                <a16:creationId xmlns:a16="http://schemas.microsoft.com/office/drawing/2014/main" id="{06162EFC-C2BF-B573-AE76-384A42F4E06F}"/>
              </a:ext>
            </a:extLst>
          </p:cNvPr>
          <p:cNvPicPr>
            <a:picLocks noChangeAspect="1"/>
          </p:cNvPicPr>
          <p:nvPr/>
        </p:nvPicPr>
        <p:blipFill>
          <a:blip r:embed="rId2"/>
          <a:stretch>
            <a:fillRect/>
          </a:stretch>
        </p:blipFill>
        <p:spPr>
          <a:xfrm>
            <a:off x="6779747" y="4266798"/>
            <a:ext cx="5310653" cy="1872704"/>
          </a:xfrm>
          <a:prstGeom prst="rect">
            <a:avLst/>
          </a:prstGeom>
        </p:spPr>
      </p:pic>
    </p:spTree>
    <p:extLst>
      <p:ext uri="{BB962C8B-B14F-4D97-AF65-F5344CB8AC3E}">
        <p14:creationId xmlns:p14="http://schemas.microsoft.com/office/powerpoint/2010/main" val="2301223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B497E-BC8E-D163-8097-6F84B12DC09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240C604-CCC4-E215-20A0-5FC6AD663BFE}"/>
              </a:ext>
            </a:extLst>
          </p:cNvPr>
          <p:cNvSpPr txBox="1"/>
          <p:nvPr/>
        </p:nvSpPr>
        <p:spPr>
          <a:xfrm>
            <a:off x="165443" y="0"/>
            <a:ext cx="10168233" cy="738664"/>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err="1"/>
              <a:t>CyclicBarrier</a:t>
            </a:r>
            <a:r>
              <a:rPr lang="en-US" dirty="0"/>
              <a:t> </a:t>
            </a:r>
            <a:r>
              <a:rPr lang="en-US" dirty="0" err="1"/>
              <a:t>pentru</a:t>
            </a:r>
            <a:r>
              <a:rPr lang="en-US" dirty="0"/>
              <a:t> Task-</a:t>
            </a:r>
            <a:r>
              <a:rPr lang="en-US" dirty="0" err="1"/>
              <a:t>uri</a:t>
            </a:r>
            <a:r>
              <a:rPr lang="en-US" dirty="0"/>
              <a:t> </a:t>
            </a:r>
            <a:r>
              <a:rPr lang="en-US" dirty="0" err="1"/>
              <a:t>si</a:t>
            </a:r>
            <a:r>
              <a:rPr lang="en-US" dirty="0"/>
              <a:t>  </a:t>
            </a:r>
            <a:r>
              <a:rPr lang="en-US" sz="2400" b="1" dirty="0" err="1"/>
              <a:t>CountDownLatch</a:t>
            </a:r>
            <a:r>
              <a:rPr lang="en-US" sz="2400" b="1" dirty="0"/>
              <a:t> </a:t>
            </a:r>
            <a:r>
              <a:rPr lang="en-US" sz="2400" dirty="0" err="1"/>
              <a:t>pentru</a:t>
            </a:r>
            <a:r>
              <a:rPr lang="en-US" sz="2400" dirty="0"/>
              <a:t> </a:t>
            </a:r>
            <a:r>
              <a:rPr lang="en-US" sz="2400" dirty="0" err="1"/>
              <a:t>terminarea</a:t>
            </a:r>
            <a:r>
              <a:rPr lang="en-US" sz="2400" dirty="0"/>
              <a:t> thread-</a:t>
            </a:r>
            <a:r>
              <a:rPr lang="en-US" sz="2400" dirty="0" err="1"/>
              <a:t>urilor</a:t>
            </a:r>
            <a:endParaRPr lang="en-GB" dirty="0"/>
          </a:p>
          <a:p>
            <a:endParaRPr lang="en-US" b="1" dirty="0"/>
          </a:p>
        </p:txBody>
      </p:sp>
      <p:sp>
        <p:nvSpPr>
          <p:cNvPr id="3" name="TextBox 2">
            <a:extLst>
              <a:ext uri="{FF2B5EF4-FFF2-40B4-BE49-F238E27FC236}">
                <a16:creationId xmlns:a16="http://schemas.microsoft.com/office/drawing/2014/main" id="{1F38DAAF-8EEC-F2A6-C707-C1BEF05A95CD}"/>
              </a:ext>
            </a:extLst>
          </p:cNvPr>
          <p:cNvSpPr txBox="1"/>
          <p:nvPr/>
        </p:nvSpPr>
        <p:spPr>
          <a:xfrm>
            <a:off x="165443" y="3484244"/>
            <a:ext cx="11514497" cy="258532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 (String[] </a:t>
            </a:r>
            <a:r>
              <a:rPr lang="en-GB" dirty="0" err="1"/>
              <a:t>args</a:t>
            </a:r>
            <a:r>
              <a:rPr lang="en-GB" dirty="0"/>
              <a:t>) throws </a:t>
            </a:r>
            <a:r>
              <a:rPr lang="en-GB" dirty="0" err="1"/>
              <a:t>InterruptedException</a:t>
            </a:r>
            <a:r>
              <a:rPr lang="en-GB" dirty="0"/>
              <a:t>  {</a:t>
            </a:r>
          </a:p>
          <a:p>
            <a:r>
              <a:rPr lang="en-GB" dirty="0"/>
              <a:t>        </a:t>
            </a:r>
            <a:r>
              <a:rPr lang="en-GB" b="1" dirty="0" err="1"/>
              <a:t>CountDownLatch</a:t>
            </a:r>
            <a:r>
              <a:rPr lang="en-GB" b="1" dirty="0"/>
              <a:t> controller = new </a:t>
            </a:r>
            <a:r>
              <a:rPr lang="en-GB" b="1" dirty="0" err="1"/>
              <a:t>CountDownLatch</a:t>
            </a:r>
            <a:r>
              <a:rPr lang="en-GB" b="1" dirty="0"/>
              <a:t>(3);</a:t>
            </a:r>
          </a:p>
          <a:p>
            <a:r>
              <a:rPr lang="en-GB" b="1" dirty="0"/>
              <a:t>        </a:t>
            </a:r>
            <a:r>
              <a:rPr lang="en-GB" b="1" dirty="0" err="1"/>
              <a:t>CyclicBarrier</a:t>
            </a:r>
            <a:r>
              <a:rPr lang="en-GB" b="1" dirty="0"/>
              <a:t> barrier = new </a:t>
            </a:r>
            <a:r>
              <a:rPr lang="en-GB" b="1" dirty="0" err="1"/>
              <a:t>CyclicBarrier</a:t>
            </a:r>
            <a:r>
              <a:rPr lang="en-GB" b="1" dirty="0"/>
              <a:t>(4, ()-&gt;{</a:t>
            </a:r>
            <a:r>
              <a:rPr lang="en-GB" b="1" dirty="0" err="1"/>
              <a:t>System.out.println</a:t>
            </a:r>
            <a:r>
              <a:rPr lang="en-GB" b="1" dirty="0"/>
              <a:t>("Threads reached </a:t>
            </a:r>
            <a:r>
              <a:rPr lang="en-GB" b="1" dirty="0" err="1"/>
              <a:t>thebarrier</a:t>
            </a:r>
            <a:r>
              <a:rPr lang="en-GB" b="1" dirty="0"/>
              <a:t>:"+counter);});</a:t>
            </a:r>
            <a:endParaRPr lang="en-GB" dirty="0"/>
          </a:p>
          <a:p>
            <a:r>
              <a:rPr lang="en-GB" dirty="0"/>
              <a:t>       </a:t>
            </a:r>
            <a:r>
              <a:rPr lang="en-GB" dirty="0" err="1"/>
              <a:t>ExecutorService</a:t>
            </a:r>
            <a:r>
              <a:rPr lang="en-GB" dirty="0"/>
              <a:t> pool = </a:t>
            </a:r>
            <a:r>
              <a:rPr lang="en-GB" dirty="0" err="1"/>
              <a:t>Executors.newCachedThreadPool</a:t>
            </a:r>
            <a:r>
              <a:rPr lang="en-GB" dirty="0"/>
              <a:t>();</a:t>
            </a:r>
          </a:p>
          <a:p>
            <a:r>
              <a:rPr lang="en-GB" dirty="0"/>
              <a:t>        </a:t>
            </a:r>
            <a:r>
              <a:rPr lang="en-GB" dirty="0" err="1"/>
              <a:t>AtomicInteger</a:t>
            </a:r>
            <a:r>
              <a:rPr lang="en-GB" dirty="0"/>
              <a:t> counter = new </a:t>
            </a:r>
            <a:r>
              <a:rPr lang="en-GB" dirty="0" err="1"/>
              <a:t>AtomicInteger</a:t>
            </a:r>
            <a:r>
              <a:rPr lang="en-GB" dirty="0"/>
              <a:t>(0);   </a:t>
            </a:r>
          </a:p>
          <a:p>
            <a:r>
              <a:rPr lang="en-GB" dirty="0"/>
              <a:t>       for(int </a:t>
            </a:r>
            <a:r>
              <a:rPr lang="en-GB" dirty="0" err="1"/>
              <a:t>i</a:t>
            </a:r>
            <a:r>
              <a:rPr lang="en-GB" dirty="0"/>
              <a:t>=0;i&lt;3;i++) {</a:t>
            </a:r>
            <a:r>
              <a:rPr lang="en-GB" dirty="0" err="1"/>
              <a:t>pool.execute</a:t>
            </a:r>
            <a:r>
              <a:rPr lang="en-GB" dirty="0"/>
              <a:t>(new TaskE(controller, barrier, counter));};</a:t>
            </a:r>
          </a:p>
          <a:p>
            <a:r>
              <a:rPr lang="en-GB" dirty="0"/>
              <a:t>      </a:t>
            </a:r>
            <a:r>
              <a:rPr lang="en-GB" b="1" dirty="0"/>
              <a:t>  </a:t>
            </a:r>
            <a:r>
              <a:rPr lang="en-GB" b="1" dirty="0" err="1"/>
              <a:t>barrier.await</a:t>
            </a:r>
            <a:r>
              <a:rPr lang="en-GB" b="1" dirty="0"/>
              <a:t>(); </a:t>
            </a:r>
            <a:r>
              <a:rPr lang="en-GB" b="1" dirty="0" err="1"/>
              <a:t>controller.await</a:t>
            </a:r>
            <a:r>
              <a:rPr lang="en-GB" b="1" dirty="0"/>
              <a:t>();</a:t>
            </a:r>
            <a:r>
              <a:rPr lang="en-GB" dirty="0"/>
              <a:t>  </a:t>
            </a:r>
          </a:p>
          <a:p>
            <a:r>
              <a:rPr lang="en-GB" dirty="0"/>
              <a:t>       </a:t>
            </a:r>
            <a:r>
              <a:rPr lang="en-GB" dirty="0" err="1"/>
              <a:t>pool.shutdown</a:t>
            </a:r>
            <a:r>
              <a:rPr lang="en-GB" dirty="0"/>
              <a:t>();</a:t>
            </a:r>
          </a:p>
          <a:p>
            <a:r>
              <a:rPr lang="en-GB" dirty="0"/>
              <a:t>       </a:t>
            </a:r>
            <a:r>
              <a:rPr lang="en-GB" dirty="0" err="1"/>
              <a:t>System.out.println</a:t>
            </a:r>
            <a:r>
              <a:rPr lang="en-GB" dirty="0"/>
              <a:t>("All done! Final value: " + counter); }</a:t>
            </a:r>
          </a:p>
        </p:txBody>
      </p:sp>
      <p:sp>
        <p:nvSpPr>
          <p:cNvPr id="4" name="TextBox 3">
            <a:extLst>
              <a:ext uri="{FF2B5EF4-FFF2-40B4-BE49-F238E27FC236}">
                <a16:creationId xmlns:a16="http://schemas.microsoft.com/office/drawing/2014/main" id="{CF996950-C516-48DC-71C1-0806E4E8A0D4}"/>
              </a:ext>
            </a:extLst>
          </p:cNvPr>
          <p:cNvSpPr txBox="1"/>
          <p:nvPr/>
        </p:nvSpPr>
        <p:spPr>
          <a:xfrm>
            <a:off x="243506" y="511435"/>
            <a:ext cx="11633534" cy="2862322"/>
          </a:xfrm>
          <a:prstGeom prst="rect">
            <a:avLst/>
          </a:prstGeom>
          <a:ln>
            <a:solidFill>
              <a:srgbClr val="92D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class TaskE implements Runnable {</a:t>
            </a:r>
          </a:p>
          <a:p>
            <a:r>
              <a:rPr lang="en-GB" dirty="0"/>
              <a:t> private  </a:t>
            </a:r>
            <a:r>
              <a:rPr lang="en-GB" dirty="0" err="1"/>
              <a:t>AtomicInteger</a:t>
            </a:r>
            <a:r>
              <a:rPr lang="en-GB" dirty="0"/>
              <a:t> counter;   private  </a:t>
            </a:r>
            <a:r>
              <a:rPr lang="en-GB" dirty="0" err="1"/>
              <a:t>CyclicBarrier</a:t>
            </a:r>
            <a:r>
              <a:rPr lang="en-GB" dirty="0"/>
              <a:t> barrier; private  </a:t>
            </a:r>
            <a:r>
              <a:rPr lang="en-GB" dirty="0" err="1"/>
              <a:t>CountDownLatch</a:t>
            </a:r>
            <a:r>
              <a:rPr lang="en-GB" dirty="0"/>
              <a:t> controller;</a:t>
            </a:r>
          </a:p>
          <a:p>
            <a:r>
              <a:rPr lang="en-GB" dirty="0"/>
              <a:t> TaskE (</a:t>
            </a:r>
            <a:r>
              <a:rPr lang="en-GB" dirty="0" err="1"/>
              <a:t>CountDownLatch</a:t>
            </a:r>
            <a:r>
              <a:rPr lang="en-GB" dirty="0"/>
              <a:t> c, </a:t>
            </a:r>
            <a:r>
              <a:rPr lang="en-GB" dirty="0" err="1"/>
              <a:t>CyclicBarrier</a:t>
            </a:r>
            <a:r>
              <a:rPr lang="en-GB" dirty="0"/>
              <a:t> b, </a:t>
            </a:r>
            <a:r>
              <a:rPr lang="en-GB" dirty="0" err="1"/>
              <a:t>AtomicInteger</a:t>
            </a:r>
            <a:r>
              <a:rPr lang="en-GB" dirty="0"/>
              <a:t> counter){</a:t>
            </a:r>
            <a:r>
              <a:rPr lang="en-GB" dirty="0" err="1"/>
              <a:t>this.controller</a:t>
            </a:r>
            <a:r>
              <a:rPr lang="en-GB" dirty="0"/>
              <a:t>=</a:t>
            </a:r>
            <a:r>
              <a:rPr lang="en-GB" dirty="0" err="1"/>
              <a:t>c;this.barrier</a:t>
            </a:r>
            <a:r>
              <a:rPr lang="en-GB" dirty="0"/>
              <a:t> = b; </a:t>
            </a:r>
            <a:r>
              <a:rPr lang="en-GB" dirty="0" err="1"/>
              <a:t>this.counter</a:t>
            </a:r>
            <a:r>
              <a:rPr lang="en-GB" dirty="0"/>
              <a:t>=counter;}</a:t>
            </a:r>
          </a:p>
          <a:p>
            <a:r>
              <a:rPr lang="en-GB" dirty="0"/>
              <a:t>     </a:t>
            </a:r>
          </a:p>
          <a:p>
            <a:r>
              <a:rPr lang="en-GB" dirty="0"/>
              <a:t>public void run () {</a:t>
            </a:r>
          </a:p>
          <a:p>
            <a:r>
              <a:rPr lang="en-GB" dirty="0"/>
              <a:t>            for (int </a:t>
            </a:r>
            <a:r>
              <a:rPr lang="en-GB" dirty="0" err="1"/>
              <a:t>i</a:t>
            </a:r>
            <a:r>
              <a:rPr lang="en-GB" dirty="0"/>
              <a:t> = 0; </a:t>
            </a:r>
            <a:r>
              <a:rPr lang="en-GB" dirty="0" err="1"/>
              <a:t>i</a:t>
            </a:r>
            <a:r>
              <a:rPr lang="en-GB" dirty="0"/>
              <a:t> &lt; 100; </a:t>
            </a:r>
            <a:r>
              <a:rPr lang="en-GB" dirty="0" err="1"/>
              <a:t>i</a:t>
            </a:r>
            <a:r>
              <a:rPr lang="en-GB" dirty="0"/>
              <a:t>++) {</a:t>
            </a:r>
            <a:r>
              <a:rPr lang="en-GB" dirty="0" err="1"/>
              <a:t>counter.incrementAndGet</a:t>
            </a:r>
            <a:r>
              <a:rPr lang="en-GB" dirty="0"/>
              <a:t>(); };</a:t>
            </a:r>
          </a:p>
          <a:p>
            <a:r>
              <a:rPr lang="en-GB" dirty="0"/>
              <a:t>            </a:t>
            </a:r>
            <a:r>
              <a:rPr lang="en-GB" b="1" dirty="0"/>
              <a:t>try {</a:t>
            </a:r>
            <a:r>
              <a:rPr lang="en-GB" b="1" dirty="0" err="1"/>
              <a:t>barrier.await</a:t>
            </a:r>
            <a:r>
              <a:rPr lang="en-GB" b="1" dirty="0"/>
              <a:t>();} catch (Exception e) {</a:t>
            </a:r>
            <a:r>
              <a:rPr lang="en-GB" b="1" dirty="0" err="1"/>
              <a:t>System.out.println</a:t>
            </a:r>
            <a:r>
              <a:rPr lang="en-GB" b="1" dirty="0"/>
              <a:t>(e);return;} </a:t>
            </a:r>
          </a:p>
          <a:p>
            <a:r>
              <a:rPr lang="en-GB" dirty="0"/>
              <a:t>            for (int </a:t>
            </a:r>
            <a:r>
              <a:rPr lang="en-GB" dirty="0" err="1"/>
              <a:t>i</a:t>
            </a:r>
            <a:r>
              <a:rPr lang="en-GB" dirty="0"/>
              <a:t> = 0; </a:t>
            </a:r>
            <a:r>
              <a:rPr lang="en-GB" dirty="0" err="1"/>
              <a:t>i</a:t>
            </a:r>
            <a:r>
              <a:rPr lang="en-GB" dirty="0"/>
              <a:t> &lt; 1000; </a:t>
            </a:r>
            <a:r>
              <a:rPr lang="en-GB" dirty="0" err="1"/>
              <a:t>i</a:t>
            </a:r>
            <a:r>
              <a:rPr lang="en-GB" dirty="0"/>
              <a:t>++) {</a:t>
            </a:r>
            <a:r>
              <a:rPr lang="en-GB" dirty="0" err="1"/>
              <a:t>counter.incrementAndGet</a:t>
            </a:r>
            <a:r>
              <a:rPr lang="en-GB" dirty="0"/>
              <a:t>();};  </a:t>
            </a:r>
          </a:p>
          <a:p>
            <a:r>
              <a:rPr lang="en-GB" dirty="0"/>
              <a:t>            </a:t>
            </a:r>
            <a:r>
              <a:rPr lang="en-GB" dirty="0" err="1"/>
              <a:t>System.out.println</a:t>
            </a:r>
            <a:r>
              <a:rPr lang="en-GB" dirty="0"/>
              <a:t>(</a:t>
            </a:r>
            <a:r>
              <a:rPr lang="en-GB" dirty="0" err="1"/>
              <a:t>Thread.currentThread</a:t>
            </a:r>
            <a:r>
              <a:rPr lang="en-GB" dirty="0"/>
              <a:t>().</a:t>
            </a:r>
            <a:r>
              <a:rPr lang="en-GB" dirty="0" err="1"/>
              <a:t>getName</a:t>
            </a:r>
            <a:r>
              <a:rPr lang="en-GB" dirty="0"/>
              <a:t>()+": "+counter);    </a:t>
            </a:r>
          </a:p>
          <a:p>
            <a:r>
              <a:rPr lang="en-GB" b="1" dirty="0"/>
              <a:t>            </a:t>
            </a:r>
            <a:r>
              <a:rPr lang="en-GB" b="1" dirty="0" err="1"/>
              <a:t>controller.countDown</a:t>
            </a:r>
            <a:r>
              <a:rPr lang="en-GB" b="1" dirty="0"/>
              <a:t>(); </a:t>
            </a:r>
            <a:r>
              <a:rPr lang="en-GB" dirty="0"/>
              <a:t>}</a:t>
            </a:r>
          </a:p>
        </p:txBody>
      </p:sp>
    </p:spTree>
    <p:extLst>
      <p:ext uri="{BB962C8B-B14F-4D97-AF65-F5344CB8AC3E}">
        <p14:creationId xmlns:p14="http://schemas.microsoft.com/office/powerpoint/2010/main" val="2217049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18AE8-366A-E27F-09E5-36E56A73C09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158EA10-906E-2A6D-AE30-FEF5F4972837}"/>
              </a:ext>
            </a:extLst>
          </p:cNvPr>
          <p:cNvSpPr txBox="1"/>
          <p:nvPr/>
        </p:nvSpPr>
        <p:spPr>
          <a:xfrm>
            <a:off x="165443" y="0"/>
            <a:ext cx="10168233" cy="738664"/>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err="1"/>
              <a:t>CyclicBarrier</a:t>
            </a:r>
            <a:r>
              <a:rPr lang="en-US" dirty="0"/>
              <a:t> </a:t>
            </a:r>
            <a:r>
              <a:rPr lang="en-US" dirty="0" err="1"/>
              <a:t>pentru</a:t>
            </a:r>
            <a:r>
              <a:rPr lang="en-US" dirty="0"/>
              <a:t> Task-</a:t>
            </a:r>
            <a:r>
              <a:rPr lang="en-US" dirty="0" err="1"/>
              <a:t>uri</a:t>
            </a:r>
            <a:r>
              <a:rPr lang="en-US" dirty="0"/>
              <a:t> </a:t>
            </a:r>
            <a:r>
              <a:rPr lang="en-US" dirty="0" err="1"/>
              <a:t>si</a:t>
            </a:r>
            <a:r>
              <a:rPr lang="en-US" dirty="0"/>
              <a:t>  </a:t>
            </a:r>
            <a:r>
              <a:rPr lang="en-US" sz="2400" b="1" dirty="0" err="1"/>
              <a:t>CountDownLatch</a:t>
            </a:r>
            <a:r>
              <a:rPr lang="en-US" sz="2400" b="1" dirty="0"/>
              <a:t> </a:t>
            </a:r>
            <a:r>
              <a:rPr lang="en-US" sz="2400" dirty="0" err="1"/>
              <a:t>pentru</a:t>
            </a:r>
            <a:r>
              <a:rPr lang="en-US" sz="2400" dirty="0"/>
              <a:t> </a:t>
            </a:r>
            <a:r>
              <a:rPr lang="en-US" sz="2400" dirty="0" err="1"/>
              <a:t>terminarea</a:t>
            </a:r>
            <a:r>
              <a:rPr lang="en-US" sz="2400" dirty="0"/>
              <a:t> thread-</a:t>
            </a:r>
            <a:r>
              <a:rPr lang="en-US" sz="2400" dirty="0" err="1"/>
              <a:t>urilor</a:t>
            </a:r>
            <a:endParaRPr lang="en-GB" dirty="0"/>
          </a:p>
          <a:p>
            <a:endParaRPr lang="en-US" b="1" dirty="0"/>
          </a:p>
        </p:txBody>
      </p:sp>
      <p:sp>
        <p:nvSpPr>
          <p:cNvPr id="3" name="TextBox 2">
            <a:extLst>
              <a:ext uri="{FF2B5EF4-FFF2-40B4-BE49-F238E27FC236}">
                <a16:creationId xmlns:a16="http://schemas.microsoft.com/office/drawing/2014/main" id="{7645ECED-07FE-AFB2-BD18-36BFBE5DAC24}"/>
              </a:ext>
            </a:extLst>
          </p:cNvPr>
          <p:cNvSpPr txBox="1"/>
          <p:nvPr/>
        </p:nvSpPr>
        <p:spPr>
          <a:xfrm>
            <a:off x="165443" y="3484244"/>
            <a:ext cx="11514497" cy="258532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public static void main (String[] </a:t>
            </a:r>
            <a:r>
              <a:rPr lang="en-GB" dirty="0" err="1"/>
              <a:t>args</a:t>
            </a:r>
            <a:r>
              <a:rPr lang="en-GB" dirty="0"/>
              <a:t>) throws </a:t>
            </a:r>
            <a:r>
              <a:rPr lang="en-GB" dirty="0" err="1"/>
              <a:t>InterruptedException</a:t>
            </a:r>
            <a:r>
              <a:rPr lang="en-GB" dirty="0"/>
              <a:t>  {</a:t>
            </a:r>
          </a:p>
          <a:p>
            <a:r>
              <a:rPr lang="en-GB" dirty="0"/>
              <a:t>        </a:t>
            </a:r>
            <a:r>
              <a:rPr lang="en-GB" b="1" dirty="0" err="1"/>
              <a:t>CountDownLatch</a:t>
            </a:r>
            <a:r>
              <a:rPr lang="en-GB" b="1" dirty="0"/>
              <a:t> controller = new </a:t>
            </a:r>
            <a:r>
              <a:rPr lang="en-GB" b="1" dirty="0" err="1"/>
              <a:t>CountDownLatch</a:t>
            </a:r>
            <a:r>
              <a:rPr lang="en-GB" b="1" dirty="0"/>
              <a:t>(3);</a:t>
            </a:r>
          </a:p>
          <a:p>
            <a:r>
              <a:rPr lang="en-GB" b="1" dirty="0"/>
              <a:t>        </a:t>
            </a:r>
            <a:r>
              <a:rPr lang="en-GB" b="1" dirty="0" err="1"/>
              <a:t>CyclicBarrier</a:t>
            </a:r>
            <a:r>
              <a:rPr lang="en-GB" b="1" dirty="0"/>
              <a:t> barrier = new </a:t>
            </a:r>
            <a:r>
              <a:rPr lang="en-GB" b="1" dirty="0" err="1"/>
              <a:t>CyclicBarrier</a:t>
            </a:r>
            <a:r>
              <a:rPr lang="en-GB" b="1" dirty="0"/>
              <a:t>(4, ()-&gt;{</a:t>
            </a:r>
            <a:r>
              <a:rPr lang="en-GB" b="1" dirty="0" err="1"/>
              <a:t>System.out.println</a:t>
            </a:r>
            <a:r>
              <a:rPr lang="en-GB" b="1" dirty="0"/>
              <a:t>("Threads reached </a:t>
            </a:r>
            <a:r>
              <a:rPr lang="en-GB" b="1" dirty="0" err="1"/>
              <a:t>thebarrier</a:t>
            </a:r>
            <a:r>
              <a:rPr lang="en-GB" b="1" dirty="0"/>
              <a:t>:"+counter);});</a:t>
            </a:r>
            <a:endParaRPr lang="en-GB" dirty="0"/>
          </a:p>
          <a:p>
            <a:r>
              <a:rPr lang="en-GB" dirty="0"/>
              <a:t>       </a:t>
            </a:r>
            <a:r>
              <a:rPr lang="en-GB" dirty="0" err="1"/>
              <a:t>ExecutorService</a:t>
            </a:r>
            <a:r>
              <a:rPr lang="en-GB" dirty="0"/>
              <a:t> pool = </a:t>
            </a:r>
            <a:r>
              <a:rPr lang="en-GB" dirty="0" err="1"/>
              <a:t>Executors.newCachedThreadPool</a:t>
            </a:r>
            <a:r>
              <a:rPr lang="en-GB" dirty="0"/>
              <a:t>();</a:t>
            </a:r>
          </a:p>
          <a:p>
            <a:r>
              <a:rPr lang="en-GB" dirty="0"/>
              <a:t>        </a:t>
            </a:r>
            <a:r>
              <a:rPr lang="en-GB" dirty="0" err="1"/>
              <a:t>AtomicInteger</a:t>
            </a:r>
            <a:r>
              <a:rPr lang="en-GB" dirty="0"/>
              <a:t> counter = new </a:t>
            </a:r>
            <a:r>
              <a:rPr lang="en-GB" dirty="0" err="1"/>
              <a:t>AtomicInteger</a:t>
            </a:r>
            <a:r>
              <a:rPr lang="en-GB" dirty="0"/>
              <a:t>(0);   </a:t>
            </a:r>
          </a:p>
          <a:p>
            <a:r>
              <a:rPr lang="en-GB" dirty="0"/>
              <a:t>       for(int </a:t>
            </a:r>
            <a:r>
              <a:rPr lang="en-GB" dirty="0" err="1"/>
              <a:t>i</a:t>
            </a:r>
            <a:r>
              <a:rPr lang="en-GB" dirty="0"/>
              <a:t>=0;i&lt;3;i++) {</a:t>
            </a:r>
            <a:r>
              <a:rPr lang="en-GB" dirty="0" err="1"/>
              <a:t>pool.execute</a:t>
            </a:r>
            <a:r>
              <a:rPr lang="en-GB" dirty="0"/>
              <a:t>(new TaskE(controller, barrier, counter));};</a:t>
            </a:r>
          </a:p>
          <a:p>
            <a:r>
              <a:rPr lang="en-GB" dirty="0"/>
              <a:t>      </a:t>
            </a:r>
            <a:r>
              <a:rPr lang="en-GB" b="1" dirty="0"/>
              <a:t>  </a:t>
            </a:r>
            <a:r>
              <a:rPr lang="en-GB" b="1" dirty="0" err="1"/>
              <a:t>barrier.await</a:t>
            </a:r>
            <a:r>
              <a:rPr lang="en-GB" b="1" dirty="0"/>
              <a:t>(); </a:t>
            </a:r>
            <a:r>
              <a:rPr lang="en-GB" b="1" dirty="0" err="1"/>
              <a:t>controller.await</a:t>
            </a:r>
            <a:r>
              <a:rPr lang="en-GB" b="1" dirty="0"/>
              <a:t>();</a:t>
            </a:r>
            <a:r>
              <a:rPr lang="en-GB" dirty="0"/>
              <a:t>  </a:t>
            </a:r>
          </a:p>
          <a:p>
            <a:r>
              <a:rPr lang="en-GB" dirty="0"/>
              <a:t>       </a:t>
            </a:r>
            <a:r>
              <a:rPr lang="en-GB" dirty="0" err="1"/>
              <a:t>pool.shutdown</a:t>
            </a:r>
            <a:r>
              <a:rPr lang="en-GB" dirty="0"/>
              <a:t>();</a:t>
            </a:r>
          </a:p>
          <a:p>
            <a:r>
              <a:rPr lang="en-GB" dirty="0"/>
              <a:t>       </a:t>
            </a:r>
            <a:r>
              <a:rPr lang="en-GB" dirty="0" err="1"/>
              <a:t>System.out.println</a:t>
            </a:r>
            <a:r>
              <a:rPr lang="en-GB" dirty="0"/>
              <a:t>("All done! Final value: " + counter); }</a:t>
            </a:r>
          </a:p>
        </p:txBody>
      </p:sp>
      <p:sp>
        <p:nvSpPr>
          <p:cNvPr id="4" name="TextBox 3">
            <a:extLst>
              <a:ext uri="{FF2B5EF4-FFF2-40B4-BE49-F238E27FC236}">
                <a16:creationId xmlns:a16="http://schemas.microsoft.com/office/drawing/2014/main" id="{3AD32DEF-A2F4-022E-783C-2683220D0AE7}"/>
              </a:ext>
            </a:extLst>
          </p:cNvPr>
          <p:cNvSpPr txBox="1"/>
          <p:nvPr/>
        </p:nvSpPr>
        <p:spPr>
          <a:xfrm>
            <a:off x="243506" y="511435"/>
            <a:ext cx="11633534" cy="2862322"/>
          </a:xfrm>
          <a:prstGeom prst="rect">
            <a:avLst/>
          </a:prstGeom>
          <a:ln>
            <a:solidFill>
              <a:srgbClr val="92D05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GB" dirty="0"/>
              <a:t>class TaskE implements Runnable {</a:t>
            </a:r>
          </a:p>
          <a:p>
            <a:r>
              <a:rPr lang="en-GB" dirty="0"/>
              <a:t> private  </a:t>
            </a:r>
            <a:r>
              <a:rPr lang="en-GB" dirty="0" err="1"/>
              <a:t>AtomicInteger</a:t>
            </a:r>
            <a:r>
              <a:rPr lang="en-GB" dirty="0"/>
              <a:t> counter;   private  </a:t>
            </a:r>
            <a:r>
              <a:rPr lang="en-GB" dirty="0" err="1"/>
              <a:t>CyclicBarrier</a:t>
            </a:r>
            <a:r>
              <a:rPr lang="en-GB" dirty="0"/>
              <a:t> barrier; private  </a:t>
            </a:r>
            <a:r>
              <a:rPr lang="en-GB" dirty="0" err="1"/>
              <a:t>CountDownLatch</a:t>
            </a:r>
            <a:r>
              <a:rPr lang="en-GB" dirty="0"/>
              <a:t> controller;</a:t>
            </a:r>
          </a:p>
          <a:p>
            <a:r>
              <a:rPr lang="en-GB" dirty="0"/>
              <a:t> TaskE (</a:t>
            </a:r>
            <a:r>
              <a:rPr lang="en-GB" dirty="0" err="1"/>
              <a:t>CountDownLatch</a:t>
            </a:r>
            <a:r>
              <a:rPr lang="en-GB" dirty="0"/>
              <a:t> c, </a:t>
            </a:r>
            <a:r>
              <a:rPr lang="en-GB" dirty="0" err="1"/>
              <a:t>CyclicBarrier</a:t>
            </a:r>
            <a:r>
              <a:rPr lang="en-GB" dirty="0"/>
              <a:t> b, </a:t>
            </a:r>
            <a:r>
              <a:rPr lang="en-GB" dirty="0" err="1"/>
              <a:t>AtomicInteger</a:t>
            </a:r>
            <a:r>
              <a:rPr lang="en-GB" dirty="0"/>
              <a:t> counter){</a:t>
            </a:r>
            <a:r>
              <a:rPr lang="en-GB" dirty="0" err="1"/>
              <a:t>this.controller</a:t>
            </a:r>
            <a:r>
              <a:rPr lang="en-GB" dirty="0"/>
              <a:t>=</a:t>
            </a:r>
            <a:r>
              <a:rPr lang="en-GB" dirty="0" err="1"/>
              <a:t>c;this.barrier</a:t>
            </a:r>
            <a:r>
              <a:rPr lang="en-GB" dirty="0"/>
              <a:t> = b; </a:t>
            </a:r>
            <a:r>
              <a:rPr lang="en-GB" dirty="0" err="1"/>
              <a:t>this.counter</a:t>
            </a:r>
            <a:r>
              <a:rPr lang="en-GB" dirty="0"/>
              <a:t>=counter;}</a:t>
            </a:r>
          </a:p>
          <a:p>
            <a:r>
              <a:rPr lang="en-GB" dirty="0"/>
              <a:t>     </a:t>
            </a:r>
          </a:p>
          <a:p>
            <a:r>
              <a:rPr lang="en-GB" dirty="0"/>
              <a:t>public void run () {</a:t>
            </a:r>
          </a:p>
          <a:p>
            <a:r>
              <a:rPr lang="en-GB" dirty="0"/>
              <a:t>            for (int </a:t>
            </a:r>
            <a:r>
              <a:rPr lang="en-GB" dirty="0" err="1"/>
              <a:t>i</a:t>
            </a:r>
            <a:r>
              <a:rPr lang="en-GB" dirty="0"/>
              <a:t> = 0; </a:t>
            </a:r>
            <a:r>
              <a:rPr lang="en-GB" dirty="0" err="1"/>
              <a:t>i</a:t>
            </a:r>
            <a:r>
              <a:rPr lang="en-GB" dirty="0"/>
              <a:t> &lt; 100; </a:t>
            </a:r>
            <a:r>
              <a:rPr lang="en-GB" dirty="0" err="1"/>
              <a:t>i</a:t>
            </a:r>
            <a:r>
              <a:rPr lang="en-GB" dirty="0"/>
              <a:t>++) {</a:t>
            </a:r>
            <a:r>
              <a:rPr lang="en-GB" dirty="0" err="1"/>
              <a:t>counter.incrementAndGet</a:t>
            </a:r>
            <a:r>
              <a:rPr lang="en-GB" dirty="0"/>
              <a:t>(); };</a:t>
            </a:r>
          </a:p>
          <a:p>
            <a:r>
              <a:rPr lang="en-GB" dirty="0"/>
              <a:t>            </a:t>
            </a:r>
            <a:r>
              <a:rPr lang="en-GB" b="1" dirty="0"/>
              <a:t>try {</a:t>
            </a:r>
            <a:r>
              <a:rPr lang="en-GB" b="1" dirty="0" err="1"/>
              <a:t>barrier.await</a:t>
            </a:r>
            <a:r>
              <a:rPr lang="en-GB" b="1" dirty="0"/>
              <a:t>();} catch (Exception e) {</a:t>
            </a:r>
            <a:r>
              <a:rPr lang="en-GB" b="1" dirty="0" err="1"/>
              <a:t>System.out.println</a:t>
            </a:r>
            <a:r>
              <a:rPr lang="en-GB" b="1" dirty="0"/>
              <a:t>(e);return;} </a:t>
            </a:r>
          </a:p>
          <a:p>
            <a:r>
              <a:rPr lang="en-GB" dirty="0"/>
              <a:t>            for (int </a:t>
            </a:r>
            <a:r>
              <a:rPr lang="en-GB" dirty="0" err="1"/>
              <a:t>i</a:t>
            </a:r>
            <a:r>
              <a:rPr lang="en-GB" dirty="0"/>
              <a:t> = 0; </a:t>
            </a:r>
            <a:r>
              <a:rPr lang="en-GB" dirty="0" err="1"/>
              <a:t>i</a:t>
            </a:r>
            <a:r>
              <a:rPr lang="en-GB" dirty="0"/>
              <a:t> &lt; 1000; </a:t>
            </a:r>
            <a:r>
              <a:rPr lang="en-GB" dirty="0" err="1"/>
              <a:t>i</a:t>
            </a:r>
            <a:r>
              <a:rPr lang="en-GB" dirty="0"/>
              <a:t>++) {</a:t>
            </a:r>
            <a:r>
              <a:rPr lang="en-GB" dirty="0" err="1"/>
              <a:t>counter.incrementAndGet</a:t>
            </a:r>
            <a:r>
              <a:rPr lang="en-GB" dirty="0"/>
              <a:t>();};  </a:t>
            </a:r>
          </a:p>
          <a:p>
            <a:r>
              <a:rPr lang="en-GB" dirty="0"/>
              <a:t>            </a:t>
            </a:r>
            <a:r>
              <a:rPr lang="en-GB" dirty="0" err="1"/>
              <a:t>System.out.println</a:t>
            </a:r>
            <a:r>
              <a:rPr lang="en-GB" dirty="0"/>
              <a:t>(</a:t>
            </a:r>
            <a:r>
              <a:rPr lang="en-GB" dirty="0" err="1"/>
              <a:t>Thread.currentThread</a:t>
            </a:r>
            <a:r>
              <a:rPr lang="en-GB" dirty="0"/>
              <a:t>().</a:t>
            </a:r>
            <a:r>
              <a:rPr lang="en-GB" dirty="0" err="1"/>
              <a:t>getName</a:t>
            </a:r>
            <a:r>
              <a:rPr lang="en-GB" dirty="0"/>
              <a:t>()+": "+counter);    </a:t>
            </a:r>
          </a:p>
          <a:p>
            <a:r>
              <a:rPr lang="en-GB" b="1" dirty="0"/>
              <a:t>            </a:t>
            </a:r>
            <a:r>
              <a:rPr lang="en-GB" b="1" dirty="0" err="1"/>
              <a:t>controller.countDown</a:t>
            </a:r>
            <a:r>
              <a:rPr lang="en-GB" b="1" dirty="0"/>
              <a:t>(); </a:t>
            </a:r>
            <a:r>
              <a:rPr lang="en-GB" dirty="0"/>
              <a:t>}</a:t>
            </a:r>
          </a:p>
        </p:txBody>
      </p:sp>
      <p:pic>
        <p:nvPicPr>
          <p:cNvPr id="5" name="Picture 4">
            <a:extLst>
              <a:ext uri="{FF2B5EF4-FFF2-40B4-BE49-F238E27FC236}">
                <a16:creationId xmlns:a16="http://schemas.microsoft.com/office/drawing/2014/main" id="{C83D3790-8D7C-AF99-C556-3905893FC8B1}"/>
              </a:ext>
            </a:extLst>
          </p:cNvPr>
          <p:cNvPicPr>
            <a:picLocks noChangeAspect="1"/>
          </p:cNvPicPr>
          <p:nvPr/>
        </p:nvPicPr>
        <p:blipFill>
          <a:blip r:embed="rId2"/>
          <a:stretch>
            <a:fillRect/>
          </a:stretch>
        </p:blipFill>
        <p:spPr>
          <a:xfrm>
            <a:off x="7238238" y="1910861"/>
            <a:ext cx="4788319" cy="3948662"/>
          </a:xfrm>
          <a:prstGeom prst="rect">
            <a:avLst/>
          </a:prstGeom>
        </p:spPr>
      </p:pic>
    </p:spTree>
    <p:extLst>
      <p:ext uri="{BB962C8B-B14F-4D97-AF65-F5344CB8AC3E}">
        <p14:creationId xmlns:p14="http://schemas.microsoft.com/office/powerpoint/2010/main" val="3066263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8411" y="222421"/>
            <a:ext cx="4547783" cy="400110"/>
          </a:xfrm>
          <a:prstGeom prst="rect">
            <a:avLst/>
          </a:prstGeom>
          <a:noFill/>
        </p:spPr>
        <p:txBody>
          <a:bodyPr wrap="none" rtlCol="0">
            <a:spAutoFit/>
          </a:bodyPr>
          <a:lstStyle/>
          <a:p>
            <a:pPr marL="285750" indent="-285750">
              <a:buFont typeface="Wingdings" panose="05000000000000000000" pitchFamily="2" charset="2"/>
              <a:buChar char="Ø"/>
            </a:pPr>
            <a:r>
              <a:rPr lang="en-US" sz="2000" b="1" dirty="0"/>
              <a:t>public class </a:t>
            </a:r>
            <a:r>
              <a:rPr lang="en-US" sz="2000" b="1" dirty="0" err="1"/>
              <a:t>ConcurrentHashMap</a:t>
            </a:r>
            <a:r>
              <a:rPr lang="en-US" sz="2000" b="1" dirty="0"/>
              <a:t>&lt;K,V&gt;</a:t>
            </a:r>
          </a:p>
        </p:txBody>
      </p:sp>
      <p:sp>
        <p:nvSpPr>
          <p:cNvPr id="5" name="TextBox 4"/>
          <p:cNvSpPr txBox="1"/>
          <p:nvPr/>
        </p:nvSpPr>
        <p:spPr>
          <a:xfrm>
            <a:off x="656896" y="5896915"/>
            <a:ext cx="3719480" cy="338554"/>
          </a:xfrm>
          <a:prstGeom prst="rect">
            <a:avLst/>
          </a:prstGeom>
          <a:noFill/>
        </p:spPr>
        <p:txBody>
          <a:bodyPr wrap="none" rtlCol="0">
            <a:spAutoFit/>
          </a:bodyPr>
          <a:lstStyle/>
          <a:p>
            <a:r>
              <a:rPr lang="en-GB" sz="1600" dirty="0" err="1">
                <a:hlinkClick r:id="rId2"/>
              </a:rPr>
              <a:t>ConcurrentHashMap</a:t>
            </a:r>
            <a:r>
              <a:rPr lang="en-GB" sz="1600" dirty="0">
                <a:hlinkClick r:id="rId2"/>
              </a:rPr>
              <a:t> (Java SE 23 &amp; JDK 23)</a:t>
            </a:r>
            <a:endParaRPr lang="en-US" sz="1600" dirty="0"/>
          </a:p>
        </p:txBody>
      </p:sp>
      <p:sp>
        <p:nvSpPr>
          <p:cNvPr id="6" name="TextBox 5"/>
          <p:cNvSpPr txBox="1"/>
          <p:nvPr/>
        </p:nvSpPr>
        <p:spPr>
          <a:xfrm>
            <a:off x="393474" y="920621"/>
            <a:ext cx="12057403" cy="5016758"/>
          </a:xfrm>
          <a:prstGeom prst="rect">
            <a:avLst/>
          </a:prstGeom>
          <a:noFill/>
        </p:spPr>
        <p:txBody>
          <a:bodyPr wrap="none" rtlCol="0">
            <a:spAutoFit/>
          </a:bodyPr>
          <a:lstStyle/>
          <a:p>
            <a:pPr marL="285750" indent="-285750">
              <a:buFont typeface="Arial" panose="020B0604020202020204" pitchFamily="34" charset="0"/>
              <a:buChar char="•"/>
            </a:pPr>
            <a:r>
              <a:rPr lang="en-US" sz="2000" dirty="0" err="1"/>
              <a:t>colectia</a:t>
            </a:r>
            <a:r>
              <a:rPr lang="en-US" sz="2000" dirty="0"/>
              <a:t> </a:t>
            </a:r>
            <a:r>
              <a:rPr lang="en-US" sz="2000" dirty="0" err="1"/>
              <a:t>este</a:t>
            </a:r>
            <a:r>
              <a:rPr lang="en-US" sz="2000" dirty="0"/>
              <a:t> </a:t>
            </a:r>
            <a:r>
              <a:rPr lang="en-US" sz="2000" dirty="0" err="1"/>
              <a:t>impartita</a:t>
            </a:r>
            <a:r>
              <a:rPr lang="en-US" sz="2000" dirty="0"/>
              <a:t> in </a:t>
            </a:r>
            <a:r>
              <a:rPr lang="en-US" sz="2000" dirty="0" err="1"/>
              <a:t>fragmente</a:t>
            </a:r>
            <a:r>
              <a:rPr lang="en-US" sz="2000" dirty="0"/>
              <a:t>  care sunt </a:t>
            </a:r>
            <a:r>
              <a:rPr lang="en-US" sz="2000" dirty="0" err="1"/>
              <a:t>prelucrate</a:t>
            </a:r>
            <a:r>
              <a:rPr lang="en-US" sz="2000" dirty="0"/>
              <a:t> in parallel</a:t>
            </a:r>
          </a:p>
          <a:p>
            <a:endParaRPr lang="en-US" sz="2000" dirty="0"/>
          </a:p>
          <a:p>
            <a:pPr marL="285750" indent="-285750">
              <a:buFont typeface="Arial" panose="020B0604020202020204" pitchFamily="34" charset="0"/>
              <a:buChar char="•"/>
            </a:pPr>
            <a:r>
              <a:rPr lang="en-US" sz="2000" dirty="0" err="1"/>
              <a:t>colectia</a:t>
            </a:r>
            <a:r>
              <a:rPr lang="en-US" sz="2000" dirty="0"/>
              <a:t> </a:t>
            </a:r>
            <a:r>
              <a:rPr lang="en-US" sz="2000" dirty="0" err="1"/>
              <a:t>poate</a:t>
            </a:r>
            <a:r>
              <a:rPr lang="en-US" sz="2000" dirty="0"/>
              <a:t> fi create cu un </a:t>
            </a:r>
            <a:r>
              <a:rPr lang="en-US" sz="2000" dirty="0" err="1"/>
              <a:t>anume</a:t>
            </a:r>
            <a:r>
              <a:rPr lang="en-US" sz="2000" dirty="0"/>
              <a:t> </a:t>
            </a:r>
            <a:r>
              <a:rPr lang="en-US" sz="2000" dirty="0" err="1"/>
              <a:t>nivel</a:t>
            </a:r>
            <a:r>
              <a:rPr lang="en-US" sz="2000" dirty="0"/>
              <a:t> de </a:t>
            </a:r>
            <a:r>
              <a:rPr lang="en-US" sz="2000" dirty="0" err="1"/>
              <a:t>concurenta</a:t>
            </a:r>
            <a:r>
              <a:rPr lang="en-US" sz="2000" dirty="0"/>
              <a:t>; </a:t>
            </a:r>
            <a:r>
              <a:rPr lang="en-US" sz="2000" dirty="0" err="1"/>
              <a:t>numarul</a:t>
            </a:r>
            <a:r>
              <a:rPr lang="en-US" sz="2000" dirty="0"/>
              <a:t> de </a:t>
            </a:r>
            <a:r>
              <a:rPr lang="en-US" sz="2000" dirty="0" err="1"/>
              <a:t>fragmente</a:t>
            </a:r>
            <a:r>
              <a:rPr lang="en-US" sz="2000" dirty="0"/>
              <a:t> </a:t>
            </a:r>
            <a:r>
              <a:rPr lang="en-US" sz="2000" dirty="0" err="1"/>
              <a:t>prelucrate</a:t>
            </a:r>
            <a:r>
              <a:rPr lang="en-US" sz="2000" dirty="0"/>
              <a:t> in </a:t>
            </a:r>
            <a:r>
              <a:rPr lang="en-US" sz="2000" dirty="0" err="1"/>
              <a:t>paralel</a:t>
            </a:r>
            <a:r>
              <a:rPr lang="en-US" sz="2000" dirty="0"/>
              <a:t> </a:t>
            </a:r>
            <a:r>
              <a:rPr lang="en-US" sz="2000" dirty="0" err="1"/>
              <a:t>este</a:t>
            </a:r>
            <a:r>
              <a:rPr lang="en-US" sz="2000" dirty="0"/>
              <a:t> </a:t>
            </a:r>
            <a:r>
              <a:rPr lang="en-US" sz="2000" dirty="0" err="1"/>
              <a:t>dat</a:t>
            </a:r>
            <a:r>
              <a:rPr lang="en-US" sz="2000" dirty="0"/>
              <a:t> </a:t>
            </a:r>
          </a:p>
          <a:p>
            <a:r>
              <a:rPr lang="en-US" sz="2000" dirty="0"/>
              <a:t>      de </a:t>
            </a:r>
            <a:r>
              <a:rPr lang="en-US" sz="2000" dirty="0" err="1"/>
              <a:t>nivelul</a:t>
            </a:r>
            <a:r>
              <a:rPr lang="en-US" sz="2000" dirty="0"/>
              <a:t> de </a:t>
            </a:r>
            <a:r>
              <a:rPr lang="en-US" sz="2000" dirty="0" err="1"/>
              <a:t>concurenta</a:t>
            </a:r>
            <a:endParaRPr lang="en-US" sz="2000" dirty="0"/>
          </a:p>
          <a:p>
            <a:endParaRPr lang="en-US" sz="2000" dirty="0"/>
          </a:p>
          <a:p>
            <a:pPr marL="285750" indent="-285750">
              <a:buFont typeface="Arial" panose="020B0604020202020204" pitchFamily="34" charset="0"/>
              <a:buChar char="•"/>
            </a:pPr>
            <a:r>
              <a:rPr lang="en-US" sz="2000" dirty="0"/>
              <a:t>cand un thread </a:t>
            </a:r>
            <a:r>
              <a:rPr lang="en-US" sz="2000" dirty="0" err="1"/>
              <a:t>executa</a:t>
            </a:r>
            <a:r>
              <a:rPr lang="en-US" sz="2000" dirty="0"/>
              <a:t>  o </a:t>
            </a:r>
            <a:r>
              <a:rPr lang="en-US" sz="2000" dirty="0" err="1"/>
              <a:t>operatie</a:t>
            </a:r>
            <a:r>
              <a:rPr lang="en-US" sz="2000" dirty="0"/>
              <a:t> care </a:t>
            </a:r>
            <a:r>
              <a:rPr lang="en-US" sz="2000" dirty="0" err="1"/>
              <a:t>blocheaza</a:t>
            </a:r>
            <a:r>
              <a:rPr lang="en-US" sz="2000" dirty="0"/>
              <a:t>, </a:t>
            </a:r>
            <a:r>
              <a:rPr lang="en-US" sz="2000" dirty="0" err="1"/>
              <a:t>este</a:t>
            </a:r>
            <a:r>
              <a:rPr lang="en-US" sz="2000" dirty="0"/>
              <a:t> </a:t>
            </a:r>
            <a:r>
              <a:rPr lang="en-US" sz="2000" dirty="0" err="1"/>
              <a:t>blocat</a:t>
            </a:r>
            <a:r>
              <a:rPr lang="en-US" sz="2000" dirty="0"/>
              <a:t> </a:t>
            </a:r>
            <a:r>
              <a:rPr lang="en-US" sz="2000" dirty="0" err="1"/>
              <a:t>numai</a:t>
            </a:r>
            <a:r>
              <a:rPr lang="en-US" sz="2000" dirty="0"/>
              <a:t> </a:t>
            </a:r>
            <a:r>
              <a:rPr lang="en-US" sz="2000" dirty="0" err="1"/>
              <a:t>fragmentul</a:t>
            </a:r>
            <a:r>
              <a:rPr lang="en-US" sz="2000" dirty="0"/>
              <a:t> </a:t>
            </a:r>
            <a:r>
              <a:rPr lang="en-US" sz="2000" dirty="0" err="1"/>
              <a:t>corespunzator</a:t>
            </a:r>
            <a:endParaRPr lang="en-US" sz="2000" dirty="0"/>
          </a:p>
          <a:p>
            <a:endParaRPr lang="en-US" sz="2000" dirty="0"/>
          </a:p>
          <a:p>
            <a:pPr marL="285750" indent="-285750">
              <a:buFont typeface="Arial" panose="020B0604020202020204" pitchFamily="34" charset="0"/>
              <a:buChar char="•"/>
            </a:pPr>
            <a:r>
              <a:rPr lang="en-US" sz="2000" dirty="0" err="1"/>
              <a:t>actualizarile</a:t>
            </a:r>
            <a:r>
              <a:rPr lang="en-US" sz="2000" dirty="0"/>
              <a:t> </a:t>
            </a:r>
            <a:r>
              <a:rPr lang="en-US" sz="2000" dirty="0" err="1"/>
              <a:t>sunt</a:t>
            </a:r>
            <a:r>
              <a:rPr lang="en-US" sz="2000" dirty="0"/>
              <a:t> </a:t>
            </a:r>
            <a:r>
              <a:rPr lang="en-US" sz="2000" dirty="0" err="1"/>
              <a:t>operatii</a:t>
            </a:r>
            <a:r>
              <a:rPr lang="en-US" sz="2000" dirty="0"/>
              <a:t> care </a:t>
            </a:r>
            <a:r>
              <a:rPr lang="en-US" sz="2000" dirty="0" err="1"/>
              <a:t>blocheaza</a:t>
            </a:r>
            <a:r>
              <a:rPr lang="en-US" sz="2000" dirty="0"/>
              <a:t>, </a:t>
            </a:r>
            <a:r>
              <a:rPr lang="en-US" sz="2000" dirty="0" err="1"/>
              <a:t>regasirile</a:t>
            </a:r>
            <a:r>
              <a:rPr lang="en-US" sz="2000" dirty="0"/>
              <a:t> nu </a:t>
            </a:r>
            <a:r>
              <a:rPr lang="en-US" sz="2000" dirty="0" err="1"/>
              <a:t>blocheaza</a:t>
            </a:r>
            <a:r>
              <a:rPr lang="en-US" sz="2000" dirty="0"/>
              <a:t>; </a:t>
            </a:r>
            <a:r>
              <a:rPr lang="en-US" sz="2000" dirty="0" err="1"/>
              <a:t>este</a:t>
            </a:r>
            <a:r>
              <a:rPr lang="en-US" sz="2000" dirty="0"/>
              <a:t> </a:t>
            </a:r>
            <a:r>
              <a:rPr lang="en-US" sz="2000" dirty="0" err="1"/>
              <a:t>regasita</a:t>
            </a:r>
            <a:r>
              <a:rPr lang="en-US" sz="2000" dirty="0"/>
              <a:t> ultima </a:t>
            </a:r>
            <a:r>
              <a:rPr lang="en-US" sz="2000" dirty="0" err="1"/>
              <a:t>valoare</a:t>
            </a:r>
            <a:r>
              <a:rPr lang="en-US" sz="2000" dirty="0"/>
              <a:t> </a:t>
            </a:r>
            <a:r>
              <a:rPr lang="en-US" sz="2000" dirty="0" err="1"/>
              <a:t>modificata</a:t>
            </a:r>
            <a:r>
              <a:rPr lang="en-US" sz="2000" dirty="0"/>
              <a:t> de o</a:t>
            </a:r>
          </a:p>
          <a:p>
            <a:r>
              <a:rPr lang="en-US" sz="2000" dirty="0"/>
              <a:t>      </a:t>
            </a:r>
            <a:r>
              <a:rPr lang="en-US" sz="2000" dirty="0" err="1"/>
              <a:t>actualizare</a:t>
            </a:r>
            <a:r>
              <a:rPr lang="en-US" sz="2000" dirty="0"/>
              <a:t> care s-a </a:t>
            </a:r>
            <a:r>
              <a:rPr lang="en-US" sz="2000" dirty="0" err="1"/>
              <a:t>finalizat</a:t>
            </a:r>
            <a:endParaRPr lang="en-US" sz="2000" dirty="0"/>
          </a:p>
          <a:p>
            <a:endParaRPr lang="en-US" sz="2000" dirty="0"/>
          </a:p>
          <a:p>
            <a:pPr marL="285750" indent="-285750">
              <a:buFont typeface="Arial" panose="020B0604020202020204" pitchFamily="34" charset="0"/>
              <a:buChar char="•"/>
            </a:pPr>
            <a:r>
              <a:rPr lang="en-US" sz="2000" dirty="0" err="1"/>
              <a:t>actiunile</a:t>
            </a:r>
            <a:r>
              <a:rPr lang="en-US" sz="2000" dirty="0"/>
              <a:t> </a:t>
            </a:r>
            <a:r>
              <a:rPr lang="en-US" sz="2000" dirty="0" err="1"/>
              <a:t>dintr</a:t>
            </a:r>
            <a:r>
              <a:rPr lang="en-US" sz="2000" dirty="0"/>
              <a:t>-un thread care </a:t>
            </a:r>
            <a:r>
              <a:rPr lang="en-US" sz="2000" dirty="0" err="1"/>
              <a:t>plaseaza</a:t>
            </a:r>
            <a:r>
              <a:rPr lang="en-US" sz="2000" dirty="0"/>
              <a:t> un </a:t>
            </a:r>
            <a:r>
              <a:rPr lang="en-US" sz="2000" dirty="0" err="1"/>
              <a:t>obiect</a:t>
            </a:r>
            <a:r>
              <a:rPr lang="en-US" sz="2000" dirty="0"/>
              <a:t> in </a:t>
            </a:r>
            <a:r>
              <a:rPr lang="en-US" sz="2000" dirty="0" err="1"/>
              <a:t>colectie</a:t>
            </a:r>
            <a:r>
              <a:rPr lang="en-US" sz="2000" dirty="0"/>
              <a:t> </a:t>
            </a:r>
            <a:r>
              <a:rPr lang="en-US" sz="2000" dirty="0" err="1"/>
              <a:t>sunt</a:t>
            </a:r>
            <a:r>
              <a:rPr lang="en-US" sz="2000" dirty="0"/>
              <a:t> in </a:t>
            </a:r>
            <a:r>
              <a:rPr lang="en-US" sz="2000" dirty="0" err="1"/>
              <a:t>relatie</a:t>
            </a:r>
            <a:r>
              <a:rPr lang="en-US" sz="2000" dirty="0"/>
              <a:t> happens-before cu </a:t>
            </a:r>
            <a:r>
              <a:rPr lang="en-US" sz="2000" dirty="0" err="1"/>
              <a:t>actiunile</a:t>
            </a:r>
            <a:r>
              <a:rPr lang="en-US" sz="2000" dirty="0"/>
              <a:t> </a:t>
            </a:r>
            <a:r>
              <a:rPr lang="en-US" sz="2000" dirty="0" err="1"/>
              <a:t>dintr</a:t>
            </a:r>
            <a:r>
              <a:rPr lang="en-US" sz="2000" dirty="0"/>
              <a:t>-un </a:t>
            </a:r>
          </a:p>
          <a:p>
            <a:r>
              <a:rPr lang="en-US" sz="2000" dirty="0"/>
              <a:t>      alt thread care </a:t>
            </a:r>
            <a:r>
              <a:rPr lang="en-US" sz="2000" dirty="0" err="1"/>
              <a:t>urmeaza</a:t>
            </a:r>
            <a:r>
              <a:rPr lang="en-US" sz="2000" dirty="0"/>
              <a:t> </a:t>
            </a:r>
            <a:r>
              <a:rPr lang="en-US" sz="2000" dirty="0" err="1"/>
              <a:t>accesarii</a:t>
            </a:r>
            <a:r>
              <a:rPr lang="en-US" sz="2000" dirty="0"/>
              <a:t>/</a:t>
            </a:r>
            <a:r>
              <a:rPr lang="en-US" sz="2000" dirty="0" err="1"/>
              <a:t>stergerii</a:t>
            </a:r>
            <a:r>
              <a:rPr lang="en-US" sz="2000" dirty="0"/>
              <a:t> </a:t>
            </a:r>
            <a:r>
              <a:rPr lang="en-US" sz="2000" dirty="0" err="1"/>
              <a:t>elementului</a:t>
            </a:r>
            <a:r>
              <a:rPr lang="en-US" sz="2000" dirty="0"/>
              <a:t> din </a:t>
            </a:r>
            <a:r>
              <a:rPr lang="en-US" sz="2000" dirty="0" err="1"/>
              <a:t>colectie</a:t>
            </a:r>
            <a:r>
              <a:rPr lang="en-US" sz="2000" dirty="0"/>
              <a:t> </a:t>
            </a:r>
          </a:p>
          <a:p>
            <a:endParaRPr lang="en-US" sz="2000" dirty="0"/>
          </a:p>
          <a:p>
            <a:pPr marL="285750" indent="-285750">
              <a:buFont typeface="Arial" panose="020B0604020202020204" pitchFamily="34" charset="0"/>
              <a:buChar char="•"/>
            </a:pPr>
            <a:r>
              <a:rPr lang="en-US" sz="2000" dirty="0" err="1"/>
              <a:t>colectia</a:t>
            </a:r>
            <a:r>
              <a:rPr lang="en-US" sz="2000" dirty="0"/>
              <a:t> nu </a:t>
            </a:r>
            <a:r>
              <a:rPr lang="en-US" sz="2000" dirty="0" err="1"/>
              <a:t>este</a:t>
            </a:r>
            <a:r>
              <a:rPr lang="en-US" sz="2000" dirty="0"/>
              <a:t> </a:t>
            </a:r>
            <a:r>
              <a:rPr lang="en-US" sz="2000" dirty="0" err="1"/>
              <a:t>ordonata</a:t>
            </a:r>
            <a:r>
              <a:rPr lang="en-US" sz="2000" dirty="0"/>
              <a:t>, </a:t>
            </a:r>
            <a:r>
              <a:rPr lang="en-US" sz="2000" dirty="0" err="1"/>
              <a:t>elementele</a:t>
            </a:r>
            <a:r>
              <a:rPr lang="en-US" sz="2000" dirty="0"/>
              <a:t> pot fi </a:t>
            </a:r>
            <a:r>
              <a:rPr lang="en-US" sz="2000" dirty="0" err="1"/>
              <a:t>procesate</a:t>
            </a:r>
            <a:r>
              <a:rPr lang="en-US" sz="2000" dirty="0"/>
              <a:t> in </a:t>
            </a:r>
            <a:r>
              <a:rPr lang="en-US" sz="2000" dirty="0" err="1"/>
              <a:t>paralel</a:t>
            </a:r>
            <a:r>
              <a:rPr lang="en-US" sz="2000" dirty="0"/>
              <a:t> in </a:t>
            </a:r>
            <a:r>
              <a:rPr lang="en-US" sz="2000" dirty="0" err="1"/>
              <a:t>ordini</a:t>
            </a:r>
            <a:r>
              <a:rPr lang="en-US" sz="2000" dirty="0"/>
              <a:t> </a:t>
            </a:r>
            <a:r>
              <a:rPr lang="en-US" sz="2000" dirty="0" err="1"/>
              <a:t>diferite</a:t>
            </a:r>
            <a:endParaRPr lang="en-US" sz="2000" dirty="0"/>
          </a:p>
          <a:p>
            <a:endParaRPr lang="en-US" sz="2000" dirty="0"/>
          </a:p>
          <a:p>
            <a:pPr marL="285750" indent="-285750">
              <a:buFont typeface="Arial" panose="020B0604020202020204" pitchFamily="34" charset="0"/>
              <a:buChar char="•"/>
            </a:pPr>
            <a:r>
              <a:rPr lang="en-US" sz="2000" dirty="0" err="1"/>
              <a:t>piscina</a:t>
            </a:r>
            <a:r>
              <a:rPr lang="en-US" sz="2000" dirty="0"/>
              <a:t> de thread-</a:t>
            </a:r>
            <a:r>
              <a:rPr lang="en-US" sz="2000" dirty="0" err="1"/>
              <a:t>uri</a:t>
            </a:r>
            <a:r>
              <a:rPr lang="en-US" sz="2000" dirty="0"/>
              <a:t> </a:t>
            </a:r>
            <a:r>
              <a:rPr lang="en-US" sz="2000" dirty="0" err="1"/>
              <a:t>este</a:t>
            </a:r>
            <a:r>
              <a:rPr lang="en-US" sz="2000" dirty="0"/>
              <a:t> </a:t>
            </a:r>
            <a:r>
              <a:rPr lang="en-US" sz="2000" dirty="0" err="1"/>
              <a:t>creata</a:t>
            </a:r>
            <a:r>
              <a:rPr lang="en-US" sz="2000" dirty="0"/>
              <a:t> cu </a:t>
            </a:r>
            <a:r>
              <a:rPr lang="en-US" sz="2000" dirty="0" err="1"/>
              <a:t>ForkJoinPool.commonPool</a:t>
            </a:r>
            <a:r>
              <a:rPr lang="en-US" sz="2000" dirty="0"/>
              <a:t>() </a:t>
            </a:r>
          </a:p>
        </p:txBody>
      </p:sp>
    </p:spTree>
    <p:extLst>
      <p:ext uri="{BB962C8B-B14F-4D97-AF65-F5344CB8AC3E}">
        <p14:creationId xmlns:p14="http://schemas.microsoft.com/office/powerpoint/2010/main" val="1168271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C6C636-F555-87BC-D113-79AC7E3F146B}"/>
              </a:ext>
            </a:extLst>
          </p:cNvPr>
          <p:cNvSpPr txBox="1"/>
          <p:nvPr/>
        </p:nvSpPr>
        <p:spPr>
          <a:xfrm>
            <a:off x="1209040" y="487680"/>
            <a:ext cx="7841314" cy="5386090"/>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dirty="0"/>
              <a:t>public class </a:t>
            </a:r>
            <a:r>
              <a:rPr lang="en-GB" dirty="0" err="1"/>
              <a:t>ConcHM</a:t>
            </a:r>
            <a:r>
              <a:rPr lang="en-GB" dirty="0"/>
              <a:t>{</a:t>
            </a:r>
          </a:p>
          <a:p>
            <a:endParaRPr lang="en-GB" dirty="0"/>
          </a:p>
          <a:p>
            <a:r>
              <a:rPr lang="en-GB" dirty="0"/>
              <a:t>private static volatile </a:t>
            </a:r>
            <a:r>
              <a:rPr lang="en-GB" dirty="0" err="1"/>
              <a:t>boolean</a:t>
            </a:r>
            <a:r>
              <a:rPr lang="en-GB" dirty="0"/>
              <a:t> ok=true;</a:t>
            </a:r>
          </a:p>
          <a:p>
            <a:endParaRPr lang="en-GB" dirty="0"/>
          </a:p>
          <a:p>
            <a:r>
              <a:rPr lang="en-GB" dirty="0"/>
              <a:t>public static void main(String[] </a:t>
            </a:r>
            <a:r>
              <a:rPr lang="en-GB" dirty="0" err="1"/>
              <a:t>args</a:t>
            </a:r>
            <a:r>
              <a:rPr lang="en-GB" dirty="0"/>
              <a:t>) throws Exception {</a:t>
            </a:r>
          </a:p>
          <a:p>
            <a:r>
              <a:rPr lang="en-GB" dirty="0"/>
              <a:t>            </a:t>
            </a:r>
            <a:r>
              <a:rPr lang="en-GB" dirty="0" err="1"/>
              <a:t>ConcurrentHashMap</a:t>
            </a:r>
            <a:r>
              <a:rPr lang="en-GB" dirty="0"/>
              <a:t>&lt;Integer, String&gt; map = new </a:t>
            </a:r>
            <a:r>
              <a:rPr lang="en-GB" dirty="0" err="1"/>
              <a:t>ConcurrentHashMap</a:t>
            </a:r>
            <a:r>
              <a:rPr lang="en-GB" dirty="0"/>
              <a:t>&lt;&gt;();</a:t>
            </a:r>
          </a:p>
          <a:p>
            <a:r>
              <a:rPr lang="en-GB" dirty="0"/>
              <a:t>            </a:t>
            </a:r>
            <a:r>
              <a:rPr lang="en-GB" dirty="0" err="1"/>
              <a:t>CountDownLatch</a:t>
            </a:r>
            <a:r>
              <a:rPr lang="en-GB" dirty="0"/>
              <a:t> </a:t>
            </a:r>
            <a:r>
              <a:rPr lang="en-GB" b="1" dirty="0"/>
              <a:t>controller</a:t>
            </a:r>
            <a:r>
              <a:rPr lang="en-GB" dirty="0"/>
              <a:t> = new </a:t>
            </a:r>
            <a:r>
              <a:rPr lang="en-GB" dirty="0" err="1"/>
              <a:t>CountDownLatch</a:t>
            </a:r>
            <a:r>
              <a:rPr lang="en-GB" dirty="0"/>
              <a:t>(3);</a:t>
            </a:r>
          </a:p>
          <a:p>
            <a:r>
              <a:rPr lang="en-GB" dirty="0"/>
              <a:t>            (new </a:t>
            </a:r>
            <a:r>
              <a:rPr lang="en-GB" dirty="0" err="1"/>
              <a:t>WriterThread</a:t>
            </a:r>
            <a:r>
              <a:rPr lang="en-GB" dirty="0"/>
              <a:t>(map, "W1",controller)).start();</a:t>
            </a:r>
          </a:p>
          <a:p>
            <a:r>
              <a:rPr lang="en-GB" dirty="0"/>
              <a:t>            (new </a:t>
            </a:r>
            <a:r>
              <a:rPr lang="en-GB" dirty="0" err="1"/>
              <a:t>WriterThread</a:t>
            </a:r>
            <a:r>
              <a:rPr lang="en-GB" dirty="0"/>
              <a:t>(map, "W2",controller)).start();</a:t>
            </a:r>
          </a:p>
          <a:p>
            <a:r>
              <a:rPr lang="en-GB" dirty="0"/>
              <a:t>            (new </a:t>
            </a:r>
            <a:r>
              <a:rPr lang="en-GB" dirty="0" err="1"/>
              <a:t>ReaderThread</a:t>
            </a:r>
            <a:r>
              <a:rPr lang="en-GB" dirty="0"/>
              <a:t>(map, "R1")).start();</a:t>
            </a:r>
          </a:p>
          <a:p>
            <a:r>
              <a:rPr lang="en-GB" dirty="0"/>
              <a:t>            (new </a:t>
            </a:r>
            <a:r>
              <a:rPr lang="en-GB" dirty="0" err="1"/>
              <a:t>ReaderThread</a:t>
            </a:r>
            <a:r>
              <a:rPr lang="en-GB" dirty="0"/>
              <a:t>(map, "R2")).start();</a:t>
            </a:r>
          </a:p>
          <a:p>
            <a:r>
              <a:rPr lang="en-GB" dirty="0"/>
              <a:t>            (new </a:t>
            </a:r>
            <a:r>
              <a:rPr lang="en-GB" dirty="0" err="1"/>
              <a:t>ReaderThread</a:t>
            </a:r>
            <a:r>
              <a:rPr lang="en-GB" dirty="0"/>
              <a:t>(map, "R3")).start();</a:t>
            </a:r>
          </a:p>
          <a:p>
            <a:r>
              <a:rPr lang="en-GB" dirty="0"/>
              <a:t>            </a:t>
            </a:r>
            <a:r>
              <a:rPr lang="en-GB" b="1" dirty="0" err="1">
                <a:solidFill>
                  <a:schemeClr val="tx1"/>
                </a:solidFill>
              </a:rPr>
              <a:t>controller.await</a:t>
            </a:r>
            <a:r>
              <a:rPr lang="en-GB" b="1" dirty="0">
                <a:solidFill>
                  <a:schemeClr val="tx1"/>
                </a:solidFill>
              </a:rPr>
              <a:t>();</a:t>
            </a:r>
          </a:p>
          <a:p>
            <a:r>
              <a:rPr lang="en-GB" b="1" dirty="0">
                <a:solidFill>
                  <a:schemeClr val="tx1"/>
                </a:solidFill>
              </a:rPr>
              <a:t>            ok=false;</a:t>
            </a:r>
          </a:p>
          <a:p>
            <a:r>
              <a:rPr lang="en-GB" dirty="0"/>
              <a:t>            }</a:t>
            </a:r>
          </a:p>
          <a:p>
            <a:r>
              <a:rPr lang="en-GB" dirty="0"/>
              <a:t>private static class </a:t>
            </a:r>
            <a:r>
              <a:rPr lang="en-GB" dirty="0" err="1"/>
              <a:t>WriterThread</a:t>
            </a:r>
            <a:r>
              <a:rPr lang="en-GB" dirty="0"/>
              <a:t> extends Thread {…</a:t>
            </a:r>
            <a:r>
              <a:rPr lang="en-GB" sz="2000" dirty="0"/>
              <a:t>}</a:t>
            </a:r>
          </a:p>
          <a:p>
            <a:r>
              <a:rPr lang="en-GB" dirty="0"/>
              <a:t>private static class </a:t>
            </a:r>
            <a:r>
              <a:rPr lang="en-GB" dirty="0" err="1"/>
              <a:t>ReaderThread</a:t>
            </a:r>
            <a:r>
              <a:rPr lang="en-GB" dirty="0"/>
              <a:t> extends Thread {…</a:t>
            </a:r>
            <a:r>
              <a:rPr lang="en-GB" sz="2000" dirty="0"/>
              <a:t>}</a:t>
            </a:r>
            <a:endParaRPr lang="en-GB" dirty="0"/>
          </a:p>
          <a:p>
            <a:endParaRPr lang="en-GB" dirty="0"/>
          </a:p>
          <a:p>
            <a:r>
              <a:rPr lang="en-GB" dirty="0"/>
              <a:t>}</a:t>
            </a:r>
          </a:p>
        </p:txBody>
      </p:sp>
    </p:spTree>
    <p:extLst>
      <p:ext uri="{BB962C8B-B14F-4D97-AF65-F5344CB8AC3E}">
        <p14:creationId xmlns:p14="http://schemas.microsoft.com/office/powerpoint/2010/main" val="2412977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70C6A-E5F7-E001-4959-12DA63E745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DFE00E-306E-197D-A10B-0A9BE610A00F}"/>
              </a:ext>
            </a:extLst>
          </p:cNvPr>
          <p:cNvSpPr txBox="1"/>
          <p:nvPr/>
        </p:nvSpPr>
        <p:spPr>
          <a:xfrm>
            <a:off x="1209040" y="487680"/>
            <a:ext cx="9764404" cy="4801314"/>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dirty="0"/>
              <a:t>private static class </a:t>
            </a:r>
            <a:r>
              <a:rPr lang="en-GB" dirty="0" err="1"/>
              <a:t>ReaderThread</a:t>
            </a:r>
            <a:r>
              <a:rPr lang="en-GB" dirty="0"/>
              <a:t> extends Thread {</a:t>
            </a:r>
          </a:p>
          <a:p>
            <a:r>
              <a:rPr lang="en-GB" dirty="0"/>
              <a:t>        private </a:t>
            </a:r>
            <a:r>
              <a:rPr lang="en-GB" dirty="0" err="1"/>
              <a:t>ConcurrentHashMap</a:t>
            </a:r>
            <a:r>
              <a:rPr lang="en-GB" dirty="0"/>
              <a:t>&lt;Integer, String&gt; map;</a:t>
            </a:r>
          </a:p>
          <a:p>
            <a:r>
              <a:rPr lang="en-GB" dirty="0"/>
              <a:t>        private String name;</a:t>
            </a:r>
          </a:p>
          <a:p>
            <a:r>
              <a:rPr lang="en-GB" dirty="0"/>
              <a:t>        public </a:t>
            </a:r>
            <a:r>
              <a:rPr lang="en-GB" dirty="0" err="1"/>
              <a:t>ReaderThread</a:t>
            </a:r>
            <a:r>
              <a:rPr lang="en-GB" dirty="0"/>
              <a:t>(</a:t>
            </a:r>
            <a:r>
              <a:rPr lang="en-GB" dirty="0" err="1"/>
              <a:t>ConcurrentHashMap</a:t>
            </a:r>
            <a:r>
              <a:rPr lang="en-GB" dirty="0"/>
              <a:t>&lt;Integer, String&gt; map, String </a:t>
            </a:r>
            <a:r>
              <a:rPr lang="en-GB" dirty="0" err="1"/>
              <a:t>threadName</a:t>
            </a:r>
            <a:r>
              <a:rPr lang="en-GB" dirty="0"/>
              <a:t>) {</a:t>
            </a:r>
          </a:p>
          <a:p>
            <a:r>
              <a:rPr lang="en-GB" dirty="0"/>
              <a:t>        </a:t>
            </a:r>
            <a:r>
              <a:rPr lang="en-GB" dirty="0" err="1"/>
              <a:t>this.map</a:t>
            </a:r>
            <a:r>
              <a:rPr lang="en-GB" dirty="0"/>
              <a:t>= map; this.name = </a:t>
            </a:r>
            <a:r>
              <a:rPr lang="en-GB" dirty="0" err="1"/>
              <a:t>threadName</a:t>
            </a:r>
            <a:r>
              <a:rPr lang="en-GB" dirty="0"/>
              <a:t>;}</a:t>
            </a:r>
          </a:p>
          <a:p>
            <a:r>
              <a:rPr lang="en-GB" dirty="0"/>
              <a:t>        public void run() {</a:t>
            </a:r>
          </a:p>
          <a:p>
            <a:r>
              <a:rPr lang="en-GB" dirty="0"/>
              <a:t>        while (</a:t>
            </a:r>
            <a:r>
              <a:rPr lang="en-GB" b="1" dirty="0"/>
              <a:t>ok</a:t>
            </a:r>
            <a:r>
              <a:rPr lang="en-GB" dirty="0"/>
              <a:t>) {</a:t>
            </a:r>
          </a:p>
          <a:p>
            <a:r>
              <a:rPr lang="en-GB" dirty="0"/>
              <a:t>        // long time = </a:t>
            </a:r>
            <a:r>
              <a:rPr lang="en-GB" dirty="0" err="1"/>
              <a:t>System.currentTimeMillis</a:t>
            </a:r>
            <a:r>
              <a:rPr lang="en-GB" dirty="0"/>
              <a:t>(); </a:t>
            </a:r>
          </a:p>
          <a:p>
            <a:r>
              <a:rPr lang="en-GB" dirty="0"/>
              <a:t>        String output = name + ": ";</a:t>
            </a:r>
          </a:p>
          <a:p>
            <a:r>
              <a:rPr lang="en-GB" dirty="0"/>
              <a:t>        for (Integer key : </a:t>
            </a:r>
            <a:r>
              <a:rPr lang="en-GB" dirty="0" err="1"/>
              <a:t>map.keySet</a:t>
            </a:r>
            <a:r>
              <a:rPr lang="en-GB" dirty="0"/>
              <a:t>()) {</a:t>
            </a:r>
          </a:p>
          <a:p>
            <a:r>
              <a:rPr lang="en-GB" dirty="0"/>
              <a:t>        String value = </a:t>
            </a:r>
            <a:r>
              <a:rPr lang="en-GB" dirty="0" err="1"/>
              <a:t>map.get</a:t>
            </a:r>
            <a:r>
              <a:rPr lang="en-GB" dirty="0"/>
              <a:t>(key);</a:t>
            </a:r>
          </a:p>
          <a:p>
            <a:r>
              <a:rPr lang="en-GB" dirty="0"/>
              <a:t>        output += "("+key + "," + value + ") ";</a:t>
            </a:r>
          </a:p>
          <a:p>
            <a:r>
              <a:rPr lang="en-GB" dirty="0"/>
              <a:t>        }</a:t>
            </a:r>
          </a:p>
          <a:p>
            <a:r>
              <a:rPr lang="en-GB" dirty="0"/>
              <a:t>        </a:t>
            </a:r>
            <a:r>
              <a:rPr lang="en-GB" dirty="0" err="1"/>
              <a:t>System.out.println</a:t>
            </a:r>
            <a:r>
              <a:rPr lang="en-GB" dirty="0"/>
              <a:t>(output);</a:t>
            </a:r>
          </a:p>
          <a:p>
            <a:r>
              <a:rPr lang="en-GB" dirty="0"/>
              <a:t>        try { </a:t>
            </a:r>
            <a:r>
              <a:rPr lang="en-GB" dirty="0" err="1"/>
              <a:t>Thread.sleep</a:t>
            </a:r>
            <a:r>
              <a:rPr lang="en-GB" dirty="0"/>
              <a:t>(</a:t>
            </a:r>
            <a:r>
              <a:rPr lang="en-GB" dirty="0" err="1"/>
              <a:t>ThreadLocalRandom.current</a:t>
            </a:r>
            <a:r>
              <a:rPr lang="en-GB" dirty="0"/>
              <a:t>().</a:t>
            </a:r>
            <a:r>
              <a:rPr lang="en-GB" dirty="0" err="1"/>
              <a:t>nextInt</a:t>
            </a:r>
            <a:r>
              <a:rPr lang="en-GB" dirty="0"/>
              <a:t>(300));} catch (</a:t>
            </a:r>
            <a:r>
              <a:rPr lang="en-GB" dirty="0" err="1"/>
              <a:t>InterruptedException</a:t>
            </a:r>
            <a:r>
              <a:rPr lang="en-GB" dirty="0"/>
              <a:t> ex) {}</a:t>
            </a:r>
          </a:p>
          <a:p>
            <a:r>
              <a:rPr lang="en-GB" dirty="0"/>
              <a:t>        }}</a:t>
            </a:r>
          </a:p>
          <a:p>
            <a:r>
              <a:rPr lang="en-GB" dirty="0"/>
              <a:t>        }</a:t>
            </a:r>
          </a:p>
        </p:txBody>
      </p:sp>
    </p:spTree>
    <p:extLst>
      <p:ext uri="{BB962C8B-B14F-4D97-AF65-F5344CB8AC3E}">
        <p14:creationId xmlns:p14="http://schemas.microsoft.com/office/powerpoint/2010/main" val="221908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3EF67-870E-FAD9-6A9B-01363712B9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7DAECA-1C35-EAE7-0FC5-E7905039E8C7}"/>
              </a:ext>
            </a:extLst>
          </p:cNvPr>
          <p:cNvSpPr txBox="1"/>
          <p:nvPr/>
        </p:nvSpPr>
        <p:spPr>
          <a:xfrm>
            <a:off x="1209040" y="487680"/>
            <a:ext cx="9807300" cy="5632311"/>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GB" dirty="0"/>
              <a:t>private static class </a:t>
            </a:r>
            <a:r>
              <a:rPr lang="en-GB" dirty="0" err="1"/>
              <a:t>WriterThread</a:t>
            </a:r>
            <a:r>
              <a:rPr lang="en-GB" dirty="0"/>
              <a:t> extends Thread {</a:t>
            </a:r>
          </a:p>
          <a:p>
            <a:r>
              <a:rPr lang="en-GB" dirty="0"/>
              <a:t>    private </a:t>
            </a:r>
            <a:r>
              <a:rPr lang="en-GB" dirty="0" err="1"/>
              <a:t>ConcurrentMap</a:t>
            </a:r>
            <a:r>
              <a:rPr lang="en-GB" dirty="0"/>
              <a:t>&lt;Integer, String&gt; map;</a:t>
            </a:r>
          </a:p>
          <a:p>
            <a:r>
              <a:rPr lang="en-GB" dirty="0"/>
              <a:t>    private </a:t>
            </a:r>
            <a:r>
              <a:rPr lang="en-GB" dirty="0" err="1"/>
              <a:t>CountDownLatch</a:t>
            </a:r>
            <a:r>
              <a:rPr lang="en-GB" dirty="0"/>
              <a:t> controller;</a:t>
            </a:r>
          </a:p>
          <a:p>
            <a:r>
              <a:rPr lang="en-GB" dirty="0"/>
              <a:t>    private String name;</a:t>
            </a:r>
          </a:p>
          <a:p>
            <a:r>
              <a:rPr lang="en-GB" dirty="0"/>
              <a:t>    public </a:t>
            </a:r>
            <a:r>
              <a:rPr lang="en-GB" dirty="0" err="1"/>
              <a:t>WriterThread</a:t>
            </a:r>
            <a:r>
              <a:rPr lang="en-GB" dirty="0"/>
              <a:t>(</a:t>
            </a:r>
            <a:r>
              <a:rPr lang="en-GB" dirty="0" err="1"/>
              <a:t>ConcurrentMap</a:t>
            </a:r>
            <a:r>
              <a:rPr lang="en-GB" dirty="0"/>
              <a:t>&lt;Integer, String&gt; map, String </a:t>
            </a:r>
            <a:r>
              <a:rPr lang="en-GB" dirty="0" err="1"/>
              <a:t>threadName</a:t>
            </a:r>
            <a:r>
              <a:rPr lang="en-GB" dirty="0"/>
              <a:t>, </a:t>
            </a:r>
            <a:r>
              <a:rPr lang="en-GB" dirty="0" err="1"/>
              <a:t>CountDownLatch</a:t>
            </a:r>
            <a:r>
              <a:rPr lang="en-GB" dirty="0"/>
              <a:t> c) {</a:t>
            </a:r>
          </a:p>
          <a:p>
            <a:r>
              <a:rPr lang="en-GB" dirty="0"/>
              <a:t>    </a:t>
            </a:r>
            <a:r>
              <a:rPr lang="en-GB" dirty="0" err="1"/>
              <a:t>this.map</a:t>
            </a:r>
            <a:r>
              <a:rPr lang="en-GB" dirty="0"/>
              <a:t>= map; this.name = </a:t>
            </a:r>
            <a:r>
              <a:rPr lang="en-GB" dirty="0" err="1"/>
              <a:t>threadName</a:t>
            </a:r>
            <a:r>
              <a:rPr lang="en-GB" dirty="0"/>
              <a:t>; </a:t>
            </a:r>
            <a:r>
              <a:rPr lang="en-GB" dirty="0" err="1"/>
              <a:t>this.controller</a:t>
            </a:r>
            <a:r>
              <a:rPr lang="en-GB" dirty="0"/>
              <a:t>=c;}</a:t>
            </a:r>
          </a:p>
          <a:p>
            <a:r>
              <a:rPr lang="en-GB" dirty="0"/>
              <a:t>    public void run() {</a:t>
            </a:r>
          </a:p>
          <a:p>
            <a:r>
              <a:rPr lang="en-GB" dirty="0"/>
              <a:t>    String value = name;</a:t>
            </a:r>
          </a:p>
          <a:p>
            <a:r>
              <a:rPr lang="en-GB" dirty="0"/>
              <a:t>    while (</a:t>
            </a:r>
            <a:r>
              <a:rPr lang="en-GB" b="1" dirty="0"/>
              <a:t>ok</a:t>
            </a:r>
            <a:r>
              <a:rPr lang="en-GB" dirty="0"/>
              <a:t>) {</a:t>
            </a:r>
          </a:p>
          <a:p>
            <a:r>
              <a:rPr lang="en-GB" dirty="0"/>
              <a:t>    for (int </a:t>
            </a:r>
            <a:r>
              <a:rPr lang="en-GB" dirty="0" err="1"/>
              <a:t>i</a:t>
            </a:r>
            <a:r>
              <a:rPr lang="en-GB" dirty="0"/>
              <a:t> = 0; </a:t>
            </a:r>
            <a:r>
              <a:rPr lang="en-GB" b="1" dirty="0" err="1"/>
              <a:t>i</a:t>
            </a:r>
            <a:r>
              <a:rPr lang="en-GB" b="1" dirty="0"/>
              <a:t> &lt; 3</a:t>
            </a:r>
            <a:r>
              <a:rPr lang="en-GB" dirty="0"/>
              <a:t>; </a:t>
            </a:r>
            <a:r>
              <a:rPr lang="en-GB" dirty="0" err="1"/>
              <a:t>i</a:t>
            </a:r>
            <a:r>
              <a:rPr lang="en-GB" dirty="0"/>
              <a:t>++) {</a:t>
            </a:r>
          </a:p>
          <a:p>
            <a:r>
              <a:rPr lang="en-GB" dirty="0"/>
              <a:t>    Integer key = </a:t>
            </a:r>
            <a:r>
              <a:rPr lang="en-GB" dirty="0" err="1"/>
              <a:t>ThreadLocalRandom.current</a:t>
            </a:r>
            <a:r>
              <a:rPr lang="en-GB" dirty="0"/>
              <a:t>().</a:t>
            </a:r>
            <a:r>
              <a:rPr lang="en-GB" dirty="0" err="1"/>
              <a:t>nextInt</a:t>
            </a:r>
            <a:r>
              <a:rPr lang="en-GB" dirty="0"/>
              <a:t>(100); </a:t>
            </a:r>
          </a:p>
          <a:p>
            <a:r>
              <a:rPr lang="en-GB" dirty="0"/>
              <a:t> // long time = </a:t>
            </a:r>
            <a:r>
              <a:rPr lang="en-GB" dirty="0" err="1"/>
              <a:t>System.currentTimeMillis</a:t>
            </a:r>
            <a:r>
              <a:rPr lang="en-GB" dirty="0"/>
              <a:t>(); </a:t>
            </a:r>
          </a:p>
          <a:p>
            <a:r>
              <a:rPr lang="en-GB" dirty="0"/>
              <a:t>    if(</a:t>
            </a:r>
            <a:r>
              <a:rPr lang="en-GB" dirty="0" err="1"/>
              <a:t>map.putIfAbsent</a:t>
            </a:r>
            <a:r>
              <a:rPr lang="en-GB" dirty="0"/>
              <a:t>(key, value) == null) {</a:t>
            </a:r>
          </a:p>
          <a:p>
            <a:r>
              <a:rPr lang="en-GB" dirty="0"/>
              <a:t>    </a:t>
            </a:r>
            <a:r>
              <a:rPr lang="en-GB" dirty="0" err="1"/>
              <a:t>System.out.println</a:t>
            </a:r>
            <a:r>
              <a:rPr lang="en-GB" dirty="0"/>
              <a:t>(name+" has put ("+key+","+value+")") ;}</a:t>
            </a:r>
          </a:p>
          <a:p>
            <a:r>
              <a:rPr lang="en-GB" dirty="0"/>
              <a:t>    else {</a:t>
            </a:r>
          </a:p>
          <a:p>
            <a:r>
              <a:rPr lang="en-GB" dirty="0"/>
              <a:t>        </a:t>
            </a:r>
            <a:r>
              <a:rPr lang="en-GB" dirty="0" err="1"/>
              <a:t>System.out.println</a:t>
            </a:r>
            <a:r>
              <a:rPr lang="en-GB" dirty="0"/>
              <a:t>(name+" duplicate") ;}}</a:t>
            </a:r>
          </a:p>
          <a:p>
            <a:r>
              <a:rPr lang="en-GB" dirty="0"/>
              <a:t>        </a:t>
            </a:r>
            <a:r>
              <a:rPr lang="en-GB" b="1" dirty="0" err="1"/>
              <a:t>controller.countDown</a:t>
            </a:r>
            <a:r>
              <a:rPr lang="en-GB" b="1" dirty="0"/>
              <a:t>();</a:t>
            </a:r>
          </a:p>
          <a:p>
            <a:r>
              <a:rPr lang="en-GB" dirty="0"/>
              <a:t>    try { </a:t>
            </a:r>
            <a:r>
              <a:rPr lang="en-GB" dirty="0" err="1"/>
              <a:t>Thread.sleep</a:t>
            </a:r>
            <a:r>
              <a:rPr lang="en-GB" dirty="0"/>
              <a:t>(</a:t>
            </a:r>
            <a:r>
              <a:rPr lang="en-GB" dirty="0" err="1"/>
              <a:t>ThreadLocalRandom.current</a:t>
            </a:r>
            <a:r>
              <a:rPr lang="en-GB" dirty="0"/>
              <a:t>().</a:t>
            </a:r>
            <a:r>
              <a:rPr lang="en-GB" dirty="0" err="1"/>
              <a:t>nextInt</a:t>
            </a:r>
            <a:r>
              <a:rPr lang="en-GB" dirty="0"/>
              <a:t>(500));} catch (</a:t>
            </a:r>
            <a:r>
              <a:rPr lang="en-GB" dirty="0" err="1"/>
              <a:t>InterruptedException</a:t>
            </a:r>
            <a:r>
              <a:rPr lang="en-GB" dirty="0"/>
              <a:t> ex) {}</a:t>
            </a:r>
          </a:p>
          <a:p>
            <a:r>
              <a:rPr lang="en-GB" dirty="0"/>
              <a:t>   </a:t>
            </a:r>
          </a:p>
          <a:p>
            <a:r>
              <a:rPr lang="en-GB" dirty="0"/>
              <a:t>    }}}</a:t>
            </a:r>
          </a:p>
        </p:txBody>
      </p:sp>
    </p:spTree>
    <p:extLst>
      <p:ext uri="{BB962C8B-B14F-4D97-AF65-F5344CB8AC3E}">
        <p14:creationId xmlns:p14="http://schemas.microsoft.com/office/powerpoint/2010/main" val="3648569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0562AA-8E71-94D5-B59E-84DF91DC6810}"/>
              </a:ext>
            </a:extLst>
          </p:cNvPr>
          <p:cNvPicPr>
            <a:picLocks noChangeAspect="1"/>
          </p:cNvPicPr>
          <p:nvPr/>
        </p:nvPicPr>
        <p:blipFill>
          <a:blip r:embed="rId2"/>
          <a:stretch>
            <a:fillRect/>
          </a:stretch>
        </p:blipFill>
        <p:spPr>
          <a:xfrm>
            <a:off x="2596732" y="616240"/>
            <a:ext cx="6261572" cy="5164800"/>
          </a:xfrm>
          <a:prstGeom prst="rect">
            <a:avLst/>
          </a:prstGeom>
        </p:spPr>
      </p:pic>
    </p:spTree>
    <p:extLst>
      <p:ext uri="{BB962C8B-B14F-4D97-AF65-F5344CB8AC3E}">
        <p14:creationId xmlns:p14="http://schemas.microsoft.com/office/powerpoint/2010/main" val="1413398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46014" y="1044315"/>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p:cNvSpPr txBox="1"/>
          <p:nvPr/>
        </p:nvSpPr>
        <p:spPr>
          <a:xfrm>
            <a:off x="4670252" y="3896790"/>
            <a:ext cx="3065172" cy="1893194"/>
          </a:xfrm>
          <a:prstGeom prst="rect">
            <a:avLst/>
          </a:prstGeom>
          <a:solidFill>
            <a:schemeClr val="bg1">
              <a:lumMod val="8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sp>
        <p:nvSpPr>
          <p:cNvPr id="11" name="TextBox 10"/>
          <p:cNvSpPr txBox="1"/>
          <p:nvPr/>
        </p:nvSpPr>
        <p:spPr>
          <a:xfrm>
            <a:off x="5839852" y="1216980"/>
            <a:ext cx="725968" cy="369332"/>
          </a:xfrm>
          <a:prstGeom prst="rect">
            <a:avLst/>
          </a:prstGeom>
          <a:noFill/>
        </p:spPr>
        <p:txBody>
          <a:bodyPr wrap="none" rtlCol="0">
            <a:spAutoFit/>
          </a:bodyPr>
          <a:lstStyle/>
          <a:p>
            <a:r>
              <a:rPr lang="en-US" dirty="0"/>
              <a:t>Client</a:t>
            </a:r>
          </a:p>
        </p:txBody>
      </p:sp>
      <p:sp>
        <p:nvSpPr>
          <p:cNvPr id="12" name="TextBox 11"/>
          <p:cNvSpPr txBox="1"/>
          <p:nvPr/>
        </p:nvSpPr>
        <p:spPr>
          <a:xfrm>
            <a:off x="5756209" y="4658721"/>
            <a:ext cx="893258" cy="369332"/>
          </a:xfrm>
          <a:prstGeom prst="rect">
            <a:avLst/>
          </a:prstGeom>
          <a:noFill/>
        </p:spPr>
        <p:txBody>
          <a:bodyPr wrap="none" rtlCol="0">
            <a:spAutoFit/>
          </a:bodyPr>
          <a:lstStyle/>
          <a:p>
            <a:r>
              <a:rPr lang="en-US" dirty="0"/>
              <a:t>SERVER</a:t>
            </a:r>
          </a:p>
        </p:txBody>
      </p:sp>
      <p:sp>
        <p:nvSpPr>
          <p:cNvPr id="7" name="Up-Down Arrow 6"/>
          <p:cNvSpPr/>
          <p:nvPr/>
        </p:nvSpPr>
        <p:spPr>
          <a:xfrm>
            <a:off x="6067607" y="1843844"/>
            <a:ext cx="270458" cy="1893191"/>
          </a:xfrm>
          <a:prstGeom prst="up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Oval 15"/>
          <p:cNvSpPr/>
          <p:nvPr/>
        </p:nvSpPr>
        <p:spPr>
          <a:xfrm>
            <a:off x="6119125" y="3818478"/>
            <a:ext cx="167425" cy="156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BE744E0-A500-30A0-F6AC-C180FA24C381}"/>
              </a:ext>
            </a:extLst>
          </p:cNvPr>
          <p:cNvSpPr txBox="1"/>
          <p:nvPr/>
        </p:nvSpPr>
        <p:spPr>
          <a:xfrm>
            <a:off x="6453696" y="1442367"/>
            <a:ext cx="184731" cy="646331"/>
          </a:xfrm>
          <a:prstGeom prst="rect">
            <a:avLst/>
          </a:prstGeom>
          <a:noFill/>
        </p:spPr>
        <p:txBody>
          <a:bodyPr wrap="none" rtlCol="0">
            <a:spAutoFit/>
          </a:bodyPr>
          <a:lstStyle/>
          <a:p>
            <a:endParaRPr lang="en-US" dirty="0"/>
          </a:p>
          <a:p>
            <a:endParaRPr lang="en-GB" dirty="0"/>
          </a:p>
        </p:txBody>
      </p:sp>
    </p:spTree>
    <p:extLst>
      <p:ext uri="{BB962C8B-B14F-4D97-AF65-F5344CB8AC3E}">
        <p14:creationId xmlns:p14="http://schemas.microsoft.com/office/powerpoint/2010/main" val="39095791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9EE3E-F343-1686-F030-D835F54F9BB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7FAE54D-E521-2BAA-2936-A7340F4FE31B}"/>
              </a:ext>
            </a:extLst>
          </p:cNvPr>
          <p:cNvSpPr/>
          <p:nvPr/>
        </p:nvSpPr>
        <p:spPr>
          <a:xfrm>
            <a:off x="1786031" y="932268"/>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3F674157-440A-E6D3-3D7B-BA7C26B11AEC}"/>
              </a:ext>
            </a:extLst>
          </p:cNvPr>
          <p:cNvSpPr txBox="1"/>
          <p:nvPr/>
        </p:nvSpPr>
        <p:spPr>
          <a:xfrm>
            <a:off x="961852" y="3724070"/>
            <a:ext cx="3065172" cy="1893194"/>
          </a:xfrm>
          <a:prstGeom prst="rect">
            <a:avLst/>
          </a:prstGeom>
          <a:solidFill>
            <a:schemeClr val="bg1">
              <a:lumMod val="8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sp>
        <p:nvSpPr>
          <p:cNvPr id="11" name="TextBox 10">
            <a:extLst>
              <a:ext uri="{FF2B5EF4-FFF2-40B4-BE49-F238E27FC236}">
                <a16:creationId xmlns:a16="http://schemas.microsoft.com/office/drawing/2014/main" id="{3E097D70-74B9-9E9F-6A04-81D1401890FB}"/>
              </a:ext>
            </a:extLst>
          </p:cNvPr>
          <p:cNvSpPr txBox="1"/>
          <p:nvPr/>
        </p:nvSpPr>
        <p:spPr>
          <a:xfrm>
            <a:off x="1996225" y="1193375"/>
            <a:ext cx="725968" cy="369332"/>
          </a:xfrm>
          <a:prstGeom prst="rect">
            <a:avLst/>
          </a:prstGeom>
          <a:noFill/>
        </p:spPr>
        <p:txBody>
          <a:bodyPr wrap="none" rtlCol="0">
            <a:spAutoFit/>
          </a:bodyPr>
          <a:lstStyle/>
          <a:p>
            <a:r>
              <a:rPr lang="en-US" dirty="0"/>
              <a:t>Client</a:t>
            </a:r>
          </a:p>
        </p:txBody>
      </p:sp>
      <p:sp>
        <p:nvSpPr>
          <p:cNvPr id="12" name="TextBox 11">
            <a:extLst>
              <a:ext uri="{FF2B5EF4-FFF2-40B4-BE49-F238E27FC236}">
                <a16:creationId xmlns:a16="http://schemas.microsoft.com/office/drawing/2014/main" id="{DEB9DDDB-509F-F00C-07FD-22962ABC11CE}"/>
              </a:ext>
            </a:extLst>
          </p:cNvPr>
          <p:cNvSpPr txBox="1"/>
          <p:nvPr/>
        </p:nvSpPr>
        <p:spPr>
          <a:xfrm>
            <a:off x="1996225" y="4393774"/>
            <a:ext cx="893258" cy="369332"/>
          </a:xfrm>
          <a:prstGeom prst="rect">
            <a:avLst/>
          </a:prstGeom>
          <a:noFill/>
        </p:spPr>
        <p:txBody>
          <a:bodyPr wrap="none" rtlCol="0">
            <a:spAutoFit/>
          </a:bodyPr>
          <a:lstStyle/>
          <a:p>
            <a:r>
              <a:rPr lang="en-US" dirty="0"/>
              <a:t>SERVER</a:t>
            </a:r>
          </a:p>
        </p:txBody>
      </p:sp>
      <p:sp>
        <p:nvSpPr>
          <p:cNvPr id="7" name="Up-Down Arrow 6">
            <a:extLst>
              <a:ext uri="{FF2B5EF4-FFF2-40B4-BE49-F238E27FC236}">
                <a16:creationId xmlns:a16="http://schemas.microsoft.com/office/drawing/2014/main" id="{F04D3FAA-87E4-A62B-1372-FE04F4C44251}"/>
              </a:ext>
            </a:extLst>
          </p:cNvPr>
          <p:cNvSpPr/>
          <p:nvPr/>
        </p:nvSpPr>
        <p:spPr>
          <a:xfrm>
            <a:off x="2258551" y="1699600"/>
            <a:ext cx="270458" cy="1893191"/>
          </a:xfrm>
          <a:prstGeom prst="up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Oval 15">
            <a:extLst>
              <a:ext uri="{FF2B5EF4-FFF2-40B4-BE49-F238E27FC236}">
                <a16:creationId xmlns:a16="http://schemas.microsoft.com/office/drawing/2014/main" id="{3820727E-BDD7-6304-C9AD-DDB44D2B8F3F}"/>
              </a:ext>
            </a:extLst>
          </p:cNvPr>
          <p:cNvSpPr/>
          <p:nvPr/>
        </p:nvSpPr>
        <p:spPr>
          <a:xfrm>
            <a:off x="2310068" y="3631841"/>
            <a:ext cx="167425" cy="156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D8554A6-C3F3-9F2E-4A85-6EDAD2ABC582}"/>
              </a:ext>
            </a:extLst>
          </p:cNvPr>
          <p:cNvSpPr txBox="1"/>
          <p:nvPr/>
        </p:nvSpPr>
        <p:spPr>
          <a:xfrm>
            <a:off x="4472496" y="500878"/>
            <a:ext cx="6530784" cy="1631216"/>
          </a:xfrm>
          <a:prstGeom prst="rect">
            <a:avLst/>
          </a:prstGeom>
          <a:noFill/>
          <a:ln>
            <a:noFill/>
          </a:ln>
        </p:spPr>
        <p:txBody>
          <a:bodyPr wrap="square" rtlCol="0">
            <a:spAutoFit/>
          </a:bodyPr>
          <a:lstStyle/>
          <a:p>
            <a:endParaRPr lang="en-US" sz="2000" dirty="0"/>
          </a:p>
          <a:p>
            <a:pPr marL="285750" indent="-285750">
              <a:buFont typeface="Arial" panose="020B0604020202020204" pitchFamily="34" charset="0"/>
              <a:buChar char="•"/>
            </a:pPr>
            <a:r>
              <a:rPr lang="en-US" sz="2000" dirty="0"/>
              <a:t>un socket  </a:t>
            </a:r>
            <a:r>
              <a:rPr lang="en-US" sz="2000" dirty="0" err="1"/>
              <a:t>este</a:t>
            </a:r>
            <a:r>
              <a:rPr lang="en-US" sz="2000" dirty="0"/>
              <a:t> un </a:t>
            </a:r>
            <a:r>
              <a:rPr lang="en-US" sz="2000" dirty="0" err="1"/>
              <a:t>punct</a:t>
            </a:r>
            <a:r>
              <a:rPr lang="en-US" sz="2000" dirty="0"/>
              <a:t> final in </a:t>
            </a:r>
            <a:r>
              <a:rPr lang="en-US" sz="2000" dirty="0" err="1"/>
              <a:t>comunicarea</a:t>
            </a:r>
            <a:endParaRPr lang="en-US" sz="2000" dirty="0"/>
          </a:p>
          <a:p>
            <a:r>
              <a:rPr lang="en-US" sz="2000" dirty="0"/>
              <a:t>       </a:t>
            </a:r>
            <a:r>
              <a:rPr lang="en-US" sz="2000" dirty="0" err="1"/>
              <a:t>bidirectionala</a:t>
            </a:r>
            <a:r>
              <a:rPr lang="en-US" sz="2000" dirty="0"/>
              <a:t> </a:t>
            </a:r>
            <a:r>
              <a:rPr lang="en-US" sz="2000" dirty="0" err="1"/>
              <a:t>dintre</a:t>
            </a:r>
            <a:r>
              <a:rPr lang="en-US" sz="2000" dirty="0"/>
              <a:t> </a:t>
            </a:r>
            <a:r>
              <a:rPr lang="en-US" sz="2000" dirty="0" err="1"/>
              <a:t>doua</a:t>
            </a:r>
            <a:r>
              <a:rPr lang="en-US" sz="2000" dirty="0"/>
              <a:t> </a:t>
            </a:r>
            <a:r>
              <a:rPr lang="en-US" sz="2000" dirty="0" err="1"/>
              <a:t>programe</a:t>
            </a:r>
            <a:r>
              <a:rPr lang="en-US" sz="2000" dirty="0"/>
              <a:t> din </a:t>
            </a:r>
            <a:r>
              <a:rPr lang="en-US" sz="2000" dirty="0" err="1"/>
              <a:t>aceeasi</a:t>
            </a:r>
            <a:r>
              <a:rPr lang="en-US" sz="2000" dirty="0"/>
              <a:t> </a:t>
            </a:r>
            <a:r>
              <a:rPr lang="en-US" sz="2000" dirty="0" err="1"/>
              <a:t>retea</a:t>
            </a:r>
            <a:endParaRPr lang="en-US" sz="2000" dirty="0"/>
          </a:p>
          <a:p>
            <a:endParaRPr lang="en-US" sz="2000" dirty="0"/>
          </a:p>
          <a:p>
            <a:pPr marL="285750" indent="-285750">
              <a:buFont typeface="Arial" panose="020B0604020202020204" pitchFamily="34" charset="0"/>
              <a:buChar char="•"/>
            </a:pPr>
            <a:r>
              <a:rPr lang="en-US" sz="2000" dirty="0"/>
              <a:t>un socket are </a:t>
            </a:r>
            <a:r>
              <a:rPr lang="en-US" sz="2000" dirty="0" err="1"/>
              <a:t>asociat</a:t>
            </a:r>
            <a:r>
              <a:rPr lang="en-US" sz="2000" dirty="0"/>
              <a:t> un port</a:t>
            </a:r>
          </a:p>
        </p:txBody>
      </p:sp>
      <p:sp>
        <p:nvSpPr>
          <p:cNvPr id="20" name="TextBox 19">
            <a:extLst>
              <a:ext uri="{FF2B5EF4-FFF2-40B4-BE49-F238E27FC236}">
                <a16:creationId xmlns:a16="http://schemas.microsoft.com/office/drawing/2014/main" id="{CD8B314B-1EE2-D579-8FE5-C9A387EC699E}"/>
              </a:ext>
            </a:extLst>
          </p:cNvPr>
          <p:cNvSpPr txBox="1"/>
          <p:nvPr/>
        </p:nvSpPr>
        <p:spPr>
          <a:xfrm>
            <a:off x="4516094" y="3897675"/>
            <a:ext cx="5906709" cy="1323439"/>
          </a:xfrm>
          <a:prstGeom prst="rect">
            <a:avLst/>
          </a:prstGeom>
          <a:noFill/>
          <a:ln>
            <a:solidFill>
              <a:srgbClr val="00B050"/>
            </a:solidFill>
          </a:ln>
        </p:spPr>
        <p:txBody>
          <a:bodyPr wrap="square" rtlCol="0">
            <a:spAutoFit/>
          </a:bodyPr>
          <a:lstStyle/>
          <a:p>
            <a:r>
              <a:rPr lang="en-GB" sz="2000" dirty="0"/>
              <a:t>public class </a:t>
            </a:r>
            <a:r>
              <a:rPr lang="en-GB" sz="2000" dirty="0" err="1"/>
              <a:t>ServerSocket</a:t>
            </a:r>
            <a:endParaRPr lang="en-GB" sz="2000" dirty="0"/>
          </a:p>
          <a:p>
            <a:r>
              <a:rPr lang="en-GB" sz="2000" dirty="0"/>
              <a:t>      extends </a:t>
            </a:r>
            <a:r>
              <a:rPr lang="en-GB" sz="2000" dirty="0">
                <a:hlinkClick r:id="rId2" tooltip="class in java.lang"/>
              </a:rPr>
              <a:t>Object</a:t>
            </a:r>
            <a:endParaRPr lang="en-GB" sz="2000" dirty="0"/>
          </a:p>
          <a:p>
            <a:endParaRPr lang="en-GB" sz="2000" dirty="0"/>
          </a:p>
          <a:p>
            <a:r>
              <a:rPr lang="en-US" sz="2000" dirty="0" err="1"/>
              <a:t>ServerSocket</a:t>
            </a:r>
            <a:r>
              <a:rPr lang="en-US" sz="2000" dirty="0"/>
              <a:t> </a:t>
            </a:r>
            <a:r>
              <a:rPr lang="en-US" sz="2000" b="1" dirty="0" err="1"/>
              <a:t>serverSocket</a:t>
            </a:r>
            <a:r>
              <a:rPr lang="en-US" sz="2000" dirty="0"/>
              <a:t> = new </a:t>
            </a:r>
            <a:r>
              <a:rPr lang="en-US" sz="2000" dirty="0" err="1"/>
              <a:t>ServerSocket</a:t>
            </a:r>
            <a:r>
              <a:rPr lang="en-US" sz="2000" dirty="0"/>
              <a:t>(9090)</a:t>
            </a:r>
          </a:p>
        </p:txBody>
      </p:sp>
      <p:sp>
        <p:nvSpPr>
          <p:cNvPr id="5" name="TextBox 4">
            <a:extLst>
              <a:ext uri="{FF2B5EF4-FFF2-40B4-BE49-F238E27FC236}">
                <a16:creationId xmlns:a16="http://schemas.microsoft.com/office/drawing/2014/main" id="{44620BBD-4E9C-60EF-46C0-1593DDACE7C0}"/>
              </a:ext>
            </a:extLst>
          </p:cNvPr>
          <p:cNvSpPr txBox="1"/>
          <p:nvPr/>
        </p:nvSpPr>
        <p:spPr>
          <a:xfrm>
            <a:off x="4472496" y="602204"/>
            <a:ext cx="184731" cy="646331"/>
          </a:xfrm>
          <a:prstGeom prst="rect">
            <a:avLst/>
          </a:prstGeom>
          <a:noFill/>
        </p:spPr>
        <p:txBody>
          <a:bodyPr wrap="none" rtlCol="0">
            <a:spAutoFit/>
          </a:bodyPr>
          <a:lstStyle/>
          <a:p>
            <a:endParaRPr lang="en-US" dirty="0"/>
          </a:p>
          <a:p>
            <a:endParaRPr lang="en-GB" dirty="0"/>
          </a:p>
        </p:txBody>
      </p:sp>
      <p:sp>
        <p:nvSpPr>
          <p:cNvPr id="4" name="TextBox 3">
            <a:extLst>
              <a:ext uri="{FF2B5EF4-FFF2-40B4-BE49-F238E27FC236}">
                <a16:creationId xmlns:a16="http://schemas.microsoft.com/office/drawing/2014/main" id="{FC0F68A9-C995-93F3-221C-90A689EECBAD}"/>
              </a:ext>
            </a:extLst>
          </p:cNvPr>
          <p:cNvSpPr txBox="1"/>
          <p:nvPr/>
        </p:nvSpPr>
        <p:spPr>
          <a:xfrm>
            <a:off x="4557721" y="3310042"/>
            <a:ext cx="6054286" cy="400110"/>
          </a:xfrm>
          <a:prstGeom prst="rect">
            <a:avLst/>
          </a:prstGeom>
          <a:solidFill>
            <a:schemeClr val="bg1">
              <a:lumMod val="85000"/>
            </a:schemeClr>
          </a:solidFill>
          <a:ln>
            <a:no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t>     un socket de server </a:t>
            </a:r>
            <a:r>
              <a:rPr lang="en-US" sz="2000" dirty="0" err="1"/>
              <a:t>asteapta</a:t>
            </a:r>
            <a:r>
              <a:rPr lang="en-US" sz="2000" dirty="0"/>
              <a:t>  </a:t>
            </a:r>
            <a:r>
              <a:rPr lang="en-US" sz="2000" dirty="0" err="1"/>
              <a:t>cererile</a:t>
            </a:r>
            <a:r>
              <a:rPr lang="en-US" sz="2000" dirty="0"/>
              <a:t> </a:t>
            </a:r>
            <a:r>
              <a:rPr lang="en-US" sz="2000" dirty="0" err="1"/>
              <a:t>venite</a:t>
            </a:r>
            <a:r>
              <a:rPr lang="en-US" sz="2000" dirty="0"/>
              <a:t> din </a:t>
            </a:r>
            <a:r>
              <a:rPr lang="en-US" sz="2000" dirty="0" err="1"/>
              <a:t>retea</a:t>
            </a:r>
            <a:r>
              <a:rPr lang="en-US" sz="2000" dirty="0"/>
              <a:t> </a:t>
            </a:r>
            <a:endParaRPr lang="en-GB" sz="2000" dirty="0"/>
          </a:p>
        </p:txBody>
      </p:sp>
      <p:sp>
        <p:nvSpPr>
          <p:cNvPr id="9" name="TextBox 8">
            <a:extLst>
              <a:ext uri="{FF2B5EF4-FFF2-40B4-BE49-F238E27FC236}">
                <a16:creationId xmlns:a16="http://schemas.microsoft.com/office/drawing/2014/main" id="{17A6070E-4BFE-461E-3B59-909A45662E00}"/>
              </a:ext>
            </a:extLst>
          </p:cNvPr>
          <p:cNvSpPr txBox="1"/>
          <p:nvPr/>
        </p:nvSpPr>
        <p:spPr>
          <a:xfrm>
            <a:off x="4421448" y="5221114"/>
            <a:ext cx="6096000" cy="369332"/>
          </a:xfrm>
          <a:prstGeom prst="rect">
            <a:avLst/>
          </a:prstGeom>
          <a:noFill/>
        </p:spPr>
        <p:txBody>
          <a:bodyPr wrap="square">
            <a:spAutoFit/>
          </a:bodyPr>
          <a:lstStyle/>
          <a:p>
            <a:r>
              <a:rPr lang="sv-SE" sz="1800" dirty="0">
                <a:hlinkClick r:id="rId3"/>
              </a:rPr>
              <a:t>ServerSocket (Java SE 23 &amp; JDK 23)</a:t>
            </a:r>
            <a:endParaRPr lang="en-US" sz="1800" dirty="0"/>
          </a:p>
        </p:txBody>
      </p:sp>
      <p:pic>
        <p:nvPicPr>
          <p:cNvPr id="10" name="Picture 9">
            <a:extLst>
              <a:ext uri="{FF2B5EF4-FFF2-40B4-BE49-F238E27FC236}">
                <a16:creationId xmlns:a16="http://schemas.microsoft.com/office/drawing/2014/main" id="{2DA4EDA3-0296-F619-5379-B1B5F9FB9B04}"/>
              </a:ext>
            </a:extLst>
          </p:cNvPr>
          <p:cNvPicPr>
            <a:picLocks noChangeAspect="1"/>
          </p:cNvPicPr>
          <p:nvPr/>
        </p:nvPicPr>
        <p:blipFill>
          <a:blip r:embed="rId4"/>
          <a:stretch>
            <a:fillRect/>
          </a:stretch>
        </p:blipFill>
        <p:spPr>
          <a:xfrm>
            <a:off x="4687650" y="3415992"/>
            <a:ext cx="182896" cy="176799"/>
          </a:xfrm>
          <a:prstGeom prst="rect">
            <a:avLst/>
          </a:prstGeom>
        </p:spPr>
      </p:pic>
    </p:spTree>
    <p:extLst>
      <p:ext uri="{BB962C8B-B14F-4D97-AF65-F5344CB8AC3E}">
        <p14:creationId xmlns:p14="http://schemas.microsoft.com/office/powerpoint/2010/main" val="996680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9092" y="676586"/>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p:cNvSpPr txBox="1"/>
          <p:nvPr/>
        </p:nvSpPr>
        <p:spPr>
          <a:xfrm>
            <a:off x="196621" y="3982438"/>
            <a:ext cx="2928637" cy="166790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sp>
        <p:nvSpPr>
          <p:cNvPr id="11" name="TextBox 10"/>
          <p:cNvSpPr txBox="1"/>
          <p:nvPr/>
        </p:nvSpPr>
        <p:spPr>
          <a:xfrm>
            <a:off x="947971" y="872900"/>
            <a:ext cx="895886" cy="369332"/>
          </a:xfrm>
          <a:prstGeom prst="rect">
            <a:avLst/>
          </a:prstGeom>
          <a:noFill/>
        </p:spPr>
        <p:txBody>
          <a:bodyPr wrap="none" rtlCol="0">
            <a:spAutoFit/>
          </a:bodyPr>
          <a:lstStyle/>
          <a:p>
            <a:r>
              <a:rPr lang="en-US" dirty="0"/>
              <a:t>Client1 </a:t>
            </a:r>
          </a:p>
        </p:txBody>
      </p:sp>
      <p:sp>
        <p:nvSpPr>
          <p:cNvPr id="12" name="TextBox 11"/>
          <p:cNvSpPr txBox="1"/>
          <p:nvPr/>
        </p:nvSpPr>
        <p:spPr>
          <a:xfrm>
            <a:off x="1074855" y="4886040"/>
            <a:ext cx="977882" cy="369332"/>
          </a:xfrm>
          <a:prstGeom prst="rect">
            <a:avLst/>
          </a:prstGeom>
          <a:noFill/>
        </p:spPr>
        <p:txBody>
          <a:bodyPr wrap="square" rtlCol="0">
            <a:spAutoFit/>
          </a:bodyPr>
          <a:lstStyle/>
          <a:p>
            <a:r>
              <a:rPr lang="en-US" dirty="0"/>
              <a:t>SERVER</a:t>
            </a:r>
          </a:p>
        </p:txBody>
      </p:sp>
      <p:sp>
        <p:nvSpPr>
          <p:cNvPr id="16" name="Oval 15"/>
          <p:cNvSpPr/>
          <p:nvPr/>
        </p:nvSpPr>
        <p:spPr>
          <a:xfrm>
            <a:off x="1221080" y="3918777"/>
            <a:ext cx="167425" cy="15662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p:cNvSpPr txBox="1"/>
          <p:nvPr/>
        </p:nvSpPr>
        <p:spPr>
          <a:xfrm>
            <a:off x="1527283" y="3521459"/>
            <a:ext cx="5789586" cy="400110"/>
          </a:xfrm>
          <a:prstGeom prst="rect">
            <a:avLst/>
          </a:prstGeom>
          <a:noFill/>
          <a:ln>
            <a:solidFill>
              <a:srgbClr val="00B050"/>
            </a:solidFill>
          </a:ln>
        </p:spPr>
        <p:txBody>
          <a:bodyPr wrap="square" rtlCol="0">
            <a:spAutoFit/>
          </a:bodyPr>
          <a:lstStyle/>
          <a:p>
            <a:r>
              <a:rPr lang="en-US" sz="2000" dirty="0">
                <a:solidFill>
                  <a:srgbClr val="0070C0"/>
                </a:solidFill>
              </a:rPr>
              <a:t> </a:t>
            </a:r>
            <a:r>
              <a:rPr lang="en-US" sz="2000" dirty="0" err="1"/>
              <a:t>ServerSocket</a:t>
            </a:r>
            <a:r>
              <a:rPr lang="en-US" sz="2000" dirty="0"/>
              <a:t> </a:t>
            </a:r>
            <a:r>
              <a:rPr lang="en-US" sz="2000" b="1" dirty="0" err="1"/>
              <a:t>serverSocket</a:t>
            </a:r>
            <a:r>
              <a:rPr lang="en-US" sz="2000" dirty="0"/>
              <a:t> = new </a:t>
            </a:r>
            <a:r>
              <a:rPr lang="en-US" sz="2000" dirty="0" err="1"/>
              <a:t>ServerSocket</a:t>
            </a:r>
            <a:r>
              <a:rPr lang="en-US" sz="2000" dirty="0"/>
              <a:t>(9090)</a:t>
            </a:r>
            <a:endParaRPr lang="en-US" sz="2000" dirty="0">
              <a:solidFill>
                <a:srgbClr val="0070C0"/>
              </a:solidFill>
            </a:endParaRPr>
          </a:p>
        </p:txBody>
      </p:sp>
      <p:cxnSp>
        <p:nvCxnSpPr>
          <p:cNvPr id="6" name="Straight Arrow Connector 5"/>
          <p:cNvCxnSpPr>
            <a:cxnSpLocks/>
            <a:stCxn id="9" idx="2"/>
          </p:cNvCxnSpPr>
          <p:nvPr/>
        </p:nvCxnSpPr>
        <p:spPr>
          <a:xfrm>
            <a:off x="1295322" y="1489251"/>
            <a:ext cx="15635" cy="23498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6EAF56-F6CD-1ED1-A2CA-972B254ABC43}"/>
              </a:ext>
            </a:extLst>
          </p:cNvPr>
          <p:cNvSpPr txBox="1"/>
          <p:nvPr/>
        </p:nvSpPr>
        <p:spPr>
          <a:xfrm>
            <a:off x="1497637" y="3143866"/>
            <a:ext cx="3563027" cy="400110"/>
          </a:xfrm>
          <a:prstGeom prst="rect">
            <a:avLst/>
          </a:prstGeom>
          <a:noFill/>
        </p:spPr>
        <p:txBody>
          <a:bodyPr wrap="none" rtlCol="0">
            <a:spAutoFit/>
          </a:bodyPr>
          <a:lstStyle/>
          <a:p>
            <a:r>
              <a:rPr lang="en-US" sz="2000" dirty="0"/>
              <a:t>socket-</a:t>
            </a:r>
            <a:r>
              <a:rPr lang="en-US" sz="2000" dirty="0" err="1"/>
              <a:t>ul</a:t>
            </a:r>
            <a:r>
              <a:rPr lang="en-US" sz="2000" dirty="0"/>
              <a:t> la care </a:t>
            </a:r>
            <a:r>
              <a:rPr lang="en-US" sz="2000" dirty="0" err="1"/>
              <a:t>asculta</a:t>
            </a:r>
            <a:r>
              <a:rPr lang="en-US" sz="2000" dirty="0"/>
              <a:t> </a:t>
            </a:r>
            <a:r>
              <a:rPr lang="en-US" sz="2000" dirty="0" err="1"/>
              <a:t>serverul</a:t>
            </a:r>
            <a:endParaRPr lang="en-GB" sz="2000" dirty="0"/>
          </a:p>
        </p:txBody>
      </p:sp>
      <p:sp>
        <p:nvSpPr>
          <p:cNvPr id="17" name="TextBox 16">
            <a:extLst>
              <a:ext uri="{FF2B5EF4-FFF2-40B4-BE49-F238E27FC236}">
                <a16:creationId xmlns:a16="http://schemas.microsoft.com/office/drawing/2014/main" id="{DD8E81EC-4E0A-6B44-CC98-0365DEAB0FCD}"/>
              </a:ext>
            </a:extLst>
          </p:cNvPr>
          <p:cNvSpPr txBox="1"/>
          <p:nvPr/>
        </p:nvSpPr>
        <p:spPr>
          <a:xfrm>
            <a:off x="2101341" y="701134"/>
            <a:ext cx="5320342" cy="1323439"/>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000" dirty="0">
                <a:solidFill>
                  <a:schemeClr val="tx1"/>
                </a:solidFill>
              </a:rPr>
              <a:t>public class Socket</a:t>
            </a:r>
          </a:p>
          <a:p>
            <a:r>
              <a:rPr lang="en-GB" sz="2000" dirty="0">
                <a:solidFill>
                  <a:schemeClr val="tx1"/>
                </a:solidFill>
              </a:rPr>
              <a:t>extends Object </a:t>
            </a:r>
          </a:p>
          <a:p>
            <a:endParaRPr lang="en-GB" sz="2000" dirty="0">
              <a:solidFill>
                <a:schemeClr val="tx1"/>
              </a:solidFill>
            </a:endParaRPr>
          </a:p>
          <a:p>
            <a:r>
              <a:rPr lang="en-GB" sz="2000" dirty="0">
                <a:solidFill>
                  <a:schemeClr val="tx1"/>
                </a:solidFill>
              </a:rPr>
              <a:t>Socket </a:t>
            </a:r>
            <a:r>
              <a:rPr lang="en-GB" sz="2000" dirty="0" err="1">
                <a:solidFill>
                  <a:schemeClr val="tx1"/>
                </a:solidFill>
              </a:rPr>
              <a:t>socket</a:t>
            </a:r>
            <a:r>
              <a:rPr lang="en-GB" sz="2000" dirty="0">
                <a:solidFill>
                  <a:schemeClr val="tx1"/>
                </a:solidFill>
              </a:rPr>
              <a:t> = new Socket(</a:t>
            </a:r>
            <a:r>
              <a:rPr lang="en-GB" sz="2000" i="1" dirty="0">
                <a:solidFill>
                  <a:schemeClr val="tx1"/>
                </a:solidFill>
              </a:rPr>
              <a:t>IP server</a:t>
            </a:r>
            <a:r>
              <a:rPr lang="en-GB" sz="2000" dirty="0">
                <a:solidFill>
                  <a:schemeClr val="tx1"/>
                </a:solidFill>
              </a:rPr>
              <a:t>, 9090);</a:t>
            </a:r>
          </a:p>
        </p:txBody>
      </p:sp>
      <p:pic>
        <p:nvPicPr>
          <p:cNvPr id="9" name="Picture 8">
            <a:extLst>
              <a:ext uri="{FF2B5EF4-FFF2-40B4-BE49-F238E27FC236}">
                <a16:creationId xmlns:a16="http://schemas.microsoft.com/office/drawing/2014/main" id="{CDFFB92C-2DC6-7143-3005-CBC2DBFBE842}"/>
              </a:ext>
            </a:extLst>
          </p:cNvPr>
          <p:cNvPicPr>
            <a:picLocks noChangeAspect="1"/>
          </p:cNvPicPr>
          <p:nvPr/>
        </p:nvPicPr>
        <p:blipFill>
          <a:blip r:embed="rId2"/>
          <a:stretch>
            <a:fillRect/>
          </a:stretch>
        </p:blipFill>
        <p:spPr>
          <a:xfrm>
            <a:off x="1194729" y="1306355"/>
            <a:ext cx="201185" cy="182896"/>
          </a:xfrm>
          <a:prstGeom prst="rect">
            <a:avLst/>
          </a:prstGeom>
        </p:spPr>
      </p:pic>
      <p:sp>
        <p:nvSpPr>
          <p:cNvPr id="19" name="TextBox 18">
            <a:extLst>
              <a:ext uri="{FF2B5EF4-FFF2-40B4-BE49-F238E27FC236}">
                <a16:creationId xmlns:a16="http://schemas.microsoft.com/office/drawing/2014/main" id="{7CEB460D-DE24-77AC-49BF-932123A63C92}"/>
              </a:ext>
            </a:extLst>
          </p:cNvPr>
          <p:cNvSpPr txBox="1"/>
          <p:nvPr/>
        </p:nvSpPr>
        <p:spPr>
          <a:xfrm>
            <a:off x="2048715" y="2082436"/>
            <a:ext cx="6096000" cy="400110"/>
          </a:xfrm>
          <a:prstGeom prst="rect">
            <a:avLst/>
          </a:prstGeom>
          <a:noFill/>
        </p:spPr>
        <p:txBody>
          <a:bodyPr wrap="square">
            <a:spAutoFit/>
          </a:bodyPr>
          <a:lstStyle/>
          <a:p>
            <a:r>
              <a:rPr lang="en-GB" sz="2000" dirty="0">
                <a:hlinkClick r:id="rId3"/>
              </a:rPr>
              <a:t>Socket (Java SE 23 &amp; JDK 23)</a:t>
            </a:r>
            <a:endParaRPr lang="en-GB" sz="2000" dirty="0"/>
          </a:p>
        </p:txBody>
      </p:sp>
      <p:sp>
        <p:nvSpPr>
          <p:cNvPr id="26" name="TextBox 25">
            <a:extLst>
              <a:ext uri="{FF2B5EF4-FFF2-40B4-BE49-F238E27FC236}">
                <a16:creationId xmlns:a16="http://schemas.microsoft.com/office/drawing/2014/main" id="{82E660C8-8B47-9EFC-3AFB-E471D0481A74}"/>
              </a:ext>
            </a:extLst>
          </p:cNvPr>
          <p:cNvSpPr txBox="1"/>
          <p:nvPr/>
        </p:nvSpPr>
        <p:spPr>
          <a:xfrm>
            <a:off x="2101341" y="262672"/>
            <a:ext cx="6096000" cy="369332"/>
          </a:xfrm>
          <a:prstGeom prst="rect">
            <a:avLst/>
          </a:prstGeom>
          <a:noFill/>
        </p:spPr>
        <p:txBody>
          <a:bodyPr wrap="square">
            <a:spAutoFit/>
          </a:bodyPr>
          <a:lstStyle/>
          <a:p>
            <a:r>
              <a:rPr lang="it-IT" dirty="0" err="1"/>
              <a:t>Clientul</a:t>
            </a:r>
            <a:r>
              <a:rPr lang="it-IT" dirty="0"/>
              <a:t> </a:t>
            </a:r>
            <a:r>
              <a:rPr lang="it-IT" dirty="0" err="1"/>
              <a:t>initiaza</a:t>
            </a:r>
            <a:r>
              <a:rPr lang="it-IT" dirty="0"/>
              <a:t> </a:t>
            </a:r>
            <a:r>
              <a:rPr lang="it-IT" dirty="0" err="1"/>
              <a:t>conexiunea</a:t>
            </a:r>
            <a:r>
              <a:rPr lang="it-IT" dirty="0"/>
              <a:t> </a:t>
            </a:r>
            <a:r>
              <a:rPr lang="it-IT" dirty="0" err="1"/>
              <a:t>creand</a:t>
            </a:r>
            <a:r>
              <a:rPr lang="it-IT" dirty="0"/>
              <a:t> un </a:t>
            </a:r>
            <a:r>
              <a:rPr lang="it-IT" dirty="0" err="1"/>
              <a:t>socket</a:t>
            </a:r>
            <a:endParaRPr lang="it-IT" dirty="0"/>
          </a:p>
        </p:txBody>
      </p:sp>
    </p:spTree>
    <p:extLst>
      <p:ext uri="{BB962C8B-B14F-4D97-AF65-F5344CB8AC3E}">
        <p14:creationId xmlns:p14="http://schemas.microsoft.com/office/powerpoint/2010/main" val="418941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B08B-09C9-6759-F48C-61C42C6E33CF}"/>
            </a:ext>
          </a:extLst>
        </p:cNvPr>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0C2775E3-6764-DD5D-F5B5-58C2EDE739A7}"/>
              </a:ext>
            </a:extLst>
          </p:cNvPr>
          <p:cNvCxnSpPr>
            <a:cxnSpLocks/>
            <a:stCxn id="25" idx="2"/>
            <a:endCxn id="13" idx="0"/>
          </p:cNvCxnSpPr>
          <p:nvPr/>
        </p:nvCxnSpPr>
        <p:spPr>
          <a:xfrm>
            <a:off x="4468378" y="1783956"/>
            <a:ext cx="24887" cy="2348527"/>
          </a:xfrm>
          <a:prstGeom prst="straightConnector1">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348738CA-F644-7900-4DA5-F8C5896479C6}"/>
              </a:ext>
            </a:extLst>
          </p:cNvPr>
          <p:cNvSpPr txBox="1"/>
          <p:nvPr/>
        </p:nvSpPr>
        <p:spPr>
          <a:xfrm>
            <a:off x="947971" y="872900"/>
            <a:ext cx="237566" cy="369332"/>
          </a:xfrm>
          <a:prstGeom prst="rect">
            <a:avLst/>
          </a:prstGeom>
          <a:noFill/>
        </p:spPr>
        <p:txBody>
          <a:bodyPr wrap="none" rtlCol="0">
            <a:spAutoFit/>
          </a:bodyPr>
          <a:lstStyle/>
          <a:p>
            <a:r>
              <a:rPr lang="en-US" dirty="0"/>
              <a:t> </a:t>
            </a:r>
          </a:p>
        </p:txBody>
      </p:sp>
      <p:pic>
        <p:nvPicPr>
          <p:cNvPr id="4" name="Picture 3">
            <a:extLst>
              <a:ext uri="{FF2B5EF4-FFF2-40B4-BE49-F238E27FC236}">
                <a16:creationId xmlns:a16="http://schemas.microsoft.com/office/drawing/2014/main" id="{D8EDF0BA-18FC-780F-29EE-6F099EBE91E0}"/>
              </a:ext>
            </a:extLst>
          </p:cNvPr>
          <p:cNvPicPr>
            <a:picLocks noChangeAspect="1"/>
          </p:cNvPicPr>
          <p:nvPr/>
        </p:nvPicPr>
        <p:blipFill>
          <a:blip r:embed="rId2"/>
          <a:stretch>
            <a:fillRect/>
          </a:stretch>
        </p:blipFill>
        <p:spPr>
          <a:xfrm>
            <a:off x="6252856" y="1105402"/>
            <a:ext cx="1322947" cy="731583"/>
          </a:xfrm>
          <a:prstGeom prst="rect">
            <a:avLst/>
          </a:prstGeom>
          <a:ln w="3175">
            <a:solidFill>
              <a:schemeClr val="tx1"/>
            </a:solidFill>
          </a:ln>
        </p:spPr>
      </p:pic>
      <p:sp>
        <p:nvSpPr>
          <p:cNvPr id="18" name="TextBox 17">
            <a:extLst>
              <a:ext uri="{FF2B5EF4-FFF2-40B4-BE49-F238E27FC236}">
                <a16:creationId xmlns:a16="http://schemas.microsoft.com/office/drawing/2014/main" id="{C61C0269-C870-0752-4473-13C48CB97DB4}"/>
              </a:ext>
            </a:extLst>
          </p:cNvPr>
          <p:cNvSpPr txBox="1"/>
          <p:nvPr/>
        </p:nvSpPr>
        <p:spPr>
          <a:xfrm>
            <a:off x="4012156" y="4220883"/>
            <a:ext cx="4039620" cy="174705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pic>
        <p:nvPicPr>
          <p:cNvPr id="13" name="Picture 12">
            <a:extLst>
              <a:ext uri="{FF2B5EF4-FFF2-40B4-BE49-F238E27FC236}">
                <a16:creationId xmlns:a16="http://schemas.microsoft.com/office/drawing/2014/main" id="{CDDF4ACF-E759-65C1-0E90-2771D29D9109}"/>
              </a:ext>
            </a:extLst>
          </p:cNvPr>
          <p:cNvPicPr>
            <a:picLocks noChangeAspect="1"/>
          </p:cNvPicPr>
          <p:nvPr/>
        </p:nvPicPr>
        <p:blipFill>
          <a:blip r:embed="rId3"/>
          <a:stretch>
            <a:fillRect/>
          </a:stretch>
        </p:blipFill>
        <p:spPr>
          <a:xfrm>
            <a:off x="4401817" y="4132483"/>
            <a:ext cx="182896" cy="176799"/>
          </a:xfrm>
          <a:prstGeom prst="rect">
            <a:avLst/>
          </a:prstGeom>
        </p:spPr>
      </p:pic>
      <p:sp>
        <p:nvSpPr>
          <p:cNvPr id="23" name="Rectangle 22">
            <a:extLst>
              <a:ext uri="{FF2B5EF4-FFF2-40B4-BE49-F238E27FC236}">
                <a16:creationId xmlns:a16="http://schemas.microsoft.com/office/drawing/2014/main" id="{33559189-2AF3-EB90-748B-1A4F6D972167}"/>
              </a:ext>
            </a:extLst>
          </p:cNvPr>
          <p:cNvSpPr/>
          <p:nvPr/>
        </p:nvSpPr>
        <p:spPr>
          <a:xfrm>
            <a:off x="6914944" y="3762657"/>
            <a:ext cx="4818820" cy="400110"/>
          </a:xfrm>
          <a:prstGeom prst="rect">
            <a:avLst/>
          </a:prstGeom>
          <a:ln>
            <a:solidFill>
              <a:srgbClr val="00B050"/>
            </a:solidFill>
          </a:ln>
        </p:spPr>
        <p:txBody>
          <a:bodyPr wrap="none">
            <a:spAutoFit/>
          </a:bodyPr>
          <a:lstStyle/>
          <a:p>
            <a:r>
              <a:rPr lang="sv-SE" sz="2000" dirty="0"/>
              <a:t>Socket </a:t>
            </a:r>
            <a:r>
              <a:rPr lang="sv-SE" sz="2000" b="1" dirty="0"/>
              <a:t>clientSocket = serverSocket.accept();</a:t>
            </a:r>
            <a:endParaRPr lang="en-US" sz="2000" b="1" dirty="0"/>
          </a:p>
        </p:txBody>
      </p:sp>
      <p:pic>
        <p:nvPicPr>
          <p:cNvPr id="25" name="Picture 24">
            <a:extLst>
              <a:ext uri="{FF2B5EF4-FFF2-40B4-BE49-F238E27FC236}">
                <a16:creationId xmlns:a16="http://schemas.microsoft.com/office/drawing/2014/main" id="{76750794-E015-8304-83D2-9D4985D27EB2}"/>
              </a:ext>
            </a:extLst>
          </p:cNvPr>
          <p:cNvPicPr>
            <a:picLocks noChangeAspect="1"/>
          </p:cNvPicPr>
          <p:nvPr/>
        </p:nvPicPr>
        <p:blipFill>
          <a:blip r:embed="rId4"/>
          <a:stretch>
            <a:fillRect/>
          </a:stretch>
        </p:blipFill>
        <p:spPr>
          <a:xfrm>
            <a:off x="3806904" y="1052373"/>
            <a:ext cx="1322947" cy="731583"/>
          </a:xfrm>
          <a:prstGeom prst="rect">
            <a:avLst/>
          </a:prstGeom>
        </p:spPr>
      </p:pic>
      <p:sp>
        <p:nvSpPr>
          <p:cNvPr id="38" name="TextBox 37">
            <a:extLst>
              <a:ext uri="{FF2B5EF4-FFF2-40B4-BE49-F238E27FC236}">
                <a16:creationId xmlns:a16="http://schemas.microsoft.com/office/drawing/2014/main" id="{D93C4431-441B-592C-DC9E-ECAC328496EC}"/>
              </a:ext>
            </a:extLst>
          </p:cNvPr>
          <p:cNvSpPr txBox="1"/>
          <p:nvPr/>
        </p:nvSpPr>
        <p:spPr>
          <a:xfrm>
            <a:off x="6490210" y="1214464"/>
            <a:ext cx="895886" cy="369332"/>
          </a:xfrm>
          <a:prstGeom prst="rect">
            <a:avLst/>
          </a:prstGeom>
          <a:noFill/>
        </p:spPr>
        <p:txBody>
          <a:bodyPr wrap="none" rtlCol="0">
            <a:spAutoFit/>
          </a:bodyPr>
          <a:lstStyle/>
          <a:p>
            <a:r>
              <a:rPr lang="en-US" dirty="0"/>
              <a:t>Client 1</a:t>
            </a:r>
          </a:p>
        </p:txBody>
      </p:sp>
      <p:sp>
        <p:nvSpPr>
          <p:cNvPr id="39" name="TextBox 38">
            <a:extLst>
              <a:ext uri="{FF2B5EF4-FFF2-40B4-BE49-F238E27FC236}">
                <a16:creationId xmlns:a16="http://schemas.microsoft.com/office/drawing/2014/main" id="{885FBFF3-3517-45A0-722B-B8816A82FBC1}"/>
              </a:ext>
            </a:extLst>
          </p:cNvPr>
          <p:cNvSpPr txBox="1"/>
          <p:nvPr/>
        </p:nvSpPr>
        <p:spPr>
          <a:xfrm>
            <a:off x="4071771" y="1187764"/>
            <a:ext cx="842988" cy="369332"/>
          </a:xfrm>
          <a:prstGeom prst="rect">
            <a:avLst/>
          </a:prstGeom>
          <a:noFill/>
        </p:spPr>
        <p:txBody>
          <a:bodyPr wrap="none" rtlCol="0">
            <a:spAutoFit/>
          </a:bodyPr>
          <a:lstStyle/>
          <a:p>
            <a:r>
              <a:rPr lang="en-US" dirty="0"/>
              <a:t>Client2</a:t>
            </a:r>
          </a:p>
        </p:txBody>
      </p:sp>
      <p:sp>
        <p:nvSpPr>
          <p:cNvPr id="5" name="Oval 4">
            <a:extLst>
              <a:ext uri="{FF2B5EF4-FFF2-40B4-BE49-F238E27FC236}">
                <a16:creationId xmlns:a16="http://schemas.microsoft.com/office/drawing/2014/main" id="{05C9B5D2-E036-E274-619D-1ED681F63A9F}"/>
              </a:ext>
            </a:extLst>
          </p:cNvPr>
          <p:cNvSpPr/>
          <p:nvPr/>
        </p:nvSpPr>
        <p:spPr>
          <a:xfrm>
            <a:off x="6731440" y="4100377"/>
            <a:ext cx="182888" cy="166766"/>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CB425AE-4B01-9D6F-A351-621B0C663A4B}"/>
              </a:ext>
            </a:extLst>
          </p:cNvPr>
          <p:cNvSpPr txBox="1"/>
          <p:nvPr/>
        </p:nvSpPr>
        <p:spPr>
          <a:xfrm>
            <a:off x="230464" y="3246020"/>
            <a:ext cx="3563027" cy="400110"/>
          </a:xfrm>
          <a:prstGeom prst="rect">
            <a:avLst/>
          </a:prstGeom>
          <a:noFill/>
        </p:spPr>
        <p:txBody>
          <a:bodyPr wrap="none" rtlCol="0">
            <a:spAutoFit/>
          </a:bodyPr>
          <a:lstStyle/>
          <a:p>
            <a:r>
              <a:rPr lang="en-US" sz="2000" dirty="0"/>
              <a:t>socket-</a:t>
            </a:r>
            <a:r>
              <a:rPr lang="en-US" sz="2000" dirty="0" err="1"/>
              <a:t>ul</a:t>
            </a:r>
            <a:r>
              <a:rPr lang="en-US" sz="2000" dirty="0"/>
              <a:t> la care </a:t>
            </a:r>
            <a:r>
              <a:rPr lang="en-US" sz="2000" dirty="0" err="1"/>
              <a:t>asculta</a:t>
            </a:r>
            <a:r>
              <a:rPr lang="en-US" sz="2000" dirty="0"/>
              <a:t> </a:t>
            </a:r>
            <a:r>
              <a:rPr lang="en-US" sz="2000" dirty="0" err="1"/>
              <a:t>serverul</a:t>
            </a:r>
            <a:endParaRPr lang="en-GB" sz="2000" dirty="0"/>
          </a:p>
        </p:txBody>
      </p:sp>
      <p:sp>
        <p:nvSpPr>
          <p:cNvPr id="17" name="TextBox 16">
            <a:extLst>
              <a:ext uri="{FF2B5EF4-FFF2-40B4-BE49-F238E27FC236}">
                <a16:creationId xmlns:a16="http://schemas.microsoft.com/office/drawing/2014/main" id="{CA5FFE73-49D2-8D6F-93C8-BA74764BA3FE}"/>
              </a:ext>
            </a:extLst>
          </p:cNvPr>
          <p:cNvSpPr txBox="1"/>
          <p:nvPr/>
        </p:nvSpPr>
        <p:spPr>
          <a:xfrm>
            <a:off x="6933052" y="1877942"/>
            <a:ext cx="4928456" cy="400110"/>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sz="2000" dirty="0">
                <a:solidFill>
                  <a:schemeClr val="tx1"/>
                </a:solidFill>
              </a:rPr>
              <a:t>Socket </a:t>
            </a:r>
            <a:r>
              <a:rPr lang="en-GB" sz="2000" dirty="0" err="1">
                <a:solidFill>
                  <a:schemeClr val="tx1"/>
                </a:solidFill>
              </a:rPr>
              <a:t>socket</a:t>
            </a:r>
            <a:r>
              <a:rPr lang="en-GB" sz="2000" dirty="0">
                <a:solidFill>
                  <a:schemeClr val="tx1"/>
                </a:solidFill>
              </a:rPr>
              <a:t> = new Socket(</a:t>
            </a:r>
            <a:r>
              <a:rPr lang="en-GB" sz="2000" i="1" dirty="0">
                <a:solidFill>
                  <a:schemeClr val="tx1"/>
                </a:solidFill>
              </a:rPr>
              <a:t>IP server</a:t>
            </a:r>
            <a:r>
              <a:rPr lang="en-GB" sz="2000" dirty="0">
                <a:solidFill>
                  <a:schemeClr val="tx1"/>
                </a:solidFill>
              </a:rPr>
              <a:t>, 9090);</a:t>
            </a:r>
          </a:p>
        </p:txBody>
      </p:sp>
      <p:sp>
        <p:nvSpPr>
          <p:cNvPr id="24" name="TextBox 23">
            <a:extLst>
              <a:ext uri="{FF2B5EF4-FFF2-40B4-BE49-F238E27FC236}">
                <a16:creationId xmlns:a16="http://schemas.microsoft.com/office/drawing/2014/main" id="{614CE204-C7CE-2EA5-538C-EBDE83F2F22E}"/>
              </a:ext>
            </a:extLst>
          </p:cNvPr>
          <p:cNvSpPr txBox="1"/>
          <p:nvPr/>
        </p:nvSpPr>
        <p:spPr>
          <a:xfrm>
            <a:off x="5480954" y="4974908"/>
            <a:ext cx="1230092"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SERVER</a:t>
            </a:r>
          </a:p>
        </p:txBody>
      </p:sp>
      <p:pic>
        <p:nvPicPr>
          <p:cNvPr id="7" name="Picture 6">
            <a:extLst>
              <a:ext uri="{FF2B5EF4-FFF2-40B4-BE49-F238E27FC236}">
                <a16:creationId xmlns:a16="http://schemas.microsoft.com/office/drawing/2014/main" id="{7D370E2F-C95E-F58A-7C53-8C84FC3181CE}"/>
              </a:ext>
            </a:extLst>
          </p:cNvPr>
          <p:cNvPicPr>
            <a:picLocks noChangeAspect="1"/>
          </p:cNvPicPr>
          <p:nvPr/>
        </p:nvPicPr>
        <p:blipFill>
          <a:blip r:embed="rId5"/>
          <a:stretch>
            <a:fillRect/>
          </a:stretch>
        </p:blipFill>
        <p:spPr>
          <a:xfrm>
            <a:off x="6736968" y="1774595"/>
            <a:ext cx="201185" cy="182896"/>
          </a:xfrm>
          <a:prstGeom prst="rect">
            <a:avLst/>
          </a:prstGeom>
        </p:spPr>
      </p:pic>
      <p:sp>
        <p:nvSpPr>
          <p:cNvPr id="26" name="TextBox 25">
            <a:extLst>
              <a:ext uri="{FF2B5EF4-FFF2-40B4-BE49-F238E27FC236}">
                <a16:creationId xmlns:a16="http://schemas.microsoft.com/office/drawing/2014/main" id="{7F55FB12-F315-3C33-F255-A786031001A2}"/>
              </a:ext>
            </a:extLst>
          </p:cNvPr>
          <p:cNvSpPr txBox="1"/>
          <p:nvPr/>
        </p:nvSpPr>
        <p:spPr>
          <a:xfrm>
            <a:off x="6490210" y="648749"/>
            <a:ext cx="6096000" cy="369332"/>
          </a:xfrm>
          <a:prstGeom prst="rect">
            <a:avLst/>
          </a:prstGeom>
          <a:noFill/>
        </p:spPr>
        <p:txBody>
          <a:bodyPr wrap="square">
            <a:spAutoFit/>
          </a:bodyPr>
          <a:lstStyle/>
          <a:p>
            <a:r>
              <a:rPr lang="it-IT" dirty="0" err="1"/>
              <a:t>Clientul</a:t>
            </a:r>
            <a:r>
              <a:rPr lang="it-IT" dirty="0"/>
              <a:t> </a:t>
            </a:r>
            <a:r>
              <a:rPr lang="it-IT" dirty="0" err="1"/>
              <a:t>initiaza</a:t>
            </a:r>
            <a:r>
              <a:rPr lang="it-IT" dirty="0"/>
              <a:t> </a:t>
            </a:r>
            <a:r>
              <a:rPr lang="it-IT" dirty="0" err="1"/>
              <a:t>conexiunea</a:t>
            </a:r>
            <a:r>
              <a:rPr lang="it-IT" dirty="0"/>
              <a:t> </a:t>
            </a:r>
            <a:r>
              <a:rPr lang="it-IT" dirty="0" err="1"/>
              <a:t>creand</a:t>
            </a:r>
            <a:r>
              <a:rPr lang="it-IT" dirty="0"/>
              <a:t> un </a:t>
            </a:r>
            <a:r>
              <a:rPr lang="it-IT" dirty="0" err="1"/>
              <a:t>socket</a:t>
            </a:r>
            <a:endParaRPr lang="it-IT" dirty="0"/>
          </a:p>
        </p:txBody>
      </p:sp>
      <p:cxnSp>
        <p:nvCxnSpPr>
          <p:cNvPr id="35" name="Straight Arrow Connector 34">
            <a:extLst>
              <a:ext uri="{FF2B5EF4-FFF2-40B4-BE49-F238E27FC236}">
                <a16:creationId xmlns:a16="http://schemas.microsoft.com/office/drawing/2014/main" id="{995FB54D-DBED-46AE-9B98-23F2A20B55C4}"/>
              </a:ext>
            </a:extLst>
          </p:cNvPr>
          <p:cNvCxnSpPr>
            <a:cxnSpLocks/>
            <a:endCxn id="5" idx="0"/>
          </p:cNvCxnSpPr>
          <p:nvPr/>
        </p:nvCxnSpPr>
        <p:spPr>
          <a:xfrm flipH="1">
            <a:off x="6822884" y="1966786"/>
            <a:ext cx="18724" cy="2133591"/>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9075900D-029B-B90F-0BD6-E8629113303A}"/>
              </a:ext>
            </a:extLst>
          </p:cNvPr>
          <p:cNvSpPr txBox="1"/>
          <p:nvPr/>
        </p:nvSpPr>
        <p:spPr>
          <a:xfrm>
            <a:off x="6933052" y="3116326"/>
            <a:ext cx="3670044" cy="646331"/>
          </a:xfrm>
          <a:prstGeom prst="rect">
            <a:avLst/>
          </a:prstGeom>
          <a:noFill/>
        </p:spPr>
        <p:txBody>
          <a:bodyPr wrap="none" rtlCol="0">
            <a:spAutoFit/>
          </a:bodyPr>
          <a:lstStyle/>
          <a:p>
            <a:r>
              <a:rPr lang="en-US" dirty="0" err="1"/>
              <a:t>Serverul</a:t>
            </a:r>
            <a:r>
              <a:rPr lang="en-US" dirty="0"/>
              <a:t> </a:t>
            </a:r>
            <a:r>
              <a:rPr lang="en-US" dirty="0" err="1"/>
              <a:t>accepta</a:t>
            </a:r>
            <a:r>
              <a:rPr lang="en-US" dirty="0"/>
              <a:t> </a:t>
            </a:r>
            <a:r>
              <a:rPr lang="en-US" dirty="0" err="1"/>
              <a:t>conexiunea</a:t>
            </a:r>
            <a:r>
              <a:rPr lang="en-US" dirty="0"/>
              <a:t>  </a:t>
            </a:r>
            <a:r>
              <a:rPr lang="en-US" dirty="0" err="1"/>
              <a:t>creand</a:t>
            </a:r>
            <a:r>
              <a:rPr lang="en-US" dirty="0"/>
              <a:t> </a:t>
            </a:r>
          </a:p>
          <a:p>
            <a:r>
              <a:rPr lang="en-US" dirty="0"/>
              <a:t>un socket </a:t>
            </a:r>
            <a:r>
              <a:rPr lang="en-US" dirty="0" err="1"/>
              <a:t>dedicat</a:t>
            </a:r>
            <a:r>
              <a:rPr lang="en-US" dirty="0"/>
              <a:t> </a:t>
            </a:r>
            <a:r>
              <a:rPr lang="en-US" dirty="0" err="1"/>
              <a:t>clientului</a:t>
            </a:r>
            <a:endParaRPr lang="en-GB" dirty="0"/>
          </a:p>
        </p:txBody>
      </p:sp>
      <p:sp>
        <p:nvSpPr>
          <p:cNvPr id="30" name="TextBox 29">
            <a:extLst>
              <a:ext uri="{FF2B5EF4-FFF2-40B4-BE49-F238E27FC236}">
                <a16:creationId xmlns:a16="http://schemas.microsoft.com/office/drawing/2014/main" id="{C808C7FE-B032-5B0C-F651-24724DFD5B35}"/>
              </a:ext>
            </a:extLst>
          </p:cNvPr>
          <p:cNvSpPr txBox="1"/>
          <p:nvPr/>
        </p:nvSpPr>
        <p:spPr>
          <a:xfrm>
            <a:off x="192307" y="1988653"/>
            <a:ext cx="4132285" cy="369332"/>
          </a:xfrm>
          <a:prstGeom prst="rect">
            <a:avLst/>
          </a:prstGeom>
          <a:noFill/>
        </p:spPr>
        <p:txBody>
          <a:bodyPr wrap="none" rtlCol="0">
            <a:spAutoFit/>
          </a:bodyPr>
          <a:lstStyle/>
          <a:p>
            <a:r>
              <a:rPr lang="en-US" dirty="0"/>
              <a:t>Socket-</a:t>
            </a:r>
            <a:r>
              <a:rPr lang="en-US" dirty="0" err="1"/>
              <a:t>ul</a:t>
            </a:r>
            <a:r>
              <a:rPr lang="en-US" dirty="0"/>
              <a:t> </a:t>
            </a:r>
            <a:r>
              <a:rPr lang="en-US" dirty="0" err="1"/>
              <a:t>serverului</a:t>
            </a:r>
            <a:r>
              <a:rPr lang="en-US" dirty="0"/>
              <a:t> </a:t>
            </a:r>
            <a:r>
              <a:rPr lang="en-US" dirty="0" err="1"/>
              <a:t>asteapta</a:t>
            </a:r>
            <a:r>
              <a:rPr lang="en-US" dirty="0"/>
              <a:t> </a:t>
            </a:r>
            <a:r>
              <a:rPr lang="en-US" dirty="0" err="1"/>
              <a:t>alte</a:t>
            </a:r>
            <a:r>
              <a:rPr lang="en-US" dirty="0"/>
              <a:t> </a:t>
            </a:r>
            <a:r>
              <a:rPr lang="en-US" dirty="0" err="1"/>
              <a:t>solicitari</a:t>
            </a:r>
            <a:endParaRPr lang="en-GB" dirty="0"/>
          </a:p>
        </p:txBody>
      </p:sp>
      <p:sp>
        <p:nvSpPr>
          <p:cNvPr id="20" name="TextBox 19">
            <a:extLst>
              <a:ext uri="{FF2B5EF4-FFF2-40B4-BE49-F238E27FC236}">
                <a16:creationId xmlns:a16="http://schemas.microsoft.com/office/drawing/2014/main" id="{E6AF3FB9-5E2D-0706-F088-D2FD0E2A16BD}"/>
              </a:ext>
            </a:extLst>
          </p:cNvPr>
          <p:cNvSpPr txBox="1"/>
          <p:nvPr/>
        </p:nvSpPr>
        <p:spPr>
          <a:xfrm>
            <a:off x="230464" y="3646130"/>
            <a:ext cx="5789586" cy="400110"/>
          </a:xfrm>
          <a:prstGeom prst="rect">
            <a:avLst/>
          </a:prstGeom>
          <a:ln>
            <a:solidFill>
              <a:srgbClr val="00B050"/>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solidFill>
                  <a:srgbClr val="0070C0"/>
                </a:solidFill>
              </a:rPr>
              <a:t> </a:t>
            </a:r>
            <a:r>
              <a:rPr lang="en-US" sz="2000" dirty="0" err="1"/>
              <a:t>ServerSocket</a:t>
            </a:r>
            <a:r>
              <a:rPr lang="en-US" sz="2000" dirty="0"/>
              <a:t> </a:t>
            </a:r>
            <a:r>
              <a:rPr lang="en-US" sz="2000" b="1" dirty="0" err="1"/>
              <a:t>serverSocket</a:t>
            </a:r>
            <a:r>
              <a:rPr lang="en-US" sz="2000" dirty="0"/>
              <a:t> = new </a:t>
            </a:r>
            <a:r>
              <a:rPr lang="en-US" sz="2000" dirty="0" err="1"/>
              <a:t>ServerSocket</a:t>
            </a:r>
            <a:r>
              <a:rPr lang="en-US" sz="2000" dirty="0"/>
              <a:t>(9090)</a:t>
            </a:r>
            <a:endParaRPr lang="en-US" sz="2000" dirty="0">
              <a:solidFill>
                <a:srgbClr val="0070C0"/>
              </a:solidFill>
            </a:endParaRPr>
          </a:p>
        </p:txBody>
      </p:sp>
    </p:spTree>
    <p:extLst>
      <p:ext uri="{BB962C8B-B14F-4D97-AF65-F5344CB8AC3E}">
        <p14:creationId xmlns:p14="http://schemas.microsoft.com/office/powerpoint/2010/main" val="3261705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D7671-4C8B-FA86-563F-3E0C8FBC36CF}"/>
              </a:ext>
            </a:extLst>
          </p:cNvPr>
          <p:cNvSpPr txBox="1"/>
          <p:nvPr/>
        </p:nvSpPr>
        <p:spPr>
          <a:xfrm>
            <a:off x="177800" y="315079"/>
            <a:ext cx="11653520" cy="2554545"/>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2000" dirty="0">
                <a:solidFill>
                  <a:schemeClr val="tx1"/>
                </a:solidFill>
              </a:rPr>
              <a:t>public class Server {</a:t>
            </a:r>
          </a:p>
          <a:p>
            <a:r>
              <a:rPr lang="en-GB" sz="2000" dirty="0">
                <a:solidFill>
                  <a:schemeClr val="tx1"/>
                </a:solidFill>
              </a:rPr>
              <a:t>    public static void main(String </a:t>
            </a:r>
            <a:r>
              <a:rPr lang="en-GB" sz="2000" dirty="0" err="1">
                <a:solidFill>
                  <a:schemeClr val="tx1"/>
                </a:solidFill>
              </a:rPr>
              <a:t>args</a:t>
            </a:r>
            <a:r>
              <a:rPr lang="en-GB" sz="2000" dirty="0">
                <a:solidFill>
                  <a:schemeClr val="tx1"/>
                </a:solidFill>
              </a:rPr>
              <a:t>[]) </a:t>
            </a:r>
          </a:p>
          <a:p>
            <a:r>
              <a:rPr lang="en-GB" sz="2000" dirty="0">
                <a:solidFill>
                  <a:schemeClr val="tx1"/>
                </a:solidFill>
              </a:rPr>
              <a:t>    {  </a:t>
            </a:r>
            <a:r>
              <a:rPr lang="en-GB" sz="2000" dirty="0" err="1">
                <a:solidFill>
                  <a:schemeClr val="tx1"/>
                </a:solidFill>
              </a:rPr>
              <a:t>ServerSocket</a:t>
            </a:r>
            <a:r>
              <a:rPr lang="en-GB" sz="2000" dirty="0">
                <a:solidFill>
                  <a:schemeClr val="tx1"/>
                </a:solidFill>
              </a:rPr>
              <a:t> </a:t>
            </a:r>
            <a:r>
              <a:rPr lang="en-GB" sz="2000" b="1" dirty="0" err="1">
                <a:solidFill>
                  <a:schemeClr val="tx1"/>
                </a:solidFill>
              </a:rPr>
              <a:t>serverSocket</a:t>
            </a:r>
            <a:r>
              <a:rPr lang="en-GB" sz="2000" dirty="0">
                <a:solidFill>
                  <a:schemeClr val="tx1"/>
                </a:solidFill>
              </a:rPr>
              <a:t> = new </a:t>
            </a:r>
            <a:r>
              <a:rPr lang="en-GB" sz="2000" dirty="0" err="1">
                <a:solidFill>
                  <a:schemeClr val="tx1"/>
                </a:solidFill>
              </a:rPr>
              <a:t>ServerSocket</a:t>
            </a:r>
            <a:r>
              <a:rPr lang="en-GB" sz="2000" dirty="0">
                <a:solidFill>
                  <a:schemeClr val="tx1"/>
                </a:solidFill>
              </a:rPr>
              <a:t>(9090);</a:t>
            </a:r>
          </a:p>
          <a:p>
            <a:r>
              <a:rPr lang="en-GB" sz="2000" dirty="0">
                <a:solidFill>
                  <a:schemeClr val="tx1"/>
                </a:solidFill>
              </a:rPr>
              <a:t>        Socket </a:t>
            </a:r>
            <a:r>
              <a:rPr lang="en-GB" sz="2000" b="1" dirty="0" err="1">
                <a:solidFill>
                  <a:schemeClr val="tx1"/>
                </a:solidFill>
              </a:rPr>
              <a:t>clientSocket</a:t>
            </a:r>
            <a:r>
              <a:rPr lang="en-GB" sz="2000" dirty="0">
                <a:solidFill>
                  <a:schemeClr val="tx1"/>
                </a:solidFill>
              </a:rPr>
              <a:t> = </a:t>
            </a:r>
            <a:r>
              <a:rPr lang="en-GB" sz="2000" dirty="0" err="1">
                <a:solidFill>
                  <a:schemeClr val="tx1"/>
                </a:solidFill>
              </a:rPr>
              <a:t>serverSocket.accept</a:t>
            </a:r>
            <a:r>
              <a:rPr lang="en-GB" sz="2000" dirty="0">
                <a:solidFill>
                  <a:schemeClr val="tx1"/>
                </a:solidFill>
              </a:rPr>
              <a:t>();                                                                                            </a:t>
            </a:r>
          </a:p>
          <a:p>
            <a:r>
              <a:rPr lang="en-GB" sz="2000" i="1" dirty="0">
                <a:solidFill>
                  <a:schemeClr val="tx1"/>
                </a:solidFill>
              </a:rPr>
              <a:t>                                                                  // </a:t>
            </a:r>
            <a:r>
              <a:rPr lang="en-GB" sz="2000" i="1" dirty="0" err="1">
                <a:solidFill>
                  <a:schemeClr val="tx1"/>
                </a:solidFill>
              </a:rPr>
              <a:t>comunicarea</a:t>
            </a:r>
            <a:r>
              <a:rPr lang="en-GB" sz="2000" i="1" dirty="0">
                <a:solidFill>
                  <a:schemeClr val="tx1"/>
                </a:solidFill>
              </a:rPr>
              <a:t> cu </a:t>
            </a:r>
            <a:r>
              <a:rPr lang="en-GB" sz="2000" i="1" dirty="0" err="1">
                <a:solidFill>
                  <a:schemeClr val="tx1"/>
                </a:solidFill>
              </a:rPr>
              <a:t>clientul</a:t>
            </a:r>
            <a:endParaRPr lang="en-GB" sz="2000" i="1" dirty="0">
              <a:solidFill>
                <a:schemeClr val="tx1"/>
              </a:solidFill>
            </a:endParaRPr>
          </a:p>
          <a:p>
            <a:r>
              <a:rPr lang="en-GB" sz="2000" dirty="0">
                <a:solidFill>
                  <a:schemeClr val="tx1"/>
                </a:solidFill>
              </a:rPr>
              <a:t>        </a:t>
            </a:r>
            <a:r>
              <a:rPr lang="en-GB" sz="2000" dirty="0" err="1">
                <a:solidFill>
                  <a:schemeClr val="tx1"/>
                </a:solidFill>
              </a:rPr>
              <a:t>BufferedReader</a:t>
            </a:r>
            <a:r>
              <a:rPr lang="en-GB" sz="2000" dirty="0">
                <a:solidFill>
                  <a:schemeClr val="tx1"/>
                </a:solidFill>
              </a:rPr>
              <a:t> </a:t>
            </a:r>
            <a:r>
              <a:rPr lang="en-GB" sz="2000" b="1" dirty="0">
                <a:solidFill>
                  <a:schemeClr val="tx1"/>
                </a:solidFill>
              </a:rPr>
              <a:t>in</a:t>
            </a:r>
            <a:r>
              <a:rPr lang="en-GB" sz="2000" dirty="0">
                <a:solidFill>
                  <a:schemeClr val="tx1"/>
                </a:solidFill>
              </a:rPr>
              <a:t> = new </a:t>
            </a:r>
            <a:r>
              <a:rPr lang="en-GB" sz="2000" dirty="0" err="1">
                <a:solidFill>
                  <a:schemeClr val="tx1"/>
                </a:solidFill>
              </a:rPr>
              <a:t>BufferedReader</a:t>
            </a:r>
            <a:r>
              <a:rPr lang="en-GB" sz="2000" dirty="0">
                <a:solidFill>
                  <a:schemeClr val="tx1"/>
                </a:solidFill>
              </a:rPr>
              <a:t>(new </a:t>
            </a:r>
            <a:r>
              <a:rPr lang="en-GB" sz="2000" dirty="0" err="1">
                <a:solidFill>
                  <a:schemeClr val="tx1"/>
                </a:solidFill>
              </a:rPr>
              <a:t>InputStreamReader</a:t>
            </a:r>
            <a:r>
              <a:rPr lang="en-GB" sz="2000" dirty="0">
                <a:solidFill>
                  <a:schemeClr val="tx1"/>
                </a:solidFill>
              </a:rPr>
              <a:t>(</a:t>
            </a:r>
            <a:r>
              <a:rPr lang="en-GB" sz="2000" b="1" dirty="0" err="1">
                <a:solidFill>
                  <a:schemeClr val="tx1"/>
                </a:solidFill>
              </a:rPr>
              <a:t>clientSocket</a:t>
            </a:r>
            <a:r>
              <a:rPr lang="en-GB" sz="2000" dirty="0" err="1">
                <a:solidFill>
                  <a:schemeClr val="tx1"/>
                </a:solidFill>
              </a:rPr>
              <a:t>.getInputStream</a:t>
            </a:r>
            <a:r>
              <a:rPr lang="en-GB" sz="2000" dirty="0">
                <a:solidFill>
                  <a:schemeClr val="tx1"/>
                </a:solidFill>
              </a:rPr>
              <a:t>()));</a:t>
            </a:r>
          </a:p>
          <a:p>
            <a:r>
              <a:rPr lang="en-GB" sz="2000" dirty="0">
                <a:solidFill>
                  <a:schemeClr val="tx1"/>
                </a:solidFill>
              </a:rPr>
              <a:t>        </a:t>
            </a:r>
            <a:r>
              <a:rPr lang="en-GB" sz="2000" dirty="0" err="1">
                <a:solidFill>
                  <a:schemeClr val="tx1"/>
                </a:solidFill>
              </a:rPr>
              <a:t>PrintWriter</a:t>
            </a:r>
            <a:r>
              <a:rPr lang="en-GB" sz="2000" dirty="0">
                <a:solidFill>
                  <a:schemeClr val="tx1"/>
                </a:solidFill>
              </a:rPr>
              <a:t> </a:t>
            </a:r>
            <a:r>
              <a:rPr lang="en-GB" sz="2000" b="1" dirty="0">
                <a:solidFill>
                  <a:schemeClr val="tx1"/>
                </a:solidFill>
              </a:rPr>
              <a:t>out</a:t>
            </a:r>
            <a:r>
              <a:rPr lang="en-GB" sz="2000" dirty="0">
                <a:solidFill>
                  <a:schemeClr val="tx1"/>
                </a:solidFill>
              </a:rPr>
              <a:t> = new </a:t>
            </a:r>
            <a:r>
              <a:rPr lang="en-GB" sz="2000" dirty="0" err="1">
                <a:solidFill>
                  <a:schemeClr val="tx1"/>
                </a:solidFill>
              </a:rPr>
              <a:t>PrintWriter</a:t>
            </a:r>
            <a:r>
              <a:rPr lang="en-GB" sz="2000" dirty="0">
                <a:solidFill>
                  <a:schemeClr val="tx1"/>
                </a:solidFill>
              </a:rPr>
              <a:t>(</a:t>
            </a:r>
            <a:r>
              <a:rPr lang="en-GB" sz="2000" b="1" dirty="0" err="1">
                <a:solidFill>
                  <a:schemeClr val="tx1"/>
                </a:solidFill>
              </a:rPr>
              <a:t>clientSocket</a:t>
            </a:r>
            <a:r>
              <a:rPr lang="en-GB" sz="2000" dirty="0" err="1">
                <a:solidFill>
                  <a:schemeClr val="tx1"/>
                </a:solidFill>
              </a:rPr>
              <a:t>.getOutputStream</a:t>
            </a:r>
            <a:r>
              <a:rPr lang="en-GB" sz="2000" dirty="0">
                <a:solidFill>
                  <a:schemeClr val="tx1"/>
                </a:solidFill>
              </a:rPr>
              <a:t>(), true);</a:t>
            </a:r>
          </a:p>
          <a:p>
            <a:r>
              <a:rPr lang="en-GB" sz="2000" dirty="0">
                <a:solidFill>
                  <a:schemeClr val="tx1"/>
                </a:solidFill>
              </a:rPr>
              <a:t>… }</a:t>
            </a:r>
          </a:p>
        </p:txBody>
      </p:sp>
      <p:sp>
        <p:nvSpPr>
          <p:cNvPr id="2" name="TextBox 1">
            <a:extLst>
              <a:ext uri="{FF2B5EF4-FFF2-40B4-BE49-F238E27FC236}">
                <a16:creationId xmlns:a16="http://schemas.microsoft.com/office/drawing/2014/main" id="{567B29E6-2682-FD7A-F063-E67E59F89701}"/>
              </a:ext>
            </a:extLst>
          </p:cNvPr>
          <p:cNvSpPr txBox="1"/>
          <p:nvPr/>
        </p:nvSpPr>
        <p:spPr>
          <a:xfrm>
            <a:off x="277122" y="5424170"/>
            <a:ext cx="9353843" cy="923330"/>
          </a:xfrm>
          <a:prstGeom prst="rect">
            <a:avLst/>
          </a:prstGeom>
          <a:noFill/>
        </p:spPr>
        <p:txBody>
          <a:bodyPr wrap="none" rtlCol="0">
            <a:spAutoFit/>
          </a:bodyPr>
          <a:lstStyle/>
          <a:p>
            <a:r>
              <a:rPr lang="en-GB" dirty="0">
                <a:hlinkClick r:id="rId2"/>
              </a:rPr>
              <a:t>https://www.geeksforgeeks.org/how-to-create-a-simple-tcp-client-server-connection-in-java/</a:t>
            </a:r>
            <a:endParaRPr lang="en-GB" dirty="0"/>
          </a:p>
          <a:p>
            <a:r>
              <a:rPr lang="en-GB" dirty="0">
                <a:hlinkClick r:id="rId3"/>
              </a:rPr>
              <a:t>Writing the Server Side of a Socket (The Java™ Tutorials &gt; Custom Networking &gt; All About Sockets)</a:t>
            </a:r>
            <a:endParaRPr lang="en-GB" dirty="0"/>
          </a:p>
          <a:p>
            <a:r>
              <a:rPr lang="en-GB" dirty="0">
                <a:hlinkClick r:id="rId4"/>
              </a:rPr>
              <a:t>Learning Network Programming with Java </a:t>
            </a:r>
            <a:r>
              <a:rPr lang="en-GB" dirty="0"/>
              <a:t> , R. M. </a:t>
            </a:r>
            <a:r>
              <a:rPr lang="en-GB" dirty="0" err="1"/>
              <a:t>Reeese</a:t>
            </a:r>
            <a:r>
              <a:rPr lang="en-GB" dirty="0"/>
              <a:t>, 2015</a:t>
            </a:r>
          </a:p>
        </p:txBody>
      </p:sp>
      <p:sp>
        <p:nvSpPr>
          <p:cNvPr id="6" name="TextBox 5">
            <a:extLst>
              <a:ext uri="{FF2B5EF4-FFF2-40B4-BE49-F238E27FC236}">
                <a16:creationId xmlns:a16="http://schemas.microsoft.com/office/drawing/2014/main" id="{FA8CB78C-E454-209E-1B00-9A2BB1E105BE}"/>
              </a:ext>
            </a:extLst>
          </p:cNvPr>
          <p:cNvSpPr txBox="1"/>
          <p:nvPr/>
        </p:nvSpPr>
        <p:spPr>
          <a:xfrm>
            <a:off x="177800" y="3177401"/>
            <a:ext cx="11653520" cy="2246769"/>
          </a:xfrm>
          <a:prstGeom prst="rect">
            <a:avLst/>
          </a:prstGeom>
          <a:noFill/>
          <a:ln w="19050">
            <a:solidFill>
              <a:srgbClr val="00B050"/>
            </a:solidFill>
          </a:ln>
        </p:spPr>
        <p:txBody>
          <a:bodyPr wrap="square">
            <a:spAutoFit/>
          </a:bodyPr>
          <a:lstStyle/>
          <a:p>
            <a:r>
              <a:rPr lang="en-GB" sz="2000" dirty="0"/>
              <a:t>public class Client {</a:t>
            </a:r>
          </a:p>
          <a:p>
            <a:r>
              <a:rPr lang="en-GB" sz="2000" dirty="0"/>
              <a:t>    public static void main(String </a:t>
            </a:r>
            <a:r>
              <a:rPr lang="en-GB" sz="2000" dirty="0" err="1"/>
              <a:t>args</a:t>
            </a:r>
            <a:r>
              <a:rPr lang="en-GB" sz="2000" dirty="0"/>
              <a:t>[]) </a:t>
            </a:r>
          </a:p>
          <a:p>
            <a:r>
              <a:rPr lang="en-GB" sz="2000" dirty="0"/>
              <a:t>    { Socket </a:t>
            </a:r>
            <a:r>
              <a:rPr lang="en-GB" sz="2000" b="1" dirty="0" err="1"/>
              <a:t>socket</a:t>
            </a:r>
            <a:r>
              <a:rPr lang="en-GB" sz="2000" dirty="0"/>
              <a:t> = new Socket("localhost", 9090); </a:t>
            </a:r>
          </a:p>
          <a:p>
            <a:r>
              <a:rPr lang="en-GB" sz="2000" dirty="0"/>
              <a:t>                                                                </a:t>
            </a:r>
            <a:r>
              <a:rPr lang="en-GB" sz="2000" i="1" dirty="0">
                <a:solidFill>
                  <a:schemeClr val="tx1"/>
                </a:solidFill>
              </a:rPr>
              <a:t>// </a:t>
            </a:r>
            <a:r>
              <a:rPr lang="en-GB" sz="2000" i="1" dirty="0" err="1">
                <a:solidFill>
                  <a:schemeClr val="tx1"/>
                </a:solidFill>
              </a:rPr>
              <a:t>comunicarea</a:t>
            </a:r>
            <a:r>
              <a:rPr lang="en-GB" sz="2000" i="1" dirty="0">
                <a:solidFill>
                  <a:schemeClr val="tx1"/>
                </a:solidFill>
              </a:rPr>
              <a:t> cu </a:t>
            </a:r>
            <a:r>
              <a:rPr lang="en-GB" sz="2000" i="1" dirty="0" err="1">
                <a:solidFill>
                  <a:schemeClr val="tx1"/>
                </a:solidFill>
              </a:rPr>
              <a:t>serverul</a:t>
            </a:r>
            <a:endParaRPr lang="en-GB" sz="2000" i="1" dirty="0">
              <a:solidFill>
                <a:schemeClr val="tx1"/>
              </a:solidFill>
            </a:endParaRPr>
          </a:p>
          <a:p>
            <a:r>
              <a:rPr lang="en-GB" sz="2000" dirty="0"/>
              <a:t>       </a:t>
            </a:r>
            <a:r>
              <a:rPr lang="en-GB" sz="2000" dirty="0" err="1"/>
              <a:t>PrintWriter</a:t>
            </a:r>
            <a:r>
              <a:rPr lang="en-GB" sz="2000" dirty="0"/>
              <a:t> </a:t>
            </a:r>
            <a:r>
              <a:rPr lang="en-GB" sz="2000" b="1" dirty="0"/>
              <a:t>out</a:t>
            </a:r>
            <a:r>
              <a:rPr lang="en-GB" sz="2000" dirty="0"/>
              <a:t> = new </a:t>
            </a:r>
            <a:r>
              <a:rPr lang="en-GB" sz="2000" dirty="0" err="1"/>
              <a:t>PrintWriter</a:t>
            </a:r>
            <a:r>
              <a:rPr lang="en-GB" sz="2000" dirty="0"/>
              <a:t>(</a:t>
            </a:r>
            <a:r>
              <a:rPr lang="en-GB" sz="2000" b="1" dirty="0" err="1"/>
              <a:t>socket</a:t>
            </a:r>
            <a:r>
              <a:rPr lang="en-GB" sz="2000" dirty="0" err="1"/>
              <a:t>.getOutputStream</a:t>
            </a:r>
            <a:r>
              <a:rPr lang="en-GB" sz="2000" dirty="0"/>
              <a:t>(), true);</a:t>
            </a:r>
          </a:p>
          <a:p>
            <a:r>
              <a:rPr lang="en-GB" sz="2000" dirty="0"/>
              <a:t>       </a:t>
            </a:r>
            <a:r>
              <a:rPr lang="en-GB" sz="2000" dirty="0" err="1"/>
              <a:t>BufferedReader</a:t>
            </a:r>
            <a:r>
              <a:rPr lang="en-GB" sz="2000" dirty="0"/>
              <a:t> </a:t>
            </a:r>
            <a:r>
              <a:rPr lang="en-GB" sz="2000" b="1" dirty="0"/>
              <a:t>in</a:t>
            </a:r>
            <a:r>
              <a:rPr lang="en-GB" sz="2000" dirty="0"/>
              <a:t> = new </a:t>
            </a:r>
            <a:r>
              <a:rPr lang="en-GB" sz="2000" dirty="0" err="1"/>
              <a:t>BufferedReader</a:t>
            </a:r>
            <a:r>
              <a:rPr lang="en-GB" sz="2000" dirty="0"/>
              <a:t>(new </a:t>
            </a:r>
            <a:r>
              <a:rPr lang="en-GB" sz="2000" dirty="0" err="1"/>
              <a:t>InputStreamReader</a:t>
            </a:r>
            <a:r>
              <a:rPr lang="en-GB" sz="2000" dirty="0"/>
              <a:t>(</a:t>
            </a:r>
            <a:r>
              <a:rPr lang="en-GB" sz="2000" b="1" dirty="0" err="1"/>
              <a:t>socket</a:t>
            </a:r>
            <a:r>
              <a:rPr lang="en-GB" sz="2000" dirty="0" err="1"/>
              <a:t>.getInputStream</a:t>
            </a:r>
            <a:r>
              <a:rPr lang="en-GB" sz="2000" dirty="0"/>
              <a:t>()));</a:t>
            </a:r>
          </a:p>
          <a:p>
            <a:r>
              <a:rPr lang="en-GB" sz="2000" dirty="0"/>
              <a:t>…}</a:t>
            </a:r>
          </a:p>
        </p:txBody>
      </p:sp>
      <p:sp>
        <p:nvSpPr>
          <p:cNvPr id="8" name="TextBox 7">
            <a:extLst>
              <a:ext uri="{FF2B5EF4-FFF2-40B4-BE49-F238E27FC236}">
                <a16:creationId xmlns:a16="http://schemas.microsoft.com/office/drawing/2014/main" id="{F3E0AB15-FEE4-DF9A-2F7E-6D09F9EA059E}"/>
              </a:ext>
            </a:extLst>
          </p:cNvPr>
          <p:cNvSpPr txBox="1"/>
          <p:nvPr/>
        </p:nvSpPr>
        <p:spPr>
          <a:xfrm>
            <a:off x="5804489" y="2823378"/>
            <a:ext cx="5986191" cy="461665"/>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prin</a:t>
            </a:r>
            <a:r>
              <a:rPr lang="en-US" sz="2400" dirty="0"/>
              <a:t> </a:t>
            </a:r>
            <a:r>
              <a:rPr lang="en-US" sz="2400" b="1" dirty="0"/>
              <a:t>in</a:t>
            </a:r>
            <a:r>
              <a:rPr lang="en-US" sz="2400" dirty="0"/>
              <a:t> </a:t>
            </a:r>
            <a:r>
              <a:rPr lang="en-US" sz="2400" dirty="0" err="1"/>
              <a:t>si</a:t>
            </a:r>
            <a:r>
              <a:rPr lang="en-US" sz="2400" dirty="0"/>
              <a:t> </a:t>
            </a:r>
            <a:r>
              <a:rPr lang="en-US" sz="2400" b="1" dirty="0"/>
              <a:t>out</a:t>
            </a:r>
            <a:r>
              <a:rPr lang="en-US" sz="2400" dirty="0"/>
              <a:t> </a:t>
            </a:r>
            <a:r>
              <a:rPr lang="en-US" sz="2400" dirty="0" err="1"/>
              <a:t>stabilesc</a:t>
            </a:r>
            <a:r>
              <a:rPr lang="en-US" sz="2400" dirty="0"/>
              <a:t> </a:t>
            </a:r>
            <a:r>
              <a:rPr lang="en-US" sz="2400" dirty="0" err="1"/>
              <a:t>canalele</a:t>
            </a:r>
            <a:r>
              <a:rPr lang="en-US" sz="2400" dirty="0"/>
              <a:t> de </a:t>
            </a:r>
            <a:r>
              <a:rPr lang="en-US" sz="2400" dirty="0" err="1"/>
              <a:t>comunicare</a:t>
            </a:r>
            <a:r>
              <a:rPr lang="en-US" sz="2400" dirty="0"/>
              <a:t> </a:t>
            </a:r>
            <a:endParaRPr lang="en-GB" sz="2400" dirty="0"/>
          </a:p>
        </p:txBody>
      </p:sp>
    </p:spTree>
    <p:extLst>
      <p:ext uri="{BB962C8B-B14F-4D97-AF65-F5344CB8AC3E}">
        <p14:creationId xmlns:p14="http://schemas.microsoft.com/office/powerpoint/2010/main" val="1063164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F8F47-2304-6F31-EB87-5191332040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D30AC4-77ED-3552-AAEC-72CF1E097E73}"/>
              </a:ext>
            </a:extLst>
          </p:cNvPr>
          <p:cNvSpPr txBox="1"/>
          <p:nvPr/>
        </p:nvSpPr>
        <p:spPr>
          <a:xfrm>
            <a:off x="411480" y="477520"/>
            <a:ext cx="10957560" cy="5632311"/>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2000" dirty="0">
                <a:solidFill>
                  <a:schemeClr val="tx1"/>
                </a:solidFill>
              </a:rPr>
              <a:t>public class Server {</a:t>
            </a:r>
          </a:p>
          <a:p>
            <a:r>
              <a:rPr lang="en-GB" sz="2000" dirty="0">
                <a:solidFill>
                  <a:schemeClr val="tx1"/>
                </a:solidFill>
              </a:rPr>
              <a:t>    public static void main(String </a:t>
            </a:r>
            <a:r>
              <a:rPr lang="en-GB" sz="2000" dirty="0" err="1">
                <a:solidFill>
                  <a:schemeClr val="tx1"/>
                </a:solidFill>
              </a:rPr>
              <a:t>args</a:t>
            </a:r>
            <a:r>
              <a:rPr lang="en-GB" sz="2000" dirty="0">
                <a:solidFill>
                  <a:schemeClr val="tx1"/>
                </a:solidFill>
              </a:rPr>
              <a:t>[]) </a:t>
            </a:r>
          </a:p>
          <a:p>
            <a:r>
              <a:rPr lang="en-GB" sz="2000" dirty="0">
                <a:solidFill>
                  <a:schemeClr val="tx1"/>
                </a:solidFill>
              </a:rPr>
              <a:t>    {   </a:t>
            </a:r>
            <a:r>
              <a:rPr lang="en-GB" sz="2000" dirty="0" err="1">
                <a:solidFill>
                  <a:schemeClr val="tx1"/>
                </a:solidFill>
              </a:rPr>
              <a:t>ServerSocket</a:t>
            </a:r>
            <a:r>
              <a:rPr lang="en-GB" sz="2000" dirty="0">
                <a:solidFill>
                  <a:schemeClr val="tx1"/>
                </a:solidFill>
              </a:rPr>
              <a:t> </a:t>
            </a:r>
            <a:r>
              <a:rPr lang="en-GB" sz="2000" dirty="0" err="1">
                <a:solidFill>
                  <a:schemeClr val="tx1"/>
                </a:solidFill>
              </a:rPr>
              <a:t>serverSocket</a:t>
            </a:r>
            <a:r>
              <a:rPr lang="en-GB" sz="2000" dirty="0">
                <a:solidFill>
                  <a:schemeClr val="tx1"/>
                </a:solidFill>
              </a:rPr>
              <a:t> = new </a:t>
            </a:r>
            <a:r>
              <a:rPr lang="en-GB" sz="2000" dirty="0" err="1">
                <a:solidFill>
                  <a:schemeClr val="tx1"/>
                </a:solidFill>
              </a:rPr>
              <a:t>ServerSocket</a:t>
            </a:r>
            <a:r>
              <a:rPr lang="en-GB" sz="2000" dirty="0">
                <a:solidFill>
                  <a:schemeClr val="tx1"/>
                </a:solidFill>
              </a:rPr>
              <a:t>(9090);</a:t>
            </a:r>
          </a:p>
          <a:p>
            <a:r>
              <a:rPr lang="en-GB" sz="2000" dirty="0">
                <a:solidFill>
                  <a:schemeClr val="tx1"/>
                </a:solidFill>
              </a:rPr>
              <a:t>        </a:t>
            </a:r>
            <a:r>
              <a:rPr lang="en-GB" sz="2000" dirty="0" err="1">
                <a:solidFill>
                  <a:schemeClr val="tx1"/>
                </a:solidFill>
              </a:rPr>
              <a:t>System.out.println</a:t>
            </a:r>
            <a:r>
              <a:rPr lang="en-GB" sz="2000" dirty="0">
                <a:solidFill>
                  <a:schemeClr val="tx1"/>
                </a:solidFill>
              </a:rPr>
              <a:t>("Server is running.");                 </a:t>
            </a:r>
            <a:r>
              <a:rPr lang="en-GB" sz="2000" i="1" dirty="0">
                <a:solidFill>
                  <a:schemeClr val="tx1"/>
                </a:solidFill>
              </a:rPr>
              <a:t>//</a:t>
            </a:r>
            <a:r>
              <a:rPr lang="en-GB" sz="2000" i="1" dirty="0" err="1">
                <a:solidFill>
                  <a:schemeClr val="tx1"/>
                </a:solidFill>
              </a:rPr>
              <a:t>mesaj</a:t>
            </a:r>
            <a:r>
              <a:rPr lang="en-GB" sz="2000" i="1" dirty="0">
                <a:solidFill>
                  <a:schemeClr val="tx1"/>
                </a:solidFill>
              </a:rPr>
              <a:t> </a:t>
            </a:r>
            <a:r>
              <a:rPr lang="en-GB" sz="2000" i="1" dirty="0" err="1">
                <a:solidFill>
                  <a:schemeClr val="tx1"/>
                </a:solidFill>
              </a:rPr>
              <a:t>afisat</a:t>
            </a:r>
            <a:r>
              <a:rPr lang="en-GB" sz="2000" i="1" dirty="0">
                <a:solidFill>
                  <a:schemeClr val="tx1"/>
                </a:solidFill>
              </a:rPr>
              <a:t> pe </a:t>
            </a:r>
            <a:r>
              <a:rPr lang="en-GB" sz="2000" i="1" dirty="0" err="1">
                <a:solidFill>
                  <a:schemeClr val="tx1"/>
                </a:solidFill>
              </a:rPr>
              <a:t>propriul</a:t>
            </a:r>
            <a:r>
              <a:rPr lang="en-GB" sz="2000" i="1" dirty="0">
                <a:solidFill>
                  <a:schemeClr val="tx1"/>
                </a:solidFill>
              </a:rPr>
              <a:t> canal</a:t>
            </a:r>
            <a:endParaRPr lang="en-GB" sz="2000" dirty="0">
              <a:solidFill>
                <a:schemeClr val="tx1"/>
              </a:solidFill>
            </a:endParaRPr>
          </a:p>
          <a:p>
            <a:r>
              <a:rPr lang="en-GB" sz="2000" dirty="0">
                <a:solidFill>
                  <a:schemeClr val="tx1"/>
                </a:solidFill>
              </a:rPr>
              <a:t>        Socket </a:t>
            </a:r>
            <a:r>
              <a:rPr lang="en-GB" sz="2000" dirty="0" err="1">
                <a:solidFill>
                  <a:schemeClr val="tx1"/>
                </a:solidFill>
              </a:rPr>
              <a:t>clientSocket</a:t>
            </a:r>
            <a:r>
              <a:rPr lang="en-GB" sz="2000" dirty="0">
                <a:solidFill>
                  <a:schemeClr val="tx1"/>
                </a:solidFill>
              </a:rPr>
              <a:t> = </a:t>
            </a:r>
            <a:r>
              <a:rPr lang="en-GB" sz="2000" dirty="0" err="1">
                <a:solidFill>
                  <a:schemeClr val="tx1"/>
                </a:solidFill>
              </a:rPr>
              <a:t>serverSocket.accept</a:t>
            </a:r>
            <a:r>
              <a:rPr lang="en-GB" sz="2000" dirty="0">
                <a:solidFill>
                  <a:schemeClr val="tx1"/>
                </a:solidFill>
              </a:rPr>
              <a:t>();</a:t>
            </a:r>
          </a:p>
          <a:p>
            <a:r>
              <a:rPr lang="en-GB" sz="2000" dirty="0">
                <a:solidFill>
                  <a:schemeClr val="tx1"/>
                </a:solidFill>
              </a:rPr>
              <a:t>        </a:t>
            </a:r>
            <a:r>
              <a:rPr lang="en-GB" sz="2000" dirty="0" err="1">
                <a:solidFill>
                  <a:schemeClr val="tx1"/>
                </a:solidFill>
              </a:rPr>
              <a:t>System.out.println</a:t>
            </a:r>
            <a:r>
              <a:rPr lang="en-GB" sz="2000" dirty="0">
                <a:solidFill>
                  <a:schemeClr val="tx1"/>
                </a:solidFill>
              </a:rPr>
              <a:t>("Client connected!");              </a:t>
            </a:r>
            <a:r>
              <a:rPr lang="en-GB" sz="2000" i="1" dirty="0">
                <a:solidFill>
                  <a:schemeClr val="tx1"/>
                </a:solidFill>
              </a:rPr>
              <a:t>//</a:t>
            </a:r>
            <a:r>
              <a:rPr lang="en-GB" sz="2000" i="1" dirty="0" err="1">
                <a:solidFill>
                  <a:schemeClr val="tx1"/>
                </a:solidFill>
              </a:rPr>
              <a:t>mesaj</a:t>
            </a:r>
            <a:r>
              <a:rPr lang="en-GB" sz="2000" i="1" dirty="0">
                <a:solidFill>
                  <a:schemeClr val="tx1"/>
                </a:solidFill>
              </a:rPr>
              <a:t> </a:t>
            </a:r>
            <a:r>
              <a:rPr lang="en-GB" sz="2000" i="1" dirty="0" err="1">
                <a:solidFill>
                  <a:schemeClr val="tx1"/>
                </a:solidFill>
              </a:rPr>
              <a:t>afisat</a:t>
            </a:r>
            <a:r>
              <a:rPr lang="en-GB" sz="2000" i="1" dirty="0">
                <a:solidFill>
                  <a:schemeClr val="tx1"/>
                </a:solidFill>
              </a:rPr>
              <a:t> pe </a:t>
            </a:r>
            <a:r>
              <a:rPr lang="en-GB" sz="2000" i="1" dirty="0" err="1">
                <a:solidFill>
                  <a:schemeClr val="tx1"/>
                </a:solidFill>
              </a:rPr>
              <a:t>propriul</a:t>
            </a:r>
            <a:r>
              <a:rPr lang="en-GB" sz="2000" i="1" dirty="0">
                <a:solidFill>
                  <a:schemeClr val="tx1"/>
                </a:solidFill>
              </a:rPr>
              <a:t> canal</a:t>
            </a:r>
          </a:p>
          <a:p>
            <a:endParaRPr lang="en-GB" sz="2000" dirty="0">
              <a:solidFill>
                <a:schemeClr val="tx1"/>
              </a:solidFill>
            </a:endParaRPr>
          </a:p>
          <a:p>
            <a:r>
              <a:rPr lang="en-GB" sz="2000" dirty="0">
                <a:solidFill>
                  <a:schemeClr val="tx1"/>
                </a:solidFill>
              </a:rPr>
              <a:t>        </a:t>
            </a:r>
            <a:r>
              <a:rPr lang="en-GB" sz="2000" dirty="0" err="1">
                <a:solidFill>
                  <a:schemeClr val="tx1"/>
                </a:solidFill>
              </a:rPr>
              <a:t>BufferedReader</a:t>
            </a:r>
            <a:r>
              <a:rPr lang="en-GB" sz="2000" dirty="0">
                <a:solidFill>
                  <a:schemeClr val="tx1"/>
                </a:solidFill>
              </a:rPr>
              <a:t> </a:t>
            </a:r>
            <a:r>
              <a:rPr lang="en-GB" sz="2000" b="1" dirty="0">
                <a:solidFill>
                  <a:srgbClr val="00B050"/>
                </a:solidFill>
              </a:rPr>
              <a:t>in</a:t>
            </a:r>
            <a:r>
              <a:rPr lang="en-GB" sz="2000" dirty="0">
                <a:solidFill>
                  <a:schemeClr val="tx1"/>
                </a:solidFill>
              </a:rPr>
              <a:t> = new </a:t>
            </a:r>
            <a:r>
              <a:rPr lang="en-GB" sz="2000" dirty="0" err="1">
                <a:solidFill>
                  <a:schemeClr val="tx1"/>
                </a:solidFill>
              </a:rPr>
              <a:t>BufferedReader</a:t>
            </a:r>
            <a:r>
              <a:rPr lang="en-GB" sz="2000" dirty="0">
                <a:solidFill>
                  <a:schemeClr val="tx1"/>
                </a:solidFill>
              </a:rPr>
              <a:t>(new </a:t>
            </a:r>
            <a:r>
              <a:rPr lang="en-GB" sz="2000" dirty="0" err="1">
                <a:solidFill>
                  <a:schemeClr val="tx1"/>
                </a:solidFill>
              </a:rPr>
              <a:t>InputStreamReader</a:t>
            </a:r>
            <a:r>
              <a:rPr lang="en-GB" sz="2000" dirty="0">
                <a:solidFill>
                  <a:schemeClr val="tx1"/>
                </a:solidFill>
              </a:rPr>
              <a:t>(</a:t>
            </a:r>
            <a:r>
              <a:rPr lang="en-GB" sz="2000" b="1" dirty="0" err="1">
                <a:solidFill>
                  <a:srgbClr val="00B050"/>
                </a:solidFill>
              </a:rPr>
              <a:t>clientSocket</a:t>
            </a:r>
            <a:r>
              <a:rPr lang="en-GB" sz="2000" dirty="0" err="1">
                <a:solidFill>
                  <a:schemeClr val="tx1"/>
                </a:solidFill>
              </a:rPr>
              <a:t>.getInputStream</a:t>
            </a:r>
            <a:r>
              <a:rPr lang="en-GB" sz="2000" dirty="0">
                <a:solidFill>
                  <a:schemeClr val="tx1"/>
                </a:solidFill>
              </a:rPr>
              <a:t>()));</a:t>
            </a:r>
          </a:p>
          <a:p>
            <a:r>
              <a:rPr lang="en-GB" sz="2000" dirty="0">
                <a:solidFill>
                  <a:schemeClr val="tx1"/>
                </a:solidFill>
              </a:rPr>
              <a:t>        </a:t>
            </a:r>
            <a:r>
              <a:rPr lang="en-GB" sz="2000" dirty="0" err="1">
                <a:solidFill>
                  <a:schemeClr val="tx1"/>
                </a:solidFill>
              </a:rPr>
              <a:t>PrintWriter</a:t>
            </a:r>
            <a:r>
              <a:rPr lang="en-GB" sz="2000" dirty="0">
                <a:solidFill>
                  <a:schemeClr val="tx1"/>
                </a:solidFill>
              </a:rPr>
              <a:t> </a:t>
            </a:r>
            <a:r>
              <a:rPr lang="en-GB" sz="2000" b="1" dirty="0">
                <a:solidFill>
                  <a:srgbClr val="00B050"/>
                </a:solidFill>
              </a:rPr>
              <a:t>out</a:t>
            </a:r>
            <a:r>
              <a:rPr lang="en-GB" sz="2000" dirty="0">
                <a:solidFill>
                  <a:schemeClr val="tx1"/>
                </a:solidFill>
              </a:rPr>
              <a:t> = new </a:t>
            </a:r>
            <a:r>
              <a:rPr lang="en-GB" sz="2000" dirty="0" err="1">
                <a:solidFill>
                  <a:schemeClr val="tx1"/>
                </a:solidFill>
              </a:rPr>
              <a:t>PrintWriter</a:t>
            </a:r>
            <a:r>
              <a:rPr lang="en-GB" sz="2000" dirty="0">
                <a:solidFill>
                  <a:schemeClr val="tx1"/>
                </a:solidFill>
              </a:rPr>
              <a:t>(</a:t>
            </a:r>
            <a:r>
              <a:rPr lang="en-GB" sz="2000" b="1" dirty="0" err="1">
                <a:solidFill>
                  <a:srgbClr val="00B050"/>
                </a:solidFill>
              </a:rPr>
              <a:t>clientSocket</a:t>
            </a:r>
            <a:r>
              <a:rPr lang="en-GB" sz="2000" dirty="0" err="1">
                <a:solidFill>
                  <a:schemeClr val="tx1"/>
                </a:solidFill>
              </a:rPr>
              <a:t>.getOutputStream</a:t>
            </a:r>
            <a:r>
              <a:rPr lang="en-GB" sz="2000" dirty="0">
                <a:solidFill>
                  <a:schemeClr val="tx1"/>
                </a:solidFill>
              </a:rPr>
              <a:t>(), true);</a:t>
            </a:r>
          </a:p>
          <a:p>
            <a:endParaRPr lang="en-GB" sz="2000" dirty="0">
              <a:solidFill>
                <a:schemeClr val="tx1"/>
              </a:solidFill>
            </a:endParaRPr>
          </a:p>
          <a:p>
            <a:r>
              <a:rPr lang="en-GB" sz="2000" b="1" dirty="0">
                <a:solidFill>
                  <a:srgbClr val="00B050"/>
                </a:solidFill>
              </a:rPr>
              <a:t>         String message = </a:t>
            </a:r>
            <a:r>
              <a:rPr lang="en-GB" sz="2000" b="1" dirty="0" err="1">
                <a:solidFill>
                  <a:srgbClr val="00B050"/>
                </a:solidFill>
              </a:rPr>
              <a:t>in.readLine</a:t>
            </a:r>
            <a:r>
              <a:rPr lang="en-GB" sz="2000" b="1" dirty="0">
                <a:solidFill>
                  <a:srgbClr val="00B050"/>
                </a:solidFill>
              </a:rPr>
              <a:t>();                              // </a:t>
            </a:r>
            <a:r>
              <a:rPr lang="en-GB" sz="2000" b="1" dirty="0" err="1">
                <a:solidFill>
                  <a:srgbClr val="00B050"/>
                </a:solidFill>
              </a:rPr>
              <a:t>mesaj</a:t>
            </a:r>
            <a:r>
              <a:rPr lang="en-GB" sz="2000" b="1" dirty="0">
                <a:solidFill>
                  <a:srgbClr val="00B050"/>
                </a:solidFill>
              </a:rPr>
              <a:t> </a:t>
            </a:r>
            <a:r>
              <a:rPr lang="en-GB" sz="2000" b="1" dirty="0" err="1">
                <a:solidFill>
                  <a:srgbClr val="00B050"/>
                </a:solidFill>
              </a:rPr>
              <a:t>primit</a:t>
            </a:r>
            <a:r>
              <a:rPr lang="en-GB" sz="2000" b="1" dirty="0">
                <a:solidFill>
                  <a:srgbClr val="00B050"/>
                </a:solidFill>
              </a:rPr>
              <a:t> de la client</a:t>
            </a:r>
          </a:p>
          <a:p>
            <a:r>
              <a:rPr lang="en-GB" sz="2000" dirty="0">
                <a:solidFill>
                  <a:schemeClr val="tx1"/>
                </a:solidFill>
              </a:rPr>
              <a:t>         </a:t>
            </a:r>
            <a:r>
              <a:rPr lang="en-GB" sz="2000" dirty="0" err="1">
                <a:solidFill>
                  <a:schemeClr val="tx1"/>
                </a:solidFill>
              </a:rPr>
              <a:t>System.out.println</a:t>
            </a:r>
            <a:r>
              <a:rPr lang="en-GB" sz="2000" dirty="0">
                <a:solidFill>
                  <a:schemeClr val="tx1"/>
                </a:solidFill>
              </a:rPr>
              <a:t>("From client: " + message);  </a:t>
            </a:r>
            <a:r>
              <a:rPr lang="en-GB" sz="2000" i="1" dirty="0">
                <a:solidFill>
                  <a:schemeClr val="tx1"/>
                </a:solidFill>
              </a:rPr>
              <a:t>//</a:t>
            </a:r>
            <a:r>
              <a:rPr lang="en-GB" sz="2000" i="1" dirty="0" err="1">
                <a:solidFill>
                  <a:schemeClr val="tx1"/>
                </a:solidFill>
              </a:rPr>
              <a:t>mesaj</a:t>
            </a:r>
            <a:r>
              <a:rPr lang="en-GB" sz="2000" i="1" dirty="0">
                <a:solidFill>
                  <a:schemeClr val="tx1"/>
                </a:solidFill>
              </a:rPr>
              <a:t> </a:t>
            </a:r>
            <a:r>
              <a:rPr lang="en-GB" sz="2000" i="1" dirty="0" err="1">
                <a:solidFill>
                  <a:schemeClr val="tx1"/>
                </a:solidFill>
              </a:rPr>
              <a:t>afisat</a:t>
            </a:r>
            <a:r>
              <a:rPr lang="en-GB" sz="2000" i="1" dirty="0">
                <a:solidFill>
                  <a:schemeClr val="tx1"/>
                </a:solidFill>
              </a:rPr>
              <a:t> pe </a:t>
            </a:r>
            <a:r>
              <a:rPr lang="en-GB" sz="2000" i="1" dirty="0" err="1">
                <a:solidFill>
                  <a:schemeClr val="tx1"/>
                </a:solidFill>
              </a:rPr>
              <a:t>propriul</a:t>
            </a:r>
            <a:r>
              <a:rPr lang="en-GB" sz="2000" i="1" dirty="0">
                <a:solidFill>
                  <a:schemeClr val="tx1"/>
                </a:solidFill>
              </a:rPr>
              <a:t> canal</a:t>
            </a:r>
          </a:p>
          <a:p>
            <a:endParaRPr lang="en-GB" sz="2000" dirty="0">
              <a:solidFill>
                <a:schemeClr val="tx1"/>
              </a:solidFill>
            </a:endParaRPr>
          </a:p>
          <a:p>
            <a:r>
              <a:rPr lang="en-GB" sz="2000" b="1" dirty="0">
                <a:solidFill>
                  <a:srgbClr val="00B050"/>
                </a:solidFill>
              </a:rPr>
              <a:t>         </a:t>
            </a:r>
            <a:r>
              <a:rPr lang="en-GB" sz="2000" b="1" dirty="0" err="1">
                <a:solidFill>
                  <a:srgbClr val="00B050"/>
                </a:solidFill>
              </a:rPr>
              <a:t>out.println</a:t>
            </a:r>
            <a:r>
              <a:rPr lang="en-GB" sz="2000" b="1" dirty="0">
                <a:solidFill>
                  <a:srgbClr val="00B050"/>
                </a:solidFill>
              </a:rPr>
              <a:t>("Message received!");               </a:t>
            </a:r>
            <a:r>
              <a:rPr lang="en-GB" sz="2000" b="1" i="1" dirty="0">
                <a:solidFill>
                  <a:srgbClr val="00B050"/>
                </a:solidFill>
              </a:rPr>
              <a:t>// </a:t>
            </a:r>
            <a:r>
              <a:rPr lang="en-GB" sz="2000" b="1" i="1" dirty="0" err="1">
                <a:solidFill>
                  <a:srgbClr val="00B050"/>
                </a:solidFill>
              </a:rPr>
              <a:t>mesaj</a:t>
            </a:r>
            <a:r>
              <a:rPr lang="en-GB" sz="2000" b="1" i="1" dirty="0">
                <a:solidFill>
                  <a:srgbClr val="00B050"/>
                </a:solidFill>
              </a:rPr>
              <a:t> </a:t>
            </a:r>
            <a:r>
              <a:rPr lang="en-GB" sz="2000" b="1" i="1" dirty="0" err="1">
                <a:solidFill>
                  <a:srgbClr val="00B050"/>
                </a:solidFill>
              </a:rPr>
              <a:t>trimis</a:t>
            </a:r>
            <a:r>
              <a:rPr lang="en-GB" sz="2000" b="1" i="1" dirty="0">
                <a:solidFill>
                  <a:srgbClr val="00B050"/>
                </a:solidFill>
              </a:rPr>
              <a:t> </a:t>
            </a:r>
            <a:r>
              <a:rPr lang="en-GB" sz="2000" b="1" i="1" dirty="0" err="1">
                <a:solidFill>
                  <a:srgbClr val="00B050"/>
                </a:solidFill>
              </a:rPr>
              <a:t>clientului</a:t>
            </a:r>
            <a:endParaRPr lang="en-GB" sz="2000" b="1" i="1" dirty="0">
              <a:solidFill>
                <a:srgbClr val="00B050"/>
              </a:solidFill>
            </a:endParaRPr>
          </a:p>
          <a:p>
            <a:endParaRPr lang="en-GB" sz="2000" b="1" dirty="0">
              <a:solidFill>
                <a:srgbClr val="00B050"/>
              </a:solidFill>
            </a:endParaRPr>
          </a:p>
          <a:p>
            <a:pPr lvl="1"/>
            <a:r>
              <a:rPr lang="en-GB" sz="2000" dirty="0" err="1">
                <a:solidFill>
                  <a:schemeClr val="tx1"/>
                </a:solidFill>
              </a:rPr>
              <a:t>clientSocket.close</a:t>
            </a:r>
            <a:r>
              <a:rPr lang="en-GB" sz="2000" dirty="0">
                <a:solidFill>
                  <a:schemeClr val="tx1"/>
                </a:solidFill>
              </a:rPr>
              <a:t>();</a:t>
            </a:r>
          </a:p>
          <a:p>
            <a:pPr lvl="1"/>
            <a:r>
              <a:rPr lang="en-GB" sz="2000" dirty="0" err="1">
                <a:solidFill>
                  <a:schemeClr val="tx1"/>
                </a:solidFill>
              </a:rPr>
              <a:t>serverSocket.close</a:t>
            </a:r>
            <a:r>
              <a:rPr lang="en-GB" sz="2000" dirty="0">
                <a:solidFill>
                  <a:schemeClr val="tx1"/>
                </a:solidFill>
              </a:rPr>
              <a:t>();</a:t>
            </a:r>
          </a:p>
          <a:p>
            <a:r>
              <a:rPr lang="en-GB" sz="2000" dirty="0">
                <a:solidFill>
                  <a:schemeClr val="tx1"/>
                </a:solidFill>
              </a:rPr>
              <a:t>}</a:t>
            </a:r>
          </a:p>
        </p:txBody>
      </p:sp>
    </p:spTree>
    <p:extLst>
      <p:ext uri="{BB962C8B-B14F-4D97-AF65-F5344CB8AC3E}">
        <p14:creationId xmlns:p14="http://schemas.microsoft.com/office/powerpoint/2010/main" val="119349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51AE2-8E30-3256-0462-812E4054F18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431A718-7465-9040-7F84-F30DC9A2C34B}"/>
              </a:ext>
            </a:extLst>
          </p:cNvPr>
          <p:cNvSpPr txBox="1"/>
          <p:nvPr/>
        </p:nvSpPr>
        <p:spPr>
          <a:xfrm>
            <a:off x="393700" y="474841"/>
            <a:ext cx="10855960" cy="5016758"/>
          </a:xfrm>
          <a:prstGeom prst="rect">
            <a:avLst/>
          </a:prstGeom>
          <a:noFill/>
          <a:ln w="19050">
            <a:solidFill>
              <a:srgbClr val="00B050"/>
            </a:solidFill>
          </a:ln>
        </p:spPr>
        <p:txBody>
          <a:bodyPr wrap="square">
            <a:spAutoFit/>
          </a:bodyPr>
          <a:lstStyle/>
          <a:p>
            <a:r>
              <a:rPr lang="en-GB" sz="2000" dirty="0"/>
              <a:t>public class Client {</a:t>
            </a:r>
          </a:p>
          <a:p>
            <a:r>
              <a:rPr lang="en-GB" sz="2000" dirty="0"/>
              <a:t>    public static void main(String </a:t>
            </a:r>
            <a:r>
              <a:rPr lang="en-GB" sz="2000" dirty="0" err="1"/>
              <a:t>args</a:t>
            </a:r>
            <a:r>
              <a:rPr lang="en-GB" sz="2000" dirty="0"/>
              <a:t>[]) throws </a:t>
            </a:r>
            <a:r>
              <a:rPr lang="en-GB" sz="2000" dirty="0" err="1"/>
              <a:t>IOException</a:t>
            </a:r>
            <a:r>
              <a:rPr lang="en-GB" sz="2000" dirty="0"/>
              <a:t> </a:t>
            </a:r>
          </a:p>
          <a:p>
            <a:r>
              <a:rPr lang="en-GB" sz="2000" dirty="0"/>
              <a:t>    { Socket </a:t>
            </a:r>
            <a:r>
              <a:rPr lang="en-GB" sz="2000" dirty="0" err="1"/>
              <a:t>socket</a:t>
            </a:r>
            <a:r>
              <a:rPr lang="en-GB" sz="2000" dirty="0"/>
              <a:t> = new Socket("localhost", 9090); </a:t>
            </a:r>
          </a:p>
          <a:p>
            <a:r>
              <a:rPr lang="en-GB" sz="2000" dirty="0"/>
              <a:t> </a:t>
            </a:r>
            <a:endParaRPr lang="en-GB" sz="2000" i="1" dirty="0">
              <a:solidFill>
                <a:schemeClr val="tx1"/>
              </a:solidFill>
            </a:endParaRPr>
          </a:p>
          <a:p>
            <a:r>
              <a:rPr lang="en-GB" sz="2000" dirty="0"/>
              <a:t>       </a:t>
            </a:r>
            <a:r>
              <a:rPr lang="en-GB" sz="2000" dirty="0" err="1"/>
              <a:t>PrintWriter</a:t>
            </a:r>
            <a:r>
              <a:rPr lang="en-GB" sz="2000" dirty="0"/>
              <a:t> </a:t>
            </a:r>
            <a:r>
              <a:rPr lang="en-GB" sz="2000" b="1" dirty="0"/>
              <a:t>out</a:t>
            </a:r>
            <a:r>
              <a:rPr lang="en-GB" sz="2000" dirty="0"/>
              <a:t> = new </a:t>
            </a:r>
            <a:r>
              <a:rPr lang="en-GB" sz="2000" dirty="0" err="1"/>
              <a:t>PrintWriter</a:t>
            </a:r>
            <a:r>
              <a:rPr lang="en-GB" sz="2000" dirty="0"/>
              <a:t>(</a:t>
            </a:r>
            <a:r>
              <a:rPr lang="en-GB" sz="2000" dirty="0" err="1"/>
              <a:t>socket.getOutputStream</a:t>
            </a:r>
            <a:r>
              <a:rPr lang="en-GB" sz="2000" dirty="0"/>
              <a:t>(), true);</a:t>
            </a:r>
          </a:p>
          <a:p>
            <a:r>
              <a:rPr lang="en-GB" sz="2000" dirty="0"/>
              <a:t>       </a:t>
            </a:r>
            <a:r>
              <a:rPr lang="en-GB" sz="2000" dirty="0" err="1"/>
              <a:t>BufferedReader</a:t>
            </a:r>
            <a:r>
              <a:rPr lang="en-GB" sz="2000" dirty="0"/>
              <a:t> </a:t>
            </a:r>
            <a:r>
              <a:rPr lang="en-GB" sz="2000" b="1" dirty="0"/>
              <a:t>in</a:t>
            </a:r>
            <a:r>
              <a:rPr lang="en-GB" sz="2000" dirty="0"/>
              <a:t> = new </a:t>
            </a:r>
            <a:r>
              <a:rPr lang="en-GB" sz="2000" dirty="0" err="1"/>
              <a:t>BufferedReader</a:t>
            </a:r>
            <a:r>
              <a:rPr lang="en-GB" sz="2000" dirty="0"/>
              <a:t>(new </a:t>
            </a:r>
            <a:r>
              <a:rPr lang="en-GB" sz="2000" dirty="0" err="1"/>
              <a:t>InputStreamReader</a:t>
            </a:r>
            <a:r>
              <a:rPr lang="en-GB" sz="2000" dirty="0"/>
              <a:t>(</a:t>
            </a:r>
            <a:r>
              <a:rPr lang="en-GB" sz="2000" dirty="0" err="1"/>
              <a:t>socket.getInputStream</a:t>
            </a:r>
            <a:r>
              <a:rPr lang="en-GB" sz="2000" dirty="0"/>
              <a:t>()));</a:t>
            </a:r>
          </a:p>
          <a:p>
            <a:endParaRPr lang="en-GB" sz="2000" dirty="0"/>
          </a:p>
          <a:p>
            <a:r>
              <a:rPr lang="en-GB" sz="2000" dirty="0"/>
              <a:t>        Scanner </a:t>
            </a:r>
            <a:r>
              <a:rPr lang="en-GB" sz="2000" dirty="0" err="1"/>
              <a:t>clientin</a:t>
            </a:r>
            <a:r>
              <a:rPr lang="en-GB" sz="2000" dirty="0"/>
              <a:t> = new Scanner(System.in);</a:t>
            </a:r>
          </a:p>
          <a:p>
            <a:r>
              <a:rPr lang="en-GB" sz="2000" dirty="0"/>
              <a:t>        String message = </a:t>
            </a:r>
            <a:r>
              <a:rPr lang="en-GB" sz="2000" dirty="0" err="1"/>
              <a:t>clientin.nextLine</a:t>
            </a:r>
            <a:r>
              <a:rPr lang="en-GB" sz="2000" dirty="0"/>
              <a:t>(); </a:t>
            </a:r>
            <a:r>
              <a:rPr lang="en-GB" sz="2000" i="1" dirty="0"/>
              <a:t>//</a:t>
            </a:r>
            <a:r>
              <a:rPr lang="en-GB" sz="2000" i="1" dirty="0" err="1"/>
              <a:t>citeste</a:t>
            </a:r>
            <a:r>
              <a:rPr lang="en-GB" sz="2000" i="1" dirty="0"/>
              <a:t> un </a:t>
            </a:r>
            <a:r>
              <a:rPr lang="en-GB" sz="2000" i="1" dirty="0" err="1"/>
              <a:t>mesaj</a:t>
            </a:r>
            <a:r>
              <a:rPr lang="en-GB" sz="2000" i="1" dirty="0"/>
              <a:t> </a:t>
            </a:r>
          </a:p>
          <a:p>
            <a:r>
              <a:rPr lang="en-GB" sz="2000" b="1" dirty="0">
                <a:solidFill>
                  <a:srgbClr val="00B050"/>
                </a:solidFill>
              </a:rPr>
              <a:t>        </a:t>
            </a:r>
            <a:r>
              <a:rPr lang="en-GB" sz="2000" b="1" dirty="0" err="1">
                <a:solidFill>
                  <a:srgbClr val="00B050"/>
                </a:solidFill>
              </a:rPr>
              <a:t>out.println</a:t>
            </a:r>
            <a:r>
              <a:rPr lang="en-GB" sz="2000" b="1" dirty="0">
                <a:solidFill>
                  <a:srgbClr val="00B050"/>
                </a:solidFill>
              </a:rPr>
              <a:t>(message);    </a:t>
            </a:r>
            <a:r>
              <a:rPr lang="en-GB" sz="2000" b="1" i="1" dirty="0">
                <a:solidFill>
                  <a:srgbClr val="00B050"/>
                </a:solidFill>
              </a:rPr>
              <a:t>// </a:t>
            </a:r>
            <a:r>
              <a:rPr lang="en-GB" sz="2000" b="1" i="1" dirty="0" err="1">
                <a:solidFill>
                  <a:srgbClr val="00B050"/>
                </a:solidFill>
              </a:rPr>
              <a:t>mesajul</a:t>
            </a:r>
            <a:r>
              <a:rPr lang="en-GB" sz="2000" b="1" i="1" dirty="0">
                <a:solidFill>
                  <a:srgbClr val="00B050"/>
                </a:solidFill>
              </a:rPr>
              <a:t> </a:t>
            </a:r>
            <a:r>
              <a:rPr lang="en-GB" sz="2000" b="1" i="1" dirty="0" err="1">
                <a:solidFill>
                  <a:srgbClr val="00B050"/>
                </a:solidFill>
              </a:rPr>
              <a:t>este</a:t>
            </a:r>
            <a:r>
              <a:rPr lang="en-GB" sz="2000" b="1" i="1" dirty="0">
                <a:solidFill>
                  <a:srgbClr val="00B050"/>
                </a:solidFill>
              </a:rPr>
              <a:t>  </a:t>
            </a:r>
            <a:r>
              <a:rPr lang="en-GB" sz="2000" b="1" i="1" dirty="0" err="1">
                <a:solidFill>
                  <a:srgbClr val="00B050"/>
                </a:solidFill>
              </a:rPr>
              <a:t>trimis</a:t>
            </a:r>
            <a:r>
              <a:rPr lang="en-GB" sz="2000" b="1" i="1" dirty="0">
                <a:solidFill>
                  <a:srgbClr val="00B050"/>
                </a:solidFill>
              </a:rPr>
              <a:t> </a:t>
            </a:r>
            <a:r>
              <a:rPr lang="en-GB" sz="2000" b="1" i="1" dirty="0" err="1">
                <a:solidFill>
                  <a:srgbClr val="00B050"/>
                </a:solidFill>
              </a:rPr>
              <a:t>serverului</a:t>
            </a:r>
            <a:endParaRPr lang="en-GB" sz="2000" b="1" i="1" dirty="0">
              <a:solidFill>
                <a:srgbClr val="00B050"/>
              </a:solidFill>
            </a:endParaRPr>
          </a:p>
          <a:p>
            <a:r>
              <a:rPr lang="en-GB" sz="2000" dirty="0"/>
              <a:t>      </a:t>
            </a:r>
          </a:p>
          <a:p>
            <a:r>
              <a:rPr lang="en-GB" sz="2000" b="1" dirty="0">
                <a:solidFill>
                  <a:srgbClr val="00B050"/>
                </a:solidFill>
              </a:rPr>
              <a:t>        String response = </a:t>
            </a:r>
            <a:r>
              <a:rPr lang="en-GB" sz="2000" b="1" dirty="0" err="1">
                <a:solidFill>
                  <a:srgbClr val="00B050"/>
                </a:solidFill>
              </a:rPr>
              <a:t>in.readLine</a:t>
            </a:r>
            <a:r>
              <a:rPr lang="en-GB" sz="2000" b="1" dirty="0">
                <a:solidFill>
                  <a:srgbClr val="00B050"/>
                </a:solidFill>
              </a:rPr>
              <a:t>();   </a:t>
            </a:r>
            <a:r>
              <a:rPr lang="en-GB" sz="2000" b="1" i="1" dirty="0">
                <a:solidFill>
                  <a:srgbClr val="00B050"/>
                </a:solidFill>
              </a:rPr>
              <a:t>// </a:t>
            </a:r>
            <a:r>
              <a:rPr lang="en-GB" sz="2000" b="1" i="1" dirty="0" err="1">
                <a:solidFill>
                  <a:srgbClr val="00B050"/>
                </a:solidFill>
              </a:rPr>
              <a:t>mesaj</a:t>
            </a:r>
            <a:r>
              <a:rPr lang="en-GB" sz="2000" b="1" i="1" dirty="0">
                <a:solidFill>
                  <a:srgbClr val="00B050"/>
                </a:solidFill>
              </a:rPr>
              <a:t> </a:t>
            </a:r>
            <a:r>
              <a:rPr lang="en-GB" sz="2000" b="1" i="1" dirty="0" err="1">
                <a:solidFill>
                  <a:srgbClr val="00B050"/>
                </a:solidFill>
              </a:rPr>
              <a:t>primit</a:t>
            </a:r>
            <a:r>
              <a:rPr lang="en-GB" sz="2000" b="1" i="1" dirty="0">
                <a:solidFill>
                  <a:srgbClr val="00B050"/>
                </a:solidFill>
              </a:rPr>
              <a:t> de la server</a:t>
            </a:r>
          </a:p>
          <a:p>
            <a:r>
              <a:rPr lang="en-GB" sz="2000" dirty="0"/>
              <a:t>        </a:t>
            </a:r>
            <a:r>
              <a:rPr lang="en-GB" sz="2000" dirty="0" err="1"/>
              <a:t>System.out.println</a:t>
            </a:r>
            <a:r>
              <a:rPr lang="en-GB" sz="2000" dirty="0"/>
              <a:t>("From server: " + response);   </a:t>
            </a:r>
            <a:r>
              <a:rPr lang="en-GB" sz="2000" i="1" dirty="0"/>
              <a:t>// </a:t>
            </a:r>
            <a:r>
              <a:rPr lang="en-GB" sz="2000" i="1" dirty="0" err="1"/>
              <a:t>mesaj</a:t>
            </a:r>
            <a:r>
              <a:rPr lang="en-GB" sz="2000" i="1" dirty="0"/>
              <a:t> </a:t>
            </a:r>
            <a:r>
              <a:rPr lang="en-GB" sz="2000" i="1" dirty="0" err="1"/>
              <a:t>afisat</a:t>
            </a:r>
            <a:r>
              <a:rPr lang="en-GB" sz="2000" i="1" dirty="0"/>
              <a:t> pe </a:t>
            </a:r>
            <a:r>
              <a:rPr lang="en-GB" sz="2000" i="1" dirty="0" err="1"/>
              <a:t>propriul</a:t>
            </a:r>
            <a:r>
              <a:rPr lang="en-GB" sz="2000" i="1" dirty="0"/>
              <a:t> canal</a:t>
            </a:r>
          </a:p>
          <a:p>
            <a:endParaRPr lang="en-GB" sz="2000" i="1" dirty="0"/>
          </a:p>
          <a:p>
            <a:r>
              <a:rPr lang="en-GB" sz="2000" dirty="0"/>
              <a:t>        </a:t>
            </a:r>
            <a:r>
              <a:rPr lang="en-GB" sz="2000" dirty="0" err="1"/>
              <a:t>socket.close</a:t>
            </a:r>
            <a:r>
              <a:rPr lang="en-GB" sz="2000" dirty="0"/>
              <a:t>();</a:t>
            </a:r>
          </a:p>
          <a:p>
            <a:r>
              <a:rPr lang="en-GB" sz="2000" dirty="0"/>
              <a:t>}</a:t>
            </a:r>
          </a:p>
        </p:txBody>
      </p:sp>
      <p:sp>
        <p:nvSpPr>
          <p:cNvPr id="5" name="TextBox 4">
            <a:extLst>
              <a:ext uri="{FF2B5EF4-FFF2-40B4-BE49-F238E27FC236}">
                <a16:creationId xmlns:a16="http://schemas.microsoft.com/office/drawing/2014/main" id="{994EA650-3633-7DAA-9A27-49FE682D3A95}"/>
              </a:ext>
            </a:extLst>
          </p:cNvPr>
          <p:cNvSpPr txBox="1"/>
          <p:nvPr/>
        </p:nvSpPr>
        <p:spPr>
          <a:xfrm>
            <a:off x="4094480" y="5040590"/>
            <a:ext cx="6096000"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Main&gt; main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Listening on port 4242...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Request received: Ioana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Request received: Ana</a:t>
            </a:r>
          </a:p>
        </p:txBody>
      </p:sp>
      <p:sp>
        <p:nvSpPr>
          <p:cNvPr id="7" name="TextBox 6">
            <a:extLst>
              <a:ext uri="{FF2B5EF4-FFF2-40B4-BE49-F238E27FC236}">
                <a16:creationId xmlns:a16="http://schemas.microsoft.com/office/drawing/2014/main" id="{BC86790D-461D-026C-7387-0C7BFD14A77C}"/>
              </a:ext>
            </a:extLst>
          </p:cNvPr>
          <p:cNvSpPr txBox="1"/>
          <p:nvPr/>
        </p:nvSpPr>
        <p:spPr>
          <a:xfrm>
            <a:off x="8879840" y="2428934"/>
            <a:ext cx="3312160" cy="175432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endParaRPr lang="en-US" dirty="0"/>
          </a:p>
          <a:p>
            <a:pPr marL="285750" indent="-285750">
              <a:buFont typeface="Wingdings" panose="05000000000000000000" pitchFamily="2" charset="2"/>
              <a:buChar char="Ø"/>
            </a:pPr>
            <a:endParaRPr lang="en-GB" dirty="0"/>
          </a:p>
        </p:txBody>
      </p:sp>
      <p:sp>
        <p:nvSpPr>
          <p:cNvPr id="9" name="TextBox 8">
            <a:extLst>
              <a:ext uri="{FF2B5EF4-FFF2-40B4-BE49-F238E27FC236}">
                <a16:creationId xmlns:a16="http://schemas.microsoft.com/office/drawing/2014/main" id="{4E060533-0EEB-8CE6-5497-9C0E3D6E1083}"/>
              </a:ext>
            </a:extLst>
          </p:cNvPr>
          <p:cNvSpPr txBox="1"/>
          <p:nvPr/>
        </p:nvSpPr>
        <p:spPr>
          <a:xfrm>
            <a:off x="8534400" y="4932580"/>
            <a:ext cx="3230564" cy="923330"/>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 </a:t>
            </a:r>
            <a:endParaRPr lang="en-GB" dirty="0"/>
          </a:p>
        </p:txBody>
      </p:sp>
    </p:spTree>
    <p:extLst>
      <p:ext uri="{BB962C8B-B14F-4D97-AF65-F5344CB8AC3E}">
        <p14:creationId xmlns:p14="http://schemas.microsoft.com/office/powerpoint/2010/main" val="3903673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3E02E-E431-95E5-42D5-333E0099A5F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F910DBA-D4D8-65A7-0FB8-7AFBB88825FB}"/>
              </a:ext>
            </a:extLst>
          </p:cNvPr>
          <p:cNvSpPr txBox="1"/>
          <p:nvPr/>
        </p:nvSpPr>
        <p:spPr>
          <a:xfrm>
            <a:off x="393700" y="474841"/>
            <a:ext cx="10855960" cy="5016758"/>
          </a:xfrm>
          <a:prstGeom prst="rect">
            <a:avLst/>
          </a:prstGeom>
          <a:noFill/>
          <a:ln w="19050">
            <a:solidFill>
              <a:srgbClr val="00B050"/>
            </a:solidFill>
          </a:ln>
        </p:spPr>
        <p:txBody>
          <a:bodyPr wrap="square">
            <a:spAutoFit/>
          </a:bodyPr>
          <a:lstStyle/>
          <a:p>
            <a:r>
              <a:rPr lang="en-GB" sz="2000" dirty="0"/>
              <a:t>public class Client {</a:t>
            </a:r>
          </a:p>
          <a:p>
            <a:r>
              <a:rPr lang="en-GB" sz="2000" dirty="0"/>
              <a:t>    public static void main(String </a:t>
            </a:r>
            <a:r>
              <a:rPr lang="en-GB" sz="2000" dirty="0" err="1"/>
              <a:t>args</a:t>
            </a:r>
            <a:r>
              <a:rPr lang="en-GB" sz="2000" dirty="0"/>
              <a:t>[]) throws </a:t>
            </a:r>
            <a:r>
              <a:rPr lang="en-GB" sz="2000" dirty="0" err="1"/>
              <a:t>IOException</a:t>
            </a:r>
            <a:r>
              <a:rPr lang="en-GB" sz="2000" dirty="0"/>
              <a:t> </a:t>
            </a:r>
          </a:p>
          <a:p>
            <a:r>
              <a:rPr lang="en-GB" sz="2000" dirty="0"/>
              <a:t>    { Socket </a:t>
            </a:r>
            <a:r>
              <a:rPr lang="en-GB" sz="2000" dirty="0" err="1"/>
              <a:t>socket</a:t>
            </a:r>
            <a:r>
              <a:rPr lang="en-GB" sz="2000" dirty="0"/>
              <a:t> = new Socket("localhost", 9090); </a:t>
            </a:r>
          </a:p>
          <a:p>
            <a:r>
              <a:rPr lang="en-GB" sz="2000" dirty="0"/>
              <a:t> </a:t>
            </a:r>
            <a:endParaRPr lang="en-GB" sz="2000" i="1" dirty="0">
              <a:solidFill>
                <a:schemeClr val="tx1"/>
              </a:solidFill>
            </a:endParaRPr>
          </a:p>
          <a:p>
            <a:r>
              <a:rPr lang="en-GB" sz="2000" dirty="0"/>
              <a:t>       </a:t>
            </a:r>
            <a:r>
              <a:rPr lang="en-GB" sz="2000" dirty="0" err="1"/>
              <a:t>PrintWriter</a:t>
            </a:r>
            <a:r>
              <a:rPr lang="en-GB" sz="2000" dirty="0"/>
              <a:t> </a:t>
            </a:r>
            <a:r>
              <a:rPr lang="en-GB" sz="2000" b="1" dirty="0"/>
              <a:t>out</a:t>
            </a:r>
            <a:r>
              <a:rPr lang="en-GB" sz="2000" dirty="0"/>
              <a:t> = new </a:t>
            </a:r>
            <a:r>
              <a:rPr lang="en-GB" sz="2000" dirty="0" err="1"/>
              <a:t>PrintWriter</a:t>
            </a:r>
            <a:r>
              <a:rPr lang="en-GB" sz="2000" dirty="0"/>
              <a:t>(</a:t>
            </a:r>
            <a:r>
              <a:rPr lang="en-GB" sz="2000" dirty="0" err="1"/>
              <a:t>socket.getOutputStream</a:t>
            </a:r>
            <a:r>
              <a:rPr lang="en-GB" sz="2000" dirty="0"/>
              <a:t>(), true);</a:t>
            </a:r>
          </a:p>
          <a:p>
            <a:r>
              <a:rPr lang="en-GB" sz="2000" dirty="0"/>
              <a:t>       </a:t>
            </a:r>
            <a:r>
              <a:rPr lang="en-GB" sz="2000" dirty="0" err="1"/>
              <a:t>BufferedReader</a:t>
            </a:r>
            <a:r>
              <a:rPr lang="en-GB" sz="2000" dirty="0"/>
              <a:t> </a:t>
            </a:r>
            <a:r>
              <a:rPr lang="en-GB" sz="2000" b="1" dirty="0"/>
              <a:t>in</a:t>
            </a:r>
            <a:r>
              <a:rPr lang="en-GB" sz="2000" dirty="0"/>
              <a:t> = new </a:t>
            </a:r>
            <a:r>
              <a:rPr lang="en-GB" sz="2000" dirty="0" err="1"/>
              <a:t>BufferedReader</a:t>
            </a:r>
            <a:r>
              <a:rPr lang="en-GB" sz="2000" dirty="0"/>
              <a:t>(new </a:t>
            </a:r>
            <a:r>
              <a:rPr lang="en-GB" sz="2000" dirty="0" err="1"/>
              <a:t>InputStreamReader</a:t>
            </a:r>
            <a:r>
              <a:rPr lang="en-GB" sz="2000" dirty="0"/>
              <a:t>(</a:t>
            </a:r>
            <a:r>
              <a:rPr lang="en-GB" sz="2000" dirty="0" err="1"/>
              <a:t>socket.getInputStream</a:t>
            </a:r>
            <a:r>
              <a:rPr lang="en-GB" sz="2000" dirty="0"/>
              <a:t>()));</a:t>
            </a:r>
          </a:p>
          <a:p>
            <a:endParaRPr lang="en-GB" sz="2000" dirty="0"/>
          </a:p>
          <a:p>
            <a:r>
              <a:rPr lang="en-GB" sz="2000" dirty="0"/>
              <a:t>        Scanner </a:t>
            </a:r>
            <a:r>
              <a:rPr lang="en-GB" sz="2000" dirty="0" err="1"/>
              <a:t>clientin</a:t>
            </a:r>
            <a:r>
              <a:rPr lang="en-GB" sz="2000" dirty="0"/>
              <a:t> = new Scanner(System.in);</a:t>
            </a:r>
          </a:p>
          <a:p>
            <a:r>
              <a:rPr lang="en-GB" sz="2000" dirty="0"/>
              <a:t>        String message = </a:t>
            </a:r>
            <a:r>
              <a:rPr lang="en-GB" sz="2000" dirty="0" err="1"/>
              <a:t>clientin.nextLine</a:t>
            </a:r>
            <a:r>
              <a:rPr lang="en-GB" sz="2000" dirty="0"/>
              <a:t>();</a:t>
            </a:r>
          </a:p>
          <a:p>
            <a:r>
              <a:rPr lang="en-GB" sz="2000" dirty="0"/>
              <a:t>        </a:t>
            </a:r>
            <a:r>
              <a:rPr lang="en-GB" sz="2000" dirty="0" err="1"/>
              <a:t>out.println</a:t>
            </a:r>
            <a:r>
              <a:rPr lang="en-GB" sz="2000" dirty="0"/>
              <a:t>(message);    </a:t>
            </a:r>
            <a:r>
              <a:rPr lang="en-GB" sz="2000" i="1" dirty="0"/>
              <a:t>// </a:t>
            </a:r>
            <a:r>
              <a:rPr lang="en-GB" sz="2000" i="1" dirty="0" err="1"/>
              <a:t>mesaj</a:t>
            </a:r>
            <a:r>
              <a:rPr lang="en-GB" sz="2000" i="1" dirty="0"/>
              <a:t> </a:t>
            </a:r>
            <a:r>
              <a:rPr lang="en-GB" sz="2000" i="1" dirty="0" err="1"/>
              <a:t>trimis</a:t>
            </a:r>
            <a:r>
              <a:rPr lang="en-GB" sz="2000" i="1" dirty="0"/>
              <a:t> </a:t>
            </a:r>
            <a:r>
              <a:rPr lang="en-GB" sz="2000" i="1" dirty="0" err="1"/>
              <a:t>serverului</a:t>
            </a:r>
            <a:endParaRPr lang="en-GB" sz="2000" i="1" dirty="0"/>
          </a:p>
          <a:p>
            <a:r>
              <a:rPr lang="en-GB" sz="2000" dirty="0"/>
              <a:t>      </a:t>
            </a:r>
          </a:p>
          <a:p>
            <a:r>
              <a:rPr lang="en-GB" sz="2000" dirty="0"/>
              <a:t>        String response = </a:t>
            </a:r>
            <a:r>
              <a:rPr lang="en-GB" sz="2000" dirty="0" err="1"/>
              <a:t>in.readLine</a:t>
            </a:r>
            <a:r>
              <a:rPr lang="en-GB" sz="2000" dirty="0"/>
              <a:t>();   </a:t>
            </a:r>
            <a:r>
              <a:rPr lang="en-GB" sz="2000" i="1" dirty="0"/>
              <a:t>// </a:t>
            </a:r>
            <a:r>
              <a:rPr lang="en-GB" sz="2000" i="1" dirty="0" err="1"/>
              <a:t>mesaj</a:t>
            </a:r>
            <a:r>
              <a:rPr lang="en-GB" sz="2000" i="1" dirty="0"/>
              <a:t> </a:t>
            </a:r>
            <a:r>
              <a:rPr lang="en-GB" sz="2000" i="1" dirty="0" err="1"/>
              <a:t>primit</a:t>
            </a:r>
            <a:r>
              <a:rPr lang="en-GB" sz="2000" i="1" dirty="0"/>
              <a:t> de la server</a:t>
            </a:r>
          </a:p>
          <a:p>
            <a:r>
              <a:rPr lang="en-GB" sz="2000" dirty="0"/>
              <a:t>        </a:t>
            </a:r>
            <a:r>
              <a:rPr lang="en-GB" sz="2000" dirty="0" err="1"/>
              <a:t>System.out.println</a:t>
            </a:r>
            <a:r>
              <a:rPr lang="en-GB" sz="2000" dirty="0"/>
              <a:t>("From server: " + response);</a:t>
            </a:r>
          </a:p>
          <a:p>
            <a:endParaRPr lang="en-GB" sz="2000" dirty="0"/>
          </a:p>
          <a:p>
            <a:r>
              <a:rPr lang="en-GB" sz="2000" dirty="0"/>
              <a:t>        </a:t>
            </a:r>
            <a:r>
              <a:rPr lang="en-GB" sz="2000" dirty="0" err="1"/>
              <a:t>socket.close</a:t>
            </a:r>
            <a:r>
              <a:rPr lang="en-GB" sz="2000" dirty="0"/>
              <a:t>();</a:t>
            </a:r>
          </a:p>
          <a:p>
            <a:r>
              <a:rPr lang="en-GB" sz="2000" dirty="0"/>
              <a:t>}</a:t>
            </a:r>
          </a:p>
        </p:txBody>
      </p:sp>
      <p:sp>
        <p:nvSpPr>
          <p:cNvPr id="5" name="TextBox 4">
            <a:extLst>
              <a:ext uri="{FF2B5EF4-FFF2-40B4-BE49-F238E27FC236}">
                <a16:creationId xmlns:a16="http://schemas.microsoft.com/office/drawing/2014/main" id="{9D10901B-D319-2794-3862-3C3E4FE64B74}"/>
              </a:ext>
            </a:extLst>
          </p:cNvPr>
          <p:cNvSpPr txBox="1"/>
          <p:nvPr/>
        </p:nvSpPr>
        <p:spPr>
          <a:xfrm>
            <a:off x="4027232" y="4750424"/>
            <a:ext cx="6096000"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Main&gt; main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Listening on port 4242...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Request received: Ioana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rPr>
              <a:t>Request received: Ana</a:t>
            </a:r>
          </a:p>
        </p:txBody>
      </p:sp>
      <p:sp>
        <p:nvSpPr>
          <p:cNvPr id="7" name="TextBox 6">
            <a:extLst>
              <a:ext uri="{FF2B5EF4-FFF2-40B4-BE49-F238E27FC236}">
                <a16:creationId xmlns:a16="http://schemas.microsoft.com/office/drawing/2014/main" id="{71978219-A484-E1DA-137B-BD6CA18A4BDA}"/>
              </a:ext>
            </a:extLst>
          </p:cNvPr>
          <p:cNvSpPr txBox="1"/>
          <p:nvPr/>
        </p:nvSpPr>
        <p:spPr>
          <a:xfrm>
            <a:off x="8534400" y="2834640"/>
            <a:ext cx="3312160" cy="1477328"/>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r>
              <a:rPr lang="en-US" b="1" dirty="0">
                <a:solidFill>
                  <a:srgbClr val="FF0000"/>
                </a:solidFill>
              </a:rPr>
              <a:t>&gt;</a:t>
            </a:r>
          </a:p>
        </p:txBody>
      </p:sp>
      <p:sp>
        <p:nvSpPr>
          <p:cNvPr id="9" name="TextBox 8">
            <a:extLst>
              <a:ext uri="{FF2B5EF4-FFF2-40B4-BE49-F238E27FC236}">
                <a16:creationId xmlns:a16="http://schemas.microsoft.com/office/drawing/2014/main" id="{20912071-BD86-2B6A-677B-BC34DC25A18E}"/>
              </a:ext>
            </a:extLst>
          </p:cNvPr>
          <p:cNvSpPr txBox="1"/>
          <p:nvPr/>
        </p:nvSpPr>
        <p:spPr>
          <a:xfrm>
            <a:off x="8552305" y="4750424"/>
            <a:ext cx="3177665" cy="1477328"/>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a:t>
            </a:r>
          </a:p>
          <a:p>
            <a:r>
              <a:rPr lang="en-US" dirty="0"/>
              <a:t>&gt;java Client</a:t>
            </a:r>
          </a:p>
          <a:p>
            <a:r>
              <a:rPr lang="en-US" b="1" dirty="0">
                <a:solidFill>
                  <a:srgbClr val="FF0000"/>
                </a:solidFill>
              </a:rPr>
              <a:t>Exception …. </a:t>
            </a:r>
            <a:endParaRPr lang="en-GB" b="1" dirty="0">
              <a:solidFill>
                <a:srgbClr val="FF0000"/>
              </a:solidFill>
            </a:endParaRPr>
          </a:p>
        </p:txBody>
      </p:sp>
      <p:sp>
        <p:nvSpPr>
          <p:cNvPr id="2" name="TextBox 1">
            <a:extLst>
              <a:ext uri="{FF2B5EF4-FFF2-40B4-BE49-F238E27FC236}">
                <a16:creationId xmlns:a16="http://schemas.microsoft.com/office/drawing/2014/main" id="{A7AD6836-9BE7-555D-F655-0DE8B2B4BA94}"/>
              </a:ext>
            </a:extLst>
          </p:cNvPr>
          <p:cNvSpPr txBox="1"/>
          <p:nvPr/>
        </p:nvSpPr>
        <p:spPr>
          <a:xfrm>
            <a:off x="4750675" y="5536510"/>
            <a:ext cx="3607013" cy="646331"/>
          </a:xfrm>
          <a:prstGeom prst="rect">
            <a:avLst/>
          </a:prstGeom>
          <a:solidFill>
            <a:schemeClr val="bg1">
              <a:lumMod val="75000"/>
            </a:schemeClr>
          </a:solidFill>
        </p:spPr>
        <p:txBody>
          <a:bodyPr wrap="none" rtlCol="0">
            <a:spAutoFit/>
          </a:bodyPr>
          <a:lstStyle/>
          <a:p>
            <a:r>
              <a:rPr lang="en-US" dirty="0" err="1"/>
              <a:t>dupa</a:t>
            </a:r>
            <a:r>
              <a:rPr lang="en-US" dirty="0"/>
              <a:t> </a:t>
            </a:r>
            <a:r>
              <a:rPr lang="en-US" dirty="0" err="1"/>
              <a:t>ce</a:t>
            </a:r>
            <a:r>
              <a:rPr lang="en-US" dirty="0"/>
              <a:t> </a:t>
            </a:r>
            <a:r>
              <a:rPr lang="en-US" dirty="0" err="1"/>
              <a:t>trimite</a:t>
            </a:r>
            <a:r>
              <a:rPr lang="en-US" dirty="0"/>
              <a:t> "Message received!"</a:t>
            </a:r>
          </a:p>
          <a:p>
            <a:r>
              <a:rPr lang="en-US" dirty="0" err="1"/>
              <a:t>serverul</a:t>
            </a:r>
            <a:r>
              <a:rPr lang="en-US" dirty="0"/>
              <a:t> </a:t>
            </a:r>
            <a:r>
              <a:rPr lang="en-US" dirty="0" err="1"/>
              <a:t>isi</a:t>
            </a:r>
            <a:r>
              <a:rPr lang="en-US" dirty="0"/>
              <a:t> termina </a:t>
            </a:r>
            <a:r>
              <a:rPr lang="en-US" dirty="0" err="1"/>
              <a:t>executia</a:t>
            </a:r>
            <a:r>
              <a:rPr lang="en-US" dirty="0"/>
              <a:t> </a:t>
            </a:r>
            <a:endParaRPr lang="en-GB" dirty="0"/>
          </a:p>
        </p:txBody>
      </p:sp>
    </p:spTree>
    <p:extLst>
      <p:ext uri="{BB962C8B-B14F-4D97-AF65-F5344CB8AC3E}">
        <p14:creationId xmlns:p14="http://schemas.microsoft.com/office/powerpoint/2010/main" val="15891812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41611-6ED8-8281-FC57-49688D75E00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F487C23-854C-3212-0ACD-A72C820DAB94}"/>
              </a:ext>
            </a:extLst>
          </p:cNvPr>
          <p:cNvSpPr txBox="1"/>
          <p:nvPr/>
        </p:nvSpPr>
        <p:spPr>
          <a:xfrm>
            <a:off x="462030" y="287664"/>
            <a:ext cx="10855960" cy="5632311"/>
          </a:xfrm>
          <a:prstGeom prst="rect">
            <a:avLst/>
          </a:prstGeom>
          <a:noFill/>
          <a:ln w="19050">
            <a:solidFill>
              <a:srgbClr val="00B050"/>
            </a:solidFill>
          </a:ln>
        </p:spPr>
        <p:txBody>
          <a:bodyPr wrap="square">
            <a:spAutoFit/>
          </a:bodyPr>
          <a:lstStyle/>
          <a:p>
            <a:r>
              <a:rPr lang="en-GB" sz="2000" dirty="0"/>
              <a:t>public class Server {</a:t>
            </a:r>
          </a:p>
          <a:p>
            <a:r>
              <a:rPr lang="en-GB" sz="2000" dirty="0"/>
              <a:t>    public static void main(String </a:t>
            </a:r>
            <a:r>
              <a:rPr lang="en-GB" sz="2000" dirty="0" err="1"/>
              <a:t>args</a:t>
            </a:r>
            <a:r>
              <a:rPr lang="en-GB" sz="2000" dirty="0"/>
              <a:t>[]) throws </a:t>
            </a:r>
            <a:r>
              <a:rPr lang="en-GB" sz="2000" dirty="0" err="1"/>
              <a:t>IOException</a:t>
            </a:r>
            <a:r>
              <a:rPr lang="en-GB" sz="2000" dirty="0"/>
              <a:t> </a:t>
            </a:r>
          </a:p>
          <a:p>
            <a:r>
              <a:rPr lang="en-GB" sz="2000" dirty="0"/>
              <a:t>    {  </a:t>
            </a:r>
            <a:r>
              <a:rPr lang="en-GB" sz="2000" dirty="0" err="1"/>
              <a:t>ServerSocket</a:t>
            </a:r>
            <a:r>
              <a:rPr lang="en-GB" sz="2000" dirty="0"/>
              <a:t> </a:t>
            </a:r>
            <a:r>
              <a:rPr lang="en-GB" sz="2000" dirty="0" err="1"/>
              <a:t>serverSocket</a:t>
            </a:r>
            <a:r>
              <a:rPr lang="en-GB" sz="2000" dirty="0"/>
              <a:t> = new </a:t>
            </a:r>
            <a:r>
              <a:rPr lang="en-GB" sz="2000" dirty="0" err="1"/>
              <a:t>ServerSocket</a:t>
            </a:r>
            <a:r>
              <a:rPr lang="en-GB" sz="2000" dirty="0"/>
              <a:t>(9090);</a:t>
            </a:r>
          </a:p>
          <a:p>
            <a:r>
              <a:rPr lang="en-GB" sz="2000" dirty="0"/>
              <a:t>        </a:t>
            </a:r>
            <a:r>
              <a:rPr lang="en-GB" sz="2000" dirty="0" err="1"/>
              <a:t>System.out.println</a:t>
            </a:r>
            <a:r>
              <a:rPr lang="en-GB" sz="2000" dirty="0"/>
              <a:t>("Server is running");</a:t>
            </a:r>
          </a:p>
          <a:p>
            <a:r>
              <a:rPr lang="en-GB" sz="2000" b="1" dirty="0"/>
              <a:t>    while (true){</a:t>
            </a:r>
          </a:p>
          <a:p>
            <a:r>
              <a:rPr lang="en-GB" sz="2000" dirty="0"/>
              <a:t>        Socket </a:t>
            </a:r>
            <a:r>
              <a:rPr lang="en-GB" sz="2000" dirty="0" err="1"/>
              <a:t>clientSocket</a:t>
            </a:r>
            <a:r>
              <a:rPr lang="en-GB" sz="2000" dirty="0"/>
              <a:t> = </a:t>
            </a:r>
            <a:r>
              <a:rPr lang="en-GB" sz="2000" dirty="0" err="1"/>
              <a:t>serverSocket.accept</a:t>
            </a:r>
            <a:r>
              <a:rPr lang="en-GB" sz="2000" dirty="0"/>
              <a:t>();</a:t>
            </a:r>
          </a:p>
          <a:p>
            <a:r>
              <a:rPr lang="en-GB" sz="2000" dirty="0"/>
              <a:t>       </a:t>
            </a:r>
            <a:r>
              <a:rPr lang="en-GB" sz="2000" dirty="0" err="1"/>
              <a:t>System.out.println</a:t>
            </a:r>
            <a:r>
              <a:rPr lang="en-GB" sz="2000" dirty="0"/>
              <a:t>("Client connected!");</a:t>
            </a:r>
          </a:p>
          <a:p>
            <a:r>
              <a:rPr lang="en-GB" sz="2000" dirty="0"/>
              <a:t>      </a:t>
            </a:r>
          </a:p>
          <a:p>
            <a:r>
              <a:rPr lang="en-GB" sz="2000" dirty="0"/>
              <a:t>        </a:t>
            </a:r>
            <a:r>
              <a:rPr lang="en-GB" sz="2000" dirty="0" err="1"/>
              <a:t>BufferedReader</a:t>
            </a:r>
            <a:r>
              <a:rPr lang="en-GB" sz="2000" dirty="0"/>
              <a:t> in = new </a:t>
            </a:r>
            <a:r>
              <a:rPr lang="en-GB" sz="2000" dirty="0" err="1"/>
              <a:t>BufferedReader</a:t>
            </a:r>
            <a:r>
              <a:rPr lang="en-GB" sz="2000" dirty="0"/>
              <a:t>(new </a:t>
            </a:r>
            <a:r>
              <a:rPr lang="en-GB" sz="2000" dirty="0" err="1"/>
              <a:t>InputStreamReader</a:t>
            </a:r>
            <a:r>
              <a:rPr lang="en-GB" sz="2000" dirty="0"/>
              <a:t>(</a:t>
            </a:r>
            <a:r>
              <a:rPr lang="en-GB" sz="2000" dirty="0" err="1"/>
              <a:t>clientSocket.getInputStream</a:t>
            </a:r>
            <a:r>
              <a:rPr lang="en-GB" sz="2000" dirty="0"/>
              <a:t>()));</a:t>
            </a:r>
          </a:p>
          <a:p>
            <a:r>
              <a:rPr lang="en-GB" sz="2000" dirty="0"/>
              <a:t>        </a:t>
            </a:r>
            <a:r>
              <a:rPr lang="en-GB" sz="2000" dirty="0" err="1"/>
              <a:t>PrintWriter</a:t>
            </a:r>
            <a:r>
              <a:rPr lang="en-GB" sz="2000" dirty="0"/>
              <a:t> out = new </a:t>
            </a:r>
            <a:r>
              <a:rPr lang="en-GB" sz="2000" dirty="0" err="1"/>
              <a:t>PrintWriter</a:t>
            </a:r>
            <a:r>
              <a:rPr lang="en-GB" sz="2000" dirty="0"/>
              <a:t>(</a:t>
            </a:r>
            <a:r>
              <a:rPr lang="en-GB" sz="2000" dirty="0" err="1"/>
              <a:t>clientSocket.getOutputStream</a:t>
            </a:r>
            <a:r>
              <a:rPr lang="en-GB" sz="2000" dirty="0"/>
              <a:t>(), true);</a:t>
            </a:r>
          </a:p>
          <a:p>
            <a:endParaRPr lang="en-GB" sz="2000" dirty="0"/>
          </a:p>
          <a:p>
            <a:r>
              <a:rPr lang="en-GB" sz="2000" dirty="0"/>
              <a:t>         String message = </a:t>
            </a:r>
            <a:r>
              <a:rPr lang="en-GB" sz="2000" dirty="0" err="1"/>
              <a:t>in.readLine</a:t>
            </a:r>
            <a:r>
              <a:rPr lang="en-GB" sz="2000" dirty="0"/>
              <a:t>();</a:t>
            </a:r>
          </a:p>
          <a:p>
            <a:r>
              <a:rPr lang="en-GB" sz="2000" dirty="0"/>
              <a:t>         </a:t>
            </a:r>
            <a:r>
              <a:rPr lang="en-GB" sz="2000" dirty="0" err="1"/>
              <a:t>System.out.println</a:t>
            </a:r>
            <a:r>
              <a:rPr lang="en-GB" sz="2000" dirty="0"/>
              <a:t>("From client: " + message);  </a:t>
            </a:r>
          </a:p>
          <a:p>
            <a:r>
              <a:rPr lang="en-GB" sz="2000" dirty="0"/>
              <a:t>         </a:t>
            </a:r>
            <a:r>
              <a:rPr lang="en-GB" sz="2000" dirty="0" err="1"/>
              <a:t>out.println</a:t>
            </a:r>
            <a:r>
              <a:rPr lang="en-GB" sz="2000" dirty="0"/>
              <a:t>("Message received!"); </a:t>
            </a:r>
          </a:p>
          <a:p>
            <a:endParaRPr lang="en-GB" sz="2000" dirty="0"/>
          </a:p>
          <a:p>
            <a:r>
              <a:rPr lang="en-GB" sz="2000" dirty="0"/>
              <a:t>         </a:t>
            </a:r>
            <a:r>
              <a:rPr lang="en-GB" sz="2000" dirty="0" err="1"/>
              <a:t>clientSocket.close</a:t>
            </a:r>
            <a:r>
              <a:rPr lang="en-GB" sz="2000" dirty="0"/>
              <a:t>();</a:t>
            </a:r>
          </a:p>
          <a:p>
            <a:r>
              <a:rPr lang="en-GB" sz="2000" b="1" dirty="0"/>
              <a:t>}</a:t>
            </a:r>
            <a:r>
              <a:rPr lang="en-GB" sz="2000" dirty="0"/>
              <a:t>}</a:t>
            </a:r>
          </a:p>
        </p:txBody>
      </p:sp>
      <p:sp>
        <p:nvSpPr>
          <p:cNvPr id="7" name="TextBox 6">
            <a:extLst>
              <a:ext uri="{FF2B5EF4-FFF2-40B4-BE49-F238E27FC236}">
                <a16:creationId xmlns:a16="http://schemas.microsoft.com/office/drawing/2014/main" id="{E5624ADC-C41C-2EE0-5FFE-E6B4C2A1910D}"/>
              </a:ext>
            </a:extLst>
          </p:cNvPr>
          <p:cNvSpPr txBox="1"/>
          <p:nvPr/>
        </p:nvSpPr>
        <p:spPr>
          <a:xfrm>
            <a:off x="8612307" y="1397675"/>
            <a:ext cx="3117663"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r>
              <a:rPr lang="en-US" dirty="0"/>
              <a:t>Client connected!</a:t>
            </a:r>
          </a:p>
          <a:p>
            <a:r>
              <a:rPr lang="en-US" dirty="0"/>
              <a:t>From client: buna din </a:t>
            </a:r>
            <a:r>
              <a:rPr lang="en-US" dirty="0" err="1"/>
              <a:t>nou</a:t>
            </a:r>
            <a:r>
              <a:rPr lang="en-US" dirty="0"/>
              <a:t>!</a:t>
            </a:r>
          </a:p>
          <a:p>
            <a:r>
              <a:rPr lang="en-US" dirty="0"/>
              <a:t>|</a:t>
            </a:r>
          </a:p>
        </p:txBody>
      </p:sp>
      <p:sp>
        <p:nvSpPr>
          <p:cNvPr id="9" name="TextBox 8">
            <a:extLst>
              <a:ext uri="{FF2B5EF4-FFF2-40B4-BE49-F238E27FC236}">
                <a16:creationId xmlns:a16="http://schemas.microsoft.com/office/drawing/2014/main" id="{07CCC1E2-3102-84DF-B3C0-62341A2A21C5}"/>
              </a:ext>
            </a:extLst>
          </p:cNvPr>
          <p:cNvSpPr txBox="1"/>
          <p:nvPr/>
        </p:nvSpPr>
        <p:spPr>
          <a:xfrm>
            <a:off x="8623924" y="3774519"/>
            <a:ext cx="3177665"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a:t>
            </a:r>
          </a:p>
          <a:p>
            <a:r>
              <a:rPr lang="en-US" dirty="0"/>
              <a:t>&gt;java Client</a:t>
            </a:r>
          </a:p>
          <a:p>
            <a:r>
              <a:rPr lang="en-US" dirty="0"/>
              <a:t>buna din </a:t>
            </a:r>
            <a:r>
              <a:rPr lang="en-US" dirty="0" err="1"/>
              <a:t>nou</a:t>
            </a:r>
            <a:r>
              <a:rPr lang="en-US" dirty="0"/>
              <a:t>!</a:t>
            </a:r>
          </a:p>
          <a:p>
            <a:r>
              <a:rPr lang="en-US" dirty="0"/>
              <a:t>From server: Message received!</a:t>
            </a:r>
          </a:p>
          <a:p>
            <a:r>
              <a:rPr lang="en-US" dirty="0"/>
              <a:t>&gt;</a:t>
            </a:r>
          </a:p>
        </p:txBody>
      </p:sp>
    </p:spTree>
    <p:extLst>
      <p:ext uri="{BB962C8B-B14F-4D97-AF65-F5344CB8AC3E}">
        <p14:creationId xmlns:p14="http://schemas.microsoft.com/office/powerpoint/2010/main" val="2399616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CFB-EA7B-3E26-6C5B-473CDBB483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D33E9C6-36E2-0372-603D-45F4E58798A9}"/>
              </a:ext>
            </a:extLst>
          </p:cNvPr>
          <p:cNvSpPr txBox="1"/>
          <p:nvPr/>
        </p:nvSpPr>
        <p:spPr>
          <a:xfrm>
            <a:off x="393700" y="474841"/>
            <a:ext cx="10855960" cy="5940088"/>
          </a:xfrm>
          <a:prstGeom prst="rect">
            <a:avLst/>
          </a:prstGeom>
          <a:noFill/>
          <a:ln w="19050">
            <a:solidFill>
              <a:srgbClr val="00B050"/>
            </a:solidFill>
          </a:ln>
        </p:spPr>
        <p:txBody>
          <a:bodyPr wrap="square">
            <a:spAutoFit/>
          </a:bodyPr>
          <a:lstStyle/>
          <a:p>
            <a:r>
              <a:rPr lang="en-GB" sz="2000" dirty="0"/>
              <a:t>public class Client {</a:t>
            </a:r>
          </a:p>
          <a:p>
            <a:r>
              <a:rPr lang="en-GB" sz="2000" dirty="0"/>
              <a:t>    public static void main(String </a:t>
            </a:r>
            <a:r>
              <a:rPr lang="en-GB" sz="2000" dirty="0" err="1"/>
              <a:t>args</a:t>
            </a:r>
            <a:r>
              <a:rPr lang="en-GB" sz="2000" dirty="0"/>
              <a:t>[]) throws </a:t>
            </a:r>
            <a:r>
              <a:rPr lang="en-GB" sz="2000" dirty="0" err="1"/>
              <a:t>IOException</a:t>
            </a:r>
            <a:r>
              <a:rPr lang="en-GB" sz="2000" dirty="0"/>
              <a:t> </a:t>
            </a:r>
          </a:p>
          <a:p>
            <a:r>
              <a:rPr lang="en-GB" sz="2000" dirty="0"/>
              <a:t>    { Socket </a:t>
            </a:r>
            <a:r>
              <a:rPr lang="en-GB" sz="2000" dirty="0" err="1"/>
              <a:t>socket</a:t>
            </a:r>
            <a:r>
              <a:rPr lang="en-GB" sz="2000" dirty="0"/>
              <a:t> = new Socket("localhost", 9090); </a:t>
            </a:r>
          </a:p>
          <a:p>
            <a:r>
              <a:rPr lang="en-GB" sz="2000" dirty="0"/>
              <a:t> </a:t>
            </a:r>
            <a:endParaRPr lang="en-GB" sz="2000" i="1" dirty="0">
              <a:solidFill>
                <a:schemeClr val="tx1"/>
              </a:solidFill>
            </a:endParaRPr>
          </a:p>
          <a:p>
            <a:r>
              <a:rPr lang="en-GB" sz="2000" dirty="0"/>
              <a:t>       </a:t>
            </a:r>
            <a:r>
              <a:rPr lang="en-GB" sz="2000" dirty="0" err="1"/>
              <a:t>PrintWriter</a:t>
            </a:r>
            <a:r>
              <a:rPr lang="en-GB" sz="2000" dirty="0"/>
              <a:t> </a:t>
            </a:r>
            <a:r>
              <a:rPr lang="en-GB" sz="2000" b="1" dirty="0"/>
              <a:t>out</a:t>
            </a:r>
            <a:r>
              <a:rPr lang="en-GB" sz="2000" dirty="0"/>
              <a:t> = new </a:t>
            </a:r>
            <a:r>
              <a:rPr lang="en-GB" sz="2000" dirty="0" err="1"/>
              <a:t>PrintWriter</a:t>
            </a:r>
            <a:r>
              <a:rPr lang="en-GB" sz="2000" dirty="0"/>
              <a:t>(</a:t>
            </a:r>
            <a:r>
              <a:rPr lang="en-GB" sz="2000" dirty="0" err="1"/>
              <a:t>socket.getOutputStream</a:t>
            </a:r>
            <a:r>
              <a:rPr lang="en-GB" sz="2000" dirty="0"/>
              <a:t>(), true);</a:t>
            </a:r>
          </a:p>
          <a:p>
            <a:r>
              <a:rPr lang="en-GB" sz="2000" dirty="0"/>
              <a:t>       </a:t>
            </a:r>
            <a:r>
              <a:rPr lang="en-GB" sz="2000" dirty="0" err="1"/>
              <a:t>BufferedReader</a:t>
            </a:r>
            <a:r>
              <a:rPr lang="en-GB" sz="2000" dirty="0"/>
              <a:t> </a:t>
            </a:r>
            <a:r>
              <a:rPr lang="en-GB" sz="2000" b="1" dirty="0"/>
              <a:t>in</a:t>
            </a:r>
            <a:r>
              <a:rPr lang="en-GB" sz="2000" dirty="0"/>
              <a:t> = new </a:t>
            </a:r>
            <a:r>
              <a:rPr lang="en-GB" sz="2000" dirty="0" err="1"/>
              <a:t>BufferedReader</a:t>
            </a:r>
            <a:r>
              <a:rPr lang="en-GB" sz="2000" dirty="0"/>
              <a:t>(new </a:t>
            </a:r>
            <a:r>
              <a:rPr lang="en-GB" sz="2000" dirty="0" err="1"/>
              <a:t>InputStreamReader</a:t>
            </a:r>
            <a:r>
              <a:rPr lang="en-GB" sz="2000" dirty="0"/>
              <a:t>(</a:t>
            </a:r>
            <a:r>
              <a:rPr lang="en-GB" sz="2000" dirty="0" err="1"/>
              <a:t>socket.getInputStream</a:t>
            </a:r>
            <a:r>
              <a:rPr lang="en-GB" sz="2000" dirty="0"/>
              <a:t>()));</a:t>
            </a:r>
          </a:p>
          <a:p>
            <a:endParaRPr lang="en-GB" sz="2000" dirty="0"/>
          </a:p>
          <a:p>
            <a:r>
              <a:rPr lang="en-GB" sz="2000" dirty="0"/>
              <a:t>        Scanner </a:t>
            </a:r>
            <a:r>
              <a:rPr lang="en-GB" sz="2000" dirty="0" err="1"/>
              <a:t>clientin</a:t>
            </a:r>
            <a:r>
              <a:rPr lang="en-GB" sz="2000" dirty="0"/>
              <a:t> = new Scanner(System.in);</a:t>
            </a:r>
          </a:p>
          <a:p>
            <a:r>
              <a:rPr lang="en-GB" sz="2000" dirty="0"/>
              <a:t>        String message = </a:t>
            </a:r>
            <a:r>
              <a:rPr lang="en-GB" sz="2000" dirty="0" err="1"/>
              <a:t>clientin.nextLine</a:t>
            </a:r>
            <a:r>
              <a:rPr lang="en-GB" sz="2000" dirty="0"/>
              <a:t>(); </a:t>
            </a:r>
          </a:p>
          <a:p>
            <a:endParaRPr lang="en-GB" sz="2000" dirty="0"/>
          </a:p>
          <a:p>
            <a:r>
              <a:rPr lang="en-GB" sz="2000" dirty="0"/>
              <a:t>       </a:t>
            </a:r>
            <a:r>
              <a:rPr lang="en-GB" sz="2000" b="1" dirty="0"/>
              <a:t>while (!</a:t>
            </a:r>
            <a:r>
              <a:rPr lang="en-GB" sz="2000" b="1" dirty="0" err="1"/>
              <a:t>message.equals</a:t>
            </a:r>
            <a:r>
              <a:rPr lang="en-GB" sz="2000" b="1" dirty="0"/>
              <a:t>("bye")) </a:t>
            </a:r>
            <a:r>
              <a:rPr lang="en-GB" sz="2000" dirty="0"/>
              <a:t>{</a:t>
            </a:r>
          </a:p>
          <a:p>
            <a:r>
              <a:rPr lang="en-GB" sz="2000" dirty="0"/>
              <a:t>        // Receive response from the server</a:t>
            </a:r>
          </a:p>
          <a:p>
            <a:r>
              <a:rPr lang="en-GB" sz="2000" dirty="0"/>
              <a:t>        String response = </a:t>
            </a:r>
            <a:r>
              <a:rPr lang="en-GB" sz="2000" dirty="0" err="1"/>
              <a:t>in.readLine</a:t>
            </a:r>
            <a:r>
              <a:rPr lang="en-GB" sz="2000" dirty="0"/>
              <a:t>();</a:t>
            </a:r>
          </a:p>
          <a:p>
            <a:r>
              <a:rPr lang="en-GB" sz="2000" dirty="0"/>
              <a:t>        </a:t>
            </a:r>
            <a:r>
              <a:rPr lang="en-GB" sz="2000" dirty="0" err="1"/>
              <a:t>System.out.println</a:t>
            </a:r>
            <a:r>
              <a:rPr lang="en-GB" sz="2000" dirty="0"/>
              <a:t>("From server: " + response);</a:t>
            </a:r>
          </a:p>
          <a:p>
            <a:r>
              <a:rPr lang="en-GB" sz="2000" dirty="0"/>
              <a:t>        message = </a:t>
            </a:r>
            <a:r>
              <a:rPr lang="en-GB" sz="2000" dirty="0" err="1"/>
              <a:t>clientin.nextLine</a:t>
            </a:r>
            <a:r>
              <a:rPr lang="en-GB" sz="2000" dirty="0"/>
              <a:t>();</a:t>
            </a:r>
          </a:p>
          <a:p>
            <a:r>
              <a:rPr lang="en-GB" sz="2000" dirty="0"/>
              <a:t>        </a:t>
            </a:r>
            <a:r>
              <a:rPr lang="en-GB" sz="2000" dirty="0" err="1"/>
              <a:t>out.println</a:t>
            </a:r>
            <a:r>
              <a:rPr lang="en-GB" sz="2000" dirty="0"/>
              <a:t>(message);</a:t>
            </a:r>
          </a:p>
          <a:p>
            <a:r>
              <a:rPr lang="en-GB" sz="2000" dirty="0"/>
              <a:t>    }</a:t>
            </a:r>
          </a:p>
          <a:p>
            <a:r>
              <a:rPr lang="en-GB" sz="2000" dirty="0"/>
              <a:t>        </a:t>
            </a:r>
            <a:r>
              <a:rPr lang="en-GB" sz="2000" dirty="0" err="1"/>
              <a:t>socket.close</a:t>
            </a:r>
            <a:r>
              <a:rPr lang="en-GB" sz="2000" dirty="0"/>
              <a:t>();</a:t>
            </a:r>
          </a:p>
          <a:p>
            <a:r>
              <a:rPr lang="en-GB" sz="2000" dirty="0"/>
              <a:t>}</a:t>
            </a:r>
          </a:p>
        </p:txBody>
      </p:sp>
      <p:sp>
        <p:nvSpPr>
          <p:cNvPr id="9" name="TextBox 8">
            <a:extLst>
              <a:ext uri="{FF2B5EF4-FFF2-40B4-BE49-F238E27FC236}">
                <a16:creationId xmlns:a16="http://schemas.microsoft.com/office/drawing/2014/main" id="{0F71F7A2-794A-BB8C-42AD-B2454B6FCCD1}"/>
              </a:ext>
            </a:extLst>
          </p:cNvPr>
          <p:cNvSpPr txBox="1"/>
          <p:nvPr/>
        </p:nvSpPr>
        <p:spPr>
          <a:xfrm>
            <a:off x="8567736" y="3061850"/>
            <a:ext cx="3230564" cy="2585323"/>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a:t>
            </a:r>
          </a:p>
          <a:p>
            <a:r>
              <a:rPr lang="en-US" dirty="0"/>
              <a:t>buna!</a:t>
            </a:r>
          </a:p>
          <a:p>
            <a:r>
              <a:rPr lang="en-US" dirty="0"/>
              <a:t>From server: Message received! </a:t>
            </a:r>
            <a:endParaRPr lang="en-GB" dirty="0"/>
          </a:p>
          <a:p>
            <a:r>
              <a:rPr lang="en-US" dirty="0"/>
              <a:t>buna!</a:t>
            </a:r>
          </a:p>
          <a:p>
            <a:r>
              <a:rPr lang="en-US" dirty="0"/>
              <a:t>From server: Message received! </a:t>
            </a:r>
            <a:endParaRPr lang="en-GB" dirty="0"/>
          </a:p>
          <a:p>
            <a:r>
              <a:rPr lang="en-US" dirty="0"/>
              <a:t>bye</a:t>
            </a:r>
          </a:p>
          <a:p>
            <a:r>
              <a:rPr lang="en-US" dirty="0"/>
              <a:t>&gt; </a:t>
            </a:r>
            <a:endParaRPr lang="en-GB" dirty="0"/>
          </a:p>
        </p:txBody>
      </p:sp>
    </p:spTree>
    <p:extLst>
      <p:ext uri="{BB962C8B-B14F-4D97-AF65-F5344CB8AC3E}">
        <p14:creationId xmlns:p14="http://schemas.microsoft.com/office/powerpoint/2010/main" val="2778538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1A27-C431-6C93-5540-A6C40CA6CD5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CA58CBD-4DBD-6D15-FB1F-71FA543C0EF7}"/>
              </a:ext>
            </a:extLst>
          </p:cNvPr>
          <p:cNvSpPr txBox="1"/>
          <p:nvPr/>
        </p:nvSpPr>
        <p:spPr>
          <a:xfrm>
            <a:off x="393700" y="98921"/>
            <a:ext cx="11605260" cy="5940088"/>
          </a:xfrm>
          <a:prstGeom prst="rect">
            <a:avLst/>
          </a:prstGeom>
          <a:noFill/>
          <a:ln w="19050">
            <a:solidFill>
              <a:srgbClr val="00B050"/>
            </a:solidFill>
          </a:ln>
        </p:spPr>
        <p:txBody>
          <a:bodyPr wrap="square">
            <a:spAutoFit/>
          </a:bodyPr>
          <a:lstStyle/>
          <a:p>
            <a:r>
              <a:rPr lang="en-GB" sz="2000" dirty="0"/>
              <a:t>public class Server {</a:t>
            </a:r>
          </a:p>
          <a:p>
            <a:r>
              <a:rPr lang="en-GB" sz="2000" dirty="0"/>
              <a:t>    public static void main(String </a:t>
            </a:r>
            <a:r>
              <a:rPr lang="en-GB" sz="2000" dirty="0" err="1"/>
              <a:t>args</a:t>
            </a:r>
            <a:r>
              <a:rPr lang="en-GB" sz="2000" dirty="0"/>
              <a:t>[]) throws </a:t>
            </a:r>
            <a:r>
              <a:rPr lang="en-GB" sz="2000" dirty="0" err="1"/>
              <a:t>IOException</a:t>
            </a:r>
            <a:r>
              <a:rPr lang="en-GB" sz="2000" dirty="0"/>
              <a:t> </a:t>
            </a:r>
          </a:p>
          <a:p>
            <a:r>
              <a:rPr lang="en-GB" sz="2000" dirty="0"/>
              <a:t>    {  </a:t>
            </a:r>
            <a:r>
              <a:rPr lang="en-GB" sz="2000" dirty="0" err="1"/>
              <a:t>ServerSocket</a:t>
            </a:r>
            <a:r>
              <a:rPr lang="en-GB" sz="2000" dirty="0"/>
              <a:t> </a:t>
            </a:r>
            <a:r>
              <a:rPr lang="en-GB" sz="2000" dirty="0" err="1"/>
              <a:t>serverSocket</a:t>
            </a:r>
            <a:r>
              <a:rPr lang="en-GB" sz="2000" dirty="0"/>
              <a:t> = new </a:t>
            </a:r>
            <a:r>
              <a:rPr lang="en-GB" sz="2000" dirty="0" err="1"/>
              <a:t>ServerSocket</a:t>
            </a:r>
            <a:r>
              <a:rPr lang="en-GB" sz="2000" dirty="0"/>
              <a:t>(9090);</a:t>
            </a:r>
          </a:p>
          <a:p>
            <a:r>
              <a:rPr lang="en-GB" sz="2000" dirty="0"/>
              <a:t>        </a:t>
            </a:r>
            <a:r>
              <a:rPr lang="en-GB" sz="2000" dirty="0" err="1"/>
              <a:t>System.out.println</a:t>
            </a:r>
            <a:r>
              <a:rPr lang="en-GB" sz="2000" dirty="0"/>
              <a:t>("Server is running");</a:t>
            </a:r>
          </a:p>
          <a:p>
            <a:r>
              <a:rPr lang="en-GB" sz="2000" dirty="0"/>
              <a:t>    </a:t>
            </a:r>
            <a:r>
              <a:rPr lang="en-GB" sz="2000" b="1" dirty="0"/>
              <a:t>while (true){</a:t>
            </a:r>
          </a:p>
          <a:p>
            <a:r>
              <a:rPr lang="en-GB" sz="2000" dirty="0"/>
              <a:t>        Socket </a:t>
            </a:r>
            <a:r>
              <a:rPr lang="en-GB" sz="2000" dirty="0" err="1"/>
              <a:t>clientSocket</a:t>
            </a:r>
            <a:r>
              <a:rPr lang="en-GB" sz="2000" dirty="0"/>
              <a:t> = </a:t>
            </a:r>
            <a:r>
              <a:rPr lang="en-GB" sz="2000" dirty="0" err="1"/>
              <a:t>serverSocket.accept</a:t>
            </a:r>
            <a:r>
              <a:rPr lang="en-GB" sz="2000" dirty="0"/>
              <a:t>();</a:t>
            </a:r>
          </a:p>
          <a:p>
            <a:r>
              <a:rPr lang="en-GB" sz="2000" dirty="0"/>
              <a:t>       </a:t>
            </a:r>
            <a:r>
              <a:rPr lang="en-GB" sz="2000" dirty="0" err="1"/>
              <a:t>System.out.println</a:t>
            </a:r>
            <a:r>
              <a:rPr lang="en-GB" sz="2000" dirty="0"/>
              <a:t>("Client connected!");</a:t>
            </a:r>
          </a:p>
          <a:p>
            <a:r>
              <a:rPr lang="en-GB" sz="2000" dirty="0"/>
              <a:t>        </a:t>
            </a:r>
            <a:r>
              <a:rPr lang="en-GB" sz="2000" dirty="0" err="1"/>
              <a:t>BufferedReader</a:t>
            </a:r>
            <a:r>
              <a:rPr lang="en-GB" sz="2000" dirty="0"/>
              <a:t> in = new </a:t>
            </a:r>
            <a:r>
              <a:rPr lang="en-GB" sz="2000" dirty="0" err="1"/>
              <a:t>BufferedReader</a:t>
            </a:r>
            <a:r>
              <a:rPr lang="en-GB" sz="2000" dirty="0"/>
              <a:t>(new </a:t>
            </a:r>
            <a:r>
              <a:rPr lang="en-GB" sz="2000" dirty="0" err="1"/>
              <a:t>InputStreamReader</a:t>
            </a:r>
            <a:r>
              <a:rPr lang="en-GB" sz="2000" dirty="0"/>
              <a:t>(</a:t>
            </a:r>
            <a:r>
              <a:rPr lang="en-GB" sz="2000" dirty="0" err="1"/>
              <a:t>clientSocket.getInputStream</a:t>
            </a:r>
            <a:r>
              <a:rPr lang="en-GB" sz="2000" dirty="0"/>
              <a:t>()));</a:t>
            </a:r>
          </a:p>
          <a:p>
            <a:r>
              <a:rPr lang="en-GB" sz="2000" dirty="0"/>
              <a:t>        </a:t>
            </a:r>
            <a:r>
              <a:rPr lang="en-GB" sz="2000" dirty="0" err="1"/>
              <a:t>PrintWriter</a:t>
            </a:r>
            <a:r>
              <a:rPr lang="en-GB" sz="2000" dirty="0"/>
              <a:t> out = new </a:t>
            </a:r>
            <a:r>
              <a:rPr lang="en-GB" sz="2000" dirty="0" err="1"/>
              <a:t>PrintWriter</a:t>
            </a:r>
            <a:r>
              <a:rPr lang="en-GB" sz="2000" dirty="0"/>
              <a:t>(</a:t>
            </a:r>
            <a:r>
              <a:rPr lang="en-GB" sz="2000" dirty="0" err="1"/>
              <a:t>clientSocket.getOutputStream</a:t>
            </a:r>
            <a:r>
              <a:rPr lang="en-GB" sz="2000" dirty="0"/>
              <a:t>(), true);</a:t>
            </a:r>
          </a:p>
          <a:p>
            <a:endParaRPr lang="en-GB" sz="2000" dirty="0"/>
          </a:p>
          <a:p>
            <a:r>
              <a:rPr lang="en-GB" sz="2000" dirty="0"/>
              <a:t>         String message = </a:t>
            </a:r>
            <a:r>
              <a:rPr lang="en-GB" sz="2000" dirty="0" err="1"/>
              <a:t>in.readLine</a:t>
            </a:r>
            <a:r>
              <a:rPr lang="en-GB" sz="2000" dirty="0"/>
              <a:t>();</a:t>
            </a:r>
          </a:p>
          <a:p>
            <a:r>
              <a:rPr lang="en-GB" sz="2000" dirty="0"/>
              <a:t>         </a:t>
            </a:r>
            <a:r>
              <a:rPr lang="en-GB" sz="2000" dirty="0" err="1"/>
              <a:t>System.out.println</a:t>
            </a:r>
            <a:r>
              <a:rPr lang="en-GB" sz="2000" dirty="0"/>
              <a:t>("From client: " + message);  </a:t>
            </a:r>
          </a:p>
          <a:p>
            <a:r>
              <a:rPr lang="en-GB" sz="2000" dirty="0"/>
              <a:t>         </a:t>
            </a:r>
            <a:r>
              <a:rPr lang="en-GB" sz="2000" b="1" dirty="0"/>
              <a:t>while (! </a:t>
            </a:r>
            <a:r>
              <a:rPr lang="en-GB" sz="2000" b="1" dirty="0" err="1"/>
              <a:t>message.equals</a:t>
            </a:r>
            <a:r>
              <a:rPr lang="en-GB" sz="2000" b="1" dirty="0"/>
              <a:t>("bye")) </a:t>
            </a:r>
            <a:r>
              <a:rPr lang="en-GB" sz="2000" dirty="0"/>
              <a:t>{</a:t>
            </a:r>
          </a:p>
          <a:p>
            <a:pPr lvl="1"/>
            <a:r>
              <a:rPr lang="en-GB" sz="2000" dirty="0"/>
              <a:t>         </a:t>
            </a:r>
            <a:r>
              <a:rPr lang="en-GB" sz="2000" dirty="0" err="1"/>
              <a:t>out.println</a:t>
            </a:r>
            <a:r>
              <a:rPr lang="en-GB" sz="2000" dirty="0"/>
              <a:t>("Message received!"); </a:t>
            </a:r>
          </a:p>
          <a:p>
            <a:pPr lvl="1"/>
            <a:r>
              <a:rPr lang="en-GB" sz="2000" dirty="0"/>
              <a:t>          message = </a:t>
            </a:r>
            <a:r>
              <a:rPr lang="en-GB" sz="2000" dirty="0" err="1"/>
              <a:t>in.readLine</a:t>
            </a:r>
            <a:r>
              <a:rPr lang="en-GB" sz="2000" dirty="0"/>
              <a:t>();</a:t>
            </a:r>
          </a:p>
          <a:p>
            <a:pPr lvl="1"/>
            <a:r>
              <a:rPr lang="en-GB" sz="2000" dirty="0"/>
              <a:t>         </a:t>
            </a:r>
            <a:r>
              <a:rPr lang="en-GB" sz="2000" dirty="0" err="1"/>
              <a:t>System.out.println</a:t>
            </a:r>
            <a:r>
              <a:rPr lang="en-GB" sz="2000" dirty="0"/>
              <a:t>("From client: " + message);  </a:t>
            </a:r>
          </a:p>
          <a:p>
            <a:r>
              <a:rPr lang="en-GB" sz="2000" dirty="0"/>
              <a:t>               }</a:t>
            </a:r>
          </a:p>
          <a:p>
            <a:r>
              <a:rPr lang="en-GB" sz="2000" dirty="0"/>
              <a:t>     </a:t>
            </a:r>
            <a:r>
              <a:rPr lang="en-GB" sz="2000" dirty="0" err="1"/>
              <a:t>clientSocket.close</a:t>
            </a:r>
            <a:r>
              <a:rPr lang="en-GB" sz="2000" dirty="0"/>
              <a:t>();</a:t>
            </a:r>
          </a:p>
          <a:p>
            <a:r>
              <a:rPr lang="en-GB" sz="2000" dirty="0"/>
              <a:t>}}</a:t>
            </a:r>
          </a:p>
        </p:txBody>
      </p:sp>
      <p:sp>
        <p:nvSpPr>
          <p:cNvPr id="7" name="TextBox 6">
            <a:extLst>
              <a:ext uri="{FF2B5EF4-FFF2-40B4-BE49-F238E27FC236}">
                <a16:creationId xmlns:a16="http://schemas.microsoft.com/office/drawing/2014/main" id="{FF25D98E-984B-E050-A158-6DEF2D4E483A}"/>
              </a:ext>
            </a:extLst>
          </p:cNvPr>
          <p:cNvSpPr txBox="1"/>
          <p:nvPr/>
        </p:nvSpPr>
        <p:spPr>
          <a:xfrm>
            <a:off x="8615680" y="1120676"/>
            <a:ext cx="3312160" cy="2308324"/>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r>
              <a:rPr lang="en-US" dirty="0"/>
              <a:t>From client: buna!</a:t>
            </a:r>
          </a:p>
          <a:p>
            <a:r>
              <a:rPr lang="en-US" dirty="0"/>
              <a:t>From client: buna!</a:t>
            </a:r>
          </a:p>
          <a:p>
            <a:r>
              <a:rPr lang="en-US" dirty="0"/>
              <a:t>From client: bye</a:t>
            </a:r>
          </a:p>
          <a:p>
            <a:r>
              <a:rPr lang="en-US" dirty="0"/>
              <a:t>|</a:t>
            </a:r>
          </a:p>
        </p:txBody>
      </p:sp>
      <p:sp>
        <p:nvSpPr>
          <p:cNvPr id="9" name="TextBox 8">
            <a:extLst>
              <a:ext uri="{FF2B5EF4-FFF2-40B4-BE49-F238E27FC236}">
                <a16:creationId xmlns:a16="http://schemas.microsoft.com/office/drawing/2014/main" id="{A70812A5-5826-74C3-82AF-5B9DF4EACF7E}"/>
              </a:ext>
            </a:extLst>
          </p:cNvPr>
          <p:cNvSpPr txBox="1"/>
          <p:nvPr/>
        </p:nvSpPr>
        <p:spPr>
          <a:xfrm>
            <a:off x="8697276" y="3671450"/>
            <a:ext cx="3230564" cy="2585323"/>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a:t>
            </a:r>
          </a:p>
          <a:p>
            <a:r>
              <a:rPr lang="en-US" dirty="0"/>
              <a:t>buna!</a:t>
            </a:r>
          </a:p>
          <a:p>
            <a:r>
              <a:rPr lang="en-US" dirty="0"/>
              <a:t>From server: Message received! </a:t>
            </a:r>
            <a:endParaRPr lang="en-GB" dirty="0"/>
          </a:p>
          <a:p>
            <a:r>
              <a:rPr lang="en-US" dirty="0"/>
              <a:t>buna!</a:t>
            </a:r>
          </a:p>
          <a:p>
            <a:r>
              <a:rPr lang="en-US" dirty="0"/>
              <a:t>From server: Message received! </a:t>
            </a:r>
            <a:endParaRPr lang="en-GB" dirty="0"/>
          </a:p>
          <a:p>
            <a:r>
              <a:rPr lang="en-US" dirty="0"/>
              <a:t>bye</a:t>
            </a:r>
          </a:p>
          <a:p>
            <a:r>
              <a:rPr lang="en-US" dirty="0"/>
              <a:t>&gt; </a:t>
            </a:r>
            <a:endParaRPr lang="en-GB" dirty="0"/>
          </a:p>
        </p:txBody>
      </p:sp>
    </p:spTree>
    <p:extLst>
      <p:ext uri="{BB962C8B-B14F-4D97-AF65-F5344CB8AC3E}">
        <p14:creationId xmlns:p14="http://schemas.microsoft.com/office/powerpoint/2010/main" val="4189408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7422-6233-8DF0-3331-8F79D45EF10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B5ED778-784C-F756-740C-179D7B275C4A}"/>
              </a:ext>
            </a:extLst>
          </p:cNvPr>
          <p:cNvSpPr txBox="1"/>
          <p:nvPr/>
        </p:nvSpPr>
        <p:spPr>
          <a:xfrm>
            <a:off x="293370" y="249158"/>
            <a:ext cx="9846310" cy="5355312"/>
          </a:xfrm>
          <a:prstGeom prst="rect">
            <a:avLst/>
          </a:prstGeom>
          <a:noFill/>
          <a:ln w="19050">
            <a:solidFill>
              <a:srgbClr val="00B050"/>
            </a:solidFill>
          </a:ln>
        </p:spPr>
        <p:txBody>
          <a:bodyPr wrap="square">
            <a:spAutoFit/>
          </a:bodyPr>
          <a:lstStyle/>
          <a:p>
            <a:r>
              <a:rPr lang="en-GB" dirty="0"/>
              <a:t>public class Server {</a:t>
            </a:r>
          </a:p>
          <a:p>
            <a:r>
              <a:rPr lang="en-GB" dirty="0"/>
              <a:t>    public static void main(String </a:t>
            </a:r>
            <a:r>
              <a:rPr lang="en-GB" dirty="0" err="1"/>
              <a:t>args</a:t>
            </a:r>
            <a:r>
              <a:rPr lang="en-GB" dirty="0"/>
              <a:t>[]) throws </a:t>
            </a:r>
            <a:r>
              <a:rPr lang="en-GB" dirty="0" err="1"/>
              <a:t>IOException</a:t>
            </a:r>
            <a:r>
              <a:rPr lang="en-GB" dirty="0"/>
              <a:t> </a:t>
            </a:r>
          </a:p>
          <a:p>
            <a:r>
              <a:rPr lang="en-GB" dirty="0"/>
              <a:t>    {  </a:t>
            </a:r>
            <a:r>
              <a:rPr lang="en-GB" dirty="0" err="1"/>
              <a:t>ServerSocket</a:t>
            </a:r>
            <a:r>
              <a:rPr lang="en-GB" dirty="0"/>
              <a:t> </a:t>
            </a:r>
            <a:r>
              <a:rPr lang="en-GB" dirty="0" err="1"/>
              <a:t>serverSocket</a:t>
            </a:r>
            <a:r>
              <a:rPr lang="en-GB" dirty="0"/>
              <a:t> = new </a:t>
            </a:r>
            <a:r>
              <a:rPr lang="en-GB" dirty="0" err="1"/>
              <a:t>ServerSocket</a:t>
            </a:r>
            <a:r>
              <a:rPr lang="en-GB" dirty="0"/>
              <a:t>(9090);</a:t>
            </a:r>
          </a:p>
          <a:p>
            <a:r>
              <a:rPr lang="en-GB" dirty="0"/>
              <a:t>        </a:t>
            </a:r>
            <a:r>
              <a:rPr lang="en-GB" dirty="0" err="1"/>
              <a:t>System.out.println</a:t>
            </a:r>
            <a:r>
              <a:rPr lang="en-GB" dirty="0"/>
              <a:t>("Server is running");</a:t>
            </a:r>
          </a:p>
          <a:p>
            <a:r>
              <a:rPr lang="en-GB" dirty="0"/>
              <a:t>    </a:t>
            </a:r>
            <a:r>
              <a:rPr lang="en-GB" b="1" dirty="0"/>
              <a:t>while (true){</a:t>
            </a:r>
          </a:p>
          <a:p>
            <a:r>
              <a:rPr lang="en-GB" dirty="0"/>
              <a:t>        Socket </a:t>
            </a:r>
            <a:r>
              <a:rPr lang="en-GB" dirty="0" err="1"/>
              <a:t>clientSocket</a:t>
            </a:r>
            <a:r>
              <a:rPr lang="en-GB" dirty="0"/>
              <a:t> = </a:t>
            </a:r>
            <a:r>
              <a:rPr lang="en-GB" dirty="0" err="1"/>
              <a:t>serverSocket.accept</a:t>
            </a:r>
            <a:r>
              <a:rPr lang="en-GB" dirty="0"/>
              <a:t>();</a:t>
            </a:r>
          </a:p>
          <a:p>
            <a:r>
              <a:rPr lang="en-GB" dirty="0"/>
              <a:t>        </a:t>
            </a:r>
            <a:r>
              <a:rPr lang="en-GB" dirty="0" err="1"/>
              <a:t>System.out.println</a:t>
            </a:r>
            <a:r>
              <a:rPr lang="en-GB" dirty="0"/>
              <a:t>("Client connected!");</a:t>
            </a:r>
          </a:p>
          <a:p>
            <a:r>
              <a:rPr lang="en-GB" dirty="0"/>
              <a:t>        </a:t>
            </a:r>
            <a:r>
              <a:rPr lang="en-GB" dirty="0" err="1"/>
              <a:t>BufferedReader</a:t>
            </a:r>
            <a:r>
              <a:rPr lang="en-GB" dirty="0"/>
              <a:t> in = new </a:t>
            </a:r>
            <a:r>
              <a:rPr lang="en-GB" dirty="0" err="1"/>
              <a:t>BufferedReader</a:t>
            </a:r>
            <a:r>
              <a:rPr lang="en-GB" dirty="0"/>
              <a:t>(new </a:t>
            </a:r>
            <a:r>
              <a:rPr lang="en-GB" dirty="0" err="1"/>
              <a:t>InputStreamReader</a:t>
            </a:r>
            <a:r>
              <a:rPr lang="en-GB" dirty="0"/>
              <a:t>(</a:t>
            </a:r>
            <a:r>
              <a:rPr lang="en-GB" dirty="0" err="1"/>
              <a:t>clientSocket.getInputStream</a:t>
            </a:r>
            <a:r>
              <a:rPr lang="en-GB" dirty="0"/>
              <a:t>()));</a:t>
            </a:r>
          </a:p>
          <a:p>
            <a:r>
              <a:rPr lang="en-GB" dirty="0"/>
              <a:t>        </a:t>
            </a:r>
            <a:r>
              <a:rPr lang="en-GB" dirty="0" err="1"/>
              <a:t>PrintWriter</a:t>
            </a:r>
            <a:r>
              <a:rPr lang="en-GB" dirty="0"/>
              <a:t> out = new </a:t>
            </a:r>
            <a:r>
              <a:rPr lang="en-GB" dirty="0" err="1"/>
              <a:t>PrintWriter</a:t>
            </a:r>
            <a:r>
              <a:rPr lang="en-GB" dirty="0"/>
              <a:t>(</a:t>
            </a:r>
            <a:r>
              <a:rPr lang="en-GB" dirty="0" err="1"/>
              <a:t>clientSocket.getOutputStream</a:t>
            </a:r>
            <a:r>
              <a:rPr lang="en-GB" dirty="0"/>
              <a:t>(), true);</a:t>
            </a:r>
          </a:p>
          <a:p>
            <a:endParaRPr lang="en-GB" dirty="0"/>
          </a:p>
          <a:p>
            <a:r>
              <a:rPr lang="en-GB" dirty="0"/>
              <a:t>         String message = </a:t>
            </a:r>
            <a:r>
              <a:rPr lang="en-GB" dirty="0" err="1"/>
              <a:t>in.readLine</a:t>
            </a:r>
            <a:r>
              <a:rPr lang="en-GB" dirty="0"/>
              <a:t>();</a:t>
            </a:r>
          </a:p>
          <a:p>
            <a:r>
              <a:rPr lang="en-GB" dirty="0"/>
              <a:t>         </a:t>
            </a:r>
            <a:r>
              <a:rPr lang="en-GB" dirty="0" err="1"/>
              <a:t>System.out.println</a:t>
            </a:r>
            <a:r>
              <a:rPr lang="en-GB" dirty="0"/>
              <a:t>("From client: " + message);  </a:t>
            </a:r>
          </a:p>
          <a:p>
            <a:r>
              <a:rPr lang="en-GB" dirty="0"/>
              <a:t>         </a:t>
            </a:r>
            <a:r>
              <a:rPr lang="en-GB" b="1" dirty="0"/>
              <a:t>while (! </a:t>
            </a:r>
            <a:r>
              <a:rPr lang="en-GB" b="1" dirty="0" err="1"/>
              <a:t>message.equals</a:t>
            </a:r>
            <a:r>
              <a:rPr lang="en-GB" b="1" dirty="0"/>
              <a:t>("bye")) </a:t>
            </a:r>
            <a:r>
              <a:rPr lang="en-GB" dirty="0"/>
              <a:t>{</a:t>
            </a:r>
          </a:p>
          <a:p>
            <a:pPr lvl="1"/>
            <a:r>
              <a:rPr lang="en-GB" dirty="0"/>
              <a:t>         </a:t>
            </a:r>
            <a:r>
              <a:rPr lang="en-GB" dirty="0" err="1"/>
              <a:t>out.println</a:t>
            </a:r>
            <a:r>
              <a:rPr lang="en-GB" dirty="0"/>
              <a:t>("Message received!"); </a:t>
            </a:r>
          </a:p>
          <a:p>
            <a:pPr lvl="1"/>
            <a:r>
              <a:rPr lang="en-GB" dirty="0"/>
              <a:t>          message = </a:t>
            </a:r>
            <a:r>
              <a:rPr lang="en-GB" dirty="0" err="1"/>
              <a:t>in.readLine</a:t>
            </a:r>
            <a:r>
              <a:rPr lang="en-GB" dirty="0"/>
              <a:t>();</a:t>
            </a:r>
          </a:p>
          <a:p>
            <a:pPr lvl="1"/>
            <a:r>
              <a:rPr lang="en-GB" dirty="0"/>
              <a:t>         </a:t>
            </a:r>
            <a:r>
              <a:rPr lang="en-GB" dirty="0" err="1"/>
              <a:t>System.out.println</a:t>
            </a:r>
            <a:r>
              <a:rPr lang="en-GB" dirty="0"/>
              <a:t>("From client: " + message);  </a:t>
            </a:r>
          </a:p>
          <a:p>
            <a:r>
              <a:rPr lang="en-GB" dirty="0"/>
              <a:t>               }</a:t>
            </a:r>
          </a:p>
          <a:p>
            <a:r>
              <a:rPr lang="en-GB" dirty="0"/>
              <a:t>     </a:t>
            </a:r>
            <a:r>
              <a:rPr lang="en-GB" dirty="0" err="1"/>
              <a:t>clientSocket.close</a:t>
            </a:r>
            <a:r>
              <a:rPr lang="en-GB" dirty="0"/>
              <a:t>();</a:t>
            </a:r>
          </a:p>
          <a:p>
            <a:r>
              <a:rPr lang="en-GB" dirty="0"/>
              <a:t>}}</a:t>
            </a:r>
          </a:p>
        </p:txBody>
      </p:sp>
      <p:sp>
        <p:nvSpPr>
          <p:cNvPr id="7" name="TextBox 6">
            <a:extLst>
              <a:ext uri="{FF2B5EF4-FFF2-40B4-BE49-F238E27FC236}">
                <a16:creationId xmlns:a16="http://schemas.microsoft.com/office/drawing/2014/main" id="{D0756D80-A305-E43B-4209-30CE1E69608A}"/>
              </a:ext>
            </a:extLst>
          </p:cNvPr>
          <p:cNvSpPr txBox="1"/>
          <p:nvPr/>
        </p:nvSpPr>
        <p:spPr>
          <a:xfrm>
            <a:off x="7416800" y="3665974"/>
            <a:ext cx="3108960" cy="258532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r>
              <a:rPr lang="en-US" dirty="0"/>
              <a:t>From client: buna!</a:t>
            </a:r>
          </a:p>
          <a:p>
            <a:r>
              <a:rPr lang="en-US" dirty="0"/>
              <a:t>From client: bye</a:t>
            </a:r>
          </a:p>
          <a:p>
            <a:r>
              <a:rPr lang="en-US" dirty="0"/>
              <a:t>Client connected!</a:t>
            </a:r>
          </a:p>
          <a:p>
            <a:r>
              <a:rPr lang="en-US" dirty="0"/>
              <a:t>From client: hi!</a:t>
            </a:r>
          </a:p>
          <a:p>
            <a:r>
              <a:rPr lang="en-US" dirty="0"/>
              <a:t>|</a:t>
            </a:r>
          </a:p>
        </p:txBody>
      </p:sp>
      <p:sp>
        <p:nvSpPr>
          <p:cNvPr id="9" name="TextBox 8">
            <a:extLst>
              <a:ext uri="{FF2B5EF4-FFF2-40B4-BE49-F238E27FC236}">
                <a16:creationId xmlns:a16="http://schemas.microsoft.com/office/drawing/2014/main" id="{3C22372B-44EB-61C1-213F-7F6ABA2584A4}"/>
              </a:ext>
            </a:extLst>
          </p:cNvPr>
          <p:cNvSpPr txBox="1"/>
          <p:nvPr/>
        </p:nvSpPr>
        <p:spPr>
          <a:xfrm>
            <a:off x="5275896" y="1397675"/>
            <a:ext cx="3230564"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none" rtlCol="0">
            <a:spAutoFit/>
          </a:bodyPr>
          <a:lstStyle/>
          <a:p>
            <a:r>
              <a:rPr lang="en-US" dirty="0"/>
              <a:t>&gt;java Client</a:t>
            </a:r>
          </a:p>
          <a:p>
            <a:r>
              <a:rPr lang="en-US" dirty="0"/>
              <a:t>buna!</a:t>
            </a:r>
          </a:p>
          <a:p>
            <a:r>
              <a:rPr lang="en-US" dirty="0"/>
              <a:t>From server: Message received!</a:t>
            </a:r>
          </a:p>
          <a:p>
            <a:r>
              <a:rPr lang="en-US" dirty="0"/>
              <a:t>buna!</a:t>
            </a:r>
          </a:p>
          <a:p>
            <a:r>
              <a:rPr lang="en-US" dirty="0"/>
              <a:t>From server: Message received! </a:t>
            </a:r>
            <a:endParaRPr lang="en-GB" dirty="0"/>
          </a:p>
          <a:p>
            <a:r>
              <a:rPr lang="en-US" dirty="0"/>
              <a:t>bye</a:t>
            </a:r>
          </a:p>
          <a:p>
            <a:r>
              <a:rPr lang="en-US" dirty="0"/>
              <a:t>&gt; </a:t>
            </a:r>
            <a:endParaRPr lang="en-GB" dirty="0"/>
          </a:p>
        </p:txBody>
      </p:sp>
      <p:sp>
        <p:nvSpPr>
          <p:cNvPr id="3" name="TextBox 2">
            <a:extLst>
              <a:ext uri="{FF2B5EF4-FFF2-40B4-BE49-F238E27FC236}">
                <a16:creationId xmlns:a16="http://schemas.microsoft.com/office/drawing/2014/main" id="{40EAFBAA-1E15-4D29-A2AF-1E55184A3E71}"/>
              </a:ext>
            </a:extLst>
          </p:cNvPr>
          <p:cNvSpPr txBox="1"/>
          <p:nvPr/>
        </p:nvSpPr>
        <p:spPr>
          <a:xfrm>
            <a:off x="8666480" y="1397675"/>
            <a:ext cx="3312160" cy="92333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t>&gt;java Client</a:t>
            </a:r>
          </a:p>
          <a:p>
            <a:r>
              <a:rPr lang="en-US" dirty="0"/>
              <a:t>hi!</a:t>
            </a:r>
          </a:p>
          <a:p>
            <a:r>
              <a:rPr lang="en-US" dirty="0"/>
              <a:t>From server: Message received!</a:t>
            </a:r>
          </a:p>
        </p:txBody>
      </p:sp>
      <p:sp>
        <p:nvSpPr>
          <p:cNvPr id="5" name="TextBox 4">
            <a:extLst>
              <a:ext uri="{FF2B5EF4-FFF2-40B4-BE49-F238E27FC236}">
                <a16:creationId xmlns:a16="http://schemas.microsoft.com/office/drawing/2014/main" id="{36DA4213-A70B-DE58-8C50-3C2E14A82E83}"/>
              </a:ext>
            </a:extLst>
          </p:cNvPr>
          <p:cNvSpPr txBox="1"/>
          <p:nvPr/>
        </p:nvSpPr>
        <p:spPr>
          <a:xfrm>
            <a:off x="3205656" y="5404415"/>
            <a:ext cx="4081604" cy="461665"/>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t>Clientii</a:t>
            </a:r>
            <a:r>
              <a:rPr lang="en-US" sz="2400" dirty="0"/>
              <a:t> sunt </a:t>
            </a:r>
            <a:r>
              <a:rPr lang="en-US" sz="2400" dirty="0" err="1"/>
              <a:t>serviti</a:t>
            </a:r>
            <a:r>
              <a:rPr lang="en-US" sz="2400" dirty="0"/>
              <a:t> </a:t>
            </a:r>
            <a:r>
              <a:rPr lang="en-US" sz="2400" dirty="0" err="1"/>
              <a:t>secvential</a:t>
            </a:r>
            <a:r>
              <a:rPr lang="en-US" sz="2400" dirty="0"/>
              <a:t>!</a:t>
            </a:r>
            <a:endParaRPr lang="en-GB" sz="2400" dirty="0"/>
          </a:p>
        </p:txBody>
      </p:sp>
    </p:spTree>
    <p:extLst>
      <p:ext uri="{BB962C8B-B14F-4D97-AF65-F5344CB8AC3E}">
        <p14:creationId xmlns:p14="http://schemas.microsoft.com/office/powerpoint/2010/main" val="12522206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68748-A9D0-721A-66A0-33EFBDBEBB9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19A9BCE-57BB-BB01-184E-73C3A150E150}"/>
              </a:ext>
            </a:extLst>
          </p:cNvPr>
          <p:cNvSpPr txBox="1"/>
          <p:nvPr/>
        </p:nvSpPr>
        <p:spPr>
          <a:xfrm>
            <a:off x="586740" y="100379"/>
            <a:ext cx="10558780" cy="6217087"/>
          </a:xfrm>
          <a:prstGeom prst="rect">
            <a:avLst/>
          </a:prstGeom>
          <a:noFill/>
          <a:ln w="19050">
            <a:solidFill>
              <a:srgbClr val="00B050"/>
            </a:solidFill>
          </a:ln>
        </p:spPr>
        <p:txBody>
          <a:bodyPr wrap="square">
            <a:spAutoFit/>
          </a:bodyPr>
          <a:lstStyle/>
          <a:p>
            <a:r>
              <a:rPr lang="en-GB" dirty="0"/>
              <a:t>public class </a:t>
            </a:r>
            <a:r>
              <a:rPr lang="en-GB" dirty="0" err="1"/>
              <a:t>ServerMT</a:t>
            </a:r>
            <a:r>
              <a:rPr lang="en-GB" dirty="0"/>
              <a:t> </a:t>
            </a:r>
            <a:r>
              <a:rPr lang="en-GB" b="1" dirty="0"/>
              <a:t>implements Runnable</a:t>
            </a:r>
            <a:r>
              <a:rPr lang="en-GB" dirty="0"/>
              <a:t> {</a:t>
            </a:r>
          </a:p>
          <a:p>
            <a:r>
              <a:rPr lang="en-GB" b="1" dirty="0"/>
              <a:t>private Socket </a:t>
            </a:r>
            <a:r>
              <a:rPr lang="en-GB" b="1" dirty="0" err="1"/>
              <a:t>clientSocket</a:t>
            </a:r>
            <a:r>
              <a:rPr lang="en-GB" b="1" dirty="0"/>
              <a:t>;</a:t>
            </a:r>
          </a:p>
          <a:p>
            <a:r>
              <a:rPr lang="en-GB" dirty="0"/>
              <a:t>     </a:t>
            </a:r>
          </a:p>
          <a:p>
            <a:r>
              <a:rPr lang="en-GB" dirty="0"/>
              <a:t>public static void main(String </a:t>
            </a:r>
            <a:r>
              <a:rPr lang="en-GB" dirty="0" err="1"/>
              <a:t>args</a:t>
            </a:r>
            <a:r>
              <a:rPr lang="en-GB" dirty="0"/>
              <a:t>[])</a:t>
            </a:r>
          </a:p>
          <a:p>
            <a:r>
              <a:rPr lang="en-GB" dirty="0"/>
              <a:t>    {  </a:t>
            </a:r>
            <a:r>
              <a:rPr lang="en-GB" dirty="0" err="1"/>
              <a:t>ServerSocket</a:t>
            </a:r>
            <a:r>
              <a:rPr lang="en-GB" dirty="0"/>
              <a:t> </a:t>
            </a:r>
            <a:r>
              <a:rPr lang="en-GB" dirty="0" err="1"/>
              <a:t>serverSocket</a:t>
            </a:r>
            <a:r>
              <a:rPr lang="en-GB" dirty="0"/>
              <a:t> = new </a:t>
            </a:r>
            <a:r>
              <a:rPr lang="en-GB" dirty="0" err="1"/>
              <a:t>ServerSocket</a:t>
            </a:r>
            <a:r>
              <a:rPr lang="en-GB" dirty="0"/>
              <a:t>(9090);</a:t>
            </a:r>
          </a:p>
          <a:p>
            <a:r>
              <a:rPr lang="en-GB" dirty="0"/>
              <a:t>        </a:t>
            </a:r>
            <a:r>
              <a:rPr lang="en-GB" dirty="0" err="1"/>
              <a:t>System.out.println</a:t>
            </a:r>
            <a:r>
              <a:rPr lang="en-GB" dirty="0"/>
              <a:t>("Server is running");</a:t>
            </a:r>
          </a:p>
          <a:p>
            <a:r>
              <a:rPr lang="en-GB" dirty="0"/>
              <a:t>        while (true){</a:t>
            </a:r>
          </a:p>
          <a:p>
            <a:r>
              <a:rPr lang="en-GB" dirty="0"/>
              <a:t>        Socket </a:t>
            </a:r>
            <a:r>
              <a:rPr lang="en-GB" dirty="0" err="1"/>
              <a:t>cSocket</a:t>
            </a:r>
            <a:r>
              <a:rPr lang="en-GB" dirty="0"/>
              <a:t> = </a:t>
            </a:r>
            <a:r>
              <a:rPr lang="en-GB" dirty="0" err="1"/>
              <a:t>serverSocket.accept</a:t>
            </a:r>
            <a:r>
              <a:rPr lang="en-GB" dirty="0"/>
              <a:t>();</a:t>
            </a:r>
          </a:p>
          <a:p>
            <a:r>
              <a:rPr lang="en-GB" dirty="0"/>
              <a:t>        </a:t>
            </a:r>
            <a:r>
              <a:rPr lang="en-GB" dirty="0" err="1"/>
              <a:t>System.out.println</a:t>
            </a:r>
            <a:r>
              <a:rPr lang="en-GB" dirty="0"/>
              <a:t>("Client connected!");</a:t>
            </a:r>
          </a:p>
          <a:p>
            <a:r>
              <a:rPr lang="en-GB" dirty="0"/>
              <a:t>        </a:t>
            </a:r>
            <a:r>
              <a:rPr lang="en-GB" b="1" dirty="0"/>
              <a:t>Thread </a:t>
            </a:r>
            <a:r>
              <a:rPr lang="en-GB" b="1" dirty="0" err="1"/>
              <a:t>clientThread</a:t>
            </a:r>
            <a:r>
              <a:rPr lang="en-GB" b="1" dirty="0"/>
              <a:t> = new Thread (new </a:t>
            </a:r>
            <a:r>
              <a:rPr lang="en-GB" b="1" dirty="0" err="1"/>
              <a:t>ServerMT</a:t>
            </a:r>
            <a:r>
              <a:rPr lang="en-GB" b="1" dirty="0"/>
              <a:t> (</a:t>
            </a:r>
            <a:r>
              <a:rPr lang="en-GB" b="1" dirty="0" err="1"/>
              <a:t>cSocket</a:t>
            </a:r>
            <a:r>
              <a:rPr lang="en-GB" b="1" dirty="0"/>
              <a:t>));</a:t>
            </a:r>
          </a:p>
          <a:p>
            <a:r>
              <a:rPr lang="en-GB" b="1" dirty="0"/>
              <a:t>        </a:t>
            </a:r>
            <a:r>
              <a:rPr lang="en-GB" b="1" dirty="0" err="1"/>
              <a:t>clientThread.start</a:t>
            </a:r>
            <a:r>
              <a:rPr lang="en-GB" b="1" dirty="0"/>
              <a:t>(); </a:t>
            </a:r>
            <a:r>
              <a:rPr lang="en-GB" dirty="0"/>
              <a:t>}}</a:t>
            </a:r>
          </a:p>
          <a:p>
            <a:endParaRPr lang="en-GB" dirty="0"/>
          </a:p>
          <a:p>
            <a:r>
              <a:rPr lang="en-GB" dirty="0"/>
              <a:t> </a:t>
            </a:r>
            <a:r>
              <a:rPr lang="en-GB" b="1" dirty="0"/>
              <a:t>public </a:t>
            </a:r>
            <a:r>
              <a:rPr lang="en-GB" b="1" dirty="0" err="1"/>
              <a:t>ServerMT</a:t>
            </a:r>
            <a:r>
              <a:rPr lang="en-GB" b="1" dirty="0"/>
              <a:t>(Socket s){</a:t>
            </a:r>
            <a:r>
              <a:rPr lang="en-GB" b="1" dirty="0" err="1"/>
              <a:t>this.clientSocket</a:t>
            </a:r>
            <a:r>
              <a:rPr lang="en-GB" b="1" dirty="0"/>
              <a:t> =s;} </a:t>
            </a:r>
          </a:p>
          <a:p>
            <a:endParaRPr lang="en-GB" dirty="0"/>
          </a:p>
          <a:p>
            <a:r>
              <a:rPr lang="en-GB" dirty="0"/>
              <a:t>  public void run()  { </a:t>
            </a:r>
          </a:p>
          <a:p>
            <a:r>
              <a:rPr lang="en-GB" dirty="0"/>
              <a:t>        </a:t>
            </a:r>
            <a:r>
              <a:rPr lang="en-GB" dirty="0" err="1"/>
              <a:t>BufferedReader</a:t>
            </a:r>
            <a:r>
              <a:rPr lang="en-GB" dirty="0"/>
              <a:t> in = new </a:t>
            </a:r>
            <a:r>
              <a:rPr lang="en-GB" dirty="0" err="1"/>
              <a:t>BufferedReader</a:t>
            </a:r>
            <a:r>
              <a:rPr lang="en-GB" dirty="0"/>
              <a:t>(new </a:t>
            </a:r>
            <a:r>
              <a:rPr lang="en-GB" dirty="0" err="1"/>
              <a:t>InputStreamReader</a:t>
            </a:r>
            <a:r>
              <a:rPr lang="en-GB" dirty="0"/>
              <a:t>(</a:t>
            </a:r>
            <a:r>
              <a:rPr lang="en-GB" dirty="0" err="1"/>
              <a:t>clientSocket.getInputStream</a:t>
            </a:r>
            <a:r>
              <a:rPr lang="en-GB" dirty="0"/>
              <a:t>()));</a:t>
            </a:r>
          </a:p>
          <a:p>
            <a:r>
              <a:rPr lang="en-GB" dirty="0"/>
              <a:t>        </a:t>
            </a:r>
            <a:r>
              <a:rPr lang="en-GB" dirty="0" err="1"/>
              <a:t>PrintWriter</a:t>
            </a:r>
            <a:r>
              <a:rPr lang="en-GB" dirty="0"/>
              <a:t> out = new </a:t>
            </a:r>
            <a:r>
              <a:rPr lang="en-GB" dirty="0" err="1"/>
              <a:t>PrintWriter</a:t>
            </a:r>
            <a:r>
              <a:rPr lang="en-GB" dirty="0"/>
              <a:t>(</a:t>
            </a:r>
            <a:r>
              <a:rPr lang="en-GB" dirty="0" err="1"/>
              <a:t>clientSocket.getOutputStream</a:t>
            </a:r>
            <a:r>
              <a:rPr lang="en-GB" dirty="0"/>
              <a:t>(), true);</a:t>
            </a:r>
          </a:p>
          <a:p>
            <a:r>
              <a:rPr lang="en-GB" dirty="0"/>
              <a:t>         String message = </a:t>
            </a:r>
            <a:r>
              <a:rPr lang="en-GB" dirty="0" err="1"/>
              <a:t>in.readLine</a:t>
            </a:r>
            <a:r>
              <a:rPr lang="en-GB" dirty="0"/>
              <a:t>();  </a:t>
            </a:r>
            <a:r>
              <a:rPr lang="en-GB" dirty="0" err="1"/>
              <a:t>System.out.println</a:t>
            </a:r>
            <a:r>
              <a:rPr lang="en-GB" dirty="0"/>
              <a:t>("From client: " + message);  </a:t>
            </a:r>
          </a:p>
          <a:p>
            <a:r>
              <a:rPr lang="en-GB" dirty="0"/>
              <a:t>         while (! </a:t>
            </a:r>
            <a:r>
              <a:rPr lang="en-GB" dirty="0" err="1"/>
              <a:t>message.equals</a:t>
            </a:r>
            <a:r>
              <a:rPr lang="en-GB" dirty="0"/>
              <a:t>("bye"))</a:t>
            </a:r>
            <a:r>
              <a:rPr lang="en-GB" b="1" dirty="0"/>
              <a:t> </a:t>
            </a:r>
            <a:r>
              <a:rPr lang="en-GB" dirty="0"/>
              <a:t>{</a:t>
            </a:r>
          </a:p>
          <a:p>
            <a:pPr lvl="1"/>
            <a:r>
              <a:rPr lang="en-GB" dirty="0"/>
              <a:t> </a:t>
            </a:r>
            <a:r>
              <a:rPr lang="en-GB" dirty="0" err="1"/>
              <a:t>out.println</a:t>
            </a:r>
            <a:r>
              <a:rPr lang="en-GB" dirty="0"/>
              <a:t>("Message received!");  message = </a:t>
            </a:r>
            <a:r>
              <a:rPr lang="en-GB" dirty="0" err="1"/>
              <a:t>in.readLine</a:t>
            </a:r>
            <a:r>
              <a:rPr lang="en-GB" dirty="0"/>
              <a:t>(); </a:t>
            </a:r>
            <a:r>
              <a:rPr lang="en-GB" dirty="0" err="1"/>
              <a:t>System.out.println</a:t>
            </a:r>
            <a:r>
              <a:rPr lang="en-GB" dirty="0"/>
              <a:t>("From client: " + message);</a:t>
            </a:r>
          </a:p>
          <a:p>
            <a:pPr lvl="1"/>
            <a:r>
              <a:rPr lang="en-GB" dirty="0"/>
              <a:t>  }</a:t>
            </a:r>
          </a:p>
          <a:p>
            <a:r>
              <a:rPr lang="en-GB" dirty="0"/>
              <a:t>        </a:t>
            </a:r>
            <a:r>
              <a:rPr lang="en-GB" dirty="0" err="1"/>
              <a:t>clientSocket.close</a:t>
            </a:r>
            <a:r>
              <a:rPr lang="en-GB" dirty="0"/>
              <a:t>();}</a:t>
            </a:r>
            <a:r>
              <a:rPr lang="en-GB" sz="2000" dirty="0"/>
              <a:t>}</a:t>
            </a:r>
          </a:p>
        </p:txBody>
      </p:sp>
      <p:sp>
        <p:nvSpPr>
          <p:cNvPr id="2" name="TextBox 1">
            <a:extLst>
              <a:ext uri="{FF2B5EF4-FFF2-40B4-BE49-F238E27FC236}">
                <a16:creationId xmlns:a16="http://schemas.microsoft.com/office/drawing/2014/main" id="{33560885-9A64-B501-4A0D-9981DF7EDCD5}"/>
              </a:ext>
            </a:extLst>
          </p:cNvPr>
          <p:cNvSpPr txBox="1"/>
          <p:nvPr/>
        </p:nvSpPr>
        <p:spPr>
          <a:xfrm>
            <a:off x="6197012" y="3024256"/>
            <a:ext cx="4564968" cy="369332"/>
          </a:xfrm>
          <a:prstGeom prst="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am  </a:t>
            </a:r>
            <a:r>
              <a:rPr lang="en-US" dirty="0" err="1"/>
              <a:t>creat</a:t>
            </a:r>
            <a:r>
              <a:rPr lang="en-US" dirty="0"/>
              <a:t> </a:t>
            </a:r>
            <a:r>
              <a:rPr lang="en-US" b="1" dirty="0"/>
              <a:t>cate un thread </a:t>
            </a:r>
            <a:r>
              <a:rPr lang="en-US" dirty="0" err="1"/>
              <a:t>pentru</a:t>
            </a:r>
            <a:r>
              <a:rPr lang="en-US" dirty="0"/>
              <a:t> </a:t>
            </a:r>
            <a:r>
              <a:rPr lang="en-US" dirty="0" err="1"/>
              <a:t>fiecare</a:t>
            </a:r>
            <a:r>
              <a:rPr lang="en-US" dirty="0"/>
              <a:t> client</a:t>
            </a:r>
            <a:endParaRPr lang="en-GB" dirty="0"/>
          </a:p>
        </p:txBody>
      </p:sp>
      <p:sp>
        <p:nvSpPr>
          <p:cNvPr id="4" name="TextBox 3">
            <a:extLst>
              <a:ext uri="{FF2B5EF4-FFF2-40B4-BE49-F238E27FC236}">
                <a16:creationId xmlns:a16="http://schemas.microsoft.com/office/drawing/2014/main" id="{5614AB2C-754C-3235-B8A3-58C463D6548D}"/>
              </a:ext>
            </a:extLst>
          </p:cNvPr>
          <p:cNvSpPr txBox="1"/>
          <p:nvPr/>
        </p:nvSpPr>
        <p:spPr>
          <a:xfrm>
            <a:off x="7142480" y="355868"/>
            <a:ext cx="3779520" cy="369332"/>
          </a:xfrm>
          <a:prstGeom prst="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t>main</a:t>
            </a:r>
            <a:r>
              <a:rPr lang="en-US" dirty="0"/>
              <a:t> </a:t>
            </a:r>
            <a:r>
              <a:rPr lang="en-US" dirty="0" err="1"/>
              <a:t>si</a:t>
            </a:r>
            <a:r>
              <a:rPr lang="en-US" dirty="0"/>
              <a:t> </a:t>
            </a:r>
            <a:r>
              <a:rPr lang="en-US" b="1" dirty="0"/>
              <a:t>run</a:t>
            </a:r>
            <a:r>
              <a:rPr lang="en-US" dirty="0"/>
              <a:t> </a:t>
            </a:r>
            <a:r>
              <a:rPr lang="en-US" dirty="0" err="1"/>
              <a:t>trebuie</a:t>
            </a:r>
            <a:r>
              <a:rPr lang="en-US" dirty="0"/>
              <a:t> </a:t>
            </a:r>
            <a:r>
              <a:rPr lang="en-US" dirty="0" err="1"/>
              <a:t>scrise</a:t>
            </a:r>
            <a:r>
              <a:rPr lang="en-US" dirty="0"/>
              <a:t> cu try-catch</a:t>
            </a:r>
            <a:endParaRPr lang="en-GB" dirty="0"/>
          </a:p>
        </p:txBody>
      </p:sp>
    </p:spTree>
    <p:extLst>
      <p:ext uri="{BB962C8B-B14F-4D97-AF65-F5344CB8AC3E}">
        <p14:creationId xmlns:p14="http://schemas.microsoft.com/office/powerpoint/2010/main" val="725634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EA1E-EC77-770B-CEE3-880ED55DCF3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1D595B0-F63E-52CB-87D4-CC9BFE8290D0}"/>
              </a:ext>
            </a:extLst>
          </p:cNvPr>
          <p:cNvSpPr txBox="1"/>
          <p:nvPr/>
        </p:nvSpPr>
        <p:spPr>
          <a:xfrm>
            <a:off x="293370" y="249158"/>
            <a:ext cx="9846310" cy="5509200"/>
          </a:xfrm>
          <a:prstGeom prst="rect">
            <a:avLst/>
          </a:prstGeom>
          <a:noFill/>
          <a:ln w="19050">
            <a:solidFill>
              <a:srgbClr val="00B050"/>
            </a:solidFill>
          </a:ln>
        </p:spPr>
        <p:txBody>
          <a:bodyPr wrap="square">
            <a:spAutoFit/>
          </a:bodyPr>
          <a:lstStyle/>
          <a:p>
            <a:r>
              <a:rPr lang="en-GB" sz="1600" dirty="0"/>
              <a:t>public class </a:t>
            </a:r>
            <a:r>
              <a:rPr lang="en-GB" sz="1600" dirty="0" err="1"/>
              <a:t>ServerMT</a:t>
            </a:r>
            <a:r>
              <a:rPr lang="en-GB" sz="1600" dirty="0"/>
              <a:t> implements Runnable {</a:t>
            </a:r>
          </a:p>
          <a:p>
            <a:r>
              <a:rPr lang="en-GB" sz="1600" dirty="0"/>
              <a:t>private Socket </a:t>
            </a:r>
            <a:r>
              <a:rPr lang="en-GB" sz="1600" dirty="0" err="1"/>
              <a:t>clientSocket</a:t>
            </a:r>
            <a:r>
              <a:rPr lang="en-GB" sz="1600" dirty="0"/>
              <a:t>;</a:t>
            </a:r>
          </a:p>
          <a:p>
            <a:r>
              <a:rPr lang="en-GB" sz="1600" dirty="0"/>
              <a:t>     </a:t>
            </a:r>
          </a:p>
          <a:p>
            <a:r>
              <a:rPr lang="en-GB" sz="1600" dirty="0"/>
              <a:t>public static void main(String </a:t>
            </a:r>
            <a:r>
              <a:rPr lang="en-GB" sz="1600" dirty="0" err="1"/>
              <a:t>args</a:t>
            </a:r>
            <a:r>
              <a:rPr lang="en-GB" sz="1600" dirty="0"/>
              <a:t>[])</a:t>
            </a:r>
          </a:p>
          <a:p>
            <a:r>
              <a:rPr lang="en-GB" sz="1600" dirty="0"/>
              <a:t>    {  </a:t>
            </a:r>
            <a:r>
              <a:rPr lang="en-GB" sz="1600" dirty="0" err="1"/>
              <a:t>ServerSocket</a:t>
            </a:r>
            <a:r>
              <a:rPr lang="en-GB" sz="1600" dirty="0"/>
              <a:t> </a:t>
            </a:r>
            <a:r>
              <a:rPr lang="en-GB" sz="1600" dirty="0" err="1"/>
              <a:t>serverSocket</a:t>
            </a:r>
            <a:r>
              <a:rPr lang="en-GB" sz="1600" dirty="0"/>
              <a:t> = new </a:t>
            </a:r>
            <a:r>
              <a:rPr lang="en-GB" sz="1600" dirty="0" err="1"/>
              <a:t>ServerSocket</a:t>
            </a:r>
            <a:r>
              <a:rPr lang="en-GB" sz="1600" dirty="0"/>
              <a:t>(9090);</a:t>
            </a:r>
          </a:p>
          <a:p>
            <a:r>
              <a:rPr lang="en-GB" sz="1600" dirty="0"/>
              <a:t>        </a:t>
            </a:r>
            <a:r>
              <a:rPr lang="en-GB" sz="1600" dirty="0" err="1"/>
              <a:t>System.out.println</a:t>
            </a:r>
            <a:r>
              <a:rPr lang="en-GB" sz="1600" dirty="0"/>
              <a:t>("Server is running");</a:t>
            </a:r>
          </a:p>
          <a:p>
            <a:r>
              <a:rPr lang="en-GB" sz="1600" dirty="0"/>
              <a:t>        while (true){</a:t>
            </a:r>
          </a:p>
          <a:p>
            <a:r>
              <a:rPr lang="en-GB" sz="1600" dirty="0"/>
              <a:t>        Socket </a:t>
            </a:r>
            <a:r>
              <a:rPr lang="en-GB" sz="1600" dirty="0" err="1"/>
              <a:t>cSocket</a:t>
            </a:r>
            <a:r>
              <a:rPr lang="en-GB" sz="1600" dirty="0"/>
              <a:t> = </a:t>
            </a:r>
            <a:r>
              <a:rPr lang="en-GB" sz="1600" dirty="0" err="1"/>
              <a:t>serverSocket.accept</a:t>
            </a:r>
            <a:r>
              <a:rPr lang="en-GB" sz="1600" dirty="0"/>
              <a:t>();</a:t>
            </a:r>
          </a:p>
          <a:p>
            <a:r>
              <a:rPr lang="en-GB" sz="1600" dirty="0"/>
              <a:t>        </a:t>
            </a:r>
            <a:r>
              <a:rPr lang="en-GB" sz="1600" dirty="0" err="1"/>
              <a:t>System.out.println</a:t>
            </a:r>
            <a:r>
              <a:rPr lang="en-GB" sz="1600" dirty="0"/>
              <a:t>("Client connected!");</a:t>
            </a:r>
          </a:p>
          <a:p>
            <a:r>
              <a:rPr lang="en-GB" sz="1600" dirty="0"/>
              <a:t>        Thread </a:t>
            </a:r>
            <a:r>
              <a:rPr lang="en-GB" sz="1600" dirty="0" err="1"/>
              <a:t>clientThread</a:t>
            </a:r>
            <a:r>
              <a:rPr lang="en-GB" sz="1600" dirty="0"/>
              <a:t> = new Thread (new </a:t>
            </a:r>
            <a:r>
              <a:rPr lang="en-GB" sz="1600" dirty="0" err="1"/>
              <a:t>ServerMT</a:t>
            </a:r>
            <a:r>
              <a:rPr lang="en-GB" sz="1600" dirty="0"/>
              <a:t> (</a:t>
            </a:r>
            <a:r>
              <a:rPr lang="en-GB" sz="1600" dirty="0" err="1"/>
              <a:t>cSocket</a:t>
            </a:r>
            <a:r>
              <a:rPr lang="en-GB" sz="1600" dirty="0"/>
              <a:t>));</a:t>
            </a:r>
          </a:p>
          <a:p>
            <a:r>
              <a:rPr lang="en-GB" sz="1600" dirty="0"/>
              <a:t>        </a:t>
            </a:r>
            <a:r>
              <a:rPr lang="en-GB" sz="1600" dirty="0" err="1"/>
              <a:t>clientThread.start</a:t>
            </a:r>
            <a:r>
              <a:rPr lang="en-GB" sz="1600" dirty="0"/>
              <a:t>(); }}</a:t>
            </a:r>
          </a:p>
          <a:p>
            <a:endParaRPr lang="en-GB" sz="1600" dirty="0"/>
          </a:p>
          <a:p>
            <a:r>
              <a:rPr lang="en-GB" sz="1600" dirty="0"/>
              <a:t> public </a:t>
            </a:r>
            <a:r>
              <a:rPr lang="en-GB" sz="1600" dirty="0" err="1"/>
              <a:t>ServerMT</a:t>
            </a:r>
            <a:r>
              <a:rPr lang="en-GB" sz="1600" dirty="0"/>
              <a:t>(Socket s){</a:t>
            </a:r>
            <a:r>
              <a:rPr lang="en-GB" sz="1600" dirty="0" err="1"/>
              <a:t>this.clientSocket</a:t>
            </a:r>
            <a:r>
              <a:rPr lang="en-GB" sz="1600" dirty="0"/>
              <a:t> =s;} </a:t>
            </a:r>
          </a:p>
          <a:p>
            <a:endParaRPr lang="en-GB" sz="1600" dirty="0"/>
          </a:p>
          <a:p>
            <a:r>
              <a:rPr lang="en-GB" sz="1600" dirty="0"/>
              <a:t>  public void run()  { </a:t>
            </a:r>
          </a:p>
          <a:p>
            <a:r>
              <a:rPr lang="en-GB" sz="1600" dirty="0"/>
              <a:t>        </a:t>
            </a:r>
            <a:r>
              <a:rPr lang="en-GB" sz="1600" dirty="0" err="1"/>
              <a:t>BufferedReader</a:t>
            </a:r>
            <a:r>
              <a:rPr lang="en-GB" sz="1600" dirty="0"/>
              <a:t> in = new </a:t>
            </a:r>
            <a:r>
              <a:rPr lang="en-GB" sz="1600" dirty="0" err="1"/>
              <a:t>BufferedReader</a:t>
            </a:r>
            <a:r>
              <a:rPr lang="en-GB" sz="1600" dirty="0"/>
              <a:t>(new </a:t>
            </a:r>
            <a:r>
              <a:rPr lang="en-GB" sz="1600" dirty="0" err="1"/>
              <a:t>InputStreamReader</a:t>
            </a:r>
            <a:r>
              <a:rPr lang="en-GB" sz="1600" dirty="0"/>
              <a:t>(</a:t>
            </a:r>
            <a:r>
              <a:rPr lang="en-GB" sz="1600" dirty="0" err="1"/>
              <a:t>clientSocket.getInputStream</a:t>
            </a:r>
            <a:r>
              <a:rPr lang="en-GB" sz="1600" dirty="0"/>
              <a:t>()));</a:t>
            </a:r>
          </a:p>
          <a:p>
            <a:r>
              <a:rPr lang="en-GB" sz="1600" dirty="0"/>
              <a:t>        </a:t>
            </a:r>
            <a:r>
              <a:rPr lang="en-GB" sz="1600" dirty="0" err="1"/>
              <a:t>PrintWriter</a:t>
            </a:r>
            <a:r>
              <a:rPr lang="en-GB" sz="1600" dirty="0"/>
              <a:t> out = new </a:t>
            </a:r>
            <a:r>
              <a:rPr lang="en-GB" sz="1600" dirty="0" err="1"/>
              <a:t>PrintWriter</a:t>
            </a:r>
            <a:r>
              <a:rPr lang="en-GB" sz="1600" dirty="0"/>
              <a:t>(</a:t>
            </a:r>
            <a:r>
              <a:rPr lang="en-GB" sz="1600" dirty="0" err="1"/>
              <a:t>clientSocket.getOutputStream</a:t>
            </a:r>
            <a:r>
              <a:rPr lang="en-GB" sz="1600" dirty="0"/>
              <a:t>(), true);</a:t>
            </a:r>
          </a:p>
          <a:p>
            <a:r>
              <a:rPr lang="en-GB" sz="1600" dirty="0"/>
              <a:t>         String message = </a:t>
            </a:r>
            <a:r>
              <a:rPr lang="en-GB" sz="1600" dirty="0" err="1"/>
              <a:t>in.readLine</a:t>
            </a:r>
            <a:r>
              <a:rPr lang="en-GB" sz="1600" dirty="0"/>
              <a:t>();  </a:t>
            </a:r>
            <a:r>
              <a:rPr lang="en-GB" sz="1600" dirty="0" err="1"/>
              <a:t>System.out.println</a:t>
            </a:r>
            <a:r>
              <a:rPr lang="en-GB" sz="1600" dirty="0"/>
              <a:t>("From client: " + message);  </a:t>
            </a:r>
          </a:p>
          <a:p>
            <a:r>
              <a:rPr lang="en-GB" sz="1600" dirty="0"/>
              <a:t>         while (! </a:t>
            </a:r>
            <a:r>
              <a:rPr lang="en-GB" sz="1600" dirty="0" err="1"/>
              <a:t>message.equals</a:t>
            </a:r>
            <a:r>
              <a:rPr lang="en-GB" sz="1600" dirty="0"/>
              <a:t>("bye")) {</a:t>
            </a:r>
          </a:p>
          <a:p>
            <a:r>
              <a:rPr lang="en-GB" sz="1600" dirty="0"/>
              <a:t> </a:t>
            </a:r>
            <a:r>
              <a:rPr lang="en-GB" sz="1600" dirty="0" err="1"/>
              <a:t>out.println</a:t>
            </a:r>
            <a:r>
              <a:rPr lang="en-GB" sz="1600" dirty="0"/>
              <a:t>("Message received!");  message = </a:t>
            </a:r>
            <a:r>
              <a:rPr lang="en-GB" sz="1600" dirty="0" err="1"/>
              <a:t>in.readLine</a:t>
            </a:r>
            <a:r>
              <a:rPr lang="en-GB" sz="1600" dirty="0"/>
              <a:t>(); </a:t>
            </a:r>
            <a:r>
              <a:rPr lang="en-GB" sz="1600" dirty="0" err="1"/>
              <a:t>System.out.println</a:t>
            </a:r>
            <a:r>
              <a:rPr lang="en-GB" sz="1600" dirty="0"/>
              <a:t>("From client: " + message);</a:t>
            </a:r>
          </a:p>
          <a:p>
            <a:r>
              <a:rPr lang="en-GB" sz="1600" dirty="0"/>
              <a:t>  }</a:t>
            </a:r>
          </a:p>
          <a:p>
            <a:r>
              <a:rPr lang="en-GB" sz="1600" dirty="0"/>
              <a:t>        </a:t>
            </a:r>
            <a:r>
              <a:rPr lang="en-GB" sz="1600" dirty="0" err="1"/>
              <a:t>clientSocket.close</a:t>
            </a:r>
            <a:r>
              <a:rPr lang="en-GB" sz="1600" dirty="0"/>
              <a:t>();}}</a:t>
            </a:r>
          </a:p>
        </p:txBody>
      </p:sp>
      <p:sp>
        <p:nvSpPr>
          <p:cNvPr id="7" name="TextBox 6">
            <a:extLst>
              <a:ext uri="{FF2B5EF4-FFF2-40B4-BE49-F238E27FC236}">
                <a16:creationId xmlns:a16="http://schemas.microsoft.com/office/drawing/2014/main" id="{D0B138E6-A7F6-8C01-114A-AAC25F13C9AE}"/>
              </a:ext>
            </a:extLst>
          </p:cNvPr>
          <p:cNvSpPr txBox="1"/>
          <p:nvPr/>
        </p:nvSpPr>
        <p:spPr>
          <a:xfrm>
            <a:off x="8646160" y="3156158"/>
            <a:ext cx="3108960" cy="313932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Server</a:t>
            </a:r>
          </a:p>
          <a:p>
            <a:r>
              <a:rPr lang="en-US" dirty="0"/>
              <a:t>Sever is running.</a:t>
            </a:r>
          </a:p>
          <a:p>
            <a:r>
              <a:rPr lang="en-US" dirty="0"/>
              <a:t>Client connected!</a:t>
            </a:r>
          </a:p>
          <a:p>
            <a:r>
              <a:rPr lang="en-US" dirty="0"/>
              <a:t>From client: buna!</a:t>
            </a:r>
          </a:p>
          <a:p>
            <a:r>
              <a:rPr lang="en-US" dirty="0"/>
              <a:t>From client: buna!</a:t>
            </a:r>
          </a:p>
          <a:p>
            <a:r>
              <a:rPr lang="en-US" dirty="0"/>
              <a:t>Client connected!</a:t>
            </a:r>
          </a:p>
          <a:p>
            <a:r>
              <a:rPr lang="en-US" dirty="0"/>
              <a:t>From client: hi!</a:t>
            </a:r>
          </a:p>
          <a:p>
            <a:r>
              <a:rPr lang="en-US" dirty="0"/>
              <a:t>From client: buna!</a:t>
            </a:r>
          </a:p>
          <a:p>
            <a:r>
              <a:rPr lang="en-US" dirty="0"/>
              <a:t>From client: hi!</a:t>
            </a:r>
          </a:p>
          <a:p>
            <a:r>
              <a:rPr lang="en-US" dirty="0"/>
              <a:t>From client: bye</a:t>
            </a:r>
          </a:p>
          <a:p>
            <a:r>
              <a:rPr lang="en-US" dirty="0"/>
              <a:t>From client: bye</a:t>
            </a:r>
          </a:p>
        </p:txBody>
      </p:sp>
      <p:sp>
        <p:nvSpPr>
          <p:cNvPr id="9" name="TextBox 8">
            <a:extLst>
              <a:ext uri="{FF2B5EF4-FFF2-40B4-BE49-F238E27FC236}">
                <a16:creationId xmlns:a16="http://schemas.microsoft.com/office/drawing/2014/main" id="{58480D0B-5437-99E5-2173-A8FF75C387D5}"/>
              </a:ext>
            </a:extLst>
          </p:cNvPr>
          <p:cNvSpPr txBox="1"/>
          <p:nvPr/>
        </p:nvSpPr>
        <p:spPr>
          <a:xfrm>
            <a:off x="5875017" y="1099642"/>
            <a:ext cx="3227195" cy="2585323"/>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dirty="0"/>
              <a:t>&gt;java Client</a:t>
            </a:r>
          </a:p>
          <a:p>
            <a:r>
              <a:rPr lang="en-US" dirty="0"/>
              <a:t>buna!</a:t>
            </a:r>
          </a:p>
          <a:p>
            <a:r>
              <a:rPr lang="en-US" dirty="0"/>
              <a:t>From server: Message received!</a:t>
            </a:r>
          </a:p>
          <a:p>
            <a:r>
              <a:rPr lang="en-US" dirty="0"/>
              <a:t>buna!</a:t>
            </a:r>
          </a:p>
          <a:p>
            <a:r>
              <a:rPr lang="en-US" dirty="0"/>
              <a:t>From server: Message received!</a:t>
            </a:r>
          </a:p>
          <a:p>
            <a:r>
              <a:rPr lang="en-US" dirty="0"/>
              <a:t>buna!</a:t>
            </a:r>
          </a:p>
          <a:p>
            <a:r>
              <a:rPr lang="en-US" dirty="0"/>
              <a:t>From server: Message received!</a:t>
            </a:r>
          </a:p>
          <a:p>
            <a:r>
              <a:rPr lang="en-US" dirty="0"/>
              <a:t>bye</a:t>
            </a:r>
          </a:p>
          <a:p>
            <a:r>
              <a:rPr lang="en-US" dirty="0"/>
              <a:t>&gt; </a:t>
            </a:r>
            <a:endParaRPr lang="en-GB" dirty="0"/>
          </a:p>
        </p:txBody>
      </p:sp>
      <p:sp>
        <p:nvSpPr>
          <p:cNvPr id="3" name="TextBox 2">
            <a:extLst>
              <a:ext uri="{FF2B5EF4-FFF2-40B4-BE49-F238E27FC236}">
                <a16:creationId xmlns:a16="http://schemas.microsoft.com/office/drawing/2014/main" id="{09F59796-5079-0144-1FBC-8991F95E113D}"/>
              </a:ext>
            </a:extLst>
          </p:cNvPr>
          <p:cNvSpPr txBox="1"/>
          <p:nvPr/>
        </p:nvSpPr>
        <p:spPr>
          <a:xfrm>
            <a:off x="7955280" y="249158"/>
            <a:ext cx="3312160"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dirty="0"/>
              <a:t>&gt;java Client</a:t>
            </a:r>
          </a:p>
          <a:p>
            <a:r>
              <a:rPr lang="en-US" dirty="0"/>
              <a:t>hi!</a:t>
            </a:r>
          </a:p>
          <a:p>
            <a:r>
              <a:rPr lang="en-US" dirty="0"/>
              <a:t>From server: Message received!</a:t>
            </a:r>
          </a:p>
          <a:p>
            <a:r>
              <a:rPr lang="en-US" dirty="0"/>
              <a:t>hi!</a:t>
            </a:r>
          </a:p>
          <a:p>
            <a:r>
              <a:rPr lang="en-US" dirty="0"/>
              <a:t>From server: Message received!</a:t>
            </a:r>
          </a:p>
          <a:p>
            <a:r>
              <a:rPr lang="en-US" dirty="0"/>
              <a:t>bye</a:t>
            </a:r>
          </a:p>
          <a:p>
            <a:r>
              <a:rPr lang="en-US" dirty="0"/>
              <a:t>&gt;</a:t>
            </a:r>
          </a:p>
        </p:txBody>
      </p:sp>
      <p:sp>
        <p:nvSpPr>
          <p:cNvPr id="5" name="TextBox 4">
            <a:extLst>
              <a:ext uri="{FF2B5EF4-FFF2-40B4-BE49-F238E27FC236}">
                <a16:creationId xmlns:a16="http://schemas.microsoft.com/office/drawing/2014/main" id="{6B884E71-DE86-298A-C036-3D10B34B339C}"/>
              </a:ext>
            </a:extLst>
          </p:cNvPr>
          <p:cNvSpPr txBox="1"/>
          <p:nvPr/>
        </p:nvSpPr>
        <p:spPr>
          <a:xfrm>
            <a:off x="4147817" y="5550609"/>
            <a:ext cx="3454401" cy="400110"/>
          </a:xfrm>
          <a:prstGeom prst="rect">
            <a:avLst/>
          </a:prstGeom>
          <a:solidFill>
            <a:schemeClr val="bg1">
              <a:lumMod val="85000"/>
            </a:schemeClr>
          </a:solidFill>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sz="2000" dirty="0" err="1"/>
              <a:t>Clientii</a:t>
            </a:r>
            <a:r>
              <a:rPr lang="en-US" sz="2000" dirty="0"/>
              <a:t> sunt </a:t>
            </a:r>
            <a:r>
              <a:rPr lang="en-US" sz="2000" dirty="0" err="1"/>
              <a:t>serviti</a:t>
            </a:r>
            <a:r>
              <a:rPr lang="en-US" sz="2000" b="1" dirty="0"/>
              <a:t> </a:t>
            </a:r>
            <a:r>
              <a:rPr lang="en-US" sz="2000" b="1" dirty="0" err="1"/>
              <a:t>concurent</a:t>
            </a:r>
            <a:r>
              <a:rPr lang="en-US" sz="2000" dirty="0"/>
              <a:t>!</a:t>
            </a:r>
            <a:endParaRPr lang="en-GB" sz="2000" dirty="0"/>
          </a:p>
        </p:txBody>
      </p:sp>
    </p:spTree>
    <p:extLst>
      <p:ext uri="{BB962C8B-B14F-4D97-AF65-F5344CB8AC3E}">
        <p14:creationId xmlns:p14="http://schemas.microsoft.com/office/powerpoint/2010/main" val="36785364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BF095-F2CC-B034-917F-087BEBD33F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1F6C940-13F8-20CC-B9E1-1965AC4F7F5F}"/>
              </a:ext>
            </a:extLst>
          </p:cNvPr>
          <p:cNvSpPr txBox="1"/>
          <p:nvPr/>
        </p:nvSpPr>
        <p:spPr>
          <a:xfrm>
            <a:off x="434340" y="0"/>
            <a:ext cx="11381740" cy="6494085"/>
          </a:xfrm>
          <a:prstGeom prst="rect">
            <a:avLst/>
          </a:prstGeom>
          <a:noFill/>
          <a:ln w="19050">
            <a:solidFill>
              <a:srgbClr val="00B050"/>
            </a:solidFill>
          </a:ln>
        </p:spPr>
        <p:txBody>
          <a:bodyPr wrap="square">
            <a:spAutoFit/>
          </a:bodyPr>
          <a:lstStyle/>
          <a:p>
            <a:r>
              <a:rPr lang="en-GB" dirty="0"/>
              <a:t>public class </a:t>
            </a:r>
            <a:r>
              <a:rPr lang="en-GB" dirty="0" err="1"/>
              <a:t>ServerMT</a:t>
            </a:r>
            <a:r>
              <a:rPr lang="en-GB" dirty="0"/>
              <a:t> </a:t>
            </a:r>
            <a:r>
              <a:rPr lang="en-GB" b="1" dirty="0"/>
              <a:t>implements Runnable</a:t>
            </a:r>
            <a:r>
              <a:rPr lang="en-GB" dirty="0"/>
              <a:t> {</a:t>
            </a:r>
          </a:p>
          <a:p>
            <a:r>
              <a:rPr lang="en-GB" b="1" dirty="0"/>
              <a:t>private Socket </a:t>
            </a:r>
            <a:r>
              <a:rPr lang="en-GB" b="1" dirty="0" err="1"/>
              <a:t>clientSocket</a:t>
            </a:r>
            <a:r>
              <a:rPr lang="en-GB" b="1" dirty="0"/>
              <a:t>;</a:t>
            </a:r>
          </a:p>
          <a:p>
            <a:r>
              <a:rPr lang="en-GB" dirty="0"/>
              <a:t>     </a:t>
            </a:r>
          </a:p>
          <a:p>
            <a:r>
              <a:rPr lang="en-GB" dirty="0"/>
              <a:t>public static void main(String </a:t>
            </a:r>
            <a:r>
              <a:rPr lang="en-GB" dirty="0" err="1"/>
              <a:t>args</a:t>
            </a:r>
            <a:r>
              <a:rPr lang="en-GB" dirty="0"/>
              <a:t>[])</a:t>
            </a:r>
          </a:p>
          <a:p>
            <a:r>
              <a:rPr lang="en-GB" dirty="0"/>
              <a:t>    {  </a:t>
            </a:r>
            <a:r>
              <a:rPr lang="en-GB" dirty="0" err="1"/>
              <a:t>ServerSocket</a:t>
            </a:r>
            <a:r>
              <a:rPr lang="en-GB" dirty="0"/>
              <a:t> </a:t>
            </a:r>
            <a:r>
              <a:rPr lang="en-GB" dirty="0" err="1"/>
              <a:t>serverSocket</a:t>
            </a:r>
            <a:r>
              <a:rPr lang="en-GB" dirty="0"/>
              <a:t> = new </a:t>
            </a:r>
            <a:r>
              <a:rPr lang="en-GB" dirty="0" err="1"/>
              <a:t>ServerSocket</a:t>
            </a:r>
            <a:r>
              <a:rPr lang="en-GB" dirty="0"/>
              <a:t>(9090);</a:t>
            </a:r>
            <a:r>
              <a:rPr lang="en-US" b="1" dirty="0"/>
              <a:t> </a:t>
            </a:r>
            <a:endParaRPr lang="en-GB" dirty="0"/>
          </a:p>
          <a:p>
            <a:endParaRPr lang="en-GB" dirty="0"/>
          </a:p>
          <a:p>
            <a:r>
              <a:rPr lang="en-GB" dirty="0"/>
              <a:t>        </a:t>
            </a:r>
            <a:r>
              <a:rPr lang="en-GB" dirty="0" err="1"/>
              <a:t>System.out.println</a:t>
            </a:r>
            <a:r>
              <a:rPr lang="en-GB" dirty="0"/>
              <a:t>("Server is running");</a:t>
            </a:r>
          </a:p>
          <a:p>
            <a:r>
              <a:rPr lang="en-GB" b="1" dirty="0"/>
              <a:t>        </a:t>
            </a:r>
            <a:r>
              <a:rPr lang="en-GB" b="1" dirty="0" err="1"/>
              <a:t>ExecutorService</a:t>
            </a:r>
            <a:r>
              <a:rPr lang="en-GB" b="1" dirty="0"/>
              <a:t>  pool = </a:t>
            </a:r>
            <a:r>
              <a:rPr lang="en-GB" b="1" dirty="0" err="1"/>
              <a:t>Executors.newCachedThreadPool</a:t>
            </a:r>
            <a:r>
              <a:rPr lang="en-GB" b="1" dirty="0"/>
              <a:t>();</a:t>
            </a:r>
          </a:p>
          <a:p>
            <a:endParaRPr lang="en-GB" dirty="0"/>
          </a:p>
          <a:p>
            <a:r>
              <a:rPr lang="en-GB" dirty="0"/>
              <a:t>        while (true){</a:t>
            </a:r>
          </a:p>
          <a:p>
            <a:r>
              <a:rPr lang="en-GB" dirty="0"/>
              <a:t>        Socket </a:t>
            </a:r>
            <a:r>
              <a:rPr lang="en-GB" dirty="0" err="1"/>
              <a:t>cSocket</a:t>
            </a:r>
            <a:r>
              <a:rPr lang="en-GB" dirty="0"/>
              <a:t> = </a:t>
            </a:r>
            <a:r>
              <a:rPr lang="en-GB" dirty="0" err="1"/>
              <a:t>serverSocket.accept</a:t>
            </a:r>
            <a:r>
              <a:rPr lang="en-GB" dirty="0"/>
              <a:t>();</a:t>
            </a:r>
          </a:p>
          <a:p>
            <a:r>
              <a:rPr lang="en-GB" dirty="0"/>
              <a:t>        </a:t>
            </a:r>
            <a:r>
              <a:rPr lang="en-GB" dirty="0" err="1"/>
              <a:t>System.out.println</a:t>
            </a:r>
            <a:r>
              <a:rPr lang="en-GB" dirty="0"/>
              <a:t>("Client connected!");</a:t>
            </a:r>
            <a:endParaRPr lang="en-GB" b="1" dirty="0"/>
          </a:p>
          <a:p>
            <a:r>
              <a:rPr lang="en-GB" b="1" dirty="0"/>
              <a:t>        </a:t>
            </a:r>
            <a:r>
              <a:rPr lang="en-GB" b="1" dirty="0" err="1"/>
              <a:t>pool.execute</a:t>
            </a:r>
            <a:r>
              <a:rPr lang="en-GB" b="1" dirty="0"/>
              <a:t>(new </a:t>
            </a:r>
            <a:r>
              <a:rPr lang="en-GB" b="1" dirty="0" err="1"/>
              <a:t>ServerMT</a:t>
            </a:r>
            <a:r>
              <a:rPr lang="en-GB" b="1" dirty="0"/>
              <a:t> (</a:t>
            </a:r>
            <a:r>
              <a:rPr lang="en-GB" b="1" dirty="0" err="1"/>
              <a:t>cSocket</a:t>
            </a:r>
            <a:r>
              <a:rPr lang="en-GB" b="1" dirty="0"/>
              <a:t>)); </a:t>
            </a:r>
            <a:r>
              <a:rPr lang="en-GB" dirty="0"/>
              <a:t>}}</a:t>
            </a:r>
          </a:p>
          <a:p>
            <a:endParaRPr lang="en-GB" dirty="0"/>
          </a:p>
          <a:p>
            <a:r>
              <a:rPr lang="en-GB" dirty="0"/>
              <a:t> </a:t>
            </a:r>
            <a:r>
              <a:rPr lang="en-GB" b="1" dirty="0"/>
              <a:t>public </a:t>
            </a:r>
            <a:r>
              <a:rPr lang="en-GB" b="1" dirty="0" err="1"/>
              <a:t>ServerMT</a:t>
            </a:r>
            <a:r>
              <a:rPr lang="en-GB" b="1" dirty="0"/>
              <a:t>(Socket s){</a:t>
            </a:r>
            <a:r>
              <a:rPr lang="en-GB" b="1" dirty="0" err="1"/>
              <a:t>this.clientSocket</a:t>
            </a:r>
            <a:r>
              <a:rPr lang="en-GB" b="1" dirty="0"/>
              <a:t> =s;} </a:t>
            </a:r>
          </a:p>
          <a:p>
            <a:endParaRPr lang="en-GB" dirty="0"/>
          </a:p>
          <a:p>
            <a:r>
              <a:rPr lang="en-GB" dirty="0"/>
              <a:t>  public void run()  { </a:t>
            </a:r>
          </a:p>
          <a:p>
            <a:r>
              <a:rPr lang="en-GB" dirty="0"/>
              <a:t>        </a:t>
            </a:r>
            <a:r>
              <a:rPr lang="en-GB" dirty="0" err="1"/>
              <a:t>BufferedReader</a:t>
            </a:r>
            <a:r>
              <a:rPr lang="en-GB" dirty="0"/>
              <a:t> in = new </a:t>
            </a:r>
            <a:r>
              <a:rPr lang="en-GB" dirty="0" err="1"/>
              <a:t>BufferedReader</a:t>
            </a:r>
            <a:r>
              <a:rPr lang="en-GB" dirty="0"/>
              <a:t>(new </a:t>
            </a:r>
            <a:r>
              <a:rPr lang="en-GB" dirty="0" err="1"/>
              <a:t>InputStreamReader</a:t>
            </a:r>
            <a:r>
              <a:rPr lang="en-GB" dirty="0"/>
              <a:t>(</a:t>
            </a:r>
            <a:r>
              <a:rPr lang="en-GB" dirty="0" err="1"/>
              <a:t>clientSocket.getInputStream</a:t>
            </a:r>
            <a:r>
              <a:rPr lang="en-GB" dirty="0"/>
              <a:t>()));</a:t>
            </a:r>
          </a:p>
          <a:p>
            <a:r>
              <a:rPr lang="en-GB" dirty="0"/>
              <a:t>        </a:t>
            </a:r>
            <a:r>
              <a:rPr lang="en-GB" dirty="0" err="1"/>
              <a:t>PrintWriter</a:t>
            </a:r>
            <a:r>
              <a:rPr lang="en-GB" dirty="0"/>
              <a:t> out = new </a:t>
            </a:r>
            <a:r>
              <a:rPr lang="en-GB" dirty="0" err="1"/>
              <a:t>PrintWriter</a:t>
            </a:r>
            <a:r>
              <a:rPr lang="en-GB" dirty="0"/>
              <a:t>(</a:t>
            </a:r>
            <a:r>
              <a:rPr lang="en-GB" dirty="0" err="1"/>
              <a:t>clientSocket.getOutputStream</a:t>
            </a:r>
            <a:r>
              <a:rPr lang="en-GB" dirty="0"/>
              <a:t>(), true);</a:t>
            </a:r>
          </a:p>
          <a:p>
            <a:r>
              <a:rPr lang="en-GB" dirty="0"/>
              <a:t>         String message = </a:t>
            </a:r>
            <a:r>
              <a:rPr lang="en-GB" dirty="0" err="1"/>
              <a:t>in.readLine</a:t>
            </a:r>
            <a:r>
              <a:rPr lang="en-GB" dirty="0"/>
              <a:t>();  </a:t>
            </a:r>
            <a:r>
              <a:rPr lang="en-GB" dirty="0" err="1"/>
              <a:t>System.out.println</a:t>
            </a:r>
            <a:r>
              <a:rPr lang="en-GB" dirty="0"/>
              <a:t>("From client: " + message);  </a:t>
            </a:r>
          </a:p>
          <a:p>
            <a:r>
              <a:rPr lang="en-GB" dirty="0"/>
              <a:t>         while (! </a:t>
            </a:r>
            <a:r>
              <a:rPr lang="en-GB" dirty="0" err="1"/>
              <a:t>message.equals</a:t>
            </a:r>
            <a:r>
              <a:rPr lang="en-GB" dirty="0"/>
              <a:t>("bye"))</a:t>
            </a:r>
            <a:r>
              <a:rPr lang="en-GB" b="1" dirty="0"/>
              <a:t> </a:t>
            </a:r>
            <a:r>
              <a:rPr lang="en-GB" dirty="0"/>
              <a:t>{</a:t>
            </a:r>
          </a:p>
          <a:p>
            <a:pPr lvl="1"/>
            <a:r>
              <a:rPr lang="en-GB" dirty="0"/>
              <a:t> </a:t>
            </a:r>
            <a:r>
              <a:rPr lang="en-GB" dirty="0" err="1"/>
              <a:t>out.println</a:t>
            </a:r>
            <a:r>
              <a:rPr lang="en-GB" dirty="0"/>
              <a:t>("Message received!");  message = </a:t>
            </a:r>
            <a:r>
              <a:rPr lang="en-GB" dirty="0" err="1"/>
              <a:t>in.readLine</a:t>
            </a:r>
            <a:r>
              <a:rPr lang="en-GB" dirty="0"/>
              <a:t>(); </a:t>
            </a:r>
            <a:r>
              <a:rPr lang="en-GB" dirty="0" err="1"/>
              <a:t>System.out.println</a:t>
            </a:r>
            <a:r>
              <a:rPr lang="en-GB" dirty="0"/>
              <a:t>("From client: " + message);}</a:t>
            </a:r>
          </a:p>
          <a:p>
            <a:r>
              <a:rPr lang="en-GB" dirty="0"/>
              <a:t>         </a:t>
            </a:r>
            <a:r>
              <a:rPr lang="en-GB" dirty="0" err="1"/>
              <a:t>clientSocket.close</a:t>
            </a:r>
            <a:r>
              <a:rPr lang="en-GB" dirty="0"/>
              <a:t>();}</a:t>
            </a:r>
            <a:r>
              <a:rPr lang="en-GB" sz="2000" dirty="0"/>
              <a:t>}</a:t>
            </a:r>
          </a:p>
        </p:txBody>
      </p:sp>
      <p:sp>
        <p:nvSpPr>
          <p:cNvPr id="2" name="TextBox 1">
            <a:extLst>
              <a:ext uri="{FF2B5EF4-FFF2-40B4-BE49-F238E27FC236}">
                <a16:creationId xmlns:a16="http://schemas.microsoft.com/office/drawing/2014/main" id="{5C167837-0796-A633-D1AE-5F4D800BF3BA}"/>
              </a:ext>
            </a:extLst>
          </p:cNvPr>
          <p:cNvSpPr txBox="1"/>
          <p:nvPr/>
        </p:nvSpPr>
        <p:spPr>
          <a:xfrm>
            <a:off x="6621247" y="3247042"/>
            <a:ext cx="4290790" cy="369332"/>
          </a:xfrm>
          <a:prstGeom prst="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wrap="none" rtlCol="0">
            <a:spAutoFit/>
          </a:bodyPr>
          <a:lstStyle/>
          <a:p>
            <a:r>
              <a:rPr lang="en-US" dirty="0" err="1"/>
              <a:t>creez</a:t>
            </a:r>
            <a:r>
              <a:rPr lang="en-US" dirty="0"/>
              <a:t> thread-urile client cu </a:t>
            </a:r>
            <a:r>
              <a:rPr lang="en-US" b="1" dirty="0" err="1"/>
              <a:t>ExecutorService</a:t>
            </a:r>
            <a:endParaRPr lang="en-GB" dirty="0"/>
          </a:p>
        </p:txBody>
      </p:sp>
      <p:sp>
        <p:nvSpPr>
          <p:cNvPr id="4" name="TextBox 3">
            <a:extLst>
              <a:ext uri="{FF2B5EF4-FFF2-40B4-BE49-F238E27FC236}">
                <a16:creationId xmlns:a16="http://schemas.microsoft.com/office/drawing/2014/main" id="{ACDC07BC-B44A-2450-A67D-B01D849DE5E0}"/>
              </a:ext>
            </a:extLst>
          </p:cNvPr>
          <p:cNvSpPr txBox="1"/>
          <p:nvPr/>
        </p:nvSpPr>
        <p:spPr>
          <a:xfrm>
            <a:off x="6876882" y="1338515"/>
            <a:ext cx="3779520" cy="369332"/>
          </a:xfrm>
          <a:prstGeom prst="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wrap="square" rtlCol="0">
            <a:spAutoFit/>
          </a:bodyPr>
          <a:lstStyle/>
          <a:p>
            <a:r>
              <a:rPr lang="en-US" b="1" dirty="0"/>
              <a:t>main</a:t>
            </a:r>
            <a:r>
              <a:rPr lang="en-US" dirty="0"/>
              <a:t> </a:t>
            </a:r>
            <a:r>
              <a:rPr lang="en-US" dirty="0" err="1"/>
              <a:t>si</a:t>
            </a:r>
            <a:r>
              <a:rPr lang="en-US" dirty="0"/>
              <a:t> </a:t>
            </a:r>
            <a:r>
              <a:rPr lang="en-US" b="1" dirty="0"/>
              <a:t>run</a:t>
            </a:r>
            <a:r>
              <a:rPr lang="en-US" dirty="0"/>
              <a:t> </a:t>
            </a:r>
            <a:r>
              <a:rPr lang="en-US" dirty="0" err="1"/>
              <a:t>trebuie</a:t>
            </a:r>
            <a:r>
              <a:rPr lang="en-US" dirty="0"/>
              <a:t> </a:t>
            </a:r>
            <a:r>
              <a:rPr lang="en-US" dirty="0" err="1"/>
              <a:t>scrise</a:t>
            </a:r>
            <a:r>
              <a:rPr lang="en-US" dirty="0"/>
              <a:t> cu try-catch</a:t>
            </a:r>
            <a:endParaRPr lang="en-GB" dirty="0"/>
          </a:p>
        </p:txBody>
      </p:sp>
      <p:sp>
        <p:nvSpPr>
          <p:cNvPr id="5" name="TextBox 4">
            <a:extLst>
              <a:ext uri="{FF2B5EF4-FFF2-40B4-BE49-F238E27FC236}">
                <a16:creationId xmlns:a16="http://schemas.microsoft.com/office/drawing/2014/main" id="{535627BC-F5DF-85B0-288A-CFE1FBA66656}"/>
              </a:ext>
            </a:extLst>
          </p:cNvPr>
          <p:cNvSpPr txBox="1"/>
          <p:nvPr/>
        </p:nvSpPr>
        <p:spPr>
          <a:xfrm>
            <a:off x="9032240" y="0"/>
            <a:ext cx="2783840" cy="369332"/>
          </a:xfrm>
          <a:prstGeom prst="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wrap="square">
            <a:spAutoFit/>
          </a:bodyPr>
          <a:lstStyle/>
          <a:p>
            <a:r>
              <a:rPr lang="en-US" sz="1800" b="1" dirty="0"/>
              <a:t>Server multithreaded</a:t>
            </a:r>
            <a:endParaRPr lang="en-GB" dirty="0"/>
          </a:p>
        </p:txBody>
      </p:sp>
    </p:spTree>
    <p:extLst>
      <p:ext uri="{BB962C8B-B14F-4D97-AF65-F5344CB8AC3E}">
        <p14:creationId xmlns:p14="http://schemas.microsoft.com/office/powerpoint/2010/main" val="2099199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E81B1-B403-0B43-F37F-DEEC55BE0A5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CEFF7B-BCB8-FB79-4A0C-FF0F812DAD4F}"/>
              </a:ext>
            </a:extLst>
          </p:cNvPr>
          <p:cNvSpPr txBox="1"/>
          <p:nvPr/>
        </p:nvSpPr>
        <p:spPr>
          <a:xfrm>
            <a:off x="4412593" y="-13313"/>
            <a:ext cx="6096000" cy="369332"/>
          </a:xfrm>
          <a:prstGeom prst="rect">
            <a:avLst/>
          </a:prstGeom>
          <a:noFill/>
        </p:spPr>
        <p:txBody>
          <a:bodyPr wrap="square">
            <a:spAutoFit/>
          </a:bodyPr>
          <a:lstStyle/>
          <a:p>
            <a:r>
              <a:rPr lang="en-GB" dirty="0">
                <a:hlinkClick r:id="rId2"/>
              </a:rPr>
              <a:t>JEP 444: Virtual Threads</a:t>
            </a:r>
            <a:endParaRPr lang="en-GB" dirty="0"/>
          </a:p>
        </p:txBody>
      </p:sp>
      <p:sp>
        <p:nvSpPr>
          <p:cNvPr id="5" name="TextBox 4">
            <a:extLst>
              <a:ext uri="{FF2B5EF4-FFF2-40B4-BE49-F238E27FC236}">
                <a16:creationId xmlns:a16="http://schemas.microsoft.com/office/drawing/2014/main" id="{1171087B-4422-4363-CD30-C250FA9BA296}"/>
              </a:ext>
            </a:extLst>
          </p:cNvPr>
          <p:cNvSpPr txBox="1"/>
          <p:nvPr/>
        </p:nvSpPr>
        <p:spPr>
          <a:xfrm>
            <a:off x="337733" y="171353"/>
            <a:ext cx="11054080" cy="6186309"/>
          </a:xfrm>
          <a:prstGeom prst="rect">
            <a:avLst/>
          </a:prstGeom>
          <a:noFill/>
        </p:spPr>
        <p:txBody>
          <a:bodyPr wrap="square">
            <a:spAutoFit/>
          </a:bodyPr>
          <a:lstStyle/>
          <a:p>
            <a:pPr marR="0" algn="l">
              <a:buNone/>
            </a:pPr>
            <a:r>
              <a:rPr lang="en-GB" b="1" dirty="0"/>
              <a:t>The thread-per-request style</a:t>
            </a:r>
          </a:p>
          <a:p>
            <a:pPr algn="l"/>
            <a:r>
              <a:rPr lang="en-GB" dirty="0"/>
              <a:t>Server applications generally handle concurrent user requests that are independent of each other, so it makes sense for an application to handle a request by dedicating a thread to that request for its entire duration. This thread-per-request style is easy to understand, easy to program, and easy to debug and profile because it uses the platform's unit of concurrency to represent the application's unit of concurrency. […]Unfortunately, the number of available threads is limited because the JDK implements threads as wrappers around operating system (OS) threads.</a:t>
            </a:r>
          </a:p>
          <a:p>
            <a:endParaRPr lang="en-GB" b="1" dirty="0"/>
          </a:p>
          <a:p>
            <a:pPr marL="0" marR="0" algn="l">
              <a:buNone/>
            </a:pPr>
            <a:r>
              <a:rPr lang="en-GB" b="1" dirty="0"/>
              <a:t>Improving scalability with the asynchronous style</a:t>
            </a:r>
          </a:p>
          <a:p>
            <a:pPr algn="just"/>
            <a:r>
              <a:rPr lang="en-GB" dirty="0"/>
              <a:t>Some developers wishing to utilize hardware to its fullest have given up the thread-per-request style in </a:t>
            </a:r>
            <a:r>
              <a:rPr lang="en-GB" dirty="0" err="1"/>
              <a:t>favor</a:t>
            </a:r>
            <a:r>
              <a:rPr lang="en-GB" dirty="0"/>
              <a:t> of a thread-sharing style. In the asynchronous style, each stage of a request might execute on a different thread, and every thread runs stages belonging to different requests in an interleaved fashion.  […] </a:t>
            </a:r>
            <a:r>
              <a:rPr lang="en-GB" i="1" dirty="0"/>
              <a:t>This programming style is at odds with the Java Platform because the application's unit of concurrency — the asynchronous pipeline — is no longer the platform's unit of concurrency.</a:t>
            </a:r>
          </a:p>
          <a:p>
            <a:endParaRPr lang="en-GB" b="1" dirty="0"/>
          </a:p>
          <a:p>
            <a:r>
              <a:rPr lang="en-GB" b="1" dirty="0"/>
              <a:t>Preserving the thread-per-request style with virtual threads</a:t>
            </a:r>
          </a:p>
          <a:p>
            <a:pPr algn="just"/>
            <a:r>
              <a:rPr lang="en-GB" dirty="0"/>
              <a:t>To enable applications to scale while remaining harmonious with the platform, we should strive to preserve the thread-per-request style. We can do this by implementing threads more efficiently, so they can be more plentiful. Operating systems cannot implement OS threads more efficiently because different languages and runtimes use the thread stack in different ways. It is possible, however, for a Java runtime to implement Java threads in a way that severs their one-to-one correspondence to OS threads. Just as operating systems give the illusion of plentiful memory by mapping a large virtual address space to a limited amount of physical RAM, a Java runtime can give the illusion of plentiful threads by mapping a large number of virtual threads to a small number of OS threads.</a:t>
            </a:r>
          </a:p>
        </p:txBody>
      </p:sp>
    </p:spTree>
    <p:extLst>
      <p:ext uri="{BB962C8B-B14F-4D97-AF65-F5344CB8AC3E}">
        <p14:creationId xmlns:p14="http://schemas.microsoft.com/office/powerpoint/2010/main" val="4023813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15D00-FECB-6A4A-D3E0-CE0EF8157D4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322910-C2D6-04C3-8B2D-BDF8C2881EE1}"/>
              </a:ext>
            </a:extLst>
          </p:cNvPr>
          <p:cNvSpPr txBox="1"/>
          <p:nvPr/>
        </p:nvSpPr>
        <p:spPr>
          <a:xfrm>
            <a:off x="556260" y="384859"/>
            <a:ext cx="11381740" cy="5940088"/>
          </a:xfrm>
          <a:prstGeom prst="rect">
            <a:avLst/>
          </a:prstGeom>
          <a:noFill/>
          <a:ln w="19050">
            <a:solidFill>
              <a:srgbClr val="00B050"/>
            </a:solidFill>
          </a:ln>
        </p:spPr>
        <p:txBody>
          <a:bodyPr wrap="square">
            <a:spAutoFit/>
          </a:bodyPr>
          <a:lstStyle/>
          <a:p>
            <a:r>
              <a:rPr lang="en-GB" dirty="0"/>
              <a:t>public class </a:t>
            </a:r>
            <a:r>
              <a:rPr lang="en-GB" b="1" dirty="0" err="1">
                <a:solidFill>
                  <a:srgbClr val="00B050"/>
                </a:solidFill>
              </a:rPr>
              <a:t>ServerMTv</a:t>
            </a:r>
            <a:r>
              <a:rPr lang="en-GB" dirty="0"/>
              <a:t> </a:t>
            </a:r>
            <a:r>
              <a:rPr lang="en-GB" b="1" dirty="0"/>
              <a:t>implements Runnable</a:t>
            </a:r>
            <a:r>
              <a:rPr lang="en-GB" dirty="0"/>
              <a:t> {</a:t>
            </a:r>
          </a:p>
          <a:p>
            <a:r>
              <a:rPr lang="en-GB" b="1" dirty="0"/>
              <a:t>private Socket </a:t>
            </a:r>
            <a:r>
              <a:rPr lang="en-GB" b="1" dirty="0" err="1"/>
              <a:t>clientSocket</a:t>
            </a:r>
            <a:r>
              <a:rPr lang="en-GB" b="1" dirty="0"/>
              <a:t>;</a:t>
            </a:r>
          </a:p>
          <a:p>
            <a:r>
              <a:rPr lang="en-GB" dirty="0"/>
              <a:t>     </a:t>
            </a:r>
          </a:p>
          <a:p>
            <a:r>
              <a:rPr lang="en-GB" dirty="0"/>
              <a:t>public static void main(String </a:t>
            </a:r>
            <a:r>
              <a:rPr lang="en-GB" dirty="0" err="1"/>
              <a:t>args</a:t>
            </a:r>
            <a:r>
              <a:rPr lang="en-GB" dirty="0"/>
              <a:t>[])</a:t>
            </a:r>
          </a:p>
          <a:p>
            <a:r>
              <a:rPr lang="en-GB" dirty="0"/>
              <a:t>    {  </a:t>
            </a:r>
            <a:r>
              <a:rPr lang="en-GB" dirty="0" err="1"/>
              <a:t>ServerSocket</a:t>
            </a:r>
            <a:r>
              <a:rPr lang="en-GB" dirty="0"/>
              <a:t> </a:t>
            </a:r>
            <a:r>
              <a:rPr lang="en-GB" dirty="0" err="1"/>
              <a:t>serverSocket</a:t>
            </a:r>
            <a:r>
              <a:rPr lang="en-GB" dirty="0"/>
              <a:t> = new </a:t>
            </a:r>
            <a:r>
              <a:rPr lang="en-GB" dirty="0" err="1"/>
              <a:t>ServerSocket</a:t>
            </a:r>
            <a:r>
              <a:rPr lang="en-GB" dirty="0"/>
              <a:t>(9090);</a:t>
            </a:r>
          </a:p>
          <a:p>
            <a:r>
              <a:rPr lang="en-GB" dirty="0"/>
              <a:t>        </a:t>
            </a:r>
            <a:r>
              <a:rPr lang="en-GB" dirty="0" err="1"/>
              <a:t>System.out.println</a:t>
            </a:r>
            <a:r>
              <a:rPr lang="en-GB" dirty="0"/>
              <a:t>("Server is running");</a:t>
            </a:r>
          </a:p>
          <a:p>
            <a:r>
              <a:rPr lang="en-GB" b="1" dirty="0"/>
              <a:t>        </a:t>
            </a:r>
            <a:r>
              <a:rPr lang="en-GB" b="1" dirty="0" err="1"/>
              <a:t>ExecutorService</a:t>
            </a:r>
            <a:r>
              <a:rPr lang="en-GB" b="1" dirty="0"/>
              <a:t>  pool = </a:t>
            </a:r>
            <a:r>
              <a:rPr lang="en-GB" b="1" dirty="0" err="1"/>
              <a:t>Executors.</a:t>
            </a:r>
            <a:r>
              <a:rPr lang="en-GB" b="1" dirty="0" err="1">
                <a:solidFill>
                  <a:srgbClr val="00B050"/>
                </a:solidFill>
              </a:rPr>
              <a:t>newVirtualThreadPerTaskExecutor</a:t>
            </a:r>
            <a:r>
              <a:rPr lang="en-GB" b="1" dirty="0">
                <a:solidFill>
                  <a:srgbClr val="00B050"/>
                </a:solidFill>
              </a:rPr>
              <a:t>()</a:t>
            </a:r>
            <a:r>
              <a:rPr lang="en-GB" b="1" dirty="0"/>
              <a:t>;</a:t>
            </a:r>
            <a:endParaRPr lang="en-GB" dirty="0"/>
          </a:p>
          <a:p>
            <a:r>
              <a:rPr lang="en-GB" dirty="0"/>
              <a:t>        while (true){</a:t>
            </a:r>
          </a:p>
          <a:p>
            <a:r>
              <a:rPr lang="en-GB" dirty="0"/>
              <a:t>        Socket </a:t>
            </a:r>
            <a:r>
              <a:rPr lang="en-GB" dirty="0" err="1"/>
              <a:t>cSocket</a:t>
            </a:r>
            <a:r>
              <a:rPr lang="en-GB" dirty="0"/>
              <a:t> = </a:t>
            </a:r>
            <a:r>
              <a:rPr lang="en-GB" dirty="0" err="1"/>
              <a:t>serverSocket.accept</a:t>
            </a:r>
            <a:r>
              <a:rPr lang="en-GB" dirty="0"/>
              <a:t>();</a:t>
            </a:r>
          </a:p>
          <a:p>
            <a:r>
              <a:rPr lang="en-GB" dirty="0"/>
              <a:t>        </a:t>
            </a:r>
            <a:r>
              <a:rPr lang="en-GB" dirty="0" err="1"/>
              <a:t>System.out.println</a:t>
            </a:r>
            <a:r>
              <a:rPr lang="en-GB" dirty="0"/>
              <a:t>("Client connected!");</a:t>
            </a:r>
            <a:endParaRPr lang="en-GB" b="1" dirty="0"/>
          </a:p>
          <a:p>
            <a:r>
              <a:rPr lang="en-GB" b="1" dirty="0"/>
              <a:t>        </a:t>
            </a:r>
            <a:r>
              <a:rPr lang="en-GB" b="1" dirty="0" err="1"/>
              <a:t>pool.</a:t>
            </a:r>
            <a:r>
              <a:rPr lang="en-GB" b="1" dirty="0" err="1">
                <a:solidFill>
                  <a:srgbClr val="00B050"/>
                </a:solidFill>
              </a:rPr>
              <a:t>execute</a:t>
            </a:r>
            <a:r>
              <a:rPr lang="en-GB" b="1" dirty="0"/>
              <a:t>(new </a:t>
            </a:r>
            <a:r>
              <a:rPr lang="en-GB" b="1" dirty="0" err="1"/>
              <a:t>ServerMT</a:t>
            </a:r>
            <a:r>
              <a:rPr lang="en-GB" b="1" dirty="0"/>
              <a:t> (</a:t>
            </a:r>
            <a:r>
              <a:rPr lang="en-GB" b="1" dirty="0" err="1"/>
              <a:t>cSocket</a:t>
            </a:r>
            <a:r>
              <a:rPr lang="en-GB" b="1" dirty="0"/>
              <a:t>)); </a:t>
            </a:r>
            <a:r>
              <a:rPr lang="en-GB" dirty="0"/>
              <a:t>}}</a:t>
            </a:r>
          </a:p>
          <a:p>
            <a:endParaRPr lang="en-GB" dirty="0"/>
          </a:p>
          <a:p>
            <a:r>
              <a:rPr lang="en-GB" dirty="0"/>
              <a:t> </a:t>
            </a:r>
            <a:r>
              <a:rPr lang="en-GB" b="1" dirty="0"/>
              <a:t>public </a:t>
            </a:r>
            <a:r>
              <a:rPr lang="en-GB" b="1" dirty="0" err="1">
                <a:solidFill>
                  <a:srgbClr val="00B050"/>
                </a:solidFill>
              </a:rPr>
              <a:t>ServerMTv</a:t>
            </a:r>
            <a:r>
              <a:rPr lang="en-GB" b="1" dirty="0"/>
              <a:t>(Socket s){</a:t>
            </a:r>
            <a:r>
              <a:rPr lang="en-GB" b="1" dirty="0" err="1"/>
              <a:t>this.clientSocket</a:t>
            </a:r>
            <a:r>
              <a:rPr lang="en-GB" b="1" dirty="0"/>
              <a:t> =s;} </a:t>
            </a:r>
          </a:p>
          <a:p>
            <a:endParaRPr lang="en-GB" dirty="0"/>
          </a:p>
          <a:p>
            <a:r>
              <a:rPr lang="en-GB" dirty="0"/>
              <a:t>  public void run()  { </a:t>
            </a:r>
          </a:p>
          <a:p>
            <a:r>
              <a:rPr lang="en-GB" dirty="0"/>
              <a:t>        </a:t>
            </a:r>
            <a:r>
              <a:rPr lang="en-GB" dirty="0" err="1"/>
              <a:t>BufferedReader</a:t>
            </a:r>
            <a:r>
              <a:rPr lang="en-GB" dirty="0"/>
              <a:t> in = new </a:t>
            </a:r>
            <a:r>
              <a:rPr lang="en-GB" dirty="0" err="1"/>
              <a:t>BufferedReader</a:t>
            </a:r>
            <a:r>
              <a:rPr lang="en-GB" dirty="0"/>
              <a:t>(new </a:t>
            </a:r>
            <a:r>
              <a:rPr lang="en-GB" dirty="0" err="1"/>
              <a:t>InputStreamReader</a:t>
            </a:r>
            <a:r>
              <a:rPr lang="en-GB" dirty="0"/>
              <a:t>(</a:t>
            </a:r>
            <a:r>
              <a:rPr lang="en-GB" dirty="0" err="1"/>
              <a:t>clientSocket.getInputStream</a:t>
            </a:r>
            <a:r>
              <a:rPr lang="en-GB" dirty="0"/>
              <a:t>()));</a:t>
            </a:r>
          </a:p>
          <a:p>
            <a:r>
              <a:rPr lang="en-GB" dirty="0"/>
              <a:t>        </a:t>
            </a:r>
            <a:r>
              <a:rPr lang="en-GB" dirty="0" err="1"/>
              <a:t>PrintWriter</a:t>
            </a:r>
            <a:r>
              <a:rPr lang="en-GB" dirty="0"/>
              <a:t> out = new </a:t>
            </a:r>
            <a:r>
              <a:rPr lang="en-GB" dirty="0" err="1"/>
              <a:t>PrintWriter</a:t>
            </a:r>
            <a:r>
              <a:rPr lang="en-GB" dirty="0"/>
              <a:t>(</a:t>
            </a:r>
            <a:r>
              <a:rPr lang="en-GB" dirty="0" err="1"/>
              <a:t>clientSocket.getOutputStream</a:t>
            </a:r>
            <a:r>
              <a:rPr lang="en-GB" dirty="0"/>
              <a:t>(), true);</a:t>
            </a:r>
          </a:p>
          <a:p>
            <a:r>
              <a:rPr lang="en-GB" dirty="0"/>
              <a:t>         String message = </a:t>
            </a:r>
            <a:r>
              <a:rPr lang="en-GB" dirty="0" err="1"/>
              <a:t>in.readLine</a:t>
            </a:r>
            <a:r>
              <a:rPr lang="en-GB" dirty="0"/>
              <a:t>();  </a:t>
            </a:r>
            <a:r>
              <a:rPr lang="en-GB" dirty="0" err="1"/>
              <a:t>System.out.println</a:t>
            </a:r>
            <a:r>
              <a:rPr lang="en-GB" dirty="0"/>
              <a:t>("From client: " + message);  </a:t>
            </a:r>
          </a:p>
          <a:p>
            <a:r>
              <a:rPr lang="en-GB" dirty="0"/>
              <a:t>         while (! </a:t>
            </a:r>
            <a:r>
              <a:rPr lang="en-GB" dirty="0" err="1"/>
              <a:t>message.equals</a:t>
            </a:r>
            <a:r>
              <a:rPr lang="en-GB" dirty="0"/>
              <a:t>("bye"))</a:t>
            </a:r>
            <a:r>
              <a:rPr lang="en-GB" b="1" dirty="0"/>
              <a:t> </a:t>
            </a:r>
            <a:r>
              <a:rPr lang="en-GB" dirty="0"/>
              <a:t>{</a:t>
            </a:r>
          </a:p>
          <a:p>
            <a:pPr lvl="1"/>
            <a:r>
              <a:rPr lang="en-GB" dirty="0"/>
              <a:t> </a:t>
            </a:r>
            <a:r>
              <a:rPr lang="en-GB" dirty="0" err="1"/>
              <a:t>out.println</a:t>
            </a:r>
            <a:r>
              <a:rPr lang="en-GB" dirty="0"/>
              <a:t>("Message received!");  message = </a:t>
            </a:r>
            <a:r>
              <a:rPr lang="en-GB" dirty="0" err="1"/>
              <a:t>in.readLine</a:t>
            </a:r>
            <a:r>
              <a:rPr lang="en-GB" dirty="0"/>
              <a:t>(); </a:t>
            </a:r>
            <a:r>
              <a:rPr lang="en-GB" dirty="0" err="1"/>
              <a:t>System.out.println</a:t>
            </a:r>
            <a:r>
              <a:rPr lang="en-GB" dirty="0"/>
              <a:t>("From client: " + message);}</a:t>
            </a:r>
          </a:p>
          <a:p>
            <a:r>
              <a:rPr lang="en-GB" dirty="0"/>
              <a:t>         </a:t>
            </a:r>
            <a:r>
              <a:rPr lang="en-GB" dirty="0" err="1"/>
              <a:t>clientSocket.close</a:t>
            </a:r>
            <a:r>
              <a:rPr lang="en-GB" dirty="0"/>
              <a:t>();}</a:t>
            </a:r>
            <a:r>
              <a:rPr lang="en-GB" sz="2000" dirty="0"/>
              <a:t>}</a:t>
            </a:r>
          </a:p>
        </p:txBody>
      </p:sp>
      <p:sp>
        <p:nvSpPr>
          <p:cNvPr id="2" name="TextBox 1">
            <a:extLst>
              <a:ext uri="{FF2B5EF4-FFF2-40B4-BE49-F238E27FC236}">
                <a16:creationId xmlns:a16="http://schemas.microsoft.com/office/drawing/2014/main" id="{241001FD-14E7-033A-4A99-8BF05D68BB02}"/>
              </a:ext>
            </a:extLst>
          </p:cNvPr>
          <p:cNvSpPr txBox="1"/>
          <p:nvPr/>
        </p:nvSpPr>
        <p:spPr>
          <a:xfrm>
            <a:off x="7142480" y="2677030"/>
            <a:ext cx="4037003" cy="369332"/>
          </a:xfrm>
          <a:prstGeom prst="rect">
            <a:avLst/>
          </a:prstGeom>
          <a:solidFill>
            <a:srgbClr val="92D050"/>
          </a:solidFill>
          <a:ln/>
        </p:spPr>
        <p:style>
          <a:lnRef idx="3">
            <a:schemeClr val="lt1"/>
          </a:lnRef>
          <a:fillRef idx="1">
            <a:schemeClr val="accent5"/>
          </a:fillRef>
          <a:effectRef idx="1">
            <a:schemeClr val="accent5"/>
          </a:effectRef>
          <a:fontRef idx="minor">
            <a:schemeClr val="lt1"/>
          </a:fontRef>
        </p:style>
        <p:txBody>
          <a:bodyPr wrap="none" rtlCol="0">
            <a:spAutoFit/>
          </a:bodyPr>
          <a:lstStyle/>
          <a:p>
            <a:r>
              <a:rPr lang="en-US" dirty="0"/>
              <a:t>am  </a:t>
            </a:r>
            <a:r>
              <a:rPr lang="en-US" dirty="0" err="1"/>
              <a:t>creat</a:t>
            </a:r>
            <a:r>
              <a:rPr lang="en-US" dirty="0"/>
              <a:t> o piscina </a:t>
            </a:r>
            <a:r>
              <a:rPr lang="en-US" b="1" dirty="0"/>
              <a:t>de thread-</a:t>
            </a:r>
            <a:r>
              <a:rPr lang="en-US" b="1" dirty="0" err="1"/>
              <a:t>uri</a:t>
            </a:r>
            <a:r>
              <a:rPr lang="en-US" b="1" dirty="0"/>
              <a:t> </a:t>
            </a:r>
            <a:r>
              <a:rPr lang="en-US" b="1" dirty="0" err="1"/>
              <a:t>virtuale</a:t>
            </a:r>
            <a:endParaRPr lang="en-GB" dirty="0"/>
          </a:p>
        </p:txBody>
      </p:sp>
      <p:sp>
        <p:nvSpPr>
          <p:cNvPr id="5" name="TextBox 4">
            <a:extLst>
              <a:ext uri="{FF2B5EF4-FFF2-40B4-BE49-F238E27FC236}">
                <a16:creationId xmlns:a16="http://schemas.microsoft.com/office/drawing/2014/main" id="{DF42F6BA-9B91-5041-6FEE-BC5B5A45183B}"/>
              </a:ext>
            </a:extLst>
          </p:cNvPr>
          <p:cNvSpPr txBox="1"/>
          <p:nvPr/>
        </p:nvSpPr>
        <p:spPr>
          <a:xfrm>
            <a:off x="5293360" y="154026"/>
            <a:ext cx="6563360"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Wingdings" panose="05000000000000000000" pitchFamily="2" charset="2"/>
              <a:buChar char="Ø"/>
            </a:pPr>
            <a:r>
              <a:rPr lang="en-US" sz="2400" b="1" dirty="0"/>
              <a:t>Server multithreaded cu thread-</a:t>
            </a:r>
            <a:r>
              <a:rPr lang="en-US" sz="2400" b="1" dirty="0" err="1"/>
              <a:t>uri</a:t>
            </a:r>
            <a:r>
              <a:rPr lang="en-US" sz="2400" b="1" dirty="0"/>
              <a:t> </a:t>
            </a:r>
            <a:r>
              <a:rPr lang="en-US" sz="2400" b="1" dirty="0" err="1"/>
              <a:t>virtuale</a:t>
            </a:r>
            <a:endParaRPr lang="en-GB" sz="2400" b="1" dirty="0"/>
          </a:p>
        </p:txBody>
      </p:sp>
    </p:spTree>
    <p:extLst>
      <p:ext uri="{BB962C8B-B14F-4D97-AF65-F5344CB8AC3E}">
        <p14:creationId xmlns:p14="http://schemas.microsoft.com/office/powerpoint/2010/main" val="3328725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0619-788B-B06A-2DC8-650C94248D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A448CA-9BEC-A72D-3582-35813F810300}"/>
              </a:ext>
            </a:extLst>
          </p:cNvPr>
          <p:cNvSpPr txBox="1"/>
          <p:nvPr/>
        </p:nvSpPr>
        <p:spPr>
          <a:xfrm>
            <a:off x="4178913" y="261007"/>
            <a:ext cx="6096000" cy="369332"/>
          </a:xfrm>
          <a:prstGeom prst="rect">
            <a:avLst/>
          </a:prstGeom>
          <a:noFill/>
        </p:spPr>
        <p:txBody>
          <a:bodyPr wrap="square">
            <a:spAutoFit/>
          </a:bodyPr>
          <a:lstStyle/>
          <a:p>
            <a:r>
              <a:rPr lang="en-GB" dirty="0">
                <a:hlinkClick r:id="rId2"/>
              </a:rPr>
              <a:t>JEP 444: Virtual Threads</a:t>
            </a:r>
            <a:endParaRPr lang="en-GB" dirty="0"/>
          </a:p>
        </p:txBody>
      </p:sp>
      <p:sp>
        <p:nvSpPr>
          <p:cNvPr id="5" name="TextBox 4">
            <a:extLst>
              <a:ext uri="{FF2B5EF4-FFF2-40B4-BE49-F238E27FC236}">
                <a16:creationId xmlns:a16="http://schemas.microsoft.com/office/drawing/2014/main" id="{C3AC1CB8-5AEC-A66A-8008-CEA02BE608BB}"/>
              </a:ext>
            </a:extLst>
          </p:cNvPr>
          <p:cNvSpPr txBox="1"/>
          <p:nvPr/>
        </p:nvSpPr>
        <p:spPr>
          <a:xfrm>
            <a:off x="459653" y="1685193"/>
            <a:ext cx="11054080" cy="2862322"/>
          </a:xfrm>
          <a:prstGeom prst="rect">
            <a:avLst/>
          </a:prstGeom>
          <a:noFill/>
        </p:spPr>
        <p:txBody>
          <a:bodyPr wrap="square">
            <a:spAutoFit/>
          </a:bodyPr>
          <a:lstStyle/>
          <a:p>
            <a:pPr marR="0" algn="l">
              <a:buNone/>
            </a:pPr>
            <a:r>
              <a:rPr lang="en-GB" b="1" dirty="0"/>
              <a:t>The thread-per-request style […]</a:t>
            </a:r>
          </a:p>
          <a:p>
            <a:endParaRPr lang="en-GB" b="1" dirty="0"/>
          </a:p>
          <a:p>
            <a:pPr marL="0" marR="0" algn="l">
              <a:buNone/>
            </a:pPr>
            <a:r>
              <a:rPr lang="en-GB" b="1" dirty="0"/>
              <a:t>Improving scalability with the asynchronous style</a:t>
            </a:r>
          </a:p>
          <a:p>
            <a:pPr algn="just"/>
            <a:r>
              <a:rPr lang="en-GB" dirty="0"/>
              <a:t>Some developers wishing to utilize hardware to its fullest have given up the thread-per-request style in </a:t>
            </a:r>
            <a:r>
              <a:rPr lang="en-GB" dirty="0" err="1"/>
              <a:t>favor</a:t>
            </a:r>
            <a:r>
              <a:rPr lang="en-GB" dirty="0"/>
              <a:t> of a thread-sharing style. In the asynchronous style, each stage of a request might execute on a different thread, and every thread runs stages belonging to different requests in an interleaved fashion.  […] </a:t>
            </a:r>
            <a:r>
              <a:rPr lang="en-GB" i="1" dirty="0"/>
              <a:t>This programming style is at odds with the Java Platform because the application's unit of concurrency — the asynchronous pipeline — is no longer the platform's unit of concurrency.</a:t>
            </a:r>
          </a:p>
          <a:p>
            <a:endParaRPr lang="en-GB" b="1" dirty="0"/>
          </a:p>
          <a:p>
            <a:r>
              <a:rPr lang="en-GB" b="1" dirty="0"/>
              <a:t>Preserving the thread-per-request style with virtual threads […]</a:t>
            </a:r>
          </a:p>
        </p:txBody>
      </p:sp>
    </p:spTree>
    <p:extLst>
      <p:ext uri="{BB962C8B-B14F-4D97-AF65-F5344CB8AC3E}">
        <p14:creationId xmlns:p14="http://schemas.microsoft.com/office/powerpoint/2010/main" val="13766860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16EF8-C42B-E299-1EE9-9A08205EC23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769C68C-E53B-B413-98FB-0C686A528AFC}"/>
              </a:ext>
            </a:extLst>
          </p:cNvPr>
          <p:cNvSpPr txBox="1"/>
          <p:nvPr/>
        </p:nvSpPr>
        <p:spPr>
          <a:xfrm>
            <a:off x="1310640" y="5678161"/>
            <a:ext cx="6096000" cy="369332"/>
          </a:xfrm>
          <a:prstGeom prst="rect">
            <a:avLst/>
          </a:prstGeom>
          <a:noFill/>
        </p:spPr>
        <p:txBody>
          <a:bodyPr wrap="square">
            <a:spAutoFit/>
          </a:bodyPr>
          <a:lstStyle/>
          <a:p>
            <a:r>
              <a:rPr lang="en-GB" dirty="0" err="1">
                <a:hlinkClick r:id="rId2"/>
              </a:rPr>
              <a:t>java.nio</a:t>
            </a:r>
            <a:r>
              <a:rPr lang="en-GB" dirty="0">
                <a:hlinkClick r:id="rId2"/>
              </a:rPr>
              <a:t> (Java SE 24 &amp; JDK 24)</a:t>
            </a:r>
            <a:endParaRPr lang="en-GB" dirty="0"/>
          </a:p>
        </p:txBody>
      </p:sp>
      <p:sp>
        <p:nvSpPr>
          <p:cNvPr id="9" name="TextBox 8">
            <a:extLst>
              <a:ext uri="{FF2B5EF4-FFF2-40B4-BE49-F238E27FC236}">
                <a16:creationId xmlns:a16="http://schemas.microsoft.com/office/drawing/2014/main" id="{5DAC048F-332F-1856-6555-F9B94A4FF7F3}"/>
              </a:ext>
            </a:extLst>
          </p:cNvPr>
          <p:cNvSpPr txBox="1"/>
          <p:nvPr/>
        </p:nvSpPr>
        <p:spPr>
          <a:xfrm>
            <a:off x="599440" y="810507"/>
            <a:ext cx="9814560" cy="4524315"/>
          </a:xfrm>
          <a:prstGeom prst="rect">
            <a:avLst/>
          </a:prstGeom>
          <a:noFill/>
        </p:spPr>
        <p:txBody>
          <a:bodyPr wrap="square">
            <a:spAutoFit/>
          </a:bodyPr>
          <a:lstStyle/>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API-ul NIO </a:t>
            </a:r>
            <a:r>
              <a:rPr lang="en-GB" dirty="0" err="1"/>
              <a:t>foloseste</a:t>
            </a:r>
            <a:r>
              <a:rPr lang="en-GB" dirty="0"/>
              <a:t> </a:t>
            </a:r>
            <a:r>
              <a:rPr lang="en-GB" dirty="0" err="1"/>
              <a:t>canale</a:t>
            </a:r>
            <a:r>
              <a:rPr lang="en-GB" dirty="0"/>
              <a:t> </a:t>
            </a:r>
            <a:r>
              <a:rPr lang="en-GB" dirty="0" err="1"/>
              <a:t>si</a:t>
            </a:r>
            <a:r>
              <a:rPr lang="en-GB" dirty="0"/>
              <a:t> </a:t>
            </a:r>
            <a:r>
              <a:rPr lang="en-GB" dirty="0" err="1"/>
              <a:t>buffere</a:t>
            </a:r>
            <a:r>
              <a:rPr lang="en-GB" dirty="0"/>
              <a:t> (</a:t>
            </a:r>
            <a:r>
              <a:rPr lang="en-GB" dirty="0" err="1"/>
              <a:t>spre</a:t>
            </a:r>
            <a:r>
              <a:rPr lang="en-GB" dirty="0"/>
              <a:t> </a:t>
            </a:r>
            <a:r>
              <a:rPr lang="en-GB" dirty="0" err="1"/>
              <a:t>deosebire</a:t>
            </a:r>
            <a:r>
              <a:rPr lang="en-GB" dirty="0"/>
              <a:t> de API-ul IO care </a:t>
            </a:r>
            <a:r>
              <a:rPr lang="en-GB" dirty="0" err="1"/>
              <a:t>foloseste</a:t>
            </a:r>
            <a:r>
              <a:rPr lang="en-GB" dirty="0"/>
              <a:t> stream-</a:t>
            </a:r>
            <a:r>
              <a:rPr lang="en-GB" dirty="0" err="1"/>
              <a:t>uri</a:t>
            </a:r>
            <a:r>
              <a:rPr lang="en-GB" dirty="0"/>
              <a:t>).</a:t>
            </a:r>
          </a:p>
          <a:p>
            <a:endParaRPr lang="en-GB" dirty="0"/>
          </a:p>
          <a:p>
            <a:pPr marL="285750" indent="-285750">
              <a:buFont typeface="Arial" panose="020B0604020202020204" pitchFamily="34" charset="0"/>
              <a:buChar char="•"/>
            </a:pPr>
            <a:r>
              <a:rPr lang="en-GB" b="1" dirty="0" err="1"/>
              <a:t>Bufferele</a:t>
            </a:r>
            <a:r>
              <a:rPr lang="en-GB" b="1" dirty="0"/>
              <a:t> </a:t>
            </a:r>
            <a:r>
              <a:rPr lang="en-GB" dirty="0"/>
              <a:t>sunt </a:t>
            </a:r>
            <a:r>
              <a:rPr lang="en-GB" dirty="0" err="1"/>
              <a:t>blocuri</a:t>
            </a:r>
            <a:r>
              <a:rPr lang="en-GB" dirty="0"/>
              <a:t> de </a:t>
            </a:r>
            <a:r>
              <a:rPr lang="en-GB" dirty="0" err="1"/>
              <a:t>memorie</a:t>
            </a:r>
            <a:r>
              <a:rPr lang="en-GB" dirty="0"/>
              <a:t> in care </a:t>
            </a:r>
            <a:r>
              <a:rPr lang="en-GB" dirty="0" err="1"/>
              <a:t>datele</a:t>
            </a:r>
            <a:r>
              <a:rPr lang="en-GB" dirty="0"/>
              <a:t> sunt </a:t>
            </a:r>
            <a:r>
              <a:rPr lang="en-GB" dirty="0" err="1"/>
              <a:t>scrise</a:t>
            </a:r>
            <a:r>
              <a:rPr lang="en-GB" dirty="0"/>
              <a:t> </a:t>
            </a:r>
            <a:r>
              <a:rPr lang="en-GB" dirty="0" err="1"/>
              <a:t>pentru</a:t>
            </a:r>
            <a:r>
              <a:rPr lang="en-GB" dirty="0"/>
              <a:t> a fi </a:t>
            </a:r>
            <a:r>
              <a:rPr lang="en-GB" dirty="0" err="1"/>
              <a:t>prelucrate</a:t>
            </a:r>
            <a:r>
              <a:rPr lang="en-GB" dirty="0"/>
              <a:t> ulterior. </a:t>
            </a:r>
            <a:r>
              <a:rPr lang="en-GB" dirty="0" err="1"/>
              <a:t>Operatiile</a:t>
            </a:r>
            <a:r>
              <a:rPr lang="en-GB" dirty="0"/>
              <a:t> de </a:t>
            </a:r>
            <a:r>
              <a:rPr lang="en-GB" dirty="0" err="1"/>
              <a:t>citire</a:t>
            </a:r>
            <a:r>
              <a:rPr lang="en-GB" dirty="0"/>
              <a:t>/</a:t>
            </a:r>
            <a:r>
              <a:rPr lang="en-GB" dirty="0" err="1"/>
              <a:t>scriere</a:t>
            </a:r>
            <a:r>
              <a:rPr lang="en-GB" dirty="0"/>
              <a:t> a </a:t>
            </a:r>
            <a:r>
              <a:rPr lang="en-GB" dirty="0" err="1"/>
              <a:t>bufferelor</a:t>
            </a:r>
            <a:r>
              <a:rPr lang="en-GB" dirty="0"/>
              <a:t> se </a:t>
            </a:r>
            <a:r>
              <a:rPr lang="en-GB" dirty="0" err="1"/>
              <a:t>fac</a:t>
            </a:r>
            <a:r>
              <a:rPr lang="en-GB" dirty="0"/>
              <a:t> </a:t>
            </a:r>
            <a:r>
              <a:rPr lang="en-GB" dirty="0" err="1"/>
              <a:t>fara</a:t>
            </a:r>
            <a:r>
              <a:rPr lang="en-GB" dirty="0"/>
              <a:t> </a:t>
            </a:r>
            <a:r>
              <a:rPr lang="en-GB" dirty="0" err="1"/>
              <a:t>blocarea</a:t>
            </a:r>
            <a:r>
              <a:rPr lang="en-GB" dirty="0"/>
              <a:t> thread-</a:t>
            </a:r>
            <a:r>
              <a:rPr lang="en-GB" dirty="0" err="1"/>
              <a:t>urilor</a:t>
            </a:r>
            <a:r>
              <a:rPr lang="en-GB" dirty="0"/>
              <a:t>  (</a:t>
            </a:r>
            <a:r>
              <a:rPr lang="en-GB" dirty="0" err="1"/>
              <a:t>spre</a:t>
            </a:r>
            <a:r>
              <a:rPr lang="en-GB" dirty="0"/>
              <a:t> </a:t>
            </a:r>
            <a:r>
              <a:rPr lang="en-GB" dirty="0" err="1"/>
              <a:t>deosebire</a:t>
            </a:r>
            <a:r>
              <a:rPr lang="en-GB" dirty="0"/>
              <a:t> de </a:t>
            </a:r>
            <a:r>
              <a:rPr lang="en-GB" dirty="0" err="1"/>
              <a:t>operatiile</a:t>
            </a:r>
            <a:r>
              <a:rPr lang="en-GB" dirty="0"/>
              <a:t> de </a:t>
            </a:r>
            <a:r>
              <a:rPr lang="en-GB" dirty="0" err="1"/>
              <a:t>citire</a:t>
            </a:r>
            <a:r>
              <a:rPr lang="en-GB" dirty="0"/>
              <a:t>/</a:t>
            </a:r>
            <a:r>
              <a:rPr lang="en-GB" dirty="0" err="1"/>
              <a:t>scriere</a:t>
            </a:r>
            <a:r>
              <a:rPr lang="en-GB" dirty="0"/>
              <a:t> a stream-</a:t>
            </a:r>
            <a:r>
              <a:rPr lang="en-GB" dirty="0" err="1"/>
              <a:t>urilor</a:t>
            </a:r>
            <a:r>
              <a:rPr lang="en-GB" dirty="0"/>
              <a:t>).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a:t>Canale</a:t>
            </a:r>
            <a:r>
              <a:rPr lang="en-GB" dirty="0"/>
              <a:t> sunt </a:t>
            </a:r>
            <a:r>
              <a:rPr lang="en-GB" dirty="0" err="1"/>
              <a:t>conexiuni</a:t>
            </a:r>
            <a:r>
              <a:rPr lang="en-GB" dirty="0"/>
              <a:t> </a:t>
            </a:r>
            <a:r>
              <a:rPr lang="en-GB" dirty="0" err="1"/>
              <a:t>intre</a:t>
            </a:r>
            <a:r>
              <a:rPr lang="en-GB" dirty="0"/>
              <a:t> </a:t>
            </a:r>
            <a:r>
              <a:rPr lang="en-GB" dirty="0" err="1"/>
              <a:t>buffere</a:t>
            </a:r>
            <a:r>
              <a:rPr lang="en-GB" dirty="0"/>
              <a:t> </a:t>
            </a:r>
            <a:r>
              <a:rPr lang="en-GB" dirty="0" err="1"/>
              <a:t>si</a:t>
            </a:r>
            <a:r>
              <a:rPr lang="en-GB" dirty="0"/>
              <a:t> </a:t>
            </a:r>
            <a:r>
              <a:rPr lang="en-GB" dirty="0" err="1"/>
              <a:t>entitati</a:t>
            </a:r>
            <a:r>
              <a:rPr lang="en-GB" dirty="0"/>
              <a:t> care </a:t>
            </a:r>
            <a:r>
              <a:rPr lang="en-GB" dirty="0" err="1"/>
              <a:t>efectueaza</a:t>
            </a:r>
            <a:r>
              <a:rPr lang="en-GB" dirty="0"/>
              <a:t> </a:t>
            </a:r>
            <a:r>
              <a:rPr lang="en-GB" dirty="0" err="1"/>
              <a:t>operatiile</a:t>
            </a:r>
            <a:r>
              <a:rPr lang="en-GB" dirty="0"/>
              <a:t> de </a:t>
            </a:r>
            <a:r>
              <a:rPr lang="en-GB" dirty="0" err="1"/>
              <a:t>intrare</a:t>
            </a:r>
            <a:r>
              <a:rPr lang="en-GB" dirty="0"/>
              <a:t>/</a:t>
            </a:r>
            <a:r>
              <a:rPr lang="en-GB" dirty="0" err="1"/>
              <a:t>iesire</a:t>
            </a:r>
            <a:r>
              <a:rPr lang="en-GB" dirty="0"/>
              <a:t> (</a:t>
            </a:r>
            <a:r>
              <a:rPr lang="en-GB" dirty="0" err="1"/>
              <a:t>fisiere</a:t>
            </a:r>
            <a:r>
              <a:rPr lang="en-GB" dirty="0"/>
              <a:t> </a:t>
            </a:r>
            <a:r>
              <a:rPr lang="en-GB" dirty="0" err="1"/>
              <a:t>sau</a:t>
            </a:r>
            <a:r>
              <a:rPr lang="en-GB" dirty="0"/>
              <a:t> socket-</a:t>
            </a:r>
            <a:r>
              <a:rPr lang="en-GB" dirty="0" err="1"/>
              <a:t>uri</a:t>
            </a:r>
            <a:r>
              <a:rPr lang="en-GB" dirty="0"/>
              <a:t>): </a:t>
            </a:r>
            <a:r>
              <a:rPr lang="en-GB" dirty="0" err="1"/>
              <a:t>datele</a:t>
            </a:r>
            <a:r>
              <a:rPr lang="en-GB" dirty="0"/>
              <a:t> sunt </a:t>
            </a:r>
            <a:r>
              <a:rPr lang="en-GB" dirty="0" err="1"/>
              <a:t>scrise</a:t>
            </a:r>
            <a:r>
              <a:rPr lang="en-GB" dirty="0"/>
              <a:t> de pe canal </a:t>
            </a:r>
            <a:r>
              <a:rPr lang="en-GB" dirty="0" err="1"/>
              <a:t>intr</a:t>
            </a:r>
            <a:r>
              <a:rPr lang="en-GB" dirty="0"/>
              <a:t>-un buffer </a:t>
            </a:r>
            <a:r>
              <a:rPr lang="en-GB" dirty="0" err="1"/>
              <a:t>sau</a:t>
            </a:r>
            <a:r>
              <a:rPr lang="en-GB" dirty="0"/>
              <a:t> </a:t>
            </a:r>
            <a:r>
              <a:rPr lang="en-GB" dirty="0" err="1"/>
              <a:t>citite</a:t>
            </a:r>
            <a:r>
              <a:rPr lang="en-GB" dirty="0"/>
              <a:t> </a:t>
            </a:r>
            <a:r>
              <a:rPr lang="en-GB" dirty="0" err="1"/>
              <a:t>dintr</a:t>
            </a:r>
            <a:r>
              <a:rPr lang="en-GB" dirty="0"/>
              <a:t>-un buffer pe un canal.  </a:t>
            </a:r>
            <a:r>
              <a:rPr lang="en-GB" b="1" dirty="0" err="1"/>
              <a:t>SocketChannel</a:t>
            </a:r>
            <a:r>
              <a:rPr lang="en-GB" dirty="0"/>
              <a:t> sunt </a:t>
            </a:r>
            <a:r>
              <a:rPr lang="en-GB" dirty="0" err="1"/>
              <a:t>conectate</a:t>
            </a:r>
            <a:r>
              <a:rPr lang="en-GB" dirty="0"/>
              <a:t> la un socket </a:t>
            </a:r>
            <a:r>
              <a:rPr lang="en-GB" dirty="0" err="1"/>
              <a:t>iar</a:t>
            </a:r>
            <a:r>
              <a:rPr lang="en-GB" dirty="0"/>
              <a:t> </a:t>
            </a:r>
            <a:r>
              <a:rPr lang="en-GB" b="1" dirty="0" err="1"/>
              <a:t>ServerSocketChannel</a:t>
            </a:r>
            <a:r>
              <a:rPr lang="en-GB" b="1" dirty="0"/>
              <a:t> </a:t>
            </a:r>
            <a:r>
              <a:rPr lang="en-GB" dirty="0"/>
              <a:t> </a:t>
            </a:r>
            <a:r>
              <a:rPr lang="en-GB" dirty="0" err="1"/>
              <a:t>poate</a:t>
            </a:r>
            <a:r>
              <a:rPr lang="en-GB" dirty="0"/>
              <a:t> </a:t>
            </a:r>
            <a:r>
              <a:rPr lang="en-GB" dirty="0" err="1"/>
              <a:t>accepta</a:t>
            </a:r>
            <a:r>
              <a:rPr lang="en-GB" dirty="0"/>
              <a:t> </a:t>
            </a:r>
            <a:r>
              <a:rPr lang="en-GB" dirty="0" err="1"/>
              <a:t>conexiuni</a:t>
            </a:r>
            <a:r>
              <a:rPr lang="en-GB" dirty="0"/>
              <a:t> (TCP)</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b="1" dirty="0" err="1"/>
              <a:t>Selectori</a:t>
            </a:r>
            <a:r>
              <a:rPr lang="en-GB" dirty="0"/>
              <a:t>  care </a:t>
            </a:r>
            <a:r>
              <a:rPr lang="en-GB" dirty="0" err="1"/>
              <a:t>realizeaza</a:t>
            </a:r>
            <a:r>
              <a:rPr lang="en-GB" dirty="0"/>
              <a:t> </a:t>
            </a:r>
            <a:r>
              <a:rPr lang="en-GB" dirty="0" err="1"/>
              <a:t>multiplexarea</a:t>
            </a:r>
            <a:r>
              <a:rPr lang="en-GB" dirty="0"/>
              <a:t> </a:t>
            </a:r>
            <a:r>
              <a:rPr lang="en-GB" dirty="0" err="1"/>
              <a:t>operatiilor</a:t>
            </a:r>
            <a:r>
              <a:rPr lang="en-GB" dirty="0"/>
              <a:t> de </a:t>
            </a:r>
            <a:r>
              <a:rPr lang="en-GB" dirty="0" err="1"/>
              <a:t>intrare-iesire</a:t>
            </a:r>
            <a:r>
              <a:rPr lang="en-GB" dirty="0"/>
              <a:t> de pe </a:t>
            </a:r>
            <a:r>
              <a:rPr lang="en-GB" dirty="0" err="1"/>
              <a:t>canale</a:t>
            </a:r>
            <a:r>
              <a:rPr lang="en-GB" dirty="0"/>
              <a:t> </a:t>
            </a:r>
            <a:r>
              <a:rPr lang="en-GB" dirty="0" err="1"/>
              <a:t>selectabile</a:t>
            </a:r>
            <a:r>
              <a:rPr lang="en-GB" dirty="0"/>
              <a:t>. </a:t>
            </a:r>
            <a:r>
              <a:rPr lang="en-GB" dirty="0" err="1"/>
              <a:t>Astfel</a:t>
            </a:r>
            <a:r>
              <a:rPr lang="en-GB" dirty="0"/>
              <a:t>, un </a:t>
            </a:r>
            <a:r>
              <a:rPr lang="en-GB" dirty="0" err="1"/>
              <a:t>sigur</a:t>
            </a:r>
            <a:r>
              <a:rPr lang="en-GB" dirty="0"/>
              <a:t> thread </a:t>
            </a:r>
            <a:r>
              <a:rPr lang="en-GB" dirty="0" err="1"/>
              <a:t>poate</a:t>
            </a:r>
            <a:r>
              <a:rPr lang="en-GB" dirty="0"/>
              <a:t> </a:t>
            </a:r>
            <a:r>
              <a:rPr lang="en-GB" dirty="0" err="1"/>
              <a:t>servi</a:t>
            </a:r>
            <a:r>
              <a:rPr lang="en-GB" dirty="0"/>
              <a:t> </a:t>
            </a:r>
            <a:r>
              <a:rPr lang="en-GB" dirty="0" err="1"/>
              <a:t>mai</a:t>
            </a:r>
            <a:r>
              <a:rPr lang="en-GB" dirty="0"/>
              <a:t> </a:t>
            </a:r>
            <a:r>
              <a:rPr lang="en-GB" dirty="0" err="1"/>
              <a:t>multe</a:t>
            </a:r>
            <a:r>
              <a:rPr lang="en-GB" dirty="0"/>
              <a:t> </a:t>
            </a:r>
            <a:r>
              <a:rPr lang="en-GB" dirty="0" err="1"/>
              <a:t>canale</a:t>
            </a:r>
            <a:r>
              <a:rPr lang="en-GB" dirty="0"/>
              <a:t>. </a:t>
            </a:r>
            <a:r>
              <a:rPr lang="en-GB" dirty="0" err="1"/>
              <a:t>Pentru</a:t>
            </a:r>
            <a:r>
              <a:rPr lang="en-GB" dirty="0"/>
              <a:t> a fi </a:t>
            </a:r>
            <a:r>
              <a:rPr lang="en-GB" dirty="0" err="1"/>
              <a:t>procesate</a:t>
            </a:r>
            <a:r>
              <a:rPr lang="en-GB" dirty="0"/>
              <a:t> cu </a:t>
            </a:r>
            <a:r>
              <a:rPr lang="en-GB" dirty="0" err="1"/>
              <a:t>ajutorul</a:t>
            </a:r>
            <a:r>
              <a:rPr lang="en-GB" dirty="0"/>
              <a:t> </a:t>
            </a:r>
            <a:r>
              <a:rPr lang="en-GB" dirty="0" err="1"/>
              <a:t>unui</a:t>
            </a:r>
            <a:r>
              <a:rPr lang="en-GB" dirty="0"/>
              <a:t> selector </a:t>
            </a:r>
            <a:r>
              <a:rPr lang="en-GB" dirty="0" err="1"/>
              <a:t>canelele</a:t>
            </a:r>
            <a:r>
              <a:rPr lang="en-GB" dirty="0"/>
              <a:t> sunt </a:t>
            </a:r>
            <a:r>
              <a:rPr lang="en-GB" dirty="0" err="1"/>
              <a:t>inregistrate</a:t>
            </a:r>
            <a:r>
              <a:rPr lang="en-GB" dirty="0"/>
              <a:t> de </a:t>
            </a:r>
            <a:r>
              <a:rPr lang="en-GB" dirty="0" err="1"/>
              <a:t>selectorul</a:t>
            </a:r>
            <a:r>
              <a:rPr lang="en-GB" dirty="0"/>
              <a:t> </a:t>
            </a:r>
            <a:r>
              <a:rPr lang="en-GB" dirty="0" err="1"/>
              <a:t>respectiv</a:t>
            </a:r>
            <a:r>
              <a:rPr lang="en-GB" dirty="0"/>
              <a:t>, </a:t>
            </a:r>
            <a:r>
              <a:rPr lang="en-GB" dirty="0" err="1"/>
              <a:t>iar</a:t>
            </a:r>
            <a:r>
              <a:rPr lang="en-GB" dirty="0"/>
              <a:t> </a:t>
            </a:r>
            <a:r>
              <a:rPr lang="en-GB" dirty="0" err="1"/>
              <a:t>metoda</a:t>
            </a:r>
            <a:r>
              <a:rPr lang="en-GB" dirty="0"/>
              <a:t> </a:t>
            </a:r>
            <a:r>
              <a:rPr lang="en-GB" b="1" dirty="0"/>
              <a:t>select() </a:t>
            </a:r>
            <a:r>
              <a:rPr lang="en-GB" dirty="0"/>
              <a:t>a </a:t>
            </a:r>
            <a:r>
              <a:rPr lang="en-GB" dirty="0" err="1"/>
              <a:t>selectorului</a:t>
            </a:r>
            <a:r>
              <a:rPr lang="en-GB" dirty="0"/>
              <a:t>  </a:t>
            </a:r>
            <a:r>
              <a:rPr lang="en-GB" dirty="0" err="1"/>
              <a:t>blocheaza</a:t>
            </a:r>
            <a:r>
              <a:rPr lang="en-GB" dirty="0"/>
              <a:t> thread-</a:t>
            </a:r>
            <a:r>
              <a:rPr lang="en-GB" dirty="0" err="1"/>
              <a:t>ul</a:t>
            </a:r>
            <a:r>
              <a:rPr lang="en-GB" dirty="0"/>
              <a:t> </a:t>
            </a:r>
            <a:r>
              <a:rPr lang="en-GB" dirty="0" err="1"/>
              <a:t>pana</a:t>
            </a:r>
            <a:r>
              <a:rPr lang="en-GB" dirty="0"/>
              <a:t> cand cel </a:t>
            </a:r>
            <a:r>
              <a:rPr lang="en-GB" dirty="0" err="1"/>
              <a:t>putin</a:t>
            </a:r>
            <a:r>
              <a:rPr lang="en-GB" dirty="0"/>
              <a:t> un canal </a:t>
            </a:r>
            <a:r>
              <a:rPr lang="en-GB" dirty="0" err="1"/>
              <a:t>inregistrat</a:t>
            </a:r>
            <a:r>
              <a:rPr lang="en-GB" dirty="0"/>
              <a:t> </a:t>
            </a:r>
            <a:r>
              <a:rPr lang="en-GB" dirty="0" err="1"/>
              <a:t>este</a:t>
            </a:r>
            <a:r>
              <a:rPr lang="en-GB" dirty="0"/>
              <a:t> gata </a:t>
            </a:r>
            <a:r>
              <a:rPr lang="en-GB" dirty="0" err="1"/>
              <a:t>pentru</a:t>
            </a:r>
            <a:r>
              <a:rPr lang="en-GB" dirty="0"/>
              <a:t> </a:t>
            </a:r>
            <a:r>
              <a:rPr lang="en-GB" dirty="0" err="1"/>
              <a:t>prelucrare</a:t>
            </a:r>
            <a:r>
              <a:rPr lang="en-GB" dirty="0"/>
              <a:t>. </a:t>
            </a:r>
          </a:p>
        </p:txBody>
      </p:sp>
      <p:sp>
        <p:nvSpPr>
          <p:cNvPr id="10" name="TextBox 9">
            <a:extLst>
              <a:ext uri="{FF2B5EF4-FFF2-40B4-BE49-F238E27FC236}">
                <a16:creationId xmlns:a16="http://schemas.microsoft.com/office/drawing/2014/main" id="{8713639E-3FD9-AB18-075D-607CAD4DBDEF}"/>
              </a:ext>
            </a:extLst>
          </p:cNvPr>
          <p:cNvSpPr txBox="1"/>
          <p:nvPr/>
        </p:nvSpPr>
        <p:spPr>
          <a:xfrm>
            <a:off x="944880" y="325120"/>
            <a:ext cx="3685753"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NIO (New Input/Output) </a:t>
            </a:r>
            <a:endParaRPr lang="en-GB" sz="2400" b="1" dirty="0"/>
          </a:p>
        </p:txBody>
      </p:sp>
    </p:spTree>
    <p:extLst>
      <p:ext uri="{BB962C8B-B14F-4D97-AF65-F5344CB8AC3E}">
        <p14:creationId xmlns:p14="http://schemas.microsoft.com/office/powerpoint/2010/main" val="3217282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378C0-89EF-E55B-1141-DE352DAB3F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7294E6-D6F4-4759-9ED9-AF5ED15C9496}"/>
              </a:ext>
            </a:extLst>
          </p:cNvPr>
          <p:cNvSpPr/>
          <p:nvPr/>
        </p:nvSpPr>
        <p:spPr>
          <a:xfrm>
            <a:off x="1826230" y="458956"/>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2C07F8CF-CDE2-D01A-2FF9-3A1AE2FC2478}"/>
              </a:ext>
            </a:extLst>
          </p:cNvPr>
          <p:cNvSpPr txBox="1"/>
          <p:nvPr/>
        </p:nvSpPr>
        <p:spPr>
          <a:xfrm>
            <a:off x="1115398" y="2525357"/>
            <a:ext cx="3065172" cy="1893194"/>
          </a:xfrm>
          <a:prstGeom prst="rect">
            <a:avLst/>
          </a:prstGeom>
          <a:solidFill>
            <a:schemeClr val="bg1">
              <a:lumMod val="8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sp>
        <p:nvSpPr>
          <p:cNvPr id="11" name="TextBox 10">
            <a:extLst>
              <a:ext uri="{FF2B5EF4-FFF2-40B4-BE49-F238E27FC236}">
                <a16:creationId xmlns:a16="http://schemas.microsoft.com/office/drawing/2014/main" id="{A6FF72B4-4926-1F0A-A9A9-E74848074EA0}"/>
              </a:ext>
            </a:extLst>
          </p:cNvPr>
          <p:cNvSpPr txBox="1"/>
          <p:nvPr/>
        </p:nvSpPr>
        <p:spPr>
          <a:xfrm>
            <a:off x="2269863" y="658237"/>
            <a:ext cx="725968" cy="369332"/>
          </a:xfrm>
          <a:prstGeom prst="rect">
            <a:avLst/>
          </a:prstGeom>
          <a:noFill/>
        </p:spPr>
        <p:txBody>
          <a:bodyPr wrap="none" rtlCol="0">
            <a:spAutoFit/>
          </a:bodyPr>
          <a:lstStyle/>
          <a:p>
            <a:r>
              <a:rPr lang="en-US" dirty="0"/>
              <a:t>Client</a:t>
            </a:r>
          </a:p>
        </p:txBody>
      </p:sp>
      <p:sp>
        <p:nvSpPr>
          <p:cNvPr id="12" name="TextBox 11">
            <a:extLst>
              <a:ext uri="{FF2B5EF4-FFF2-40B4-BE49-F238E27FC236}">
                <a16:creationId xmlns:a16="http://schemas.microsoft.com/office/drawing/2014/main" id="{859EF9B4-6DFF-880C-E1ED-4707F6C6076F}"/>
              </a:ext>
            </a:extLst>
          </p:cNvPr>
          <p:cNvSpPr txBox="1"/>
          <p:nvPr/>
        </p:nvSpPr>
        <p:spPr>
          <a:xfrm>
            <a:off x="2186219" y="3244333"/>
            <a:ext cx="893258" cy="369332"/>
          </a:xfrm>
          <a:prstGeom prst="rect">
            <a:avLst/>
          </a:prstGeom>
          <a:noFill/>
        </p:spPr>
        <p:txBody>
          <a:bodyPr wrap="none" rtlCol="0">
            <a:spAutoFit/>
          </a:bodyPr>
          <a:lstStyle/>
          <a:p>
            <a:r>
              <a:rPr lang="en-US" dirty="0"/>
              <a:t>SERVER</a:t>
            </a:r>
          </a:p>
        </p:txBody>
      </p:sp>
      <p:sp>
        <p:nvSpPr>
          <p:cNvPr id="7" name="Up-Down Arrow 6">
            <a:extLst>
              <a:ext uri="{FF2B5EF4-FFF2-40B4-BE49-F238E27FC236}">
                <a16:creationId xmlns:a16="http://schemas.microsoft.com/office/drawing/2014/main" id="{CB64CA84-CE03-EBFD-E67B-69DFF58AAEF0}"/>
              </a:ext>
            </a:extLst>
          </p:cNvPr>
          <p:cNvSpPr/>
          <p:nvPr/>
        </p:nvSpPr>
        <p:spPr>
          <a:xfrm>
            <a:off x="2514049" y="1268486"/>
            <a:ext cx="67480" cy="1231240"/>
          </a:xfrm>
          <a:prstGeom prst="upDownArrow">
            <a:avLst>
              <a:gd name="adj1" fmla="val 0"/>
              <a:gd name="adj2" fmla="val 50000"/>
            </a:avLst>
          </a:prstGeom>
          <a:ln>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rgbClr val="00B050"/>
              </a:solidFill>
            </a:endParaRPr>
          </a:p>
        </p:txBody>
      </p:sp>
      <p:sp>
        <p:nvSpPr>
          <p:cNvPr id="5" name="TextBox 4">
            <a:extLst>
              <a:ext uri="{FF2B5EF4-FFF2-40B4-BE49-F238E27FC236}">
                <a16:creationId xmlns:a16="http://schemas.microsoft.com/office/drawing/2014/main" id="{FAF0ADA7-DC3D-BBA5-759B-DFC20E973497}"/>
              </a:ext>
            </a:extLst>
          </p:cNvPr>
          <p:cNvSpPr txBox="1"/>
          <p:nvPr/>
        </p:nvSpPr>
        <p:spPr>
          <a:xfrm>
            <a:off x="6453696" y="1442367"/>
            <a:ext cx="184731" cy="646331"/>
          </a:xfrm>
          <a:prstGeom prst="rect">
            <a:avLst/>
          </a:prstGeom>
          <a:noFill/>
        </p:spPr>
        <p:txBody>
          <a:bodyPr wrap="none" rtlCol="0">
            <a:spAutoFit/>
          </a:bodyPr>
          <a:lstStyle/>
          <a:p>
            <a:endParaRPr lang="en-US" dirty="0"/>
          </a:p>
          <a:p>
            <a:endParaRPr lang="en-GB" dirty="0"/>
          </a:p>
        </p:txBody>
      </p:sp>
      <p:sp>
        <p:nvSpPr>
          <p:cNvPr id="4" name="Rectangle 3">
            <a:extLst>
              <a:ext uri="{FF2B5EF4-FFF2-40B4-BE49-F238E27FC236}">
                <a16:creationId xmlns:a16="http://schemas.microsoft.com/office/drawing/2014/main" id="{2C2F3C62-CBDD-7364-4592-58E0559EE95B}"/>
              </a:ext>
            </a:extLst>
          </p:cNvPr>
          <p:cNvSpPr/>
          <p:nvPr/>
        </p:nvSpPr>
        <p:spPr>
          <a:xfrm>
            <a:off x="443440" y="5031298"/>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60FA6E74-E93D-A072-B1BD-EF82B1438053}"/>
              </a:ext>
            </a:extLst>
          </p:cNvPr>
          <p:cNvSpPr/>
          <p:nvPr/>
        </p:nvSpPr>
        <p:spPr>
          <a:xfrm>
            <a:off x="1924707" y="5031298"/>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006FA857-4D86-F6D3-D7D5-89316165091D}"/>
              </a:ext>
            </a:extLst>
          </p:cNvPr>
          <p:cNvSpPr/>
          <p:nvPr/>
        </p:nvSpPr>
        <p:spPr>
          <a:xfrm>
            <a:off x="3590947" y="5021491"/>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034CFF8-EDAA-6346-C7F4-7334263E119A}"/>
              </a:ext>
            </a:extLst>
          </p:cNvPr>
          <p:cNvCxnSpPr/>
          <p:nvPr/>
        </p:nvCxnSpPr>
        <p:spPr>
          <a:xfrm flipH="1">
            <a:off x="1239520" y="4460240"/>
            <a:ext cx="325120" cy="487680"/>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FD14193-5D7F-2FA8-782A-4A103197E6ED}"/>
              </a:ext>
            </a:extLst>
          </p:cNvPr>
          <p:cNvCxnSpPr>
            <a:cxnSpLocks/>
            <a:endCxn id="8" idx="0"/>
          </p:cNvCxnSpPr>
          <p:nvPr/>
        </p:nvCxnSpPr>
        <p:spPr>
          <a:xfrm>
            <a:off x="3992880" y="4460240"/>
            <a:ext cx="254890" cy="561251"/>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86FF99F-4FEA-2F32-F5E0-0C6072383041}"/>
              </a:ext>
            </a:extLst>
          </p:cNvPr>
          <p:cNvCxnSpPr>
            <a:cxnSpLocks/>
            <a:endCxn id="6" idx="0"/>
          </p:cNvCxnSpPr>
          <p:nvPr/>
        </p:nvCxnSpPr>
        <p:spPr>
          <a:xfrm flipH="1">
            <a:off x="2581530" y="4476253"/>
            <a:ext cx="35838" cy="555045"/>
          </a:xfrm>
          <a:prstGeom prst="straightConnector1">
            <a:avLst/>
          </a:prstGeom>
          <a:ln w="190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EDD2F6E-0D97-24D2-9225-45495571B7AC}"/>
              </a:ext>
            </a:extLst>
          </p:cNvPr>
          <p:cNvSpPr/>
          <p:nvPr/>
        </p:nvSpPr>
        <p:spPr>
          <a:xfrm>
            <a:off x="6276192" y="5031298"/>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9D4122B3-28AA-669A-AFAE-3BD09C421CA3}"/>
              </a:ext>
            </a:extLst>
          </p:cNvPr>
          <p:cNvSpPr/>
          <p:nvPr/>
        </p:nvSpPr>
        <p:spPr>
          <a:xfrm>
            <a:off x="7969863" y="5013286"/>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A95DD0C8-3920-7C70-7FDD-C3ADA089343C}"/>
              </a:ext>
            </a:extLst>
          </p:cNvPr>
          <p:cNvSpPr/>
          <p:nvPr/>
        </p:nvSpPr>
        <p:spPr>
          <a:xfrm>
            <a:off x="9747348" y="5021490"/>
            <a:ext cx="1313645" cy="721217"/>
          </a:xfrm>
          <a:prstGeom prst="rect">
            <a:avLst/>
          </a:prstGeom>
          <a:solidFill>
            <a:srgbClr val="FF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08BE5CBA-9623-A05D-D2EF-2D5742C0F963}"/>
              </a:ext>
            </a:extLst>
          </p:cNvPr>
          <p:cNvSpPr txBox="1"/>
          <p:nvPr/>
        </p:nvSpPr>
        <p:spPr>
          <a:xfrm>
            <a:off x="6704812" y="158888"/>
            <a:ext cx="2855748" cy="1444260"/>
          </a:xfrm>
          <a:prstGeom prst="rect">
            <a:avLst/>
          </a:prstGeom>
          <a:solidFill>
            <a:schemeClr val="bg1">
              <a:lumMod val="85000"/>
            </a:schemeClr>
          </a:solidFill>
        </p:spPr>
        <p:style>
          <a:lnRef idx="1">
            <a:schemeClr val="accent5"/>
          </a:lnRef>
          <a:fillRef idx="2">
            <a:schemeClr val="accent5"/>
          </a:fillRef>
          <a:effectRef idx="1">
            <a:schemeClr val="accent5"/>
          </a:effectRef>
          <a:fontRef idx="minor">
            <a:schemeClr val="dk1"/>
          </a:fontRef>
        </p:style>
        <p:txBody>
          <a:bodyPr wrap="square" rtlCol="0">
            <a:spAutoFit/>
          </a:bodyPr>
          <a:lstStyle/>
          <a:p>
            <a:endParaRPr lang="en-US" dirty="0"/>
          </a:p>
        </p:txBody>
      </p:sp>
      <p:cxnSp>
        <p:nvCxnSpPr>
          <p:cNvPr id="27" name="Straight Connector 26">
            <a:extLst>
              <a:ext uri="{FF2B5EF4-FFF2-40B4-BE49-F238E27FC236}">
                <a16:creationId xmlns:a16="http://schemas.microsoft.com/office/drawing/2014/main" id="{6F780826-8895-595C-CB2B-781196B6541E}"/>
              </a:ext>
            </a:extLst>
          </p:cNvPr>
          <p:cNvCxnSpPr>
            <a:cxnSpLocks/>
          </p:cNvCxnSpPr>
          <p:nvPr/>
        </p:nvCxnSpPr>
        <p:spPr>
          <a:xfrm flipH="1">
            <a:off x="7094483" y="4324305"/>
            <a:ext cx="490679" cy="6236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FB19486-E4DC-BC4B-F2BF-3EB1CF2AC6C5}"/>
              </a:ext>
            </a:extLst>
          </p:cNvPr>
          <p:cNvCxnSpPr>
            <a:cxnSpLocks/>
          </p:cNvCxnSpPr>
          <p:nvPr/>
        </p:nvCxnSpPr>
        <p:spPr>
          <a:xfrm>
            <a:off x="8580876" y="4188371"/>
            <a:ext cx="0" cy="8429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047084E-2CEC-B393-B5EC-1918A03EFEB8}"/>
              </a:ext>
            </a:extLst>
          </p:cNvPr>
          <p:cNvCxnSpPr>
            <a:cxnSpLocks/>
          </p:cNvCxnSpPr>
          <p:nvPr/>
        </p:nvCxnSpPr>
        <p:spPr>
          <a:xfrm>
            <a:off x="9341464" y="4259634"/>
            <a:ext cx="640301" cy="721217"/>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C06567F-BA7F-A054-2446-509AA460E61B}"/>
              </a:ext>
            </a:extLst>
          </p:cNvPr>
          <p:cNvSpPr txBox="1"/>
          <p:nvPr/>
        </p:nvSpPr>
        <p:spPr>
          <a:xfrm>
            <a:off x="7585162" y="713901"/>
            <a:ext cx="6096000" cy="369332"/>
          </a:xfrm>
          <a:prstGeom prst="rect">
            <a:avLst/>
          </a:prstGeom>
          <a:noFill/>
        </p:spPr>
        <p:txBody>
          <a:bodyPr wrap="square">
            <a:spAutoFit/>
          </a:bodyPr>
          <a:lstStyle/>
          <a:p>
            <a:r>
              <a:rPr lang="en-US" dirty="0"/>
              <a:t>SERVER</a:t>
            </a:r>
          </a:p>
        </p:txBody>
      </p:sp>
      <p:sp>
        <p:nvSpPr>
          <p:cNvPr id="35" name="Oval 34">
            <a:extLst>
              <a:ext uri="{FF2B5EF4-FFF2-40B4-BE49-F238E27FC236}">
                <a16:creationId xmlns:a16="http://schemas.microsoft.com/office/drawing/2014/main" id="{805E6351-5E4B-7620-6C85-0E9B164D883B}"/>
              </a:ext>
            </a:extLst>
          </p:cNvPr>
          <p:cNvSpPr/>
          <p:nvPr/>
        </p:nvSpPr>
        <p:spPr>
          <a:xfrm>
            <a:off x="7239653" y="3511251"/>
            <a:ext cx="2445855" cy="9699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83274316-E4DB-91BA-93A1-45704B2278CC}"/>
              </a:ext>
            </a:extLst>
          </p:cNvPr>
          <p:cNvSpPr txBox="1"/>
          <p:nvPr/>
        </p:nvSpPr>
        <p:spPr>
          <a:xfrm>
            <a:off x="7829873" y="3811569"/>
            <a:ext cx="1117550" cy="369332"/>
          </a:xfrm>
          <a:prstGeom prst="rect">
            <a:avLst/>
          </a:prstGeom>
          <a:noFill/>
        </p:spPr>
        <p:txBody>
          <a:bodyPr wrap="none" rtlCol="0">
            <a:spAutoFit/>
          </a:bodyPr>
          <a:lstStyle/>
          <a:p>
            <a:r>
              <a:rPr lang="en-US" dirty="0"/>
              <a:t>SELECTOR</a:t>
            </a:r>
            <a:endParaRPr lang="en-GB" dirty="0"/>
          </a:p>
        </p:txBody>
      </p:sp>
      <p:cxnSp>
        <p:nvCxnSpPr>
          <p:cNvPr id="39" name="Straight Arrow Connector 38">
            <a:extLst>
              <a:ext uri="{FF2B5EF4-FFF2-40B4-BE49-F238E27FC236}">
                <a16:creationId xmlns:a16="http://schemas.microsoft.com/office/drawing/2014/main" id="{9F504A71-4D65-6B59-A4E8-CC4E332C3F79}"/>
              </a:ext>
            </a:extLst>
          </p:cNvPr>
          <p:cNvCxnSpPr>
            <a:cxnSpLocks/>
          </p:cNvCxnSpPr>
          <p:nvPr/>
        </p:nvCxnSpPr>
        <p:spPr>
          <a:xfrm>
            <a:off x="8157291" y="1636003"/>
            <a:ext cx="0" cy="1156151"/>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25C8BE2-7405-A7B7-1545-6426C33E9D4A}"/>
              </a:ext>
            </a:extLst>
          </p:cNvPr>
          <p:cNvCxnSpPr>
            <a:cxnSpLocks/>
          </p:cNvCxnSpPr>
          <p:nvPr/>
        </p:nvCxnSpPr>
        <p:spPr>
          <a:xfrm>
            <a:off x="8376126" y="3134449"/>
            <a:ext cx="12522" cy="369332"/>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1D33FF0-5F19-8B9C-BE3E-B8679794E16C}"/>
              </a:ext>
            </a:extLst>
          </p:cNvPr>
          <p:cNvSpPr txBox="1"/>
          <p:nvPr/>
        </p:nvSpPr>
        <p:spPr>
          <a:xfrm>
            <a:off x="7527338" y="2799624"/>
            <a:ext cx="1649405" cy="369332"/>
          </a:xfrm>
          <a:prstGeom prst="rect">
            <a:avLst/>
          </a:prstGeom>
          <a:solidFill>
            <a:srgbClr val="FFFF00"/>
          </a:solidFill>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a:solidFill>
                  <a:schemeClr val="tx1"/>
                </a:solidFill>
              </a:rPr>
              <a:t>Client/</a:t>
            </a:r>
            <a:r>
              <a:rPr lang="en-US" dirty="0" err="1">
                <a:solidFill>
                  <a:schemeClr val="tx1"/>
                </a:solidFill>
              </a:rPr>
              <a:t>actiune</a:t>
            </a:r>
            <a:endParaRPr lang="en-US" dirty="0">
              <a:solidFill>
                <a:schemeClr val="tx1"/>
              </a:solidFill>
            </a:endParaRPr>
          </a:p>
        </p:txBody>
      </p:sp>
      <p:sp>
        <p:nvSpPr>
          <p:cNvPr id="46" name="TextBox 45">
            <a:extLst>
              <a:ext uri="{FF2B5EF4-FFF2-40B4-BE49-F238E27FC236}">
                <a16:creationId xmlns:a16="http://schemas.microsoft.com/office/drawing/2014/main" id="{1395765F-C9C1-0906-CEB5-B6857AAD86D1}"/>
              </a:ext>
            </a:extLst>
          </p:cNvPr>
          <p:cNvSpPr txBox="1"/>
          <p:nvPr/>
        </p:nvSpPr>
        <p:spPr>
          <a:xfrm>
            <a:off x="7812231" y="2064880"/>
            <a:ext cx="936466" cy="369332"/>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US" b="1" dirty="0"/>
              <a:t>buffer</a:t>
            </a:r>
            <a:endParaRPr lang="en-GB" b="1" dirty="0"/>
          </a:p>
        </p:txBody>
      </p:sp>
    </p:spTree>
    <p:extLst>
      <p:ext uri="{BB962C8B-B14F-4D97-AF65-F5344CB8AC3E}">
        <p14:creationId xmlns:p14="http://schemas.microsoft.com/office/powerpoint/2010/main" val="3947344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5CF6A-931B-9AAC-C1AE-EC5E2C8CFAA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6075FD-8017-93E4-502B-E112E22CD7E9}"/>
              </a:ext>
            </a:extLst>
          </p:cNvPr>
          <p:cNvSpPr txBox="1"/>
          <p:nvPr/>
        </p:nvSpPr>
        <p:spPr>
          <a:xfrm>
            <a:off x="1776730" y="249158"/>
            <a:ext cx="9836150" cy="5940088"/>
          </a:xfrm>
          <a:prstGeom prst="rect">
            <a:avLst/>
          </a:prstGeom>
          <a:noFill/>
          <a:ln w="19050">
            <a:solidFill>
              <a:srgbClr val="92D050"/>
            </a:solidFill>
          </a:ln>
        </p:spPr>
        <p:txBody>
          <a:bodyPr wrap="square">
            <a:spAutoFit/>
          </a:bodyPr>
          <a:lstStyle/>
          <a:p>
            <a:r>
              <a:rPr lang="en-GB" sz="2000" dirty="0"/>
              <a:t>public class </a:t>
            </a:r>
            <a:r>
              <a:rPr lang="en-GB" sz="2000" dirty="0" err="1"/>
              <a:t>NioServer</a:t>
            </a:r>
            <a:r>
              <a:rPr lang="en-GB" sz="2000" dirty="0"/>
              <a:t> {</a:t>
            </a:r>
          </a:p>
          <a:p>
            <a:r>
              <a:rPr lang="en-GB" sz="2000" dirty="0"/>
              <a:t>   public static void main(String[] </a:t>
            </a:r>
            <a:r>
              <a:rPr lang="en-GB" sz="2000" dirty="0" err="1"/>
              <a:t>args</a:t>
            </a:r>
            <a:r>
              <a:rPr lang="en-GB" sz="2000" dirty="0"/>
              <a:t>) {</a:t>
            </a:r>
          </a:p>
          <a:p>
            <a:r>
              <a:rPr lang="en-GB" sz="2000" dirty="0"/>
              <a:t>      try{</a:t>
            </a:r>
          </a:p>
          <a:p>
            <a:r>
              <a:rPr lang="en-GB" sz="2000" dirty="0"/>
              <a:t>      Selector selector = </a:t>
            </a:r>
            <a:r>
              <a:rPr lang="en-GB" sz="2000" dirty="0" err="1"/>
              <a:t>Selector.open</a:t>
            </a:r>
            <a:r>
              <a:rPr lang="en-GB" sz="2000" dirty="0"/>
              <a:t>();</a:t>
            </a:r>
          </a:p>
          <a:p>
            <a:r>
              <a:rPr lang="en-GB" sz="2000" dirty="0"/>
              <a:t>      </a:t>
            </a:r>
            <a:r>
              <a:rPr lang="en-GB" sz="2000" dirty="0" err="1"/>
              <a:t>ServerSocketChannel</a:t>
            </a:r>
            <a:r>
              <a:rPr lang="en-GB" sz="2000" dirty="0"/>
              <a:t> </a:t>
            </a:r>
            <a:r>
              <a:rPr lang="en-GB" sz="2000" dirty="0" err="1"/>
              <a:t>serverSocket</a:t>
            </a:r>
            <a:r>
              <a:rPr lang="en-GB" sz="2000" dirty="0"/>
              <a:t> =   </a:t>
            </a:r>
            <a:r>
              <a:rPr lang="en-GB" sz="2000" dirty="0" err="1"/>
              <a:t>ServerSocketChannel.open</a:t>
            </a:r>
            <a:r>
              <a:rPr lang="en-GB" sz="2000" dirty="0"/>
              <a:t>();</a:t>
            </a:r>
          </a:p>
          <a:p>
            <a:r>
              <a:rPr lang="en-GB" sz="2000" dirty="0"/>
              <a:t>      </a:t>
            </a:r>
            <a:r>
              <a:rPr lang="en-GB" sz="2000" dirty="0" err="1"/>
              <a:t>serverSocket.bind</a:t>
            </a:r>
            <a:r>
              <a:rPr lang="en-GB" sz="2000" dirty="0"/>
              <a:t>(new </a:t>
            </a:r>
            <a:r>
              <a:rPr lang="en-GB" sz="2000" dirty="0" err="1"/>
              <a:t>InetSocketAddress</a:t>
            </a:r>
            <a:r>
              <a:rPr lang="en-GB" sz="2000" dirty="0"/>
              <a:t>("localhost", 9090));</a:t>
            </a:r>
          </a:p>
          <a:p>
            <a:r>
              <a:rPr lang="en-GB" sz="2000" dirty="0"/>
              <a:t>      </a:t>
            </a:r>
            <a:r>
              <a:rPr lang="en-GB" sz="2000" dirty="0" err="1"/>
              <a:t>serverSocket.configureBlocking</a:t>
            </a:r>
            <a:r>
              <a:rPr lang="en-GB" sz="2000" dirty="0"/>
              <a:t>(false);</a:t>
            </a:r>
          </a:p>
          <a:p>
            <a:r>
              <a:rPr lang="en-GB" sz="2000" dirty="0"/>
              <a:t>      </a:t>
            </a:r>
            <a:r>
              <a:rPr lang="en-GB" sz="2000" dirty="0" err="1"/>
              <a:t>serverSocket.register</a:t>
            </a:r>
            <a:r>
              <a:rPr lang="en-GB" sz="2000" dirty="0"/>
              <a:t>(selector, </a:t>
            </a:r>
            <a:r>
              <a:rPr lang="en-GB" sz="2000" dirty="0" err="1"/>
              <a:t>SelectionKey.OP_ACCEPT</a:t>
            </a:r>
            <a:r>
              <a:rPr lang="en-GB" sz="2000" dirty="0"/>
              <a:t>);</a:t>
            </a:r>
          </a:p>
          <a:p>
            <a:r>
              <a:rPr lang="en-GB" sz="2000" dirty="0"/>
              <a:t>      </a:t>
            </a:r>
            <a:r>
              <a:rPr lang="en-GB" sz="2000" dirty="0" err="1"/>
              <a:t>System.out.println</a:t>
            </a:r>
            <a:r>
              <a:rPr lang="en-GB" sz="2000" dirty="0"/>
              <a:t>("Server looking for clients ...");</a:t>
            </a:r>
          </a:p>
          <a:p>
            <a:r>
              <a:rPr lang="en-GB" sz="2000" dirty="0"/>
              <a:t>      </a:t>
            </a:r>
            <a:r>
              <a:rPr lang="en-GB" sz="2000" dirty="0" err="1"/>
              <a:t>ByteBuffer</a:t>
            </a:r>
            <a:r>
              <a:rPr lang="en-GB" sz="2000" dirty="0"/>
              <a:t> buffer = </a:t>
            </a:r>
            <a:r>
              <a:rPr lang="en-GB" sz="2000" dirty="0" err="1"/>
              <a:t>ByteBuffer.allocate</a:t>
            </a:r>
            <a:r>
              <a:rPr lang="en-GB" sz="2000" dirty="0"/>
              <a:t>(1024);</a:t>
            </a:r>
          </a:p>
          <a:p>
            <a:r>
              <a:rPr lang="en-GB" sz="2000" dirty="0"/>
              <a:t>      while (true) {</a:t>
            </a:r>
          </a:p>
          <a:p>
            <a:r>
              <a:rPr lang="en-GB" sz="2000" dirty="0"/>
              <a:t>         </a:t>
            </a:r>
            <a:r>
              <a:rPr lang="en-GB" sz="2000" dirty="0" err="1"/>
              <a:t>selector.select</a:t>
            </a:r>
            <a:r>
              <a:rPr lang="en-GB" sz="2000" dirty="0"/>
              <a:t>();</a:t>
            </a:r>
          </a:p>
          <a:p>
            <a:r>
              <a:rPr lang="en-GB" sz="2000" dirty="0"/>
              <a:t>         Set&lt;</a:t>
            </a:r>
            <a:r>
              <a:rPr lang="en-GB" sz="2000" dirty="0" err="1"/>
              <a:t>SelectionKey</a:t>
            </a:r>
            <a:r>
              <a:rPr lang="en-GB" sz="2000" dirty="0"/>
              <a:t>&gt; </a:t>
            </a:r>
            <a:r>
              <a:rPr lang="en-GB" sz="2000" dirty="0" err="1"/>
              <a:t>selectedKeys</a:t>
            </a:r>
            <a:r>
              <a:rPr lang="en-GB" sz="2000" dirty="0"/>
              <a:t> = </a:t>
            </a:r>
            <a:r>
              <a:rPr lang="en-GB" sz="2000" dirty="0" err="1"/>
              <a:t>selector.selectedKeys</a:t>
            </a:r>
            <a:r>
              <a:rPr lang="en-GB" sz="2000" dirty="0"/>
              <a:t>();        </a:t>
            </a:r>
          </a:p>
          <a:p>
            <a:r>
              <a:rPr lang="en-GB" sz="2000" dirty="0"/>
              <a:t>         for (</a:t>
            </a:r>
            <a:r>
              <a:rPr lang="en-GB" sz="2000" dirty="0" err="1"/>
              <a:t>SelectionKey</a:t>
            </a:r>
            <a:r>
              <a:rPr lang="en-GB" sz="2000" dirty="0"/>
              <a:t> key : </a:t>
            </a:r>
            <a:r>
              <a:rPr lang="en-GB" sz="2000" dirty="0" err="1"/>
              <a:t>selectedKeys</a:t>
            </a:r>
            <a:r>
              <a:rPr lang="en-GB" sz="2000" dirty="0"/>
              <a:t>) {   </a:t>
            </a:r>
          </a:p>
          <a:p>
            <a:r>
              <a:rPr lang="en-GB" sz="2000" dirty="0"/>
              <a:t>                                       … </a:t>
            </a:r>
          </a:p>
          <a:p>
            <a:r>
              <a:rPr lang="en-GB" sz="2000" dirty="0"/>
              <a:t>                                   } } </a:t>
            </a:r>
          </a:p>
          <a:p>
            <a:r>
              <a:rPr lang="en-GB" sz="2000" dirty="0"/>
              <a:t>        } catch (</a:t>
            </a:r>
            <a:r>
              <a:rPr lang="en-GB" sz="2000" dirty="0" err="1"/>
              <a:t>IOException</a:t>
            </a:r>
            <a:r>
              <a:rPr lang="en-GB" sz="2000" dirty="0"/>
              <a:t> e) {</a:t>
            </a:r>
          </a:p>
          <a:p>
            <a:r>
              <a:rPr lang="en-GB" sz="2000" dirty="0"/>
              <a:t>            throw new </a:t>
            </a:r>
            <a:r>
              <a:rPr lang="en-GB" sz="2000" dirty="0" err="1"/>
              <a:t>RuntimeException</a:t>
            </a:r>
            <a:r>
              <a:rPr lang="en-GB" sz="2000" dirty="0"/>
              <a:t>(e);</a:t>
            </a:r>
          </a:p>
          <a:p>
            <a:r>
              <a:rPr lang="en-GB" sz="2000" dirty="0"/>
              <a:t>        }   }}</a:t>
            </a:r>
          </a:p>
        </p:txBody>
      </p:sp>
      <p:sp>
        <p:nvSpPr>
          <p:cNvPr id="2" name="TextBox 1">
            <a:extLst>
              <a:ext uri="{FF2B5EF4-FFF2-40B4-BE49-F238E27FC236}">
                <a16:creationId xmlns:a16="http://schemas.microsoft.com/office/drawing/2014/main" id="{335CCB8B-60DB-63DF-2FEA-88C6C0D6D439}"/>
              </a:ext>
            </a:extLst>
          </p:cNvPr>
          <p:cNvSpPr txBox="1"/>
          <p:nvPr/>
        </p:nvSpPr>
        <p:spPr>
          <a:xfrm>
            <a:off x="6823727" y="468699"/>
            <a:ext cx="5073633"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Wingdings" panose="05000000000000000000" pitchFamily="2" charset="2"/>
              <a:buChar char="Ø"/>
            </a:pPr>
            <a:r>
              <a:rPr lang="en-US" sz="2000" b="1" dirty="0"/>
              <a:t>Server  NIO event-driven (un </a:t>
            </a:r>
            <a:r>
              <a:rPr lang="en-US" sz="2000" b="1" dirty="0" err="1"/>
              <a:t>singur</a:t>
            </a:r>
            <a:r>
              <a:rPr lang="en-US" sz="2000" b="1" dirty="0"/>
              <a:t> thread)</a:t>
            </a:r>
            <a:endParaRPr lang="en-GB" sz="2000" b="1" dirty="0"/>
          </a:p>
        </p:txBody>
      </p:sp>
      <p:sp>
        <p:nvSpPr>
          <p:cNvPr id="3" name="TextBox 2">
            <a:extLst>
              <a:ext uri="{FF2B5EF4-FFF2-40B4-BE49-F238E27FC236}">
                <a16:creationId xmlns:a16="http://schemas.microsoft.com/office/drawing/2014/main" id="{CC464708-DA71-98B5-624D-72EBEB170955}"/>
              </a:ext>
            </a:extLst>
          </p:cNvPr>
          <p:cNvSpPr txBox="1"/>
          <p:nvPr/>
        </p:nvSpPr>
        <p:spPr>
          <a:xfrm>
            <a:off x="8837466" y="1981200"/>
            <a:ext cx="3155607" cy="923330"/>
          </a:xfrm>
          <a:prstGeom prst="rect">
            <a:avLst/>
          </a:prstGeom>
          <a:solidFill>
            <a:schemeClr val="bg1">
              <a:lumMod val="85000"/>
            </a:schemeClr>
          </a:solidFill>
        </p:spPr>
        <p:txBody>
          <a:bodyPr wrap="none" rtlCol="0">
            <a:spAutoFit/>
          </a:bodyPr>
          <a:lstStyle/>
          <a:p>
            <a:r>
              <a:rPr lang="en-US" dirty="0"/>
              <a:t>thread-ul nu </a:t>
            </a:r>
            <a:r>
              <a:rPr lang="en-US" dirty="0" err="1"/>
              <a:t>este</a:t>
            </a:r>
            <a:r>
              <a:rPr lang="en-US" dirty="0"/>
              <a:t> </a:t>
            </a:r>
            <a:r>
              <a:rPr lang="en-US" dirty="0" err="1"/>
              <a:t>blocat</a:t>
            </a:r>
            <a:r>
              <a:rPr lang="en-US" dirty="0"/>
              <a:t> de </a:t>
            </a:r>
          </a:p>
          <a:p>
            <a:r>
              <a:rPr lang="en-US" dirty="0" err="1"/>
              <a:t>operatiile</a:t>
            </a:r>
            <a:r>
              <a:rPr lang="en-US" dirty="0"/>
              <a:t> I/O </a:t>
            </a:r>
            <a:r>
              <a:rPr lang="en-US" dirty="0" err="1"/>
              <a:t>sau</a:t>
            </a:r>
            <a:r>
              <a:rPr lang="en-US" dirty="0"/>
              <a:t>  </a:t>
            </a:r>
            <a:r>
              <a:rPr lang="en-US" dirty="0" err="1"/>
              <a:t>conexiuni</a:t>
            </a:r>
            <a:r>
              <a:rPr lang="en-US" dirty="0"/>
              <a:t> pe </a:t>
            </a:r>
          </a:p>
          <a:p>
            <a:r>
              <a:rPr lang="en-US" dirty="0" err="1"/>
              <a:t>canalul</a:t>
            </a:r>
            <a:r>
              <a:rPr lang="en-US" dirty="0"/>
              <a:t> </a:t>
            </a:r>
            <a:r>
              <a:rPr lang="en-US" dirty="0" err="1"/>
              <a:t>respectiv</a:t>
            </a:r>
            <a:r>
              <a:rPr lang="en-US" dirty="0"/>
              <a:t>  </a:t>
            </a:r>
            <a:endParaRPr lang="en-GB" dirty="0"/>
          </a:p>
        </p:txBody>
      </p:sp>
      <p:cxnSp>
        <p:nvCxnSpPr>
          <p:cNvPr id="5" name="Straight Arrow Connector 4">
            <a:extLst>
              <a:ext uri="{FF2B5EF4-FFF2-40B4-BE49-F238E27FC236}">
                <a16:creationId xmlns:a16="http://schemas.microsoft.com/office/drawing/2014/main" id="{9D9EB946-14EE-FB59-9632-4CBD55E73CFA}"/>
              </a:ext>
            </a:extLst>
          </p:cNvPr>
          <p:cNvCxnSpPr>
            <a:cxnSpLocks/>
          </p:cNvCxnSpPr>
          <p:nvPr/>
        </p:nvCxnSpPr>
        <p:spPr>
          <a:xfrm>
            <a:off x="6421120" y="2275840"/>
            <a:ext cx="2416346" cy="0"/>
          </a:xfrm>
          <a:prstGeom prst="straightConnector1">
            <a:avLst/>
          </a:prstGeom>
          <a:ln w="19050">
            <a:solidFill>
              <a:srgbClr val="00B05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93554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12AC-33B8-AC50-64AC-451339DAE44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5E39705-1B0A-8C32-B517-39331A1F0AAD}"/>
              </a:ext>
            </a:extLst>
          </p:cNvPr>
          <p:cNvSpPr txBox="1"/>
          <p:nvPr/>
        </p:nvSpPr>
        <p:spPr>
          <a:xfrm>
            <a:off x="293370" y="249158"/>
            <a:ext cx="6097270" cy="4770537"/>
          </a:xfrm>
          <a:prstGeom prst="rect">
            <a:avLst/>
          </a:prstGeom>
          <a:noFill/>
          <a:ln w="19050">
            <a:solidFill>
              <a:srgbClr val="00B050"/>
            </a:solidFill>
          </a:ln>
        </p:spPr>
        <p:txBody>
          <a:bodyPr wrap="square">
            <a:spAutoFit/>
          </a:bodyPr>
          <a:lstStyle/>
          <a:p>
            <a:r>
              <a:rPr lang="en-GB" sz="1600" dirty="0"/>
              <a:t>public class </a:t>
            </a:r>
            <a:r>
              <a:rPr lang="en-GB" sz="1600" dirty="0" err="1"/>
              <a:t>NioServer</a:t>
            </a:r>
            <a:r>
              <a:rPr lang="en-GB" sz="1600" dirty="0"/>
              <a:t> {</a:t>
            </a:r>
          </a:p>
          <a:p>
            <a:r>
              <a:rPr lang="en-GB" sz="1600" dirty="0"/>
              <a:t>   public static void main(String[] </a:t>
            </a:r>
            <a:r>
              <a:rPr lang="en-GB" sz="1600" dirty="0" err="1"/>
              <a:t>args</a:t>
            </a:r>
            <a:r>
              <a:rPr lang="en-GB" sz="1600" dirty="0"/>
              <a:t>) {</a:t>
            </a:r>
          </a:p>
          <a:p>
            <a:r>
              <a:rPr lang="en-GB" sz="1600" dirty="0"/>
              <a:t>      try{</a:t>
            </a:r>
          </a:p>
          <a:p>
            <a:r>
              <a:rPr lang="en-GB" sz="1600" dirty="0"/>
              <a:t>      Selector selector = </a:t>
            </a:r>
            <a:r>
              <a:rPr lang="en-GB" sz="1600" dirty="0" err="1"/>
              <a:t>Selector.open</a:t>
            </a:r>
            <a:r>
              <a:rPr lang="en-GB" sz="1600" dirty="0"/>
              <a:t>();</a:t>
            </a:r>
          </a:p>
          <a:p>
            <a:r>
              <a:rPr lang="en-GB" sz="1600" dirty="0"/>
              <a:t>      </a:t>
            </a:r>
            <a:r>
              <a:rPr lang="en-GB" sz="1600" dirty="0" err="1"/>
              <a:t>ServerSocketChannel</a:t>
            </a:r>
            <a:r>
              <a:rPr lang="en-GB" sz="1600" dirty="0"/>
              <a:t> </a:t>
            </a:r>
            <a:r>
              <a:rPr lang="en-GB" sz="1600" dirty="0" err="1"/>
              <a:t>serverSocket</a:t>
            </a:r>
            <a:r>
              <a:rPr lang="en-GB" sz="1600" dirty="0"/>
              <a:t> =   </a:t>
            </a:r>
            <a:r>
              <a:rPr lang="en-GB" sz="1600" dirty="0" err="1"/>
              <a:t>ServerSocketChannel.open</a:t>
            </a:r>
            <a:r>
              <a:rPr lang="en-GB" sz="1600" dirty="0"/>
              <a:t>();</a:t>
            </a:r>
          </a:p>
          <a:p>
            <a:r>
              <a:rPr lang="en-GB" sz="1600" dirty="0"/>
              <a:t>      </a:t>
            </a:r>
            <a:r>
              <a:rPr lang="en-GB" sz="1600" dirty="0" err="1"/>
              <a:t>serverSocket.bind</a:t>
            </a:r>
            <a:r>
              <a:rPr lang="en-GB" sz="1600" dirty="0"/>
              <a:t>(new </a:t>
            </a:r>
            <a:r>
              <a:rPr lang="en-GB" sz="1600" dirty="0" err="1"/>
              <a:t>InetSocketAddress</a:t>
            </a:r>
            <a:r>
              <a:rPr lang="en-GB" sz="1600" dirty="0"/>
              <a:t>("localhost", 9090));</a:t>
            </a:r>
          </a:p>
          <a:p>
            <a:r>
              <a:rPr lang="en-GB" sz="1600" dirty="0"/>
              <a:t>      </a:t>
            </a:r>
            <a:r>
              <a:rPr lang="en-GB" sz="1600" dirty="0" err="1"/>
              <a:t>serverSocket.configureBlocking</a:t>
            </a:r>
            <a:r>
              <a:rPr lang="en-GB" sz="1600" dirty="0"/>
              <a:t>(false);</a:t>
            </a:r>
          </a:p>
          <a:p>
            <a:r>
              <a:rPr lang="en-GB" sz="1600" dirty="0"/>
              <a:t>      </a:t>
            </a:r>
            <a:r>
              <a:rPr lang="en-GB" sz="1600" dirty="0" err="1"/>
              <a:t>serverSocket.register</a:t>
            </a:r>
            <a:r>
              <a:rPr lang="en-GB" sz="1600" dirty="0"/>
              <a:t>(selector, </a:t>
            </a:r>
            <a:r>
              <a:rPr lang="en-GB" sz="1600" dirty="0" err="1"/>
              <a:t>SelectionKey.OP_ACCEPT</a:t>
            </a:r>
            <a:r>
              <a:rPr lang="en-GB" sz="1600" dirty="0"/>
              <a:t>);</a:t>
            </a:r>
          </a:p>
          <a:p>
            <a:r>
              <a:rPr lang="en-GB" sz="1600" dirty="0"/>
              <a:t>      </a:t>
            </a:r>
            <a:r>
              <a:rPr lang="en-GB" sz="1600" dirty="0" err="1"/>
              <a:t>System.out.println</a:t>
            </a:r>
            <a:r>
              <a:rPr lang="en-GB" sz="1600" dirty="0"/>
              <a:t>("Server looking for clients ...");</a:t>
            </a:r>
          </a:p>
          <a:p>
            <a:r>
              <a:rPr lang="en-GB" sz="1600" dirty="0"/>
              <a:t>      </a:t>
            </a:r>
            <a:r>
              <a:rPr lang="en-GB" sz="1600" dirty="0" err="1"/>
              <a:t>ByteBuffer</a:t>
            </a:r>
            <a:r>
              <a:rPr lang="en-GB" sz="1600" dirty="0"/>
              <a:t> buffer = </a:t>
            </a:r>
            <a:r>
              <a:rPr lang="en-GB" sz="1600" dirty="0" err="1"/>
              <a:t>ByteBuffer.allocate</a:t>
            </a:r>
            <a:r>
              <a:rPr lang="en-GB" sz="1600" dirty="0"/>
              <a:t>(1024);</a:t>
            </a:r>
          </a:p>
          <a:p>
            <a:r>
              <a:rPr lang="en-GB" sz="1600" dirty="0"/>
              <a:t>      while (true) {</a:t>
            </a:r>
          </a:p>
          <a:p>
            <a:r>
              <a:rPr lang="en-GB" sz="1600" dirty="0"/>
              <a:t>         </a:t>
            </a:r>
            <a:r>
              <a:rPr lang="en-GB" sz="1600" dirty="0" err="1"/>
              <a:t>selector.select</a:t>
            </a:r>
            <a:r>
              <a:rPr lang="en-GB" sz="1600" dirty="0"/>
              <a:t>();</a:t>
            </a:r>
          </a:p>
          <a:p>
            <a:r>
              <a:rPr lang="en-GB" sz="1600" dirty="0"/>
              <a:t>         Set&lt;</a:t>
            </a:r>
            <a:r>
              <a:rPr lang="en-GB" sz="1600" dirty="0" err="1"/>
              <a:t>SelectionKey</a:t>
            </a:r>
            <a:r>
              <a:rPr lang="en-GB" sz="1600" dirty="0"/>
              <a:t>&gt; </a:t>
            </a:r>
            <a:r>
              <a:rPr lang="en-GB" sz="1600" dirty="0" err="1"/>
              <a:t>selectedKeys</a:t>
            </a:r>
            <a:r>
              <a:rPr lang="en-GB" sz="1600" dirty="0"/>
              <a:t> = </a:t>
            </a:r>
            <a:r>
              <a:rPr lang="en-GB" sz="1600" dirty="0" err="1"/>
              <a:t>selector.selectedKeys</a:t>
            </a:r>
            <a:r>
              <a:rPr lang="en-GB" sz="1600" dirty="0"/>
              <a:t>();        </a:t>
            </a:r>
          </a:p>
          <a:p>
            <a:r>
              <a:rPr lang="en-GB" sz="1600" dirty="0"/>
              <a:t>         for (</a:t>
            </a:r>
            <a:r>
              <a:rPr lang="en-GB" sz="1600" dirty="0" err="1"/>
              <a:t>SelectionKey</a:t>
            </a:r>
            <a:r>
              <a:rPr lang="en-GB" sz="1600" dirty="0"/>
              <a:t> key : </a:t>
            </a:r>
            <a:r>
              <a:rPr lang="en-GB" sz="1600" dirty="0" err="1"/>
              <a:t>selectedKeys</a:t>
            </a:r>
            <a:r>
              <a:rPr lang="en-GB" sz="1600" dirty="0"/>
              <a:t>) {   </a:t>
            </a:r>
          </a:p>
          <a:p>
            <a:r>
              <a:rPr lang="en-GB" sz="1600" dirty="0"/>
              <a:t>                                       … </a:t>
            </a:r>
          </a:p>
          <a:p>
            <a:r>
              <a:rPr lang="en-GB" sz="1600" dirty="0"/>
              <a:t>                                   } } </a:t>
            </a:r>
          </a:p>
          <a:p>
            <a:r>
              <a:rPr lang="en-GB" sz="1600" dirty="0"/>
              <a:t>        } catch (</a:t>
            </a:r>
            <a:r>
              <a:rPr lang="en-GB" sz="1600" dirty="0" err="1"/>
              <a:t>IOException</a:t>
            </a:r>
            <a:r>
              <a:rPr lang="en-GB" sz="1600" dirty="0"/>
              <a:t> e) {</a:t>
            </a:r>
          </a:p>
          <a:p>
            <a:r>
              <a:rPr lang="en-GB" sz="1600" dirty="0"/>
              <a:t>            throw new </a:t>
            </a:r>
            <a:r>
              <a:rPr lang="en-GB" sz="1600" dirty="0" err="1"/>
              <a:t>RuntimeException</a:t>
            </a:r>
            <a:r>
              <a:rPr lang="en-GB" sz="1600" dirty="0"/>
              <a:t>(e);</a:t>
            </a:r>
          </a:p>
          <a:p>
            <a:r>
              <a:rPr lang="en-GB" sz="1600" dirty="0"/>
              <a:t>        }   }}</a:t>
            </a:r>
          </a:p>
        </p:txBody>
      </p:sp>
      <p:sp>
        <p:nvSpPr>
          <p:cNvPr id="4" name="TextBox 3">
            <a:extLst>
              <a:ext uri="{FF2B5EF4-FFF2-40B4-BE49-F238E27FC236}">
                <a16:creationId xmlns:a16="http://schemas.microsoft.com/office/drawing/2014/main" id="{92F99A8F-4C83-7754-B247-036A94686152}"/>
              </a:ext>
            </a:extLst>
          </p:cNvPr>
          <p:cNvSpPr txBox="1"/>
          <p:nvPr/>
        </p:nvSpPr>
        <p:spPr>
          <a:xfrm>
            <a:off x="6096000" y="772160"/>
            <a:ext cx="6027356" cy="5078313"/>
          </a:xfrm>
          <a:prstGeom prst="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GB" sz="1800" dirty="0"/>
              <a:t> if (</a:t>
            </a:r>
            <a:r>
              <a:rPr lang="en-GB" sz="1800" dirty="0" err="1"/>
              <a:t>key.isAcceptable</a:t>
            </a:r>
            <a:r>
              <a:rPr lang="en-GB" sz="1800" dirty="0"/>
              <a:t>()) {</a:t>
            </a:r>
          </a:p>
          <a:p>
            <a:r>
              <a:rPr lang="en-GB" sz="1800" dirty="0"/>
              <a:t>               </a:t>
            </a:r>
            <a:r>
              <a:rPr lang="en-GB" sz="1800" dirty="0" err="1"/>
              <a:t>SocketChannel</a:t>
            </a:r>
            <a:r>
              <a:rPr lang="en-GB" sz="1800" dirty="0"/>
              <a:t> client = </a:t>
            </a:r>
            <a:r>
              <a:rPr lang="en-GB" sz="1800" dirty="0" err="1"/>
              <a:t>serverSocket.accept</a:t>
            </a:r>
            <a:r>
              <a:rPr lang="en-GB" sz="1800" dirty="0"/>
              <a:t>();</a:t>
            </a:r>
          </a:p>
          <a:p>
            <a:r>
              <a:rPr lang="en-GB" sz="1800" dirty="0"/>
              <a:t>               </a:t>
            </a:r>
            <a:r>
              <a:rPr lang="en-GB" sz="1800" dirty="0" err="1"/>
              <a:t>client.configureBlocking</a:t>
            </a:r>
            <a:r>
              <a:rPr lang="en-GB" sz="1800" dirty="0"/>
              <a:t>(false);</a:t>
            </a:r>
          </a:p>
          <a:p>
            <a:r>
              <a:rPr lang="en-GB" sz="1800" dirty="0"/>
              <a:t>               </a:t>
            </a:r>
            <a:r>
              <a:rPr lang="en-GB" sz="1800" dirty="0" err="1"/>
              <a:t>client.register</a:t>
            </a:r>
            <a:r>
              <a:rPr lang="en-GB" sz="1800" dirty="0"/>
              <a:t>(selector, </a:t>
            </a:r>
            <a:r>
              <a:rPr lang="en-GB" sz="1800" dirty="0" err="1"/>
              <a:t>SelectionKey.OP_READ</a:t>
            </a:r>
            <a:r>
              <a:rPr lang="en-GB" sz="1800" dirty="0"/>
              <a:t>);</a:t>
            </a:r>
          </a:p>
          <a:p>
            <a:r>
              <a:rPr lang="en-GB" sz="1800" dirty="0"/>
              <a:t>            }</a:t>
            </a:r>
          </a:p>
          <a:p>
            <a:r>
              <a:rPr lang="en-GB" sz="1800" dirty="0"/>
              <a:t>            else if (</a:t>
            </a:r>
            <a:r>
              <a:rPr lang="en-GB" sz="1800" dirty="0" err="1"/>
              <a:t>key.isReadable</a:t>
            </a:r>
            <a:r>
              <a:rPr lang="en-GB" sz="1800" dirty="0"/>
              <a:t>()) {</a:t>
            </a:r>
          </a:p>
          <a:p>
            <a:r>
              <a:rPr lang="en-GB" sz="1800" dirty="0"/>
              <a:t>               </a:t>
            </a:r>
            <a:r>
              <a:rPr lang="en-GB" sz="1800" dirty="0" err="1"/>
              <a:t>SocketChannel</a:t>
            </a:r>
            <a:r>
              <a:rPr lang="en-GB" sz="1800" dirty="0"/>
              <a:t> client = (</a:t>
            </a:r>
            <a:r>
              <a:rPr lang="en-GB" sz="1800" dirty="0" err="1"/>
              <a:t>SocketChannel</a:t>
            </a:r>
            <a:r>
              <a:rPr lang="en-GB" sz="1800" dirty="0"/>
              <a:t>) </a:t>
            </a:r>
            <a:r>
              <a:rPr lang="en-GB" sz="1800" dirty="0" err="1"/>
              <a:t>key.channel</a:t>
            </a:r>
            <a:r>
              <a:rPr lang="en-GB" sz="1800" dirty="0"/>
              <a:t>();</a:t>
            </a:r>
          </a:p>
          <a:p>
            <a:r>
              <a:rPr lang="en-GB" sz="1800" dirty="0"/>
              <a:t>               </a:t>
            </a:r>
            <a:r>
              <a:rPr lang="en-GB" sz="1800" dirty="0" err="1"/>
              <a:t>buffer.clear</a:t>
            </a:r>
            <a:r>
              <a:rPr lang="en-GB" sz="1800" dirty="0"/>
              <a:t>(); </a:t>
            </a:r>
          </a:p>
          <a:p>
            <a:r>
              <a:rPr lang="en-GB" sz="1800" dirty="0"/>
              <a:t>               var </a:t>
            </a:r>
            <a:r>
              <a:rPr lang="en-GB" sz="1800" dirty="0" err="1"/>
              <a:t>bytesRead</a:t>
            </a:r>
            <a:r>
              <a:rPr lang="en-GB" sz="1800" dirty="0"/>
              <a:t> = </a:t>
            </a:r>
            <a:r>
              <a:rPr lang="en-GB" sz="1800" dirty="0" err="1"/>
              <a:t>client.read</a:t>
            </a:r>
            <a:r>
              <a:rPr lang="en-GB" sz="1800" dirty="0"/>
              <a:t>(buffer);</a:t>
            </a:r>
          </a:p>
          <a:p>
            <a:r>
              <a:rPr lang="en-GB" sz="1800" dirty="0"/>
              <a:t>               if (</a:t>
            </a:r>
            <a:r>
              <a:rPr lang="en-GB" sz="1800" dirty="0" err="1"/>
              <a:t>bytesRead</a:t>
            </a:r>
            <a:r>
              <a:rPr lang="en-GB" sz="1800" dirty="0"/>
              <a:t> == -1) { </a:t>
            </a:r>
            <a:r>
              <a:rPr lang="en-GB" sz="1800" dirty="0" err="1"/>
              <a:t>client.close</a:t>
            </a:r>
            <a:r>
              <a:rPr lang="en-GB" sz="1800" dirty="0"/>
              <a:t>();</a:t>
            </a:r>
          </a:p>
          <a:p>
            <a:r>
              <a:rPr lang="en-GB" sz="1800" dirty="0"/>
              <a:t>                  </a:t>
            </a:r>
            <a:r>
              <a:rPr lang="en-GB" sz="1800" dirty="0" err="1"/>
              <a:t>System.out.println</a:t>
            </a:r>
            <a:r>
              <a:rPr lang="en-GB" sz="1800" dirty="0"/>
              <a:t>("Client disconnected!");}</a:t>
            </a:r>
          </a:p>
          <a:p>
            <a:r>
              <a:rPr lang="en-GB" sz="1800" dirty="0"/>
              <a:t>               else {String result = new String(</a:t>
            </a:r>
            <a:r>
              <a:rPr lang="en-GB" sz="1800" dirty="0" err="1"/>
              <a:t>buffer.array</a:t>
            </a:r>
            <a:r>
              <a:rPr lang="en-GB" sz="1800" dirty="0"/>
              <a:t>()).trim();</a:t>
            </a:r>
          </a:p>
          <a:p>
            <a:r>
              <a:rPr lang="en-GB" sz="1800" dirty="0"/>
              <a:t>               </a:t>
            </a:r>
            <a:r>
              <a:rPr lang="en-GB" sz="1800" dirty="0" err="1"/>
              <a:t>System.out.println</a:t>
            </a:r>
            <a:r>
              <a:rPr lang="en-GB" sz="1800" dirty="0"/>
              <a:t>("Message received: " + result);}</a:t>
            </a:r>
          </a:p>
          <a:p>
            <a:r>
              <a:rPr lang="en-GB" sz="1800" dirty="0"/>
              <a:t>                   }</a:t>
            </a:r>
          </a:p>
          <a:p>
            <a:r>
              <a:rPr lang="en-GB" sz="1800" dirty="0"/>
              <a:t>            else {</a:t>
            </a:r>
          </a:p>
          <a:p>
            <a:r>
              <a:rPr lang="en-GB" sz="1800" dirty="0"/>
              <a:t>               throw new </a:t>
            </a:r>
            <a:r>
              <a:rPr lang="en-GB" sz="1800" dirty="0" err="1"/>
              <a:t>RuntimeException</a:t>
            </a:r>
            <a:r>
              <a:rPr lang="en-GB" sz="1800" dirty="0"/>
              <a:t>("Unknown channel");</a:t>
            </a:r>
          </a:p>
          <a:p>
            <a:r>
              <a:rPr lang="en-GB" sz="1800" dirty="0"/>
              <a:t>           }</a:t>
            </a:r>
          </a:p>
          <a:p>
            <a:r>
              <a:rPr lang="en-GB" sz="1800" dirty="0"/>
              <a:t>            </a:t>
            </a:r>
            <a:r>
              <a:rPr lang="en-GB" sz="1800" dirty="0" err="1"/>
              <a:t>selectedKeys.remove</a:t>
            </a:r>
            <a:r>
              <a:rPr lang="en-GB" sz="1800" dirty="0"/>
              <a:t>(key);</a:t>
            </a:r>
            <a:endParaRPr lang="en-GB" dirty="0"/>
          </a:p>
        </p:txBody>
      </p:sp>
      <p:cxnSp>
        <p:nvCxnSpPr>
          <p:cNvPr id="8" name="Straight Arrow Connector 7">
            <a:extLst>
              <a:ext uri="{FF2B5EF4-FFF2-40B4-BE49-F238E27FC236}">
                <a16:creationId xmlns:a16="http://schemas.microsoft.com/office/drawing/2014/main" id="{8CAE335F-06F9-6B4B-11E2-1D1574D4DC85}"/>
              </a:ext>
            </a:extLst>
          </p:cNvPr>
          <p:cNvCxnSpPr/>
          <p:nvPr/>
        </p:nvCxnSpPr>
        <p:spPr>
          <a:xfrm>
            <a:off x="2377440" y="3850640"/>
            <a:ext cx="3718560"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81C5E80-E79F-E621-EF9E-EBB7B7788B06}"/>
              </a:ext>
            </a:extLst>
          </p:cNvPr>
          <p:cNvSpPr txBox="1"/>
          <p:nvPr/>
        </p:nvSpPr>
        <p:spPr>
          <a:xfrm>
            <a:off x="6624320" y="249158"/>
            <a:ext cx="493776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sz="1800" b="1" dirty="0"/>
              <a:t>Server  NIO event-driven (un </a:t>
            </a:r>
            <a:r>
              <a:rPr lang="en-US" sz="1800" b="1" dirty="0" err="1"/>
              <a:t>singur</a:t>
            </a:r>
            <a:r>
              <a:rPr lang="en-US" sz="1800" b="1" dirty="0"/>
              <a:t> thread)</a:t>
            </a:r>
            <a:endParaRPr lang="en-GB" sz="1800" b="1" dirty="0"/>
          </a:p>
        </p:txBody>
      </p:sp>
    </p:spTree>
    <p:extLst>
      <p:ext uri="{BB962C8B-B14F-4D97-AF65-F5344CB8AC3E}">
        <p14:creationId xmlns:p14="http://schemas.microsoft.com/office/powerpoint/2010/main" val="3737869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8106-376B-ADB0-5905-FC10B13F043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E281981-D982-29D9-563E-75C4E8C9B359}"/>
              </a:ext>
            </a:extLst>
          </p:cNvPr>
          <p:cNvSpPr txBox="1"/>
          <p:nvPr/>
        </p:nvSpPr>
        <p:spPr>
          <a:xfrm>
            <a:off x="293370" y="249158"/>
            <a:ext cx="8657590" cy="6555641"/>
          </a:xfrm>
          <a:prstGeom prst="rect">
            <a:avLst/>
          </a:prstGeom>
          <a:noFill/>
          <a:ln w="19050">
            <a:solidFill>
              <a:srgbClr val="00B050"/>
            </a:solidFill>
          </a:ln>
        </p:spPr>
        <p:txBody>
          <a:bodyPr wrap="square">
            <a:spAutoFit/>
          </a:bodyPr>
          <a:lstStyle/>
          <a:p>
            <a:r>
              <a:rPr lang="en-GB" sz="2000" dirty="0"/>
              <a:t>public class </a:t>
            </a:r>
            <a:r>
              <a:rPr lang="en-GB" sz="2000" dirty="0" err="1"/>
              <a:t>NioClient</a:t>
            </a:r>
            <a:r>
              <a:rPr lang="en-GB" sz="2000" dirty="0"/>
              <a:t>{</a:t>
            </a:r>
          </a:p>
          <a:p>
            <a:r>
              <a:rPr lang="en-GB" sz="2000" dirty="0"/>
              <a:t>    public static void main(String[] </a:t>
            </a:r>
            <a:r>
              <a:rPr lang="en-GB" sz="2000" dirty="0" err="1"/>
              <a:t>args</a:t>
            </a:r>
            <a:r>
              <a:rPr lang="en-GB" sz="2000" dirty="0"/>
              <a:t>) {</a:t>
            </a:r>
          </a:p>
          <a:p>
            <a:r>
              <a:rPr lang="en-GB" sz="2000" dirty="0"/>
              <a:t>        var scanner = new Scanner(System.in);</a:t>
            </a:r>
          </a:p>
          <a:p>
            <a:r>
              <a:rPr lang="en-GB" sz="2000" dirty="0"/>
              <a:t>        try (var </a:t>
            </a:r>
            <a:r>
              <a:rPr lang="en-GB" sz="2000" dirty="0" err="1"/>
              <a:t>serverChannel</a:t>
            </a:r>
            <a:r>
              <a:rPr lang="en-GB" sz="2000" dirty="0"/>
              <a:t> = </a:t>
            </a:r>
            <a:r>
              <a:rPr lang="en-GB" sz="2000" dirty="0" err="1"/>
              <a:t>SocketChannel.open</a:t>
            </a:r>
            <a:r>
              <a:rPr lang="en-GB" sz="2000" dirty="0"/>
              <a:t>()) {</a:t>
            </a:r>
          </a:p>
          <a:p>
            <a:r>
              <a:rPr lang="en-GB" sz="2000" dirty="0"/>
              <a:t>            </a:t>
            </a:r>
            <a:r>
              <a:rPr lang="en-GB" sz="2000" dirty="0" err="1"/>
              <a:t>serverChannel.connect</a:t>
            </a:r>
            <a:r>
              <a:rPr lang="en-GB" sz="2000" dirty="0"/>
              <a:t>(new </a:t>
            </a:r>
            <a:r>
              <a:rPr lang="en-GB" sz="2000" dirty="0" err="1"/>
              <a:t>InetSocketAddress</a:t>
            </a:r>
            <a:r>
              <a:rPr lang="en-GB" sz="2000" dirty="0"/>
              <a:t>(9090));</a:t>
            </a:r>
          </a:p>
          <a:p>
            <a:r>
              <a:rPr lang="en-GB" sz="2000" dirty="0"/>
              <a:t>            </a:t>
            </a:r>
            <a:r>
              <a:rPr lang="en-GB" sz="2000" dirty="0" err="1"/>
              <a:t>serverChannel.configureBlocking</a:t>
            </a:r>
            <a:r>
              <a:rPr lang="en-GB" sz="2000" dirty="0"/>
              <a:t>(false);</a:t>
            </a:r>
          </a:p>
          <a:p>
            <a:r>
              <a:rPr lang="en-GB" sz="2000" dirty="0"/>
              <a:t>            </a:t>
            </a:r>
            <a:r>
              <a:rPr lang="en-GB" sz="2000" dirty="0" err="1"/>
              <a:t>System.out.println</a:t>
            </a:r>
            <a:r>
              <a:rPr lang="en-GB" sz="2000" dirty="0"/>
              <a:t>("Connection established! Stop with \"quit\" ");</a:t>
            </a:r>
          </a:p>
          <a:p>
            <a:r>
              <a:rPr lang="en-GB" sz="2000" dirty="0"/>
              <a:t>           var buffer = </a:t>
            </a:r>
            <a:r>
              <a:rPr lang="en-GB" sz="2000" dirty="0" err="1"/>
              <a:t>ByteBuffer.allocate</a:t>
            </a:r>
            <a:r>
              <a:rPr lang="en-GB" sz="2000" dirty="0"/>
              <a:t>(1024);</a:t>
            </a:r>
          </a:p>
          <a:p>
            <a:r>
              <a:rPr lang="en-GB" sz="2000" dirty="0"/>
              <a:t>            while (true) {</a:t>
            </a:r>
          </a:p>
          <a:p>
            <a:r>
              <a:rPr lang="en-GB" sz="2000" dirty="0"/>
              <a:t>                var line = </a:t>
            </a:r>
            <a:r>
              <a:rPr lang="en-GB" sz="2000" dirty="0" err="1"/>
              <a:t>scanner.nextLine</a:t>
            </a:r>
            <a:r>
              <a:rPr lang="en-GB" sz="2000" dirty="0"/>
              <a:t>();</a:t>
            </a:r>
          </a:p>
          <a:p>
            <a:r>
              <a:rPr lang="en-GB" sz="2000" dirty="0"/>
              <a:t>                if (</a:t>
            </a:r>
            <a:r>
              <a:rPr lang="en-GB" sz="2000" dirty="0" err="1"/>
              <a:t>line.equalsIgnoreCase</a:t>
            </a:r>
            <a:r>
              <a:rPr lang="en-GB" sz="2000" dirty="0"/>
              <a:t>("quit")) {</a:t>
            </a:r>
          </a:p>
          <a:p>
            <a:r>
              <a:rPr lang="en-GB" sz="2000" dirty="0"/>
              <a:t>                    break;</a:t>
            </a:r>
          </a:p>
          <a:p>
            <a:r>
              <a:rPr lang="en-GB" sz="2000" dirty="0"/>
              <a:t>                }</a:t>
            </a:r>
          </a:p>
          <a:p>
            <a:r>
              <a:rPr lang="en-GB" sz="2000" dirty="0"/>
              <a:t>                 </a:t>
            </a:r>
            <a:r>
              <a:rPr lang="en-GB" sz="2000" dirty="0" err="1"/>
              <a:t>buffer.clear</a:t>
            </a:r>
            <a:r>
              <a:rPr lang="en-GB" sz="2000" dirty="0"/>
              <a:t>().put(</a:t>
            </a:r>
            <a:r>
              <a:rPr lang="en-GB" sz="2000" dirty="0" err="1"/>
              <a:t>line.getBytes</a:t>
            </a:r>
            <a:r>
              <a:rPr lang="en-GB" sz="2000" dirty="0"/>
              <a:t>()).flip();</a:t>
            </a:r>
          </a:p>
          <a:p>
            <a:r>
              <a:rPr lang="en-GB" sz="2000" dirty="0"/>
              <a:t>                </a:t>
            </a:r>
            <a:r>
              <a:rPr lang="en-GB" sz="2000" dirty="0" err="1"/>
              <a:t>serverChannel.write</a:t>
            </a:r>
            <a:r>
              <a:rPr lang="en-GB" sz="2000" dirty="0"/>
              <a:t>(buffer);</a:t>
            </a:r>
          </a:p>
          <a:p>
            <a:r>
              <a:rPr lang="en-GB" sz="2000" dirty="0"/>
              <a:t>}</a:t>
            </a:r>
          </a:p>
          <a:p>
            <a:r>
              <a:rPr lang="en-GB" sz="2000" dirty="0"/>
              <a:t>        } catch (</a:t>
            </a:r>
            <a:r>
              <a:rPr lang="en-GB" sz="2000" dirty="0" err="1"/>
              <a:t>IOException</a:t>
            </a:r>
            <a:r>
              <a:rPr lang="en-GB" sz="2000" dirty="0"/>
              <a:t> e) {</a:t>
            </a:r>
          </a:p>
          <a:p>
            <a:r>
              <a:rPr lang="en-GB" sz="2000" dirty="0"/>
              <a:t>            throw new </a:t>
            </a:r>
            <a:r>
              <a:rPr lang="en-GB" sz="2000" dirty="0" err="1"/>
              <a:t>RuntimeException</a:t>
            </a:r>
            <a:r>
              <a:rPr lang="en-GB" sz="2000" dirty="0"/>
              <a:t>(e);</a:t>
            </a:r>
          </a:p>
          <a:p>
            <a:r>
              <a:rPr lang="en-GB" sz="2000" dirty="0"/>
              <a:t>        }</a:t>
            </a:r>
          </a:p>
          <a:p>
            <a:r>
              <a:rPr lang="en-GB" sz="2000" dirty="0"/>
              <a:t>    }</a:t>
            </a:r>
          </a:p>
          <a:p>
            <a:r>
              <a:rPr lang="en-GB" sz="2000" dirty="0"/>
              <a:t>}</a:t>
            </a:r>
          </a:p>
        </p:txBody>
      </p:sp>
      <p:sp>
        <p:nvSpPr>
          <p:cNvPr id="4" name="TextBox 3">
            <a:extLst>
              <a:ext uri="{FF2B5EF4-FFF2-40B4-BE49-F238E27FC236}">
                <a16:creationId xmlns:a16="http://schemas.microsoft.com/office/drawing/2014/main" id="{956F91A4-93DA-7240-62D4-FC6BE26E5F09}"/>
              </a:ext>
            </a:extLst>
          </p:cNvPr>
          <p:cNvSpPr txBox="1"/>
          <p:nvPr/>
        </p:nvSpPr>
        <p:spPr>
          <a:xfrm>
            <a:off x="5919470" y="2944336"/>
            <a:ext cx="5953760" cy="184665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GB" dirty="0"/>
              <a:t> </a:t>
            </a:r>
            <a:r>
              <a:rPr lang="en-GB" sz="1600" b="1" dirty="0"/>
              <a:t>clear() </a:t>
            </a:r>
            <a:r>
              <a:rPr lang="en-GB" sz="1600" dirty="0"/>
              <a:t>makes a buffer ready for a new sequence of channel-read or relative put operations:</a:t>
            </a:r>
          </a:p>
          <a:p>
            <a:r>
              <a:rPr lang="en-GB" sz="1600" dirty="0"/>
              <a:t>      it sets the limit to the capacity and the position to zero.</a:t>
            </a:r>
          </a:p>
          <a:p>
            <a:endParaRPr lang="en-GB" sz="1600" dirty="0"/>
          </a:p>
          <a:p>
            <a:pPr marL="285750" indent="-285750">
              <a:buFont typeface="Arial" panose="020B0604020202020204" pitchFamily="34" charset="0"/>
              <a:buChar char="•"/>
            </a:pPr>
            <a:r>
              <a:rPr lang="en-GB" sz="1600" b="1" dirty="0"/>
              <a:t>flip() </a:t>
            </a:r>
            <a:r>
              <a:rPr lang="en-GB" sz="1600" dirty="0"/>
              <a:t>makes a buffer ready for a new sequence of channel-write or relative get operations: it sets the limit to the current position and then sets the position to zero. </a:t>
            </a:r>
          </a:p>
        </p:txBody>
      </p:sp>
      <p:sp>
        <p:nvSpPr>
          <p:cNvPr id="3" name="TextBox 2">
            <a:extLst>
              <a:ext uri="{FF2B5EF4-FFF2-40B4-BE49-F238E27FC236}">
                <a16:creationId xmlns:a16="http://schemas.microsoft.com/office/drawing/2014/main" id="{929F94F8-9B28-737A-EA50-7E08DD228567}"/>
              </a:ext>
            </a:extLst>
          </p:cNvPr>
          <p:cNvSpPr txBox="1"/>
          <p:nvPr/>
        </p:nvSpPr>
        <p:spPr>
          <a:xfrm>
            <a:off x="6433820" y="455414"/>
            <a:ext cx="528066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sz="1800" b="1" dirty="0"/>
              <a:t>Client - </a:t>
            </a:r>
            <a:r>
              <a:rPr lang="en-US" b="1" dirty="0"/>
              <a:t>S</a:t>
            </a:r>
            <a:r>
              <a:rPr lang="en-US" sz="1800" b="1" dirty="0"/>
              <a:t>erver NIO event-driven (un </a:t>
            </a:r>
            <a:r>
              <a:rPr lang="en-US" sz="1800" b="1" dirty="0" err="1"/>
              <a:t>singur</a:t>
            </a:r>
            <a:r>
              <a:rPr lang="en-US" sz="1800" b="1" dirty="0"/>
              <a:t> thread)</a:t>
            </a:r>
            <a:endParaRPr lang="en-GB" sz="1800" b="1" dirty="0"/>
          </a:p>
        </p:txBody>
      </p:sp>
    </p:spTree>
    <p:extLst>
      <p:ext uri="{BB962C8B-B14F-4D97-AF65-F5344CB8AC3E}">
        <p14:creationId xmlns:p14="http://schemas.microsoft.com/office/powerpoint/2010/main" val="663634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F25F2-E398-1A97-092C-6A993255372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8C84BC9-38F3-5C62-2139-866EAC8546B7}"/>
              </a:ext>
            </a:extLst>
          </p:cNvPr>
          <p:cNvSpPr txBox="1"/>
          <p:nvPr/>
        </p:nvSpPr>
        <p:spPr>
          <a:xfrm>
            <a:off x="290008" y="1155491"/>
            <a:ext cx="9846310" cy="4770537"/>
          </a:xfrm>
          <a:prstGeom prst="rect">
            <a:avLst/>
          </a:prstGeom>
          <a:noFill/>
          <a:ln w="19050">
            <a:solidFill>
              <a:srgbClr val="00B050"/>
            </a:solidFill>
          </a:ln>
        </p:spPr>
        <p:txBody>
          <a:bodyPr wrap="square">
            <a:spAutoFit/>
          </a:bodyPr>
          <a:lstStyle/>
          <a:p>
            <a:r>
              <a:rPr lang="en-GB" sz="1600" dirty="0"/>
              <a:t>public class </a:t>
            </a:r>
            <a:r>
              <a:rPr lang="en-GB" sz="1600" dirty="0" err="1"/>
              <a:t>NioServer</a:t>
            </a:r>
            <a:r>
              <a:rPr lang="en-GB" sz="1600" dirty="0"/>
              <a:t> {</a:t>
            </a:r>
          </a:p>
          <a:p>
            <a:r>
              <a:rPr lang="en-GB" sz="1600" dirty="0"/>
              <a:t>   public static void main(String[] </a:t>
            </a:r>
            <a:r>
              <a:rPr lang="en-GB" sz="1600" dirty="0" err="1"/>
              <a:t>args</a:t>
            </a:r>
            <a:r>
              <a:rPr lang="en-GB" sz="1600" dirty="0"/>
              <a:t>) {</a:t>
            </a:r>
          </a:p>
          <a:p>
            <a:r>
              <a:rPr lang="en-GB" sz="1600" dirty="0"/>
              <a:t>      try{</a:t>
            </a:r>
          </a:p>
          <a:p>
            <a:r>
              <a:rPr lang="en-GB" sz="1600" dirty="0"/>
              <a:t>      Selector </a:t>
            </a:r>
            <a:r>
              <a:rPr lang="en-GB" sz="1600" dirty="0" err="1"/>
              <a:t>selector</a:t>
            </a:r>
            <a:r>
              <a:rPr lang="en-GB" sz="1600" dirty="0"/>
              <a:t> = </a:t>
            </a:r>
            <a:r>
              <a:rPr lang="en-GB" sz="1600" dirty="0" err="1"/>
              <a:t>Selector.open</a:t>
            </a:r>
            <a:r>
              <a:rPr lang="en-GB" sz="1600" dirty="0"/>
              <a:t>();</a:t>
            </a:r>
          </a:p>
          <a:p>
            <a:r>
              <a:rPr lang="en-GB" sz="1600" dirty="0"/>
              <a:t>      </a:t>
            </a:r>
            <a:r>
              <a:rPr lang="en-GB" sz="1600" dirty="0" err="1"/>
              <a:t>ServerSocketChannel</a:t>
            </a:r>
            <a:r>
              <a:rPr lang="en-GB" sz="1600" dirty="0"/>
              <a:t> </a:t>
            </a:r>
            <a:r>
              <a:rPr lang="en-GB" sz="1600" dirty="0" err="1"/>
              <a:t>serverSocket</a:t>
            </a:r>
            <a:r>
              <a:rPr lang="en-GB" sz="1600" dirty="0"/>
              <a:t> =   </a:t>
            </a:r>
            <a:r>
              <a:rPr lang="en-GB" sz="1600" dirty="0" err="1"/>
              <a:t>ServerSocketChannel.open</a:t>
            </a:r>
            <a:r>
              <a:rPr lang="en-GB" sz="1600" dirty="0"/>
              <a:t>();</a:t>
            </a:r>
          </a:p>
          <a:p>
            <a:r>
              <a:rPr lang="en-GB" sz="1600" dirty="0"/>
              <a:t>      </a:t>
            </a:r>
            <a:r>
              <a:rPr lang="en-GB" sz="1600" dirty="0" err="1"/>
              <a:t>serverSocket.bind</a:t>
            </a:r>
            <a:r>
              <a:rPr lang="en-GB" sz="1600" dirty="0"/>
              <a:t>(new </a:t>
            </a:r>
            <a:r>
              <a:rPr lang="en-GB" sz="1600" dirty="0" err="1"/>
              <a:t>InetSocketAddress</a:t>
            </a:r>
            <a:r>
              <a:rPr lang="en-GB" sz="1600" dirty="0"/>
              <a:t>("localhost", 9090));</a:t>
            </a:r>
          </a:p>
          <a:p>
            <a:r>
              <a:rPr lang="en-GB" sz="1600" dirty="0"/>
              <a:t>      </a:t>
            </a:r>
            <a:r>
              <a:rPr lang="en-GB" sz="1600" dirty="0" err="1"/>
              <a:t>serverSocket.configureBlocking</a:t>
            </a:r>
            <a:r>
              <a:rPr lang="en-GB" sz="1600" dirty="0"/>
              <a:t>(false);</a:t>
            </a:r>
          </a:p>
          <a:p>
            <a:r>
              <a:rPr lang="en-GB" sz="1600" dirty="0"/>
              <a:t>      </a:t>
            </a:r>
            <a:r>
              <a:rPr lang="en-GB" sz="1600" dirty="0" err="1"/>
              <a:t>serverSocket.register</a:t>
            </a:r>
            <a:r>
              <a:rPr lang="en-GB" sz="1600" dirty="0"/>
              <a:t>(selector, </a:t>
            </a:r>
            <a:r>
              <a:rPr lang="en-GB" sz="1600" dirty="0" err="1"/>
              <a:t>SelectionKey.OP_ACCEPT</a:t>
            </a:r>
            <a:r>
              <a:rPr lang="en-GB" sz="1600" dirty="0"/>
              <a:t>);</a:t>
            </a:r>
          </a:p>
          <a:p>
            <a:r>
              <a:rPr lang="en-GB" sz="1600" dirty="0"/>
              <a:t>      </a:t>
            </a:r>
            <a:r>
              <a:rPr lang="en-GB" sz="1600" dirty="0" err="1"/>
              <a:t>System.out.println</a:t>
            </a:r>
            <a:r>
              <a:rPr lang="en-GB" sz="1600" dirty="0"/>
              <a:t>("Server looking for clients ...");</a:t>
            </a:r>
          </a:p>
          <a:p>
            <a:r>
              <a:rPr lang="en-GB" sz="1600" dirty="0"/>
              <a:t>      </a:t>
            </a:r>
            <a:r>
              <a:rPr lang="en-GB" sz="1600" dirty="0" err="1"/>
              <a:t>ByteBuffer</a:t>
            </a:r>
            <a:r>
              <a:rPr lang="en-GB" sz="1600" dirty="0"/>
              <a:t> buffer = </a:t>
            </a:r>
            <a:r>
              <a:rPr lang="en-GB" sz="1600" dirty="0" err="1"/>
              <a:t>ByteBuffer.allocate</a:t>
            </a:r>
            <a:r>
              <a:rPr lang="en-GB" sz="1600" dirty="0"/>
              <a:t>(1024);</a:t>
            </a:r>
          </a:p>
          <a:p>
            <a:r>
              <a:rPr lang="en-GB" sz="1600" dirty="0"/>
              <a:t>      while (true) {</a:t>
            </a:r>
          </a:p>
          <a:p>
            <a:r>
              <a:rPr lang="en-GB" sz="1600" dirty="0"/>
              <a:t>         </a:t>
            </a:r>
            <a:r>
              <a:rPr lang="en-GB" sz="1600" dirty="0" err="1"/>
              <a:t>selector.select</a:t>
            </a:r>
            <a:r>
              <a:rPr lang="en-GB" sz="1600" dirty="0"/>
              <a:t>();</a:t>
            </a:r>
          </a:p>
          <a:p>
            <a:r>
              <a:rPr lang="en-GB" sz="1600" dirty="0"/>
              <a:t>         Set&lt;</a:t>
            </a:r>
            <a:r>
              <a:rPr lang="en-GB" sz="1600" dirty="0" err="1"/>
              <a:t>SelectionKey</a:t>
            </a:r>
            <a:r>
              <a:rPr lang="en-GB" sz="1600" dirty="0"/>
              <a:t>&gt; </a:t>
            </a:r>
            <a:r>
              <a:rPr lang="en-GB" sz="1600" dirty="0" err="1"/>
              <a:t>selectedKeys</a:t>
            </a:r>
            <a:r>
              <a:rPr lang="en-GB" sz="1600" dirty="0"/>
              <a:t> = </a:t>
            </a:r>
            <a:r>
              <a:rPr lang="en-GB" sz="1600" dirty="0" err="1"/>
              <a:t>selector.selectedKeys</a:t>
            </a:r>
            <a:r>
              <a:rPr lang="en-GB" sz="1600" dirty="0"/>
              <a:t>();        </a:t>
            </a:r>
          </a:p>
          <a:p>
            <a:r>
              <a:rPr lang="en-GB" sz="1600" dirty="0"/>
              <a:t>         for (</a:t>
            </a:r>
            <a:r>
              <a:rPr lang="en-GB" sz="1600" dirty="0" err="1"/>
              <a:t>SelectionKey</a:t>
            </a:r>
            <a:r>
              <a:rPr lang="en-GB" sz="1600" dirty="0"/>
              <a:t> key : </a:t>
            </a:r>
            <a:r>
              <a:rPr lang="en-GB" sz="1600" dirty="0" err="1"/>
              <a:t>selectedKeys</a:t>
            </a:r>
            <a:r>
              <a:rPr lang="en-GB" sz="1600" dirty="0"/>
              <a:t>) {   </a:t>
            </a:r>
          </a:p>
          <a:p>
            <a:r>
              <a:rPr lang="en-GB" sz="1600" dirty="0"/>
              <a:t>                                       … </a:t>
            </a:r>
          </a:p>
          <a:p>
            <a:r>
              <a:rPr lang="en-GB" sz="1600" dirty="0"/>
              <a:t>                                   } } </a:t>
            </a:r>
          </a:p>
          <a:p>
            <a:r>
              <a:rPr lang="en-GB" sz="1600" dirty="0"/>
              <a:t>        } catch (</a:t>
            </a:r>
            <a:r>
              <a:rPr lang="en-GB" sz="1600" dirty="0" err="1"/>
              <a:t>IOException</a:t>
            </a:r>
            <a:r>
              <a:rPr lang="en-GB" sz="1600" dirty="0"/>
              <a:t> e) {</a:t>
            </a:r>
          </a:p>
          <a:p>
            <a:r>
              <a:rPr lang="en-GB" sz="1600" dirty="0"/>
              <a:t>            throw new </a:t>
            </a:r>
            <a:r>
              <a:rPr lang="en-GB" sz="1600" dirty="0" err="1"/>
              <a:t>RuntimeException</a:t>
            </a:r>
            <a:r>
              <a:rPr lang="en-GB" sz="1600" dirty="0"/>
              <a:t>(e);</a:t>
            </a:r>
          </a:p>
          <a:p>
            <a:r>
              <a:rPr lang="en-GB" sz="1600" dirty="0"/>
              <a:t>        }   }}</a:t>
            </a:r>
          </a:p>
        </p:txBody>
      </p:sp>
      <p:sp>
        <p:nvSpPr>
          <p:cNvPr id="7" name="TextBox 6">
            <a:extLst>
              <a:ext uri="{FF2B5EF4-FFF2-40B4-BE49-F238E27FC236}">
                <a16:creationId xmlns:a16="http://schemas.microsoft.com/office/drawing/2014/main" id="{600D1DA9-694B-2859-70DE-C85DA6CFCDF8}"/>
              </a:ext>
            </a:extLst>
          </p:cNvPr>
          <p:cNvSpPr txBox="1"/>
          <p:nvPr/>
        </p:nvSpPr>
        <p:spPr>
          <a:xfrm>
            <a:off x="8839200" y="653752"/>
            <a:ext cx="3108960" cy="3139321"/>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GB" dirty="0"/>
              <a:t>java </a:t>
            </a:r>
            <a:r>
              <a:rPr lang="en-GB" dirty="0" err="1"/>
              <a:t>NioServer</a:t>
            </a:r>
            <a:endParaRPr lang="en-GB" dirty="0"/>
          </a:p>
          <a:p>
            <a:r>
              <a:rPr lang="en-GB" dirty="0"/>
              <a:t>Server looking for clients ...</a:t>
            </a:r>
          </a:p>
          <a:p>
            <a:r>
              <a:rPr lang="en-GB" dirty="0"/>
              <a:t>Message received: c1m1</a:t>
            </a:r>
          </a:p>
          <a:p>
            <a:r>
              <a:rPr lang="en-GB" dirty="0"/>
              <a:t>Message received: c2m1</a:t>
            </a:r>
          </a:p>
          <a:p>
            <a:r>
              <a:rPr lang="en-GB" dirty="0"/>
              <a:t>Message received: c2m2</a:t>
            </a:r>
          </a:p>
          <a:p>
            <a:r>
              <a:rPr lang="en-GB" dirty="0"/>
              <a:t>Message received: c2m3</a:t>
            </a:r>
          </a:p>
          <a:p>
            <a:r>
              <a:rPr lang="en-GB" dirty="0"/>
              <a:t>Message received: c1m2</a:t>
            </a:r>
          </a:p>
          <a:p>
            <a:r>
              <a:rPr lang="en-GB" dirty="0"/>
              <a:t>Client disconnected!</a:t>
            </a:r>
          </a:p>
          <a:p>
            <a:r>
              <a:rPr lang="en-GB" dirty="0"/>
              <a:t>Client disconnected!</a:t>
            </a:r>
          </a:p>
          <a:p>
            <a:r>
              <a:rPr lang="en-GB" dirty="0"/>
              <a:t>|</a:t>
            </a:r>
          </a:p>
          <a:p>
            <a:endParaRPr lang="en-GB" dirty="0"/>
          </a:p>
        </p:txBody>
      </p:sp>
      <p:sp>
        <p:nvSpPr>
          <p:cNvPr id="9" name="TextBox 8">
            <a:extLst>
              <a:ext uri="{FF2B5EF4-FFF2-40B4-BE49-F238E27FC236}">
                <a16:creationId xmlns:a16="http://schemas.microsoft.com/office/drawing/2014/main" id="{01B1EF6D-54BE-8285-98A1-C55C556A6956}"/>
              </a:ext>
            </a:extLst>
          </p:cNvPr>
          <p:cNvSpPr txBox="1"/>
          <p:nvPr/>
        </p:nvSpPr>
        <p:spPr>
          <a:xfrm>
            <a:off x="5479004" y="3339772"/>
            <a:ext cx="3227195" cy="1754326"/>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rtlCol="0">
            <a:spAutoFit/>
          </a:bodyPr>
          <a:lstStyle/>
          <a:p>
            <a:r>
              <a:rPr lang="en-GB" dirty="0"/>
              <a:t>java </a:t>
            </a:r>
            <a:r>
              <a:rPr lang="en-GB" dirty="0" err="1"/>
              <a:t>NioClient</a:t>
            </a:r>
            <a:endParaRPr lang="en-GB" dirty="0"/>
          </a:p>
          <a:p>
            <a:r>
              <a:rPr lang="en-GB" dirty="0"/>
              <a:t>Connection established! Stop with "quit"</a:t>
            </a:r>
          </a:p>
          <a:p>
            <a:r>
              <a:rPr lang="en-GB" dirty="0"/>
              <a:t>c1m1</a:t>
            </a:r>
          </a:p>
          <a:p>
            <a:r>
              <a:rPr lang="en-GB" dirty="0"/>
              <a:t>c1m2</a:t>
            </a:r>
          </a:p>
          <a:p>
            <a:r>
              <a:rPr lang="en-GB" dirty="0"/>
              <a:t>quit</a:t>
            </a:r>
          </a:p>
        </p:txBody>
      </p:sp>
      <p:sp>
        <p:nvSpPr>
          <p:cNvPr id="3" name="TextBox 2">
            <a:extLst>
              <a:ext uri="{FF2B5EF4-FFF2-40B4-BE49-F238E27FC236}">
                <a16:creationId xmlns:a16="http://schemas.microsoft.com/office/drawing/2014/main" id="{B42E95C7-68D1-A918-E428-6323DB39DBE1}"/>
              </a:ext>
            </a:extLst>
          </p:cNvPr>
          <p:cNvSpPr txBox="1"/>
          <p:nvPr/>
        </p:nvSpPr>
        <p:spPr>
          <a:xfrm>
            <a:off x="5479004" y="806708"/>
            <a:ext cx="3312160" cy="2031325"/>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GB" dirty="0"/>
              <a:t>java </a:t>
            </a:r>
            <a:r>
              <a:rPr lang="en-GB" dirty="0" err="1"/>
              <a:t>NioClient</a:t>
            </a:r>
            <a:endParaRPr lang="en-GB" dirty="0"/>
          </a:p>
          <a:p>
            <a:r>
              <a:rPr lang="en-GB" dirty="0"/>
              <a:t>Connection established! Stop with "quit"</a:t>
            </a:r>
          </a:p>
          <a:p>
            <a:r>
              <a:rPr lang="en-GB" dirty="0"/>
              <a:t>c2m1</a:t>
            </a:r>
          </a:p>
          <a:p>
            <a:r>
              <a:rPr lang="en-GB" dirty="0"/>
              <a:t>c2m2</a:t>
            </a:r>
          </a:p>
          <a:p>
            <a:r>
              <a:rPr lang="en-GB" dirty="0"/>
              <a:t>c2m3</a:t>
            </a:r>
          </a:p>
          <a:p>
            <a:r>
              <a:rPr lang="en-GB" dirty="0"/>
              <a:t>quit</a:t>
            </a:r>
            <a:endParaRPr lang="en-US" dirty="0"/>
          </a:p>
        </p:txBody>
      </p:sp>
      <p:sp>
        <p:nvSpPr>
          <p:cNvPr id="4" name="TextBox 3">
            <a:extLst>
              <a:ext uri="{FF2B5EF4-FFF2-40B4-BE49-F238E27FC236}">
                <a16:creationId xmlns:a16="http://schemas.microsoft.com/office/drawing/2014/main" id="{88AAACF1-E341-74CE-BE5F-2B9D9E8B201E}"/>
              </a:ext>
            </a:extLst>
          </p:cNvPr>
          <p:cNvSpPr txBox="1"/>
          <p:nvPr/>
        </p:nvSpPr>
        <p:spPr>
          <a:xfrm>
            <a:off x="4683760" y="194231"/>
            <a:ext cx="5452558"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sz="1800" b="1" dirty="0"/>
              <a:t>Client - </a:t>
            </a:r>
            <a:r>
              <a:rPr lang="en-US" b="1" dirty="0"/>
              <a:t>S</a:t>
            </a:r>
            <a:r>
              <a:rPr lang="en-US" sz="1800" b="1" dirty="0"/>
              <a:t>erver  NIO event-driven (un </a:t>
            </a:r>
            <a:r>
              <a:rPr lang="en-US" sz="1800" b="1" dirty="0" err="1"/>
              <a:t>singur</a:t>
            </a:r>
            <a:r>
              <a:rPr lang="en-US" sz="1800" b="1" dirty="0"/>
              <a:t> thread)</a:t>
            </a:r>
            <a:endParaRPr lang="en-GB" sz="1800" b="1" dirty="0"/>
          </a:p>
        </p:txBody>
      </p:sp>
    </p:spTree>
    <p:extLst>
      <p:ext uri="{BB962C8B-B14F-4D97-AF65-F5344CB8AC3E}">
        <p14:creationId xmlns:p14="http://schemas.microsoft.com/office/powerpoint/2010/main" val="1820205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36469-56CF-176C-A41D-383190A0700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FCE56FD-A1F1-87A2-BA33-416011A83D76}"/>
              </a:ext>
            </a:extLst>
          </p:cNvPr>
          <p:cNvSpPr txBox="1"/>
          <p:nvPr/>
        </p:nvSpPr>
        <p:spPr>
          <a:xfrm>
            <a:off x="598170" y="96758"/>
            <a:ext cx="9836150" cy="5940088"/>
          </a:xfrm>
          <a:prstGeom prst="rect">
            <a:avLst/>
          </a:prstGeom>
          <a:noFill/>
          <a:ln w="19050">
            <a:solidFill>
              <a:srgbClr val="00B050"/>
            </a:solidFill>
          </a:ln>
        </p:spPr>
        <p:txBody>
          <a:bodyPr wrap="square">
            <a:spAutoFit/>
          </a:bodyPr>
          <a:lstStyle/>
          <a:p>
            <a:r>
              <a:rPr lang="en-GB" sz="2000" dirty="0"/>
              <a:t>public class Nio2Server{</a:t>
            </a:r>
          </a:p>
          <a:p>
            <a:r>
              <a:rPr lang="en-GB" sz="2000" dirty="0"/>
              <a:t>   public static void main(String[] </a:t>
            </a:r>
            <a:r>
              <a:rPr lang="en-GB" sz="2000" dirty="0" err="1"/>
              <a:t>args</a:t>
            </a:r>
            <a:r>
              <a:rPr lang="en-GB" sz="2000" dirty="0"/>
              <a:t>) throws Exception {</a:t>
            </a:r>
          </a:p>
          <a:p>
            <a:r>
              <a:rPr lang="en-GB" sz="2000" dirty="0"/>
              <a:t>      </a:t>
            </a:r>
            <a:r>
              <a:rPr lang="en-GB" sz="2000" dirty="0" err="1"/>
              <a:t>AsynchronousServerSocketChannel</a:t>
            </a:r>
            <a:r>
              <a:rPr lang="en-GB" sz="2000" dirty="0"/>
              <a:t> server  = </a:t>
            </a:r>
            <a:r>
              <a:rPr lang="en-GB" sz="2000" dirty="0" err="1"/>
              <a:t>AsynchronousServerSocketChannel.open</a:t>
            </a:r>
            <a:r>
              <a:rPr lang="en-GB" sz="2000" dirty="0"/>
              <a:t>();</a:t>
            </a:r>
          </a:p>
          <a:p>
            <a:r>
              <a:rPr lang="en-GB" sz="2000" dirty="0"/>
              <a:t>      </a:t>
            </a:r>
            <a:r>
              <a:rPr lang="en-GB" sz="2000" dirty="0" err="1"/>
              <a:t>server.bind</a:t>
            </a:r>
            <a:r>
              <a:rPr lang="en-GB" sz="2000" dirty="0"/>
              <a:t>(new </a:t>
            </a:r>
            <a:r>
              <a:rPr lang="en-GB" sz="2000" dirty="0" err="1"/>
              <a:t>InetSocketAddress</a:t>
            </a:r>
            <a:r>
              <a:rPr lang="en-GB" sz="2000" dirty="0"/>
              <a:t>("localhost", 9090));</a:t>
            </a:r>
          </a:p>
          <a:p>
            <a:r>
              <a:rPr lang="en-GB" sz="2000" dirty="0"/>
              <a:t>      Future&lt;</a:t>
            </a:r>
            <a:r>
              <a:rPr lang="en-GB" sz="2000" dirty="0" err="1"/>
              <a:t>AsynchronousSocketChannel</a:t>
            </a:r>
            <a:r>
              <a:rPr lang="en-GB" sz="2000" dirty="0"/>
              <a:t>&gt; </a:t>
            </a:r>
            <a:r>
              <a:rPr lang="en-GB" sz="2000" dirty="0" err="1"/>
              <a:t>acceptFuture</a:t>
            </a:r>
            <a:r>
              <a:rPr lang="en-GB" sz="2000" dirty="0"/>
              <a:t> = </a:t>
            </a:r>
            <a:r>
              <a:rPr lang="en-GB" sz="2000" dirty="0" err="1"/>
              <a:t>server.accept</a:t>
            </a:r>
            <a:r>
              <a:rPr lang="en-GB" sz="2000" dirty="0"/>
              <a:t>();</a:t>
            </a:r>
          </a:p>
          <a:p>
            <a:r>
              <a:rPr lang="en-GB" sz="2000" dirty="0"/>
              <a:t>         </a:t>
            </a:r>
            <a:r>
              <a:rPr lang="en-GB" sz="2000" dirty="0" err="1"/>
              <a:t>AsynchronousSocketChannel</a:t>
            </a:r>
            <a:r>
              <a:rPr lang="en-GB" sz="2000" dirty="0"/>
              <a:t> </a:t>
            </a:r>
            <a:r>
              <a:rPr lang="en-GB" sz="2000" dirty="0" err="1"/>
              <a:t>clientChannel</a:t>
            </a:r>
            <a:r>
              <a:rPr lang="en-GB" sz="2000" dirty="0"/>
              <a:t> = </a:t>
            </a:r>
            <a:r>
              <a:rPr lang="en-GB" sz="2000" dirty="0" err="1"/>
              <a:t>acceptFuture.get</a:t>
            </a:r>
            <a:r>
              <a:rPr lang="en-GB" sz="2000" dirty="0"/>
              <a:t>();</a:t>
            </a:r>
          </a:p>
          <a:p>
            <a:r>
              <a:rPr lang="en-GB" sz="2000" dirty="0"/>
              <a:t>         while ((</a:t>
            </a:r>
            <a:r>
              <a:rPr lang="en-GB" sz="2000" dirty="0" err="1"/>
              <a:t>clientChannel</a:t>
            </a:r>
            <a:r>
              <a:rPr lang="en-GB" sz="2000" dirty="0"/>
              <a:t> != null) &amp;&amp; (</a:t>
            </a:r>
            <a:r>
              <a:rPr lang="en-GB" sz="2000" dirty="0" err="1"/>
              <a:t>clientChannel.isOpen</a:t>
            </a:r>
            <a:r>
              <a:rPr lang="en-GB" sz="2000" dirty="0"/>
              <a:t>())) {</a:t>
            </a:r>
          </a:p>
          <a:p>
            <a:r>
              <a:rPr lang="en-GB" sz="2000" dirty="0"/>
              <a:t>            </a:t>
            </a:r>
            <a:r>
              <a:rPr lang="en-GB" sz="2000" dirty="0" err="1"/>
              <a:t>ByteBuffer</a:t>
            </a:r>
            <a:r>
              <a:rPr lang="en-GB" sz="2000" dirty="0"/>
              <a:t> buffer = </a:t>
            </a:r>
            <a:r>
              <a:rPr lang="en-GB" sz="2000" dirty="0" err="1"/>
              <a:t>ByteBuffer.allocate</a:t>
            </a:r>
            <a:r>
              <a:rPr lang="en-GB" sz="2000" dirty="0"/>
              <a:t>(32);</a:t>
            </a:r>
          </a:p>
          <a:p>
            <a:r>
              <a:rPr lang="en-GB" sz="2000" dirty="0"/>
              <a:t>            Future&lt;Integer&gt; </a:t>
            </a:r>
            <a:r>
              <a:rPr lang="en-GB" sz="2000" dirty="0" err="1"/>
              <a:t>readResult</a:t>
            </a:r>
            <a:r>
              <a:rPr lang="en-GB" sz="2000" dirty="0"/>
              <a:t>  = </a:t>
            </a:r>
            <a:r>
              <a:rPr lang="en-GB" sz="2000" dirty="0" err="1"/>
              <a:t>clientChannel.read</a:t>
            </a:r>
            <a:r>
              <a:rPr lang="en-GB" sz="2000" dirty="0"/>
              <a:t>(buffer);</a:t>
            </a:r>
          </a:p>
          <a:p>
            <a:r>
              <a:rPr lang="en-GB" sz="2000" dirty="0"/>
              <a:t>   </a:t>
            </a:r>
          </a:p>
          <a:p>
            <a:r>
              <a:rPr lang="en-GB" sz="2000" dirty="0"/>
              <a:t>            </a:t>
            </a:r>
            <a:r>
              <a:rPr lang="en-GB" sz="2000" dirty="0" err="1"/>
              <a:t>readResult.get</a:t>
            </a:r>
            <a:r>
              <a:rPr lang="en-GB" sz="2000" dirty="0"/>
              <a:t>();</a:t>
            </a:r>
          </a:p>
          <a:p>
            <a:r>
              <a:rPr lang="en-GB" sz="2000" dirty="0"/>
              <a:t>            </a:t>
            </a:r>
          </a:p>
          <a:p>
            <a:r>
              <a:rPr lang="en-GB" sz="2000" dirty="0"/>
              <a:t>            </a:t>
            </a:r>
            <a:r>
              <a:rPr lang="en-GB" sz="2000" dirty="0" err="1"/>
              <a:t>buffer.flip</a:t>
            </a:r>
            <a:r>
              <a:rPr lang="en-GB" sz="2000" dirty="0"/>
              <a:t>();</a:t>
            </a:r>
          </a:p>
          <a:p>
            <a:r>
              <a:rPr lang="en-GB" sz="2000" dirty="0"/>
              <a:t>            Future&lt;Integer&gt; </a:t>
            </a:r>
            <a:r>
              <a:rPr lang="en-GB" sz="2000" dirty="0" err="1"/>
              <a:t>writeResult</a:t>
            </a:r>
            <a:r>
              <a:rPr lang="en-GB" sz="2000" dirty="0"/>
              <a:t> = </a:t>
            </a:r>
            <a:r>
              <a:rPr lang="en-GB" sz="2000" dirty="0" err="1"/>
              <a:t>clientChannel.write</a:t>
            </a:r>
            <a:r>
              <a:rPr lang="en-GB" sz="2000" dirty="0"/>
              <a:t>(buffer);</a:t>
            </a:r>
          </a:p>
          <a:p>
            <a:r>
              <a:rPr lang="en-GB" sz="2000" dirty="0"/>
              <a:t> </a:t>
            </a:r>
          </a:p>
          <a:p>
            <a:r>
              <a:rPr lang="en-GB" sz="2000" dirty="0"/>
              <a:t>            </a:t>
            </a:r>
            <a:r>
              <a:rPr lang="en-GB" sz="2000" dirty="0" err="1"/>
              <a:t>writeResult.get</a:t>
            </a:r>
            <a:r>
              <a:rPr lang="en-GB" sz="2000" dirty="0"/>
              <a:t>();</a:t>
            </a:r>
          </a:p>
          <a:p>
            <a:r>
              <a:rPr lang="en-GB" sz="2000" dirty="0"/>
              <a:t>            </a:t>
            </a:r>
            <a:r>
              <a:rPr lang="en-GB" sz="2000" dirty="0" err="1"/>
              <a:t>buffer.clear</a:t>
            </a:r>
            <a:r>
              <a:rPr lang="en-GB" sz="2000" dirty="0"/>
              <a:t>();</a:t>
            </a:r>
          </a:p>
          <a:p>
            <a:r>
              <a:rPr lang="en-GB" sz="2000" dirty="0"/>
              <a:t>        } </a:t>
            </a:r>
          </a:p>
          <a:p>
            <a:r>
              <a:rPr lang="en-GB" sz="2000" dirty="0"/>
              <a:t>        </a:t>
            </a:r>
            <a:r>
              <a:rPr lang="en-GB" sz="2000" dirty="0" err="1"/>
              <a:t>clientChannel.close</a:t>
            </a:r>
            <a:r>
              <a:rPr lang="en-GB" sz="2000" dirty="0"/>
              <a:t>(); </a:t>
            </a:r>
            <a:r>
              <a:rPr lang="en-GB" sz="2000" dirty="0" err="1"/>
              <a:t>server.close</a:t>
            </a:r>
            <a:r>
              <a:rPr lang="en-GB" sz="2000" dirty="0"/>
              <a:t>();}}</a:t>
            </a:r>
          </a:p>
        </p:txBody>
      </p:sp>
      <p:sp>
        <p:nvSpPr>
          <p:cNvPr id="2" name="TextBox 1">
            <a:extLst>
              <a:ext uri="{FF2B5EF4-FFF2-40B4-BE49-F238E27FC236}">
                <a16:creationId xmlns:a16="http://schemas.microsoft.com/office/drawing/2014/main" id="{B272AB35-3DED-56E8-86DF-5477351B723D}"/>
              </a:ext>
            </a:extLst>
          </p:cNvPr>
          <p:cNvSpPr txBox="1"/>
          <p:nvPr/>
        </p:nvSpPr>
        <p:spPr>
          <a:xfrm>
            <a:off x="6014720" y="3429000"/>
            <a:ext cx="5921686" cy="707886"/>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GB" sz="2000" dirty="0"/>
              <a:t> </a:t>
            </a:r>
            <a:r>
              <a:rPr lang="en-GB" sz="2000" dirty="0" err="1"/>
              <a:t>canale</a:t>
            </a:r>
            <a:r>
              <a:rPr lang="en-GB" sz="2000" dirty="0"/>
              <a:t> care permit </a:t>
            </a:r>
            <a:r>
              <a:rPr lang="en-GB" sz="2000" dirty="0" err="1"/>
              <a:t>operatii</a:t>
            </a:r>
            <a:r>
              <a:rPr lang="en-GB" sz="2000" dirty="0"/>
              <a:t> de </a:t>
            </a:r>
            <a:r>
              <a:rPr lang="en-GB" sz="2000" dirty="0" err="1"/>
              <a:t>intrare</a:t>
            </a:r>
            <a:r>
              <a:rPr lang="en-GB" sz="2000" dirty="0"/>
              <a:t>/</a:t>
            </a:r>
            <a:r>
              <a:rPr lang="en-GB" sz="2000" dirty="0" err="1"/>
              <a:t>iesire</a:t>
            </a:r>
            <a:r>
              <a:rPr lang="en-GB" sz="2000" dirty="0"/>
              <a:t> </a:t>
            </a:r>
            <a:r>
              <a:rPr lang="en-GB" sz="2000" dirty="0" err="1"/>
              <a:t>asincrone</a:t>
            </a:r>
            <a:r>
              <a:rPr lang="en-GB" sz="2000" dirty="0"/>
              <a:t>. </a:t>
            </a:r>
          </a:p>
          <a:p>
            <a:r>
              <a:rPr lang="en-GB" sz="2000" dirty="0"/>
              <a:t>    </a:t>
            </a:r>
            <a:r>
              <a:rPr lang="en-GB" sz="2000" dirty="0" err="1">
                <a:hlinkClick r:id="rId2"/>
              </a:rPr>
              <a:t>AsynchronousChannel</a:t>
            </a:r>
            <a:r>
              <a:rPr lang="en-GB" sz="2000" dirty="0">
                <a:hlinkClick r:id="rId2"/>
              </a:rPr>
              <a:t> (Java SE 24 &amp; JDK 24)</a:t>
            </a:r>
            <a:endParaRPr lang="en-GB" sz="2000" dirty="0"/>
          </a:p>
        </p:txBody>
      </p:sp>
      <p:sp>
        <p:nvSpPr>
          <p:cNvPr id="5" name="TextBox 4">
            <a:extLst>
              <a:ext uri="{FF2B5EF4-FFF2-40B4-BE49-F238E27FC236}">
                <a16:creationId xmlns:a16="http://schemas.microsoft.com/office/drawing/2014/main" id="{4B791642-F17F-5A6C-079F-E5B4EC841979}"/>
              </a:ext>
            </a:extLst>
          </p:cNvPr>
          <p:cNvSpPr txBox="1"/>
          <p:nvPr/>
        </p:nvSpPr>
        <p:spPr>
          <a:xfrm>
            <a:off x="7345680" y="204708"/>
            <a:ext cx="4683760"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GB" sz="2000" b="1" dirty="0"/>
              <a:t>Client-Server cu  </a:t>
            </a:r>
            <a:r>
              <a:rPr lang="en-GB" sz="2000" b="1" dirty="0" err="1"/>
              <a:t>canale</a:t>
            </a:r>
            <a:r>
              <a:rPr lang="en-GB" sz="2000" b="1" dirty="0"/>
              <a:t> </a:t>
            </a:r>
            <a:r>
              <a:rPr lang="en-GB" sz="2000" b="1" dirty="0" err="1"/>
              <a:t>asincrone</a:t>
            </a:r>
            <a:r>
              <a:rPr lang="en-GB" sz="2000" b="1" dirty="0"/>
              <a:t> NIO2</a:t>
            </a:r>
          </a:p>
        </p:txBody>
      </p:sp>
      <p:sp>
        <p:nvSpPr>
          <p:cNvPr id="4" name="TextBox 3">
            <a:extLst>
              <a:ext uri="{FF2B5EF4-FFF2-40B4-BE49-F238E27FC236}">
                <a16:creationId xmlns:a16="http://schemas.microsoft.com/office/drawing/2014/main" id="{1B5AA895-6202-909A-BBE7-B4D6B1F4D6BA}"/>
              </a:ext>
            </a:extLst>
          </p:cNvPr>
          <p:cNvSpPr txBox="1"/>
          <p:nvPr/>
        </p:nvSpPr>
        <p:spPr>
          <a:xfrm>
            <a:off x="8737600" y="4902200"/>
            <a:ext cx="3090654" cy="369332"/>
          </a:xfrm>
          <a:prstGeom prst="rect">
            <a:avLst/>
          </a:prstGeom>
          <a:solidFill>
            <a:schemeClr val="bg1">
              <a:lumMod val="75000"/>
            </a:schemeClr>
          </a:solidFill>
          <a:ln>
            <a:solidFill>
              <a:schemeClr val="bg1"/>
            </a:solidFill>
          </a:ln>
        </p:spPr>
        <p:txBody>
          <a:bodyPr wrap="none" rtlCol="0">
            <a:spAutoFit/>
          </a:bodyPr>
          <a:lstStyle/>
          <a:p>
            <a:r>
              <a:rPr lang="en-US" dirty="0" err="1"/>
              <a:t>interactiune</a:t>
            </a:r>
            <a:r>
              <a:rPr lang="en-US" dirty="0"/>
              <a:t> cu un </a:t>
            </a:r>
            <a:r>
              <a:rPr lang="en-US" dirty="0" err="1"/>
              <a:t>singur</a:t>
            </a:r>
            <a:r>
              <a:rPr lang="en-US" dirty="0"/>
              <a:t> client</a:t>
            </a:r>
            <a:endParaRPr lang="en-GB" dirty="0"/>
          </a:p>
        </p:txBody>
      </p:sp>
    </p:spTree>
    <p:extLst>
      <p:ext uri="{BB962C8B-B14F-4D97-AF65-F5344CB8AC3E}">
        <p14:creationId xmlns:p14="http://schemas.microsoft.com/office/powerpoint/2010/main" val="1470876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8A564-06B1-AAA5-B8AF-B9E09E76120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46E69F-6EA8-16C0-C5C9-DA44FA39A26A}"/>
              </a:ext>
            </a:extLst>
          </p:cNvPr>
          <p:cNvSpPr txBox="1"/>
          <p:nvPr/>
        </p:nvSpPr>
        <p:spPr>
          <a:xfrm>
            <a:off x="588010" y="208518"/>
            <a:ext cx="9805670" cy="6155531"/>
          </a:xfrm>
          <a:prstGeom prst="rect">
            <a:avLst/>
          </a:prstGeom>
          <a:noFill/>
          <a:ln w="19050">
            <a:solidFill>
              <a:srgbClr val="00B050"/>
            </a:solidFill>
          </a:ln>
        </p:spPr>
        <p:txBody>
          <a:bodyPr wrap="square">
            <a:spAutoFit/>
          </a:bodyPr>
          <a:lstStyle/>
          <a:p>
            <a:r>
              <a:rPr lang="en-GB" dirty="0"/>
              <a:t>public class Nio2Client {</a:t>
            </a:r>
          </a:p>
          <a:p>
            <a:r>
              <a:rPr lang="en-GB" dirty="0"/>
              <a:t>    public static void main(String[] </a:t>
            </a:r>
            <a:r>
              <a:rPr lang="en-GB" dirty="0" err="1"/>
              <a:t>args</a:t>
            </a:r>
            <a:r>
              <a:rPr lang="en-GB" dirty="0"/>
              <a:t>) throws Exception {</a:t>
            </a:r>
          </a:p>
          <a:p>
            <a:endParaRPr lang="en-GB" dirty="0"/>
          </a:p>
          <a:p>
            <a:r>
              <a:rPr lang="en-GB" dirty="0" err="1"/>
              <a:t>AsynchronousSocketChannel</a:t>
            </a:r>
            <a:r>
              <a:rPr lang="en-GB" dirty="0"/>
              <a:t> client = </a:t>
            </a:r>
            <a:r>
              <a:rPr lang="en-GB" dirty="0" err="1"/>
              <a:t>AsynchronousSocketChannel.open</a:t>
            </a:r>
            <a:r>
              <a:rPr lang="en-GB" dirty="0"/>
              <a:t>();</a:t>
            </a:r>
          </a:p>
          <a:p>
            <a:r>
              <a:rPr lang="en-GB" dirty="0" err="1"/>
              <a:t>InetSocketAddress</a:t>
            </a:r>
            <a:r>
              <a:rPr lang="en-GB" dirty="0"/>
              <a:t> </a:t>
            </a:r>
            <a:r>
              <a:rPr lang="en-GB" dirty="0" err="1"/>
              <a:t>hostAddress</a:t>
            </a:r>
            <a:r>
              <a:rPr lang="en-GB" dirty="0"/>
              <a:t> = new </a:t>
            </a:r>
            <a:r>
              <a:rPr lang="en-GB" dirty="0" err="1"/>
              <a:t>InetSocketAddress</a:t>
            </a:r>
            <a:r>
              <a:rPr lang="en-GB" dirty="0"/>
              <a:t>("localhost", 9090);</a:t>
            </a:r>
          </a:p>
          <a:p>
            <a:r>
              <a:rPr lang="en-GB" dirty="0"/>
              <a:t>Future&lt;Void&gt; future = </a:t>
            </a:r>
            <a:r>
              <a:rPr lang="en-GB" dirty="0" err="1"/>
              <a:t>client.connect</a:t>
            </a:r>
            <a:r>
              <a:rPr lang="en-GB" dirty="0"/>
              <a:t>(</a:t>
            </a:r>
            <a:r>
              <a:rPr lang="en-GB" dirty="0" err="1"/>
              <a:t>hostAddress</a:t>
            </a:r>
            <a:r>
              <a:rPr lang="en-GB" dirty="0"/>
              <a:t>);    // </a:t>
            </a:r>
            <a:r>
              <a:rPr lang="en-GB" dirty="0" err="1"/>
              <a:t>poate</a:t>
            </a:r>
            <a:r>
              <a:rPr lang="en-GB" dirty="0"/>
              <a:t> </a:t>
            </a:r>
            <a:r>
              <a:rPr lang="en-GB" dirty="0" err="1"/>
              <a:t>executa</a:t>
            </a:r>
            <a:r>
              <a:rPr lang="en-GB" dirty="0"/>
              <a:t> </a:t>
            </a:r>
            <a:r>
              <a:rPr lang="en-GB" dirty="0" err="1"/>
              <a:t>alte</a:t>
            </a:r>
            <a:r>
              <a:rPr lang="en-GB" dirty="0"/>
              <a:t> </a:t>
            </a:r>
            <a:r>
              <a:rPr lang="en-GB" dirty="0" err="1"/>
              <a:t>actiuni</a:t>
            </a:r>
            <a:endParaRPr lang="en-GB" dirty="0"/>
          </a:p>
          <a:p>
            <a:r>
              <a:rPr lang="en-GB" b="1" dirty="0" err="1"/>
              <a:t>future.get</a:t>
            </a:r>
            <a:r>
              <a:rPr lang="en-GB" b="1" dirty="0"/>
              <a:t>();</a:t>
            </a:r>
          </a:p>
          <a:p>
            <a:r>
              <a:rPr lang="en-GB" dirty="0" err="1"/>
              <a:t>System.out.println</a:t>
            </a:r>
            <a:r>
              <a:rPr lang="en-GB" dirty="0"/>
              <a:t>("Connection established! Stop with \"quit\" ");</a:t>
            </a:r>
          </a:p>
          <a:p>
            <a:r>
              <a:rPr lang="en-GB" dirty="0"/>
              <a:t>var scanner = new Scanner(System.in);</a:t>
            </a:r>
          </a:p>
          <a:p>
            <a:r>
              <a:rPr lang="en-GB" dirty="0"/>
              <a:t>while (true){</a:t>
            </a:r>
          </a:p>
          <a:p>
            <a:r>
              <a:rPr lang="en-GB" dirty="0"/>
              <a:t>var line = </a:t>
            </a:r>
            <a:r>
              <a:rPr lang="en-GB" dirty="0" err="1"/>
              <a:t>scanner.nextLine</a:t>
            </a:r>
            <a:r>
              <a:rPr lang="en-GB" dirty="0"/>
              <a:t>();</a:t>
            </a:r>
          </a:p>
          <a:p>
            <a:r>
              <a:rPr lang="en-GB" dirty="0"/>
              <a:t>if (</a:t>
            </a:r>
            <a:r>
              <a:rPr lang="en-GB" dirty="0" err="1"/>
              <a:t>line.equalsIgnoreCase</a:t>
            </a:r>
            <a:r>
              <a:rPr lang="en-GB" dirty="0"/>
              <a:t>("quit")) { break;}</a:t>
            </a:r>
          </a:p>
          <a:p>
            <a:r>
              <a:rPr lang="en-GB" dirty="0"/>
              <a:t>    byte[] </a:t>
            </a:r>
            <a:r>
              <a:rPr lang="en-GB" dirty="0" err="1"/>
              <a:t>byteMsg</a:t>
            </a:r>
            <a:r>
              <a:rPr lang="en-GB" dirty="0"/>
              <a:t> = new String(line).</a:t>
            </a:r>
            <a:r>
              <a:rPr lang="en-GB" dirty="0" err="1"/>
              <a:t>getBytes</a:t>
            </a:r>
            <a:r>
              <a:rPr lang="en-GB" dirty="0"/>
              <a:t>();</a:t>
            </a:r>
          </a:p>
          <a:p>
            <a:r>
              <a:rPr lang="en-GB" dirty="0"/>
              <a:t>    </a:t>
            </a:r>
            <a:r>
              <a:rPr lang="en-GB" dirty="0" err="1"/>
              <a:t>ByteBuffer</a:t>
            </a:r>
            <a:r>
              <a:rPr lang="en-GB" dirty="0"/>
              <a:t> buffer = </a:t>
            </a:r>
            <a:r>
              <a:rPr lang="en-GB" dirty="0" err="1"/>
              <a:t>ByteBuffer.wrap</a:t>
            </a:r>
            <a:r>
              <a:rPr lang="en-GB" dirty="0"/>
              <a:t>(</a:t>
            </a:r>
            <a:r>
              <a:rPr lang="en-GB" dirty="0" err="1"/>
              <a:t>byteMsg</a:t>
            </a:r>
            <a:r>
              <a:rPr lang="en-GB" dirty="0"/>
              <a:t>);</a:t>
            </a:r>
          </a:p>
          <a:p>
            <a:r>
              <a:rPr lang="en-GB" dirty="0"/>
              <a:t>    Future&lt;Integer&gt;  </a:t>
            </a:r>
            <a:r>
              <a:rPr lang="en-GB" dirty="0" err="1"/>
              <a:t>writeResult</a:t>
            </a:r>
            <a:r>
              <a:rPr lang="en-GB" dirty="0"/>
              <a:t> = </a:t>
            </a:r>
            <a:r>
              <a:rPr lang="en-GB" dirty="0" err="1"/>
              <a:t>client.write</a:t>
            </a:r>
            <a:r>
              <a:rPr lang="en-GB" dirty="0"/>
              <a:t>(buffer);     // </a:t>
            </a:r>
            <a:r>
              <a:rPr lang="en-GB" dirty="0" err="1"/>
              <a:t>poate</a:t>
            </a:r>
            <a:r>
              <a:rPr lang="en-GB" dirty="0"/>
              <a:t> </a:t>
            </a:r>
            <a:r>
              <a:rPr lang="en-GB" dirty="0" err="1"/>
              <a:t>executa</a:t>
            </a:r>
            <a:r>
              <a:rPr lang="en-GB" dirty="0"/>
              <a:t> </a:t>
            </a:r>
            <a:r>
              <a:rPr lang="en-GB" dirty="0" err="1"/>
              <a:t>alte</a:t>
            </a:r>
            <a:r>
              <a:rPr lang="en-GB" dirty="0"/>
              <a:t> </a:t>
            </a:r>
            <a:r>
              <a:rPr lang="en-GB" dirty="0" err="1"/>
              <a:t>actiuni</a:t>
            </a:r>
            <a:endParaRPr lang="en-GB" dirty="0"/>
          </a:p>
          <a:p>
            <a:r>
              <a:rPr lang="en-GB" dirty="0"/>
              <a:t>    </a:t>
            </a:r>
            <a:r>
              <a:rPr lang="en-GB" b="1" dirty="0" err="1"/>
              <a:t>writeResult.get</a:t>
            </a:r>
            <a:r>
              <a:rPr lang="en-GB" b="1" dirty="0"/>
              <a:t>();</a:t>
            </a:r>
          </a:p>
          <a:p>
            <a:r>
              <a:rPr lang="en-GB" dirty="0"/>
              <a:t>    </a:t>
            </a:r>
            <a:r>
              <a:rPr lang="en-GB" dirty="0" err="1"/>
              <a:t>buffer.flip</a:t>
            </a:r>
            <a:r>
              <a:rPr lang="en-GB" dirty="0"/>
              <a:t>();</a:t>
            </a:r>
          </a:p>
          <a:p>
            <a:r>
              <a:rPr lang="en-GB" dirty="0"/>
              <a:t>    Future&lt;Integer&gt;  </a:t>
            </a:r>
            <a:r>
              <a:rPr lang="en-GB" dirty="0" err="1"/>
              <a:t>readResult</a:t>
            </a:r>
            <a:r>
              <a:rPr lang="en-GB" dirty="0"/>
              <a:t> = </a:t>
            </a:r>
            <a:r>
              <a:rPr lang="en-GB" dirty="0" err="1"/>
              <a:t>client.read</a:t>
            </a:r>
            <a:r>
              <a:rPr lang="en-GB" dirty="0"/>
              <a:t>(buffer);   // </a:t>
            </a:r>
            <a:r>
              <a:rPr lang="en-GB" dirty="0" err="1"/>
              <a:t>poate</a:t>
            </a:r>
            <a:r>
              <a:rPr lang="en-GB" dirty="0"/>
              <a:t> </a:t>
            </a:r>
            <a:r>
              <a:rPr lang="en-GB" dirty="0" err="1"/>
              <a:t>executa</a:t>
            </a:r>
            <a:r>
              <a:rPr lang="en-GB" dirty="0"/>
              <a:t> </a:t>
            </a:r>
            <a:r>
              <a:rPr lang="en-GB" dirty="0" err="1"/>
              <a:t>alte</a:t>
            </a:r>
            <a:r>
              <a:rPr lang="en-GB" dirty="0"/>
              <a:t> </a:t>
            </a:r>
            <a:r>
              <a:rPr lang="en-GB" dirty="0" err="1"/>
              <a:t>actiuni</a:t>
            </a:r>
            <a:endParaRPr lang="en-GB" dirty="0"/>
          </a:p>
          <a:p>
            <a:r>
              <a:rPr lang="en-GB" dirty="0"/>
              <a:t>    </a:t>
            </a:r>
            <a:r>
              <a:rPr lang="en-GB" b="1" dirty="0" err="1"/>
              <a:t>readResult.get</a:t>
            </a:r>
            <a:r>
              <a:rPr lang="en-GB" b="1" dirty="0"/>
              <a:t>();</a:t>
            </a:r>
          </a:p>
          <a:p>
            <a:r>
              <a:rPr lang="en-GB" dirty="0"/>
              <a:t>    String message = new String(</a:t>
            </a:r>
            <a:r>
              <a:rPr lang="en-GB" dirty="0" err="1"/>
              <a:t>buffer.array</a:t>
            </a:r>
            <a:r>
              <a:rPr lang="en-GB" dirty="0"/>
              <a:t>()).trim();  </a:t>
            </a:r>
            <a:r>
              <a:rPr lang="en-GB" dirty="0" err="1"/>
              <a:t>buffer.clear</a:t>
            </a:r>
            <a:r>
              <a:rPr lang="en-GB" dirty="0"/>
              <a:t>();</a:t>
            </a:r>
            <a:r>
              <a:rPr lang="en-GB" dirty="0" err="1"/>
              <a:t>System.out.println</a:t>
            </a:r>
            <a:r>
              <a:rPr lang="en-GB" dirty="0"/>
              <a:t>(message);}</a:t>
            </a:r>
          </a:p>
          <a:p>
            <a:r>
              <a:rPr lang="en-GB" dirty="0"/>
              <a:t>    </a:t>
            </a:r>
            <a:r>
              <a:rPr lang="en-GB" dirty="0" err="1"/>
              <a:t>client.close</a:t>
            </a:r>
            <a:r>
              <a:rPr lang="en-GB" dirty="0"/>
              <a:t>();}}</a:t>
            </a:r>
          </a:p>
          <a:p>
            <a:r>
              <a:rPr lang="en-GB" sz="1600" dirty="0"/>
              <a:t> </a:t>
            </a:r>
          </a:p>
        </p:txBody>
      </p:sp>
      <p:sp>
        <p:nvSpPr>
          <p:cNvPr id="3" name="TextBox 2">
            <a:extLst>
              <a:ext uri="{FF2B5EF4-FFF2-40B4-BE49-F238E27FC236}">
                <a16:creationId xmlns:a16="http://schemas.microsoft.com/office/drawing/2014/main" id="{FC25E4D7-552A-046A-C9ED-35955012C5F0}"/>
              </a:ext>
            </a:extLst>
          </p:cNvPr>
          <p:cNvSpPr txBox="1"/>
          <p:nvPr/>
        </p:nvSpPr>
        <p:spPr>
          <a:xfrm>
            <a:off x="7101840" y="414774"/>
            <a:ext cx="450215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285750" indent="-285750">
              <a:buFont typeface="Wingdings" panose="05000000000000000000" pitchFamily="2" charset="2"/>
              <a:buChar char="Ø"/>
            </a:pPr>
            <a:r>
              <a:rPr lang="en-US" sz="1800" b="1" dirty="0"/>
              <a:t>Client - </a:t>
            </a:r>
            <a:r>
              <a:rPr lang="en-US" b="1" dirty="0"/>
              <a:t>S</a:t>
            </a:r>
            <a:r>
              <a:rPr lang="en-US" sz="1800" b="1" dirty="0"/>
              <a:t>erver cu </a:t>
            </a:r>
            <a:r>
              <a:rPr lang="en-US" sz="1800" b="1" dirty="0" err="1"/>
              <a:t>canale</a:t>
            </a:r>
            <a:r>
              <a:rPr lang="en-US" sz="1800" b="1" dirty="0"/>
              <a:t> </a:t>
            </a:r>
            <a:r>
              <a:rPr lang="en-US" sz="1800" b="1" dirty="0" err="1"/>
              <a:t>asincrone</a:t>
            </a:r>
            <a:r>
              <a:rPr lang="en-US" sz="1800" b="1" dirty="0"/>
              <a:t> NIO2</a:t>
            </a:r>
            <a:endParaRPr lang="en-GB" sz="1800" b="1" dirty="0"/>
          </a:p>
        </p:txBody>
      </p:sp>
    </p:spTree>
    <p:extLst>
      <p:ext uri="{BB962C8B-B14F-4D97-AF65-F5344CB8AC3E}">
        <p14:creationId xmlns:p14="http://schemas.microsoft.com/office/powerpoint/2010/main" val="2228028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DF85-05CE-9A39-8040-7D17D6E7B6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116E2A4-4BCF-F77E-D692-A13AA6780071}"/>
              </a:ext>
            </a:extLst>
          </p:cNvPr>
          <p:cNvSpPr txBox="1"/>
          <p:nvPr/>
        </p:nvSpPr>
        <p:spPr>
          <a:xfrm>
            <a:off x="628650" y="99963"/>
            <a:ext cx="9836150" cy="6186309"/>
          </a:xfrm>
          <a:prstGeom prst="rect">
            <a:avLst/>
          </a:prstGeom>
          <a:noFill/>
          <a:ln w="19050">
            <a:solidFill>
              <a:srgbClr val="00B050"/>
            </a:solidFill>
          </a:ln>
        </p:spPr>
        <p:txBody>
          <a:bodyPr wrap="square">
            <a:spAutoFit/>
          </a:bodyPr>
          <a:lstStyle/>
          <a:p>
            <a:r>
              <a:rPr lang="en-GB" dirty="0"/>
              <a:t>public class Nio2Server{</a:t>
            </a:r>
          </a:p>
          <a:p>
            <a:r>
              <a:rPr lang="en-GB" dirty="0"/>
              <a:t>   public static void main(String[] </a:t>
            </a:r>
            <a:r>
              <a:rPr lang="en-GB" dirty="0" err="1"/>
              <a:t>args</a:t>
            </a:r>
            <a:r>
              <a:rPr lang="en-GB" dirty="0"/>
              <a:t>) throws Exception {</a:t>
            </a:r>
          </a:p>
          <a:p>
            <a:r>
              <a:rPr lang="en-GB" dirty="0"/>
              <a:t>      </a:t>
            </a:r>
            <a:r>
              <a:rPr lang="en-GB" dirty="0" err="1"/>
              <a:t>AsynchronousServerSocketChannel</a:t>
            </a:r>
            <a:r>
              <a:rPr lang="en-GB" dirty="0"/>
              <a:t> server  = </a:t>
            </a:r>
            <a:r>
              <a:rPr lang="en-GB" dirty="0" err="1"/>
              <a:t>AsynchronousServerSocketChannel.open</a:t>
            </a:r>
            <a:r>
              <a:rPr lang="en-GB" dirty="0"/>
              <a:t>();</a:t>
            </a:r>
          </a:p>
          <a:p>
            <a:r>
              <a:rPr lang="en-GB" dirty="0"/>
              <a:t>      </a:t>
            </a:r>
            <a:r>
              <a:rPr lang="en-GB" dirty="0" err="1"/>
              <a:t>server.bind</a:t>
            </a:r>
            <a:r>
              <a:rPr lang="en-GB" dirty="0"/>
              <a:t>(new </a:t>
            </a:r>
            <a:r>
              <a:rPr lang="en-GB" dirty="0" err="1"/>
              <a:t>InetSocketAddress</a:t>
            </a:r>
            <a:r>
              <a:rPr lang="en-GB" dirty="0"/>
              <a:t>("localhost", 9090));</a:t>
            </a:r>
          </a:p>
          <a:p>
            <a:r>
              <a:rPr lang="en-GB" b="1" dirty="0"/>
              <a:t>      </a:t>
            </a:r>
            <a:r>
              <a:rPr lang="en-GB" b="1" dirty="0" err="1"/>
              <a:t>ExecutorService</a:t>
            </a:r>
            <a:r>
              <a:rPr lang="en-GB" b="1" dirty="0"/>
              <a:t>  pool = </a:t>
            </a:r>
            <a:r>
              <a:rPr lang="en-GB" b="1" dirty="0" err="1"/>
              <a:t>Executors.newCachedThreadPool</a:t>
            </a:r>
            <a:r>
              <a:rPr lang="en-GB" b="1" dirty="0"/>
              <a:t>(); </a:t>
            </a:r>
          </a:p>
          <a:p>
            <a:r>
              <a:rPr lang="en-GB" dirty="0"/>
              <a:t>      while (true) {</a:t>
            </a:r>
          </a:p>
          <a:p>
            <a:r>
              <a:rPr lang="en-GB" dirty="0"/>
              <a:t>         Future&lt;</a:t>
            </a:r>
            <a:r>
              <a:rPr lang="en-GB" dirty="0" err="1"/>
              <a:t>AsynchronousSocketChannel</a:t>
            </a:r>
            <a:r>
              <a:rPr lang="en-GB" dirty="0"/>
              <a:t>&gt; </a:t>
            </a:r>
            <a:r>
              <a:rPr lang="en-GB" dirty="0" err="1"/>
              <a:t>acceptFuture</a:t>
            </a:r>
            <a:r>
              <a:rPr lang="en-GB" dirty="0"/>
              <a:t> = </a:t>
            </a:r>
            <a:r>
              <a:rPr lang="en-GB" dirty="0" err="1"/>
              <a:t>server.accept</a:t>
            </a:r>
            <a:r>
              <a:rPr lang="en-GB" dirty="0"/>
              <a:t>();</a:t>
            </a:r>
          </a:p>
          <a:p>
            <a:r>
              <a:rPr lang="en-GB" dirty="0"/>
              <a:t>         </a:t>
            </a:r>
            <a:r>
              <a:rPr lang="en-GB" dirty="0" err="1"/>
              <a:t>AsynchronousSocketChannel</a:t>
            </a:r>
            <a:r>
              <a:rPr lang="en-GB" dirty="0"/>
              <a:t> </a:t>
            </a:r>
            <a:r>
              <a:rPr lang="en-GB" dirty="0" err="1"/>
              <a:t>clientChannel</a:t>
            </a:r>
            <a:r>
              <a:rPr lang="en-GB" dirty="0"/>
              <a:t> = </a:t>
            </a:r>
            <a:r>
              <a:rPr lang="en-GB" dirty="0" err="1"/>
              <a:t>acceptFuture.get</a:t>
            </a:r>
            <a:r>
              <a:rPr lang="en-GB" dirty="0"/>
              <a:t>();</a:t>
            </a:r>
          </a:p>
          <a:p>
            <a:r>
              <a:rPr lang="en-GB" dirty="0"/>
              <a:t>         </a:t>
            </a:r>
            <a:r>
              <a:rPr lang="en-GB" b="1" dirty="0" err="1"/>
              <a:t>pool.execute</a:t>
            </a:r>
            <a:r>
              <a:rPr lang="en-GB" b="1" dirty="0"/>
              <a:t>( new Runnable(){public void run() { </a:t>
            </a:r>
          </a:p>
          <a:p>
            <a:r>
              <a:rPr lang="en-GB" b="1" dirty="0"/>
              <a:t>            try{</a:t>
            </a:r>
          </a:p>
          <a:p>
            <a:r>
              <a:rPr lang="en-GB" dirty="0"/>
              <a:t>         while ((</a:t>
            </a:r>
            <a:r>
              <a:rPr lang="en-GB" dirty="0" err="1"/>
              <a:t>clientChannel</a:t>
            </a:r>
            <a:r>
              <a:rPr lang="en-GB" dirty="0"/>
              <a:t> != null) &amp;&amp; (</a:t>
            </a:r>
            <a:r>
              <a:rPr lang="en-GB" dirty="0" err="1"/>
              <a:t>clientChannel.isOpen</a:t>
            </a:r>
            <a:r>
              <a:rPr lang="en-GB" dirty="0"/>
              <a:t>())) {</a:t>
            </a:r>
          </a:p>
          <a:p>
            <a:r>
              <a:rPr lang="en-GB" dirty="0"/>
              <a:t>            </a:t>
            </a:r>
            <a:r>
              <a:rPr lang="en-GB" dirty="0" err="1"/>
              <a:t>ByteBuffer</a:t>
            </a:r>
            <a:r>
              <a:rPr lang="en-GB" dirty="0"/>
              <a:t> buffer = </a:t>
            </a:r>
            <a:r>
              <a:rPr lang="en-GB" dirty="0" err="1"/>
              <a:t>ByteBuffer.allocate</a:t>
            </a:r>
            <a:r>
              <a:rPr lang="en-GB" dirty="0"/>
              <a:t>(32);</a:t>
            </a:r>
          </a:p>
          <a:p>
            <a:r>
              <a:rPr lang="en-GB" dirty="0"/>
              <a:t>            Future&lt;Integer&gt; </a:t>
            </a:r>
            <a:r>
              <a:rPr lang="en-GB" dirty="0" err="1"/>
              <a:t>readResult</a:t>
            </a:r>
            <a:r>
              <a:rPr lang="en-GB" dirty="0"/>
              <a:t>  = </a:t>
            </a:r>
            <a:r>
              <a:rPr lang="en-GB" dirty="0" err="1"/>
              <a:t>clientChannel.read</a:t>
            </a:r>
            <a:r>
              <a:rPr lang="en-GB" dirty="0"/>
              <a:t>(buffer);</a:t>
            </a:r>
          </a:p>
          <a:p>
            <a:r>
              <a:rPr lang="en-GB" dirty="0"/>
              <a:t>            </a:t>
            </a:r>
            <a:r>
              <a:rPr lang="en-GB" dirty="0" err="1"/>
              <a:t>readResult.get</a:t>
            </a:r>
            <a:r>
              <a:rPr lang="en-GB" dirty="0"/>
              <a:t>();   </a:t>
            </a:r>
          </a:p>
          <a:p>
            <a:r>
              <a:rPr lang="en-GB" dirty="0"/>
              <a:t>            </a:t>
            </a:r>
            <a:r>
              <a:rPr lang="en-GB" dirty="0" err="1"/>
              <a:t>buffer.flip</a:t>
            </a:r>
            <a:r>
              <a:rPr lang="en-GB" dirty="0"/>
              <a:t>();</a:t>
            </a:r>
          </a:p>
          <a:p>
            <a:r>
              <a:rPr lang="en-GB" dirty="0"/>
              <a:t>            Future&lt;Integer&gt; </a:t>
            </a:r>
            <a:r>
              <a:rPr lang="en-GB" dirty="0" err="1"/>
              <a:t>writeResult</a:t>
            </a:r>
            <a:r>
              <a:rPr lang="en-GB" dirty="0"/>
              <a:t> = </a:t>
            </a:r>
            <a:r>
              <a:rPr lang="en-GB" dirty="0" err="1"/>
              <a:t>clientChannel.write</a:t>
            </a:r>
            <a:r>
              <a:rPr lang="en-GB" dirty="0"/>
              <a:t>(buffer);</a:t>
            </a:r>
          </a:p>
          <a:p>
            <a:r>
              <a:rPr lang="en-GB" dirty="0"/>
              <a:t> </a:t>
            </a:r>
          </a:p>
          <a:p>
            <a:r>
              <a:rPr lang="en-GB" dirty="0"/>
              <a:t>            </a:t>
            </a:r>
            <a:r>
              <a:rPr lang="en-GB" dirty="0" err="1"/>
              <a:t>writeResult.get</a:t>
            </a:r>
            <a:r>
              <a:rPr lang="en-GB" dirty="0"/>
              <a:t>();</a:t>
            </a:r>
          </a:p>
          <a:p>
            <a:r>
              <a:rPr lang="en-GB" dirty="0"/>
              <a:t>            </a:t>
            </a:r>
            <a:r>
              <a:rPr lang="en-GB" dirty="0" err="1"/>
              <a:t>buffer.clear</a:t>
            </a:r>
            <a:r>
              <a:rPr lang="en-GB" dirty="0"/>
              <a:t>();</a:t>
            </a:r>
          </a:p>
          <a:p>
            <a:r>
              <a:rPr lang="en-GB" dirty="0"/>
              <a:t>        } </a:t>
            </a:r>
          </a:p>
          <a:p>
            <a:r>
              <a:rPr lang="en-GB" dirty="0"/>
              <a:t>           </a:t>
            </a:r>
            <a:r>
              <a:rPr lang="en-GB" dirty="0" err="1"/>
              <a:t>clientChannel.close</a:t>
            </a:r>
            <a:r>
              <a:rPr lang="en-GB" dirty="0"/>
              <a:t>();}</a:t>
            </a:r>
          </a:p>
          <a:p>
            <a:r>
              <a:rPr lang="en-GB" dirty="0"/>
              <a:t>             catch (Exception ex) {</a:t>
            </a:r>
            <a:r>
              <a:rPr lang="en-GB" dirty="0" err="1"/>
              <a:t>ex.printStackTrace</a:t>
            </a:r>
            <a:r>
              <a:rPr lang="en-GB" dirty="0"/>
              <a:t>(); }}}</a:t>
            </a:r>
          </a:p>
        </p:txBody>
      </p:sp>
      <p:sp>
        <p:nvSpPr>
          <p:cNvPr id="2" name="TextBox 1">
            <a:extLst>
              <a:ext uri="{FF2B5EF4-FFF2-40B4-BE49-F238E27FC236}">
                <a16:creationId xmlns:a16="http://schemas.microsoft.com/office/drawing/2014/main" id="{940AE925-65D9-18DF-43CF-3882F7C75DE4}"/>
              </a:ext>
            </a:extLst>
          </p:cNvPr>
          <p:cNvSpPr txBox="1"/>
          <p:nvPr/>
        </p:nvSpPr>
        <p:spPr>
          <a:xfrm>
            <a:off x="7366000" y="99963"/>
            <a:ext cx="4286045" cy="40011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marL="285750" indent="-285750">
              <a:buFont typeface="Wingdings" panose="05000000000000000000" pitchFamily="2" charset="2"/>
              <a:buChar char="Ø"/>
            </a:pPr>
            <a:r>
              <a:rPr lang="en-US" sz="2000" b="1" dirty="0"/>
              <a:t>Client-Server </a:t>
            </a:r>
            <a:r>
              <a:rPr lang="en-US" sz="2000" b="1" dirty="0" err="1"/>
              <a:t>canale</a:t>
            </a:r>
            <a:r>
              <a:rPr lang="en-US" sz="2000" b="1" dirty="0"/>
              <a:t> </a:t>
            </a:r>
            <a:r>
              <a:rPr lang="en-US" sz="2000" b="1" dirty="0" err="1"/>
              <a:t>asincrone</a:t>
            </a:r>
            <a:r>
              <a:rPr lang="en-US" sz="2000" b="1" dirty="0"/>
              <a:t> NIO2</a:t>
            </a:r>
            <a:endParaRPr lang="en-GB" sz="2000" b="1" dirty="0"/>
          </a:p>
        </p:txBody>
      </p:sp>
      <p:sp>
        <p:nvSpPr>
          <p:cNvPr id="3" name="TextBox 2">
            <a:extLst>
              <a:ext uri="{FF2B5EF4-FFF2-40B4-BE49-F238E27FC236}">
                <a16:creationId xmlns:a16="http://schemas.microsoft.com/office/drawing/2014/main" id="{F0AA7CCA-E4D8-D5D2-5CD4-DF7B3FBA8716}"/>
              </a:ext>
            </a:extLst>
          </p:cNvPr>
          <p:cNvSpPr txBox="1"/>
          <p:nvPr/>
        </p:nvSpPr>
        <p:spPr>
          <a:xfrm>
            <a:off x="4430623" y="5040035"/>
            <a:ext cx="7349512" cy="120032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GB" dirty="0"/>
              <a:t>Asynchronous channels are safe for use by multiple concurrent threads. </a:t>
            </a:r>
          </a:p>
          <a:p>
            <a:r>
              <a:rPr lang="en-GB" dirty="0"/>
              <a:t>Some channel implementations may support concurrent reading and writing</a:t>
            </a:r>
          </a:p>
          <a:p>
            <a:r>
              <a:rPr lang="en-GB" dirty="0" err="1">
                <a:hlinkClick r:id="rId2"/>
              </a:rPr>
              <a:t>AsynchronousChannel</a:t>
            </a:r>
            <a:r>
              <a:rPr lang="en-GB" dirty="0">
                <a:hlinkClick r:id="rId2"/>
              </a:rPr>
              <a:t> (Java SE 24 &amp; JDK 24)</a:t>
            </a:r>
            <a:endParaRPr lang="en-GB" dirty="0"/>
          </a:p>
          <a:p>
            <a:endParaRPr lang="en-GB" dirty="0"/>
          </a:p>
        </p:txBody>
      </p:sp>
    </p:spTree>
    <p:extLst>
      <p:ext uri="{BB962C8B-B14F-4D97-AF65-F5344CB8AC3E}">
        <p14:creationId xmlns:p14="http://schemas.microsoft.com/office/powerpoint/2010/main" val="90002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1BF630-A2D4-BA6B-B195-D19BB2150A57}"/>
              </a:ext>
            </a:extLst>
          </p:cNvPr>
          <p:cNvPicPr>
            <a:picLocks noChangeAspect="1"/>
          </p:cNvPicPr>
          <p:nvPr/>
        </p:nvPicPr>
        <p:blipFill>
          <a:blip r:embed="rId2"/>
          <a:stretch>
            <a:fillRect/>
          </a:stretch>
        </p:blipFill>
        <p:spPr>
          <a:xfrm>
            <a:off x="4119253" y="886795"/>
            <a:ext cx="2946534" cy="3980542"/>
          </a:xfrm>
          <a:prstGeom prst="rect">
            <a:avLst/>
          </a:prstGeom>
        </p:spPr>
      </p:pic>
    </p:spTree>
    <p:extLst>
      <p:ext uri="{BB962C8B-B14F-4D97-AF65-F5344CB8AC3E}">
        <p14:creationId xmlns:p14="http://schemas.microsoft.com/office/powerpoint/2010/main" val="23353389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20474</TotalTime>
  <Words>7859</Words>
  <Application>Microsoft Office PowerPoint</Application>
  <PresentationFormat>Widescreen</PresentationFormat>
  <Paragraphs>1009</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Wingdings</vt:lpstr>
      <vt:lpstr>Retrospect</vt:lpstr>
      <vt:lpstr>IMPLEMENTAREA CONCURENTEI IN LIMBAJE DE PROGRAMARE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911</cp:revision>
  <dcterms:created xsi:type="dcterms:W3CDTF">2015-03-31T05:03:29Z</dcterms:created>
  <dcterms:modified xsi:type="dcterms:W3CDTF">2025-10-24T04:38:23Z</dcterms:modified>
</cp:coreProperties>
</file>